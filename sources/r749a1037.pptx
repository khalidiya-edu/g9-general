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notesMasterIdLst>
    <p:notesMasterId r:id="rId36"/>
  </p:notesMasterIdLst>
  <p:sldIdLst>
    <p:sldId id="290" r:id="rId2"/>
    <p:sldId id="289" r:id="rId3"/>
    <p:sldId id="257" r:id="rId4"/>
    <p:sldId id="258" r:id="rId5"/>
    <p:sldId id="259" r:id="rId6"/>
    <p:sldId id="260" r:id="rId7"/>
    <p:sldId id="261" r:id="rId8"/>
    <p:sldId id="262" r:id="rId9"/>
    <p:sldId id="263" r:id="rId10"/>
    <p:sldId id="264" r:id="rId11"/>
    <p:sldId id="265" r:id="rId12"/>
    <p:sldId id="266" r:id="rId13"/>
    <p:sldId id="267" r:id="rId14"/>
    <p:sldId id="271" r:id="rId15"/>
    <p:sldId id="269" r:id="rId16"/>
    <p:sldId id="270"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91"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B679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sorterViewPr>
    <p:cViewPr>
      <p:scale>
        <a:sx n="68" d="100"/>
        <a:sy n="68"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307647-6DE4-40C3-8260-1E2386936F8F}" type="datetimeFigureOut">
              <a:rPr lang="en-US" smtClean="0"/>
              <a:t>10/29/2025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6A1403-B0E0-404C-AF4E-935F3C201AF8}" type="slidenum">
              <a:rPr lang="en-US" smtClean="0"/>
              <a:t>‹#›</a:t>
            </a:fld>
            <a:endParaRPr lang="en-US"/>
          </a:p>
        </p:txBody>
      </p:sp>
    </p:spTree>
    <p:extLst>
      <p:ext uri="{BB962C8B-B14F-4D97-AF65-F5344CB8AC3E}">
        <p14:creationId xmlns:p14="http://schemas.microsoft.com/office/powerpoint/2010/main" val="1515762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5E37D-9906-CA6D-E8F1-C2F2DB3915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214ECD-BB22-CFCF-23EB-6FD9D485D9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AEC7A4-1386-CDD5-B9B1-7404227A01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FA226E-A064-40B2-9DF4-8023FFB5A5F3}"/>
              </a:ext>
            </a:extLst>
          </p:cNvPr>
          <p:cNvSpPr>
            <a:spLocks noGrp="1"/>
          </p:cNvSpPr>
          <p:nvPr>
            <p:ph type="sldNum" sz="quarter" idx="5"/>
          </p:nvPr>
        </p:nvSpPr>
        <p:spPr/>
        <p:txBody>
          <a:bodyPr/>
          <a:lstStyle/>
          <a:p>
            <a:fld id="{426A1403-B0E0-404C-AF4E-935F3C201AF8}" type="slidenum">
              <a:rPr lang="en-US" smtClean="0"/>
              <a:t>1</a:t>
            </a:fld>
            <a:endParaRPr lang="en-US"/>
          </a:p>
        </p:txBody>
      </p:sp>
    </p:spTree>
    <p:extLst>
      <p:ext uri="{BB962C8B-B14F-4D97-AF65-F5344CB8AC3E}">
        <p14:creationId xmlns:p14="http://schemas.microsoft.com/office/powerpoint/2010/main" val="1379275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2988B-C4B5-36FD-789F-109DAB494F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601C69-88AA-2C41-B329-19A80962EC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1E1738-3FE9-4EC7-4989-6D8B5053C0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1CDFA3-E676-4C42-EC90-B37A9FEA77CA}"/>
              </a:ext>
            </a:extLst>
          </p:cNvPr>
          <p:cNvSpPr>
            <a:spLocks noGrp="1"/>
          </p:cNvSpPr>
          <p:nvPr>
            <p:ph type="sldNum" sz="quarter" idx="5"/>
          </p:nvPr>
        </p:nvSpPr>
        <p:spPr/>
        <p:txBody>
          <a:bodyPr/>
          <a:lstStyle/>
          <a:p>
            <a:fld id="{426A1403-B0E0-404C-AF4E-935F3C201AF8}" type="slidenum">
              <a:rPr lang="en-US" smtClean="0"/>
              <a:t>2</a:t>
            </a:fld>
            <a:endParaRPr lang="en-US"/>
          </a:p>
        </p:txBody>
      </p:sp>
    </p:spTree>
    <p:extLst>
      <p:ext uri="{BB962C8B-B14F-4D97-AF65-F5344CB8AC3E}">
        <p14:creationId xmlns:p14="http://schemas.microsoft.com/office/powerpoint/2010/main" val="3413827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26A1403-B0E0-404C-AF4E-935F3C201AF8}" type="slidenum">
              <a:rPr lang="en-US" smtClean="0"/>
              <a:t>5</a:t>
            </a:fld>
            <a:endParaRPr lang="en-US"/>
          </a:p>
        </p:txBody>
      </p:sp>
    </p:spTree>
    <p:extLst>
      <p:ext uri="{BB962C8B-B14F-4D97-AF65-F5344CB8AC3E}">
        <p14:creationId xmlns:p14="http://schemas.microsoft.com/office/powerpoint/2010/main" val="6394380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0E24D-9CC3-1C94-6A98-23238C968C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83EA6A-53CD-7172-C0F4-D9DFBD6B44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56C7C4-B2BB-81C3-CEF2-74E38E60EB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F05757-9CB9-3B35-BCEE-5CA56BA61362}"/>
              </a:ext>
            </a:extLst>
          </p:cNvPr>
          <p:cNvSpPr>
            <a:spLocks noGrp="1"/>
          </p:cNvSpPr>
          <p:nvPr>
            <p:ph type="sldNum" sz="quarter" idx="5"/>
          </p:nvPr>
        </p:nvSpPr>
        <p:spPr/>
        <p:txBody>
          <a:bodyPr/>
          <a:lstStyle/>
          <a:p>
            <a:fld id="{426A1403-B0E0-404C-AF4E-935F3C201AF8}" type="slidenum">
              <a:rPr lang="en-US" smtClean="0"/>
              <a:t>6</a:t>
            </a:fld>
            <a:endParaRPr lang="en-US"/>
          </a:p>
        </p:txBody>
      </p:sp>
    </p:spTree>
    <p:extLst>
      <p:ext uri="{BB962C8B-B14F-4D97-AF65-F5344CB8AC3E}">
        <p14:creationId xmlns:p14="http://schemas.microsoft.com/office/powerpoint/2010/main" val="37142342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1AC57-D9EC-5076-51F1-0D98326F77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6F9FFD-077D-0A36-CA14-F23179D860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CB3243-1792-6EDB-ED84-DCB35D600D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3B2C58-A51C-B1E8-B2B2-9D9827E2344A}"/>
              </a:ext>
            </a:extLst>
          </p:cNvPr>
          <p:cNvSpPr>
            <a:spLocks noGrp="1"/>
          </p:cNvSpPr>
          <p:nvPr>
            <p:ph type="sldNum" sz="quarter" idx="5"/>
          </p:nvPr>
        </p:nvSpPr>
        <p:spPr/>
        <p:txBody>
          <a:bodyPr/>
          <a:lstStyle/>
          <a:p>
            <a:fld id="{426A1403-B0E0-404C-AF4E-935F3C201AF8}" type="slidenum">
              <a:rPr lang="en-US" smtClean="0"/>
              <a:t>7</a:t>
            </a:fld>
            <a:endParaRPr lang="en-US"/>
          </a:p>
        </p:txBody>
      </p:sp>
    </p:spTree>
    <p:extLst>
      <p:ext uri="{BB962C8B-B14F-4D97-AF65-F5344CB8AC3E}">
        <p14:creationId xmlns:p14="http://schemas.microsoft.com/office/powerpoint/2010/main" val="40724566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4FFF6-F30A-956D-67FB-1233A97AFB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7B71FB-1C3C-C25D-14C3-2D5D63AF88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8FE2A1-C414-B35F-B577-B7E31D8A8D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24FEB3-FAC1-E40C-63AD-E45CABC5DD09}"/>
              </a:ext>
            </a:extLst>
          </p:cNvPr>
          <p:cNvSpPr>
            <a:spLocks noGrp="1"/>
          </p:cNvSpPr>
          <p:nvPr>
            <p:ph type="sldNum" sz="quarter" idx="5"/>
          </p:nvPr>
        </p:nvSpPr>
        <p:spPr/>
        <p:txBody>
          <a:bodyPr/>
          <a:lstStyle/>
          <a:p>
            <a:fld id="{426A1403-B0E0-404C-AF4E-935F3C201AF8}" type="slidenum">
              <a:rPr lang="en-US" smtClean="0"/>
              <a:t>8</a:t>
            </a:fld>
            <a:endParaRPr lang="en-US"/>
          </a:p>
        </p:txBody>
      </p:sp>
    </p:spTree>
    <p:extLst>
      <p:ext uri="{BB962C8B-B14F-4D97-AF65-F5344CB8AC3E}">
        <p14:creationId xmlns:p14="http://schemas.microsoft.com/office/powerpoint/2010/main" val="35742358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BBB04-B36A-FCD2-7CCA-F630AC484D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F1C557-2DE3-3E9E-0367-BB375AED18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73A53C-65B0-F7AA-DF9C-E1DAB9F6F3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7349E0-5BC1-A460-45D9-0F4E97B17030}"/>
              </a:ext>
            </a:extLst>
          </p:cNvPr>
          <p:cNvSpPr>
            <a:spLocks noGrp="1"/>
          </p:cNvSpPr>
          <p:nvPr>
            <p:ph type="sldNum" sz="quarter" idx="5"/>
          </p:nvPr>
        </p:nvSpPr>
        <p:spPr/>
        <p:txBody>
          <a:bodyPr/>
          <a:lstStyle/>
          <a:p>
            <a:fld id="{426A1403-B0E0-404C-AF4E-935F3C201AF8}" type="slidenum">
              <a:rPr lang="en-US" smtClean="0"/>
              <a:t>9</a:t>
            </a:fld>
            <a:endParaRPr lang="en-US"/>
          </a:p>
        </p:txBody>
      </p:sp>
    </p:spTree>
    <p:extLst>
      <p:ext uri="{BB962C8B-B14F-4D97-AF65-F5344CB8AC3E}">
        <p14:creationId xmlns:p14="http://schemas.microsoft.com/office/powerpoint/2010/main" val="29777881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6D6D8-56BA-EB9C-AFF9-44D8B8FF7B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26102F-1B07-F737-6E9E-E33587579A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F6F28C-F50C-2F8F-3935-2E3F0180F5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B25C7E-922F-9014-2451-10E326A03AB8}"/>
              </a:ext>
            </a:extLst>
          </p:cNvPr>
          <p:cNvSpPr>
            <a:spLocks noGrp="1"/>
          </p:cNvSpPr>
          <p:nvPr>
            <p:ph type="sldNum" sz="quarter" idx="5"/>
          </p:nvPr>
        </p:nvSpPr>
        <p:spPr/>
        <p:txBody>
          <a:bodyPr/>
          <a:lstStyle/>
          <a:p>
            <a:fld id="{426A1403-B0E0-404C-AF4E-935F3C201AF8}" type="slidenum">
              <a:rPr lang="en-US" smtClean="0"/>
              <a:t>10</a:t>
            </a:fld>
            <a:endParaRPr lang="en-US"/>
          </a:p>
        </p:txBody>
      </p:sp>
    </p:spTree>
    <p:extLst>
      <p:ext uri="{BB962C8B-B14F-4D97-AF65-F5344CB8AC3E}">
        <p14:creationId xmlns:p14="http://schemas.microsoft.com/office/powerpoint/2010/main" val="30139573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B6444-12B7-228E-CD1B-E066CF7A2D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36E585-AB5B-09E0-7BC3-23B5A05491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439465-81DA-8D79-6327-A481E6E10D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E5CB50-F4B2-ED26-3094-2FADCDD7102E}"/>
              </a:ext>
            </a:extLst>
          </p:cNvPr>
          <p:cNvSpPr>
            <a:spLocks noGrp="1"/>
          </p:cNvSpPr>
          <p:nvPr>
            <p:ph type="sldNum" sz="quarter" idx="5"/>
          </p:nvPr>
        </p:nvSpPr>
        <p:spPr/>
        <p:txBody>
          <a:bodyPr/>
          <a:lstStyle/>
          <a:p>
            <a:fld id="{426A1403-B0E0-404C-AF4E-935F3C201AF8}" type="slidenum">
              <a:rPr lang="en-US" smtClean="0"/>
              <a:t>11</a:t>
            </a:fld>
            <a:endParaRPr lang="en-US"/>
          </a:p>
        </p:txBody>
      </p:sp>
    </p:spTree>
    <p:extLst>
      <p:ext uri="{BB962C8B-B14F-4D97-AF65-F5344CB8AC3E}">
        <p14:creationId xmlns:p14="http://schemas.microsoft.com/office/powerpoint/2010/main" val="28274667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93AE0-9A97-9335-BA47-181BBFBB88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CB3B10-D866-3EB8-537E-3D0B8BA1D2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96472D-F364-804D-86D9-67BE905E24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169B1C-735A-24FB-AB1F-2A5F17DEFAF6}"/>
              </a:ext>
            </a:extLst>
          </p:cNvPr>
          <p:cNvSpPr>
            <a:spLocks noGrp="1"/>
          </p:cNvSpPr>
          <p:nvPr>
            <p:ph type="sldNum" sz="quarter" idx="5"/>
          </p:nvPr>
        </p:nvSpPr>
        <p:spPr/>
        <p:txBody>
          <a:bodyPr/>
          <a:lstStyle/>
          <a:p>
            <a:fld id="{426A1403-B0E0-404C-AF4E-935F3C201AF8}" type="slidenum">
              <a:rPr lang="en-US" smtClean="0"/>
              <a:t>12</a:t>
            </a:fld>
            <a:endParaRPr lang="en-US"/>
          </a:p>
        </p:txBody>
      </p:sp>
    </p:spTree>
    <p:extLst>
      <p:ext uri="{BB962C8B-B14F-4D97-AF65-F5344CB8AC3E}">
        <p14:creationId xmlns:p14="http://schemas.microsoft.com/office/powerpoint/2010/main" val="14715844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71928-A4B5-2BA2-113B-7025A33386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6AB494-7ACB-42B1-100C-2A9265C4EC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C2E30-064A-7AAB-45DE-800BEB9403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4A76D7-6B4F-1FAB-2633-22518012CE39}"/>
              </a:ext>
            </a:extLst>
          </p:cNvPr>
          <p:cNvSpPr>
            <a:spLocks noGrp="1"/>
          </p:cNvSpPr>
          <p:nvPr>
            <p:ph type="sldNum" sz="quarter" idx="5"/>
          </p:nvPr>
        </p:nvSpPr>
        <p:spPr/>
        <p:txBody>
          <a:bodyPr/>
          <a:lstStyle/>
          <a:p>
            <a:fld id="{426A1403-B0E0-404C-AF4E-935F3C201AF8}" type="slidenum">
              <a:rPr lang="en-US" smtClean="0"/>
              <a:t>13</a:t>
            </a:fld>
            <a:endParaRPr lang="en-US"/>
          </a:p>
        </p:txBody>
      </p:sp>
    </p:spTree>
    <p:extLst>
      <p:ext uri="{BB962C8B-B14F-4D97-AF65-F5344CB8AC3E}">
        <p14:creationId xmlns:p14="http://schemas.microsoft.com/office/powerpoint/2010/main" val="13113219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08DD6-0B24-D117-FE01-26B3A6642F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C48D5-0A1E-F680-15D4-94D58D22AA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B9F2B7-8B7B-E854-4BE2-008599BD1A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1BBD3D-89FE-55F9-531C-676BE2E088BC}"/>
              </a:ext>
            </a:extLst>
          </p:cNvPr>
          <p:cNvSpPr>
            <a:spLocks noGrp="1"/>
          </p:cNvSpPr>
          <p:nvPr>
            <p:ph type="sldNum" sz="quarter" idx="5"/>
          </p:nvPr>
        </p:nvSpPr>
        <p:spPr/>
        <p:txBody>
          <a:bodyPr/>
          <a:lstStyle/>
          <a:p>
            <a:fld id="{426A1403-B0E0-404C-AF4E-935F3C201AF8}" type="slidenum">
              <a:rPr lang="en-US" smtClean="0"/>
              <a:t>14</a:t>
            </a:fld>
            <a:endParaRPr lang="en-US"/>
          </a:p>
        </p:txBody>
      </p:sp>
    </p:spTree>
    <p:extLst>
      <p:ext uri="{BB962C8B-B14F-4D97-AF65-F5344CB8AC3E}">
        <p14:creationId xmlns:p14="http://schemas.microsoft.com/office/powerpoint/2010/main" val="41417104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26A1403-B0E0-404C-AF4E-935F3C201AF8}" type="slidenum">
              <a:rPr lang="en-US" smtClean="0"/>
              <a:t>15</a:t>
            </a:fld>
            <a:endParaRPr lang="en-US"/>
          </a:p>
        </p:txBody>
      </p:sp>
    </p:spTree>
    <p:extLst>
      <p:ext uri="{BB962C8B-B14F-4D97-AF65-F5344CB8AC3E}">
        <p14:creationId xmlns:p14="http://schemas.microsoft.com/office/powerpoint/2010/main" val="31173501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C7FFC-4066-9334-BA26-F93FB93F99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C9CB66-E64C-435C-8C88-6FFBCA61D5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F20086-B8B4-841A-FC94-45E6BEEE78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0F9116-FB88-FA24-5D65-4A8C82EF110A}"/>
              </a:ext>
            </a:extLst>
          </p:cNvPr>
          <p:cNvSpPr>
            <a:spLocks noGrp="1"/>
          </p:cNvSpPr>
          <p:nvPr>
            <p:ph type="sldNum" sz="quarter" idx="5"/>
          </p:nvPr>
        </p:nvSpPr>
        <p:spPr/>
        <p:txBody>
          <a:bodyPr/>
          <a:lstStyle/>
          <a:p>
            <a:fld id="{426A1403-B0E0-404C-AF4E-935F3C201AF8}" type="slidenum">
              <a:rPr lang="en-US" smtClean="0"/>
              <a:t>17</a:t>
            </a:fld>
            <a:endParaRPr lang="en-US"/>
          </a:p>
        </p:txBody>
      </p:sp>
    </p:spTree>
    <p:extLst>
      <p:ext uri="{BB962C8B-B14F-4D97-AF65-F5344CB8AC3E}">
        <p14:creationId xmlns:p14="http://schemas.microsoft.com/office/powerpoint/2010/main" val="9071723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070CB-179D-4463-80FD-76E348F29D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546121-8933-AB39-E57D-8E15584799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A9D20F-B9C4-28C9-92A8-9EE8F5A747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2268D9-F6A8-C59E-E9A6-667DCEC9480E}"/>
              </a:ext>
            </a:extLst>
          </p:cNvPr>
          <p:cNvSpPr>
            <a:spLocks noGrp="1"/>
          </p:cNvSpPr>
          <p:nvPr>
            <p:ph type="sldNum" sz="quarter" idx="5"/>
          </p:nvPr>
        </p:nvSpPr>
        <p:spPr/>
        <p:txBody>
          <a:bodyPr/>
          <a:lstStyle/>
          <a:p>
            <a:fld id="{426A1403-B0E0-404C-AF4E-935F3C201AF8}" type="slidenum">
              <a:rPr lang="en-US" smtClean="0"/>
              <a:t>18</a:t>
            </a:fld>
            <a:endParaRPr lang="en-US"/>
          </a:p>
        </p:txBody>
      </p:sp>
    </p:spTree>
    <p:extLst>
      <p:ext uri="{BB962C8B-B14F-4D97-AF65-F5344CB8AC3E}">
        <p14:creationId xmlns:p14="http://schemas.microsoft.com/office/powerpoint/2010/main" val="21547862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7AEED-337C-9596-2DAB-4BBD942241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F806B8-9511-7A9F-C603-06BC68BF5E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CC9531-C577-6EBC-C095-3586DA1998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D51CAB-7252-202B-3F0C-1491444146FB}"/>
              </a:ext>
            </a:extLst>
          </p:cNvPr>
          <p:cNvSpPr>
            <a:spLocks noGrp="1"/>
          </p:cNvSpPr>
          <p:nvPr>
            <p:ph type="sldNum" sz="quarter" idx="5"/>
          </p:nvPr>
        </p:nvSpPr>
        <p:spPr/>
        <p:txBody>
          <a:bodyPr/>
          <a:lstStyle/>
          <a:p>
            <a:fld id="{426A1403-B0E0-404C-AF4E-935F3C201AF8}" type="slidenum">
              <a:rPr lang="en-US" smtClean="0"/>
              <a:t>19</a:t>
            </a:fld>
            <a:endParaRPr lang="en-US"/>
          </a:p>
        </p:txBody>
      </p:sp>
    </p:spTree>
    <p:extLst>
      <p:ext uri="{BB962C8B-B14F-4D97-AF65-F5344CB8AC3E}">
        <p14:creationId xmlns:p14="http://schemas.microsoft.com/office/powerpoint/2010/main" val="38855285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2143D-B508-F78C-3AD4-90E6352B69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D15315-C513-E469-6231-7901DF2615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CDFDA2-7A62-F74B-2130-620F197C25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5BCD9A-8929-F91C-5982-64A15D63148B}"/>
              </a:ext>
            </a:extLst>
          </p:cNvPr>
          <p:cNvSpPr>
            <a:spLocks noGrp="1"/>
          </p:cNvSpPr>
          <p:nvPr>
            <p:ph type="sldNum" sz="quarter" idx="5"/>
          </p:nvPr>
        </p:nvSpPr>
        <p:spPr/>
        <p:txBody>
          <a:bodyPr/>
          <a:lstStyle/>
          <a:p>
            <a:fld id="{426A1403-B0E0-404C-AF4E-935F3C201AF8}" type="slidenum">
              <a:rPr lang="en-US" smtClean="0"/>
              <a:t>20</a:t>
            </a:fld>
            <a:endParaRPr lang="en-US"/>
          </a:p>
        </p:txBody>
      </p:sp>
    </p:spTree>
    <p:extLst>
      <p:ext uri="{BB962C8B-B14F-4D97-AF65-F5344CB8AC3E}">
        <p14:creationId xmlns:p14="http://schemas.microsoft.com/office/powerpoint/2010/main" val="2625699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E9E8D-1381-B236-A851-444A23E977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8C8102-7654-DEDA-43CD-1FA32650D7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593848-ABDA-1A10-C451-B01768D3E1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D6AFE1-813E-F9D0-3AA0-B568A788F073}"/>
              </a:ext>
            </a:extLst>
          </p:cNvPr>
          <p:cNvSpPr>
            <a:spLocks noGrp="1"/>
          </p:cNvSpPr>
          <p:nvPr>
            <p:ph type="sldNum" sz="quarter" idx="5"/>
          </p:nvPr>
        </p:nvSpPr>
        <p:spPr/>
        <p:txBody>
          <a:bodyPr/>
          <a:lstStyle/>
          <a:p>
            <a:fld id="{426A1403-B0E0-404C-AF4E-935F3C201AF8}" type="slidenum">
              <a:rPr lang="en-US" smtClean="0"/>
              <a:t>21</a:t>
            </a:fld>
            <a:endParaRPr lang="en-US"/>
          </a:p>
        </p:txBody>
      </p:sp>
    </p:spTree>
    <p:extLst>
      <p:ext uri="{BB962C8B-B14F-4D97-AF65-F5344CB8AC3E}">
        <p14:creationId xmlns:p14="http://schemas.microsoft.com/office/powerpoint/2010/main" val="15969205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E423E-C8A6-9AB7-8209-CA1848A77D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BEC2B4-0035-27B2-0A6E-F17ADD7E88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6D0133-2A32-5479-38FF-C6C7551176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3B049F-B85A-1E06-1C33-996A3094453F}"/>
              </a:ext>
            </a:extLst>
          </p:cNvPr>
          <p:cNvSpPr>
            <a:spLocks noGrp="1"/>
          </p:cNvSpPr>
          <p:nvPr>
            <p:ph type="sldNum" sz="quarter" idx="5"/>
          </p:nvPr>
        </p:nvSpPr>
        <p:spPr/>
        <p:txBody>
          <a:bodyPr/>
          <a:lstStyle/>
          <a:p>
            <a:fld id="{426A1403-B0E0-404C-AF4E-935F3C201AF8}" type="slidenum">
              <a:rPr lang="en-US" smtClean="0"/>
              <a:t>22</a:t>
            </a:fld>
            <a:endParaRPr lang="en-US"/>
          </a:p>
        </p:txBody>
      </p:sp>
    </p:spTree>
    <p:extLst>
      <p:ext uri="{BB962C8B-B14F-4D97-AF65-F5344CB8AC3E}">
        <p14:creationId xmlns:p14="http://schemas.microsoft.com/office/powerpoint/2010/main" val="4937586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F2A59-5A6D-5214-1364-98DF10BA26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2081BA-A200-8F73-5350-6D12110365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032268-0473-5503-DE7B-C6567E84CA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681948-1185-9953-9123-DABDEC5DE860}"/>
              </a:ext>
            </a:extLst>
          </p:cNvPr>
          <p:cNvSpPr>
            <a:spLocks noGrp="1"/>
          </p:cNvSpPr>
          <p:nvPr>
            <p:ph type="sldNum" sz="quarter" idx="5"/>
          </p:nvPr>
        </p:nvSpPr>
        <p:spPr/>
        <p:txBody>
          <a:bodyPr/>
          <a:lstStyle/>
          <a:p>
            <a:fld id="{426A1403-B0E0-404C-AF4E-935F3C201AF8}" type="slidenum">
              <a:rPr lang="en-US" smtClean="0"/>
              <a:t>23</a:t>
            </a:fld>
            <a:endParaRPr lang="en-US"/>
          </a:p>
        </p:txBody>
      </p:sp>
    </p:spTree>
    <p:extLst>
      <p:ext uri="{BB962C8B-B14F-4D97-AF65-F5344CB8AC3E}">
        <p14:creationId xmlns:p14="http://schemas.microsoft.com/office/powerpoint/2010/main" val="9844513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F6D30-96DF-58A5-29C6-8DF7E2DD58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EEE643-8075-EF65-63D5-CF8FB3C748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84AD1-3F92-1946-1E0F-1150A4E9C1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8EC668-99D1-71A5-F107-81558D134838}"/>
              </a:ext>
            </a:extLst>
          </p:cNvPr>
          <p:cNvSpPr>
            <a:spLocks noGrp="1"/>
          </p:cNvSpPr>
          <p:nvPr>
            <p:ph type="sldNum" sz="quarter" idx="5"/>
          </p:nvPr>
        </p:nvSpPr>
        <p:spPr/>
        <p:txBody>
          <a:bodyPr/>
          <a:lstStyle/>
          <a:p>
            <a:fld id="{426A1403-B0E0-404C-AF4E-935F3C201AF8}" type="slidenum">
              <a:rPr lang="en-US" smtClean="0"/>
              <a:t>24</a:t>
            </a:fld>
            <a:endParaRPr lang="en-US"/>
          </a:p>
        </p:txBody>
      </p:sp>
    </p:spTree>
    <p:extLst>
      <p:ext uri="{BB962C8B-B14F-4D97-AF65-F5344CB8AC3E}">
        <p14:creationId xmlns:p14="http://schemas.microsoft.com/office/powerpoint/2010/main" val="31507352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FE7C8-5D8B-93BB-4D73-CD829AF99C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AB1946-D372-7DF5-EDAF-85BBE847DA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8E90A0-EAE3-D0C8-D4B6-E3E3BAC1B6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7CA529-E72A-2150-629E-8AA8B1C6B00B}"/>
              </a:ext>
            </a:extLst>
          </p:cNvPr>
          <p:cNvSpPr>
            <a:spLocks noGrp="1"/>
          </p:cNvSpPr>
          <p:nvPr>
            <p:ph type="sldNum" sz="quarter" idx="5"/>
          </p:nvPr>
        </p:nvSpPr>
        <p:spPr/>
        <p:txBody>
          <a:bodyPr/>
          <a:lstStyle/>
          <a:p>
            <a:fld id="{426A1403-B0E0-404C-AF4E-935F3C201AF8}" type="slidenum">
              <a:rPr lang="en-US" smtClean="0"/>
              <a:t>25</a:t>
            </a:fld>
            <a:endParaRPr lang="en-US"/>
          </a:p>
        </p:txBody>
      </p:sp>
    </p:spTree>
    <p:extLst>
      <p:ext uri="{BB962C8B-B14F-4D97-AF65-F5344CB8AC3E}">
        <p14:creationId xmlns:p14="http://schemas.microsoft.com/office/powerpoint/2010/main" val="36417615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E84F9-5A9D-887E-B0AC-EE1262D99B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E08660-0EB9-FBFB-70FE-24EB47BE26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399423-6234-223C-BBB8-B42D355556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BC6428-4399-DD9D-BE4D-187D5190F4D4}"/>
              </a:ext>
            </a:extLst>
          </p:cNvPr>
          <p:cNvSpPr>
            <a:spLocks noGrp="1"/>
          </p:cNvSpPr>
          <p:nvPr>
            <p:ph type="sldNum" sz="quarter" idx="5"/>
          </p:nvPr>
        </p:nvSpPr>
        <p:spPr/>
        <p:txBody>
          <a:bodyPr/>
          <a:lstStyle/>
          <a:p>
            <a:fld id="{426A1403-B0E0-404C-AF4E-935F3C201AF8}" type="slidenum">
              <a:rPr lang="en-US" smtClean="0"/>
              <a:t>26</a:t>
            </a:fld>
            <a:endParaRPr lang="en-US"/>
          </a:p>
        </p:txBody>
      </p:sp>
    </p:spTree>
    <p:extLst>
      <p:ext uri="{BB962C8B-B14F-4D97-AF65-F5344CB8AC3E}">
        <p14:creationId xmlns:p14="http://schemas.microsoft.com/office/powerpoint/2010/main" val="34558080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7C549-1BA3-EE50-136D-D670A322D4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BFE53E-39FC-54F6-5389-123E5814C8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3A3907-E15B-69C5-37E6-2E9B6252D8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525ECE-2D3D-0D37-62F0-99CB578E2D64}"/>
              </a:ext>
            </a:extLst>
          </p:cNvPr>
          <p:cNvSpPr>
            <a:spLocks noGrp="1"/>
          </p:cNvSpPr>
          <p:nvPr>
            <p:ph type="sldNum" sz="quarter" idx="5"/>
          </p:nvPr>
        </p:nvSpPr>
        <p:spPr/>
        <p:txBody>
          <a:bodyPr/>
          <a:lstStyle/>
          <a:p>
            <a:fld id="{426A1403-B0E0-404C-AF4E-935F3C201AF8}" type="slidenum">
              <a:rPr lang="en-US" smtClean="0"/>
              <a:t>28</a:t>
            </a:fld>
            <a:endParaRPr lang="en-US"/>
          </a:p>
        </p:txBody>
      </p:sp>
    </p:spTree>
    <p:extLst>
      <p:ext uri="{BB962C8B-B14F-4D97-AF65-F5344CB8AC3E}">
        <p14:creationId xmlns:p14="http://schemas.microsoft.com/office/powerpoint/2010/main" val="15544608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DDF6D-1964-73E5-56E1-7BB2F07EFA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F6B561-146A-66BE-668D-ADA1006AFC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8A60BC-2269-F491-28A1-F062B47435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DFE4C7-10DE-3ACF-BF2F-C840D5CE3246}"/>
              </a:ext>
            </a:extLst>
          </p:cNvPr>
          <p:cNvSpPr>
            <a:spLocks noGrp="1"/>
          </p:cNvSpPr>
          <p:nvPr>
            <p:ph type="sldNum" sz="quarter" idx="5"/>
          </p:nvPr>
        </p:nvSpPr>
        <p:spPr/>
        <p:txBody>
          <a:bodyPr/>
          <a:lstStyle/>
          <a:p>
            <a:fld id="{426A1403-B0E0-404C-AF4E-935F3C201AF8}" type="slidenum">
              <a:rPr lang="en-US" smtClean="0"/>
              <a:t>29</a:t>
            </a:fld>
            <a:endParaRPr lang="en-US"/>
          </a:p>
        </p:txBody>
      </p:sp>
    </p:spTree>
    <p:extLst>
      <p:ext uri="{BB962C8B-B14F-4D97-AF65-F5344CB8AC3E}">
        <p14:creationId xmlns:p14="http://schemas.microsoft.com/office/powerpoint/2010/main" val="30055793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20E12-2E6F-E3F8-9530-06AAE01507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7ADB47-F57A-B319-8719-B298723BF5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0725A8-2E9F-44FE-D7F1-F12DA37210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9D445A-16C2-D5F5-C301-6A4B1B45F50D}"/>
              </a:ext>
            </a:extLst>
          </p:cNvPr>
          <p:cNvSpPr>
            <a:spLocks noGrp="1"/>
          </p:cNvSpPr>
          <p:nvPr>
            <p:ph type="sldNum" sz="quarter" idx="5"/>
          </p:nvPr>
        </p:nvSpPr>
        <p:spPr/>
        <p:txBody>
          <a:bodyPr/>
          <a:lstStyle/>
          <a:p>
            <a:fld id="{426A1403-B0E0-404C-AF4E-935F3C201AF8}" type="slidenum">
              <a:rPr lang="en-US" smtClean="0"/>
              <a:t>30</a:t>
            </a:fld>
            <a:endParaRPr lang="en-US"/>
          </a:p>
        </p:txBody>
      </p:sp>
    </p:spTree>
    <p:extLst>
      <p:ext uri="{BB962C8B-B14F-4D97-AF65-F5344CB8AC3E}">
        <p14:creationId xmlns:p14="http://schemas.microsoft.com/office/powerpoint/2010/main" val="17131050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9B5F3-BA73-5D5B-C920-7AFDB9B195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36B5BF-9980-C650-3051-C96FFE4959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2BDE5-98A2-B594-681F-A4D1A6CF24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C494C9-8637-EF4C-D61D-9AC29ACC2A9D}"/>
              </a:ext>
            </a:extLst>
          </p:cNvPr>
          <p:cNvSpPr>
            <a:spLocks noGrp="1"/>
          </p:cNvSpPr>
          <p:nvPr>
            <p:ph type="sldNum" sz="quarter" idx="5"/>
          </p:nvPr>
        </p:nvSpPr>
        <p:spPr/>
        <p:txBody>
          <a:bodyPr/>
          <a:lstStyle/>
          <a:p>
            <a:fld id="{426A1403-B0E0-404C-AF4E-935F3C201AF8}" type="slidenum">
              <a:rPr lang="en-US" smtClean="0"/>
              <a:t>31</a:t>
            </a:fld>
            <a:endParaRPr lang="en-US"/>
          </a:p>
        </p:txBody>
      </p:sp>
    </p:spTree>
    <p:extLst>
      <p:ext uri="{BB962C8B-B14F-4D97-AF65-F5344CB8AC3E}">
        <p14:creationId xmlns:p14="http://schemas.microsoft.com/office/powerpoint/2010/main" val="22592108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00C83-95ED-0B8A-7EF8-A57B52246E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C0609D-66E3-56F0-83EC-DABAF9C3C6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4E2D92-0BC2-4DBD-67E4-8D5841CAF9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04E8BC-62A6-6715-020B-AC779D6060FF}"/>
              </a:ext>
            </a:extLst>
          </p:cNvPr>
          <p:cNvSpPr>
            <a:spLocks noGrp="1"/>
          </p:cNvSpPr>
          <p:nvPr>
            <p:ph type="sldNum" sz="quarter" idx="5"/>
          </p:nvPr>
        </p:nvSpPr>
        <p:spPr/>
        <p:txBody>
          <a:bodyPr/>
          <a:lstStyle/>
          <a:p>
            <a:fld id="{426A1403-B0E0-404C-AF4E-935F3C201AF8}" type="slidenum">
              <a:rPr lang="en-US" smtClean="0"/>
              <a:t>32</a:t>
            </a:fld>
            <a:endParaRPr lang="en-US"/>
          </a:p>
        </p:txBody>
      </p:sp>
    </p:spTree>
    <p:extLst>
      <p:ext uri="{BB962C8B-B14F-4D97-AF65-F5344CB8AC3E}">
        <p14:creationId xmlns:p14="http://schemas.microsoft.com/office/powerpoint/2010/main" val="32756759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2BF9D-1826-0AC8-84B1-2EA9E3DF8B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7874F4-AA76-0B1A-A725-CC86D5D450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40A7E8-566A-8153-F698-0A45E2C16E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F297E6-5E26-F769-E1E8-8B645D76A95D}"/>
              </a:ext>
            </a:extLst>
          </p:cNvPr>
          <p:cNvSpPr>
            <a:spLocks noGrp="1"/>
          </p:cNvSpPr>
          <p:nvPr>
            <p:ph type="sldNum" sz="quarter" idx="5"/>
          </p:nvPr>
        </p:nvSpPr>
        <p:spPr/>
        <p:txBody>
          <a:bodyPr/>
          <a:lstStyle/>
          <a:p>
            <a:fld id="{426A1403-B0E0-404C-AF4E-935F3C201AF8}" type="slidenum">
              <a:rPr lang="en-US" smtClean="0"/>
              <a:t>33</a:t>
            </a:fld>
            <a:endParaRPr lang="en-US"/>
          </a:p>
        </p:txBody>
      </p:sp>
    </p:spTree>
    <p:extLst>
      <p:ext uri="{BB962C8B-B14F-4D97-AF65-F5344CB8AC3E}">
        <p14:creationId xmlns:p14="http://schemas.microsoft.com/office/powerpoint/2010/main" val="29652306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34A40-647A-313D-0D9E-DA3CA1E164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319F40-4C85-459F-740C-C68AAE2055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BF4EC9-C639-0183-5F14-761CAC147B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033E0C-6063-7C31-F889-98037AA2EEE7}"/>
              </a:ext>
            </a:extLst>
          </p:cNvPr>
          <p:cNvSpPr>
            <a:spLocks noGrp="1"/>
          </p:cNvSpPr>
          <p:nvPr>
            <p:ph type="sldNum" sz="quarter" idx="5"/>
          </p:nvPr>
        </p:nvSpPr>
        <p:spPr/>
        <p:txBody>
          <a:bodyPr/>
          <a:lstStyle/>
          <a:p>
            <a:fld id="{426A1403-B0E0-404C-AF4E-935F3C201AF8}" type="slidenum">
              <a:rPr lang="en-US" smtClean="0"/>
              <a:t>34</a:t>
            </a:fld>
            <a:endParaRPr lang="en-US"/>
          </a:p>
        </p:txBody>
      </p:sp>
    </p:spTree>
    <p:extLst>
      <p:ext uri="{BB962C8B-B14F-4D97-AF65-F5344CB8AC3E}">
        <p14:creationId xmlns:p14="http://schemas.microsoft.com/office/powerpoint/2010/main" val="5531860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10/29/2025</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65694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10/29/2025</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165403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10/29/2025</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44646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10/29/2025</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5515852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10/29/2025</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0661805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10/29/2025</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649423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10/29/2025</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7237626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10/29/2025</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7005201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10/29/2025</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3388183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10/29/2025</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1683040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10/29/2025</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23122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10/29/2025</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060151092"/>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88" r:id="rId6"/>
    <p:sldLayoutId id="2147483684" r:id="rId7"/>
    <p:sldLayoutId id="2147483685" r:id="rId8"/>
    <p:sldLayoutId id="2147483686" r:id="rId9"/>
    <p:sldLayoutId id="2147483687" r:id="rId10"/>
    <p:sldLayoutId id="2147483689"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4.jpe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4.jpe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4.jpe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4.jpe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4.jpe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4.jpe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4.jpe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6.jpe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4.jpe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jpeg"/><Relationship Id="rId7" Type="http://schemas.openxmlformats.org/officeDocument/2006/relationships/image" Target="../media/image19.jpe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2.jpeg"/><Relationship Id="rId5" Type="http://schemas.openxmlformats.org/officeDocument/2006/relationships/image" Target="../media/image21.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2.jpe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2.jpe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3.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2.jpe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2.jpe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3.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2.jpe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3.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2.jpe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3.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3.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2.jpe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23.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2.jpe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23.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4.jpeg"/><Relationship Id="rId5" Type="http://schemas.openxmlformats.org/officeDocument/2006/relationships/image" Target="../media/image33.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34.jpe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23.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34.jpe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23.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34.jpe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23.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34.jpe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23.png"/><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34.jpe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23.pn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34.jpe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23.pn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92374-224F-9971-1F0D-C8871527171F}"/>
            </a:ext>
          </a:extLst>
        </p:cNvPr>
        <p:cNvGrpSpPr/>
        <p:nvPr/>
      </p:nvGrpSpPr>
      <p:grpSpPr>
        <a:xfrm>
          <a:off x="0" y="0"/>
          <a:ext cx="0" cy="0"/>
          <a:chOff x="0" y="0"/>
          <a:chExt cx="0" cy="0"/>
        </a:xfrm>
      </p:grpSpPr>
      <p:pic>
        <p:nvPicPr>
          <p:cNvPr id="5" name="Picture 4" descr="A logo with a feather and a book&#10;&#10;AI-generated content may be incorrect.">
            <a:extLst>
              <a:ext uri="{FF2B5EF4-FFF2-40B4-BE49-F238E27FC236}">
                <a16:creationId xmlns:a16="http://schemas.microsoft.com/office/drawing/2014/main" id="{955BBFBA-760B-0B52-862B-9F716F5C5CE0}"/>
              </a:ext>
            </a:extLst>
          </p:cNvPr>
          <p:cNvPicPr>
            <a:picLocks noChangeAspect="1"/>
          </p:cNvPicPr>
          <p:nvPr/>
        </p:nvPicPr>
        <p:blipFill>
          <a:blip r:embed="rId3">
            <a:extLst>
              <a:ext uri="{28A0092B-C50C-407E-A947-70E740481C1C}">
                <a14:useLocalDpi xmlns:a14="http://schemas.microsoft.com/office/drawing/2010/main" val="0"/>
              </a:ext>
            </a:extLst>
          </a:blip>
          <a:srcRect t="18752" r="-1" b="-1"/>
          <a:stretch>
            <a:fillRect/>
          </a:stretch>
        </p:blipFill>
        <p:spPr>
          <a:xfrm>
            <a:off x="3068" y="9"/>
            <a:ext cx="12188932" cy="5020709"/>
          </a:xfrm>
          <a:prstGeom prst="rect">
            <a:avLst/>
          </a:prstGeom>
        </p:spPr>
      </p:pic>
      <p:sp>
        <p:nvSpPr>
          <p:cNvPr id="9" name="TextBox 8">
            <a:extLst>
              <a:ext uri="{FF2B5EF4-FFF2-40B4-BE49-F238E27FC236}">
                <a16:creationId xmlns:a16="http://schemas.microsoft.com/office/drawing/2014/main" id="{BE87DCDB-B043-2ECF-6C47-82617582BB0B}"/>
              </a:ext>
            </a:extLst>
          </p:cNvPr>
          <p:cNvSpPr txBox="1"/>
          <p:nvPr/>
        </p:nvSpPr>
        <p:spPr>
          <a:xfrm>
            <a:off x="9041222" y="409656"/>
            <a:ext cx="3156874" cy="523220"/>
          </a:xfrm>
          <a:prstGeom prst="rect">
            <a:avLst/>
          </a:prstGeom>
          <a:noFill/>
        </p:spPr>
        <p:txBody>
          <a:bodyPr wrap="square" rtlCol="0">
            <a:spAutoFit/>
          </a:bodyPr>
          <a:lstStyle/>
          <a:p>
            <a:r>
              <a:rPr lang="ar-SA" sz="2800" b="1" dirty="0">
                <a:latin typeface="Calibri" panose="020F0502020204030204" pitchFamily="34" charset="0"/>
                <a:ea typeface="Calibri" panose="020F0502020204030204" pitchFamily="34" charset="0"/>
                <a:cs typeface="Calibri" panose="020F0502020204030204" pitchFamily="34" charset="0"/>
              </a:rPr>
              <a:t>مدرسة الشوامخ  ح2-3</a:t>
            </a:r>
            <a:endParaRPr lang="en-US" sz="2800" b="1" dirty="0">
              <a:latin typeface="Calibri" panose="020F0502020204030204" pitchFamily="34" charset="0"/>
              <a:ea typeface="Calibri" panose="020F0502020204030204" pitchFamily="34" charset="0"/>
              <a:cs typeface="Calibri" panose="020F0502020204030204" pitchFamily="34" charset="0"/>
            </a:endParaRPr>
          </a:p>
        </p:txBody>
      </p:sp>
      <p:pic>
        <p:nvPicPr>
          <p:cNvPr id="11" name="Picture 10" descr="التربية والتعليم» تعلن هويتها المرئية الجديدة | صحيفة الخليج">
            <a:extLst>
              <a:ext uri="{FF2B5EF4-FFF2-40B4-BE49-F238E27FC236}">
                <a16:creationId xmlns:a16="http://schemas.microsoft.com/office/drawing/2014/main" id="{79B0EFBE-1048-6D52-A796-4E6FE7502BC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28" y="-1"/>
            <a:ext cx="2759876" cy="1774209"/>
          </a:xfrm>
          <a:prstGeom prst="rect">
            <a:avLst/>
          </a:prstGeom>
          <a:noFill/>
          <a:ln>
            <a:noFill/>
          </a:ln>
        </p:spPr>
      </p:pic>
      <p:sp>
        <p:nvSpPr>
          <p:cNvPr id="47" name="TextBox 46">
            <a:extLst>
              <a:ext uri="{FF2B5EF4-FFF2-40B4-BE49-F238E27FC236}">
                <a16:creationId xmlns:a16="http://schemas.microsoft.com/office/drawing/2014/main" id="{6284396E-F6D9-28B1-2623-EB641DD049C2}"/>
              </a:ext>
            </a:extLst>
          </p:cNvPr>
          <p:cNvSpPr txBox="1"/>
          <p:nvPr/>
        </p:nvSpPr>
        <p:spPr>
          <a:xfrm>
            <a:off x="474646" y="6351069"/>
            <a:ext cx="5205483" cy="400110"/>
          </a:xfrm>
          <a:prstGeom prst="rect">
            <a:avLst/>
          </a:prstGeom>
          <a:noFill/>
        </p:spPr>
        <p:txBody>
          <a:bodyPr wrap="square" rtlCol="0">
            <a:spAutoFit/>
          </a:bodyPr>
          <a:lstStyle/>
          <a:p>
            <a:r>
              <a:rPr lang="ar-SA" sz="2000" b="1" dirty="0">
                <a:solidFill>
                  <a:srgbClr val="CB6792"/>
                </a:solidFill>
              </a:rPr>
              <a:t>إعداد... أ: شيخة السويدي</a:t>
            </a:r>
            <a:endParaRPr lang="en-US" sz="2000" b="1" dirty="0">
              <a:solidFill>
                <a:srgbClr val="CB6792"/>
              </a:solidFill>
            </a:endParaRPr>
          </a:p>
        </p:txBody>
      </p:sp>
      <p:sp>
        <p:nvSpPr>
          <p:cNvPr id="2" name="TextBox 1">
            <a:extLst>
              <a:ext uri="{FF2B5EF4-FFF2-40B4-BE49-F238E27FC236}">
                <a16:creationId xmlns:a16="http://schemas.microsoft.com/office/drawing/2014/main" id="{3AD47375-CBD5-29FD-6A73-DF45E2D876D4}"/>
              </a:ext>
            </a:extLst>
          </p:cNvPr>
          <p:cNvSpPr txBox="1"/>
          <p:nvPr/>
        </p:nvSpPr>
        <p:spPr>
          <a:xfrm>
            <a:off x="3031403" y="4370852"/>
            <a:ext cx="6129194" cy="1815882"/>
          </a:xfrm>
          <a:prstGeom prst="rect">
            <a:avLst/>
          </a:prstGeom>
          <a:noFill/>
        </p:spPr>
        <p:txBody>
          <a:bodyPr wrap="square" rtlCol="0">
            <a:spAutoFit/>
          </a:bodyPr>
          <a:lstStyle/>
          <a:p>
            <a:pPr algn="ctr"/>
            <a:r>
              <a:rPr lang="ar-SA" sz="2800" b="1" dirty="0">
                <a:solidFill>
                  <a:srgbClr val="7030A0"/>
                </a:solidFill>
                <a:latin typeface="Calibri" panose="020F0502020204030204" pitchFamily="34" charset="0"/>
                <a:ea typeface="Calibri" panose="020F0502020204030204" pitchFamily="34" charset="0"/>
                <a:cs typeface="Calibri" panose="020F0502020204030204" pitchFamily="34" charset="0"/>
              </a:rPr>
              <a:t>مراجعة المادة حسب الهيكل الوزاري</a:t>
            </a:r>
          </a:p>
          <a:p>
            <a:pPr algn="ctr"/>
            <a:r>
              <a:rPr lang="ar-SA" sz="2800" b="1" dirty="0">
                <a:solidFill>
                  <a:srgbClr val="7030A0"/>
                </a:solidFill>
                <a:latin typeface="Calibri" panose="020F0502020204030204" pitchFamily="34" charset="0"/>
                <a:ea typeface="Calibri" panose="020F0502020204030204" pitchFamily="34" charset="0"/>
                <a:cs typeface="Calibri" panose="020F0502020204030204" pitchFamily="34" charset="0"/>
              </a:rPr>
              <a:t>للفصل الدراسي الأول</a:t>
            </a:r>
          </a:p>
          <a:p>
            <a:pPr algn="ctr"/>
            <a:r>
              <a:rPr lang="ar-SA" sz="2800" b="1" dirty="0">
                <a:solidFill>
                  <a:srgbClr val="7030A0"/>
                </a:solidFill>
                <a:latin typeface="Calibri" panose="020F0502020204030204" pitchFamily="34" charset="0"/>
                <a:ea typeface="Calibri" panose="020F0502020204030204" pitchFamily="34" charset="0"/>
                <a:cs typeface="Calibri" panose="020F0502020204030204" pitchFamily="34" charset="0"/>
              </a:rPr>
              <a:t>للصف التاسع</a:t>
            </a:r>
          </a:p>
          <a:p>
            <a:pPr algn="ctr"/>
            <a:r>
              <a:rPr lang="ar-SA" sz="2800" b="1" dirty="0">
                <a:solidFill>
                  <a:srgbClr val="7030A0"/>
                </a:solidFill>
                <a:latin typeface="Calibri" panose="020F0502020204030204" pitchFamily="34" charset="0"/>
                <a:ea typeface="Calibri" panose="020F0502020204030204" pitchFamily="34" charset="0"/>
                <a:cs typeface="Calibri" panose="020F0502020204030204" pitchFamily="34" charset="0"/>
              </a:rPr>
              <a:t>2026-2025</a:t>
            </a:r>
            <a:endParaRPr lang="en-US" sz="2800" b="1" dirty="0">
              <a:solidFill>
                <a:srgbClr val="7030A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569498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E08D4-A3EF-BFD8-1737-09D9448B7926}"/>
            </a:ext>
          </a:extLst>
        </p:cNvPr>
        <p:cNvGrpSpPr/>
        <p:nvPr/>
      </p:nvGrpSpPr>
      <p:grpSpPr>
        <a:xfrm>
          <a:off x="0" y="0"/>
          <a:ext cx="0" cy="0"/>
          <a:chOff x="0" y="0"/>
          <a:chExt cx="0" cy="0"/>
        </a:xfrm>
      </p:grpSpPr>
      <p:pic>
        <p:nvPicPr>
          <p:cNvPr id="5" name="Picture 4" descr="A logo with a feather and a book&#10;&#10;AI-generated content may be incorrect.">
            <a:extLst>
              <a:ext uri="{FF2B5EF4-FFF2-40B4-BE49-F238E27FC236}">
                <a16:creationId xmlns:a16="http://schemas.microsoft.com/office/drawing/2014/main" id="{95745392-6C98-6588-6734-D955A36C4CE2}"/>
              </a:ext>
            </a:extLst>
          </p:cNvPr>
          <p:cNvPicPr>
            <a:picLocks noChangeAspect="1"/>
          </p:cNvPicPr>
          <p:nvPr/>
        </p:nvPicPr>
        <p:blipFill>
          <a:blip r:embed="rId3">
            <a:extLst>
              <a:ext uri="{28A0092B-C50C-407E-A947-70E740481C1C}">
                <a14:useLocalDpi xmlns:a14="http://schemas.microsoft.com/office/drawing/2010/main" val="0"/>
              </a:ext>
            </a:extLst>
          </a:blip>
          <a:srcRect t="18752" r="-1" b="-1"/>
          <a:stretch>
            <a:fillRect/>
          </a:stretch>
        </p:blipFill>
        <p:spPr>
          <a:xfrm>
            <a:off x="3068" y="9"/>
            <a:ext cx="12188932" cy="2011073"/>
          </a:xfrm>
          <a:prstGeom prst="rect">
            <a:avLst/>
          </a:prstGeom>
        </p:spPr>
      </p:pic>
      <p:sp>
        <p:nvSpPr>
          <p:cNvPr id="9" name="TextBox 8">
            <a:extLst>
              <a:ext uri="{FF2B5EF4-FFF2-40B4-BE49-F238E27FC236}">
                <a16:creationId xmlns:a16="http://schemas.microsoft.com/office/drawing/2014/main" id="{64B17693-45C8-DA1A-3C59-E124043B23EA}"/>
              </a:ext>
            </a:extLst>
          </p:cNvPr>
          <p:cNvSpPr txBox="1"/>
          <p:nvPr/>
        </p:nvSpPr>
        <p:spPr>
          <a:xfrm>
            <a:off x="9957661" y="309966"/>
            <a:ext cx="1914041" cy="369332"/>
          </a:xfrm>
          <a:prstGeom prst="rect">
            <a:avLst/>
          </a:prstGeom>
          <a:noFill/>
        </p:spPr>
        <p:txBody>
          <a:bodyPr wrap="square" rtlCol="0">
            <a:spAutoFit/>
          </a:bodyPr>
          <a:lstStyle/>
          <a:p>
            <a:r>
              <a:rPr lang="ar-SA" dirty="0"/>
              <a:t>مدرسة الشوامخ ح2-3</a:t>
            </a:r>
            <a:endParaRPr lang="en-US" dirty="0"/>
          </a:p>
        </p:txBody>
      </p:sp>
      <p:pic>
        <p:nvPicPr>
          <p:cNvPr id="11" name="Picture 10" descr="التربية والتعليم» تعلن هويتها المرئية الجديدة | صحيفة الخليج">
            <a:extLst>
              <a:ext uri="{FF2B5EF4-FFF2-40B4-BE49-F238E27FC236}">
                <a16:creationId xmlns:a16="http://schemas.microsoft.com/office/drawing/2014/main" id="{6CF5BC6C-2415-E0C3-89EE-B65DFA754DD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28" y="0"/>
            <a:ext cx="1393825" cy="950595"/>
          </a:xfrm>
          <a:prstGeom prst="rect">
            <a:avLst/>
          </a:prstGeom>
          <a:noFill/>
          <a:ln>
            <a:noFill/>
          </a:ln>
        </p:spPr>
      </p:pic>
      <p:cxnSp>
        <p:nvCxnSpPr>
          <p:cNvPr id="26" name="Straight Connector 25">
            <a:extLst>
              <a:ext uri="{FF2B5EF4-FFF2-40B4-BE49-F238E27FC236}">
                <a16:creationId xmlns:a16="http://schemas.microsoft.com/office/drawing/2014/main" id="{B5D77237-1302-096A-0571-6E77671B6E48}"/>
              </a:ext>
            </a:extLst>
          </p:cNvPr>
          <p:cNvCxnSpPr>
            <a:cxnSpLocks/>
          </p:cNvCxnSpPr>
          <p:nvPr/>
        </p:nvCxnSpPr>
        <p:spPr>
          <a:xfrm>
            <a:off x="6338240" y="2011081"/>
            <a:ext cx="0" cy="412213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 name="TextBox 3">
            <a:extLst>
              <a:ext uri="{FF2B5EF4-FFF2-40B4-BE49-F238E27FC236}">
                <a16:creationId xmlns:a16="http://schemas.microsoft.com/office/drawing/2014/main" id="{202856BD-E09A-BAF4-C6D5-FAD73341CE04}"/>
              </a:ext>
            </a:extLst>
          </p:cNvPr>
          <p:cNvSpPr txBox="1"/>
          <p:nvPr/>
        </p:nvSpPr>
        <p:spPr>
          <a:xfrm>
            <a:off x="9857551" y="3263210"/>
            <a:ext cx="2014151" cy="646331"/>
          </a:xfrm>
          <a:prstGeom prst="rect">
            <a:avLst/>
          </a:prstGeom>
          <a:noFill/>
        </p:spPr>
        <p:txBody>
          <a:bodyPr wrap="square" rtlCol="0">
            <a:spAutoFit/>
          </a:bodyPr>
          <a:lstStyle/>
          <a:p>
            <a:r>
              <a:rPr lang="ar-SA" sz="3600" b="1" u="sng" dirty="0"/>
              <a:t>أولاً</a:t>
            </a:r>
            <a:endParaRPr lang="en-US" sz="3600" b="1" u="sng" dirty="0"/>
          </a:p>
        </p:txBody>
      </p:sp>
      <p:sp>
        <p:nvSpPr>
          <p:cNvPr id="8" name="TextBox 7">
            <a:extLst>
              <a:ext uri="{FF2B5EF4-FFF2-40B4-BE49-F238E27FC236}">
                <a16:creationId xmlns:a16="http://schemas.microsoft.com/office/drawing/2014/main" id="{7064602A-4D5F-1DBE-5A46-AC87E3CA6EB4}"/>
              </a:ext>
            </a:extLst>
          </p:cNvPr>
          <p:cNvSpPr txBox="1"/>
          <p:nvPr/>
        </p:nvSpPr>
        <p:spPr>
          <a:xfrm>
            <a:off x="121625" y="2509159"/>
            <a:ext cx="6216615" cy="1508105"/>
          </a:xfrm>
          <a:prstGeom prst="rect">
            <a:avLst/>
          </a:prstGeom>
          <a:noFill/>
        </p:spPr>
        <p:txBody>
          <a:bodyPr wrap="square">
            <a:spAutoFit/>
          </a:bodyPr>
          <a:lstStyle/>
          <a:p>
            <a:pPr algn="ctr"/>
            <a:r>
              <a:rPr lang="ar-SA" sz="3600" b="1" dirty="0">
                <a:highlight>
                  <a:srgbClr val="00FF00"/>
                </a:highlight>
              </a:rPr>
              <a:t>فروسية شاعر</a:t>
            </a:r>
          </a:p>
          <a:p>
            <a:pPr algn="ctr"/>
            <a:r>
              <a:rPr lang="ar-SA" sz="2800" b="1" dirty="0">
                <a:solidFill>
                  <a:srgbClr val="C00000"/>
                </a:solidFill>
              </a:rPr>
              <a:t>للشاعر ( المتنبي ) </a:t>
            </a:r>
          </a:p>
          <a:p>
            <a:pPr algn="ctr"/>
            <a:r>
              <a:rPr lang="ar-SA" sz="2800" b="1" dirty="0">
                <a:solidFill>
                  <a:srgbClr val="C00000"/>
                </a:solidFill>
              </a:rPr>
              <a:t>يفخر بشجاعته في الحروب</a:t>
            </a:r>
            <a:r>
              <a:rPr lang="ar-SA" sz="2800" b="1" dirty="0">
                <a:highlight>
                  <a:srgbClr val="00FF00"/>
                </a:highlight>
              </a:rPr>
              <a:t> </a:t>
            </a:r>
            <a:endParaRPr lang="en-US" sz="2800" b="1" dirty="0">
              <a:highlight>
                <a:srgbClr val="00FF00"/>
              </a:highlight>
            </a:endParaRPr>
          </a:p>
        </p:txBody>
      </p:sp>
      <p:sp>
        <p:nvSpPr>
          <p:cNvPr id="12" name="TextBox 11">
            <a:extLst>
              <a:ext uri="{FF2B5EF4-FFF2-40B4-BE49-F238E27FC236}">
                <a16:creationId xmlns:a16="http://schemas.microsoft.com/office/drawing/2014/main" id="{343C4A49-8B63-C0EB-A3F7-D2C32C48C9E0}"/>
              </a:ext>
            </a:extLst>
          </p:cNvPr>
          <p:cNvSpPr txBox="1"/>
          <p:nvPr/>
        </p:nvSpPr>
        <p:spPr>
          <a:xfrm>
            <a:off x="389734" y="4323699"/>
            <a:ext cx="6098058" cy="523220"/>
          </a:xfrm>
          <a:prstGeom prst="rect">
            <a:avLst/>
          </a:prstGeom>
          <a:noFill/>
        </p:spPr>
        <p:txBody>
          <a:bodyPr wrap="square" rtlCol="0">
            <a:spAutoFit/>
          </a:bodyPr>
          <a:lstStyle/>
          <a:p>
            <a:r>
              <a:rPr lang="ar-SA" sz="2800" b="1" dirty="0">
                <a:highlight>
                  <a:srgbClr val="00FFFF"/>
                </a:highlight>
              </a:rPr>
              <a:t>اقرأ النص الشعري ثم أجب عما يليه من الأسئلة</a:t>
            </a:r>
            <a:endParaRPr lang="en-US" sz="2800" b="1" dirty="0">
              <a:highlight>
                <a:srgbClr val="00FFFF"/>
              </a:highlight>
            </a:endParaRPr>
          </a:p>
        </p:txBody>
      </p:sp>
      <p:pic>
        <p:nvPicPr>
          <p:cNvPr id="6" name="Picture 5">
            <a:extLst>
              <a:ext uri="{FF2B5EF4-FFF2-40B4-BE49-F238E27FC236}">
                <a16:creationId xmlns:a16="http://schemas.microsoft.com/office/drawing/2014/main" id="{B97508D4-9F56-763E-052C-DF13D30F4F8F}"/>
              </a:ext>
            </a:extLst>
          </p:cNvPr>
          <p:cNvPicPr>
            <a:picLocks noChangeAspect="1"/>
          </p:cNvPicPr>
          <p:nvPr/>
        </p:nvPicPr>
        <p:blipFill>
          <a:blip r:embed="rId5"/>
          <a:stretch>
            <a:fillRect/>
          </a:stretch>
        </p:blipFill>
        <p:spPr>
          <a:xfrm>
            <a:off x="7739414" y="4323699"/>
            <a:ext cx="3934988" cy="646330"/>
          </a:xfrm>
          <a:prstGeom prst="rect">
            <a:avLst/>
          </a:prstGeom>
        </p:spPr>
      </p:pic>
      <p:pic>
        <p:nvPicPr>
          <p:cNvPr id="7" name="Picture 6" descr="أبو الطيب المتنبي - ويكيبيديا">
            <a:extLst>
              <a:ext uri="{FF2B5EF4-FFF2-40B4-BE49-F238E27FC236}">
                <a16:creationId xmlns:a16="http://schemas.microsoft.com/office/drawing/2014/main" id="{AEFF814E-18B1-61C3-EFF2-6FBAEAE04550}"/>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574161" y="2100768"/>
            <a:ext cx="2014147" cy="2324885"/>
          </a:xfrm>
          <a:prstGeom prst="rect">
            <a:avLst/>
          </a:prstGeom>
          <a:noFill/>
          <a:ln>
            <a:noFill/>
          </a:ln>
        </p:spPr>
      </p:pic>
      <p:sp>
        <p:nvSpPr>
          <p:cNvPr id="10" name="TextBox 9">
            <a:extLst>
              <a:ext uri="{FF2B5EF4-FFF2-40B4-BE49-F238E27FC236}">
                <a16:creationId xmlns:a16="http://schemas.microsoft.com/office/drawing/2014/main" id="{145D6542-4D3A-C819-4B88-D20FF3AF1010}"/>
              </a:ext>
            </a:extLst>
          </p:cNvPr>
          <p:cNvSpPr txBox="1"/>
          <p:nvPr/>
        </p:nvSpPr>
        <p:spPr>
          <a:xfrm>
            <a:off x="474646" y="6351069"/>
            <a:ext cx="5205483" cy="400110"/>
          </a:xfrm>
          <a:prstGeom prst="rect">
            <a:avLst/>
          </a:prstGeom>
          <a:noFill/>
        </p:spPr>
        <p:txBody>
          <a:bodyPr wrap="square" rtlCol="0">
            <a:spAutoFit/>
          </a:bodyPr>
          <a:lstStyle/>
          <a:p>
            <a:r>
              <a:rPr lang="ar-SA" sz="2000" b="1" dirty="0">
                <a:solidFill>
                  <a:srgbClr val="CB6792"/>
                </a:solidFill>
              </a:rPr>
              <a:t>إعداد... أ: شيخة السويدي</a:t>
            </a:r>
            <a:endParaRPr lang="en-US" sz="2000" b="1" dirty="0">
              <a:solidFill>
                <a:srgbClr val="CB6792"/>
              </a:solidFill>
            </a:endParaRPr>
          </a:p>
        </p:txBody>
      </p:sp>
    </p:spTree>
    <p:extLst>
      <p:ext uri="{BB962C8B-B14F-4D97-AF65-F5344CB8AC3E}">
        <p14:creationId xmlns:p14="http://schemas.microsoft.com/office/powerpoint/2010/main" val="35189188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2C22A-E4DE-2E20-D8EC-C4104E339E78}"/>
            </a:ext>
          </a:extLst>
        </p:cNvPr>
        <p:cNvGrpSpPr/>
        <p:nvPr/>
      </p:nvGrpSpPr>
      <p:grpSpPr>
        <a:xfrm>
          <a:off x="0" y="0"/>
          <a:ext cx="0" cy="0"/>
          <a:chOff x="0" y="0"/>
          <a:chExt cx="0" cy="0"/>
        </a:xfrm>
      </p:grpSpPr>
      <p:pic>
        <p:nvPicPr>
          <p:cNvPr id="5" name="Picture 4" descr="A logo with a feather and a book&#10;&#10;AI-generated content may be incorrect.">
            <a:extLst>
              <a:ext uri="{FF2B5EF4-FFF2-40B4-BE49-F238E27FC236}">
                <a16:creationId xmlns:a16="http://schemas.microsoft.com/office/drawing/2014/main" id="{AA693DA5-2E71-6008-9633-2DBC4C7FB224}"/>
              </a:ext>
            </a:extLst>
          </p:cNvPr>
          <p:cNvPicPr>
            <a:picLocks noChangeAspect="1"/>
          </p:cNvPicPr>
          <p:nvPr/>
        </p:nvPicPr>
        <p:blipFill>
          <a:blip r:embed="rId2">
            <a:extLst>
              <a:ext uri="{28A0092B-C50C-407E-A947-70E740481C1C}">
                <a14:useLocalDpi xmlns:a14="http://schemas.microsoft.com/office/drawing/2010/main" val="0"/>
              </a:ext>
            </a:extLst>
          </a:blip>
          <a:srcRect t="18752" r="-1" b="-1"/>
          <a:stretch>
            <a:fillRect/>
          </a:stretch>
        </p:blipFill>
        <p:spPr>
          <a:xfrm>
            <a:off x="3068" y="9"/>
            <a:ext cx="12188932" cy="2011073"/>
          </a:xfrm>
          <a:prstGeom prst="rect">
            <a:avLst/>
          </a:prstGeom>
        </p:spPr>
      </p:pic>
      <p:sp>
        <p:nvSpPr>
          <p:cNvPr id="8" name="TextBox 7">
            <a:extLst>
              <a:ext uri="{FF2B5EF4-FFF2-40B4-BE49-F238E27FC236}">
                <a16:creationId xmlns:a16="http://schemas.microsoft.com/office/drawing/2014/main" id="{BFDBBC50-9395-6036-7DA5-B19D06424A14}"/>
              </a:ext>
            </a:extLst>
          </p:cNvPr>
          <p:cNvSpPr txBox="1"/>
          <p:nvPr/>
        </p:nvSpPr>
        <p:spPr>
          <a:xfrm>
            <a:off x="6015460" y="3411301"/>
            <a:ext cx="6016369" cy="1200329"/>
          </a:xfrm>
          <a:prstGeom prst="rect">
            <a:avLst/>
          </a:prstGeom>
          <a:noFill/>
        </p:spPr>
        <p:txBody>
          <a:bodyPr wrap="square">
            <a:spAutoFit/>
          </a:bodyPr>
          <a:lstStyle/>
          <a:p>
            <a:pPr algn="r"/>
            <a:r>
              <a:rPr lang="ar-SA" b="1" dirty="0"/>
              <a:t>1-الخيلُ والليلُ والبيداءُ تعرفني   . .......   والسيفُ والرمحُ والقرطاسُ والقلم</a:t>
            </a:r>
            <a:endParaRPr lang="en-US" b="1" dirty="0"/>
          </a:p>
          <a:p>
            <a:pPr algn="r"/>
            <a:r>
              <a:rPr lang="ar-SA" b="1" dirty="0"/>
              <a:t>2-صحِبتُ في الفَلواتِ الوحشَ منفردًا  .....  حتى تعجّبَ مني القَفرُ والأكمُ</a:t>
            </a:r>
            <a:br>
              <a:rPr lang="en-US" b="1" dirty="0"/>
            </a:br>
            <a:r>
              <a:rPr lang="ar-SA" b="1" dirty="0"/>
              <a:t>3-والهمُّ يخترمُ الجَسيمَ نَحافةً   .........     ويُشيبُ ناصيةَ الصبيِّ ويهرم</a:t>
            </a:r>
            <a:endParaRPr lang="en-US" b="1" dirty="0"/>
          </a:p>
          <a:p>
            <a:pPr algn="r"/>
            <a:r>
              <a:rPr lang="ar-SA" b="1" dirty="0"/>
              <a:t>لا تَحمَدِ الأعداءُ فيَّ كرامةً  ..........     حتى أُوارِيَ في التُّرابِ أعَظُمِي</a:t>
            </a:r>
            <a:r>
              <a:rPr lang="en-US" sz="1800" b="1" kern="100" dirty="0">
                <a:effectLst/>
                <a:latin typeface="Aptos" panose="020B0004020202020204" pitchFamily="34" charset="0"/>
                <a:ea typeface="Aptos" panose="020B0004020202020204" pitchFamily="34" charset="0"/>
                <a:cs typeface="Arial" panose="020B0604020202020204" pitchFamily="34" charset="0"/>
              </a:rPr>
              <a:t> </a:t>
            </a:r>
            <a:r>
              <a:rPr lang="ar-SA" sz="1800" b="1" kern="100" dirty="0">
                <a:effectLst/>
                <a:latin typeface="Aptos" panose="020B0004020202020204" pitchFamily="34" charset="0"/>
                <a:ea typeface="Aptos" panose="020B0004020202020204" pitchFamily="34" charset="0"/>
                <a:cs typeface="Arial" panose="020B0604020202020204" pitchFamily="34" charset="0"/>
              </a:rPr>
              <a:t>4-</a:t>
            </a:r>
            <a:endParaRPr lang="en-US" sz="1600" b="1"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1A77701B-6C8A-EF76-42CC-51FFE3D158EE}"/>
              </a:ext>
            </a:extLst>
          </p:cNvPr>
          <p:cNvSpPr txBox="1"/>
          <p:nvPr/>
        </p:nvSpPr>
        <p:spPr>
          <a:xfrm>
            <a:off x="9957661" y="309966"/>
            <a:ext cx="1914041" cy="369332"/>
          </a:xfrm>
          <a:prstGeom prst="rect">
            <a:avLst/>
          </a:prstGeom>
          <a:noFill/>
        </p:spPr>
        <p:txBody>
          <a:bodyPr wrap="square" rtlCol="0">
            <a:spAutoFit/>
          </a:bodyPr>
          <a:lstStyle/>
          <a:p>
            <a:r>
              <a:rPr lang="ar-SA" dirty="0"/>
              <a:t>مدرسة الشوامخ ح2-3</a:t>
            </a:r>
            <a:endParaRPr lang="en-US" dirty="0"/>
          </a:p>
        </p:txBody>
      </p:sp>
      <p:pic>
        <p:nvPicPr>
          <p:cNvPr id="11" name="Picture 10" descr="التربية والتعليم» تعلن هويتها المرئية الجديدة | صحيفة الخليج">
            <a:extLst>
              <a:ext uri="{FF2B5EF4-FFF2-40B4-BE49-F238E27FC236}">
                <a16:creationId xmlns:a16="http://schemas.microsoft.com/office/drawing/2014/main" id="{8E96983D-FA79-D1A5-751C-36928704BE8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28" y="0"/>
            <a:ext cx="1393825" cy="950595"/>
          </a:xfrm>
          <a:prstGeom prst="rect">
            <a:avLst/>
          </a:prstGeom>
          <a:noFill/>
          <a:ln>
            <a:noFill/>
          </a:ln>
        </p:spPr>
      </p:pic>
      <p:cxnSp>
        <p:nvCxnSpPr>
          <p:cNvPr id="26" name="Straight Connector 25">
            <a:extLst>
              <a:ext uri="{FF2B5EF4-FFF2-40B4-BE49-F238E27FC236}">
                <a16:creationId xmlns:a16="http://schemas.microsoft.com/office/drawing/2014/main" id="{EF45BC72-FB31-3535-F222-9BCF3804C7D1}"/>
              </a:ext>
            </a:extLst>
          </p:cNvPr>
          <p:cNvCxnSpPr>
            <a:cxnSpLocks/>
          </p:cNvCxnSpPr>
          <p:nvPr/>
        </p:nvCxnSpPr>
        <p:spPr>
          <a:xfrm>
            <a:off x="5680129" y="1995639"/>
            <a:ext cx="0" cy="412213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8" name="TextBox 27">
            <a:extLst>
              <a:ext uri="{FF2B5EF4-FFF2-40B4-BE49-F238E27FC236}">
                <a16:creationId xmlns:a16="http://schemas.microsoft.com/office/drawing/2014/main" id="{54DB1A3F-B840-C889-2606-E3FD6514101B}"/>
              </a:ext>
            </a:extLst>
          </p:cNvPr>
          <p:cNvSpPr txBox="1"/>
          <p:nvPr/>
        </p:nvSpPr>
        <p:spPr>
          <a:xfrm>
            <a:off x="6398559" y="2070759"/>
            <a:ext cx="5542239" cy="584775"/>
          </a:xfrm>
          <a:prstGeom prst="rect">
            <a:avLst/>
          </a:prstGeom>
          <a:noFill/>
        </p:spPr>
        <p:txBody>
          <a:bodyPr wrap="square" rtlCol="0">
            <a:spAutoFit/>
          </a:bodyPr>
          <a:lstStyle/>
          <a:p>
            <a:pPr algn="r"/>
            <a:r>
              <a:rPr lang="ar-SA" sz="1600" b="1" dirty="0">
                <a:solidFill>
                  <a:srgbClr val="C00000"/>
                </a:solidFill>
              </a:rPr>
              <a:t>اقرأ </a:t>
            </a:r>
            <a:r>
              <a:rPr lang="ar-SA" sz="1600" b="1" u="sng" dirty="0">
                <a:solidFill>
                  <a:srgbClr val="C00000"/>
                </a:solidFill>
              </a:rPr>
              <a:t>النص الشعري</a:t>
            </a:r>
            <a:r>
              <a:rPr lang="ar-SA" sz="1600" b="1" dirty="0">
                <a:solidFill>
                  <a:srgbClr val="C00000"/>
                </a:solidFill>
              </a:rPr>
              <a:t> الآتي للشاعر ( المتنبي ) يفخر بشجاعته في الحروب  </a:t>
            </a:r>
          </a:p>
          <a:p>
            <a:pPr algn="r"/>
            <a:r>
              <a:rPr lang="ar-SA" sz="1600" b="1" dirty="0">
                <a:solidFill>
                  <a:srgbClr val="C00000"/>
                </a:solidFill>
              </a:rPr>
              <a:t>ثم أجب عما يليه من أسئلة .................</a:t>
            </a:r>
            <a:endParaRPr lang="en-US" sz="1600" b="1" dirty="0">
              <a:solidFill>
                <a:srgbClr val="C00000"/>
              </a:solidFill>
            </a:endParaRPr>
          </a:p>
        </p:txBody>
      </p:sp>
      <p:sp>
        <p:nvSpPr>
          <p:cNvPr id="29" name="TextBox 28">
            <a:extLst>
              <a:ext uri="{FF2B5EF4-FFF2-40B4-BE49-F238E27FC236}">
                <a16:creationId xmlns:a16="http://schemas.microsoft.com/office/drawing/2014/main" id="{6E64A41D-F02A-321C-2D22-A842D128A732}"/>
              </a:ext>
            </a:extLst>
          </p:cNvPr>
          <p:cNvSpPr txBox="1"/>
          <p:nvPr/>
        </p:nvSpPr>
        <p:spPr>
          <a:xfrm>
            <a:off x="10306036" y="2837164"/>
            <a:ext cx="1813302" cy="400110"/>
          </a:xfrm>
          <a:prstGeom prst="rect">
            <a:avLst/>
          </a:prstGeom>
          <a:noFill/>
        </p:spPr>
        <p:txBody>
          <a:bodyPr wrap="square" rtlCol="0">
            <a:spAutoFit/>
          </a:bodyPr>
          <a:lstStyle/>
          <a:p>
            <a:r>
              <a:rPr lang="ar-SA" sz="2000" b="1" dirty="0">
                <a:highlight>
                  <a:srgbClr val="00FF00"/>
                </a:highlight>
              </a:rPr>
              <a:t>فروسية شاعر </a:t>
            </a:r>
            <a:endParaRPr lang="en-US" sz="2000" b="1" dirty="0">
              <a:highlight>
                <a:srgbClr val="00FF00"/>
              </a:highlight>
            </a:endParaRPr>
          </a:p>
        </p:txBody>
      </p:sp>
      <p:pic>
        <p:nvPicPr>
          <p:cNvPr id="31" name="Picture 30" descr="أبو الطيب المتنبي - ويكيبيديا">
            <a:extLst>
              <a:ext uri="{FF2B5EF4-FFF2-40B4-BE49-F238E27FC236}">
                <a16:creationId xmlns:a16="http://schemas.microsoft.com/office/drawing/2014/main" id="{890F9537-F197-D8A7-D002-D30D2869602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783207" y="2070758"/>
            <a:ext cx="1178890" cy="1294668"/>
          </a:xfrm>
          <a:prstGeom prst="rect">
            <a:avLst/>
          </a:prstGeom>
          <a:noFill/>
          <a:ln>
            <a:noFill/>
          </a:ln>
        </p:spPr>
      </p:pic>
      <p:pic>
        <p:nvPicPr>
          <p:cNvPr id="35" name="Picture 34">
            <a:extLst>
              <a:ext uri="{FF2B5EF4-FFF2-40B4-BE49-F238E27FC236}">
                <a16:creationId xmlns:a16="http://schemas.microsoft.com/office/drawing/2014/main" id="{175C4CEB-37C3-9856-22F4-A1ACC6C34869}"/>
              </a:ext>
            </a:extLst>
          </p:cNvPr>
          <p:cNvPicPr>
            <a:picLocks noChangeAspect="1"/>
          </p:cNvPicPr>
          <p:nvPr/>
        </p:nvPicPr>
        <p:blipFill>
          <a:blip r:embed="rId5"/>
          <a:stretch>
            <a:fillRect/>
          </a:stretch>
        </p:blipFill>
        <p:spPr>
          <a:xfrm>
            <a:off x="31981" y="2568445"/>
            <a:ext cx="3731073" cy="584774"/>
          </a:xfrm>
          <a:prstGeom prst="rect">
            <a:avLst/>
          </a:prstGeom>
        </p:spPr>
      </p:pic>
      <p:sp>
        <p:nvSpPr>
          <p:cNvPr id="37" name="Arrow: Left 36">
            <a:extLst>
              <a:ext uri="{FF2B5EF4-FFF2-40B4-BE49-F238E27FC236}">
                <a16:creationId xmlns:a16="http://schemas.microsoft.com/office/drawing/2014/main" id="{64FB37E5-5D54-DE0F-2479-0F50346DD530}"/>
              </a:ext>
            </a:extLst>
          </p:cNvPr>
          <p:cNvSpPr/>
          <p:nvPr/>
        </p:nvSpPr>
        <p:spPr>
          <a:xfrm>
            <a:off x="4158050" y="2638066"/>
            <a:ext cx="1317481" cy="584773"/>
          </a:xfrm>
          <a:prstGeom prst="lef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ar-SA" b="1" dirty="0"/>
              <a:t>المهارة</a:t>
            </a:r>
            <a:endParaRPr lang="en-US" b="1" dirty="0"/>
          </a:p>
        </p:txBody>
      </p:sp>
      <p:sp>
        <p:nvSpPr>
          <p:cNvPr id="40" name="Rectangle 39">
            <a:extLst>
              <a:ext uri="{FF2B5EF4-FFF2-40B4-BE49-F238E27FC236}">
                <a16:creationId xmlns:a16="http://schemas.microsoft.com/office/drawing/2014/main" id="{A7538DA5-F639-1C24-02EC-8B2133EB2BE2}"/>
              </a:ext>
            </a:extLst>
          </p:cNvPr>
          <p:cNvSpPr/>
          <p:nvPr/>
        </p:nvSpPr>
        <p:spPr>
          <a:xfrm>
            <a:off x="5840372" y="5344735"/>
            <a:ext cx="6191386" cy="121920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r" rtl="1">
              <a:lnSpc>
                <a:spcPct val="115000"/>
              </a:lnSpc>
              <a:spcAft>
                <a:spcPts val="800"/>
              </a:spcAft>
              <a:buNone/>
            </a:pPr>
            <a:r>
              <a:rPr lang="en-US" sz="1200" b="1" kern="100" dirty="0">
                <a:effectLst/>
                <a:latin typeface="Arial" panose="020B0604020202020204" pitchFamily="34" charset="0"/>
                <a:ea typeface="Aptos" panose="020B0004020202020204" pitchFamily="34" charset="0"/>
                <a:cs typeface="Arial" panose="020B0604020202020204" pitchFamily="34" charset="0"/>
              </a:rPr>
              <a:t> </a:t>
            </a:r>
            <a:r>
              <a:rPr lang="ar-SA" sz="1050" b="1" kern="100" dirty="0">
                <a:effectLst/>
                <a:latin typeface="Arial" panose="020B0604020202020204" pitchFamily="34" charset="0"/>
                <a:ea typeface="Aptos" panose="020B0004020202020204" pitchFamily="34" charset="0"/>
                <a:cs typeface="Arial" panose="020B0604020202020204" pitchFamily="34" charset="0"/>
              </a:rPr>
              <a:t>الخيل والليل والبيداء:</a:t>
            </a:r>
            <a:r>
              <a:rPr lang="ar-SA" sz="1050" b="1" kern="100" dirty="0">
                <a:effectLst/>
                <a:ea typeface="Aptos" panose="020B0004020202020204" pitchFamily="34" charset="0"/>
                <a:cs typeface="Arial" panose="020B0604020202020204" pitchFamily="34" charset="0"/>
              </a:rPr>
              <a:t> رموز للشجاعة والمغامرة (الخيل: الحرب، الليل: الصبر، البيداء: الصحراء)</a:t>
            </a:r>
            <a:endParaRPr lang="en-US" sz="1050" b="1" kern="100" dirty="0">
              <a:effectLst/>
              <a:ea typeface="Aptos" panose="020B0004020202020204" pitchFamily="34" charset="0"/>
              <a:cs typeface="Arial" panose="020B0604020202020204" pitchFamily="34" charset="0"/>
            </a:endParaRPr>
          </a:p>
          <a:p>
            <a:pPr marL="0" marR="0" algn="r">
              <a:lnSpc>
                <a:spcPct val="115000"/>
              </a:lnSpc>
              <a:spcAft>
                <a:spcPts val="800"/>
              </a:spcAft>
              <a:buNone/>
            </a:pPr>
            <a:r>
              <a:rPr lang="ar-SA" sz="1050" b="1" kern="100" dirty="0">
                <a:effectLst/>
                <a:ea typeface="Aptos" panose="020B0004020202020204" pitchFamily="34" charset="0"/>
                <a:cs typeface="Arial" panose="020B0604020202020204" pitchFamily="34" charset="0"/>
              </a:rPr>
              <a:t>دلالة على العلم والفكر      الفلوات : الصحارى الواسعة          القَفر والأكم:  الأرض الخالية والتلال القرطاس والقلم:</a:t>
            </a:r>
            <a:endParaRPr lang="en-US" sz="1050" b="1" kern="100" dirty="0">
              <a:effectLst/>
              <a:ea typeface="Aptos" panose="020B0004020202020204" pitchFamily="34" charset="0"/>
              <a:cs typeface="Arial" panose="020B0604020202020204" pitchFamily="34" charset="0"/>
            </a:endParaRPr>
          </a:p>
          <a:p>
            <a:pPr marL="0" marR="0" algn="r">
              <a:lnSpc>
                <a:spcPct val="115000"/>
              </a:lnSpc>
              <a:spcAft>
                <a:spcPts val="800"/>
              </a:spcAft>
              <a:buNone/>
            </a:pPr>
            <a:r>
              <a:rPr lang="ar-SA" sz="1050" b="1" kern="100" dirty="0">
                <a:effectLst/>
                <a:ea typeface="Aptos" panose="020B0004020202020204" pitchFamily="34" charset="0"/>
                <a:cs typeface="Arial" panose="020B0604020202020204" pitchFamily="34" charset="0"/>
              </a:rPr>
              <a:t>يخترم الجسيم نحافة: يجعل الجسد النحيل قويًا بالإرادة  -  يُهرم: يُصيب بالشيخوخة  -  أواري في التراب عظمي: أي لا يستسلم حتى الموت</a:t>
            </a:r>
            <a:r>
              <a:rPr lang="en-US" sz="1200" b="1" kern="100" dirty="0">
                <a:effectLst/>
                <a:ea typeface="Aptos" panose="020B0004020202020204" pitchFamily="34" charset="0"/>
                <a:cs typeface="Arial" panose="020B0604020202020204" pitchFamily="34" charset="0"/>
              </a:rPr>
              <a:t>.</a:t>
            </a:r>
            <a:endParaRPr lang="en-US" sz="1200" kern="100" dirty="0">
              <a:effectLst/>
              <a:ea typeface="Aptos" panose="020B0004020202020204" pitchFamily="34" charset="0"/>
              <a:cs typeface="Arial" panose="020B0604020202020204" pitchFamily="34" charset="0"/>
            </a:endParaRPr>
          </a:p>
        </p:txBody>
      </p:sp>
      <p:sp>
        <p:nvSpPr>
          <p:cNvPr id="41" name="Text Box 13">
            <a:extLst>
              <a:ext uri="{FF2B5EF4-FFF2-40B4-BE49-F238E27FC236}">
                <a16:creationId xmlns:a16="http://schemas.microsoft.com/office/drawing/2014/main" id="{253F8D5E-3BBC-99A2-D336-657C4B4FB2BC}"/>
              </a:ext>
            </a:extLst>
          </p:cNvPr>
          <p:cNvSpPr txBox="1"/>
          <p:nvPr/>
        </p:nvSpPr>
        <p:spPr>
          <a:xfrm>
            <a:off x="10378698" y="5011392"/>
            <a:ext cx="1562100" cy="470535"/>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Aft>
                <a:spcPts val="800"/>
              </a:spcAft>
              <a:buNone/>
            </a:pPr>
            <a:r>
              <a:rPr lang="ar-SA" sz="2000" b="1" kern="100">
                <a:effectLst/>
                <a:latin typeface="Aptos" panose="020B0004020202020204" pitchFamily="34" charset="0"/>
                <a:ea typeface="Aptos" panose="020B0004020202020204" pitchFamily="34" charset="0"/>
                <a:cs typeface="Arial" panose="020B0604020202020204" pitchFamily="34" charset="0"/>
              </a:rPr>
              <a:t>معاني المفردات</a:t>
            </a:r>
            <a:endParaRPr lang="en-US" sz="1200" kern="100">
              <a:effectLst/>
              <a:latin typeface="Aptos" panose="020B0004020202020204" pitchFamily="34" charset="0"/>
              <a:ea typeface="Aptos" panose="020B00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29BB8687-CEE4-B873-2226-1682888D571B}"/>
              </a:ext>
            </a:extLst>
          </p:cNvPr>
          <p:cNvSpPr txBox="1"/>
          <p:nvPr/>
        </p:nvSpPr>
        <p:spPr>
          <a:xfrm>
            <a:off x="3941865" y="1902898"/>
            <a:ext cx="1597188" cy="400110"/>
          </a:xfrm>
          <a:prstGeom prst="rect">
            <a:avLst/>
          </a:prstGeom>
          <a:noFill/>
        </p:spPr>
        <p:txBody>
          <a:bodyPr wrap="square">
            <a:spAutoFit/>
          </a:bodyPr>
          <a:lstStyle/>
          <a:p>
            <a:r>
              <a:rPr lang="ar-SA" sz="2000" b="1" i="0" u="none" strike="noStrike" baseline="0" dirty="0">
                <a:highlight>
                  <a:srgbClr val="FF00FF"/>
                </a:highlight>
                <a:latin typeface="SakkalMajalla-Bold"/>
              </a:rPr>
              <a:t>الفهمُ والاستيعابُ</a:t>
            </a:r>
            <a:endParaRPr lang="en-US" sz="5400" b="1" dirty="0">
              <a:highlight>
                <a:srgbClr val="FF00FF"/>
              </a:highlight>
            </a:endParaRPr>
          </a:p>
        </p:txBody>
      </p:sp>
      <p:sp>
        <p:nvSpPr>
          <p:cNvPr id="46" name="TextBox 45">
            <a:extLst>
              <a:ext uri="{FF2B5EF4-FFF2-40B4-BE49-F238E27FC236}">
                <a16:creationId xmlns:a16="http://schemas.microsoft.com/office/drawing/2014/main" id="{A58D3767-7BEA-3C76-3807-B5D423BC05F1}"/>
              </a:ext>
            </a:extLst>
          </p:cNvPr>
          <p:cNvSpPr txBox="1"/>
          <p:nvPr/>
        </p:nvSpPr>
        <p:spPr>
          <a:xfrm>
            <a:off x="-705971" y="3539385"/>
            <a:ext cx="6093994" cy="1741952"/>
          </a:xfrm>
          <a:prstGeom prst="rect">
            <a:avLst/>
          </a:prstGeom>
          <a:noFill/>
        </p:spPr>
        <p:txBody>
          <a:bodyPr wrap="square">
            <a:spAutoFit/>
          </a:bodyPr>
          <a:lstStyle/>
          <a:p>
            <a:pPr marL="0" marR="0" algn="r" rtl="1">
              <a:lnSpc>
                <a:spcPct val="115000"/>
              </a:lnSpc>
              <a:spcAft>
                <a:spcPts val="800"/>
              </a:spcAft>
              <a:buNone/>
            </a:pPr>
            <a:r>
              <a:rPr lang="ar-SA" sz="2800" b="1" kern="100" dirty="0">
                <a:solidFill>
                  <a:srgbClr val="C00000"/>
                </a:solidFill>
                <a:effectLst/>
                <a:latin typeface="Aptos" panose="020B0004020202020204" pitchFamily="34" charset="0"/>
                <a:ea typeface="Aptos" panose="020B0004020202020204" pitchFamily="34" charset="0"/>
                <a:cs typeface="Arial" panose="020B0604020202020204" pitchFamily="34" charset="0"/>
              </a:rPr>
              <a:t>1 – ما الفكرة الرئيسية للنص الشعري؟</a:t>
            </a:r>
          </a:p>
          <a:p>
            <a:pPr marL="0" marR="0" algn="r" rtl="1">
              <a:lnSpc>
                <a:spcPct val="115000"/>
              </a:lnSpc>
              <a:spcAft>
                <a:spcPts val="800"/>
              </a:spcAft>
              <a:buNone/>
            </a:pPr>
            <a:endParaRPr lang="ar-SA" sz="2800" b="1" kern="100" dirty="0">
              <a:solidFill>
                <a:srgbClr val="C00000"/>
              </a:solidFill>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ar-SA" sz="2800" b="1" kern="100" dirty="0">
                <a:latin typeface="Aptos" panose="020B0004020202020204" pitchFamily="34" charset="0"/>
                <a:ea typeface="Aptos" panose="020B0004020202020204" pitchFamily="34" charset="0"/>
                <a:cs typeface="Arial" panose="020B0604020202020204" pitchFamily="34" charset="0"/>
              </a:rPr>
              <a:t>ج- افتخار الشاعر بنفسه وبشجاعته</a:t>
            </a:r>
          </a:p>
        </p:txBody>
      </p:sp>
      <p:sp>
        <p:nvSpPr>
          <p:cNvPr id="3" name="TextBox 2">
            <a:extLst>
              <a:ext uri="{FF2B5EF4-FFF2-40B4-BE49-F238E27FC236}">
                <a16:creationId xmlns:a16="http://schemas.microsoft.com/office/drawing/2014/main" id="{73E374D7-E925-0074-2855-9108314EC0F2}"/>
              </a:ext>
            </a:extLst>
          </p:cNvPr>
          <p:cNvSpPr txBox="1"/>
          <p:nvPr/>
        </p:nvSpPr>
        <p:spPr>
          <a:xfrm>
            <a:off x="4547586" y="2444435"/>
            <a:ext cx="1178887" cy="338554"/>
          </a:xfrm>
          <a:prstGeom prst="rect">
            <a:avLst/>
          </a:prstGeom>
          <a:noFill/>
        </p:spPr>
        <p:txBody>
          <a:bodyPr wrap="square">
            <a:spAutoFit/>
          </a:bodyPr>
          <a:lstStyle/>
          <a:p>
            <a:r>
              <a:rPr lang="ar-SA" sz="1600" b="1" i="0" u="none" strike="noStrike" baseline="0" dirty="0">
                <a:latin typeface="SakkalMajalla-Bold"/>
              </a:rPr>
              <a:t>سُؤالٌ مقاليٌّ</a:t>
            </a:r>
            <a:endParaRPr lang="en-US" sz="4400" b="1" dirty="0"/>
          </a:p>
        </p:txBody>
      </p:sp>
      <p:sp>
        <p:nvSpPr>
          <p:cNvPr id="7" name="TextBox 6">
            <a:extLst>
              <a:ext uri="{FF2B5EF4-FFF2-40B4-BE49-F238E27FC236}">
                <a16:creationId xmlns:a16="http://schemas.microsoft.com/office/drawing/2014/main" id="{BA12DE1D-955C-DD00-1D3D-CA676064FE14}"/>
              </a:ext>
            </a:extLst>
          </p:cNvPr>
          <p:cNvSpPr txBox="1"/>
          <p:nvPr/>
        </p:nvSpPr>
        <p:spPr>
          <a:xfrm>
            <a:off x="4188065" y="1732370"/>
            <a:ext cx="6449784" cy="276999"/>
          </a:xfrm>
          <a:prstGeom prst="rect">
            <a:avLst/>
          </a:prstGeom>
          <a:noFill/>
        </p:spPr>
        <p:txBody>
          <a:bodyPr wrap="square">
            <a:spAutoFit/>
          </a:bodyPr>
          <a:lstStyle/>
          <a:p>
            <a:r>
              <a:rPr lang="ar-SA" sz="1200" b="1" i="0" u="none" strike="noStrike" baseline="0" dirty="0">
                <a:highlight>
                  <a:srgbClr val="00FF00"/>
                </a:highlight>
                <a:latin typeface="SakkalMajalla-Bold"/>
              </a:rPr>
              <a:t>نص شعريّ خارجيٌّ</a:t>
            </a:r>
            <a:endParaRPr lang="en-US" sz="3600" b="1" dirty="0">
              <a:highlight>
                <a:srgbClr val="00FF00"/>
              </a:highlight>
            </a:endParaRPr>
          </a:p>
        </p:txBody>
      </p:sp>
      <p:sp>
        <p:nvSpPr>
          <p:cNvPr id="10" name="TextBox 9">
            <a:extLst>
              <a:ext uri="{FF2B5EF4-FFF2-40B4-BE49-F238E27FC236}">
                <a16:creationId xmlns:a16="http://schemas.microsoft.com/office/drawing/2014/main" id="{BDA7CD1E-3DA6-4C33-BCEE-B6B0641D18E6}"/>
              </a:ext>
            </a:extLst>
          </p:cNvPr>
          <p:cNvSpPr txBox="1"/>
          <p:nvPr/>
        </p:nvSpPr>
        <p:spPr>
          <a:xfrm>
            <a:off x="474646" y="6351069"/>
            <a:ext cx="5205483" cy="400110"/>
          </a:xfrm>
          <a:prstGeom prst="rect">
            <a:avLst/>
          </a:prstGeom>
          <a:noFill/>
        </p:spPr>
        <p:txBody>
          <a:bodyPr wrap="square" rtlCol="0">
            <a:spAutoFit/>
          </a:bodyPr>
          <a:lstStyle/>
          <a:p>
            <a:r>
              <a:rPr lang="ar-SA" sz="2000" b="1" dirty="0">
                <a:solidFill>
                  <a:srgbClr val="CB6792"/>
                </a:solidFill>
              </a:rPr>
              <a:t>إعداد... أ: شيخة السويدي</a:t>
            </a:r>
            <a:endParaRPr lang="en-US" sz="2000" b="1" dirty="0">
              <a:solidFill>
                <a:srgbClr val="CB6792"/>
              </a:solidFill>
            </a:endParaRPr>
          </a:p>
        </p:txBody>
      </p:sp>
    </p:spTree>
    <p:extLst>
      <p:ext uri="{BB962C8B-B14F-4D97-AF65-F5344CB8AC3E}">
        <p14:creationId xmlns:p14="http://schemas.microsoft.com/office/powerpoint/2010/main" val="3832284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7F58D-5AA8-6B32-4C55-5D77325EB45D}"/>
            </a:ext>
          </a:extLst>
        </p:cNvPr>
        <p:cNvGrpSpPr/>
        <p:nvPr/>
      </p:nvGrpSpPr>
      <p:grpSpPr>
        <a:xfrm>
          <a:off x="0" y="0"/>
          <a:ext cx="0" cy="0"/>
          <a:chOff x="0" y="0"/>
          <a:chExt cx="0" cy="0"/>
        </a:xfrm>
      </p:grpSpPr>
      <p:pic>
        <p:nvPicPr>
          <p:cNvPr id="5" name="Picture 4" descr="A logo with a feather and a book&#10;&#10;AI-generated content may be incorrect.">
            <a:extLst>
              <a:ext uri="{FF2B5EF4-FFF2-40B4-BE49-F238E27FC236}">
                <a16:creationId xmlns:a16="http://schemas.microsoft.com/office/drawing/2014/main" id="{DEED3A22-9822-F44F-6EE5-5613F85806BA}"/>
              </a:ext>
            </a:extLst>
          </p:cNvPr>
          <p:cNvPicPr>
            <a:picLocks noChangeAspect="1"/>
          </p:cNvPicPr>
          <p:nvPr/>
        </p:nvPicPr>
        <p:blipFill>
          <a:blip r:embed="rId2">
            <a:extLst>
              <a:ext uri="{28A0092B-C50C-407E-A947-70E740481C1C}">
                <a14:useLocalDpi xmlns:a14="http://schemas.microsoft.com/office/drawing/2010/main" val="0"/>
              </a:ext>
            </a:extLst>
          </a:blip>
          <a:srcRect t="18752" r="-1" b="-1"/>
          <a:stretch>
            <a:fillRect/>
          </a:stretch>
        </p:blipFill>
        <p:spPr>
          <a:xfrm>
            <a:off x="3068" y="9"/>
            <a:ext cx="12188932" cy="2011073"/>
          </a:xfrm>
          <a:prstGeom prst="rect">
            <a:avLst/>
          </a:prstGeom>
        </p:spPr>
      </p:pic>
      <p:sp>
        <p:nvSpPr>
          <p:cNvPr id="8" name="TextBox 7">
            <a:extLst>
              <a:ext uri="{FF2B5EF4-FFF2-40B4-BE49-F238E27FC236}">
                <a16:creationId xmlns:a16="http://schemas.microsoft.com/office/drawing/2014/main" id="{AD0B11BC-0443-9606-4AA4-AA8EAB86549E}"/>
              </a:ext>
            </a:extLst>
          </p:cNvPr>
          <p:cNvSpPr txBox="1"/>
          <p:nvPr/>
        </p:nvSpPr>
        <p:spPr>
          <a:xfrm>
            <a:off x="6015460" y="3411301"/>
            <a:ext cx="6016369" cy="1200329"/>
          </a:xfrm>
          <a:prstGeom prst="rect">
            <a:avLst/>
          </a:prstGeom>
          <a:noFill/>
        </p:spPr>
        <p:txBody>
          <a:bodyPr wrap="square">
            <a:spAutoFit/>
          </a:bodyPr>
          <a:lstStyle/>
          <a:p>
            <a:pPr algn="r"/>
            <a:r>
              <a:rPr lang="ar-SA" b="1" dirty="0"/>
              <a:t>1-الخيلُ والليلُ والبيداءُ تعرفني   . .......   والسيفُ والرمحُ والقرطاسُ والقلم</a:t>
            </a:r>
            <a:endParaRPr lang="en-US" b="1" dirty="0"/>
          </a:p>
          <a:p>
            <a:pPr algn="r"/>
            <a:r>
              <a:rPr lang="ar-SA" b="1" dirty="0"/>
              <a:t>2-صحِبتُ في الفَلواتِ الوحشَ منفردًا  .....  حتى تعجّبَ مني القَفرُ والأكمُ</a:t>
            </a:r>
            <a:br>
              <a:rPr lang="en-US" b="1" dirty="0"/>
            </a:br>
            <a:r>
              <a:rPr lang="ar-SA" b="1" dirty="0"/>
              <a:t>3-والهمُّ يخترمُ الجَسيمَ نَحافةً   .........     ويُشيبُ ناصيةَ الصبيِّ ويهرم</a:t>
            </a:r>
            <a:endParaRPr lang="en-US" b="1" dirty="0"/>
          </a:p>
          <a:p>
            <a:pPr algn="r"/>
            <a:r>
              <a:rPr lang="ar-SA" b="1" dirty="0"/>
              <a:t>لا تَحمَدِ الأعداءُ فيَّ كرامةً  ..........     حتى أُوارِيَ في التُّرابِ أعَظُمِي</a:t>
            </a:r>
            <a:r>
              <a:rPr lang="en-US" sz="1800" b="1" kern="100" dirty="0">
                <a:effectLst/>
                <a:latin typeface="Aptos" panose="020B0004020202020204" pitchFamily="34" charset="0"/>
                <a:ea typeface="Aptos" panose="020B0004020202020204" pitchFamily="34" charset="0"/>
                <a:cs typeface="Arial" panose="020B0604020202020204" pitchFamily="34" charset="0"/>
              </a:rPr>
              <a:t> </a:t>
            </a:r>
            <a:r>
              <a:rPr lang="ar-SA" sz="1800" b="1" kern="100" dirty="0">
                <a:effectLst/>
                <a:latin typeface="Aptos" panose="020B0004020202020204" pitchFamily="34" charset="0"/>
                <a:ea typeface="Aptos" panose="020B0004020202020204" pitchFamily="34" charset="0"/>
                <a:cs typeface="Arial" panose="020B0604020202020204" pitchFamily="34" charset="0"/>
              </a:rPr>
              <a:t>4-</a:t>
            </a:r>
            <a:endParaRPr lang="en-US" sz="1600" b="1"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D4EA486F-4149-9692-2863-F5ED48A4DAED}"/>
              </a:ext>
            </a:extLst>
          </p:cNvPr>
          <p:cNvSpPr txBox="1"/>
          <p:nvPr/>
        </p:nvSpPr>
        <p:spPr>
          <a:xfrm>
            <a:off x="9957661" y="309966"/>
            <a:ext cx="1914041" cy="369332"/>
          </a:xfrm>
          <a:prstGeom prst="rect">
            <a:avLst/>
          </a:prstGeom>
          <a:noFill/>
        </p:spPr>
        <p:txBody>
          <a:bodyPr wrap="square" rtlCol="0">
            <a:spAutoFit/>
          </a:bodyPr>
          <a:lstStyle/>
          <a:p>
            <a:r>
              <a:rPr lang="ar-SA" dirty="0"/>
              <a:t>مدرسة الشوامخ ح2-3</a:t>
            </a:r>
            <a:endParaRPr lang="en-US" dirty="0"/>
          </a:p>
        </p:txBody>
      </p:sp>
      <p:pic>
        <p:nvPicPr>
          <p:cNvPr id="11" name="Picture 10" descr="التربية والتعليم» تعلن هويتها المرئية الجديدة | صحيفة الخليج">
            <a:extLst>
              <a:ext uri="{FF2B5EF4-FFF2-40B4-BE49-F238E27FC236}">
                <a16:creationId xmlns:a16="http://schemas.microsoft.com/office/drawing/2014/main" id="{5BC27C9A-2709-EBAA-F000-5AB7082A9A9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28" y="0"/>
            <a:ext cx="1393825" cy="950595"/>
          </a:xfrm>
          <a:prstGeom prst="rect">
            <a:avLst/>
          </a:prstGeom>
          <a:noFill/>
          <a:ln>
            <a:noFill/>
          </a:ln>
        </p:spPr>
      </p:pic>
      <p:cxnSp>
        <p:nvCxnSpPr>
          <p:cNvPr id="26" name="Straight Connector 25">
            <a:extLst>
              <a:ext uri="{FF2B5EF4-FFF2-40B4-BE49-F238E27FC236}">
                <a16:creationId xmlns:a16="http://schemas.microsoft.com/office/drawing/2014/main" id="{451F15B8-BEC0-E045-5024-A291ABF9884B}"/>
              </a:ext>
            </a:extLst>
          </p:cNvPr>
          <p:cNvCxnSpPr>
            <a:cxnSpLocks/>
          </p:cNvCxnSpPr>
          <p:nvPr/>
        </p:nvCxnSpPr>
        <p:spPr>
          <a:xfrm>
            <a:off x="5680129" y="1995639"/>
            <a:ext cx="0" cy="412213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8" name="TextBox 27">
            <a:extLst>
              <a:ext uri="{FF2B5EF4-FFF2-40B4-BE49-F238E27FC236}">
                <a16:creationId xmlns:a16="http://schemas.microsoft.com/office/drawing/2014/main" id="{B4498A22-8C0E-5269-2ECF-C253DE884D18}"/>
              </a:ext>
            </a:extLst>
          </p:cNvPr>
          <p:cNvSpPr txBox="1"/>
          <p:nvPr/>
        </p:nvSpPr>
        <p:spPr>
          <a:xfrm>
            <a:off x="6398559" y="2070759"/>
            <a:ext cx="5542239" cy="584775"/>
          </a:xfrm>
          <a:prstGeom prst="rect">
            <a:avLst/>
          </a:prstGeom>
          <a:noFill/>
        </p:spPr>
        <p:txBody>
          <a:bodyPr wrap="square" rtlCol="0">
            <a:spAutoFit/>
          </a:bodyPr>
          <a:lstStyle/>
          <a:p>
            <a:pPr algn="r"/>
            <a:r>
              <a:rPr lang="ar-SA" sz="1600" b="1" dirty="0">
                <a:solidFill>
                  <a:srgbClr val="C00000"/>
                </a:solidFill>
              </a:rPr>
              <a:t>اقرأ </a:t>
            </a:r>
            <a:r>
              <a:rPr lang="ar-SA" sz="1600" b="1" u="sng" dirty="0">
                <a:solidFill>
                  <a:srgbClr val="C00000"/>
                </a:solidFill>
              </a:rPr>
              <a:t>النص الشعري</a:t>
            </a:r>
            <a:r>
              <a:rPr lang="ar-SA" sz="1600" b="1" dirty="0">
                <a:solidFill>
                  <a:srgbClr val="C00000"/>
                </a:solidFill>
              </a:rPr>
              <a:t> الآتي للشاعر ( المتنبي ) يفخر بشجاعته في الحروب  </a:t>
            </a:r>
          </a:p>
          <a:p>
            <a:pPr algn="r"/>
            <a:r>
              <a:rPr lang="ar-SA" sz="1600" b="1" dirty="0">
                <a:solidFill>
                  <a:srgbClr val="C00000"/>
                </a:solidFill>
              </a:rPr>
              <a:t>ثم أجب عما يليه من أسئلة .................</a:t>
            </a:r>
            <a:endParaRPr lang="en-US" sz="1600" b="1" dirty="0">
              <a:solidFill>
                <a:srgbClr val="C00000"/>
              </a:solidFill>
            </a:endParaRPr>
          </a:p>
        </p:txBody>
      </p:sp>
      <p:sp>
        <p:nvSpPr>
          <p:cNvPr id="29" name="TextBox 28">
            <a:extLst>
              <a:ext uri="{FF2B5EF4-FFF2-40B4-BE49-F238E27FC236}">
                <a16:creationId xmlns:a16="http://schemas.microsoft.com/office/drawing/2014/main" id="{FDF0D294-1D0E-7C82-1A81-6BC670397710}"/>
              </a:ext>
            </a:extLst>
          </p:cNvPr>
          <p:cNvSpPr txBox="1"/>
          <p:nvPr/>
        </p:nvSpPr>
        <p:spPr>
          <a:xfrm>
            <a:off x="10306036" y="2837164"/>
            <a:ext cx="1813302" cy="400110"/>
          </a:xfrm>
          <a:prstGeom prst="rect">
            <a:avLst/>
          </a:prstGeom>
          <a:noFill/>
        </p:spPr>
        <p:txBody>
          <a:bodyPr wrap="square" rtlCol="0">
            <a:spAutoFit/>
          </a:bodyPr>
          <a:lstStyle/>
          <a:p>
            <a:r>
              <a:rPr lang="ar-SA" sz="2000" b="1" dirty="0">
                <a:highlight>
                  <a:srgbClr val="00FF00"/>
                </a:highlight>
              </a:rPr>
              <a:t>فروسية شاعر </a:t>
            </a:r>
            <a:endParaRPr lang="en-US" sz="2000" b="1" dirty="0">
              <a:highlight>
                <a:srgbClr val="00FF00"/>
              </a:highlight>
            </a:endParaRPr>
          </a:p>
        </p:txBody>
      </p:sp>
      <p:pic>
        <p:nvPicPr>
          <p:cNvPr id="31" name="Picture 30" descr="أبو الطيب المتنبي - ويكيبيديا">
            <a:extLst>
              <a:ext uri="{FF2B5EF4-FFF2-40B4-BE49-F238E27FC236}">
                <a16:creationId xmlns:a16="http://schemas.microsoft.com/office/drawing/2014/main" id="{59DE299F-ECA6-8418-0BDF-D9D0B0C3AAF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783207" y="2070758"/>
            <a:ext cx="1178890" cy="1294668"/>
          </a:xfrm>
          <a:prstGeom prst="rect">
            <a:avLst/>
          </a:prstGeom>
          <a:noFill/>
          <a:ln>
            <a:noFill/>
          </a:ln>
        </p:spPr>
      </p:pic>
      <p:sp>
        <p:nvSpPr>
          <p:cNvPr id="37" name="Arrow: Left 36">
            <a:extLst>
              <a:ext uri="{FF2B5EF4-FFF2-40B4-BE49-F238E27FC236}">
                <a16:creationId xmlns:a16="http://schemas.microsoft.com/office/drawing/2014/main" id="{572445A5-4044-8DA3-86A6-7AE32EF6E6DF}"/>
              </a:ext>
            </a:extLst>
          </p:cNvPr>
          <p:cNvSpPr/>
          <p:nvPr/>
        </p:nvSpPr>
        <p:spPr>
          <a:xfrm>
            <a:off x="4158050" y="2638066"/>
            <a:ext cx="1317481" cy="584773"/>
          </a:xfrm>
          <a:prstGeom prst="lef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ar-SA" b="1" dirty="0"/>
              <a:t>المهارة</a:t>
            </a:r>
            <a:endParaRPr lang="en-US" b="1" dirty="0"/>
          </a:p>
        </p:txBody>
      </p:sp>
      <p:sp>
        <p:nvSpPr>
          <p:cNvPr id="40" name="Rectangle 39">
            <a:extLst>
              <a:ext uri="{FF2B5EF4-FFF2-40B4-BE49-F238E27FC236}">
                <a16:creationId xmlns:a16="http://schemas.microsoft.com/office/drawing/2014/main" id="{30117082-FC6B-DF0A-5FA8-2EABFEF64B05}"/>
              </a:ext>
            </a:extLst>
          </p:cNvPr>
          <p:cNvSpPr/>
          <p:nvPr/>
        </p:nvSpPr>
        <p:spPr>
          <a:xfrm>
            <a:off x="5840372" y="5344735"/>
            <a:ext cx="6191386" cy="121920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r" rtl="1">
              <a:lnSpc>
                <a:spcPct val="115000"/>
              </a:lnSpc>
              <a:spcAft>
                <a:spcPts val="800"/>
              </a:spcAft>
              <a:buNone/>
            </a:pPr>
            <a:r>
              <a:rPr lang="en-US" sz="1200" b="1" kern="100" dirty="0">
                <a:effectLst/>
                <a:latin typeface="Arial" panose="020B0604020202020204" pitchFamily="34" charset="0"/>
                <a:ea typeface="Aptos" panose="020B0004020202020204" pitchFamily="34" charset="0"/>
                <a:cs typeface="Arial" panose="020B0604020202020204" pitchFamily="34" charset="0"/>
              </a:rPr>
              <a:t> </a:t>
            </a:r>
            <a:r>
              <a:rPr lang="ar-SA" sz="1050" b="1" kern="100" dirty="0">
                <a:effectLst/>
                <a:latin typeface="Arial" panose="020B0604020202020204" pitchFamily="34" charset="0"/>
                <a:ea typeface="Aptos" panose="020B0004020202020204" pitchFamily="34" charset="0"/>
                <a:cs typeface="Arial" panose="020B0604020202020204" pitchFamily="34" charset="0"/>
              </a:rPr>
              <a:t>الخيل والليل والبيداء:</a:t>
            </a:r>
            <a:r>
              <a:rPr lang="ar-SA" sz="1050" b="1" kern="100" dirty="0">
                <a:effectLst/>
                <a:ea typeface="Aptos" panose="020B0004020202020204" pitchFamily="34" charset="0"/>
                <a:cs typeface="Arial" panose="020B0604020202020204" pitchFamily="34" charset="0"/>
              </a:rPr>
              <a:t> رموز للشجاعة والمغامرة (الخيل: الحرب، الليل: الصبر، البيداء: الصحراء)</a:t>
            </a:r>
            <a:endParaRPr lang="en-US" sz="1050" b="1" kern="100" dirty="0">
              <a:effectLst/>
              <a:ea typeface="Aptos" panose="020B0004020202020204" pitchFamily="34" charset="0"/>
              <a:cs typeface="Arial" panose="020B0604020202020204" pitchFamily="34" charset="0"/>
            </a:endParaRPr>
          </a:p>
          <a:p>
            <a:pPr marL="0" marR="0" algn="r">
              <a:lnSpc>
                <a:spcPct val="115000"/>
              </a:lnSpc>
              <a:spcAft>
                <a:spcPts val="800"/>
              </a:spcAft>
              <a:buNone/>
            </a:pPr>
            <a:r>
              <a:rPr lang="ar-SA" sz="1050" b="1" kern="100" dirty="0">
                <a:effectLst/>
                <a:ea typeface="Aptos" panose="020B0004020202020204" pitchFamily="34" charset="0"/>
                <a:cs typeface="Arial" panose="020B0604020202020204" pitchFamily="34" charset="0"/>
              </a:rPr>
              <a:t>دلالة على العلم والفكر      الفلوات : الصحارى الواسعة          القَفر والأكم:  الأرض الخالية والتلال القرطاس والقلم:</a:t>
            </a:r>
            <a:endParaRPr lang="en-US" sz="1050" b="1" kern="100" dirty="0">
              <a:effectLst/>
              <a:ea typeface="Aptos" panose="020B0004020202020204" pitchFamily="34" charset="0"/>
              <a:cs typeface="Arial" panose="020B0604020202020204" pitchFamily="34" charset="0"/>
            </a:endParaRPr>
          </a:p>
          <a:p>
            <a:pPr marL="0" marR="0" algn="r">
              <a:lnSpc>
                <a:spcPct val="115000"/>
              </a:lnSpc>
              <a:spcAft>
                <a:spcPts val="800"/>
              </a:spcAft>
              <a:buNone/>
            </a:pPr>
            <a:r>
              <a:rPr lang="ar-SA" sz="1050" b="1" kern="100" dirty="0">
                <a:effectLst/>
                <a:ea typeface="Aptos" panose="020B0004020202020204" pitchFamily="34" charset="0"/>
                <a:cs typeface="Arial" panose="020B0604020202020204" pitchFamily="34" charset="0"/>
              </a:rPr>
              <a:t>يخترم الجسيم نحافة: يجعل الجسد النحيل قويًا بالإرادة  -  يُهرم: يُصيب بالشيخوخة  -  أواري في التراب عظمي: أي لا يستسلم حتى الموت</a:t>
            </a:r>
            <a:r>
              <a:rPr lang="en-US" sz="1200" b="1" kern="100" dirty="0">
                <a:effectLst/>
                <a:ea typeface="Aptos" panose="020B0004020202020204" pitchFamily="34" charset="0"/>
                <a:cs typeface="Arial" panose="020B0604020202020204" pitchFamily="34" charset="0"/>
              </a:rPr>
              <a:t>.</a:t>
            </a:r>
            <a:endParaRPr lang="en-US" sz="1200" kern="100" dirty="0">
              <a:effectLst/>
              <a:ea typeface="Aptos" panose="020B0004020202020204" pitchFamily="34" charset="0"/>
              <a:cs typeface="Arial" panose="020B0604020202020204" pitchFamily="34" charset="0"/>
            </a:endParaRPr>
          </a:p>
        </p:txBody>
      </p:sp>
      <p:sp>
        <p:nvSpPr>
          <p:cNvPr id="41" name="Text Box 13">
            <a:extLst>
              <a:ext uri="{FF2B5EF4-FFF2-40B4-BE49-F238E27FC236}">
                <a16:creationId xmlns:a16="http://schemas.microsoft.com/office/drawing/2014/main" id="{3C5CF92D-9947-D126-CAB7-4F33F550FBD4}"/>
              </a:ext>
            </a:extLst>
          </p:cNvPr>
          <p:cNvSpPr txBox="1"/>
          <p:nvPr/>
        </p:nvSpPr>
        <p:spPr>
          <a:xfrm>
            <a:off x="10378698" y="5011392"/>
            <a:ext cx="1562100" cy="470535"/>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Aft>
                <a:spcPts val="800"/>
              </a:spcAft>
              <a:buNone/>
            </a:pPr>
            <a:r>
              <a:rPr lang="ar-SA" sz="2000" b="1" kern="100">
                <a:effectLst/>
                <a:latin typeface="Aptos" panose="020B0004020202020204" pitchFamily="34" charset="0"/>
                <a:ea typeface="Aptos" panose="020B0004020202020204" pitchFamily="34" charset="0"/>
                <a:cs typeface="Arial" panose="020B0604020202020204" pitchFamily="34" charset="0"/>
              </a:rPr>
              <a:t>معاني المفردات</a:t>
            </a:r>
            <a:endParaRPr lang="en-US" sz="1200" kern="100">
              <a:effectLst/>
              <a:latin typeface="Aptos" panose="020B0004020202020204" pitchFamily="34" charset="0"/>
              <a:ea typeface="Aptos" panose="020B00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E2E36BD5-52E7-15FE-286B-109F6DFEF966}"/>
              </a:ext>
            </a:extLst>
          </p:cNvPr>
          <p:cNvSpPr txBox="1"/>
          <p:nvPr/>
        </p:nvSpPr>
        <p:spPr>
          <a:xfrm>
            <a:off x="3941865" y="1902898"/>
            <a:ext cx="1597188" cy="400110"/>
          </a:xfrm>
          <a:prstGeom prst="rect">
            <a:avLst/>
          </a:prstGeom>
          <a:noFill/>
        </p:spPr>
        <p:txBody>
          <a:bodyPr wrap="square">
            <a:spAutoFit/>
          </a:bodyPr>
          <a:lstStyle/>
          <a:p>
            <a:r>
              <a:rPr lang="ar-SA" sz="2000" b="1" i="0" u="none" strike="noStrike" baseline="0" dirty="0">
                <a:highlight>
                  <a:srgbClr val="FF00FF"/>
                </a:highlight>
                <a:latin typeface="SakkalMajalla-Bold"/>
              </a:rPr>
              <a:t>الفهمُ والاستيعابُ</a:t>
            </a:r>
            <a:endParaRPr lang="en-US" sz="5400" b="1" dirty="0">
              <a:highlight>
                <a:srgbClr val="FF00FF"/>
              </a:highlight>
            </a:endParaRPr>
          </a:p>
        </p:txBody>
      </p:sp>
      <p:sp>
        <p:nvSpPr>
          <p:cNvPr id="46" name="TextBox 45">
            <a:extLst>
              <a:ext uri="{FF2B5EF4-FFF2-40B4-BE49-F238E27FC236}">
                <a16:creationId xmlns:a16="http://schemas.microsoft.com/office/drawing/2014/main" id="{F0E9D7C1-6C21-26B1-00D3-CDEE4AA069E5}"/>
              </a:ext>
            </a:extLst>
          </p:cNvPr>
          <p:cNvSpPr txBox="1"/>
          <p:nvPr/>
        </p:nvSpPr>
        <p:spPr>
          <a:xfrm>
            <a:off x="206585" y="3373836"/>
            <a:ext cx="5382584" cy="2362313"/>
          </a:xfrm>
          <a:prstGeom prst="rect">
            <a:avLst/>
          </a:prstGeom>
          <a:noFill/>
        </p:spPr>
        <p:txBody>
          <a:bodyPr wrap="square">
            <a:spAutoFit/>
          </a:bodyPr>
          <a:lstStyle/>
          <a:p>
            <a:pPr algn="r" rtl="1">
              <a:lnSpc>
                <a:spcPct val="115000"/>
              </a:lnSpc>
              <a:spcAft>
                <a:spcPts val="800"/>
              </a:spcAft>
            </a:pPr>
            <a:r>
              <a:rPr lang="ar-SA" sz="2400" b="1" dirty="0">
                <a:solidFill>
                  <a:srgbClr val="C00000"/>
                </a:solidFill>
              </a:rPr>
              <a:t>2- اشرح البيتين الأول والثاني  شرحاً أدبياً وافياً .</a:t>
            </a:r>
            <a:endParaRPr lang="ar-SA" sz="2800" b="1" kern="100" dirty="0">
              <a:solidFill>
                <a:srgbClr val="C00000"/>
              </a:solidFill>
              <a:effectLst/>
              <a:latin typeface="Aptos" panose="020B0004020202020204" pitchFamily="34" charset="0"/>
              <a:ea typeface="Aptos" panose="020B0004020202020204" pitchFamily="34" charset="0"/>
              <a:cs typeface="Arial" panose="020B0604020202020204" pitchFamily="34" charset="0"/>
            </a:endParaRPr>
          </a:p>
          <a:p>
            <a:pPr algn="r" rtl="1">
              <a:lnSpc>
                <a:spcPct val="115000"/>
              </a:lnSpc>
              <a:spcAft>
                <a:spcPts val="800"/>
              </a:spcAft>
            </a:pPr>
            <a:r>
              <a:rPr lang="ar-SA" sz="2800" b="1" kern="100" dirty="0">
                <a:latin typeface="Aptos" panose="020B0004020202020204" pitchFamily="34" charset="0"/>
                <a:ea typeface="Aptos" panose="020B0004020202020204" pitchFamily="34" charset="0"/>
                <a:cs typeface="Arial" panose="020B0604020202020204" pitchFamily="34" charset="0"/>
              </a:rPr>
              <a:t>ج - </a:t>
            </a:r>
            <a:r>
              <a:rPr lang="ar-SA" b="1" dirty="0"/>
              <a:t>يُعبّر المتنبي في هذه الأبيات عن فخره بنفسه وشجاعته في ميادين الحرب،</a:t>
            </a:r>
            <a:br>
              <a:rPr lang="ar-SA" b="1" dirty="0"/>
            </a:br>
            <a:r>
              <a:rPr lang="ar-SA" b="1" dirty="0"/>
              <a:t>فيؤكد أن الخيل والليل والصحراء تعرف بطولاته،</a:t>
            </a:r>
            <a:br>
              <a:rPr lang="ar-SA" b="1" dirty="0"/>
            </a:br>
            <a:r>
              <a:rPr lang="ar-SA" b="1" dirty="0"/>
              <a:t>وأنه يسير وحيدًا في الصحارى دون خوف، حتى أن الأرض الخالية تعجبت منه.</a:t>
            </a:r>
            <a:endParaRPr lang="ar-SA" sz="2800" b="1" kern="100" dirty="0">
              <a:latin typeface="Aptos" panose="020B0004020202020204" pitchFamily="34" charset="0"/>
              <a:ea typeface="Aptos" panose="020B00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8F6B3C0-695A-20C8-60B3-220D5AC1B8E4}"/>
              </a:ext>
            </a:extLst>
          </p:cNvPr>
          <p:cNvSpPr txBox="1"/>
          <p:nvPr/>
        </p:nvSpPr>
        <p:spPr>
          <a:xfrm>
            <a:off x="4547586" y="2444435"/>
            <a:ext cx="1178887" cy="338554"/>
          </a:xfrm>
          <a:prstGeom prst="rect">
            <a:avLst/>
          </a:prstGeom>
          <a:noFill/>
        </p:spPr>
        <p:txBody>
          <a:bodyPr wrap="square">
            <a:spAutoFit/>
          </a:bodyPr>
          <a:lstStyle/>
          <a:p>
            <a:r>
              <a:rPr lang="ar-SA" sz="1600" b="1" i="0" u="none" strike="noStrike" baseline="0" dirty="0">
                <a:latin typeface="SakkalMajalla-Bold"/>
              </a:rPr>
              <a:t>سُؤالٌ مقاليٌّ</a:t>
            </a:r>
            <a:endParaRPr lang="en-US" sz="4400" b="1" dirty="0"/>
          </a:p>
        </p:txBody>
      </p:sp>
      <p:pic>
        <p:nvPicPr>
          <p:cNvPr id="4" name="Picture 3">
            <a:extLst>
              <a:ext uri="{FF2B5EF4-FFF2-40B4-BE49-F238E27FC236}">
                <a16:creationId xmlns:a16="http://schemas.microsoft.com/office/drawing/2014/main" id="{41EC8DA2-2D1A-E5D3-AEBC-6AA54B0381C3}"/>
              </a:ext>
            </a:extLst>
          </p:cNvPr>
          <p:cNvPicPr>
            <a:picLocks noChangeAspect="1"/>
          </p:cNvPicPr>
          <p:nvPr/>
        </p:nvPicPr>
        <p:blipFill>
          <a:blip r:embed="rId5"/>
          <a:stretch>
            <a:fillRect/>
          </a:stretch>
        </p:blipFill>
        <p:spPr>
          <a:xfrm>
            <a:off x="556686" y="2546463"/>
            <a:ext cx="3406596" cy="704763"/>
          </a:xfrm>
          <a:prstGeom prst="rect">
            <a:avLst/>
          </a:prstGeom>
        </p:spPr>
      </p:pic>
      <p:sp>
        <p:nvSpPr>
          <p:cNvPr id="6" name="TextBox 5">
            <a:extLst>
              <a:ext uri="{FF2B5EF4-FFF2-40B4-BE49-F238E27FC236}">
                <a16:creationId xmlns:a16="http://schemas.microsoft.com/office/drawing/2014/main" id="{71C6A0D3-2E8A-9315-B92E-3C964413E40E}"/>
              </a:ext>
            </a:extLst>
          </p:cNvPr>
          <p:cNvSpPr txBox="1"/>
          <p:nvPr/>
        </p:nvSpPr>
        <p:spPr>
          <a:xfrm>
            <a:off x="4188065" y="1732370"/>
            <a:ext cx="6449784" cy="276999"/>
          </a:xfrm>
          <a:prstGeom prst="rect">
            <a:avLst/>
          </a:prstGeom>
          <a:noFill/>
        </p:spPr>
        <p:txBody>
          <a:bodyPr wrap="square">
            <a:spAutoFit/>
          </a:bodyPr>
          <a:lstStyle/>
          <a:p>
            <a:r>
              <a:rPr lang="ar-SA" sz="1200" b="1" i="0" u="none" strike="noStrike" baseline="0" dirty="0">
                <a:highlight>
                  <a:srgbClr val="00FF00"/>
                </a:highlight>
                <a:latin typeface="SakkalMajalla-Bold"/>
              </a:rPr>
              <a:t>نص شعريّ خارجيٌّ</a:t>
            </a:r>
            <a:endParaRPr lang="en-US" sz="3600" b="1" dirty="0">
              <a:highlight>
                <a:srgbClr val="00FF00"/>
              </a:highlight>
            </a:endParaRPr>
          </a:p>
        </p:txBody>
      </p:sp>
      <p:sp>
        <p:nvSpPr>
          <p:cNvPr id="7" name="TextBox 6">
            <a:extLst>
              <a:ext uri="{FF2B5EF4-FFF2-40B4-BE49-F238E27FC236}">
                <a16:creationId xmlns:a16="http://schemas.microsoft.com/office/drawing/2014/main" id="{8AADC433-C466-42D4-C7FD-A1A36B317777}"/>
              </a:ext>
            </a:extLst>
          </p:cNvPr>
          <p:cNvSpPr txBox="1"/>
          <p:nvPr/>
        </p:nvSpPr>
        <p:spPr>
          <a:xfrm>
            <a:off x="474646" y="6351069"/>
            <a:ext cx="5205483" cy="400110"/>
          </a:xfrm>
          <a:prstGeom prst="rect">
            <a:avLst/>
          </a:prstGeom>
          <a:noFill/>
        </p:spPr>
        <p:txBody>
          <a:bodyPr wrap="square" rtlCol="0">
            <a:spAutoFit/>
          </a:bodyPr>
          <a:lstStyle/>
          <a:p>
            <a:r>
              <a:rPr lang="ar-SA" sz="2000" b="1" dirty="0">
                <a:solidFill>
                  <a:srgbClr val="CB6792"/>
                </a:solidFill>
              </a:rPr>
              <a:t>إعداد... أ: شيخة السويدي</a:t>
            </a:r>
            <a:endParaRPr lang="en-US" sz="2000" b="1" dirty="0">
              <a:solidFill>
                <a:srgbClr val="CB6792"/>
              </a:solidFill>
            </a:endParaRPr>
          </a:p>
        </p:txBody>
      </p:sp>
    </p:spTree>
    <p:extLst>
      <p:ext uri="{BB962C8B-B14F-4D97-AF65-F5344CB8AC3E}">
        <p14:creationId xmlns:p14="http://schemas.microsoft.com/office/powerpoint/2010/main" val="3206324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BD5BB-F465-517A-B082-446821696E89}"/>
            </a:ext>
          </a:extLst>
        </p:cNvPr>
        <p:cNvGrpSpPr/>
        <p:nvPr/>
      </p:nvGrpSpPr>
      <p:grpSpPr>
        <a:xfrm>
          <a:off x="0" y="0"/>
          <a:ext cx="0" cy="0"/>
          <a:chOff x="0" y="0"/>
          <a:chExt cx="0" cy="0"/>
        </a:xfrm>
      </p:grpSpPr>
      <p:pic>
        <p:nvPicPr>
          <p:cNvPr id="5" name="Picture 4" descr="A logo with a feather and a book&#10;&#10;AI-generated content may be incorrect.">
            <a:extLst>
              <a:ext uri="{FF2B5EF4-FFF2-40B4-BE49-F238E27FC236}">
                <a16:creationId xmlns:a16="http://schemas.microsoft.com/office/drawing/2014/main" id="{DB1E2D00-6B42-BDC7-DF28-C1C6C210A0B0}"/>
              </a:ext>
            </a:extLst>
          </p:cNvPr>
          <p:cNvPicPr>
            <a:picLocks noChangeAspect="1"/>
          </p:cNvPicPr>
          <p:nvPr/>
        </p:nvPicPr>
        <p:blipFill>
          <a:blip r:embed="rId3">
            <a:extLst>
              <a:ext uri="{28A0092B-C50C-407E-A947-70E740481C1C}">
                <a14:useLocalDpi xmlns:a14="http://schemas.microsoft.com/office/drawing/2010/main" val="0"/>
              </a:ext>
            </a:extLst>
          </a:blip>
          <a:srcRect t="18752" r="-1" b="-1"/>
          <a:stretch>
            <a:fillRect/>
          </a:stretch>
        </p:blipFill>
        <p:spPr>
          <a:xfrm>
            <a:off x="3068" y="9"/>
            <a:ext cx="12188932" cy="2011073"/>
          </a:xfrm>
          <a:prstGeom prst="rect">
            <a:avLst/>
          </a:prstGeom>
        </p:spPr>
      </p:pic>
      <p:sp>
        <p:nvSpPr>
          <p:cNvPr id="8" name="TextBox 7">
            <a:extLst>
              <a:ext uri="{FF2B5EF4-FFF2-40B4-BE49-F238E27FC236}">
                <a16:creationId xmlns:a16="http://schemas.microsoft.com/office/drawing/2014/main" id="{8E2E6FFA-5B1C-8A53-DF58-DA7944835417}"/>
              </a:ext>
            </a:extLst>
          </p:cNvPr>
          <p:cNvSpPr txBox="1"/>
          <p:nvPr/>
        </p:nvSpPr>
        <p:spPr>
          <a:xfrm>
            <a:off x="6015460" y="3411301"/>
            <a:ext cx="6016369" cy="1200329"/>
          </a:xfrm>
          <a:prstGeom prst="rect">
            <a:avLst/>
          </a:prstGeom>
          <a:noFill/>
        </p:spPr>
        <p:txBody>
          <a:bodyPr wrap="square">
            <a:spAutoFit/>
          </a:bodyPr>
          <a:lstStyle/>
          <a:p>
            <a:pPr algn="r"/>
            <a:r>
              <a:rPr lang="ar-SA" b="1" dirty="0"/>
              <a:t>1-الخيلُ والليلُ والبيداءُ تعرفني   . .......   والسيفُ والرمحُ والقرطاسُ والقلم</a:t>
            </a:r>
            <a:endParaRPr lang="en-US" b="1" dirty="0"/>
          </a:p>
          <a:p>
            <a:pPr algn="r"/>
            <a:r>
              <a:rPr lang="ar-SA" b="1" dirty="0"/>
              <a:t>2-صحِبتُ في الفَلواتِ الوحشَ منفردًا  .....  حتى تعجّبَ مني القَفرُ والأكمُ</a:t>
            </a:r>
            <a:br>
              <a:rPr lang="en-US" b="1" dirty="0"/>
            </a:br>
            <a:r>
              <a:rPr lang="ar-SA" b="1" dirty="0"/>
              <a:t>3-والهمُّ يخترمُ الجَسيمَ نَحافةً   .........     ويُشيبُ ناصيةَ الصبيِّ ويهرم</a:t>
            </a:r>
            <a:endParaRPr lang="en-US" b="1" dirty="0"/>
          </a:p>
          <a:p>
            <a:pPr algn="r"/>
            <a:r>
              <a:rPr lang="ar-SA" b="1" dirty="0"/>
              <a:t>لا تَحمَدِ الأعداءُ فيَّ كرامةً  ..........     حتى أُوارِيَ في التُّرابِ أعَظُمِي</a:t>
            </a:r>
            <a:r>
              <a:rPr lang="en-US" sz="1800" b="1" kern="100" dirty="0">
                <a:effectLst/>
                <a:latin typeface="Aptos" panose="020B0004020202020204" pitchFamily="34" charset="0"/>
                <a:ea typeface="Aptos" panose="020B0004020202020204" pitchFamily="34" charset="0"/>
                <a:cs typeface="Arial" panose="020B0604020202020204" pitchFamily="34" charset="0"/>
              </a:rPr>
              <a:t> </a:t>
            </a:r>
            <a:r>
              <a:rPr lang="ar-SA" sz="1800" b="1" kern="100" dirty="0">
                <a:effectLst/>
                <a:latin typeface="Aptos" panose="020B0004020202020204" pitchFamily="34" charset="0"/>
                <a:ea typeface="Aptos" panose="020B0004020202020204" pitchFamily="34" charset="0"/>
                <a:cs typeface="Arial" panose="020B0604020202020204" pitchFamily="34" charset="0"/>
              </a:rPr>
              <a:t>4-</a:t>
            </a:r>
            <a:endParaRPr lang="en-US" sz="1600" b="1"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E60B9D5A-1AD8-8EC1-108A-09AEEAC54020}"/>
              </a:ext>
            </a:extLst>
          </p:cNvPr>
          <p:cNvSpPr txBox="1"/>
          <p:nvPr/>
        </p:nvSpPr>
        <p:spPr>
          <a:xfrm>
            <a:off x="9957661" y="309966"/>
            <a:ext cx="1914041" cy="369332"/>
          </a:xfrm>
          <a:prstGeom prst="rect">
            <a:avLst/>
          </a:prstGeom>
          <a:noFill/>
        </p:spPr>
        <p:txBody>
          <a:bodyPr wrap="square" rtlCol="0">
            <a:spAutoFit/>
          </a:bodyPr>
          <a:lstStyle/>
          <a:p>
            <a:r>
              <a:rPr lang="ar-SA" dirty="0"/>
              <a:t>مدرسة الشوامخ ح2-3</a:t>
            </a:r>
            <a:endParaRPr lang="en-US" dirty="0"/>
          </a:p>
        </p:txBody>
      </p:sp>
      <p:pic>
        <p:nvPicPr>
          <p:cNvPr id="11" name="Picture 10" descr="التربية والتعليم» تعلن هويتها المرئية الجديدة | صحيفة الخليج">
            <a:extLst>
              <a:ext uri="{FF2B5EF4-FFF2-40B4-BE49-F238E27FC236}">
                <a16:creationId xmlns:a16="http://schemas.microsoft.com/office/drawing/2014/main" id="{C30DDA76-74D5-FFE1-B6EE-F8953C30E7A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28" y="0"/>
            <a:ext cx="1393825" cy="950595"/>
          </a:xfrm>
          <a:prstGeom prst="rect">
            <a:avLst/>
          </a:prstGeom>
          <a:noFill/>
          <a:ln>
            <a:noFill/>
          </a:ln>
        </p:spPr>
      </p:pic>
      <p:cxnSp>
        <p:nvCxnSpPr>
          <p:cNvPr id="26" name="Straight Connector 25">
            <a:extLst>
              <a:ext uri="{FF2B5EF4-FFF2-40B4-BE49-F238E27FC236}">
                <a16:creationId xmlns:a16="http://schemas.microsoft.com/office/drawing/2014/main" id="{888E313F-3E00-D837-9F58-8E709A4EE0D3}"/>
              </a:ext>
            </a:extLst>
          </p:cNvPr>
          <p:cNvCxnSpPr>
            <a:cxnSpLocks/>
          </p:cNvCxnSpPr>
          <p:nvPr/>
        </p:nvCxnSpPr>
        <p:spPr>
          <a:xfrm>
            <a:off x="5680129" y="1995639"/>
            <a:ext cx="0" cy="412213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8" name="TextBox 27">
            <a:extLst>
              <a:ext uri="{FF2B5EF4-FFF2-40B4-BE49-F238E27FC236}">
                <a16:creationId xmlns:a16="http://schemas.microsoft.com/office/drawing/2014/main" id="{8ACFB3EA-A7CC-AEE1-674A-5005D8A4F1EC}"/>
              </a:ext>
            </a:extLst>
          </p:cNvPr>
          <p:cNvSpPr txBox="1"/>
          <p:nvPr/>
        </p:nvSpPr>
        <p:spPr>
          <a:xfrm>
            <a:off x="6398559" y="2070759"/>
            <a:ext cx="5542239" cy="584775"/>
          </a:xfrm>
          <a:prstGeom prst="rect">
            <a:avLst/>
          </a:prstGeom>
          <a:noFill/>
        </p:spPr>
        <p:txBody>
          <a:bodyPr wrap="square" rtlCol="0">
            <a:spAutoFit/>
          </a:bodyPr>
          <a:lstStyle/>
          <a:p>
            <a:pPr algn="r"/>
            <a:r>
              <a:rPr lang="ar-SA" sz="1600" b="1" dirty="0">
                <a:solidFill>
                  <a:srgbClr val="C00000"/>
                </a:solidFill>
              </a:rPr>
              <a:t>اقرأ </a:t>
            </a:r>
            <a:r>
              <a:rPr lang="ar-SA" sz="1600" b="1" u="sng" dirty="0">
                <a:solidFill>
                  <a:srgbClr val="C00000"/>
                </a:solidFill>
              </a:rPr>
              <a:t>النص الشعري</a:t>
            </a:r>
            <a:r>
              <a:rPr lang="ar-SA" sz="1600" b="1" dirty="0">
                <a:solidFill>
                  <a:srgbClr val="C00000"/>
                </a:solidFill>
              </a:rPr>
              <a:t> الآتي للشاعر ( المتنبي ) يفخر بشجاعته في الحروب  </a:t>
            </a:r>
          </a:p>
          <a:p>
            <a:pPr algn="r"/>
            <a:r>
              <a:rPr lang="ar-SA" sz="1600" b="1" dirty="0">
                <a:solidFill>
                  <a:srgbClr val="C00000"/>
                </a:solidFill>
              </a:rPr>
              <a:t>ثم أجب عما يليه من أسئلة .................</a:t>
            </a:r>
            <a:endParaRPr lang="en-US" sz="1600" b="1" dirty="0">
              <a:solidFill>
                <a:srgbClr val="C00000"/>
              </a:solidFill>
            </a:endParaRPr>
          </a:p>
        </p:txBody>
      </p:sp>
      <p:sp>
        <p:nvSpPr>
          <p:cNvPr id="29" name="TextBox 28">
            <a:extLst>
              <a:ext uri="{FF2B5EF4-FFF2-40B4-BE49-F238E27FC236}">
                <a16:creationId xmlns:a16="http://schemas.microsoft.com/office/drawing/2014/main" id="{BF7A1D08-BBF3-147F-A8DE-E692AED98A01}"/>
              </a:ext>
            </a:extLst>
          </p:cNvPr>
          <p:cNvSpPr txBox="1"/>
          <p:nvPr/>
        </p:nvSpPr>
        <p:spPr>
          <a:xfrm>
            <a:off x="10306036" y="2837164"/>
            <a:ext cx="1813302" cy="400110"/>
          </a:xfrm>
          <a:prstGeom prst="rect">
            <a:avLst/>
          </a:prstGeom>
          <a:noFill/>
        </p:spPr>
        <p:txBody>
          <a:bodyPr wrap="square" rtlCol="0">
            <a:spAutoFit/>
          </a:bodyPr>
          <a:lstStyle/>
          <a:p>
            <a:r>
              <a:rPr lang="ar-SA" sz="2000" b="1" dirty="0">
                <a:highlight>
                  <a:srgbClr val="00FF00"/>
                </a:highlight>
              </a:rPr>
              <a:t>فروسية شاعر </a:t>
            </a:r>
            <a:endParaRPr lang="en-US" sz="2000" b="1" dirty="0">
              <a:highlight>
                <a:srgbClr val="00FF00"/>
              </a:highlight>
            </a:endParaRPr>
          </a:p>
        </p:txBody>
      </p:sp>
      <p:pic>
        <p:nvPicPr>
          <p:cNvPr id="31" name="Picture 30" descr="أبو الطيب المتنبي - ويكيبيديا">
            <a:extLst>
              <a:ext uri="{FF2B5EF4-FFF2-40B4-BE49-F238E27FC236}">
                <a16:creationId xmlns:a16="http://schemas.microsoft.com/office/drawing/2014/main" id="{D8CA1403-C487-86B3-387B-CB534259D41B}"/>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783207" y="2070758"/>
            <a:ext cx="1178890" cy="1294668"/>
          </a:xfrm>
          <a:prstGeom prst="rect">
            <a:avLst/>
          </a:prstGeom>
          <a:noFill/>
          <a:ln>
            <a:noFill/>
          </a:ln>
        </p:spPr>
      </p:pic>
      <p:sp>
        <p:nvSpPr>
          <p:cNvPr id="37" name="Arrow: Left 36">
            <a:extLst>
              <a:ext uri="{FF2B5EF4-FFF2-40B4-BE49-F238E27FC236}">
                <a16:creationId xmlns:a16="http://schemas.microsoft.com/office/drawing/2014/main" id="{17ED8A92-C875-351F-C1D5-83E86B9D2D6D}"/>
              </a:ext>
            </a:extLst>
          </p:cNvPr>
          <p:cNvSpPr/>
          <p:nvPr/>
        </p:nvSpPr>
        <p:spPr>
          <a:xfrm>
            <a:off x="4157272" y="2856414"/>
            <a:ext cx="1317481" cy="584773"/>
          </a:xfrm>
          <a:prstGeom prst="lef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ar-SA" b="1" dirty="0"/>
              <a:t>المهارة</a:t>
            </a:r>
            <a:endParaRPr lang="en-US" b="1" dirty="0"/>
          </a:p>
        </p:txBody>
      </p:sp>
      <p:sp>
        <p:nvSpPr>
          <p:cNvPr id="40" name="Rectangle 39">
            <a:extLst>
              <a:ext uri="{FF2B5EF4-FFF2-40B4-BE49-F238E27FC236}">
                <a16:creationId xmlns:a16="http://schemas.microsoft.com/office/drawing/2014/main" id="{72C9D5B1-A28F-011A-D979-A61868700687}"/>
              </a:ext>
            </a:extLst>
          </p:cNvPr>
          <p:cNvSpPr/>
          <p:nvPr/>
        </p:nvSpPr>
        <p:spPr>
          <a:xfrm>
            <a:off x="5840372" y="5344735"/>
            <a:ext cx="6191386" cy="121920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r" rtl="1">
              <a:lnSpc>
                <a:spcPct val="115000"/>
              </a:lnSpc>
              <a:spcAft>
                <a:spcPts val="800"/>
              </a:spcAft>
              <a:buNone/>
            </a:pPr>
            <a:r>
              <a:rPr lang="en-US" sz="1200" b="1" kern="100" dirty="0">
                <a:effectLst/>
                <a:latin typeface="Arial" panose="020B0604020202020204" pitchFamily="34" charset="0"/>
                <a:ea typeface="Aptos" panose="020B0004020202020204" pitchFamily="34" charset="0"/>
                <a:cs typeface="Arial" panose="020B0604020202020204" pitchFamily="34" charset="0"/>
              </a:rPr>
              <a:t> </a:t>
            </a:r>
            <a:r>
              <a:rPr lang="ar-SA" sz="1050" b="1" kern="100" dirty="0">
                <a:effectLst/>
                <a:latin typeface="Arial" panose="020B0604020202020204" pitchFamily="34" charset="0"/>
                <a:ea typeface="Aptos" panose="020B0004020202020204" pitchFamily="34" charset="0"/>
                <a:cs typeface="Arial" panose="020B0604020202020204" pitchFamily="34" charset="0"/>
              </a:rPr>
              <a:t>الخيل والليل والبيداء:</a:t>
            </a:r>
            <a:r>
              <a:rPr lang="ar-SA" sz="1050" b="1" kern="100" dirty="0">
                <a:effectLst/>
                <a:ea typeface="Aptos" panose="020B0004020202020204" pitchFamily="34" charset="0"/>
                <a:cs typeface="Arial" panose="020B0604020202020204" pitchFamily="34" charset="0"/>
              </a:rPr>
              <a:t> رموز للشجاعة والمغامرة (الخيل: الحرب، الليل: الصبر، البيداء: الصحراء)</a:t>
            </a:r>
            <a:endParaRPr lang="en-US" sz="1050" b="1" kern="100" dirty="0">
              <a:effectLst/>
              <a:ea typeface="Aptos" panose="020B0004020202020204" pitchFamily="34" charset="0"/>
              <a:cs typeface="Arial" panose="020B0604020202020204" pitchFamily="34" charset="0"/>
            </a:endParaRPr>
          </a:p>
          <a:p>
            <a:pPr marL="0" marR="0" algn="r">
              <a:lnSpc>
                <a:spcPct val="115000"/>
              </a:lnSpc>
              <a:spcAft>
                <a:spcPts val="800"/>
              </a:spcAft>
              <a:buNone/>
            </a:pPr>
            <a:r>
              <a:rPr lang="ar-SA" sz="1050" b="1" kern="100" dirty="0">
                <a:effectLst/>
                <a:ea typeface="Aptos" panose="020B0004020202020204" pitchFamily="34" charset="0"/>
                <a:cs typeface="Arial" panose="020B0604020202020204" pitchFamily="34" charset="0"/>
              </a:rPr>
              <a:t>دلالة على العلم والفكر      الفلوات : الصحارى الواسعة          القَفر والأكم:  الأرض الخالية والتلال القرطاس والقلم:</a:t>
            </a:r>
            <a:endParaRPr lang="en-US" sz="1050" b="1" kern="100" dirty="0">
              <a:effectLst/>
              <a:ea typeface="Aptos" panose="020B0004020202020204" pitchFamily="34" charset="0"/>
              <a:cs typeface="Arial" panose="020B0604020202020204" pitchFamily="34" charset="0"/>
            </a:endParaRPr>
          </a:p>
          <a:p>
            <a:pPr marL="0" marR="0" algn="r">
              <a:lnSpc>
                <a:spcPct val="115000"/>
              </a:lnSpc>
              <a:spcAft>
                <a:spcPts val="800"/>
              </a:spcAft>
              <a:buNone/>
            </a:pPr>
            <a:r>
              <a:rPr lang="ar-SA" sz="1050" b="1" kern="100" dirty="0">
                <a:effectLst/>
                <a:ea typeface="Aptos" panose="020B0004020202020204" pitchFamily="34" charset="0"/>
                <a:cs typeface="Arial" panose="020B0604020202020204" pitchFamily="34" charset="0"/>
              </a:rPr>
              <a:t>يخترم الجسيم نحافة: يجعل الجسد النحيل قويًا بالإرادة  -  يُهرم: يُصيب بالشيخوخة  -  أواري في التراب عظمي: أي لا يستسلم حتى الموت</a:t>
            </a:r>
            <a:r>
              <a:rPr lang="en-US" sz="1200" b="1" kern="100" dirty="0">
                <a:effectLst/>
                <a:ea typeface="Aptos" panose="020B0004020202020204" pitchFamily="34" charset="0"/>
                <a:cs typeface="Arial" panose="020B0604020202020204" pitchFamily="34" charset="0"/>
              </a:rPr>
              <a:t>.</a:t>
            </a:r>
            <a:endParaRPr lang="en-US" sz="1200" kern="100" dirty="0">
              <a:effectLst/>
              <a:ea typeface="Aptos" panose="020B0004020202020204" pitchFamily="34" charset="0"/>
              <a:cs typeface="Arial" panose="020B0604020202020204" pitchFamily="34" charset="0"/>
            </a:endParaRPr>
          </a:p>
        </p:txBody>
      </p:sp>
      <p:sp>
        <p:nvSpPr>
          <p:cNvPr id="41" name="Text Box 13">
            <a:extLst>
              <a:ext uri="{FF2B5EF4-FFF2-40B4-BE49-F238E27FC236}">
                <a16:creationId xmlns:a16="http://schemas.microsoft.com/office/drawing/2014/main" id="{50E82C9D-C4FC-F95E-E4A5-6ADBE9B52A3C}"/>
              </a:ext>
            </a:extLst>
          </p:cNvPr>
          <p:cNvSpPr txBox="1"/>
          <p:nvPr/>
        </p:nvSpPr>
        <p:spPr>
          <a:xfrm>
            <a:off x="10378698" y="5011392"/>
            <a:ext cx="1562100" cy="470535"/>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Aft>
                <a:spcPts val="800"/>
              </a:spcAft>
              <a:buNone/>
            </a:pPr>
            <a:r>
              <a:rPr lang="ar-SA" sz="2000" b="1" kern="100">
                <a:effectLst/>
                <a:latin typeface="Aptos" panose="020B0004020202020204" pitchFamily="34" charset="0"/>
                <a:ea typeface="Aptos" panose="020B0004020202020204" pitchFamily="34" charset="0"/>
                <a:cs typeface="Arial" panose="020B0604020202020204" pitchFamily="34" charset="0"/>
              </a:rPr>
              <a:t>معاني المفردات</a:t>
            </a:r>
            <a:endParaRPr lang="en-US" sz="1200" kern="100">
              <a:effectLst/>
              <a:latin typeface="Aptos" panose="020B0004020202020204" pitchFamily="34" charset="0"/>
              <a:ea typeface="Aptos" panose="020B00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12644E5E-162C-EE69-F464-DA341B816733}"/>
              </a:ext>
            </a:extLst>
          </p:cNvPr>
          <p:cNvSpPr txBox="1"/>
          <p:nvPr/>
        </p:nvSpPr>
        <p:spPr>
          <a:xfrm>
            <a:off x="3979864" y="2077351"/>
            <a:ext cx="1597188" cy="400110"/>
          </a:xfrm>
          <a:prstGeom prst="rect">
            <a:avLst/>
          </a:prstGeom>
          <a:noFill/>
        </p:spPr>
        <p:txBody>
          <a:bodyPr wrap="square">
            <a:spAutoFit/>
          </a:bodyPr>
          <a:lstStyle/>
          <a:p>
            <a:r>
              <a:rPr lang="ar-SA" sz="2000" b="1" i="0" u="none" strike="noStrike" baseline="0" dirty="0">
                <a:highlight>
                  <a:srgbClr val="FF00FF"/>
                </a:highlight>
                <a:latin typeface="SakkalMajalla-Bold"/>
              </a:rPr>
              <a:t>الفهمُ والاستيعابُ</a:t>
            </a:r>
            <a:endParaRPr lang="en-US" sz="5400" b="1" dirty="0">
              <a:highlight>
                <a:srgbClr val="FF00FF"/>
              </a:highlight>
            </a:endParaRPr>
          </a:p>
        </p:txBody>
      </p:sp>
      <p:sp>
        <p:nvSpPr>
          <p:cNvPr id="46" name="TextBox 45">
            <a:extLst>
              <a:ext uri="{FF2B5EF4-FFF2-40B4-BE49-F238E27FC236}">
                <a16:creationId xmlns:a16="http://schemas.microsoft.com/office/drawing/2014/main" id="{363822D4-B117-019D-2E53-3B282A7DE75D}"/>
              </a:ext>
            </a:extLst>
          </p:cNvPr>
          <p:cNvSpPr txBox="1"/>
          <p:nvPr/>
        </p:nvSpPr>
        <p:spPr>
          <a:xfrm>
            <a:off x="195246" y="3700118"/>
            <a:ext cx="5382584" cy="1086836"/>
          </a:xfrm>
          <a:prstGeom prst="rect">
            <a:avLst/>
          </a:prstGeom>
          <a:noFill/>
        </p:spPr>
        <p:txBody>
          <a:bodyPr wrap="square">
            <a:spAutoFit/>
          </a:bodyPr>
          <a:lstStyle/>
          <a:p>
            <a:pPr algn="r" rtl="1">
              <a:lnSpc>
                <a:spcPct val="115000"/>
              </a:lnSpc>
              <a:spcAft>
                <a:spcPts val="800"/>
              </a:spcAft>
            </a:pPr>
            <a:r>
              <a:rPr lang="ar-SA" sz="2400" b="1" dirty="0">
                <a:solidFill>
                  <a:srgbClr val="C00000"/>
                </a:solidFill>
              </a:rPr>
              <a:t>3- ما الشعور العاطفي السائد في النص الشعري.</a:t>
            </a:r>
            <a:endParaRPr lang="ar-SA" sz="2800" b="1" kern="100" dirty="0">
              <a:solidFill>
                <a:srgbClr val="C00000"/>
              </a:solidFill>
              <a:effectLst/>
              <a:latin typeface="Aptos" panose="020B0004020202020204" pitchFamily="34" charset="0"/>
              <a:ea typeface="Aptos" panose="020B0004020202020204" pitchFamily="34" charset="0"/>
              <a:cs typeface="Arial" panose="020B0604020202020204" pitchFamily="34" charset="0"/>
            </a:endParaRPr>
          </a:p>
          <a:p>
            <a:pPr algn="r" rtl="1">
              <a:lnSpc>
                <a:spcPct val="115000"/>
              </a:lnSpc>
              <a:spcAft>
                <a:spcPts val="800"/>
              </a:spcAft>
            </a:pPr>
            <a:r>
              <a:rPr lang="ar-SA" sz="2800" b="1" kern="100" dirty="0">
                <a:latin typeface="Aptos" panose="020B0004020202020204" pitchFamily="34" charset="0"/>
                <a:ea typeface="Aptos" panose="020B0004020202020204" pitchFamily="34" charset="0"/>
                <a:cs typeface="Arial" panose="020B0604020202020204" pitchFamily="34" charset="0"/>
              </a:rPr>
              <a:t>ج – </a:t>
            </a:r>
            <a:r>
              <a:rPr lang="ar-SA" b="1" dirty="0"/>
              <a:t>الفخر – الاعتزاز بالنفس  – الشجاعة  - القوة  </a:t>
            </a:r>
            <a:endParaRPr lang="ar-SA" sz="2800" b="1" kern="100" dirty="0">
              <a:latin typeface="Aptos" panose="020B0004020202020204" pitchFamily="34" charset="0"/>
              <a:ea typeface="Aptos" panose="020B00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039651E4-454D-F059-2336-09DE54936DC6}"/>
              </a:ext>
            </a:extLst>
          </p:cNvPr>
          <p:cNvSpPr txBox="1"/>
          <p:nvPr/>
        </p:nvSpPr>
        <p:spPr>
          <a:xfrm>
            <a:off x="4501242" y="2638792"/>
            <a:ext cx="1178887" cy="338554"/>
          </a:xfrm>
          <a:prstGeom prst="rect">
            <a:avLst/>
          </a:prstGeom>
          <a:noFill/>
        </p:spPr>
        <p:txBody>
          <a:bodyPr wrap="square">
            <a:spAutoFit/>
          </a:bodyPr>
          <a:lstStyle/>
          <a:p>
            <a:r>
              <a:rPr lang="ar-SA" sz="1600" b="1" i="0" u="none" strike="noStrike" baseline="0" dirty="0">
                <a:latin typeface="SakkalMajalla-Bold"/>
              </a:rPr>
              <a:t>سُؤالٌ مقاليٌّ</a:t>
            </a:r>
            <a:endParaRPr lang="en-US" sz="4400" b="1" dirty="0"/>
          </a:p>
        </p:txBody>
      </p:sp>
      <p:pic>
        <p:nvPicPr>
          <p:cNvPr id="6" name="Picture 5">
            <a:extLst>
              <a:ext uri="{FF2B5EF4-FFF2-40B4-BE49-F238E27FC236}">
                <a16:creationId xmlns:a16="http://schemas.microsoft.com/office/drawing/2014/main" id="{31CC6BD0-7D66-939F-C40C-0F11D5679791}"/>
              </a:ext>
            </a:extLst>
          </p:cNvPr>
          <p:cNvPicPr>
            <a:picLocks noChangeAspect="1"/>
          </p:cNvPicPr>
          <p:nvPr/>
        </p:nvPicPr>
        <p:blipFill>
          <a:blip r:embed="rId6"/>
          <a:stretch>
            <a:fillRect/>
          </a:stretch>
        </p:blipFill>
        <p:spPr>
          <a:xfrm>
            <a:off x="643485" y="2563721"/>
            <a:ext cx="3353545" cy="877466"/>
          </a:xfrm>
          <a:prstGeom prst="rect">
            <a:avLst/>
          </a:prstGeom>
        </p:spPr>
      </p:pic>
      <p:sp>
        <p:nvSpPr>
          <p:cNvPr id="7" name="TextBox 6">
            <a:extLst>
              <a:ext uri="{FF2B5EF4-FFF2-40B4-BE49-F238E27FC236}">
                <a16:creationId xmlns:a16="http://schemas.microsoft.com/office/drawing/2014/main" id="{6B471831-7CB9-0993-835F-256F7A3A3FDD}"/>
              </a:ext>
            </a:extLst>
          </p:cNvPr>
          <p:cNvSpPr txBox="1"/>
          <p:nvPr/>
        </p:nvSpPr>
        <p:spPr>
          <a:xfrm>
            <a:off x="4186100" y="1809386"/>
            <a:ext cx="6449784" cy="276999"/>
          </a:xfrm>
          <a:prstGeom prst="rect">
            <a:avLst/>
          </a:prstGeom>
          <a:noFill/>
        </p:spPr>
        <p:txBody>
          <a:bodyPr wrap="square">
            <a:spAutoFit/>
          </a:bodyPr>
          <a:lstStyle/>
          <a:p>
            <a:r>
              <a:rPr lang="ar-SA" sz="1200" b="1" i="0" u="none" strike="noStrike" baseline="0" dirty="0">
                <a:highlight>
                  <a:srgbClr val="00FF00"/>
                </a:highlight>
                <a:latin typeface="SakkalMajalla-Bold"/>
              </a:rPr>
              <a:t>نص شعريّ خارجيٌّ</a:t>
            </a:r>
            <a:endParaRPr lang="en-US" sz="3600" b="1" dirty="0">
              <a:highlight>
                <a:srgbClr val="00FF00"/>
              </a:highlight>
            </a:endParaRPr>
          </a:p>
        </p:txBody>
      </p:sp>
      <p:sp>
        <p:nvSpPr>
          <p:cNvPr id="10" name="TextBox 9">
            <a:extLst>
              <a:ext uri="{FF2B5EF4-FFF2-40B4-BE49-F238E27FC236}">
                <a16:creationId xmlns:a16="http://schemas.microsoft.com/office/drawing/2014/main" id="{84DCDB2B-0D7F-985A-A955-3DD7F52533D7}"/>
              </a:ext>
            </a:extLst>
          </p:cNvPr>
          <p:cNvSpPr txBox="1"/>
          <p:nvPr/>
        </p:nvSpPr>
        <p:spPr>
          <a:xfrm>
            <a:off x="474646" y="6351069"/>
            <a:ext cx="5205483" cy="400110"/>
          </a:xfrm>
          <a:prstGeom prst="rect">
            <a:avLst/>
          </a:prstGeom>
          <a:noFill/>
        </p:spPr>
        <p:txBody>
          <a:bodyPr wrap="square" rtlCol="0">
            <a:spAutoFit/>
          </a:bodyPr>
          <a:lstStyle/>
          <a:p>
            <a:r>
              <a:rPr lang="ar-SA" sz="2000" b="1" dirty="0">
                <a:solidFill>
                  <a:srgbClr val="CB6792"/>
                </a:solidFill>
              </a:rPr>
              <a:t>إعداد... أ: شيخة السويدي</a:t>
            </a:r>
            <a:endParaRPr lang="en-US" sz="2000" b="1" dirty="0">
              <a:solidFill>
                <a:srgbClr val="CB6792"/>
              </a:solidFill>
            </a:endParaRPr>
          </a:p>
        </p:txBody>
      </p:sp>
    </p:spTree>
    <p:extLst>
      <p:ext uri="{BB962C8B-B14F-4D97-AF65-F5344CB8AC3E}">
        <p14:creationId xmlns:p14="http://schemas.microsoft.com/office/powerpoint/2010/main" val="494836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8AE9E-403D-497A-AC7B-E098AF76C0F7}"/>
            </a:ext>
          </a:extLst>
        </p:cNvPr>
        <p:cNvGrpSpPr/>
        <p:nvPr/>
      </p:nvGrpSpPr>
      <p:grpSpPr>
        <a:xfrm>
          <a:off x="0" y="0"/>
          <a:ext cx="0" cy="0"/>
          <a:chOff x="0" y="0"/>
          <a:chExt cx="0" cy="0"/>
        </a:xfrm>
      </p:grpSpPr>
      <p:pic>
        <p:nvPicPr>
          <p:cNvPr id="5" name="Picture 4" descr="A logo with a feather and a book&#10;&#10;AI-generated content may be incorrect.">
            <a:extLst>
              <a:ext uri="{FF2B5EF4-FFF2-40B4-BE49-F238E27FC236}">
                <a16:creationId xmlns:a16="http://schemas.microsoft.com/office/drawing/2014/main" id="{00A2843D-3827-356D-5ACF-F96A1116A78B}"/>
              </a:ext>
            </a:extLst>
          </p:cNvPr>
          <p:cNvPicPr>
            <a:picLocks noChangeAspect="1"/>
          </p:cNvPicPr>
          <p:nvPr/>
        </p:nvPicPr>
        <p:blipFill>
          <a:blip r:embed="rId3">
            <a:extLst>
              <a:ext uri="{28A0092B-C50C-407E-A947-70E740481C1C}">
                <a14:useLocalDpi xmlns:a14="http://schemas.microsoft.com/office/drawing/2010/main" val="0"/>
              </a:ext>
            </a:extLst>
          </a:blip>
          <a:srcRect t="18752" r="-1" b="-1"/>
          <a:stretch>
            <a:fillRect/>
          </a:stretch>
        </p:blipFill>
        <p:spPr>
          <a:xfrm>
            <a:off x="3068" y="9"/>
            <a:ext cx="12188932" cy="2011073"/>
          </a:xfrm>
          <a:prstGeom prst="rect">
            <a:avLst/>
          </a:prstGeom>
        </p:spPr>
      </p:pic>
      <p:sp>
        <p:nvSpPr>
          <p:cNvPr id="8" name="TextBox 7">
            <a:extLst>
              <a:ext uri="{FF2B5EF4-FFF2-40B4-BE49-F238E27FC236}">
                <a16:creationId xmlns:a16="http://schemas.microsoft.com/office/drawing/2014/main" id="{874B7081-6922-5376-DE5B-9ABCC8D9398B}"/>
              </a:ext>
            </a:extLst>
          </p:cNvPr>
          <p:cNvSpPr txBox="1"/>
          <p:nvPr/>
        </p:nvSpPr>
        <p:spPr>
          <a:xfrm>
            <a:off x="6015460" y="3411301"/>
            <a:ext cx="6016369" cy="1200329"/>
          </a:xfrm>
          <a:prstGeom prst="rect">
            <a:avLst/>
          </a:prstGeom>
          <a:noFill/>
        </p:spPr>
        <p:txBody>
          <a:bodyPr wrap="square">
            <a:spAutoFit/>
          </a:bodyPr>
          <a:lstStyle/>
          <a:p>
            <a:pPr algn="r"/>
            <a:r>
              <a:rPr lang="ar-SA" b="1" dirty="0"/>
              <a:t>1-الخيلُ والليلُ والبيداءُ تعرفني   . .......   والسيفُ والرمحُ والقرطاسُ والقلم</a:t>
            </a:r>
            <a:endParaRPr lang="en-US" b="1" dirty="0"/>
          </a:p>
          <a:p>
            <a:pPr algn="r"/>
            <a:r>
              <a:rPr lang="ar-SA" b="1" dirty="0"/>
              <a:t>2-صحِبتُ في الفَلواتِ الوحشَ منفردًا  .....  حتى تعجّبَ مني القَفرُ والأكمُ</a:t>
            </a:r>
            <a:br>
              <a:rPr lang="en-US" b="1" dirty="0"/>
            </a:br>
            <a:r>
              <a:rPr lang="ar-SA" b="1" dirty="0"/>
              <a:t>3-والهمُّ يخترمُ الجَسيمَ نَحافةً   .........     ويُشيبُ ناصيةَ الصبيِّ ويهرم</a:t>
            </a:r>
            <a:endParaRPr lang="en-US" b="1" dirty="0"/>
          </a:p>
          <a:p>
            <a:pPr algn="r"/>
            <a:r>
              <a:rPr lang="ar-SA" b="1" dirty="0"/>
              <a:t>لا تَحمَدِ الأعداءُ فيَّ كرامةً  ..........     حتى أُوارِيَ في التُّرابِ أعَظُمِي</a:t>
            </a:r>
            <a:r>
              <a:rPr lang="en-US" sz="1800" b="1" kern="100" dirty="0">
                <a:effectLst/>
                <a:latin typeface="Aptos" panose="020B0004020202020204" pitchFamily="34" charset="0"/>
                <a:ea typeface="Aptos" panose="020B0004020202020204" pitchFamily="34" charset="0"/>
                <a:cs typeface="Arial" panose="020B0604020202020204" pitchFamily="34" charset="0"/>
              </a:rPr>
              <a:t> </a:t>
            </a:r>
            <a:r>
              <a:rPr lang="ar-SA" sz="1800" b="1" kern="100" dirty="0">
                <a:effectLst/>
                <a:latin typeface="Aptos" panose="020B0004020202020204" pitchFamily="34" charset="0"/>
                <a:ea typeface="Aptos" panose="020B0004020202020204" pitchFamily="34" charset="0"/>
                <a:cs typeface="Arial" panose="020B0604020202020204" pitchFamily="34" charset="0"/>
              </a:rPr>
              <a:t>4-</a:t>
            </a:r>
            <a:endParaRPr lang="en-US" sz="1600" b="1"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C55511C3-8266-15AE-C583-6883CDEA0CD3}"/>
              </a:ext>
            </a:extLst>
          </p:cNvPr>
          <p:cNvSpPr txBox="1"/>
          <p:nvPr/>
        </p:nvSpPr>
        <p:spPr>
          <a:xfrm>
            <a:off x="9957661" y="309966"/>
            <a:ext cx="1914041" cy="369332"/>
          </a:xfrm>
          <a:prstGeom prst="rect">
            <a:avLst/>
          </a:prstGeom>
          <a:noFill/>
        </p:spPr>
        <p:txBody>
          <a:bodyPr wrap="square" rtlCol="0">
            <a:spAutoFit/>
          </a:bodyPr>
          <a:lstStyle/>
          <a:p>
            <a:r>
              <a:rPr lang="ar-SA" dirty="0"/>
              <a:t>مدرسة الشوامخ ح2-3</a:t>
            </a:r>
            <a:endParaRPr lang="en-US" dirty="0"/>
          </a:p>
        </p:txBody>
      </p:sp>
      <p:pic>
        <p:nvPicPr>
          <p:cNvPr id="11" name="Picture 10" descr="التربية والتعليم» تعلن هويتها المرئية الجديدة | صحيفة الخليج">
            <a:extLst>
              <a:ext uri="{FF2B5EF4-FFF2-40B4-BE49-F238E27FC236}">
                <a16:creationId xmlns:a16="http://schemas.microsoft.com/office/drawing/2014/main" id="{FA28203E-A4C9-372B-6132-3D0E12EA720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28" y="0"/>
            <a:ext cx="1393825" cy="950595"/>
          </a:xfrm>
          <a:prstGeom prst="rect">
            <a:avLst/>
          </a:prstGeom>
          <a:noFill/>
          <a:ln>
            <a:noFill/>
          </a:ln>
        </p:spPr>
      </p:pic>
      <p:cxnSp>
        <p:nvCxnSpPr>
          <p:cNvPr id="26" name="Straight Connector 25">
            <a:extLst>
              <a:ext uri="{FF2B5EF4-FFF2-40B4-BE49-F238E27FC236}">
                <a16:creationId xmlns:a16="http://schemas.microsoft.com/office/drawing/2014/main" id="{FB7186D4-76A5-1EB4-4E41-EAA3E55B7290}"/>
              </a:ext>
            </a:extLst>
          </p:cNvPr>
          <p:cNvCxnSpPr>
            <a:cxnSpLocks/>
          </p:cNvCxnSpPr>
          <p:nvPr/>
        </p:nvCxnSpPr>
        <p:spPr>
          <a:xfrm>
            <a:off x="5680129" y="1995639"/>
            <a:ext cx="0" cy="412213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8" name="TextBox 27">
            <a:extLst>
              <a:ext uri="{FF2B5EF4-FFF2-40B4-BE49-F238E27FC236}">
                <a16:creationId xmlns:a16="http://schemas.microsoft.com/office/drawing/2014/main" id="{4BD4E60C-43B8-5E10-38DA-A83AC36F4DCF}"/>
              </a:ext>
            </a:extLst>
          </p:cNvPr>
          <p:cNvSpPr txBox="1"/>
          <p:nvPr/>
        </p:nvSpPr>
        <p:spPr>
          <a:xfrm>
            <a:off x="6398559" y="2070759"/>
            <a:ext cx="5542239" cy="584775"/>
          </a:xfrm>
          <a:prstGeom prst="rect">
            <a:avLst/>
          </a:prstGeom>
          <a:noFill/>
        </p:spPr>
        <p:txBody>
          <a:bodyPr wrap="square" rtlCol="0">
            <a:spAutoFit/>
          </a:bodyPr>
          <a:lstStyle/>
          <a:p>
            <a:pPr algn="r"/>
            <a:r>
              <a:rPr lang="ar-SA" sz="1600" b="1" dirty="0">
                <a:solidFill>
                  <a:srgbClr val="C00000"/>
                </a:solidFill>
              </a:rPr>
              <a:t>اقرأ </a:t>
            </a:r>
            <a:r>
              <a:rPr lang="ar-SA" sz="1600" b="1" u="sng" dirty="0">
                <a:solidFill>
                  <a:srgbClr val="C00000"/>
                </a:solidFill>
              </a:rPr>
              <a:t>النص الشعري</a:t>
            </a:r>
            <a:r>
              <a:rPr lang="ar-SA" sz="1600" b="1" dirty="0">
                <a:solidFill>
                  <a:srgbClr val="C00000"/>
                </a:solidFill>
              </a:rPr>
              <a:t> الآتي للشاعر ( المتنبي ) يفخر بشجاعته في الحروب  </a:t>
            </a:r>
          </a:p>
          <a:p>
            <a:pPr algn="r"/>
            <a:r>
              <a:rPr lang="ar-SA" sz="1600" b="1" dirty="0">
                <a:solidFill>
                  <a:srgbClr val="C00000"/>
                </a:solidFill>
              </a:rPr>
              <a:t>ثم أجب عما يليه من أسئلة .................</a:t>
            </a:r>
            <a:endParaRPr lang="en-US" sz="1600" b="1" dirty="0">
              <a:solidFill>
                <a:srgbClr val="C00000"/>
              </a:solidFill>
            </a:endParaRPr>
          </a:p>
        </p:txBody>
      </p:sp>
      <p:sp>
        <p:nvSpPr>
          <p:cNvPr id="29" name="TextBox 28">
            <a:extLst>
              <a:ext uri="{FF2B5EF4-FFF2-40B4-BE49-F238E27FC236}">
                <a16:creationId xmlns:a16="http://schemas.microsoft.com/office/drawing/2014/main" id="{9F9CE5DB-F920-F861-DC4E-3369FFF1DD26}"/>
              </a:ext>
            </a:extLst>
          </p:cNvPr>
          <p:cNvSpPr txBox="1"/>
          <p:nvPr/>
        </p:nvSpPr>
        <p:spPr>
          <a:xfrm>
            <a:off x="10306036" y="2837164"/>
            <a:ext cx="1813302" cy="400110"/>
          </a:xfrm>
          <a:prstGeom prst="rect">
            <a:avLst/>
          </a:prstGeom>
          <a:noFill/>
        </p:spPr>
        <p:txBody>
          <a:bodyPr wrap="square" rtlCol="0">
            <a:spAutoFit/>
          </a:bodyPr>
          <a:lstStyle/>
          <a:p>
            <a:r>
              <a:rPr lang="ar-SA" sz="2000" b="1" dirty="0">
                <a:highlight>
                  <a:srgbClr val="00FF00"/>
                </a:highlight>
              </a:rPr>
              <a:t>فروسية شاعر </a:t>
            </a:r>
            <a:endParaRPr lang="en-US" sz="2000" b="1" dirty="0">
              <a:highlight>
                <a:srgbClr val="00FF00"/>
              </a:highlight>
            </a:endParaRPr>
          </a:p>
        </p:txBody>
      </p:sp>
      <p:pic>
        <p:nvPicPr>
          <p:cNvPr id="31" name="Picture 30" descr="أبو الطيب المتنبي - ويكيبيديا">
            <a:extLst>
              <a:ext uri="{FF2B5EF4-FFF2-40B4-BE49-F238E27FC236}">
                <a16:creationId xmlns:a16="http://schemas.microsoft.com/office/drawing/2014/main" id="{D37470D8-B283-C2E0-D9F0-3837C9B002DE}"/>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783207" y="2070758"/>
            <a:ext cx="1178890" cy="1294668"/>
          </a:xfrm>
          <a:prstGeom prst="rect">
            <a:avLst/>
          </a:prstGeom>
          <a:noFill/>
          <a:ln>
            <a:noFill/>
          </a:ln>
        </p:spPr>
      </p:pic>
      <p:sp>
        <p:nvSpPr>
          <p:cNvPr id="37" name="Arrow: Left 36">
            <a:extLst>
              <a:ext uri="{FF2B5EF4-FFF2-40B4-BE49-F238E27FC236}">
                <a16:creationId xmlns:a16="http://schemas.microsoft.com/office/drawing/2014/main" id="{5B81F3E9-F567-036A-AB65-9FC4C7779331}"/>
              </a:ext>
            </a:extLst>
          </p:cNvPr>
          <p:cNvSpPr/>
          <p:nvPr/>
        </p:nvSpPr>
        <p:spPr>
          <a:xfrm>
            <a:off x="4157272" y="2856414"/>
            <a:ext cx="1317481" cy="584773"/>
          </a:xfrm>
          <a:prstGeom prst="lef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ar-SA" b="1" dirty="0"/>
              <a:t>المهارة</a:t>
            </a:r>
            <a:endParaRPr lang="en-US" b="1" dirty="0"/>
          </a:p>
        </p:txBody>
      </p:sp>
      <p:sp>
        <p:nvSpPr>
          <p:cNvPr id="40" name="Rectangle 39">
            <a:extLst>
              <a:ext uri="{FF2B5EF4-FFF2-40B4-BE49-F238E27FC236}">
                <a16:creationId xmlns:a16="http://schemas.microsoft.com/office/drawing/2014/main" id="{E77C20FC-D9BB-A1CD-542A-0A3AC112347A}"/>
              </a:ext>
            </a:extLst>
          </p:cNvPr>
          <p:cNvSpPr/>
          <p:nvPr/>
        </p:nvSpPr>
        <p:spPr>
          <a:xfrm>
            <a:off x="5840372" y="5344735"/>
            <a:ext cx="6191386" cy="121920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r" rtl="1">
              <a:lnSpc>
                <a:spcPct val="115000"/>
              </a:lnSpc>
              <a:spcAft>
                <a:spcPts val="800"/>
              </a:spcAft>
              <a:buNone/>
            </a:pPr>
            <a:r>
              <a:rPr lang="en-US" sz="1200" b="1" kern="100" dirty="0">
                <a:effectLst/>
                <a:latin typeface="Arial" panose="020B0604020202020204" pitchFamily="34" charset="0"/>
                <a:ea typeface="Aptos" panose="020B0004020202020204" pitchFamily="34" charset="0"/>
                <a:cs typeface="Arial" panose="020B0604020202020204" pitchFamily="34" charset="0"/>
              </a:rPr>
              <a:t> </a:t>
            </a:r>
            <a:r>
              <a:rPr lang="ar-SA" sz="1050" b="1" kern="100" dirty="0">
                <a:effectLst/>
                <a:latin typeface="Arial" panose="020B0604020202020204" pitchFamily="34" charset="0"/>
                <a:ea typeface="Aptos" panose="020B0004020202020204" pitchFamily="34" charset="0"/>
                <a:cs typeface="Arial" panose="020B0604020202020204" pitchFamily="34" charset="0"/>
              </a:rPr>
              <a:t>الخيل والليل والبيداء:</a:t>
            </a:r>
            <a:r>
              <a:rPr lang="ar-SA" sz="1050" b="1" kern="100" dirty="0">
                <a:effectLst/>
                <a:ea typeface="Aptos" panose="020B0004020202020204" pitchFamily="34" charset="0"/>
                <a:cs typeface="Arial" panose="020B0604020202020204" pitchFamily="34" charset="0"/>
              </a:rPr>
              <a:t> رموز للشجاعة والمغامرة (الخيل: الحرب، الليل: الصبر، البيداء: الصحراء)</a:t>
            </a:r>
            <a:endParaRPr lang="en-US" sz="1050" b="1" kern="100" dirty="0">
              <a:effectLst/>
              <a:ea typeface="Aptos" panose="020B0004020202020204" pitchFamily="34" charset="0"/>
              <a:cs typeface="Arial" panose="020B0604020202020204" pitchFamily="34" charset="0"/>
            </a:endParaRPr>
          </a:p>
          <a:p>
            <a:pPr marL="0" marR="0" algn="r">
              <a:lnSpc>
                <a:spcPct val="115000"/>
              </a:lnSpc>
              <a:spcAft>
                <a:spcPts val="800"/>
              </a:spcAft>
              <a:buNone/>
            </a:pPr>
            <a:r>
              <a:rPr lang="ar-SA" sz="1050" b="1" kern="100" dirty="0">
                <a:effectLst/>
                <a:ea typeface="Aptos" panose="020B0004020202020204" pitchFamily="34" charset="0"/>
                <a:cs typeface="Arial" panose="020B0604020202020204" pitchFamily="34" charset="0"/>
              </a:rPr>
              <a:t>دلالة على العلم والفكر      الفلوات : الصحارى الواسعة          القَفر والأكم:  الأرض الخالية والتلال القرطاس والقلم:</a:t>
            </a:r>
            <a:endParaRPr lang="en-US" sz="1050" b="1" kern="100" dirty="0">
              <a:effectLst/>
              <a:ea typeface="Aptos" panose="020B0004020202020204" pitchFamily="34" charset="0"/>
              <a:cs typeface="Arial" panose="020B0604020202020204" pitchFamily="34" charset="0"/>
            </a:endParaRPr>
          </a:p>
          <a:p>
            <a:pPr marL="0" marR="0" algn="r">
              <a:lnSpc>
                <a:spcPct val="115000"/>
              </a:lnSpc>
              <a:spcAft>
                <a:spcPts val="800"/>
              </a:spcAft>
              <a:buNone/>
            </a:pPr>
            <a:r>
              <a:rPr lang="ar-SA" sz="1050" b="1" kern="100" dirty="0">
                <a:effectLst/>
                <a:ea typeface="Aptos" panose="020B0004020202020204" pitchFamily="34" charset="0"/>
                <a:cs typeface="Arial" panose="020B0604020202020204" pitchFamily="34" charset="0"/>
              </a:rPr>
              <a:t>يخترم الجسيم نحافة: يجعل الجسد النحيل قويًا بالإرادة  -  يُهرم: يُصيب بالشيخوخة  -  أواري في التراب عظمي: أي لا يستسلم حتى الموت</a:t>
            </a:r>
            <a:r>
              <a:rPr lang="en-US" sz="1200" b="1" kern="100" dirty="0">
                <a:effectLst/>
                <a:ea typeface="Aptos" panose="020B0004020202020204" pitchFamily="34" charset="0"/>
                <a:cs typeface="Arial" panose="020B0604020202020204" pitchFamily="34" charset="0"/>
              </a:rPr>
              <a:t>.</a:t>
            </a:r>
            <a:endParaRPr lang="en-US" sz="1200" kern="100" dirty="0">
              <a:effectLst/>
              <a:ea typeface="Aptos" panose="020B0004020202020204" pitchFamily="34" charset="0"/>
              <a:cs typeface="Arial" panose="020B0604020202020204" pitchFamily="34" charset="0"/>
            </a:endParaRPr>
          </a:p>
        </p:txBody>
      </p:sp>
      <p:sp>
        <p:nvSpPr>
          <p:cNvPr id="41" name="Text Box 13">
            <a:extLst>
              <a:ext uri="{FF2B5EF4-FFF2-40B4-BE49-F238E27FC236}">
                <a16:creationId xmlns:a16="http://schemas.microsoft.com/office/drawing/2014/main" id="{308FAE24-8DA9-8BAC-C656-76A96DC2354C}"/>
              </a:ext>
            </a:extLst>
          </p:cNvPr>
          <p:cNvSpPr txBox="1"/>
          <p:nvPr/>
        </p:nvSpPr>
        <p:spPr>
          <a:xfrm>
            <a:off x="10378698" y="5011392"/>
            <a:ext cx="1562100" cy="470535"/>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Aft>
                <a:spcPts val="800"/>
              </a:spcAft>
              <a:buNone/>
            </a:pPr>
            <a:r>
              <a:rPr lang="ar-SA" sz="2000" b="1" kern="100">
                <a:effectLst/>
                <a:latin typeface="Aptos" panose="020B0004020202020204" pitchFamily="34" charset="0"/>
                <a:ea typeface="Aptos" panose="020B0004020202020204" pitchFamily="34" charset="0"/>
                <a:cs typeface="Arial" panose="020B0604020202020204" pitchFamily="34" charset="0"/>
              </a:rPr>
              <a:t>معاني المفردات</a:t>
            </a:r>
            <a:endParaRPr lang="en-US" sz="1200" kern="100">
              <a:effectLst/>
              <a:latin typeface="Aptos" panose="020B0004020202020204" pitchFamily="34" charset="0"/>
              <a:ea typeface="Aptos" panose="020B00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EB648991-77F9-A77B-F21D-BB898D845D85}"/>
              </a:ext>
            </a:extLst>
          </p:cNvPr>
          <p:cNvSpPr txBox="1"/>
          <p:nvPr/>
        </p:nvSpPr>
        <p:spPr>
          <a:xfrm>
            <a:off x="3979864" y="2077351"/>
            <a:ext cx="1597188" cy="400110"/>
          </a:xfrm>
          <a:prstGeom prst="rect">
            <a:avLst/>
          </a:prstGeom>
          <a:noFill/>
        </p:spPr>
        <p:txBody>
          <a:bodyPr wrap="square">
            <a:spAutoFit/>
          </a:bodyPr>
          <a:lstStyle/>
          <a:p>
            <a:r>
              <a:rPr lang="ar-SA" sz="2000" b="1" i="0" u="none" strike="noStrike" baseline="0" dirty="0">
                <a:highlight>
                  <a:srgbClr val="FF00FF"/>
                </a:highlight>
                <a:latin typeface="SakkalMajalla-Bold"/>
              </a:rPr>
              <a:t>الفهمُ والاستيعابُ</a:t>
            </a:r>
            <a:endParaRPr lang="en-US" sz="5400" b="1" dirty="0">
              <a:highlight>
                <a:srgbClr val="FF00FF"/>
              </a:highlight>
            </a:endParaRPr>
          </a:p>
        </p:txBody>
      </p:sp>
      <p:sp>
        <p:nvSpPr>
          <p:cNvPr id="46" name="TextBox 45">
            <a:extLst>
              <a:ext uri="{FF2B5EF4-FFF2-40B4-BE49-F238E27FC236}">
                <a16:creationId xmlns:a16="http://schemas.microsoft.com/office/drawing/2014/main" id="{86A975CD-B417-A7A3-8F15-06B55D8F13A6}"/>
              </a:ext>
            </a:extLst>
          </p:cNvPr>
          <p:cNvSpPr txBox="1"/>
          <p:nvPr/>
        </p:nvSpPr>
        <p:spPr>
          <a:xfrm>
            <a:off x="195246" y="3700118"/>
            <a:ext cx="5382584" cy="2269276"/>
          </a:xfrm>
          <a:prstGeom prst="rect">
            <a:avLst/>
          </a:prstGeom>
          <a:noFill/>
        </p:spPr>
        <p:txBody>
          <a:bodyPr wrap="square">
            <a:spAutoFit/>
          </a:bodyPr>
          <a:lstStyle/>
          <a:p>
            <a:pPr algn="r" rtl="1">
              <a:lnSpc>
                <a:spcPct val="115000"/>
              </a:lnSpc>
              <a:spcAft>
                <a:spcPts val="800"/>
              </a:spcAft>
            </a:pPr>
            <a:r>
              <a:rPr lang="ar-SA" sz="2400" b="1" dirty="0">
                <a:solidFill>
                  <a:srgbClr val="C00000"/>
                </a:solidFill>
              </a:rPr>
              <a:t>4- استنتج اثنين من الأفكار الفرعية في النص.</a:t>
            </a:r>
            <a:endParaRPr lang="ar-SA" sz="2800" b="1" kern="100" dirty="0">
              <a:solidFill>
                <a:srgbClr val="C00000"/>
              </a:solidFill>
              <a:effectLst/>
              <a:latin typeface="Aptos" panose="020B0004020202020204" pitchFamily="34" charset="0"/>
              <a:ea typeface="Aptos" panose="020B0004020202020204" pitchFamily="34" charset="0"/>
              <a:cs typeface="Arial" panose="020B0604020202020204" pitchFamily="34" charset="0"/>
            </a:endParaRPr>
          </a:p>
          <a:p>
            <a:pPr algn="r" rtl="1">
              <a:lnSpc>
                <a:spcPct val="115000"/>
              </a:lnSpc>
              <a:spcAft>
                <a:spcPts val="800"/>
              </a:spcAft>
            </a:pPr>
            <a:r>
              <a:rPr lang="ar-SA" sz="2800" b="1" kern="100" dirty="0">
                <a:latin typeface="Aptos" panose="020B0004020202020204" pitchFamily="34" charset="0"/>
                <a:ea typeface="Aptos" panose="020B0004020202020204" pitchFamily="34" charset="0"/>
                <a:cs typeface="Arial" panose="020B0604020202020204" pitchFamily="34" charset="0"/>
              </a:rPr>
              <a:t>ج – #  الموازنة بين القوة والعلم.</a:t>
            </a:r>
          </a:p>
          <a:p>
            <a:pPr algn="r" rtl="1">
              <a:lnSpc>
                <a:spcPct val="115000"/>
              </a:lnSpc>
              <a:spcAft>
                <a:spcPts val="800"/>
              </a:spcAft>
            </a:pPr>
            <a:r>
              <a:rPr lang="ar-SA" sz="2800" b="1" kern="100" dirty="0">
                <a:latin typeface="Aptos" panose="020B0004020202020204" pitchFamily="34" charset="0"/>
                <a:ea typeface="Aptos" panose="020B0004020202020204" pitchFamily="34" charset="0"/>
                <a:cs typeface="Arial" panose="020B0604020202020204" pitchFamily="34" charset="0"/>
              </a:rPr>
              <a:t>      # الاصرار على مواجهة الصعاب.</a:t>
            </a:r>
          </a:p>
          <a:p>
            <a:pPr algn="r" rtl="1">
              <a:lnSpc>
                <a:spcPct val="115000"/>
              </a:lnSpc>
              <a:spcAft>
                <a:spcPts val="800"/>
              </a:spcAft>
            </a:pPr>
            <a:endParaRPr lang="ar-SA" sz="2800" b="1" kern="100" dirty="0">
              <a:latin typeface="Aptos" panose="020B0004020202020204" pitchFamily="34" charset="0"/>
              <a:ea typeface="Aptos" panose="020B00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A7BA11EA-5FA9-CD86-DBE3-FB41CDDC2085}"/>
              </a:ext>
            </a:extLst>
          </p:cNvPr>
          <p:cNvSpPr txBox="1"/>
          <p:nvPr/>
        </p:nvSpPr>
        <p:spPr>
          <a:xfrm>
            <a:off x="4501242" y="2695328"/>
            <a:ext cx="1178887" cy="338554"/>
          </a:xfrm>
          <a:prstGeom prst="rect">
            <a:avLst/>
          </a:prstGeom>
          <a:noFill/>
        </p:spPr>
        <p:txBody>
          <a:bodyPr wrap="square">
            <a:spAutoFit/>
          </a:bodyPr>
          <a:lstStyle/>
          <a:p>
            <a:r>
              <a:rPr lang="ar-SA" sz="1600" b="1" i="0" u="none" strike="noStrike" baseline="0" dirty="0">
                <a:latin typeface="SakkalMajalla-Bold"/>
              </a:rPr>
              <a:t>سُؤالٌ مقاليٌّ</a:t>
            </a:r>
            <a:endParaRPr lang="en-US" sz="4400" b="1" dirty="0"/>
          </a:p>
        </p:txBody>
      </p:sp>
      <p:sp>
        <p:nvSpPr>
          <p:cNvPr id="7" name="TextBox 6">
            <a:extLst>
              <a:ext uri="{FF2B5EF4-FFF2-40B4-BE49-F238E27FC236}">
                <a16:creationId xmlns:a16="http://schemas.microsoft.com/office/drawing/2014/main" id="{150810FB-6480-9AEF-6D78-B722B92931AB}"/>
              </a:ext>
            </a:extLst>
          </p:cNvPr>
          <p:cNvSpPr txBox="1"/>
          <p:nvPr/>
        </p:nvSpPr>
        <p:spPr>
          <a:xfrm>
            <a:off x="4294958" y="1872583"/>
            <a:ext cx="6449784" cy="276999"/>
          </a:xfrm>
          <a:prstGeom prst="rect">
            <a:avLst/>
          </a:prstGeom>
          <a:noFill/>
        </p:spPr>
        <p:txBody>
          <a:bodyPr wrap="square">
            <a:spAutoFit/>
          </a:bodyPr>
          <a:lstStyle/>
          <a:p>
            <a:r>
              <a:rPr lang="ar-SA" sz="1200" b="1" i="0" u="none" strike="noStrike" baseline="0" dirty="0">
                <a:highlight>
                  <a:srgbClr val="00FF00"/>
                </a:highlight>
                <a:latin typeface="SakkalMajalla-Bold"/>
              </a:rPr>
              <a:t>نص شعريّ خارجيٌّ</a:t>
            </a:r>
            <a:endParaRPr lang="en-US" sz="3600" b="1" dirty="0">
              <a:highlight>
                <a:srgbClr val="00FF00"/>
              </a:highlight>
            </a:endParaRPr>
          </a:p>
        </p:txBody>
      </p:sp>
      <p:pic>
        <p:nvPicPr>
          <p:cNvPr id="4" name="Picture 3">
            <a:extLst>
              <a:ext uri="{FF2B5EF4-FFF2-40B4-BE49-F238E27FC236}">
                <a16:creationId xmlns:a16="http://schemas.microsoft.com/office/drawing/2014/main" id="{1E0C0AC1-EFB9-CB84-EB8B-8265A3554C4E}"/>
              </a:ext>
            </a:extLst>
          </p:cNvPr>
          <p:cNvPicPr>
            <a:picLocks noChangeAspect="1"/>
          </p:cNvPicPr>
          <p:nvPr/>
        </p:nvPicPr>
        <p:blipFill>
          <a:blip r:embed="rId6"/>
          <a:stretch>
            <a:fillRect/>
          </a:stretch>
        </p:blipFill>
        <p:spPr>
          <a:xfrm>
            <a:off x="827455" y="2738007"/>
            <a:ext cx="2994487" cy="690993"/>
          </a:xfrm>
          <a:prstGeom prst="rect">
            <a:avLst/>
          </a:prstGeom>
        </p:spPr>
      </p:pic>
      <p:sp>
        <p:nvSpPr>
          <p:cNvPr id="10" name="TextBox 9">
            <a:extLst>
              <a:ext uri="{FF2B5EF4-FFF2-40B4-BE49-F238E27FC236}">
                <a16:creationId xmlns:a16="http://schemas.microsoft.com/office/drawing/2014/main" id="{49896659-3F62-A66D-9C11-0D89615015AB}"/>
              </a:ext>
            </a:extLst>
          </p:cNvPr>
          <p:cNvSpPr txBox="1"/>
          <p:nvPr/>
        </p:nvSpPr>
        <p:spPr>
          <a:xfrm>
            <a:off x="474646" y="6351069"/>
            <a:ext cx="5205483" cy="400110"/>
          </a:xfrm>
          <a:prstGeom prst="rect">
            <a:avLst/>
          </a:prstGeom>
          <a:noFill/>
        </p:spPr>
        <p:txBody>
          <a:bodyPr wrap="square" rtlCol="0">
            <a:spAutoFit/>
          </a:bodyPr>
          <a:lstStyle/>
          <a:p>
            <a:r>
              <a:rPr lang="ar-SA" sz="2000" b="1" dirty="0">
                <a:solidFill>
                  <a:srgbClr val="CB6792"/>
                </a:solidFill>
              </a:rPr>
              <a:t>إعداد... أ: شيخة السويدي</a:t>
            </a:r>
            <a:endParaRPr lang="en-US" sz="2000" b="1" dirty="0">
              <a:solidFill>
                <a:srgbClr val="CB6792"/>
              </a:solidFill>
            </a:endParaRPr>
          </a:p>
        </p:txBody>
      </p:sp>
    </p:spTree>
    <p:extLst>
      <p:ext uri="{BB962C8B-B14F-4D97-AF65-F5344CB8AC3E}">
        <p14:creationId xmlns:p14="http://schemas.microsoft.com/office/powerpoint/2010/main" val="2968536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27F1E-2F43-C7FD-FC8C-42C45E4A81D1}"/>
            </a:ext>
          </a:extLst>
        </p:cNvPr>
        <p:cNvGrpSpPr/>
        <p:nvPr/>
      </p:nvGrpSpPr>
      <p:grpSpPr>
        <a:xfrm>
          <a:off x="0" y="0"/>
          <a:ext cx="0" cy="0"/>
          <a:chOff x="0" y="0"/>
          <a:chExt cx="0" cy="0"/>
        </a:xfrm>
      </p:grpSpPr>
      <p:pic>
        <p:nvPicPr>
          <p:cNvPr id="5" name="Picture 4" descr="A logo with a feather and a book&#10;&#10;AI-generated content may be incorrect.">
            <a:extLst>
              <a:ext uri="{FF2B5EF4-FFF2-40B4-BE49-F238E27FC236}">
                <a16:creationId xmlns:a16="http://schemas.microsoft.com/office/drawing/2014/main" id="{3021A40D-DB1D-64C8-EFCE-34EC3BF93210}"/>
              </a:ext>
            </a:extLst>
          </p:cNvPr>
          <p:cNvPicPr>
            <a:picLocks noChangeAspect="1"/>
          </p:cNvPicPr>
          <p:nvPr/>
        </p:nvPicPr>
        <p:blipFill>
          <a:blip r:embed="rId3">
            <a:extLst>
              <a:ext uri="{28A0092B-C50C-407E-A947-70E740481C1C}">
                <a14:useLocalDpi xmlns:a14="http://schemas.microsoft.com/office/drawing/2010/main" val="0"/>
              </a:ext>
            </a:extLst>
          </a:blip>
          <a:srcRect t="18752" r="-1" b="-1"/>
          <a:stretch>
            <a:fillRect/>
          </a:stretch>
        </p:blipFill>
        <p:spPr>
          <a:xfrm>
            <a:off x="3068" y="9"/>
            <a:ext cx="12188932" cy="2011073"/>
          </a:xfrm>
          <a:prstGeom prst="rect">
            <a:avLst/>
          </a:prstGeom>
        </p:spPr>
      </p:pic>
      <p:sp>
        <p:nvSpPr>
          <p:cNvPr id="8" name="TextBox 7">
            <a:extLst>
              <a:ext uri="{FF2B5EF4-FFF2-40B4-BE49-F238E27FC236}">
                <a16:creationId xmlns:a16="http://schemas.microsoft.com/office/drawing/2014/main" id="{F7C6B3F8-FC1F-4B81-AF5F-6A22879F33F6}"/>
              </a:ext>
            </a:extLst>
          </p:cNvPr>
          <p:cNvSpPr txBox="1"/>
          <p:nvPr/>
        </p:nvSpPr>
        <p:spPr>
          <a:xfrm>
            <a:off x="6015460" y="3411301"/>
            <a:ext cx="6016369" cy="1200329"/>
          </a:xfrm>
          <a:prstGeom prst="rect">
            <a:avLst/>
          </a:prstGeom>
          <a:noFill/>
        </p:spPr>
        <p:txBody>
          <a:bodyPr wrap="square">
            <a:spAutoFit/>
          </a:bodyPr>
          <a:lstStyle/>
          <a:p>
            <a:pPr algn="r"/>
            <a:r>
              <a:rPr lang="ar-SA" b="1" dirty="0"/>
              <a:t>1-الخيلُ والليلُ والبيداءُ تعرفني   . .......   والسيفُ والرمحُ والقرطاسُ والقلم</a:t>
            </a:r>
            <a:endParaRPr lang="en-US" b="1" dirty="0"/>
          </a:p>
          <a:p>
            <a:pPr algn="r"/>
            <a:r>
              <a:rPr lang="ar-SA" b="1" dirty="0"/>
              <a:t>2-صحِبتُ في الفَلواتِ الوحشَ منفردًا  .....  حتى تعجّبَ مني القَفرُ والأكمُ</a:t>
            </a:r>
            <a:br>
              <a:rPr lang="en-US" b="1" dirty="0"/>
            </a:br>
            <a:r>
              <a:rPr lang="ar-SA" b="1" dirty="0"/>
              <a:t>3-والهمُّ يخترمُ الجَسيمَ نَحافةً   .........     ويُشيبُ ناصيةَ الصبيِّ ويهرم</a:t>
            </a:r>
            <a:endParaRPr lang="en-US" b="1" dirty="0"/>
          </a:p>
          <a:p>
            <a:pPr algn="r"/>
            <a:r>
              <a:rPr lang="ar-SA" b="1" dirty="0"/>
              <a:t>لا تَحمَدِ الأعداءُ فيَّ كرامةً  ..........     حتى أُوارِيَ في التُّرابِ أعَظُمِي</a:t>
            </a:r>
            <a:r>
              <a:rPr lang="en-US" sz="1800" b="1" kern="100" dirty="0">
                <a:effectLst/>
                <a:latin typeface="Aptos" panose="020B0004020202020204" pitchFamily="34" charset="0"/>
                <a:ea typeface="Aptos" panose="020B0004020202020204" pitchFamily="34" charset="0"/>
                <a:cs typeface="Arial" panose="020B0604020202020204" pitchFamily="34" charset="0"/>
              </a:rPr>
              <a:t> </a:t>
            </a:r>
            <a:r>
              <a:rPr lang="ar-SA" sz="1800" b="1" kern="100" dirty="0">
                <a:effectLst/>
                <a:latin typeface="Aptos" panose="020B0004020202020204" pitchFamily="34" charset="0"/>
                <a:ea typeface="Aptos" panose="020B0004020202020204" pitchFamily="34" charset="0"/>
                <a:cs typeface="Arial" panose="020B0604020202020204" pitchFamily="34" charset="0"/>
              </a:rPr>
              <a:t>4-</a:t>
            </a:r>
            <a:endParaRPr lang="en-US" sz="1600" b="1"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17CBDB96-F73E-F044-208D-BDA9C9174A1A}"/>
              </a:ext>
            </a:extLst>
          </p:cNvPr>
          <p:cNvSpPr txBox="1"/>
          <p:nvPr/>
        </p:nvSpPr>
        <p:spPr>
          <a:xfrm>
            <a:off x="9957661" y="309966"/>
            <a:ext cx="1914041" cy="369332"/>
          </a:xfrm>
          <a:prstGeom prst="rect">
            <a:avLst/>
          </a:prstGeom>
          <a:noFill/>
        </p:spPr>
        <p:txBody>
          <a:bodyPr wrap="square" rtlCol="0">
            <a:spAutoFit/>
          </a:bodyPr>
          <a:lstStyle/>
          <a:p>
            <a:r>
              <a:rPr lang="ar-SA" dirty="0"/>
              <a:t>مدرسة الشوامخ ح2-3</a:t>
            </a:r>
            <a:endParaRPr lang="en-US" dirty="0"/>
          </a:p>
        </p:txBody>
      </p:sp>
      <p:pic>
        <p:nvPicPr>
          <p:cNvPr id="11" name="Picture 10" descr="التربية والتعليم» تعلن هويتها المرئية الجديدة | صحيفة الخليج">
            <a:extLst>
              <a:ext uri="{FF2B5EF4-FFF2-40B4-BE49-F238E27FC236}">
                <a16:creationId xmlns:a16="http://schemas.microsoft.com/office/drawing/2014/main" id="{3C7121DD-6067-4DA9-EF63-50AB8602A4E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28" y="0"/>
            <a:ext cx="1393825" cy="950595"/>
          </a:xfrm>
          <a:prstGeom prst="rect">
            <a:avLst/>
          </a:prstGeom>
          <a:noFill/>
          <a:ln>
            <a:noFill/>
          </a:ln>
        </p:spPr>
      </p:pic>
      <p:cxnSp>
        <p:nvCxnSpPr>
          <p:cNvPr id="26" name="Straight Connector 25">
            <a:extLst>
              <a:ext uri="{FF2B5EF4-FFF2-40B4-BE49-F238E27FC236}">
                <a16:creationId xmlns:a16="http://schemas.microsoft.com/office/drawing/2014/main" id="{758B5466-13F0-6B5D-30F9-6BC46494EBBF}"/>
              </a:ext>
            </a:extLst>
          </p:cNvPr>
          <p:cNvCxnSpPr>
            <a:cxnSpLocks/>
          </p:cNvCxnSpPr>
          <p:nvPr/>
        </p:nvCxnSpPr>
        <p:spPr>
          <a:xfrm>
            <a:off x="5680129" y="1995639"/>
            <a:ext cx="0" cy="412213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8" name="TextBox 27">
            <a:extLst>
              <a:ext uri="{FF2B5EF4-FFF2-40B4-BE49-F238E27FC236}">
                <a16:creationId xmlns:a16="http://schemas.microsoft.com/office/drawing/2014/main" id="{2232F3BF-322D-D9AB-A60B-AB102A730438}"/>
              </a:ext>
            </a:extLst>
          </p:cNvPr>
          <p:cNvSpPr txBox="1"/>
          <p:nvPr/>
        </p:nvSpPr>
        <p:spPr>
          <a:xfrm>
            <a:off x="6398559" y="2070759"/>
            <a:ext cx="5542239" cy="584775"/>
          </a:xfrm>
          <a:prstGeom prst="rect">
            <a:avLst/>
          </a:prstGeom>
          <a:noFill/>
        </p:spPr>
        <p:txBody>
          <a:bodyPr wrap="square" rtlCol="0">
            <a:spAutoFit/>
          </a:bodyPr>
          <a:lstStyle/>
          <a:p>
            <a:pPr algn="r"/>
            <a:r>
              <a:rPr lang="ar-SA" sz="1600" b="1" dirty="0">
                <a:solidFill>
                  <a:srgbClr val="C00000"/>
                </a:solidFill>
              </a:rPr>
              <a:t>اقرأ </a:t>
            </a:r>
            <a:r>
              <a:rPr lang="ar-SA" sz="1600" b="1" u="sng" dirty="0">
                <a:solidFill>
                  <a:srgbClr val="C00000"/>
                </a:solidFill>
              </a:rPr>
              <a:t>النص الشعري</a:t>
            </a:r>
            <a:r>
              <a:rPr lang="ar-SA" sz="1600" b="1" dirty="0">
                <a:solidFill>
                  <a:srgbClr val="C00000"/>
                </a:solidFill>
              </a:rPr>
              <a:t> الآتي للشاعر ( المتنبي ) يفخر بشجاعته في الحروب  </a:t>
            </a:r>
          </a:p>
          <a:p>
            <a:pPr algn="r"/>
            <a:r>
              <a:rPr lang="ar-SA" sz="1600" b="1" dirty="0">
                <a:solidFill>
                  <a:srgbClr val="C00000"/>
                </a:solidFill>
              </a:rPr>
              <a:t>ثم أجب  عما يليه من أسئلة .................</a:t>
            </a:r>
            <a:endParaRPr lang="en-US" sz="1600" b="1" dirty="0">
              <a:solidFill>
                <a:srgbClr val="C00000"/>
              </a:solidFill>
            </a:endParaRPr>
          </a:p>
        </p:txBody>
      </p:sp>
      <p:sp>
        <p:nvSpPr>
          <p:cNvPr id="29" name="TextBox 28">
            <a:extLst>
              <a:ext uri="{FF2B5EF4-FFF2-40B4-BE49-F238E27FC236}">
                <a16:creationId xmlns:a16="http://schemas.microsoft.com/office/drawing/2014/main" id="{A6C12A33-51A9-4CF9-816D-429356A70A79}"/>
              </a:ext>
            </a:extLst>
          </p:cNvPr>
          <p:cNvSpPr txBox="1"/>
          <p:nvPr/>
        </p:nvSpPr>
        <p:spPr>
          <a:xfrm>
            <a:off x="10306036" y="2837164"/>
            <a:ext cx="1813302" cy="400110"/>
          </a:xfrm>
          <a:prstGeom prst="rect">
            <a:avLst/>
          </a:prstGeom>
          <a:noFill/>
        </p:spPr>
        <p:txBody>
          <a:bodyPr wrap="square" rtlCol="0">
            <a:spAutoFit/>
          </a:bodyPr>
          <a:lstStyle/>
          <a:p>
            <a:r>
              <a:rPr lang="ar-SA" sz="2000" b="1" dirty="0">
                <a:highlight>
                  <a:srgbClr val="00FF00"/>
                </a:highlight>
              </a:rPr>
              <a:t>فروسية شاعر </a:t>
            </a:r>
            <a:endParaRPr lang="en-US" sz="2000" b="1" dirty="0">
              <a:highlight>
                <a:srgbClr val="00FF00"/>
              </a:highlight>
            </a:endParaRPr>
          </a:p>
        </p:txBody>
      </p:sp>
      <p:pic>
        <p:nvPicPr>
          <p:cNvPr id="31" name="Picture 30" descr="أبو الطيب المتنبي - ويكيبيديا">
            <a:extLst>
              <a:ext uri="{FF2B5EF4-FFF2-40B4-BE49-F238E27FC236}">
                <a16:creationId xmlns:a16="http://schemas.microsoft.com/office/drawing/2014/main" id="{6F6530B6-0E7C-735D-2B0F-19E935BEECB6}"/>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783207" y="2070758"/>
            <a:ext cx="1178890" cy="1294668"/>
          </a:xfrm>
          <a:prstGeom prst="rect">
            <a:avLst/>
          </a:prstGeom>
          <a:noFill/>
          <a:ln>
            <a:noFill/>
          </a:ln>
        </p:spPr>
      </p:pic>
      <p:sp>
        <p:nvSpPr>
          <p:cNvPr id="37" name="Arrow: Left 36">
            <a:extLst>
              <a:ext uri="{FF2B5EF4-FFF2-40B4-BE49-F238E27FC236}">
                <a16:creationId xmlns:a16="http://schemas.microsoft.com/office/drawing/2014/main" id="{3C24B14E-24C7-F9E9-1E1C-F49089A7DAB9}"/>
              </a:ext>
            </a:extLst>
          </p:cNvPr>
          <p:cNvSpPr/>
          <p:nvPr/>
        </p:nvSpPr>
        <p:spPr>
          <a:xfrm>
            <a:off x="4157272" y="2856414"/>
            <a:ext cx="1317481" cy="584773"/>
          </a:xfrm>
          <a:prstGeom prst="lef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ar-SA" b="1" dirty="0"/>
              <a:t>المهارة</a:t>
            </a:r>
            <a:endParaRPr lang="en-US" b="1" dirty="0"/>
          </a:p>
        </p:txBody>
      </p:sp>
      <p:sp>
        <p:nvSpPr>
          <p:cNvPr id="40" name="Rectangle 39">
            <a:extLst>
              <a:ext uri="{FF2B5EF4-FFF2-40B4-BE49-F238E27FC236}">
                <a16:creationId xmlns:a16="http://schemas.microsoft.com/office/drawing/2014/main" id="{FC90EF69-B240-3E1A-8B65-F79E39C859E0}"/>
              </a:ext>
            </a:extLst>
          </p:cNvPr>
          <p:cNvSpPr/>
          <p:nvPr/>
        </p:nvSpPr>
        <p:spPr>
          <a:xfrm>
            <a:off x="5840372" y="5344735"/>
            <a:ext cx="6191386" cy="121920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r" rtl="1">
              <a:lnSpc>
                <a:spcPct val="115000"/>
              </a:lnSpc>
              <a:spcAft>
                <a:spcPts val="800"/>
              </a:spcAft>
              <a:buNone/>
            </a:pPr>
            <a:r>
              <a:rPr lang="en-US" sz="1200" b="1" kern="100" dirty="0">
                <a:effectLst/>
                <a:latin typeface="Arial" panose="020B0604020202020204" pitchFamily="34" charset="0"/>
                <a:ea typeface="Aptos" panose="020B0004020202020204" pitchFamily="34" charset="0"/>
                <a:cs typeface="Arial" panose="020B0604020202020204" pitchFamily="34" charset="0"/>
              </a:rPr>
              <a:t> </a:t>
            </a:r>
            <a:r>
              <a:rPr lang="ar-SA" sz="1050" b="1" kern="100" dirty="0">
                <a:effectLst/>
                <a:latin typeface="Arial" panose="020B0604020202020204" pitchFamily="34" charset="0"/>
                <a:ea typeface="Aptos" panose="020B0004020202020204" pitchFamily="34" charset="0"/>
                <a:cs typeface="Arial" panose="020B0604020202020204" pitchFamily="34" charset="0"/>
              </a:rPr>
              <a:t>الخيل والليل والبيداء:</a:t>
            </a:r>
            <a:r>
              <a:rPr lang="ar-SA" sz="1050" b="1" kern="100" dirty="0">
                <a:effectLst/>
                <a:ea typeface="Aptos" panose="020B0004020202020204" pitchFamily="34" charset="0"/>
                <a:cs typeface="Arial" panose="020B0604020202020204" pitchFamily="34" charset="0"/>
              </a:rPr>
              <a:t> رموز للشجاعة والمغامرة (الخيل: الحرب، الليل: الصبر، البيداء: الصحراء)</a:t>
            </a:r>
            <a:endParaRPr lang="en-US" sz="1050" b="1" kern="100" dirty="0">
              <a:effectLst/>
              <a:ea typeface="Aptos" panose="020B0004020202020204" pitchFamily="34" charset="0"/>
              <a:cs typeface="Arial" panose="020B0604020202020204" pitchFamily="34" charset="0"/>
            </a:endParaRPr>
          </a:p>
          <a:p>
            <a:pPr marL="0" marR="0" algn="r">
              <a:lnSpc>
                <a:spcPct val="115000"/>
              </a:lnSpc>
              <a:spcAft>
                <a:spcPts val="800"/>
              </a:spcAft>
              <a:buNone/>
            </a:pPr>
            <a:r>
              <a:rPr lang="ar-SA" sz="1050" b="1" kern="100" dirty="0">
                <a:effectLst/>
                <a:ea typeface="Aptos" panose="020B0004020202020204" pitchFamily="34" charset="0"/>
                <a:cs typeface="Arial" panose="020B0604020202020204" pitchFamily="34" charset="0"/>
              </a:rPr>
              <a:t>دلالة على العلم والفكر      الفلوات : الصحارى الواسعة          القَفر والأكم:  الأرض الخالية والتلال القرطاس والقلم:</a:t>
            </a:r>
            <a:endParaRPr lang="en-US" sz="1050" b="1" kern="100" dirty="0">
              <a:effectLst/>
              <a:ea typeface="Aptos" panose="020B0004020202020204" pitchFamily="34" charset="0"/>
              <a:cs typeface="Arial" panose="020B0604020202020204" pitchFamily="34" charset="0"/>
            </a:endParaRPr>
          </a:p>
          <a:p>
            <a:pPr marL="0" marR="0" algn="r">
              <a:lnSpc>
                <a:spcPct val="115000"/>
              </a:lnSpc>
              <a:spcAft>
                <a:spcPts val="800"/>
              </a:spcAft>
              <a:buNone/>
            </a:pPr>
            <a:r>
              <a:rPr lang="ar-SA" sz="1050" b="1" kern="100" dirty="0">
                <a:effectLst/>
                <a:ea typeface="Aptos" panose="020B0004020202020204" pitchFamily="34" charset="0"/>
                <a:cs typeface="Arial" panose="020B0604020202020204" pitchFamily="34" charset="0"/>
              </a:rPr>
              <a:t>يخترم الجسيم نحافة: يجعل الجسد النحيل قويًا بالإرادة  -  يُهرم: يُصيب بالشيخوخة  -  أواري في التراب عظمي: أي لا يستسلم حتى الموت</a:t>
            </a:r>
            <a:r>
              <a:rPr lang="en-US" sz="1200" b="1" kern="100" dirty="0">
                <a:effectLst/>
                <a:ea typeface="Aptos" panose="020B0004020202020204" pitchFamily="34" charset="0"/>
                <a:cs typeface="Arial" panose="020B0604020202020204" pitchFamily="34" charset="0"/>
              </a:rPr>
              <a:t>.</a:t>
            </a:r>
            <a:endParaRPr lang="en-US" sz="1200" kern="100" dirty="0">
              <a:effectLst/>
              <a:ea typeface="Aptos" panose="020B0004020202020204" pitchFamily="34" charset="0"/>
              <a:cs typeface="Arial" panose="020B0604020202020204" pitchFamily="34" charset="0"/>
            </a:endParaRPr>
          </a:p>
        </p:txBody>
      </p:sp>
      <p:sp>
        <p:nvSpPr>
          <p:cNvPr id="41" name="Text Box 13">
            <a:extLst>
              <a:ext uri="{FF2B5EF4-FFF2-40B4-BE49-F238E27FC236}">
                <a16:creationId xmlns:a16="http://schemas.microsoft.com/office/drawing/2014/main" id="{4581302C-5810-CEAD-D7DF-0BB257CFBE2F}"/>
              </a:ext>
            </a:extLst>
          </p:cNvPr>
          <p:cNvSpPr txBox="1"/>
          <p:nvPr/>
        </p:nvSpPr>
        <p:spPr>
          <a:xfrm>
            <a:off x="10378698" y="5011392"/>
            <a:ext cx="1562100" cy="470535"/>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Aft>
                <a:spcPts val="800"/>
              </a:spcAft>
              <a:buNone/>
            </a:pPr>
            <a:r>
              <a:rPr lang="ar-SA" sz="2000" b="1" kern="100">
                <a:effectLst/>
                <a:latin typeface="Aptos" panose="020B0004020202020204" pitchFamily="34" charset="0"/>
                <a:ea typeface="Aptos" panose="020B0004020202020204" pitchFamily="34" charset="0"/>
                <a:cs typeface="Arial" panose="020B0604020202020204" pitchFamily="34" charset="0"/>
              </a:rPr>
              <a:t>معاني المفردات</a:t>
            </a:r>
            <a:endParaRPr lang="en-US" sz="1200" kern="100">
              <a:effectLst/>
              <a:latin typeface="Aptos" panose="020B0004020202020204" pitchFamily="34" charset="0"/>
              <a:ea typeface="Aptos" panose="020B00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42197E8A-5283-BAE1-78FF-9034202C13AA}"/>
              </a:ext>
            </a:extLst>
          </p:cNvPr>
          <p:cNvSpPr txBox="1"/>
          <p:nvPr/>
        </p:nvSpPr>
        <p:spPr>
          <a:xfrm>
            <a:off x="3979864" y="2077351"/>
            <a:ext cx="1597188" cy="400110"/>
          </a:xfrm>
          <a:prstGeom prst="rect">
            <a:avLst/>
          </a:prstGeom>
          <a:noFill/>
        </p:spPr>
        <p:txBody>
          <a:bodyPr wrap="square">
            <a:spAutoFit/>
          </a:bodyPr>
          <a:lstStyle/>
          <a:p>
            <a:r>
              <a:rPr lang="ar-SA" sz="2000" b="1" i="0" u="none" strike="noStrike" baseline="0" dirty="0">
                <a:highlight>
                  <a:srgbClr val="FF00FF"/>
                </a:highlight>
                <a:latin typeface="SakkalMajalla-Bold"/>
              </a:rPr>
              <a:t>الفهمُ والاستيعابُ</a:t>
            </a:r>
            <a:endParaRPr lang="en-US" sz="5400" b="1" dirty="0">
              <a:highlight>
                <a:srgbClr val="FF00FF"/>
              </a:highlight>
            </a:endParaRPr>
          </a:p>
        </p:txBody>
      </p:sp>
      <p:sp>
        <p:nvSpPr>
          <p:cNvPr id="46" name="TextBox 45">
            <a:extLst>
              <a:ext uri="{FF2B5EF4-FFF2-40B4-BE49-F238E27FC236}">
                <a16:creationId xmlns:a16="http://schemas.microsoft.com/office/drawing/2014/main" id="{BBD7C0CC-ECF1-F024-23BF-5D951A16984E}"/>
              </a:ext>
            </a:extLst>
          </p:cNvPr>
          <p:cNvSpPr txBox="1"/>
          <p:nvPr/>
        </p:nvSpPr>
        <p:spPr>
          <a:xfrm>
            <a:off x="47733" y="3280598"/>
            <a:ext cx="5580858" cy="2953822"/>
          </a:xfrm>
          <a:prstGeom prst="rect">
            <a:avLst/>
          </a:prstGeom>
          <a:noFill/>
        </p:spPr>
        <p:txBody>
          <a:bodyPr wrap="square">
            <a:spAutoFit/>
          </a:bodyPr>
          <a:lstStyle/>
          <a:p>
            <a:pPr algn="r" rtl="1">
              <a:lnSpc>
                <a:spcPct val="115000"/>
              </a:lnSpc>
              <a:spcAft>
                <a:spcPts val="800"/>
              </a:spcAft>
            </a:pPr>
            <a:r>
              <a:rPr lang="ar-SA" sz="2400" b="1" dirty="0">
                <a:solidFill>
                  <a:srgbClr val="C00000"/>
                </a:solidFill>
              </a:rPr>
              <a:t>5- </a:t>
            </a:r>
            <a:r>
              <a:rPr lang="ar-SA" sz="1600" b="1" dirty="0">
                <a:solidFill>
                  <a:srgbClr val="C00000"/>
                </a:solidFill>
              </a:rPr>
              <a:t>اشرح الصورة الشعرية في البيت التالي مبينة نوعها وأثرها في المعنى:</a:t>
            </a:r>
          </a:p>
          <a:p>
            <a:pPr algn="r" rtl="1">
              <a:lnSpc>
                <a:spcPct val="115000"/>
              </a:lnSpc>
              <a:spcAft>
                <a:spcPts val="800"/>
              </a:spcAft>
            </a:pPr>
            <a:r>
              <a:rPr lang="ar-SA" sz="2000" b="1" u="sng" dirty="0">
                <a:solidFill>
                  <a:srgbClr val="C00000"/>
                </a:solidFill>
              </a:rPr>
              <a:t>الخيلُ والليلُ والبيداءُ تعرفني ..والسيفُ والرمحُ والقرطاسُ والقلمُ.</a:t>
            </a:r>
            <a:endParaRPr lang="ar-SA" sz="2800" b="1" u="sng" kern="100" dirty="0">
              <a:solidFill>
                <a:srgbClr val="C00000"/>
              </a:solidFill>
              <a:effectLst/>
              <a:highlight>
                <a:srgbClr val="00FF00"/>
              </a:highlight>
              <a:latin typeface="Aptos" panose="020B0004020202020204" pitchFamily="34" charset="0"/>
              <a:ea typeface="Aptos" panose="020B0004020202020204" pitchFamily="34" charset="0"/>
              <a:cs typeface="Arial" panose="020B0604020202020204" pitchFamily="34" charset="0"/>
            </a:endParaRPr>
          </a:p>
          <a:p>
            <a:pPr algn="r" rtl="1">
              <a:lnSpc>
                <a:spcPct val="115000"/>
              </a:lnSpc>
              <a:spcAft>
                <a:spcPts val="800"/>
              </a:spcAft>
            </a:pPr>
            <a:r>
              <a:rPr lang="ar-SA" sz="2800" b="1" kern="100" dirty="0">
                <a:latin typeface="Aptos" panose="020B0004020202020204" pitchFamily="34" charset="0"/>
                <a:ea typeface="Aptos" panose="020B0004020202020204" pitchFamily="34" charset="0"/>
                <a:cs typeface="Arial" panose="020B0604020202020204" pitchFamily="34" charset="0"/>
              </a:rPr>
              <a:t>ج – </a:t>
            </a:r>
            <a:r>
              <a:rPr lang="ar-SA" b="1" dirty="0"/>
              <a:t>جعل الشاعر الخيل والليل والصحراء والسيف والرمح كائنات تعرفه وتشهد على بطولاته.</a:t>
            </a:r>
            <a:br>
              <a:rPr lang="ar-SA" b="1" dirty="0"/>
            </a:br>
            <a:r>
              <a:rPr lang="ar-SA" b="1" dirty="0">
                <a:highlight>
                  <a:srgbClr val="00FFFF"/>
                </a:highlight>
              </a:rPr>
              <a:t>وهذه استعارة مكنية</a:t>
            </a:r>
            <a:r>
              <a:rPr lang="ar-SA" b="1" dirty="0"/>
              <a:t>، لأن الأشياء الجامدة لا “تعرف” في الحقيقة، بل هو صوّرها ككائنات حية تشهد على شجاعته.</a:t>
            </a:r>
          </a:p>
          <a:p>
            <a:pPr algn="r" rtl="1">
              <a:lnSpc>
                <a:spcPct val="115000"/>
              </a:lnSpc>
              <a:spcAft>
                <a:spcPts val="800"/>
              </a:spcAft>
            </a:pPr>
            <a:r>
              <a:rPr lang="ar-SA" sz="2000" dirty="0"/>
              <a:t>* </a:t>
            </a:r>
            <a:r>
              <a:rPr lang="ar-SA" sz="2000" dirty="0">
                <a:highlight>
                  <a:srgbClr val="00FFFF"/>
                </a:highlight>
              </a:rPr>
              <a:t>الصور الشعرية جعلت القصيدة أكثر </a:t>
            </a:r>
            <a:r>
              <a:rPr lang="ar-SA" sz="2000" b="1" dirty="0">
                <a:highlight>
                  <a:srgbClr val="00FFFF"/>
                </a:highlight>
              </a:rPr>
              <a:t>قوة وتأثيرًا وجمالًا.</a:t>
            </a:r>
            <a:endParaRPr lang="ar-SA" sz="2000" b="1" kern="100" dirty="0">
              <a:highlight>
                <a:srgbClr val="00FFFF"/>
              </a:highlight>
              <a:latin typeface="Aptos" panose="020B0004020202020204" pitchFamily="34" charset="0"/>
              <a:ea typeface="Aptos" panose="020B00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2D80C044-B972-EC65-54D3-19F79AD63E81}"/>
              </a:ext>
            </a:extLst>
          </p:cNvPr>
          <p:cNvSpPr txBox="1"/>
          <p:nvPr/>
        </p:nvSpPr>
        <p:spPr>
          <a:xfrm>
            <a:off x="4501242" y="2695328"/>
            <a:ext cx="1178887" cy="338554"/>
          </a:xfrm>
          <a:prstGeom prst="rect">
            <a:avLst/>
          </a:prstGeom>
          <a:noFill/>
        </p:spPr>
        <p:txBody>
          <a:bodyPr wrap="square">
            <a:spAutoFit/>
          </a:bodyPr>
          <a:lstStyle/>
          <a:p>
            <a:r>
              <a:rPr lang="ar-SA" sz="1600" b="1" i="0" u="none" strike="noStrike" baseline="0" dirty="0">
                <a:latin typeface="SakkalMajalla-Bold"/>
              </a:rPr>
              <a:t>سُؤالٌ مقاليٌّ</a:t>
            </a:r>
            <a:endParaRPr lang="en-US" sz="4400" b="1" dirty="0"/>
          </a:p>
        </p:txBody>
      </p:sp>
      <p:sp>
        <p:nvSpPr>
          <p:cNvPr id="7" name="TextBox 6">
            <a:extLst>
              <a:ext uri="{FF2B5EF4-FFF2-40B4-BE49-F238E27FC236}">
                <a16:creationId xmlns:a16="http://schemas.microsoft.com/office/drawing/2014/main" id="{1C4F12D2-5506-6AAF-7BA7-FF71715BB921}"/>
              </a:ext>
            </a:extLst>
          </p:cNvPr>
          <p:cNvSpPr txBox="1"/>
          <p:nvPr/>
        </p:nvSpPr>
        <p:spPr>
          <a:xfrm>
            <a:off x="4294958" y="1872583"/>
            <a:ext cx="6449784" cy="276999"/>
          </a:xfrm>
          <a:prstGeom prst="rect">
            <a:avLst/>
          </a:prstGeom>
          <a:noFill/>
        </p:spPr>
        <p:txBody>
          <a:bodyPr wrap="square">
            <a:spAutoFit/>
          </a:bodyPr>
          <a:lstStyle/>
          <a:p>
            <a:r>
              <a:rPr lang="ar-SA" sz="1200" b="1" i="0" u="none" strike="noStrike" baseline="0" dirty="0">
                <a:highlight>
                  <a:srgbClr val="00FF00"/>
                </a:highlight>
                <a:latin typeface="SakkalMajalla-Bold"/>
              </a:rPr>
              <a:t>نص شعريّ خارجيٌّ</a:t>
            </a:r>
            <a:endParaRPr lang="en-US" sz="3600" b="1" dirty="0">
              <a:highlight>
                <a:srgbClr val="00FF00"/>
              </a:highlight>
            </a:endParaRPr>
          </a:p>
        </p:txBody>
      </p:sp>
      <p:pic>
        <p:nvPicPr>
          <p:cNvPr id="6" name="Picture 5">
            <a:extLst>
              <a:ext uri="{FF2B5EF4-FFF2-40B4-BE49-F238E27FC236}">
                <a16:creationId xmlns:a16="http://schemas.microsoft.com/office/drawing/2014/main" id="{CCF1214C-293C-D09F-EA73-83693E0DF67E}"/>
              </a:ext>
            </a:extLst>
          </p:cNvPr>
          <p:cNvPicPr>
            <a:picLocks noChangeAspect="1"/>
          </p:cNvPicPr>
          <p:nvPr/>
        </p:nvPicPr>
        <p:blipFill>
          <a:blip r:embed="rId6"/>
          <a:stretch>
            <a:fillRect/>
          </a:stretch>
        </p:blipFill>
        <p:spPr>
          <a:xfrm>
            <a:off x="750746" y="2696379"/>
            <a:ext cx="3183697" cy="744808"/>
          </a:xfrm>
          <a:prstGeom prst="rect">
            <a:avLst/>
          </a:prstGeom>
        </p:spPr>
      </p:pic>
      <p:sp>
        <p:nvSpPr>
          <p:cNvPr id="10" name="TextBox 9">
            <a:extLst>
              <a:ext uri="{FF2B5EF4-FFF2-40B4-BE49-F238E27FC236}">
                <a16:creationId xmlns:a16="http://schemas.microsoft.com/office/drawing/2014/main" id="{49B90D2E-5ACA-021A-98AD-90399D307C57}"/>
              </a:ext>
            </a:extLst>
          </p:cNvPr>
          <p:cNvSpPr txBox="1"/>
          <p:nvPr/>
        </p:nvSpPr>
        <p:spPr>
          <a:xfrm>
            <a:off x="474646" y="6351069"/>
            <a:ext cx="5205483" cy="400110"/>
          </a:xfrm>
          <a:prstGeom prst="rect">
            <a:avLst/>
          </a:prstGeom>
          <a:noFill/>
        </p:spPr>
        <p:txBody>
          <a:bodyPr wrap="square" rtlCol="0">
            <a:spAutoFit/>
          </a:bodyPr>
          <a:lstStyle/>
          <a:p>
            <a:r>
              <a:rPr lang="ar-SA" sz="2000" b="1" dirty="0">
                <a:solidFill>
                  <a:srgbClr val="CB6792"/>
                </a:solidFill>
              </a:rPr>
              <a:t>إعداد... أ: شيخة السويدي</a:t>
            </a:r>
            <a:endParaRPr lang="en-US" sz="2000" b="1" dirty="0">
              <a:solidFill>
                <a:srgbClr val="CB6792"/>
              </a:solidFill>
            </a:endParaRPr>
          </a:p>
        </p:txBody>
      </p:sp>
    </p:spTree>
    <p:extLst>
      <p:ext uri="{BB962C8B-B14F-4D97-AF65-F5344CB8AC3E}">
        <p14:creationId xmlns:p14="http://schemas.microsoft.com/office/powerpoint/2010/main" val="29141842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06BC4-B4AB-ECE7-9102-A577F4A54F69}"/>
            </a:ext>
          </a:extLst>
        </p:cNvPr>
        <p:cNvGrpSpPr/>
        <p:nvPr/>
      </p:nvGrpSpPr>
      <p:grpSpPr>
        <a:xfrm>
          <a:off x="0" y="0"/>
          <a:ext cx="0" cy="0"/>
          <a:chOff x="0" y="0"/>
          <a:chExt cx="0" cy="0"/>
        </a:xfrm>
      </p:grpSpPr>
      <p:pic>
        <p:nvPicPr>
          <p:cNvPr id="5" name="Picture 4" descr="A logo with a feather and a book&#10;&#10;AI-generated content may be incorrect.">
            <a:extLst>
              <a:ext uri="{FF2B5EF4-FFF2-40B4-BE49-F238E27FC236}">
                <a16:creationId xmlns:a16="http://schemas.microsoft.com/office/drawing/2014/main" id="{016E6044-2A5F-D48A-09F0-A9FCCA100206}"/>
              </a:ext>
            </a:extLst>
          </p:cNvPr>
          <p:cNvPicPr>
            <a:picLocks noChangeAspect="1"/>
          </p:cNvPicPr>
          <p:nvPr/>
        </p:nvPicPr>
        <p:blipFill>
          <a:blip r:embed="rId3">
            <a:extLst>
              <a:ext uri="{28A0092B-C50C-407E-A947-70E740481C1C}">
                <a14:useLocalDpi xmlns:a14="http://schemas.microsoft.com/office/drawing/2010/main" val="0"/>
              </a:ext>
            </a:extLst>
          </a:blip>
          <a:srcRect t="18752" r="-1" b="-1"/>
          <a:stretch>
            <a:fillRect/>
          </a:stretch>
        </p:blipFill>
        <p:spPr>
          <a:xfrm>
            <a:off x="3068" y="9"/>
            <a:ext cx="12188932" cy="2011073"/>
          </a:xfrm>
          <a:prstGeom prst="rect">
            <a:avLst/>
          </a:prstGeom>
        </p:spPr>
      </p:pic>
      <p:sp>
        <p:nvSpPr>
          <p:cNvPr id="8" name="TextBox 7">
            <a:extLst>
              <a:ext uri="{FF2B5EF4-FFF2-40B4-BE49-F238E27FC236}">
                <a16:creationId xmlns:a16="http://schemas.microsoft.com/office/drawing/2014/main" id="{98809661-DE4A-C736-DF1B-4B91694A13D2}"/>
              </a:ext>
            </a:extLst>
          </p:cNvPr>
          <p:cNvSpPr txBox="1"/>
          <p:nvPr/>
        </p:nvSpPr>
        <p:spPr>
          <a:xfrm>
            <a:off x="6015460" y="3411301"/>
            <a:ext cx="6016369" cy="1200329"/>
          </a:xfrm>
          <a:prstGeom prst="rect">
            <a:avLst/>
          </a:prstGeom>
          <a:noFill/>
        </p:spPr>
        <p:txBody>
          <a:bodyPr wrap="square">
            <a:spAutoFit/>
          </a:bodyPr>
          <a:lstStyle/>
          <a:p>
            <a:pPr algn="r"/>
            <a:r>
              <a:rPr lang="ar-SA" b="1" dirty="0"/>
              <a:t>1-الخيلُ والليلُ والبيداءُ تعرفني   . .......   والسيفُ والرمحُ والقرطاسُ والقلم</a:t>
            </a:r>
            <a:endParaRPr lang="en-US" b="1" dirty="0"/>
          </a:p>
          <a:p>
            <a:pPr algn="r"/>
            <a:r>
              <a:rPr lang="ar-SA" b="1" dirty="0"/>
              <a:t>2-صحِبتُ في الفَلواتِ الوحشَ منفردًا  .....  حتى تعجّبَ مني القَفرُ والأكمُ</a:t>
            </a:r>
            <a:br>
              <a:rPr lang="en-US" b="1" dirty="0"/>
            </a:br>
            <a:r>
              <a:rPr lang="ar-SA" b="1" dirty="0"/>
              <a:t>3-والهمُّ يخترمُ الجَسيمَ نَحافةً   .........     ويُشيبُ ناصيةَ الصبيِّ ويهرم</a:t>
            </a:r>
            <a:endParaRPr lang="en-US" b="1" dirty="0"/>
          </a:p>
          <a:p>
            <a:pPr algn="r"/>
            <a:r>
              <a:rPr lang="ar-SA" b="1" dirty="0"/>
              <a:t>لا تَحمَدِ الأعداءُ فيَّ كرامةً  ..........     حتى أُوارِيَ في التُّرابِ أعَظُمِي</a:t>
            </a:r>
            <a:r>
              <a:rPr lang="en-US" sz="1800" b="1" kern="100" dirty="0">
                <a:effectLst/>
                <a:latin typeface="Aptos" panose="020B0004020202020204" pitchFamily="34" charset="0"/>
                <a:ea typeface="Aptos" panose="020B0004020202020204" pitchFamily="34" charset="0"/>
                <a:cs typeface="Arial" panose="020B0604020202020204" pitchFamily="34" charset="0"/>
              </a:rPr>
              <a:t> </a:t>
            </a:r>
            <a:r>
              <a:rPr lang="ar-SA" sz="1800" b="1" kern="100" dirty="0">
                <a:effectLst/>
                <a:latin typeface="Aptos" panose="020B0004020202020204" pitchFamily="34" charset="0"/>
                <a:ea typeface="Aptos" panose="020B0004020202020204" pitchFamily="34" charset="0"/>
                <a:cs typeface="Arial" panose="020B0604020202020204" pitchFamily="34" charset="0"/>
              </a:rPr>
              <a:t>4-</a:t>
            </a:r>
            <a:endParaRPr lang="en-US" sz="1600" b="1"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3D88211F-132D-629E-6D67-CA52811E88D3}"/>
              </a:ext>
            </a:extLst>
          </p:cNvPr>
          <p:cNvSpPr txBox="1"/>
          <p:nvPr/>
        </p:nvSpPr>
        <p:spPr>
          <a:xfrm>
            <a:off x="9957661" y="309966"/>
            <a:ext cx="1914041" cy="369332"/>
          </a:xfrm>
          <a:prstGeom prst="rect">
            <a:avLst/>
          </a:prstGeom>
          <a:noFill/>
        </p:spPr>
        <p:txBody>
          <a:bodyPr wrap="square" rtlCol="0">
            <a:spAutoFit/>
          </a:bodyPr>
          <a:lstStyle/>
          <a:p>
            <a:r>
              <a:rPr lang="ar-SA" dirty="0"/>
              <a:t>مدرسة الشوامخ ح2-3</a:t>
            </a:r>
            <a:endParaRPr lang="en-US" dirty="0"/>
          </a:p>
        </p:txBody>
      </p:sp>
      <p:pic>
        <p:nvPicPr>
          <p:cNvPr id="11" name="Picture 10" descr="التربية والتعليم» تعلن هويتها المرئية الجديدة | صحيفة الخليج">
            <a:extLst>
              <a:ext uri="{FF2B5EF4-FFF2-40B4-BE49-F238E27FC236}">
                <a16:creationId xmlns:a16="http://schemas.microsoft.com/office/drawing/2014/main" id="{92C287B4-763D-DE74-2E9A-70A51B54A94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28" y="0"/>
            <a:ext cx="1393825" cy="950595"/>
          </a:xfrm>
          <a:prstGeom prst="rect">
            <a:avLst/>
          </a:prstGeom>
          <a:noFill/>
          <a:ln>
            <a:noFill/>
          </a:ln>
        </p:spPr>
      </p:pic>
      <p:cxnSp>
        <p:nvCxnSpPr>
          <p:cNvPr id="26" name="Straight Connector 25">
            <a:extLst>
              <a:ext uri="{FF2B5EF4-FFF2-40B4-BE49-F238E27FC236}">
                <a16:creationId xmlns:a16="http://schemas.microsoft.com/office/drawing/2014/main" id="{863FDBAF-0E43-D156-1A6A-80EFE779109E}"/>
              </a:ext>
            </a:extLst>
          </p:cNvPr>
          <p:cNvCxnSpPr>
            <a:cxnSpLocks/>
          </p:cNvCxnSpPr>
          <p:nvPr/>
        </p:nvCxnSpPr>
        <p:spPr>
          <a:xfrm>
            <a:off x="5680129" y="1995639"/>
            <a:ext cx="0" cy="412213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8" name="TextBox 27">
            <a:extLst>
              <a:ext uri="{FF2B5EF4-FFF2-40B4-BE49-F238E27FC236}">
                <a16:creationId xmlns:a16="http://schemas.microsoft.com/office/drawing/2014/main" id="{7D64D127-7858-293B-E4EA-99A63B77A0C4}"/>
              </a:ext>
            </a:extLst>
          </p:cNvPr>
          <p:cNvSpPr txBox="1"/>
          <p:nvPr/>
        </p:nvSpPr>
        <p:spPr>
          <a:xfrm>
            <a:off x="6398559" y="2070759"/>
            <a:ext cx="5542239" cy="584775"/>
          </a:xfrm>
          <a:prstGeom prst="rect">
            <a:avLst/>
          </a:prstGeom>
          <a:noFill/>
        </p:spPr>
        <p:txBody>
          <a:bodyPr wrap="square" rtlCol="0">
            <a:spAutoFit/>
          </a:bodyPr>
          <a:lstStyle/>
          <a:p>
            <a:pPr algn="r"/>
            <a:r>
              <a:rPr lang="ar-SA" sz="1600" b="1" dirty="0">
                <a:solidFill>
                  <a:srgbClr val="C00000"/>
                </a:solidFill>
              </a:rPr>
              <a:t>اقرأ </a:t>
            </a:r>
            <a:r>
              <a:rPr lang="ar-SA" sz="1600" b="1" u="sng" dirty="0">
                <a:solidFill>
                  <a:srgbClr val="C00000"/>
                </a:solidFill>
              </a:rPr>
              <a:t>النص الشعري</a:t>
            </a:r>
            <a:r>
              <a:rPr lang="ar-SA" sz="1600" b="1" dirty="0">
                <a:solidFill>
                  <a:srgbClr val="C00000"/>
                </a:solidFill>
              </a:rPr>
              <a:t> الآتي للشاعر ( المتنبي ) يفخر بشجاعته في الحروب  </a:t>
            </a:r>
          </a:p>
          <a:p>
            <a:pPr algn="r"/>
            <a:r>
              <a:rPr lang="ar-SA" sz="1600" b="1" dirty="0">
                <a:solidFill>
                  <a:srgbClr val="C00000"/>
                </a:solidFill>
              </a:rPr>
              <a:t>ثم أجب  عما يليه من أسئلة .................</a:t>
            </a:r>
            <a:endParaRPr lang="en-US" sz="1600" b="1" dirty="0">
              <a:solidFill>
                <a:srgbClr val="C00000"/>
              </a:solidFill>
            </a:endParaRPr>
          </a:p>
        </p:txBody>
      </p:sp>
      <p:sp>
        <p:nvSpPr>
          <p:cNvPr id="29" name="TextBox 28">
            <a:extLst>
              <a:ext uri="{FF2B5EF4-FFF2-40B4-BE49-F238E27FC236}">
                <a16:creationId xmlns:a16="http://schemas.microsoft.com/office/drawing/2014/main" id="{A45DDB10-F067-9A91-41A4-AB967F9575D7}"/>
              </a:ext>
            </a:extLst>
          </p:cNvPr>
          <p:cNvSpPr txBox="1"/>
          <p:nvPr/>
        </p:nvSpPr>
        <p:spPr>
          <a:xfrm>
            <a:off x="10306036" y="2837164"/>
            <a:ext cx="1813302" cy="400110"/>
          </a:xfrm>
          <a:prstGeom prst="rect">
            <a:avLst/>
          </a:prstGeom>
          <a:noFill/>
        </p:spPr>
        <p:txBody>
          <a:bodyPr wrap="square" rtlCol="0">
            <a:spAutoFit/>
          </a:bodyPr>
          <a:lstStyle/>
          <a:p>
            <a:r>
              <a:rPr lang="ar-SA" sz="2000" b="1" dirty="0">
                <a:highlight>
                  <a:srgbClr val="00FF00"/>
                </a:highlight>
              </a:rPr>
              <a:t>فروسية شاعر </a:t>
            </a:r>
            <a:endParaRPr lang="en-US" sz="2000" b="1" dirty="0">
              <a:highlight>
                <a:srgbClr val="00FF00"/>
              </a:highlight>
            </a:endParaRPr>
          </a:p>
        </p:txBody>
      </p:sp>
      <p:pic>
        <p:nvPicPr>
          <p:cNvPr id="31" name="Picture 30" descr="أبو الطيب المتنبي - ويكيبيديا">
            <a:extLst>
              <a:ext uri="{FF2B5EF4-FFF2-40B4-BE49-F238E27FC236}">
                <a16:creationId xmlns:a16="http://schemas.microsoft.com/office/drawing/2014/main" id="{56582F87-0D70-18C4-B28E-FB2518E8AB5E}"/>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783207" y="2070758"/>
            <a:ext cx="1178890" cy="1294668"/>
          </a:xfrm>
          <a:prstGeom prst="rect">
            <a:avLst/>
          </a:prstGeom>
          <a:noFill/>
          <a:ln>
            <a:noFill/>
          </a:ln>
        </p:spPr>
      </p:pic>
      <p:sp>
        <p:nvSpPr>
          <p:cNvPr id="37" name="Arrow: Left 36">
            <a:extLst>
              <a:ext uri="{FF2B5EF4-FFF2-40B4-BE49-F238E27FC236}">
                <a16:creationId xmlns:a16="http://schemas.microsoft.com/office/drawing/2014/main" id="{71D539D1-EF4B-41AE-4542-D48C09C96178}"/>
              </a:ext>
            </a:extLst>
          </p:cNvPr>
          <p:cNvSpPr/>
          <p:nvPr/>
        </p:nvSpPr>
        <p:spPr>
          <a:xfrm>
            <a:off x="4150320" y="2977043"/>
            <a:ext cx="1317481" cy="584773"/>
          </a:xfrm>
          <a:prstGeom prst="lef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ar-SA" b="1" dirty="0"/>
              <a:t>المهارة</a:t>
            </a:r>
            <a:endParaRPr lang="en-US" b="1" dirty="0"/>
          </a:p>
        </p:txBody>
      </p:sp>
      <p:sp>
        <p:nvSpPr>
          <p:cNvPr id="40" name="Rectangle 39">
            <a:extLst>
              <a:ext uri="{FF2B5EF4-FFF2-40B4-BE49-F238E27FC236}">
                <a16:creationId xmlns:a16="http://schemas.microsoft.com/office/drawing/2014/main" id="{D83066C6-6F23-10C9-22C1-03BF2EB5C6CC}"/>
              </a:ext>
            </a:extLst>
          </p:cNvPr>
          <p:cNvSpPr/>
          <p:nvPr/>
        </p:nvSpPr>
        <p:spPr>
          <a:xfrm>
            <a:off x="5840372" y="5344735"/>
            <a:ext cx="6191386" cy="121920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r" rtl="1">
              <a:lnSpc>
                <a:spcPct val="115000"/>
              </a:lnSpc>
              <a:spcAft>
                <a:spcPts val="800"/>
              </a:spcAft>
              <a:buNone/>
            </a:pPr>
            <a:r>
              <a:rPr lang="en-US" sz="1200" b="1" kern="100" dirty="0">
                <a:effectLst/>
                <a:latin typeface="Arial" panose="020B0604020202020204" pitchFamily="34" charset="0"/>
                <a:ea typeface="Aptos" panose="020B0004020202020204" pitchFamily="34" charset="0"/>
                <a:cs typeface="Arial" panose="020B0604020202020204" pitchFamily="34" charset="0"/>
              </a:rPr>
              <a:t> </a:t>
            </a:r>
            <a:r>
              <a:rPr lang="ar-SA" sz="1050" b="1" kern="100" dirty="0">
                <a:effectLst/>
                <a:latin typeface="Arial" panose="020B0604020202020204" pitchFamily="34" charset="0"/>
                <a:ea typeface="Aptos" panose="020B0004020202020204" pitchFamily="34" charset="0"/>
                <a:cs typeface="Arial" panose="020B0604020202020204" pitchFamily="34" charset="0"/>
              </a:rPr>
              <a:t>الخيل والليل والبيداء:</a:t>
            </a:r>
            <a:r>
              <a:rPr lang="ar-SA" sz="1050" b="1" kern="100" dirty="0">
                <a:effectLst/>
                <a:ea typeface="Aptos" panose="020B0004020202020204" pitchFamily="34" charset="0"/>
                <a:cs typeface="Arial" panose="020B0604020202020204" pitchFamily="34" charset="0"/>
              </a:rPr>
              <a:t> رموز للشجاعة والمغامرة (الخيل: الحرب، الليل: الصبر، البيداء: الصحراء)</a:t>
            </a:r>
            <a:endParaRPr lang="en-US" sz="1050" b="1" kern="100" dirty="0">
              <a:effectLst/>
              <a:ea typeface="Aptos" panose="020B0004020202020204" pitchFamily="34" charset="0"/>
              <a:cs typeface="Arial" panose="020B0604020202020204" pitchFamily="34" charset="0"/>
            </a:endParaRPr>
          </a:p>
          <a:p>
            <a:pPr marL="0" marR="0" algn="r">
              <a:lnSpc>
                <a:spcPct val="115000"/>
              </a:lnSpc>
              <a:spcAft>
                <a:spcPts val="800"/>
              </a:spcAft>
              <a:buNone/>
            </a:pPr>
            <a:r>
              <a:rPr lang="ar-SA" sz="1050" b="1" kern="100" dirty="0">
                <a:effectLst/>
                <a:ea typeface="Aptos" panose="020B0004020202020204" pitchFamily="34" charset="0"/>
                <a:cs typeface="Arial" panose="020B0604020202020204" pitchFamily="34" charset="0"/>
              </a:rPr>
              <a:t>دلالة على العلم والفكر      الفلوات : الصحارى الواسعة          القَفر والأكم:  الأرض الخالية والتلال القرطاس والقلم:</a:t>
            </a:r>
            <a:endParaRPr lang="en-US" sz="1050" b="1" kern="100" dirty="0">
              <a:effectLst/>
              <a:ea typeface="Aptos" panose="020B0004020202020204" pitchFamily="34" charset="0"/>
              <a:cs typeface="Arial" panose="020B0604020202020204" pitchFamily="34" charset="0"/>
            </a:endParaRPr>
          </a:p>
          <a:p>
            <a:pPr marL="0" marR="0" algn="r">
              <a:lnSpc>
                <a:spcPct val="115000"/>
              </a:lnSpc>
              <a:spcAft>
                <a:spcPts val="800"/>
              </a:spcAft>
              <a:buNone/>
            </a:pPr>
            <a:r>
              <a:rPr lang="ar-SA" sz="1050" b="1" kern="100" dirty="0">
                <a:effectLst/>
                <a:ea typeface="Aptos" panose="020B0004020202020204" pitchFamily="34" charset="0"/>
                <a:cs typeface="Arial" panose="020B0604020202020204" pitchFamily="34" charset="0"/>
              </a:rPr>
              <a:t>يخترم الجسيم نحافة: يجعل الجسد النحيل قويًا بالإرادة  -  يُهرم: يُصيب بالشيخوخة  -  أواري في التراب عظمي: أي لا يستسلم حتى الموت</a:t>
            </a:r>
            <a:r>
              <a:rPr lang="en-US" sz="1200" b="1" kern="100" dirty="0">
                <a:effectLst/>
                <a:ea typeface="Aptos" panose="020B0004020202020204" pitchFamily="34" charset="0"/>
                <a:cs typeface="Arial" panose="020B0604020202020204" pitchFamily="34" charset="0"/>
              </a:rPr>
              <a:t>.</a:t>
            </a:r>
            <a:endParaRPr lang="en-US" sz="1200" kern="100" dirty="0">
              <a:effectLst/>
              <a:ea typeface="Aptos" panose="020B0004020202020204" pitchFamily="34" charset="0"/>
              <a:cs typeface="Arial" panose="020B0604020202020204" pitchFamily="34" charset="0"/>
            </a:endParaRPr>
          </a:p>
        </p:txBody>
      </p:sp>
      <p:sp>
        <p:nvSpPr>
          <p:cNvPr id="41" name="Text Box 13">
            <a:extLst>
              <a:ext uri="{FF2B5EF4-FFF2-40B4-BE49-F238E27FC236}">
                <a16:creationId xmlns:a16="http://schemas.microsoft.com/office/drawing/2014/main" id="{BA7DFBBC-AA7F-AB42-B948-6F8C5A94447B}"/>
              </a:ext>
            </a:extLst>
          </p:cNvPr>
          <p:cNvSpPr txBox="1"/>
          <p:nvPr/>
        </p:nvSpPr>
        <p:spPr>
          <a:xfrm>
            <a:off x="10378698" y="5011392"/>
            <a:ext cx="1562100" cy="470535"/>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Aft>
                <a:spcPts val="800"/>
              </a:spcAft>
              <a:buNone/>
            </a:pPr>
            <a:r>
              <a:rPr lang="ar-SA" sz="2000" b="1" kern="100">
                <a:effectLst/>
                <a:latin typeface="Aptos" panose="020B0004020202020204" pitchFamily="34" charset="0"/>
                <a:ea typeface="Aptos" panose="020B0004020202020204" pitchFamily="34" charset="0"/>
                <a:cs typeface="Arial" panose="020B0604020202020204" pitchFamily="34" charset="0"/>
              </a:rPr>
              <a:t>معاني المفردات</a:t>
            </a:r>
            <a:endParaRPr lang="en-US" sz="1200" kern="100">
              <a:effectLst/>
              <a:latin typeface="Aptos" panose="020B0004020202020204" pitchFamily="34" charset="0"/>
              <a:ea typeface="Aptos" panose="020B00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0949BC96-1FD9-353C-4EE7-A7A845E0F385}"/>
              </a:ext>
            </a:extLst>
          </p:cNvPr>
          <p:cNvSpPr txBox="1"/>
          <p:nvPr/>
        </p:nvSpPr>
        <p:spPr>
          <a:xfrm>
            <a:off x="3979864" y="2077351"/>
            <a:ext cx="1597188" cy="461665"/>
          </a:xfrm>
          <a:prstGeom prst="rect">
            <a:avLst/>
          </a:prstGeom>
          <a:noFill/>
        </p:spPr>
        <p:txBody>
          <a:bodyPr wrap="square">
            <a:spAutoFit/>
          </a:bodyPr>
          <a:lstStyle/>
          <a:p>
            <a:r>
              <a:rPr lang="ar-SA" sz="2400" b="1" dirty="0">
                <a:highlight>
                  <a:srgbClr val="FF00FF"/>
                </a:highlight>
              </a:rPr>
              <a:t>مهارات لغوية</a:t>
            </a:r>
            <a:endParaRPr lang="en-US" sz="6600" b="1" dirty="0">
              <a:highlight>
                <a:srgbClr val="FF00FF"/>
              </a:highlight>
            </a:endParaRPr>
          </a:p>
        </p:txBody>
      </p:sp>
      <p:sp>
        <p:nvSpPr>
          <p:cNvPr id="46" name="TextBox 45">
            <a:extLst>
              <a:ext uri="{FF2B5EF4-FFF2-40B4-BE49-F238E27FC236}">
                <a16:creationId xmlns:a16="http://schemas.microsoft.com/office/drawing/2014/main" id="{8C478DD4-412F-C334-5A9E-3D0D1CCBB95C}"/>
              </a:ext>
            </a:extLst>
          </p:cNvPr>
          <p:cNvSpPr txBox="1"/>
          <p:nvPr/>
        </p:nvSpPr>
        <p:spPr>
          <a:xfrm>
            <a:off x="15938" y="3784898"/>
            <a:ext cx="5580858" cy="1543371"/>
          </a:xfrm>
          <a:prstGeom prst="rect">
            <a:avLst/>
          </a:prstGeom>
          <a:noFill/>
        </p:spPr>
        <p:txBody>
          <a:bodyPr wrap="square">
            <a:spAutoFit/>
          </a:bodyPr>
          <a:lstStyle/>
          <a:p>
            <a:pPr algn="r" rtl="1">
              <a:lnSpc>
                <a:spcPct val="115000"/>
              </a:lnSpc>
              <a:spcAft>
                <a:spcPts val="800"/>
              </a:spcAft>
            </a:pPr>
            <a:r>
              <a:rPr lang="ar-SA" sz="2400" b="1" dirty="0">
                <a:solidFill>
                  <a:srgbClr val="C00000"/>
                </a:solidFill>
              </a:rPr>
              <a:t>6- </a:t>
            </a:r>
            <a:r>
              <a:rPr lang="ar-SA" b="1" dirty="0">
                <a:solidFill>
                  <a:srgbClr val="C00000"/>
                </a:solidFill>
              </a:rPr>
              <a:t>استخرج من النص السابق اسم فاعل:</a:t>
            </a:r>
          </a:p>
          <a:p>
            <a:pPr algn="r" rtl="1">
              <a:lnSpc>
                <a:spcPct val="115000"/>
              </a:lnSpc>
              <a:spcAft>
                <a:spcPts val="800"/>
              </a:spcAft>
            </a:pPr>
            <a:r>
              <a:rPr lang="ar-SA" sz="2000" b="1" dirty="0">
                <a:solidFill>
                  <a:srgbClr val="C00000"/>
                </a:solidFill>
              </a:rPr>
              <a:t>صحِبتُ في الفَلواتِ الوحشَ منفردًا    حتى تعجّبَ مني القَفرُ والأكمُ</a:t>
            </a:r>
            <a:endParaRPr lang="ar-SA" sz="2800" b="1" u="sng" kern="100" dirty="0">
              <a:solidFill>
                <a:srgbClr val="C00000"/>
              </a:solidFill>
              <a:effectLst/>
              <a:highlight>
                <a:srgbClr val="00FF00"/>
              </a:highlight>
              <a:latin typeface="Aptos" panose="020B0004020202020204" pitchFamily="34" charset="0"/>
              <a:ea typeface="Aptos" panose="020B0004020202020204" pitchFamily="34" charset="0"/>
              <a:cs typeface="Arial" panose="020B0604020202020204" pitchFamily="34" charset="0"/>
            </a:endParaRPr>
          </a:p>
          <a:p>
            <a:pPr algn="r" rtl="1">
              <a:lnSpc>
                <a:spcPct val="115000"/>
              </a:lnSpc>
              <a:spcAft>
                <a:spcPts val="800"/>
              </a:spcAft>
            </a:pPr>
            <a:r>
              <a:rPr lang="ar-SA" sz="2800" b="1" kern="100" dirty="0">
                <a:latin typeface="Aptos" panose="020B0004020202020204" pitchFamily="34" charset="0"/>
                <a:ea typeface="Aptos" panose="020B0004020202020204" pitchFamily="34" charset="0"/>
                <a:cs typeface="Arial" panose="020B0604020202020204" pitchFamily="34" charset="0"/>
              </a:rPr>
              <a:t>ج – مُنفرِداً</a:t>
            </a:r>
            <a:endParaRPr lang="ar-SA" sz="2000" b="1" kern="100" dirty="0">
              <a:highlight>
                <a:srgbClr val="00FFFF"/>
              </a:highlight>
              <a:latin typeface="Aptos" panose="020B0004020202020204" pitchFamily="34" charset="0"/>
              <a:ea typeface="Aptos" panose="020B00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5E6128F-D853-461D-4F9B-5C81159FE52A}"/>
              </a:ext>
            </a:extLst>
          </p:cNvPr>
          <p:cNvSpPr txBox="1"/>
          <p:nvPr/>
        </p:nvSpPr>
        <p:spPr>
          <a:xfrm>
            <a:off x="4552781" y="2823403"/>
            <a:ext cx="1178887" cy="338554"/>
          </a:xfrm>
          <a:prstGeom prst="rect">
            <a:avLst/>
          </a:prstGeom>
          <a:noFill/>
        </p:spPr>
        <p:txBody>
          <a:bodyPr wrap="square">
            <a:spAutoFit/>
          </a:bodyPr>
          <a:lstStyle/>
          <a:p>
            <a:r>
              <a:rPr lang="ar-SA" sz="1600" b="1" i="0" u="none" strike="noStrike" baseline="0" dirty="0">
                <a:latin typeface="SakkalMajalla-Bold"/>
              </a:rPr>
              <a:t>سُؤالٌ مقاليٌّ</a:t>
            </a:r>
            <a:endParaRPr lang="en-US" sz="4400" b="1" dirty="0"/>
          </a:p>
        </p:txBody>
      </p:sp>
      <p:pic>
        <p:nvPicPr>
          <p:cNvPr id="4" name="Picture 3">
            <a:extLst>
              <a:ext uri="{FF2B5EF4-FFF2-40B4-BE49-F238E27FC236}">
                <a16:creationId xmlns:a16="http://schemas.microsoft.com/office/drawing/2014/main" id="{CCB63D2F-7707-0433-0C71-DB5F05B777EB}"/>
              </a:ext>
            </a:extLst>
          </p:cNvPr>
          <p:cNvPicPr>
            <a:picLocks noChangeAspect="1"/>
          </p:cNvPicPr>
          <p:nvPr/>
        </p:nvPicPr>
        <p:blipFill>
          <a:blip r:embed="rId6"/>
          <a:stretch>
            <a:fillRect/>
          </a:stretch>
        </p:blipFill>
        <p:spPr>
          <a:xfrm>
            <a:off x="625634" y="2762098"/>
            <a:ext cx="3312358" cy="933350"/>
          </a:xfrm>
          <a:prstGeom prst="rect">
            <a:avLst/>
          </a:prstGeom>
        </p:spPr>
      </p:pic>
      <p:sp>
        <p:nvSpPr>
          <p:cNvPr id="10" name="TextBox 9">
            <a:extLst>
              <a:ext uri="{FF2B5EF4-FFF2-40B4-BE49-F238E27FC236}">
                <a16:creationId xmlns:a16="http://schemas.microsoft.com/office/drawing/2014/main" id="{39CB28D7-5CD4-F371-BCBC-1DFFABA8EE58}"/>
              </a:ext>
            </a:extLst>
          </p:cNvPr>
          <p:cNvSpPr txBox="1"/>
          <p:nvPr/>
        </p:nvSpPr>
        <p:spPr>
          <a:xfrm>
            <a:off x="474646" y="6351069"/>
            <a:ext cx="5205483" cy="400110"/>
          </a:xfrm>
          <a:prstGeom prst="rect">
            <a:avLst/>
          </a:prstGeom>
          <a:noFill/>
        </p:spPr>
        <p:txBody>
          <a:bodyPr wrap="square" rtlCol="0">
            <a:spAutoFit/>
          </a:bodyPr>
          <a:lstStyle/>
          <a:p>
            <a:r>
              <a:rPr lang="ar-SA" sz="2000" b="1" dirty="0">
                <a:solidFill>
                  <a:srgbClr val="CB6792"/>
                </a:solidFill>
              </a:rPr>
              <a:t>إعداد... أ: شيخة السويدي</a:t>
            </a:r>
            <a:endParaRPr lang="en-US" sz="2000" b="1" dirty="0">
              <a:solidFill>
                <a:srgbClr val="CB6792"/>
              </a:solidFill>
            </a:endParaRPr>
          </a:p>
        </p:txBody>
      </p:sp>
    </p:spTree>
    <p:extLst>
      <p:ext uri="{BB962C8B-B14F-4D97-AF65-F5344CB8AC3E}">
        <p14:creationId xmlns:p14="http://schemas.microsoft.com/office/powerpoint/2010/main" val="2047953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CBD0D-AE7A-C30A-E89E-C22A133A6D93}"/>
            </a:ext>
          </a:extLst>
        </p:cNvPr>
        <p:cNvGrpSpPr/>
        <p:nvPr/>
      </p:nvGrpSpPr>
      <p:grpSpPr>
        <a:xfrm>
          <a:off x="0" y="0"/>
          <a:ext cx="0" cy="0"/>
          <a:chOff x="0" y="0"/>
          <a:chExt cx="0" cy="0"/>
        </a:xfrm>
      </p:grpSpPr>
      <p:pic>
        <p:nvPicPr>
          <p:cNvPr id="5" name="Picture 4" descr="A logo with a feather and a book&#10;&#10;AI-generated content may be incorrect.">
            <a:extLst>
              <a:ext uri="{FF2B5EF4-FFF2-40B4-BE49-F238E27FC236}">
                <a16:creationId xmlns:a16="http://schemas.microsoft.com/office/drawing/2014/main" id="{8A42196E-1D88-12FE-EE82-0AAB250830C2}"/>
              </a:ext>
            </a:extLst>
          </p:cNvPr>
          <p:cNvPicPr>
            <a:picLocks noChangeAspect="1"/>
          </p:cNvPicPr>
          <p:nvPr/>
        </p:nvPicPr>
        <p:blipFill>
          <a:blip r:embed="rId3">
            <a:extLst>
              <a:ext uri="{28A0092B-C50C-407E-A947-70E740481C1C}">
                <a14:useLocalDpi xmlns:a14="http://schemas.microsoft.com/office/drawing/2010/main" val="0"/>
              </a:ext>
            </a:extLst>
          </a:blip>
          <a:srcRect t="18752" r="-1" b="-1"/>
          <a:stretch>
            <a:fillRect/>
          </a:stretch>
        </p:blipFill>
        <p:spPr>
          <a:xfrm>
            <a:off x="3068" y="9"/>
            <a:ext cx="12188932" cy="2011073"/>
          </a:xfrm>
          <a:prstGeom prst="rect">
            <a:avLst/>
          </a:prstGeom>
        </p:spPr>
      </p:pic>
      <p:sp>
        <p:nvSpPr>
          <p:cNvPr id="8" name="TextBox 7">
            <a:extLst>
              <a:ext uri="{FF2B5EF4-FFF2-40B4-BE49-F238E27FC236}">
                <a16:creationId xmlns:a16="http://schemas.microsoft.com/office/drawing/2014/main" id="{DF7FA179-89FB-6F91-E486-5461C33AFF88}"/>
              </a:ext>
            </a:extLst>
          </p:cNvPr>
          <p:cNvSpPr txBox="1"/>
          <p:nvPr/>
        </p:nvSpPr>
        <p:spPr>
          <a:xfrm>
            <a:off x="6015460" y="3411301"/>
            <a:ext cx="6016369" cy="1200329"/>
          </a:xfrm>
          <a:prstGeom prst="rect">
            <a:avLst/>
          </a:prstGeom>
          <a:noFill/>
        </p:spPr>
        <p:txBody>
          <a:bodyPr wrap="square">
            <a:spAutoFit/>
          </a:bodyPr>
          <a:lstStyle/>
          <a:p>
            <a:pPr algn="r"/>
            <a:r>
              <a:rPr lang="ar-SA" b="1" dirty="0"/>
              <a:t>1-الخيلُ والليلُ والبيداءُ تعرفني   . .......   والسيفُ والرمحُ والقرطاسُ والقلم</a:t>
            </a:r>
            <a:endParaRPr lang="en-US" b="1" dirty="0"/>
          </a:p>
          <a:p>
            <a:pPr algn="r"/>
            <a:r>
              <a:rPr lang="ar-SA" b="1" dirty="0"/>
              <a:t>2-صحِبتُ في الفَلواتِ الوحشَ منفردًا  .....  حتى تعجّبَ مني القَفرُ والأكمُ</a:t>
            </a:r>
            <a:br>
              <a:rPr lang="en-US" b="1" dirty="0"/>
            </a:br>
            <a:r>
              <a:rPr lang="ar-SA" b="1" dirty="0"/>
              <a:t>3-والهمُّ يخترمُ الجَسيمَ نَحافةً   .........     ويُشيبُ ناصيةَ الصبيِّ ويهرم</a:t>
            </a:r>
            <a:endParaRPr lang="en-US" b="1" dirty="0"/>
          </a:p>
          <a:p>
            <a:pPr algn="r"/>
            <a:r>
              <a:rPr lang="ar-SA" b="1" dirty="0"/>
              <a:t>لا تَحمَدِ الأعداءُ فيَّ كرامةً  ..........     حتى أُوارِيَ في التُّرابِ أعَظُمِي</a:t>
            </a:r>
            <a:r>
              <a:rPr lang="en-US" sz="1800" b="1" kern="100" dirty="0">
                <a:effectLst/>
                <a:latin typeface="Aptos" panose="020B0004020202020204" pitchFamily="34" charset="0"/>
                <a:ea typeface="Aptos" panose="020B0004020202020204" pitchFamily="34" charset="0"/>
                <a:cs typeface="Arial" panose="020B0604020202020204" pitchFamily="34" charset="0"/>
              </a:rPr>
              <a:t> </a:t>
            </a:r>
            <a:r>
              <a:rPr lang="ar-SA" sz="1800" b="1" kern="100" dirty="0">
                <a:effectLst/>
                <a:latin typeface="Aptos" panose="020B0004020202020204" pitchFamily="34" charset="0"/>
                <a:ea typeface="Aptos" panose="020B0004020202020204" pitchFamily="34" charset="0"/>
                <a:cs typeface="Arial" panose="020B0604020202020204" pitchFamily="34" charset="0"/>
              </a:rPr>
              <a:t>4-</a:t>
            </a:r>
            <a:endParaRPr lang="en-US" sz="1600" b="1"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0DBCB476-1CFB-913C-EC38-573C9F567595}"/>
              </a:ext>
            </a:extLst>
          </p:cNvPr>
          <p:cNvSpPr txBox="1"/>
          <p:nvPr/>
        </p:nvSpPr>
        <p:spPr>
          <a:xfrm>
            <a:off x="9957661" y="309966"/>
            <a:ext cx="1914041" cy="369332"/>
          </a:xfrm>
          <a:prstGeom prst="rect">
            <a:avLst/>
          </a:prstGeom>
          <a:noFill/>
        </p:spPr>
        <p:txBody>
          <a:bodyPr wrap="square" rtlCol="0">
            <a:spAutoFit/>
          </a:bodyPr>
          <a:lstStyle/>
          <a:p>
            <a:r>
              <a:rPr lang="ar-SA" dirty="0"/>
              <a:t>مدرسة الشوامخ ح2-3</a:t>
            </a:r>
            <a:endParaRPr lang="en-US" dirty="0"/>
          </a:p>
        </p:txBody>
      </p:sp>
      <p:pic>
        <p:nvPicPr>
          <p:cNvPr id="11" name="Picture 10" descr="التربية والتعليم» تعلن هويتها المرئية الجديدة | صحيفة الخليج">
            <a:extLst>
              <a:ext uri="{FF2B5EF4-FFF2-40B4-BE49-F238E27FC236}">
                <a16:creationId xmlns:a16="http://schemas.microsoft.com/office/drawing/2014/main" id="{EA1954D2-EFB2-E4A8-ADBE-F76A4E0304E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28" y="0"/>
            <a:ext cx="1393825" cy="950595"/>
          </a:xfrm>
          <a:prstGeom prst="rect">
            <a:avLst/>
          </a:prstGeom>
          <a:noFill/>
          <a:ln>
            <a:noFill/>
          </a:ln>
        </p:spPr>
      </p:pic>
      <p:cxnSp>
        <p:nvCxnSpPr>
          <p:cNvPr id="26" name="Straight Connector 25">
            <a:extLst>
              <a:ext uri="{FF2B5EF4-FFF2-40B4-BE49-F238E27FC236}">
                <a16:creationId xmlns:a16="http://schemas.microsoft.com/office/drawing/2014/main" id="{3487ACF0-A491-DFF8-AEAA-B9DFD4EFA15D}"/>
              </a:ext>
            </a:extLst>
          </p:cNvPr>
          <p:cNvCxnSpPr>
            <a:cxnSpLocks/>
          </p:cNvCxnSpPr>
          <p:nvPr/>
        </p:nvCxnSpPr>
        <p:spPr>
          <a:xfrm>
            <a:off x="5680129" y="1995639"/>
            <a:ext cx="0" cy="412213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8" name="TextBox 27">
            <a:extLst>
              <a:ext uri="{FF2B5EF4-FFF2-40B4-BE49-F238E27FC236}">
                <a16:creationId xmlns:a16="http://schemas.microsoft.com/office/drawing/2014/main" id="{0CCF2E64-9722-A297-C9F4-8EF7EDE2F006}"/>
              </a:ext>
            </a:extLst>
          </p:cNvPr>
          <p:cNvSpPr txBox="1"/>
          <p:nvPr/>
        </p:nvSpPr>
        <p:spPr>
          <a:xfrm>
            <a:off x="6398559" y="2070759"/>
            <a:ext cx="5542239" cy="584775"/>
          </a:xfrm>
          <a:prstGeom prst="rect">
            <a:avLst/>
          </a:prstGeom>
          <a:noFill/>
        </p:spPr>
        <p:txBody>
          <a:bodyPr wrap="square" rtlCol="0">
            <a:spAutoFit/>
          </a:bodyPr>
          <a:lstStyle/>
          <a:p>
            <a:pPr algn="r"/>
            <a:r>
              <a:rPr lang="ar-SA" sz="1600" b="1" dirty="0">
                <a:solidFill>
                  <a:srgbClr val="C00000"/>
                </a:solidFill>
              </a:rPr>
              <a:t>اقرأ </a:t>
            </a:r>
            <a:r>
              <a:rPr lang="ar-SA" sz="1600" b="1" u="sng" dirty="0">
                <a:solidFill>
                  <a:srgbClr val="C00000"/>
                </a:solidFill>
              </a:rPr>
              <a:t>النص الشعري</a:t>
            </a:r>
            <a:r>
              <a:rPr lang="ar-SA" sz="1600" b="1" dirty="0">
                <a:solidFill>
                  <a:srgbClr val="C00000"/>
                </a:solidFill>
              </a:rPr>
              <a:t> الآتي للشاعر ( المتنبي ) يفخر بشجاعته في الحروب  </a:t>
            </a:r>
          </a:p>
          <a:p>
            <a:pPr algn="r"/>
            <a:r>
              <a:rPr lang="ar-SA" sz="1600" b="1" dirty="0">
                <a:solidFill>
                  <a:srgbClr val="C00000"/>
                </a:solidFill>
              </a:rPr>
              <a:t>ثم أجب  عما يليه من أسئلة .................</a:t>
            </a:r>
            <a:endParaRPr lang="en-US" sz="1600" b="1" dirty="0">
              <a:solidFill>
                <a:srgbClr val="C00000"/>
              </a:solidFill>
            </a:endParaRPr>
          </a:p>
        </p:txBody>
      </p:sp>
      <p:sp>
        <p:nvSpPr>
          <p:cNvPr id="29" name="TextBox 28">
            <a:extLst>
              <a:ext uri="{FF2B5EF4-FFF2-40B4-BE49-F238E27FC236}">
                <a16:creationId xmlns:a16="http://schemas.microsoft.com/office/drawing/2014/main" id="{081E8B1C-D4FD-5485-BDE5-31D87454A757}"/>
              </a:ext>
            </a:extLst>
          </p:cNvPr>
          <p:cNvSpPr txBox="1"/>
          <p:nvPr/>
        </p:nvSpPr>
        <p:spPr>
          <a:xfrm>
            <a:off x="10306036" y="2837164"/>
            <a:ext cx="1813302" cy="400110"/>
          </a:xfrm>
          <a:prstGeom prst="rect">
            <a:avLst/>
          </a:prstGeom>
          <a:noFill/>
        </p:spPr>
        <p:txBody>
          <a:bodyPr wrap="square" rtlCol="0">
            <a:spAutoFit/>
          </a:bodyPr>
          <a:lstStyle/>
          <a:p>
            <a:r>
              <a:rPr lang="ar-SA" sz="2000" b="1" dirty="0">
                <a:highlight>
                  <a:srgbClr val="00FF00"/>
                </a:highlight>
              </a:rPr>
              <a:t>فروسية شاعر </a:t>
            </a:r>
            <a:endParaRPr lang="en-US" sz="2000" b="1" dirty="0">
              <a:highlight>
                <a:srgbClr val="00FF00"/>
              </a:highlight>
            </a:endParaRPr>
          </a:p>
        </p:txBody>
      </p:sp>
      <p:pic>
        <p:nvPicPr>
          <p:cNvPr id="31" name="Picture 30" descr="أبو الطيب المتنبي - ويكيبيديا">
            <a:extLst>
              <a:ext uri="{FF2B5EF4-FFF2-40B4-BE49-F238E27FC236}">
                <a16:creationId xmlns:a16="http://schemas.microsoft.com/office/drawing/2014/main" id="{7EBEE67D-0F2C-8D22-AEBA-37829EC6DCA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783207" y="2070758"/>
            <a:ext cx="1178890" cy="1294668"/>
          </a:xfrm>
          <a:prstGeom prst="rect">
            <a:avLst/>
          </a:prstGeom>
          <a:noFill/>
          <a:ln>
            <a:noFill/>
          </a:ln>
        </p:spPr>
      </p:pic>
      <p:sp>
        <p:nvSpPr>
          <p:cNvPr id="37" name="Arrow: Left 36">
            <a:extLst>
              <a:ext uri="{FF2B5EF4-FFF2-40B4-BE49-F238E27FC236}">
                <a16:creationId xmlns:a16="http://schemas.microsoft.com/office/drawing/2014/main" id="{DF47E0DC-2BE6-D38F-4D36-E62E5E33439F}"/>
              </a:ext>
            </a:extLst>
          </p:cNvPr>
          <p:cNvSpPr/>
          <p:nvPr/>
        </p:nvSpPr>
        <p:spPr>
          <a:xfrm>
            <a:off x="4150320" y="2977043"/>
            <a:ext cx="1317481" cy="584773"/>
          </a:xfrm>
          <a:prstGeom prst="lef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ar-SA" b="1" dirty="0"/>
              <a:t>المهارة</a:t>
            </a:r>
            <a:endParaRPr lang="en-US" b="1" dirty="0"/>
          </a:p>
        </p:txBody>
      </p:sp>
      <p:sp>
        <p:nvSpPr>
          <p:cNvPr id="40" name="Rectangle 39">
            <a:extLst>
              <a:ext uri="{FF2B5EF4-FFF2-40B4-BE49-F238E27FC236}">
                <a16:creationId xmlns:a16="http://schemas.microsoft.com/office/drawing/2014/main" id="{7087E49A-A62B-0F5E-22F9-757C2CEED238}"/>
              </a:ext>
            </a:extLst>
          </p:cNvPr>
          <p:cNvSpPr/>
          <p:nvPr/>
        </p:nvSpPr>
        <p:spPr>
          <a:xfrm>
            <a:off x="5840372" y="5344735"/>
            <a:ext cx="6191386" cy="121920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r" rtl="1">
              <a:lnSpc>
                <a:spcPct val="115000"/>
              </a:lnSpc>
              <a:spcAft>
                <a:spcPts val="800"/>
              </a:spcAft>
              <a:buNone/>
            </a:pPr>
            <a:r>
              <a:rPr lang="en-US" sz="1200" b="1" kern="100" dirty="0">
                <a:effectLst/>
                <a:latin typeface="Arial" panose="020B0604020202020204" pitchFamily="34" charset="0"/>
                <a:ea typeface="Aptos" panose="020B0004020202020204" pitchFamily="34" charset="0"/>
                <a:cs typeface="Arial" panose="020B0604020202020204" pitchFamily="34" charset="0"/>
              </a:rPr>
              <a:t> </a:t>
            </a:r>
            <a:r>
              <a:rPr lang="ar-SA" sz="1050" b="1" kern="100" dirty="0">
                <a:effectLst/>
                <a:latin typeface="Arial" panose="020B0604020202020204" pitchFamily="34" charset="0"/>
                <a:ea typeface="Aptos" panose="020B0004020202020204" pitchFamily="34" charset="0"/>
                <a:cs typeface="Arial" panose="020B0604020202020204" pitchFamily="34" charset="0"/>
              </a:rPr>
              <a:t>الخيل والليل والبيداء:</a:t>
            </a:r>
            <a:r>
              <a:rPr lang="ar-SA" sz="1050" b="1" kern="100" dirty="0">
                <a:effectLst/>
                <a:ea typeface="Aptos" panose="020B0004020202020204" pitchFamily="34" charset="0"/>
                <a:cs typeface="Arial" panose="020B0604020202020204" pitchFamily="34" charset="0"/>
              </a:rPr>
              <a:t> رموز للشجاعة والمغامرة (الخيل: الحرب، الليل: الصبر، البيداء: الصحراء)</a:t>
            </a:r>
            <a:endParaRPr lang="en-US" sz="1050" b="1" kern="100" dirty="0">
              <a:effectLst/>
              <a:ea typeface="Aptos" panose="020B0004020202020204" pitchFamily="34" charset="0"/>
              <a:cs typeface="Arial" panose="020B0604020202020204" pitchFamily="34" charset="0"/>
            </a:endParaRPr>
          </a:p>
          <a:p>
            <a:pPr marL="0" marR="0" algn="r">
              <a:lnSpc>
                <a:spcPct val="115000"/>
              </a:lnSpc>
              <a:spcAft>
                <a:spcPts val="800"/>
              </a:spcAft>
              <a:buNone/>
            </a:pPr>
            <a:r>
              <a:rPr lang="ar-SA" sz="1050" b="1" kern="100" dirty="0">
                <a:effectLst/>
                <a:ea typeface="Aptos" panose="020B0004020202020204" pitchFamily="34" charset="0"/>
                <a:cs typeface="Arial" panose="020B0604020202020204" pitchFamily="34" charset="0"/>
              </a:rPr>
              <a:t>دلالة على العلم والفكر      الفلوات : الصحارى الواسعة          القَفر والأكم:  الأرض الخالية والتلال القرطاس والقلم:</a:t>
            </a:r>
            <a:endParaRPr lang="en-US" sz="1050" b="1" kern="100" dirty="0">
              <a:effectLst/>
              <a:ea typeface="Aptos" panose="020B0004020202020204" pitchFamily="34" charset="0"/>
              <a:cs typeface="Arial" panose="020B0604020202020204" pitchFamily="34" charset="0"/>
            </a:endParaRPr>
          </a:p>
          <a:p>
            <a:pPr marL="0" marR="0" algn="r">
              <a:lnSpc>
                <a:spcPct val="115000"/>
              </a:lnSpc>
              <a:spcAft>
                <a:spcPts val="800"/>
              </a:spcAft>
              <a:buNone/>
            </a:pPr>
            <a:r>
              <a:rPr lang="ar-SA" sz="1050" b="1" kern="100" dirty="0">
                <a:effectLst/>
                <a:ea typeface="Aptos" panose="020B0004020202020204" pitchFamily="34" charset="0"/>
                <a:cs typeface="Arial" panose="020B0604020202020204" pitchFamily="34" charset="0"/>
              </a:rPr>
              <a:t>يخترم الجسيم نحافة: يجعل الجسد النحيل قويًا بالإرادة  -  يُهرم: يُصيب بالشيخوخة  -  أواري في التراب عظمي: أي لا يستسلم حتى الموت</a:t>
            </a:r>
            <a:r>
              <a:rPr lang="en-US" sz="1200" b="1" kern="100" dirty="0">
                <a:effectLst/>
                <a:ea typeface="Aptos" panose="020B0004020202020204" pitchFamily="34" charset="0"/>
                <a:cs typeface="Arial" panose="020B0604020202020204" pitchFamily="34" charset="0"/>
              </a:rPr>
              <a:t>.</a:t>
            </a:r>
            <a:endParaRPr lang="en-US" sz="1200" kern="100" dirty="0">
              <a:effectLst/>
              <a:ea typeface="Aptos" panose="020B0004020202020204" pitchFamily="34" charset="0"/>
              <a:cs typeface="Arial" panose="020B0604020202020204" pitchFamily="34" charset="0"/>
            </a:endParaRPr>
          </a:p>
        </p:txBody>
      </p:sp>
      <p:sp>
        <p:nvSpPr>
          <p:cNvPr id="41" name="Text Box 13">
            <a:extLst>
              <a:ext uri="{FF2B5EF4-FFF2-40B4-BE49-F238E27FC236}">
                <a16:creationId xmlns:a16="http://schemas.microsoft.com/office/drawing/2014/main" id="{31CD07D0-C9F3-C13C-0654-5F2F0607D80A}"/>
              </a:ext>
            </a:extLst>
          </p:cNvPr>
          <p:cNvSpPr txBox="1"/>
          <p:nvPr/>
        </p:nvSpPr>
        <p:spPr>
          <a:xfrm>
            <a:off x="10378698" y="5011392"/>
            <a:ext cx="1562100" cy="470535"/>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Aft>
                <a:spcPts val="800"/>
              </a:spcAft>
              <a:buNone/>
            </a:pPr>
            <a:r>
              <a:rPr lang="ar-SA" sz="2000" b="1" kern="100">
                <a:effectLst/>
                <a:latin typeface="Aptos" panose="020B0004020202020204" pitchFamily="34" charset="0"/>
                <a:ea typeface="Aptos" panose="020B0004020202020204" pitchFamily="34" charset="0"/>
                <a:cs typeface="Arial" panose="020B0604020202020204" pitchFamily="34" charset="0"/>
              </a:rPr>
              <a:t>معاني المفردات</a:t>
            </a:r>
            <a:endParaRPr lang="en-US" sz="1200" kern="100">
              <a:effectLst/>
              <a:latin typeface="Aptos" panose="020B0004020202020204" pitchFamily="34" charset="0"/>
              <a:ea typeface="Aptos" panose="020B00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19F3F131-9433-6828-8ECC-BF5C9DCC4119}"/>
              </a:ext>
            </a:extLst>
          </p:cNvPr>
          <p:cNvSpPr txBox="1"/>
          <p:nvPr/>
        </p:nvSpPr>
        <p:spPr>
          <a:xfrm>
            <a:off x="3979864" y="2077351"/>
            <a:ext cx="1597188" cy="461665"/>
          </a:xfrm>
          <a:prstGeom prst="rect">
            <a:avLst/>
          </a:prstGeom>
          <a:noFill/>
        </p:spPr>
        <p:txBody>
          <a:bodyPr wrap="square">
            <a:spAutoFit/>
          </a:bodyPr>
          <a:lstStyle/>
          <a:p>
            <a:r>
              <a:rPr lang="ar-SA" sz="2400" b="1" dirty="0">
                <a:highlight>
                  <a:srgbClr val="FF00FF"/>
                </a:highlight>
              </a:rPr>
              <a:t>مهارات لغوية</a:t>
            </a:r>
            <a:endParaRPr lang="en-US" sz="6600" b="1" dirty="0">
              <a:highlight>
                <a:srgbClr val="FF00FF"/>
              </a:highlight>
            </a:endParaRPr>
          </a:p>
        </p:txBody>
      </p:sp>
      <p:sp>
        <p:nvSpPr>
          <p:cNvPr id="46" name="TextBox 45">
            <a:extLst>
              <a:ext uri="{FF2B5EF4-FFF2-40B4-BE49-F238E27FC236}">
                <a16:creationId xmlns:a16="http://schemas.microsoft.com/office/drawing/2014/main" id="{72147E51-B25A-5677-8BE2-D49FA0C961A2}"/>
              </a:ext>
            </a:extLst>
          </p:cNvPr>
          <p:cNvSpPr txBox="1"/>
          <p:nvPr/>
        </p:nvSpPr>
        <p:spPr>
          <a:xfrm>
            <a:off x="15938" y="3784898"/>
            <a:ext cx="5580858" cy="1511568"/>
          </a:xfrm>
          <a:prstGeom prst="rect">
            <a:avLst/>
          </a:prstGeom>
          <a:noFill/>
        </p:spPr>
        <p:txBody>
          <a:bodyPr wrap="square">
            <a:spAutoFit/>
          </a:bodyPr>
          <a:lstStyle/>
          <a:p>
            <a:pPr algn="r" rtl="1">
              <a:lnSpc>
                <a:spcPct val="115000"/>
              </a:lnSpc>
              <a:spcAft>
                <a:spcPts val="800"/>
              </a:spcAft>
            </a:pPr>
            <a:r>
              <a:rPr lang="ar-SA" sz="2800" b="1" dirty="0">
                <a:solidFill>
                  <a:srgbClr val="C00000"/>
                </a:solidFill>
              </a:rPr>
              <a:t>7- </a:t>
            </a:r>
            <a:r>
              <a:rPr lang="ar-SA" b="1" dirty="0">
                <a:solidFill>
                  <a:srgbClr val="C00000"/>
                </a:solidFill>
              </a:rPr>
              <a:t>استخرج اسم مفعول من البيت التالي :</a:t>
            </a:r>
          </a:p>
          <a:p>
            <a:pPr algn="r" rtl="1">
              <a:lnSpc>
                <a:spcPct val="115000"/>
              </a:lnSpc>
              <a:spcAft>
                <a:spcPts val="800"/>
              </a:spcAft>
            </a:pPr>
            <a:r>
              <a:rPr lang="ar-SA" sz="2000" dirty="0"/>
              <a:t>مرفوعُ الرأسِ في وجهِ العِدا شرفٌ   ومغلوبُ النفسِ في الذلِّ انكسارُ</a:t>
            </a:r>
            <a:br>
              <a:rPr lang="ar-SA" sz="2000" dirty="0"/>
            </a:br>
            <a:r>
              <a:rPr lang="ar-SA" sz="2800" b="1" kern="100" dirty="0">
                <a:latin typeface="Aptos" panose="020B0004020202020204" pitchFamily="34" charset="0"/>
                <a:ea typeface="Aptos" panose="020B0004020202020204" pitchFamily="34" charset="0"/>
                <a:cs typeface="Arial" panose="020B0604020202020204" pitchFamily="34" charset="0"/>
              </a:rPr>
              <a:t>ج – مرفوع   -   مغلوب</a:t>
            </a:r>
            <a:endParaRPr lang="ar-SA" sz="2000" b="1" kern="100" dirty="0">
              <a:highlight>
                <a:srgbClr val="00FFFF"/>
              </a:highlight>
              <a:latin typeface="Aptos" panose="020B0004020202020204" pitchFamily="34" charset="0"/>
              <a:ea typeface="Aptos" panose="020B00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23FBC18A-AC3B-5DA3-28E0-AA47FB3E03CF}"/>
              </a:ext>
            </a:extLst>
          </p:cNvPr>
          <p:cNvSpPr txBox="1"/>
          <p:nvPr/>
        </p:nvSpPr>
        <p:spPr>
          <a:xfrm>
            <a:off x="4552781" y="2823403"/>
            <a:ext cx="1178887" cy="338554"/>
          </a:xfrm>
          <a:prstGeom prst="rect">
            <a:avLst/>
          </a:prstGeom>
          <a:noFill/>
        </p:spPr>
        <p:txBody>
          <a:bodyPr wrap="square">
            <a:spAutoFit/>
          </a:bodyPr>
          <a:lstStyle/>
          <a:p>
            <a:r>
              <a:rPr lang="ar-SA" sz="1600" b="1" i="0" u="none" strike="noStrike" baseline="0" dirty="0">
                <a:latin typeface="SakkalMajalla-Bold"/>
              </a:rPr>
              <a:t>سُؤالٌ مقاليٌّ</a:t>
            </a:r>
            <a:endParaRPr lang="en-US" sz="4400" b="1" dirty="0"/>
          </a:p>
        </p:txBody>
      </p:sp>
      <p:pic>
        <p:nvPicPr>
          <p:cNvPr id="6" name="Picture 5">
            <a:extLst>
              <a:ext uri="{FF2B5EF4-FFF2-40B4-BE49-F238E27FC236}">
                <a16:creationId xmlns:a16="http://schemas.microsoft.com/office/drawing/2014/main" id="{FDDBF99B-459F-6F20-3079-6B60DFF7BC80}"/>
              </a:ext>
            </a:extLst>
          </p:cNvPr>
          <p:cNvPicPr>
            <a:picLocks noChangeAspect="1"/>
          </p:cNvPicPr>
          <p:nvPr/>
        </p:nvPicPr>
        <p:blipFill>
          <a:blip r:embed="rId6"/>
          <a:stretch>
            <a:fillRect/>
          </a:stretch>
        </p:blipFill>
        <p:spPr>
          <a:xfrm>
            <a:off x="817997" y="2712912"/>
            <a:ext cx="3036386" cy="994234"/>
          </a:xfrm>
          <a:prstGeom prst="rect">
            <a:avLst/>
          </a:prstGeom>
        </p:spPr>
      </p:pic>
      <p:sp>
        <p:nvSpPr>
          <p:cNvPr id="7" name="TextBox 6">
            <a:extLst>
              <a:ext uri="{FF2B5EF4-FFF2-40B4-BE49-F238E27FC236}">
                <a16:creationId xmlns:a16="http://schemas.microsoft.com/office/drawing/2014/main" id="{7B7A7555-772E-EB2D-E128-E4B5E3725ACF}"/>
              </a:ext>
            </a:extLst>
          </p:cNvPr>
          <p:cNvSpPr txBox="1"/>
          <p:nvPr/>
        </p:nvSpPr>
        <p:spPr>
          <a:xfrm>
            <a:off x="474646" y="6351069"/>
            <a:ext cx="5205483" cy="400110"/>
          </a:xfrm>
          <a:prstGeom prst="rect">
            <a:avLst/>
          </a:prstGeom>
          <a:noFill/>
        </p:spPr>
        <p:txBody>
          <a:bodyPr wrap="square" rtlCol="0">
            <a:spAutoFit/>
          </a:bodyPr>
          <a:lstStyle/>
          <a:p>
            <a:r>
              <a:rPr lang="ar-SA" sz="2000" b="1" dirty="0">
                <a:solidFill>
                  <a:srgbClr val="CB6792"/>
                </a:solidFill>
              </a:rPr>
              <a:t>إعداد... أ: شيخة السويدي</a:t>
            </a:r>
            <a:endParaRPr lang="en-US" sz="2000" b="1" dirty="0">
              <a:solidFill>
                <a:srgbClr val="CB6792"/>
              </a:solidFill>
            </a:endParaRPr>
          </a:p>
        </p:txBody>
      </p:sp>
    </p:spTree>
    <p:extLst>
      <p:ext uri="{BB962C8B-B14F-4D97-AF65-F5344CB8AC3E}">
        <p14:creationId xmlns:p14="http://schemas.microsoft.com/office/powerpoint/2010/main" val="30620479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470F3-9B59-864A-9882-C0A8B2597EDA}"/>
            </a:ext>
          </a:extLst>
        </p:cNvPr>
        <p:cNvGrpSpPr/>
        <p:nvPr/>
      </p:nvGrpSpPr>
      <p:grpSpPr>
        <a:xfrm>
          <a:off x="0" y="0"/>
          <a:ext cx="0" cy="0"/>
          <a:chOff x="0" y="0"/>
          <a:chExt cx="0" cy="0"/>
        </a:xfrm>
      </p:grpSpPr>
      <p:pic>
        <p:nvPicPr>
          <p:cNvPr id="5" name="Picture 4" descr="A logo with a feather and a book&#10;&#10;AI-generated content may be incorrect.">
            <a:extLst>
              <a:ext uri="{FF2B5EF4-FFF2-40B4-BE49-F238E27FC236}">
                <a16:creationId xmlns:a16="http://schemas.microsoft.com/office/drawing/2014/main" id="{D94DDDD0-F66D-D3FE-C555-F950E131BE18}"/>
              </a:ext>
            </a:extLst>
          </p:cNvPr>
          <p:cNvPicPr>
            <a:picLocks noChangeAspect="1"/>
          </p:cNvPicPr>
          <p:nvPr/>
        </p:nvPicPr>
        <p:blipFill>
          <a:blip r:embed="rId3">
            <a:extLst>
              <a:ext uri="{28A0092B-C50C-407E-A947-70E740481C1C}">
                <a14:useLocalDpi xmlns:a14="http://schemas.microsoft.com/office/drawing/2010/main" val="0"/>
              </a:ext>
            </a:extLst>
          </a:blip>
          <a:srcRect t="18752" r="-1" b="-1"/>
          <a:stretch>
            <a:fillRect/>
          </a:stretch>
        </p:blipFill>
        <p:spPr>
          <a:xfrm>
            <a:off x="3068" y="9"/>
            <a:ext cx="12188932" cy="2011073"/>
          </a:xfrm>
          <a:prstGeom prst="rect">
            <a:avLst/>
          </a:prstGeom>
        </p:spPr>
      </p:pic>
      <p:sp>
        <p:nvSpPr>
          <p:cNvPr id="8" name="TextBox 7">
            <a:extLst>
              <a:ext uri="{FF2B5EF4-FFF2-40B4-BE49-F238E27FC236}">
                <a16:creationId xmlns:a16="http://schemas.microsoft.com/office/drawing/2014/main" id="{35D90390-F561-C415-D471-D818645B8FDD}"/>
              </a:ext>
            </a:extLst>
          </p:cNvPr>
          <p:cNvSpPr txBox="1"/>
          <p:nvPr/>
        </p:nvSpPr>
        <p:spPr>
          <a:xfrm>
            <a:off x="6015460" y="3411301"/>
            <a:ext cx="6016369" cy="1200329"/>
          </a:xfrm>
          <a:prstGeom prst="rect">
            <a:avLst/>
          </a:prstGeom>
          <a:noFill/>
        </p:spPr>
        <p:txBody>
          <a:bodyPr wrap="square">
            <a:spAutoFit/>
          </a:bodyPr>
          <a:lstStyle/>
          <a:p>
            <a:pPr algn="r"/>
            <a:r>
              <a:rPr lang="ar-SA" b="1" dirty="0"/>
              <a:t>1-الخيلُ والليلُ والبيداءُ تعرفني   . .......   والسيفُ والرمحُ والقرطاسُ والقلم</a:t>
            </a:r>
            <a:endParaRPr lang="en-US" b="1" dirty="0"/>
          </a:p>
          <a:p>
            <a:pPr algn="r"/>
            <a:r>
              <a:rPr lang="ar-SA" b="1" dirty="0"/>
              <a:t>2-صحِبتُ في الفَلواتِ الوحشَ منفردًا  .....  حتى تعجّبَ مني القَفرُ والأكمُ</a:t>
            </a:r>
            <a:br>
              <a:rPr lang="en-US" b="1" dirty="0"/>
            </a:br>
            <a:r>
              <a:rPr lang="ar-SA" b="1" dirty="0"/>
              <a:t>3-والهمُّ يخترمُ الجَسيمَ نَحافةً   .........     ويُشيبُ ناصيةَ الصبيِّ ويهرم</a:t>
            </a:r>
            <a:endParaRPr lang="en-US" b="1" dirty="0"/>
          </a:p>
          <a:p>
            <a:pPr algn="r"/>
            <a:r>
              <a:rPr lang="ar-SA" b="1" dirty="0"/>
              <a:t>لا تَحمَدِ الأعداءُ فيَّ كرامةً  ..........     حتى أُوارِيَ في التُّرابِ أعَظُمِي</a:t>
            </a:r>
            <a:r>
              <a:rPr lang="en-US" sz="1800" b="1" kern="100" dirty="0">
                <a:effectLst/>
                <a:latin typeface="Aptos" panose="020B0004020202020204" pitchFamily="34" charset="0"/>
                <a:ea typeface="Aptos" panose="020B0004020202020204" pitchFamily="34" charset="0"/>
                <a:cs typeface="Arial" panose="020B0604020202020204" pitchFamily="34" charset="0"/>
              </a:rPr>
              <a:t> </a:t>
            </a:r>
            <a:r>
              <a:rPr lang="ar-SA" sz="1800" b="1" kern="100" dirty="0">
                <a:effectLst/>
                <a:latin typeface="Aptos" panose="020B0004020202020204" pitchFamily="34" charset="0"/>
                <a:ea typeface="Aptos" panose="020B0004020202020204" pitchFamily="34" charset="0"/>
                <a:cs typeface="Arial" panose="020B0604020202020204" pitchFamily="34" charset="0"/>
              </a:rPr>
              <a:t>4-</a:t>
            </a:r>
            <a:endParaRPr lang="en-US" sz="1600" b="1"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0A92DD4F-2992-75D4-1705-2A5FDED91415}"/>
              </a:ext>
            </a:extLst>
          </p:cNvPr>
          <p:cNvSpPr txBox="1"/>
          <p:nvPr/>
        </p:nvSpPr>
        <p:spPr>
          <a:xfrm>
            <a:off x="9957661" y="309966"/>
            <a:ext cx="1914041" cy="369332"/>
          </a:xfrm>
          <a:prstGeom prst="rect">
            <a:avLst/>
          </a:prstGeom>
          <a:noFill/>
        </p:spPr>
        <p:txBody>
          <a:bodyPr wrap="square" rtlCol="0">
            <a:spAutoFit/>
          </a:bodyPr>
          <a:lstStyle/>
          <a:p>
            <a:r>
              <a:rPr lang="ar-SA" dirty="0"/>
              <a:t>مدرسة الشوامخ ح2-3</a:t>
            </a:r>
            <a:endParaRPr lang="en-US" dirty="0"/>
          </a:p>
        </p:txBody>
      </p:sp>
      <p:pic>
        <p:nvPicPr>
          <p:cNvPr id="11" name="Picture 10" descr="التربية والتعليم» تعلن هويتها المرئية الجديدة | صحيفة الخليج">
            <a:extLst>
              <a:ext uri="{FF2B5EF4-FFF2-40B4-BE49-F238E27FC236}">
                <a16:creationId xmlns:a16="http://schemas.microsoft.com/office/drawing/2014/main" id="{768F5611-165E-E1B1-0055-69F7BE092D3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28" y="0"/>
            <a:ext cx="1393825" cy="950595"/>
          </a:xfrm>
          <a:prstGeom prst="rect">
            <a:avLst/>
          </a:prstGeom>
          <a:noFill/>
          <a:ln>
            <a:noFill/>
          </a:ln>
        </p:spPr>
      </p:pic>
      <p:cxnSp>
        <p:nvCxnSpPr>
          <p:cNvPr id="26" name="Straight Connector 25">
            <a:extLst>
              <a:ext uri="{FF2B5EF4-FFF2-40B4-BE49-F238E27FC236}">
                <a16:creationId xmlns:a16="http://schemas.microsoft.com/office/drawing/2014/main" id="{E607EE81-150F-BA82-AE0D-CA888B43A28E}"/>
              </a:ext>
            </a:extLst>
          </p:cNvPr>
          <p:cNvCxnSpPr>
            <a:cxnSpLocks/>
          </p:cNvCxnSpPr>
          <p:nvPr/>
        </p:nvCxnSpPr>
        <p:spPr>
          <a:xfrm>
            <a:off x="5680129" y="1995639"/>
            <a:ext cx="0" cy="412213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8" name="TextBox 27">
            <a:extLst>
              <a:ext uri="{FF2B5EF4-FFF2-40B4-BE49-F238E27FC236}">
                <a16:creationId xmlns:a16="http://schemas.microsoft.com/office/drawing/2014/main" id="{EC7FFA63-0A97-D1A3-5EF0-3522E1F13D34}"/>
              </a:ext>
            </a:extLst>
          </p:cNvPr>
          <p:cNvSpPr txBox="1"/>
          <p:nvPr/>
        </p:nvSpPr>
        <p:spPr>
          <a:xfrm>
            <a:off x="6398559" y="2070759"/>
            <a:ext cx="5542239" cy="584775"/>
          </a:xfrm>
          <a:prstGeom prst="rect">
            <a:avLst/>
          </a:prstGeom>
          <a:noFill/>
        </p:spPr>
        <p:txBody>
          <a:bodyPr wrap="square" rtlCol="0">
            <a:spAutoFit/>
          </a:bodyPr>
          <a:lstStyle/>
          <a:p>
            <a:pPr algn="r"/>
            <a:r>
              <a:rPr lang="ar-SA" sz="1600" b="1" dirty="0">
                <a:solidFill>
                  <a:srgbClr val="C00000"/>
                </a:solidFill>
              </a:rPr>
              <a:t>اقرأ </a:t>
            </a:r>
            <a:r>
              <a:rPr lang="ar-SA" sz="1600" b="1" u="sng" dirty="0">
                <a:solidFill>
                  <a:srgbClr val="C00000"/>
                </a:solidFill>
              </a:rPr>
              <a:t>النص الشعري</a:t>
            </a:r>
            <a:r>
              <a:rPr lang="ar-SA" sz="1600" b="1" dirty="0">
                <a:solidFill>
                  <a:srgbClr val="C00000"/>
                </a:solidFill>
              </a:rPr>
              <a:t> الآتي للشاعر ( المتنبي ) يفخر بشجاعته في الحروب  </a:t>
            </a:r>
          </a:p>
          <a:p>
            <a:pPr algn="r"/>
            <a:r>
              <a:rPr lang="ar-SA" sz="1600" b="1" dirty="0">
                <a:solidFill>
                  <a:srgbClr val="C00000"/>
                </a:solidFill>
              </a:rPr>
              <a:t>ثم أجب عما يليه من أسئلة .................</a:t>
            </a:r>
            <a:endParaRPr lang="en-US" sz="1600" b="1" dirty="0">
              <a:solidFill>
                <a:srgbClr val="C00000"/>
              </a:solidFill>
            </a:endParaRPr>
          </a:p>
        </p:txBody>
      </p:sp>
      <p:sp>
        <p:nvSpPr>
          <p:cNvPr id="29" name="TextBox 28">
            <a:extLst>
              <a:ext uri="{FF2B5EF4-FFF2-40B4-BE49-F238E27FC236}">
                <a16:creationId xmlns:a16="http://schemas.microsoft.com/office/drawing/2014/main" id="{9AE60FB0-8438-F002-DAA4-BF2C45241035}"/>
              </a:ext>
            </a:extLst>
          </p:cNvPr>
          <p:cNvSpPr txBox="1"/>
          <p:nvPr/>
        </p:nvSpPr>
        <p:spPr>
          <a:xfrm>
            <a:off x="10306036" y="2837164"/>
            <a:ext cx="1813302" cy="400110"/>
          </a:xfrm>
          <a:prstGeom prst="rect">
            <a:avLst/>
          </a:prstGeom>
          <a:noFill/>
        </p:spPr>
        <p:txBody>
          <a:bodyPr wrap="square" rtlCol="0">
            <a:spAutoFit/>
          </a:bodyPr>
          <a:lstStyle/>
          <a:p>
            <a:r>
              <a:rPr lang="ar-SA" sz="2000" b="1" dirty="0">
                <a:highlight>
                  <a:srgbClr val="00FF00"/>
                </a:highlight>
              </a:rPr>
              <a:t>فروسية شاعر </a:t>
            </a:r>
            <a:endParaRPr lang="en-US" sz="2000" b="1" dirty="0">
              <a:highlight>
                <a:srgbClr val="00FF00"/>
              </a:highlight>
            </a:endParaRPr>
          </a:p>
        </p:txBody>
      </p:sp>
      <p:pic>
        <p:nvPicPr>
          <p:cNvPr id="31" name="Picture 30" descr="أبو الطيب المتنبي - ويكيبيديا">
            <a:extLst>
              <a:ext uri="{FF2B5EF4-FFF2-40B4-BE49-F238E27FC236}">
                <a16:creationId xmlns:a16="http://schemas.microsoft.com/office/drawing/2014/main" id="{46FCD917-546F-BCB4-F3ED-31813FA528E7}"/>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783207" y="2070758"/>
            <a:ext cx="1178890" cy="1294668"/>
          </a:xfrm>
          <a:prstGeom prst="rect">
            <a:avLst/>
          </a:prstGeom>
          <a:noFill/>
          <a:ln>
            <a:noFill/>
          </a:ln>
        </p:spPr>
      </p:pic>
      <p:sp>
        <p:nvSpPr>
          <p:cNvPr id="37" name="Arrow: Left 36">
            <a:extLst>
              <a:ext uri="{FF2B5EF4-FFF2-40B4-BE49-F238E27FC236}">
                <a16:creationId xmlns:a16="http://schemas.microsoft.com/office/drawing/2014/main" id="{26B05207-F29A-421B-7A69-67C031A14731}"/>
              </a:ext>
            </a:extLst>
          </p:cNvPr>
          <p:cNvSpPr/>
          <p:nvPr/>
        </p:nvSpPr>
        <p:spPr>
          <a:xfrm>
            <a:off x="4150320" y="2977043"/>
            <a:ext cx="1317481" cy="584773"/>
          </a:xfrm>
          <a:prstGeom prst="lef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ar-SA" b="1" dirty="0"/>
              <a:t>المهارة</a:t>
            </a:r>
            <a:endParaRPr lang="en-US" b="1" dirty="0"/>
          </a:p>
        </p:txBody>
      </p:sp>
      <p:sp>
        <p:nvSpPr>
          <p:cNvPr id="40" name="Rectangle 39">
            <a:extLst>
              <a:ext uri="{FF2B5EF4-FFF2-40B4-BE49-F238E27FC236}">
                <a16:creationId xmlns:a16="http://schemas.microsoft.com/office/drawing/2014/main" id="{F43557A0-9A00-430B-342C-FD49A55C1EEB}"/>
              </a:ext>
            </a:extLst>
          </p:cNvPr>
          <p:cNvSpPr/>
          <p:nvPr/>
        </p:nvSpPr>
        <p:spPr>
          <a:xfrm>
            <a:off x="5840372" y="5344735"/>
            <a:ext cx="6191386" cy="121920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r" rtl="1">
              <a:lnSpc>
                <a:spcPct val="115000"/>
              </a:lnSpc>
              <a:spcAft>
                <a:spcPts val="800"/>
              </a:spcAft>
              <a:buNone/>
            </a:pPr>
            <a:r>
              <a:rPr lang="en-US" sz="1200" b="1" kern="100" dirty="0">
                <a:effectLst/>
                <a:latin typeface="Arial" panose="020B0604020202020204" pitchFamily="34" charset="0"/>
                <a:ea typeface="Aptos" panose="020B0004020202020204" pitchFamily="34" charset="0"/>
                <a:cs typeface="Arial" panose="020B0604020202020204" pitchFamily="34" charset="0"/>
              </a:rPr>
              <a:t> </a:t>
            </a:r>
            <a:r>
              <a:rPr lang="ar-SA" sz="1050" b="1" kern="100" dirty="0">
                <a:effectLst/>
                <a:latin typeface="Arial" panose="020B0604020202020204" pitchFamily="34" charset="0"/>
                <a:ea typeface="Aptos" panose="020B0004020202020204" pitchFamily="34" charset="0"/>
                <a:cs typeface="Arial" panose="020B0604020202020204" pitchFamily="34" charset="0"/>
              </a:rPr>
              <a:t>الخيل والليل والبيداء:</a:t>
            </a:r>
            <a:r>
              <a:rPr lang="ar-SA" sz="1050" b="1" kern="100" dirty="0">
                <a:effectLst/>
                <a:ea typeface="Aptos" panose="020B0004020202020204" pitchFamily="34" charset="0"/>
                <a:cs typeface="Arial" panose="020B0604020202020204" pitchFamily="34" charset="0"/>
              </a:rPr>
              <a:t> رموز للشجاعة والمغامرة (الخيل: الحرب، الليل: الصبر، البيداء: الصحراء)</a:t>
            </a:r>
            <a:endParaRPr lang="en-US" sz="1050" b="1" kern="100" dirty="0">
              <a:effectLst/>
              <a:ea typeface="Aptos" panose="020B0004020202020204" pitchFamily="34" charset="0"/>
              <a:cs typeface="Arial" panose="020B0604020202020204" pitchFamily="34" charset="0"/>
            </a:endParaRPr>
          </a:p>
          <a:p>
            <a:pPr marL="0" marR="0" algn="r">
              <a:lnSpc>
                <a:spcPct val="115000"/>
              </a:lnSpc>
              <a:spcAft>
                <a:spcPts val="800"/>
              </a:spcAft>
              <a:buNone/>
            </a:pPr>
            <a:r>
              <a:rPr lang="ar-SA" sz="1050" b="1" kern="100" dirty="0">
                <a:effectLst/>
                <a:ea typeface="Aptos" panose="020B0004020202020204" pitchFamily="34" charset="0"/>
                <a:cs typeface="Arial" panose="020B0604020202020204" pitchFamily="34" charset="0"/>
              </a:rPr>
              <a:t>دلالة على العلم والفكر      الفلوات : الصحارى الواسعة          القَفر والأكم:  الأرض الخالية والتلال القرطاس والقلم:</a:t>
            </a:r>
            <a:endParaRPr lang="en-US" sz="1050" b="1" kern="100" dirty="0">
              <a:effectLst/>
              <a:ea typeface="Aptos" panose="020B0004020202020204" pitchFamily="34" charset="0"/>
              <a:cs typeface="Arial" panose="020B0604020202020204" pitchFamily="34" charset="0"/>
            </a:endParaRPr>
          </a:p>
          <a:p>
            <a:pPr marL="0" marR="0" algn="r">
              <a:lnSpc>
                <a:spcPct val="115000"/>
              </a:lnSpc>
              <a:spcAft>
                <a:spcPts val="800"/>
              </a:spcAft>
              <a:buNone/>
            </a:pPr>
            <a:r>
              <a:rPr lang="ar-SA" sz="1050" b="1" kern="100" dirty="0">
                <a:effectLst/>
                <a:ea typeface="Aptos" panose="020B0004020202020204" pitchFamily="34" charset="0"/>
                <a:cs typeface="Arial" panose="020B0604020202020204" pitchFamily="34" charset="0"/>
              </a:rPr>
              <a:t>يخترم الجسيم نحافة: يجعل الجسد النحيل قويًا بالإرادة  -  يُهرم: يُصيب بالشيخوخة  -  أواري في التراب عظمي: أي لا يستسلم حتى الموت</a:t>
            </a:r>
            <a:r>
              <a:rPr lang="en-US" sz="1200" b="1" kern="100" dirty="0">
                <a:effectLst/>
                <a:ea typeface="Aptos" panose="020B0004020202020204" pitchFamily="34" charset="0"/>
                <a:cs typeface="Arial" panose="020B0604020202020204" pitchFamily="34" charset="0"/>
              </a:rPr>
              <a:t>.</a:t>
            </a:r>
            <a:endParaRPr lang="en-US" sz="1200" kern="100" dirty="0">
              <a:effectLst/>
              <a:ea typeface="Aptos" panose="020B0004020202020204" pitchFamily="34" charset="0"/>
              <a:cs typeface="Arial" panose="020B0604020202020204" pitchFamily="34" charset="0"/>
            </a:endParaRPr>
          </a:p>
        </p:txBody>
      </p:sp>
      <p:sp>
        <p:nvSpPr>
          <p:cNvPr id="41" name="Text Box 13">
            <a:extLst>
              <a:ext uri="{FF2B5EF4-FFF2-40B4-BE49-F238E27FC236}">
                <a16:creationId xmlns:a16="http://schemas.microsoft.com/office/drawing/2014/main" id="{DCFD0BD8-6482-DFAF-3B4E-3C2A8795EB97}"/>
              </a:ext>
            </a:extLst>
          </p:cNvPr>
          <p:cNvSpPr txBox="1"/>
          <p:nvPr/>
        </p:nvSpPr>
        <p:spPr>
          <a:xfrm>
            <a:off x="10378698" y="5011392"/>
            <a:ext cx="1562100" cy="470535"/>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Aft>
                <a:spcPts val="800"/>
              </a:spcAft>
              <a:buNone/>
            </a:pPr>
            <a:r>
              <a:rPr lang="ar-SA" sz="2000" b="1" kern="100">
                <a:effectLst/>
                <a:latin typeface="Aptos" panose="020B0004020202020204" pitchFamily="34" charset="0"/>
                <a:ea typeface="Aptos" panose="020B0004020202020204" pitchFamily="34" charset="0"/>
                <a:cs typeface="Arial" panose="020B0604020202020204" pitchFamily="34" charset="0"/>
              </a:rPr>
              <a:t>معاني المفردات</a:t>
            </a:r>
            <a:endParaRPr lang="en-US" sz="1200" kern="100">
              <a:effectLst/>
              <a:latin typeface="Aptos" panose="020B0004020202020204" pitchFamily="34" charset="0"/>
              <a:ea typeface="Aptos" panose="020B00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21FBDDC5-C863-7AAB-6592-D0B13F750B24}"/>
              </a:ext>
            </a:extLst>
          </p:cNvPr>
          <p:cNvSpPr txBox="1"/>
          <p:nvPr/>
        </p:nvSpPr>
        <p:spPr>
          <a:xfrm>
            <a:off x="3979864" y="2077351"/>
            <a:ext cx="1597188" cy="461665"/>
          </a:xfrm>
          <a:prstGeom prst="rect">
            <a:avLst/>
          </a:prstGeom>
          <a:noFill/>
        </p:spPr>
        <p:txBody>
          <a:bodyPr wrap="square">
            <a:spAutoFit/>
          </a:bodyPr>
          <a:lstStyle/>
          <a:p>
            <a:r>
              <a:rPr lang="ar-SA" sz="2400" b="1" dirty="0">
                <a:highlight>
                  <a:srgbClr val="FF00FF"/>
                </a:highlight>
              </a:rPr>
              <a:t>مهارات لغوية</a:t>
            </a:r>
            <a:endParaRPr lang="en-US" sz="6600" b="1" dirty="0">
              <a:highlight>
                <a:srgbClr val="FF00FF"/>
              </a:highlight>
            </a:endParaRPr>
          </a:p>
        </p:txBody>
      </p:sp>
      <p:sp>
        <p:nvSpPr>
          <p:cNvPr id="46" name="TextBox 45">
            <a:extLst>
              <a:ext uri="{FF2B5EF4-FFF2-40B4-BE49-F238E27FC236}">
                <a16:creationId xmlns:a16="http://schemas.microsoft.com/office/drawing/2014/main" id="{D9B8E68E-3351-9F6D-4745-5A29830DE062}"/>
              </a:ext>
            </a:extLst>
          </p:cNvPr>
          <p:cNvSpPr txBox="1"/>
          <p:nvPr/>
        </p:nvSpPr>
        <p:spPr>
          <a:xfrm>
            <a:off x="15938" y="3784898"/>
            <a:ext cx="5580858" cy="1405385"/>
          </a:xfrm>
          <a:prstGeom prst="rect">
            <a:avLst/>
          </a:prstGeom>
          <a:noFill/>
        </p:spPr>
        <p:txBody>
          <a:bodyPr wrap="square">
            <a:spAutoFit/>
          </a:bodyPr>
          <a:lstStyle/>
          <a:p>
            <a:pPr algn="r" rtl="1">
              <a:lnSpc>
                <a:spcPct val="115000"/>
              </a:lnSpc>
              <a:spcAft>
                <a:spcPts val="800"/>
              </a:spcAft>
            </a:pPr>
            <a:r>
              <a:rPr lang="ar-SA" sz="2400" b="1" dirty="0">
                <a:solidFill>
                  <a:srgbClr val="C00000"/>
                </a:solidFill>
              </a:rPr>
              <a:t>8- </a:t>
            </a:r>
            <a:r>
              <a:rPr lang="ar-SA" sz="2000" b="1" dirty="0">
                <a:solidFill>
                  <a:srgbClr val="C00000"/>
                </a:solidFill>
              </a:rPr>
              <a:t>استخرج من البيت التالي كلمة على وزن (  فَعَالَةً  ) </a:t>
            </a:r>
          </a:p>
          <a:p>
            <a:pPr algn="r" rtl="1">
              <a:lnSpc>
                <a:spcPct val="115000"/>
              </a:lnSpc>
              <a:spcAft>
                <a:spcPts val="800"/>
              </a:spcAft>
            </a:pPr>
            <a:r>
              <a:rPr lang="ar-SA" b="1" dirty="0"/>
              <a:t>لا تَحمَدِ الأعداءُ فيَّ كرامةً  ..........     حتى أُوارِيَ في التُّرابِ أعَظُمِي</a:t>
            </a:r>
            <a:r>
              <a:rPr lang="en-US" b="1" kern="100" dirty="0">
                <a:effectLst/>
                <a:latin typeface="Aptos" panose="020B0004020202020204" pitchFamily="34" charset="0"/>
                <a:ea typeface="Aptos" panose="020B0004020202020204" pitchFamily="34" charset="0"/>
                <a:cs typeface="Arial" panose="020B0604020202020204" pitchFamily="34" charset="0"/>
              </a:rPr>
              <a:t> </a:t>
            </a:r>
            <a:br>
              <a:rPr lang="ar-SA" sz="2000" dirty="0"/>
            </a:br>
            <a:r>
              <a:rPr lang="ar-SA" sz="2800" b="1" kern="100" dirty="0">
                <a:latin typeface="Aptos" panose="020B0004020202020204" pitchFamily="34" charset="0"/>
                <a:ea typeface="Aptos" panose="020B0004020202020204" pitchFamily="34" charset="0"/>
                <a:cs typeface="Arial" panose="020B0604020202020204" pitchFamily="34" charset="0"/>
              </a:rPr>
              <a:t>ج – كَرَامَةً </a:t>
            </a:r>
            <a:endParaRPr lang="ar-SA" sz="2000" b="1" kern="100" dirty="0">
              <a:highlight>
                <a:srgbClr val="00FFFF"/>
              </a:highlight>
              <a:latin typeface="Aptos" panose="020B0004020202020204" pitchFamily="34" charset="0"/>
              <a:ea typeface="Aptos" panose="020B00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9EFCD93-8FB4-5068-A7F8-8F52BCA0EF78}"/>
              </a:ext>
            </a:extLst>
          </p:cNvPr>
          <p:cNvSpPr txBox="1"/>
          <p:nvPr/>
        </p:nvSpPr>
        <p:spPr>
          <a:xfrm>
            <a:off x="4552781" y="2823403"/>
            <a:ext cx="1178887" cy="338554"/>
          </a:xfrm>
          <a:prstGeom prst="rect">
            <a:avLst/>
          </a:prstGeom>
          <a:noFill/>
        </p:spPr>
        <p:txBody>
          <a:bodyPr wrap="square">
            <a:spAutoFit/>
          </a:bodyPr>
          <a:lstStyle/>
          <a:p>
            <a:r>
              <a:rPr lang="ar-SA" sz="1600" b="1" i="0" u="none" strike="noStrike" baseline="0" dirty="0">
                <a:latin typeface="SakkalMajalla-Bold"/>
              </a:rPr>
              <a:t>سُؤالٌ مقاليٌّ</a:t>
            </a:r>
            <a:endParaRPr lang="en-US" sz="4400" b="1" dirty="0"/>
          </a:p>
        </p:txBody>
      </p:sp>
      <p:pic>
        <p:nvPicPr>
          <p:cNvPr id="4" name="Picture 3">
            <a:extLst>
              <a:ext uri="{FF2B5EF4-FFF2-40B4-BE49-F238E27FC236}">
                <a16:creationId xmlns:a16="http://schemas.microsoft.com/office/drawing/2014/main" id="{8FF38DE8-C6DB-187A-F45E-9BDE51D3E648}"/>
              </a:ext>
            </a:extLst>
          </p:cNvPr>
          <p:cNvPicPr>
            <a:picLocks noChangeAspect="1"/>
          </p:cNvPicPr>
          <p:nvPr/>
        </p:nvPicPr>
        <p:blipFill>
          <a:blip r:embed="rId6"/>
          <a:stretch>
            <a:fillRect/>
          </a:stretch>
        </p:blipFill>
        <p:spPr>
          <a:xfrm>
            <a:off x="1022287" y="2830733"/>
            <a:ext cx="2912128" cy="768840"/>
          </a:xfrm>
          <a:prstGeom prst="rect">
            <a:avLst/>
          </a:prstGeom>
        </p:spPr>
      </p:pic>
      <p:sp>
        <p:nvSpPr>
          <p:cNvPr id="7" name="TextBox 6">
            <a:extLst>
              <a:ext uri="{FF2B5EF4-FFF2-40B4-BE49-F238E27FC236}">
                <a16:creationId xmlns:a16="http://schemas.microsoft.com/office/drawing/2014/main" id="{25D08904-D681-395F-6987-68B31AD43779}"/>
              </a:ext>
            </a:extLst>
          </p:cNvPr>
          <p:cNvSpPr txBox="1"/>
          <p:nvPr/>
        </p:nvSpPr>
        <p:spPr>
          <a:xfrm>
            <a:off x="474646" y="6351069"/>
            <a:ext cx="5205483" cy="400110"/>
          </a:xfrm>
          <a:prstGeom prst="rect">
            <a:avLst/>
          </a:prstGeom>
          <a:noFill/>
        </p:spPr>
        <p:txBody>
          <a:bodyPr wrap="square" rtlCol="0">
            <a:spAutoFit/>
          </a:bodyPr>
          <a:lstStyle/>
          <a:p>
            <a:r>
              <a:rPr lang="ar-SA" sz="2000" b="1" dirty="0">
                <a:solidFill>
                  <a:srgbClr val="CB6792"/>
                </a:solidFill>
              </a:rPr>
              <a:t>إعداد... أ: شيخة السويدي</a:t>
            </a:r>
            <a:endParaRPr lang="en-US" sz="2000" b="1" dirty="0">
              <a:solidFill>
                <a:srgbClr val="CB6792"/>
              </a:solidFill>
            </a:endParaRPr>
          </a:p>
        </p:txBody>
      </p:sp>
    </p:spTree>
    <p:extLst>
      <p:ext uri="{BB962C8B-B14F-4D97-AF65-F5344CB8AC3E}">
        <p14:creationId xmlns:p14="http://schemas.microsoft.com/office/powerpoint/2010/main" val="14315228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2E72B-AE97-6446-339F-86565E7EF383}"/>
            </a:ext>
          </a:extLst>
        </p:cNvPr>
        <p:cNvGrpSpPr/>
        <p:nvPr/>
      </p:nvGrpSpPr>
      <p:grpSpPr>
        <a:xfrm>
          <a:off x="0" y="0"/>
          <a:ext cx="0" cy="0"/>
          <a:chOff x="0" y="0"/>
          <a:chExt cx="0" cy="0"/>
        </a:xfrm>
      </p:grpSpPr>
      <p:pic>
        <p:nvPicPr>
          <p:cNvPr id="5" name="Picture 4" descr="A logo with a feather and a book&#10;&#10;AI-generated content may be incorrect.">
            <a:extLst>
              <a:ext uri="{FF2B5EF4-FFF2-40B4-BE49-F238E27FC236}">
                <a16:creationId xmlns:a16="http://schemas.microsoft.com/office/drawing/2014/main" id="{61574B8B-7114-D9EF-1538-5DB4FDC7499A}"/>
              </a:ext>
            </a:extLst>
          </p:cNvPr>
          <p:cNvPicPr>
            <a:picLocks noChangeAspect="1"/>
          </p:cNvPicPr>
          <p:nvPr/>
        </p:nvPicPr>
        <p:blipFill>
          <a:blip r:embed="rId3">
            <a:extLst>
              <a:ext uri="{28A0092B-C50C-407E-A947-70E740481C1C}">
                <a14:useLocalDpi xmlns:a14="http://schemas.microsoft.com/office/drawing/2010/main" val="0"/>
              </a:ext>
            </a:extLst>
          </a:blip>
          <a:srcRect t="18752" r="-1" b="-1"/>
          <a:stretch>
            <a:fillRect/>
          </a:stretch>
        </p:blipFill>
        <p:spPr>
          <a:xfrm>
            <a:off x="3068" y="9"/>
            <a:ext cx="12188932" cy="2011073"/>
          </a:xfrm>
          <a:prstGeom prst="rect">
            <a:avLst/>
          </a:prstGeom>
        </p:spPr>
      </p:pic>
      <p:sp>
        <p:nvSpPr>
          <p:cNvPr id="8" name="TextBox 7">
            <a:extLst>
              <a:ext uri="{FF2B5EF4-FFF2-40B4-BE49-F238E27FC236}">
                <a16:creationId xmlns:a16="http://schemas.microsoft.com/office/drawing/2014/main" id="{83223296-671C-EB24-F4E8-E5C64728B66B}"/>
              </a:ext>
            </a:extLst>
          </p:cNvPr>
          <p:cNvSpPr txBox="1"/>
          <p:nvPr/>
        </p:nvSpPr>
        <p:spPr>
          <a:xfrm>
            <a:off x="6015460" y="3411301"/>
            <a:ext cx="6016369" cy="1200329"/>
          </a:xfrm>
          <a:prstGeom prst="rect">
            <a:avLst/>
          </a:prstGeom>
          <a:noFill/>
        </p:spPr>
        <p:txBody>
          <a:bodyPr wrap="square">
            <a:spAutoFit/>
          </a:bodyPr>
          <a:lstStyle/>
          <a:p>
            <a:pPr algn="r"/>
            <a:r>
              <a:rPr lang="ar-SA" b="1" dirty="0"/>
              <a:t>1-الخيلُ والليلُ والبيداءُ تعرفني   . .......   والسيفُ والرمحُ والقرطاسُ والقلم</a:t>
            </a:r>
            <a:endParaRPr lang="en-US" b="1" dirty="0"/>
          </a:p>
          <a:p>
            <a:pPr algn="r"/>
            <a:r>
              <a:rPr lang="ar-SA" b="1" dirty="0"/>
              <a:t>2-صحِبتُ في الفَلواتِ الوحشَ منفردًا  .....  حتى تعجّبَ مني القَفرُ والأكمُ</a:t>
            </a:r>
            <a:br>
              <a:rPr lang="en-US" b="1" dirty="0"/>
            </a:br>
            <a:r>
              <a:rPr lang="ar-SA" b="1" dirty="0"/>
              <a:t>3-والهمُّ يخترمُ الجَسيمَ نَحافةً   .........     ويُشيبُ ناصيةَ الصبيِّ ويهرم</a:t>
            </a:r>
            <a:endParaRPr lang="en-US" b="1" dirty="0"/>
          </a:p>
          <a:p>
            <a:pPr algn="r"/>
            <a:r>
              <a:rPr lang="ar-SA" b="1" dirty="0"/>
              <a:t>لا تَحمَدِ الأعداءُ فيَّ كرامةً  ..........     حتى أُوارِيَ في التُّرابِ أعَظُمِي</a:t>
            </a:r>
            <a:r>
              <a:rPr lang="en-US" sz="1800" b="1" kern="100" dirty="0">
                <a:effectLst/>
                <a:latin typeface="Aptos" panose="020B0004020202020204" pitchFamily="34" charset="0"/>
                <a:ea typeface="Aptos" panose="020B0004020202020204" pitchFamily="34" charset="0"/>
                <a:cs typeface="Arial" panose="020B0604020202020204" pitchFamily="34" charset="0"/>
              </a:rPr>
              <a:t> </a:t>
            </a:r>
            <a:r>
              <a:rPr lang="ar-SA" sz="1800" b="1" kern="100" dirty="0">
                <a:effectLst/>
                <a:latin typeface="Aptos" panose="020B0004020202020204" pitchFamily="34" charset="0"/>
                <a:ea typeface="Aptos" panose="020B0004020202020204" pitchFamily="34" charset="0"/>
                <a:cs typeface="Arial" panose="020B0604020202020204" pitchFamily="34" charset="0"/>
              </a:rPr>
              <a:t>4-</a:t>
            </a:r>
            <a:endParaRPr lang="en-US" sz="1600" b="1"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3957889-AE56-13E6-3934-0CB83610DF9C}"/>
              </a:ext>
            </a:extLst>
          </p:cNvPr>
          <p:cNvSpPr txBox="1"/>
          <p:nvPr/>
        </p:nvSpPr>
        <p:spPr>
          <a:xfrm>
            <a:off x="9957661" y="309966"/>
            <a:ext cx="1914041" cy="369332"/>
          </a:xfrm>
          <a:prstGeom prst="rect">
            <a:avLst/>
          </a:prstGeom>
          <a:noFill/>
        </p:spPr>
        <p:txBody>
          <a:bodyPr wrap="square" rtlCol="0">
            <a:spAutoFit/>
          </a:bodyPr>
          <a:lstStyle/>
          <a:p>
            <a:r>
              <a:rPr lang="ar-SA" dirty="0"/>
              <a:t>مدرسة الشوامخ ح2-3</a:t>
            </a:r>
            <a:endParaRPr lang="en-US" dirty="0"/>
          </a:p>
        </p:txBody>
      </p:sp>
      <p:pic>
        <p:nvPicPr>
          <p:cNvPr id="11" name="Picture 10" descr="التربية والتعليم» تعلن هويتها المرئية الجديدة | صحيفة الخليج">
            <a:extLst>
              <a:ext uri="{FF2B5EF4-FFF2-40B4-BE49-F238E27FC236}">
                <a16:creationId xmlns:a16="http://schemas.microsoft.com/office/drawing/2014/main" id="{69D85406-C934-F52D-4684-129523504F9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28" y="0"/>
            <a:ext cx="1393825" cy="950595"/>
          </a:xfrm>
          <a:prstGeom prst="rect">
            <a:avLst/>
          </a:prstGeom>
          <a:noFill/>
          <a:ln>
            <a:noFill/>
          </a:ln>
        </p:spPr>
      </p:pic>
      <p:cxnSp>
        <p:nvCxnSpPr>
          <p:cNvPr id="26" name="Straight Connector 25">
            <a:extLst>
              <a:ext uri="{FF2B5EF4-FFF2-40B4-BE49-F238E27FC236}">
                <a16:creationId xmlns:a16="http://schemas.microsoft.com/office/drawing/2014/main" id="{3ADF3127-D3F3-6B4D-9B8D-4BD0D6ED506E}"/>
              </a:ext>
            </a:extLst>
          </p:cNvPr>
          <p:cNvCxnSpPr>
            <a:cxnSpLocks/>
          </p:cNvCxnSpPr>
          <p:nvPr/>
        </p:nvCxnSpPr>
        <p:spPr>
          <a:xfrm>
            <a:off x="5680129" y="1995639"/>
            <a:ext cx="0" cy="412213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8" name="TextBox 27">
            <a:extLst>
              <a:ext uri="{FF2B5EF4-FFF2-40B4-BE49-F238E27FC236}">
                <a16:creationId xmlns:a16="http://schemas.microsoft.com/office/drawing/2014/main" id="{0C3E42E5-97C5-FB56-E0E4-966AA5CF17EE}"/>
              </a:ext>
            </a:extLst>
          </p:cNvPr>
          <p:cNvSpPr txBox="1"/>
          <p:nvPr/>
        </p:nvSpPr>
        <p:spPr>
          <a:xfrm>
            <a:off x="6398559" y="2070759"/>
            <a:ext cx="5542239" cy="584775"/>
          </a:xfrm>
          <a:prstGeom prst="rect">
            <a:avLst/>
          </a:prstGeom>
          <a:noFill/>
        </p:spPr>
        <p:txBody>
          <a:bodyPr wrap="square" rtlCol="0">
            <a:spAutoFit/>
          </a:bodyPr>
          <a:lstStyle/>
          <a:p>
            <a:pPr algn="r"/>
            <a:r>
              <a:rPr lang="ar-SA" sz="1600" b="1" dirty="0">
                <a:solidFill>
                  <a:srgbClr val="C00000"/>
                </a:solidFill>
              </a:rPr>
              <a:t>اقرأ </a:t>
            </a:r>
            <a:r>
              <a:rPr lang="ar-SA" sz="1600" b="1" u="sng" dirty="0">
                <a:solidFill>
                  <a:srgbClr val="C00000"/>
                </a:solidFill>
              </a:rPr>
              <a:t>النص الشعري</a:t>
            </a:r>
            <a:r>
              <a:rPr lang="ar-SA" sz="1600" b="1" dirty="0">
                <a:solidFill>
                  <a:srgbClr val="C00000"/>
                </a:solidFill>
              </a:rPr>
              <a:t> الآتي للشاعر ( المتنبي ) يفخر بشجاعته في الحروب  </a:t>
            </a:r>
          </a:p>
          <a:p>
            <a:pPr algn="r"/>
            <a:r>
              <a:rPr lang="ar-SA" sz="1600" b="1" dirty="0">
                <a:solidFill>
                  <a:srgbClr val="C00000"/>
                </a:solidFill>
              </a:rPr>
              <a:t>ثم أجب  عما يليه من أسئلة .................</a:t>
            </a:r>
            <a:endParaRPr lang="en-US" sz="1600" b="1" dirty="0">
              <a:solidFill>
                <a:srgbClr val="C00000"/>
              </a:solidFill>
            </a:endParaRPr>
          </a:p>
        </p:txBody>
      </p:sp>
      <p:sp>
        <p:nvSpPr>
          <p:cNvPr id="29" name="TextBox 28">
            <a:extLst>
              <a:ext uri="{FF2B5EF4-FFF2-40B4-BE49-F238E27FC236}">
                <a16:creationId xmlns:a16="http://schemas.microsoft.com/office/drawing/2014/main" id="{793E8E65-4C75-A1C6-696B-AAD13C2A4FC6}"/>
              </a:ext>
            </a:extLst>
          </p:cNvPr>
          <p:cNvSpPr txBox="1"/>
          <p:nvPr/>
        </p:nvSpPr>
        <p:spPr>
          <a:xfrm>
            <a:off x="10306036" y="2837164"/>
            <a:ext cx="1813302" cy="400110"/>
          </a:xfrm>
          <a:prstGeom prst="rect">
            <a:avLst/>
          </a:prstGeom>
          <a:noFill/>
        </p:spPr>
        <p:txBody>
          <a:bodyPr wrap="square" rtlCol="0">
            <a:spAutoFit/>
          </a:bodyPr>
          <a:lstStyle/>
          <a:p>
            <a:r>
              <a:rPr lang="ar-SA" sz="2000" b="1" dirty="0">
                <a:highlight>
                  <a:srgbClr val="00FF00"/>
                </a:highlight>
              </a:rPr>
              <a:t>فروسية شاعر </a:t>
            </a:r>
            <a:endParaRPr lang="en-US" sz="2000" b="1" dirty="0">
              <a:highlight>
                <a:srgbClr val="00FF00"/>
              </a:highlight>
            </a:endParaRPr>
          </a:p>
        </p:txBody>
      </p:sp>
      <p:pic>
        <p:nvPicPr>
          <p:cNvPr id="31" name="Picture 30" descr="أبو الطيب المتنبي - ويكيبيديا">
            <a:extLst>
              <a:ext uri="{FF2B5EF4-FFF2-40B4-BE49-F238E27FC236}">
                <a16:creationId xmlns:a16="http://schemas.microsoft.com/office/drawing/2014/main" id="{13B6AF64-91B1-066C-6D6C-D018D1F8AF59}"/>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783207" y="2070758"/>
            <a:ext cx="1178890" cy="1294668"/>
          </a:xfrm>
          <a:prstGeom prst="rect">
            <a:avLst/>
          </a:prstGeom>
          <a:noFill/>
          <a:ln>
            <a:noFill/>
          </a:ln>
        </p:spPr>
      </p:pic>
      <p:sp>
        <p:nvSpPr>
          <p:cNvPr id="37" name="Arrow: Left 36">
            <a:extLst>
              <a:ext uri="{FF2B5EF4-FFF2-40B4-BE49-F238E27FC236}">
                <a16:creationId xmlns:a16="http://schemas.microsoft.com/office/drawing/2014/main" id="{930B099B-703D-6EFE-96B8-DB4E6F60BE1B}"/>
              </a:ext>
            </a:extLst>
          </p:cNvPr>
          <p:cNvSpPr/>
          <p:nvPr/>
        </p:nvSpPr>
        <p:spPr>
          <a:xfrm>
            <a:off x="4150320" y="2977043"/>
            <a:ext cx="1317481" cy="584773"/>
          </a:xfrm>
          <a:prstGeom prst="lef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ar-SA" b="1" dirty="0"/>
              <a:t>المهارة</a:t>
            </a:r>
            <a:endParaRPr lang="en-US" b="1" dirty="0"/>
          </a:p>
        </p:txBody>
      </p:sp>
      <p:sp>
        <p:nvSpPr>
          <p:cNvPr id="40" name="Rectangle 39">
            <a:extLst>
              <a:ext uri="{FF2B5EF4-FFF2-40B4-BE49-F238E27FC236}">
                <a16:creationId xmlns:a16="http://schemas.microsoft.com/office/drawing/2014/main" id="{EB88F8DC-B6DC-D96C-EA80-46BA69EA484B}"/>
              </a:ext>
            </a:extLst>
          </p:cNvPr>
          <p:cNvSpPr/>
          <p:nvPr/>
        </p:nvSpPr>
        <p:spPr>
          <a:xfrm>
            <a:off x="5840372" y="5344735"/>
            <a:ext cx="6191386" cy="121920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r" rtl="1">
              <a:lnSpc>
                <a:spcPct val="115000"/>
              </a:lnSpc>
              <a:spcAft>
                <a:spcPts val="800"/>
              </a:spcAft>
              <a:buNone/>
            </a:pPr>
            <a:r>
              <a:rPr lang="en-US" sz="1200" b="1" kern="100" dirty="0">
                <a:effectLst/>
                <a:latin typeface="Arial" panose="020B0604020202020204" pitchFamily="34" charset="0"/>
                <a:ea typeface="Aptos" panose="020B0004020202020204" pitchFamily="34" charset="0"/>
                <a:cs typeface="Arial" panose="020B0604020202020204" pitchFamily="34" charset="0"/>
              </a:rPr>
              <a:t> </a:t>
            </a:r>
            <a:r>
              <a:rPr lang="ar-SA" sz="1050" b="1" kern="100" dirty="0">
                <a:effectLst/>
                <a:latin typeface="Arial" panose="020B0604020202020204" pitchFamily="34" charset="0"/>
                <a:ea typeface="Aptos" panose="020B0004020202020204" pitchFamily="34" charset="0"/>
                <a:cs typeface="Arial" panose="020B0604020202020204" pitchFamily="34" charset="0"/>
              </a:rPr>
              <a:t>الخيل والليل والبيداء:</a:t>
            </a:r>
            <a:r>
              <a:rPr lang="ar-SA" sz="1050" b="1" kern="100" dirty="0">
                <a:effectLst/>
                <a:ea typeface="Aptos" panose="020B0004020202020204" pitchFamily="34" charset="0"/>
                <a:cs typeface="Arial" panose="020B0604020202020204" pitchFamily="34" charset="0"/>
              </a:rPr>
              <a:t> رموز للشجاعة والمغامرة (الخيل: الحرب، الليل: الصبر، البيداء: الصحراء)</a:t>
            </a:r>
            <a:endParaRPr lang="en-US" sz="1050" b="1" kern="100" dirty="0">
              <a:effectLst/>
              <a:ea typeface="Aptos" panose="020B0004020202020204" pitchFamily="34" charset="0"/>
              <a:cs typeface="Arial" panose="020B0604020202020204" pitchFamily="34" charset="0"/>
            </a:endParaRPr>
          </a:p>
          <a:p>
            <a:pPr marL="0" marR="0" algn="r">
              <a:lnSpc>
                <a:spcPct val="115000"/>
              </a:lnSpc>
              <a:spcAft>
                <a:spcPts val="800"/>
              </a:spcAft>
              <a:buNone/>
            </a:pPr>
            <a:r>
              <a:rPr lang="ar-SA" sz="1050" b="1" kern="100" dirty="0">
                <a:effectLst/>
                <a:ea typeface="Aptos" panose="020B0004020202020204" pitchFamily="34" charset="0"/>
                <a:cs typeface="Arial" panose="020B0604020202020204" pitchFamily="34" charset="0"/>
              </a:rPr>
              <a:t>دلالة على العلم والفكر      الفلوات : الصحارى الواسعة          القَفر والأكم:  الأرض الخالية والتلال القرطاس والقلم:</a:t>
            </a:r>
            <a:endParaRPr lang="en-US" sz="1050" b="1" kern="100" dirty="0">
              <a:effectLst/>
              <a:ea typeface="Aptos" panose="020B0004020202020204" pitchFamily="34" charset="0"/>
              <a:cs typeface="Arial" panose="020B0604020202020204" pitchFamily="34" charset="0"/>
            </a:endParaRPr>
          </a:p>
          <a:p>
            <a:pPr marL="0" marR="0" algn="r">
              <a:lnSpc>
                <a:spcPct val="115000"/>
              </a:lnSpc>
              <a:spcAft>
                <a:spcPts val="800"/>
              </a:spcAft>
              <a:buNone/>
            </a:pPr>
            <a:r>
              <a:rPr lang="ar-SA" sz="1050" b="1" kern="100" dirty="0">
                <a:effectLst/>
                <a:ea typeface="Aptos" panose="020B0004020202020204" pitchFamily="34" charset="0"/>
                <a:cs typeface="Arial" panose="020B0604020202020204" pitchFamily="34" charset="0"/>
              </a:rPr>
              <a:t>يخترم الجسيم نحافة: يجعل الجسد النحيل قويًا بالإرادة  -  يُهرم: يُصيب بالشيخوخة  -  أواري في التراب عظمي: أي لا يستسلم حتى الموت</a:t>
            </a:r>
            <a:r>
              <a:rPr lang="en-US" sz="1200" b="1" kern="100" dirty="0">
                <a:effectLst/>
                <a:ea typeface="Aptos" panose="020B0004020202020204" pitchFamily="34" charset="0"/>
                <a:cs typeface="Arial" panose="020B0604020202020204" pitchFamily="34" charset="0"/>
              </a:rPr>
              <a:t>.</a:t>
            </a:r>
            <a:endParaRPr lang="en-US" sz="1200" kern="100" dirty="0">
              <a:effectLst/>
              <a:ea typeface="Aptos" panose="020B0004020202020204" pitchFamily="34" charset="0"/>
              <a:cs typeface="Arial" panose="020B0604020202020204" pitchFamily="34" charset="0"/>
            </a:endParaRPr>
          </a:p>
        </p:txBody>
      </p:sp>
      <p:sp>
        <p:nvSpPr>
          <p:cNvPr id="41" name="Text Box 13">
            <a:extLst>
              <a:ext uri="{FF2B5EF4-FFF2-40B4-BE49-F238E27FC236}">
                <a16:creationId xmlns:a16="http://schemas.microsoft.com/office/drawing/2014/main" id="{3049E942-15D6-E10D-4D08-26C0C8405361}"/>
              </a:ext>
            </a:extLst>
          </p:cNvPr>
          <p:cNvSpPr txBox="1"/>
          <p:nvPr/>
        </p:nvSpPr>
        <p:spPr>
          <a:xfrm>
            <a:off x="10378698" y="5011392"/>
            <a:ext cx="1562100" cy="470535"/>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Aft>
                <a:spcPts val="800"/>
              </a:spcAft>
              <a:buNone/>
            </a:pPr>
            <a:r>
              <a:rPr lang="ar-SA" sz="2000" b="1" kern="100">
                <a:effectLst/>
                <a:latin typeface="Aptos" panose="020B0004020202020204" pitchFamily="34" charset="0"/>
                <a:ea typeface="Aptos" panose="020B0004020202020204" pitchFamily="34" charset="0"/>
                <a:cs typeface="Arial" panose="020B0604020202020204" pitchFamily="34" charset="0"/>
              </a:rPr>
              <a:t>معاني المفردات</a:t>
            </a:r>
            <a:endParaRPr lang="en-US" sz="1200" kern="100">
              <a:effectLst/>
              <a:latin typeface="Aptos" panose="020B0004020202020204" pitchFamily="34" charset="0"/>
              <a:ea typeface="Aptos" panose="020B00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8B42D951-FF1F-D91C-0D2D-320EAEC17BDE}"/>
              </a:ext>
            </a:extLst>
          </p:cNvPr>
          <p:cNvSpPr txBox="1"/>
          <p:nvPr/>
        </p:nvSpPr>
        <p:spPr>
          <a:xfrm>
            <a:off x="3979864" y="2077351"/>
            <a:ext cx="1597188" cy="461665"/>
          </a:xfrm>
          <a:prstGeom prst="rect">
            <a:avLst/>
          </a:prstGeom>
          <a:noFill/>
        </p:spPr>
        <p:txBody>
          <a:bodyPr wrap="square">
            <a:spAutoFit/>
          </a:bodyPr>
          <a:lstStyle/>
          <a:p>
            <a:r>
              <a:rPr lang="ar-SA" sz="2400" b="1" dirty="0">
                <a:highlight>
                  <a:srgbClr val="FF00FF"/>
                </a:highlight>
              </a:rPr>
              <a:t>مهارات لغوية</a:t>
            </a:r>
            <a:endParaRPr lang="en-US" sz="6600" b="1" dirty="0">
              <a:highlight>
                <a:srgbClr val="FF00FF"/>
              </a:highlight>
            </a:endParaRPr>
          </a:p>
        </p:txBody>
      </p:sp>
      <p:sp>
        <p:nvSpPr>
          <p:cNvPr id="46" name="TextBox 45">
            <a:extLst>
              <a:ext uri="{FF2B5EF4-FFF2-40B4-BE49-F238E27FC236}">
                <a16:creationId xmlns:a16="http://schemas.microsoft.com/office/drawing/2014/main" id="{279699B1-FB1D-291F-DAEF-EB5FD2CFA9CE}"/>
              </a:ext>
            </a:extLst>
          </p:cNvPr>
          <p:cNvSpPr txBox="1"/>
          <p:nvPr/>
        </p:nvSpPr>
        <p:spPr>
          <a:xfrm>
            <a:off x="15938" y="3784898"/>
            <a:ext cx="5580858" cy="2025106"/>
          </a:xfrm>
          <a:prstGeom prst="rect">
            <a:avLst/>
          </a:prstGeom>
          <a:noFill/>
        </p:spPr>
        <p:txBody>
          <a:bodyPr wrap="square">
            <a:spAutoFit/>
          </a:bodyPr>
          <a:lstStyle/>
          <a:p>
            <a:pPr algn="r" rtl="1">
              <a:lnSpc>
                <a:spcPct val="115000"/>
              </a:lnSpc>
              <a:spcAft>
                <a:spcPts val="800"/>
              </a:spcAft>
            </a:pPr>
            <a:r>
              <a:rPr lang="ar-SA" sz="2400" b="1" dirty="0">
                <a:solidFill>
                  <a:srgbClr val="C00000"/>
                </a:solidFill>
              </a:rPr>
              <a:t>9- </a:t>
            </a:r>
            <a:r>
              <a:rPr lang="ar-SA" sz="2000" b="1" dirty="0">
                <a:solidFill>
                  <a:srgbClr val="C00000"/>
                </a:solidFill>
              </a:rPr>
              <a:t>حدد ركني التشبيه في العبارة التالي  :</a:t>
            </a:r>
          </a:p>
          <a:p>
            <a:pPr algn="r" rtl="1">
              <a:lnSpc>
                <a:spcPct val="115000"/>
              </a:lnSpc>
              <a:spcAft>
                <a:spcPts val="800"/>
              </a:spcAft>
            </a:pPr>
            <a:r>
              <a:rPr lang="ar-SA" sz="2000" b="1" dirty="0"/>
              <a:t>الشاعر أسد في ساحة القتال</a:t>
            </a:r>
            <a:br>
              <a:rPr lang="ar-SA" sz="2000" dirty="0"/>
            </a:br>
            <a:r>
              <a:rPr lang="ar-SA" sz="2800" b="1" kern="100" dirty="0">
                <a:latin typeface="Aptos" panose="020B0004020202020204" pitchFamily="34" charset="0"/>
                <a:ea typeface="Aptos" panose="020B0004020202020204" pitchFamily="34" charset="0"/>
                <a:cs typeface="Arial" panose="020B0604020202020204" pitchFamily="34" charset="0"/>
              </a:rPr>
              <a:t>ج –    المشبه : الشاعر </a:t>
            </a:r>
          </a:p>
          <a:p>
            <a:pPr algn="r" rtl="1">
              <a:lnSpc>
                <a:spcPct val="115000"/>
              </a:lnSpc>
              <a:spcAft>
                <a:spcPts val="800"/>
              </a:spcAft>
            </a:pPr>
            <a:r>
              <a:rPr lang="ar-SA" sz="2800" b="1" kern="100" dirty="0">
                <a:latin typeface="Aptos" panose="020B0004020202020204" pitchFamily="34" charset="0"/>
                <a:ea typeface="Aptos" panose="020B0004020202020204" pitchFamily="34" charset="0"/>
                <a:cs typeface="Arial" panose="020B0604020202020204" pitchFamily="34" charset="0"/>
              </a:rPr>
              <a:t>       المشبه به : الأسد   </a:t>
            </a:r>
            <a:endParaRPr lang="ar-SA" sz="2000" b="1" kern="100" dirty="0">
              <a:highlight>
                <a:srgbClr val="00FFFF"/>
              </a:highlight>
              <a:latin typeface="Aptos" panose="020B0004020202020204" pitchFamily="34" charset="0"/>
              <a:ea typeface="Aptos" panose="020B00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61CE6F0D-665A-6CFB-862D-2A3F7C70454B}"/>
              </a:ext>
            </a:extLst>
          </p:cNvPr>
          <p:cNvSpPr txBox="1"/>
          <p:nvPr/>
        </p:nvSpPr>
        <p:spPr>
          <a:xfrm>
            <a:off x="4552781" y="2823403"/>
            <a:ext cx="1178887" cy="338554"/>
          </a:xfrm>
          <a:prstGeom prst="rect">
            <a:avLst/>
          </a:prstGeom>
          <a:noFill/>
        </p:spPr>
        <p:txBody>
          <a:bodyPr wrap="square">
            <a:spAutoFit/>
          </a:bodyPr>
          <a:lstStyle/>
          <a:p>
            <a:r>
              <a:rPr lang="ar-SA" sz="1600" b="1" i="0" u="none" strike="noStrike" baseline="0" dirty="0">
                <a:latin typeface="SakkalMajalla-Bold"/>
              </a:rPr>
              <a:t>سُؤالٌ مقاليٌّ</a:t>
            </a:r>
            <a:endParaRPr lang="en-US" sz="4400" b="1" dirty="0"/>
          </a:p>
        </p:txBody>
      </p:sp>
      <p:pic>
        <p:nvPicPr>
          <p:cNvPr id="6" name="Picture 5">
            <a:extLst>
              <a:ext uri="{FF2B5EF4-FFF2-40B4-BE49-F238E27FC236}">
                <a16:creationId xmlns:a16="http://schemas.microsoft.com/office/drawing/2014/main" id="{F14214F5-5896-2E04-B678-A1206FA82C16}"/>
              </a:ext>
            </a:extLst>
          </p:cNvPr>
          <p:cNvPicPr>
            <a:picLocks noChangeAspect="1"/>
          </p:cNvPicPr>
          <p:nvPr/>
        </p:nvPicPr>
        <p:blipFill>
          <a:blip r:embed="rId6"/>
          <a:stretch>
            <a:fillRect/>
          </a:stretch>
        </p:blipFill>
        <p:spPr>
          <a:xfrm>
            <a:off x="804507" y="2823403"/>
            <a:ext cx="3059190" cy="636265"/>
          </a:xfrm>
          <a:prstGeom prst="rect">
            <a:avLst/>
          </a:prstGeom>
        </p:spPr>
      </p:pic>
      <p:pic>
        <p:nvPicPr>
          <p:cNvPr id="7" name="Picture 6" descr="أبو الطيب المتنبي - ويكيبيديا">
            <a:extLst>
              <a:ext uri="{FF2B5EF4-FFF2-40B4-BE49-F238E27FC236}">
                <a16:creationId xmlns:a16="http://schemas.microsoft.com/office/drawing/2014/main" id="{036067FB-9D4C-A439-835C-F82447150BA5}"/>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025053" y="4643633"/>
            <a:ext cx="544364" cy="589851"/>
          </a:xfrm>
          <a:prstGeom prst="rect">
            <a:avLst/>
          </a:prstGeom>
          <a:noFill/>
          <a:ln>
            <a:noFill/>
          </a:ln>
        </p:spPr>
      </p:pic>
      <p:pic>
        <p:nvPicPr>
          <p:cNvPr id="1028" name="Picture 4" descr="أسرار جديدة عن &quot;الأسد.. قسورة&quot; ملك الغابة والأساطير القديمة">
            <a:extLst>
              <a:ext uri="{FF2B5EF4-FFF2-40B4-BE49-F238E27FC236}">
                <a16:creationId xmlns:a16="http://schemas.microsoft.com/office/drawing/2014/main" id="{BB307F6B-EE77-B7F3-0CCF-332007B02F1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52735" y="5200194"/>
            <a:ext cx="888999" cy="746967"/>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9582B34B-FF47-7515-3AE4-AD397CC9A524}"/>
              </a:ext>
            </a:extLst>
          </p:cNvPr>
          <p:cNvSpPr txBox="1"/>
          <p:nvPr/>
        </p:nvSpPr>
        <p:spPr>
          <a:xfrm>
            <a:off x="474646" y="6351069"/>
            <a:ext cx="5205483" cy="400110"/>
          </a:xfrm>
          <a:prstGeom prst="rect">
            <a:avLst/>
          </a:prstGeom>
          <a:noFill/>
        </p:spPr>
        <p:txBody>
          <a:bodyPr wrap="square" rtlCol="0">
            <a:spAutoFit/>
          </a:bodyPr>
          <a:lstStyle/>
          <a:p>
            <a:r>
              <a:rPr lang="ar-SA" sz="2000" b="1" dirty="0">
                <a:solidFill>
                  <a:srgbClr val="CB6792"/>
                </a:solidFill>
              </a:rPr>
              <a:t>إعداد... أ: شيخة السويدي</a:t>
            </a:r>
            <a:endParaRPr lang="en-US" sz="2000" b="1" dirty="0">
              <a:solidFill>
                <a:srgbClr val="CB6792"/>
              </a:solidFill>
            </a:endParaRPr>
          </a:p>
        </p:txBody>
      </p:sp>
    </p:spTree>
    <p:extLst>
      <p:ext uri="{BB962C8B-B14F-4D97-AF65-F5344CB8AC3E}">
        <p14:creationId xmlns:p14="http://schemas.microsoft.com/office/powerpoint/2010/main" val="11047132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7280E-E38B-7E19-335E-72DDFADA1921}"/>
            </a:ext>
          </a:extLst>
        </p:cNvPr>
        <p:cNvGrpSpPr/>
        <p:nvPr/>
      </p:nvGrpSpPr>
      <p:grpSpPr>
        <a:xfrm>
          <a:off x="0" y="0"/>
          <a:ext cx="0" cy="0"/>
          <a:chOff x="0" y="0"/>
          <a:chExt cx="0" cy="0"/>
        </a:xfrm>
      </p:grpSpPr>
      <p:pic>
        <p:nvPicPr>
          <p:cNvPr id="5" name="Picture 4" descr="A logo with a feather and a book&#10;&#10;AI-generated content may be incorrect.">
            <a:extLst>
              <a:ext uri="{FF2B5EF4-FFF2-40B4-BE49-F238E27FC236}">
                <a16:creationId xmlns:a16="http://schemas.microsoft.com/office/drawing/2014/main" id="{BEC43A5C-4F45-E723-BBC5-385D5A358A15}"/>
              </a:ext>
            </a:extLst>
          </p:cNvPr>
          <p:cNvPicPr>
            <a:picLocks noChangeAspect="1"/>
          </p:cNvPicPr>
          <p:nvPr/>
        </p:nvPicPr>
        <p:blipFill>
          <a:blip r:embed="rId3">
            <a:extLst>
              <a:ext uri="{28A0092B-C50C-407E-A947-70E740481C1C}">
                <a14:useLocalDpi xmlns:a14="http://schemas.microsoft.com/office/drawing/2010/main" val="0"/>
              </a:ext>
            </a:extLst>
          </a:blip>
          <a:srcRect t="18752" r="-1" b="-1"/>
          <a:stretch>
            <a:fillRect/>
          </a:stretch>
        </p:blipFill>
        <p:spPr>
          <a:xfrm>
            <a:off x="3068" y="9"/>
            <a:ext cx="12188932" cy="2011073"/>
          </a:xfrm>
          <a:prstGeom prst="rect">
            <a:avLst/>
          </a:prstGeom>
        </p:spPr>
      </p:pic>
      <p:sp>
        <p:nvSpPr>
          <p:cNvPr id="8" name="TextBox 7">
            <a:extLst>
              <a:ext uri="{FF2B5EF4-FFF2-40B4-BE49-F238E27FC236}">
                <a16:creationId xmlns:a16="http://schemas.microsoft.com/office/drawing/2014/main" id="{F5BD970B-0135-5B2B-52BE-86EA4C990DBF}"/>
              </a:ext>
            </a:extLst>
          </p:cNvPr>
          <p:cNvSpPr txBox="1"/>
          <p:nvPr/>
        </p:nvSpPr>
        <p:spPr>
          <a:xfrm>
            <a:off x="6015460" y="3411301"/>
            <a:ext cx="6016369" cy="1200329"/>
          </a:xfrm>
          <a:prstGeom prst="rect">
            <a:avLst/>
          </a:prstGeom>
          <a:noFill/>
        </p:spPr>
        <p:txBody>
          <a:bodyPr wrap="square">
            <a:spAutoFit/>
          </a:bodyPr>
          <a:lstStyle/>
          <a:p>
            <a:pPr algn="r"/>
            <a:r>
              <a:rPr lang="ar-SA" b="1" dirty="0"/>
              <a:t>1-الخيلُ والليلُ والبيداءُ تعرفني   . .......   والسيفُ والرمحُ والقرطاسُ والقلم</a:t>
            </a:r>
            <a:endParaRPr lang="en-US" b="1" dirty="0"/>
          </a:p>
          <a:p>
            <a:pPr algn="r"/>
            <a:r>
              <a:rPr lang="ar-SA" b="1" dirty="0"/>
              <a:t>2-صحِبتُ في الفَلواتِ الوحشَ منفردًا  .....  حتى تعجّبَ مني القَفرُ والأكمُ</a:t>
            </a:r>
            <a:br>
              <a:rPr lang="en-US" b="1" dirty="0"/>
            </a:br>
            <a:r>
              <a:rPr lang="ar-SA" b="1" dirty="0"/>
              <a:t>3-والهمُّ يخترمُ الجَسيمَ نَحافةً   .........     ويُشيبُ ناصيةَ الصبيِّ ويهرم</a:t>
            </a:r>
            <a:endParaRPr lang="en-US" b="1" dirty="0"/>
          </a:p>
          <a:p>
            <a:pPr algn="r"/>
            <a:r>
              <a:rPr lang="ar-SA" b="1" dirty="0"/>
              <a:t>لا تَحمَدِ الأعداءُ فيَّ كرامةً  ..........     حتى أُوارِيَ في التُّرابِ أعَظُمِي</a:t>
            </a:r>
            <a:r>
              <a:rPr lang="en-US" sz="1800" b="1" kern="100" dirty="0">
                <a:effectLst/>
                <a:latin typeface="Aptos" panose="020B0004020202020204" pitchFamily="34" charset="0"/>
                <a:ea typeface="Aptos" panose="020B0004020202020204" pitchFamily="34" charset="0"/>
                <a:cs typeface="Arial" panose="020B0604020202020204" pitchFamily="34" charset="0"/>
              </a:rPr>
              <a:t> </a:t>
            </a:r>
            <a:r>
              <a:rPr lang="ar-SA" sz="1800" b="1" kern="100" dirty="0">
                <a:effectLst/>
                <a:latin typeface="Aptos" panose="020B0004020202020204" pitchFamily="34" charset="0"/>
                <a:ea typeface="Aptos" panose="020B0004020202020204" pitchFamily="34" charset="0"/>
                <a:cs typeface="Arial" panose="020B0604020202020204" pitchFamily="34" charset="0"/>
              </a:rPr>
              <a:t>4-</a:t>
            </a:r>
            <a:endParaRPr lang="en-US" sz="1600" b="1"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8639F31C-16F5-07AD-E104-B82E37F2BDDF}"/>
              </a:ext>
            </a:extLst>
          </p:cNvPr>
          <p:cNvSpPr txBox="1"/>
          <p:nvPr/>
        </p:nvSpPr>
        <p:spPr>
          <a:xfrm>
            <a:off x="9957661" y="309966"/>
            <a:ext cx="1914041" cy="369332"/>
          </a:xfrm>
          <a:prstGeom prst="rect">
            <a:avLst/>
          </a:prstGeom>
          <a:noFill/>
        </p:spPr>
        <p:txBody>
          <a:bodyPr wrap="square" rtlCol="0">
            <a:spAutoFit/>
          </a:bodyPr>
          <a:lstStyle/>
          <a:p>
            <a:r>
              <a:rPr lang="ar-SA" dirty="0"/>
              <a:t>مدرسة الشوامخ ح2-3</a:t>
            </a:r>
            <a:endParaRPr lang="en-US" dirty="0"/>
          </a:p>
        </p:txBody>
      </p:sp>
      <p:pic>
        <p:nvPicPr>
          <p:cNvPr id="11" name="Picture 10" descr="التربية والتعليم» تعلن هويتها المرئية الجديدة | صحيفة الخليج">
            <a:extLst>
              <a:ext uri="{FF2B5EF4-FFF2-40B4-BE49-F238E27FC236}">
                <a16:creationId xmlns:a16="http://schemas.microsoft.com/office/drawing/2014/main" id="{4FC8ED56-1FC2-533C-D071-F10CD20D46F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28" y="0"/>
            <a:ext cx="1393825" cy="950595"/>
          </a:xfrm>
          <a:prstGeom prst="rect">
            <a:avLst/>
          </a:prstGeom>
          <a:noFill/>
          <a:ln>
            <a:noFill/>
          </a:ln>
        </p:spPr>
      </p:pic>
      <p:cxnSp>
        <p:nvCxnSpPr>
          <p:cNvPr id="26" name="Straight Connector 25">
            <a:extLst>
              <a:ext uri="{FF2B5EF4-FFF2-40B4-BE49-F238E27FC236}">
                <a16:creationId xmlns:a16="http://schemas.microsoft.com/office/drawing/2014/main" id="{5BF3695F-6836-20D4-15DC-FD5D55C6C9A2}"/>
              </a:ext>
            </a:extLst>
          </p:cNvPr>
          <p:cNvCxnSpPr>
            <a:cxnSpLocks/>
          </p:cNvCxnSpPr>
          <p:nvPr/>
        </p:nvCxnSpPr>
        <p:spPr>
          <a:xfrm>
            <a:off x="5680129" y="1995639"/>
            <a:ext cx="0" cy="412213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8" name="TextBox 27">
            <a:extLst>
              <a:ext uri="{FF2B5EF4-FFF2-40B4-BE49-F238E27FC236}">
                <a16:creationId xmlns:a16="http://schemas.microsoft.com/office/drawing/2014/main" id="{9FAD3A8B-D85B-6214-66DF-F066028D781D}"/>
              </a:ext>
            </a:extLst>
          </p:cNvPr>
          <p:cNvSpPr txBox="1"/>
          <p:nvPr/>
        </p:nvSpPr>
        <p:spPr>
          <a:xfrm>
            <a:off x="6398559" y="2070759"/>
            <a:ext cx="5542239" cy="584775"/>
          </a:xfrm>
          <a:prstGeom prst="rect">
            <a:avLst/>
          </a:prstGeom>
          <a:noFill/>
        </p:spPr>
        <p:txBody>
          <a:bodyPr wrap="square" rtlCol="0">
            <a:spAutoFit/>
          </a:bodyPr>
          <a:lstStyle/>
          <a:p>
            <a:pPr algn="r"/>
            <a:r>
              <a:rPr lang="ar-SA" sz="1600" b="1" dirty="0">
                <a:solidFill>
                  <a:srgbClr val="C00000"/>
                </a:solidFill>
              </a:rPr>
              <a:t>اقرأ </a:t>
            </a:r>
            <a:r>
              <a:rPr lang="ar-SA" sz="1600" b="1" u="sng" dirty="0">
                <a:solidFill>
                  <a:srgbClr val="C00000"/>
                </a:solidFill>
              </a:rPr>
              <a:t>النص الشعري</a:t>
            </a:r>
            <a:r>
              <a:rPr lang="ar-SA" sz="1600" b="1" dirty="0">
                <a:solidFill>
                  <a:srgbClr val="C00000"/>
                </a:solidFill>
              </a:rPr>
              <a:t> الآتي للشاعر ( المتنبي ) يفخر بشجاعته في الحروب  </a:t>
            </a:r>
          </a:p>
          <a:p>
            <a:pPr algn="r"/>
            <a:r>
              <a:rPr lang="ar-SA" sz="1600" b="1" dirty="0">
                <a:solidFill>
                  <a:srgbClr val="C00000"/>
                </a:solidFill>
              </a:rPr>
              <a:t>ثم أجب  عما يليه من أسئلة .................</a:t>
            </a:r>
            <a:endParaRPr lang="en-US" sz="1600" b="1" dirty="0">
              <a:solidFill>
                <a:srgbClr val="C00000"/>
              </a:solidFill>
            </a:endParaRPr>
          </a:p>
        </p:txBody>
      </p:sp>
      <p:sp>
        <p:nvSpPr>
          <p:cNvPr id="29" name="TextBox 28">
            <a:extLst>
              <a:ext uri="{FF2B5EF4-FFF2-40B4-BE49-F238E27FC236}">
                <a16:creationId xmlns:a16="http://schemas.microsoft.com/office/drawing/2014/main" id="{BF1F7728-002E-5B07-5767-9DB2D3A4BDD2}"/>
              </a:ext>
            </a:extLst>
          </p:cNvPr>
          <p:cNvSpPr txBox="1"/>
          <p:nvPr/>
        </p:nvSpPr>
        <p:spPr>
          <a:xfrm>
            <a:off x="10306036" y="2837164"/>
            <a:ext cx="1813302" cy="400110"/>
          </a:xfrm>
          <a:prstGeom prst="rect">
            <a:avLst/>
          </a:prstGeom>
          <a:noFill/>
        </p:spPr>
        <p:txBody>
          <a:bodyPr wrap="square" rtlCol="0">
            <a:spAutoFit/>
          </a:bodyPr>
          <a:lstStyle/>
          <a:p>
            <a:r>
              <a:rPr lang="ar-SA" sz="2000" b="1" dirty="0">
                <a:highlight>
                  <a:srgbClr val="00FF00"/>
                </a:highlight>
              </a:rPr>
              <a:t>فروسية شاعر </a:t>
            </a:r>
            <a:endParaRPr lang="en-US" sz="2000" b="1" dirty="0">
              <a:highlight>
                <a:srgbClr val="00FF00"/>
              </a:highlight>
            </a:endParaRPr>
          </a:p>
        </p:txBody>
      </p:sp>
      <p:pic>
        <p:nvPicPr>
          <p:cNvPr id="31" name="Picture 30" descr="أبو الطيب المتنبي - ويكيبيديا">
            <a:extLst>
              <a:ext uri="{FF2B5EF4-FFF2-40B4-BE49-F238E27FC236}">
                <a16:creationId xmlns:a16="http://schemas.microsoft.com/office/drawing/2014/main" id="{C3AE1D93-6BEE-A1FD-69E0-981372159B32}"/>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783207" y="2070758"/>
            <a:ext cx="1178890" cy="1294668"/>
          </a:xfrm>
          <a:prstGeom prst="rect">
            <a:avLst/>
          </a:prstGeom>
          <a:noFill/>
          <a:ln>
            <a:noFill/>
          </a:ln>
        </p:spPr>
      </p:pic>
      <p:sp>
        <p:nvSpPr>
          <p:cNvPr id="37" name="Arrow: Left 36">
            <a:extLst>
              <a:ext uri="{FF2B5EF4-FFF2-40B4-BE49-F238E27FC236}">
                <a16:creationId xmlns:a16="http://schemas.microsoft.com/office/drawing/2014/main" id="{96FE843B-5BBB-20D4-89F4-55E0CA5F647B}"/>
              </a:ext>
            </a:extLst>
          </p:cNvPr>
          <p:cNvSpPr/>
          <p:nvPr/>
        </p:nvSpPr>
        <p:spPr>
          <a:xfrm>
            <a:off x="4150320" y="2977043"/>
            <a:ext cx="1317481" cy="584773"/>
          </a:xfrm>
          <a:prstGeom prst="lef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ar-SA" b="1" dirty="0"/>
              <a:t>المهارة</a:t>
            </a:r>
            <a:endParaRPr lang="en-US" b="1" dirty="0"/>
          </a:p>
        </p:txBody>
      </p:sp>
      <p:sp>
        <p:nvSpPr>
          <p:cNvPr id="40" name="Rectangle 39">
            <a:extLst>
              <a:ext uri="{FF2B5EF4-FFF2-40B4-BE49-F238E27FC236}">
                <a16:creationId xmlns:a16="http://schemas.microsoft.com/office/drawing/2014/main" id="{59B207AB-90C0-EE3E-5666-3259B8BF03E3}"/>
              </a:ext>
            </a:extLst>
          </p:cNvPr>
          <p:cNvSpPr/>
          <p:nvPr/>
        </p:nvSpPr>
        <p:spPr>
          <a:xfrm>
            <a:off x="5840372" y="5344735"/>
            <a:ext cx="6191386" cy="121920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r" rtl="1">
              <a:lnSpc>
                <a:spcPct val="115000"/>
              </a:lnSpc>
              <a:spcAft>
                <a:spcPts val="800"/>
              </a:spcAft>
              <a:buNone/>
            </a:pPr>
            <a:r>
              <a:rPr lang="en-US" sz="1200" b="1" kern="100" dirty="0">
                <a:effectLst/>
                <a:latin typeface="Arial" panose="020B0604020202020204" pitchFamily="34" charset="0"/>
                <a:ea typeface="Aptos" panose="020B0004020202020204" pitchFamily="34" charset="0"/>
                <a:cs typeface="Arial" panose="020B0604020202020204" pitchFamily="34" charset="0"/>
              </a:rPr>
              <a:t> </a:t>
            </a:r>
            <a:r>
              <a:rPr lang="ar-SA" sz="1050" b="1" kern="100" dirty="0">
                <a:effectLst/>
                <a:latin typeface="Arial" panose="020B0604020202020204" pitchFamily="34" charset="0"/>
                <a:ea typeface="Aptos" panose="020B0004020202020204" pitchFamily="34" charset="0"/>
                <a:cs typeface="Arial" panose="020B0604020202020204" pitchFamily="34" charset="0"/>
              </a:rPr>
              <a:t>الخيل والليل والبيداء:</a:t>
            </a:r>
            <a:r>
              <a:rPr lang="ar-SA" sz="1050" b="1" kern="100" dirty="0">
                <a:effectLst/>
                <a:ea typeface="Aptos" panose="020B0004020202020204" pitchFamily="34" charset="0"/>
                <a:cs typeface="Arial" panose="020B0604020202020204" pitchFamily="34" charset="0"/>
              </a:rPr>
              <a:t> رموز للشجاعة والمغامرة (الخيل: الحرب، الليل: الصبر، البيداء: الصحراء)</a:t>
            </a:r>
            <a:endParaRPr lang="en-US" sz="1050" b="1" kern="100" dirty="0">
              <a:effectLst/>
              <a:ea typeface="Aptos" panose="020B0004020202020204" pitchFamily="34" charset="0"/>
              <a:cs typeface="Arial" panose="020B0604020202020204" pitchFamily="34" charset="0"/>
            </a:endParaRPr>
          </a:p>
          <a:p>
            <a:pPr marL="0" marR="0" algn="r">
              <a:lnSpc>
                <a:spcPct val="115000"/>
              </a:lnSpc>
              <a:spcAft>
                <a:spcPts val="800"/>
              </a:spcAft>
              <a:buNone/>
            </a:pPr>
            <a:r>
              <a:rPr lang="ar-SA" sz="1050" b="1" kern="100" dirty="0">
                <a:effectLst/>
                <a:ea typeface="Aptos" panose="020B0004020202020204" pitchFamily="34" charset="0"/>
                <a:cs typeface="Arial" panose="020B0604020202020204" pitchFamily="34" charset="0"/>
              </a:rPr>
              <a:t>دلالة على العلم والفكر      الفلوات : الصحارى الواسعة          القَفر والأكم:  الأرض الخالية والتلال القرطاس والقلم:</a:t>
            </a:r>
            <a:endParaRPr lang="en-US" sz="1050" b="1" kern="100" dirty="0">
              <a:effectLst/>
              <a:ea typeface="Aptos" panose="020B0004020202020204" pitchFamily="34" charset="0"/>
              <a:cs typeface="Arial" panose="020B0604020202020204" pitchFamily="34" charset="0"/>
            </a:endParaRPr>
          </a:p>
          <a:p>
            <a:pPr marL="0" marR="0" algn="r">
              <a:lnSpc>
                <a:spcPct val="115000"/>
              </a:lnSpc>
              <a:spcAft>
                <a:spcPts val="800"/>
              </a:spcAft>
              <a:buNone/>
            </a:pPr>
            <a:r>
              <a:rPr lang="ar-SA" sz="1050" b="1" kern="100" dirty="0">
                <a:effectLst/>
                <a:ea typeface="Aptos" panose="020B0004020202020204" pitchFamily="34" charset="0"/>
                <a:cs typeface="Arial" panose="020B0604020202020204" pitchFamily="34" charset="0"/>
              </a:rPr>
              <a:t>يخترم الجسيم نحافة: يجعل الجسد النحيل قويًا بالإرادة  -  يُهرم: يُصيب بالشيخوخة  -  أواري في التراب عظمي: أي لا يستسلم حتى الموت</a:t>
            </a:r>
            <a:r>
              <a:rPr lang="en-US" sz="1200" b="1" kern="100" dirty="0">
                <a:effectLst/>
                <a:ea typeface="Aptos" panose="020B0004020202020204" pitchFamily="34" charset="0"/>
                <a:cs typeface="Arial" panose="020B0604020202020204" pitchFamily="34" charset="0"/>
              </a:rPr>
              <a:t>.</a:t>
            </a:r>
            <a:endParaRPr lang="en-US" sz="1200" kern="100" dirty="0">
              <a:effectLst/>
              <a:ea typeface="Aptos" panose="020B0004020202020204" pitchFamily="34" charset="0"/>
              <a:cs typeface="Arial" panose="020B0604020202020204" pitchFamily="34" charset="0"/>
            </a:endParaRPr>
          </a:p>
        </p:txBody>
      </p:sp>
      <p:sp>
        <p:nvSpPr>
          <p:cNvPr id="41" name="Text Box 13">
            <a:extLst>
              <a:ext uri="{FF2B5EF4-FFF2-40B4-BE49-F238E27FC236}">
                <a16:creationId xmlns:a16="http://schemas.microsoft.com/office/drawing/2014/main" id="{B9B35CB7-993E-0F46-9BB9-8E59F41759D3}"/>
              </a:ext>
            </a:extLst>
          </p:cNvPr>
          <p:cNvSpPr txBox="1"/>
          <p:nvPr/>
        </p:nvSpPr>
        <p:spPr>
          <a:xfrm>
            <a:off x="10378698" y="5011392"/>
            <a:ext cx="1562100" cy="470535"/>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Aft>
                <a:spcPts val="800"/>
              </a:spcAft>
              <a:buNone/>
            </a:pPr>
            <a:r>
              <a:rPr lang="ar-SA" sz="2000" b="1" kern="100">
                <a:effectLst/>
                <a:latin typeface="Aptos" panose="020B0004020202020204" pitchFamily="34" charset="0"/>
                <a:ea typeface="Aptos" panose="020B0004020202020204" pitchFamily="34" charset="0"/>
                <a:cs typeface="Arial" panose="020B0604020202020204" pitchFamily="34" charset="0"/>
              </a:rPr>
              <a:t>معاني المفردات</a:t>
            </a:r>
            <a:endParaRPr lang="en-US" sz="1200" kern="100">
              <a:effectLst/>
              <a:latin typeface="Aptos" panose="020B0004020202020204" pitchFamily="34" charset="0"/>
              <a:ea typeface="Aptos" panose="020B00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C6AF3782-AD00-C88A-AF06-2D540EE013F7}"/>
              </a:ext>
            </a:extLst>
          </p:cNvPr>
          <p:cNvSpPr txBox="1"/>
          <p:nvPr/>
        </p:nvSpPr>
        <p:spPr>
          <a:xfrm>
            <a:off x="3979864" y="2077351"/>
            <a:ext cx="1597188" cy="461665"/>
          </a:xfrm>
          <a:prstGeom prst="rect">
            <a:avLst/>
          </a:prstGeom>
          <a:noFill/>
        </p:spPr>
        <p:txBody>
          <a:bodyPr wrap="square">
            <a:spAutoFit/>
          </a:bodyPr>
          <a:lstStyle/>
          <a:p>
            <a:r>
              <a:rPr lang="ar-SA" sz="2400" b="1" dirty="0">
                <a:highlight>
                  <a:srgbClr val="FF00FF"/>
                </a:highlight>
              </a:rPr>
              <a:t>مهارات لغوية</a:t>
            </a:r>
            <a:endParaRPr lang="en-US" sz="6600" b="1" dirty="0">
              <a:highlight>
                <a:srgbClr val="FF00FF"/>
              </a:highlight>
            </a:endParaRPr>
          </a:p>
        </p:txBody>
      </p:sp>
      <p:sp>
        <p:nvSpPr>
          <p:cNvPr id="46" name="TextBox 45">
            <a:extLst>
              <a:ext uri="{FF2B5EF4-FFF2-40B4-BE49-F238E27FC236}">
                <a16:creationId xmlns:a16="http://schemas.microsoft.com/office/drawing/2014/main" id="{75DE62F7-129C-49E5-2A97-A7C368B019D2}"/>
              </a:ext>
            </a:extLst>
          </p:cNvPr>
          <p:cNvSpPr txBox="1"/>
          <p:nvPr/>
        </p:nvSpPr>
        <p:spPr>
          <a:xfrm>
            <a:off x="15938" y="3784898"/>
            <a:ext cx="5580858" cy="1440779"/>
          </a:xfrm>
          <a:prstGeom prst="rect">
            <a:avLst/>
          </a:prstGeom>
          <a:noFill/>
        </p:spPr>
        <p:txBody>
          <a:bodyPr wrap="square">
            <a:spAutoFit/>
          </a:bodyPr>
          <a:lstStyle/>
          <a:p>
            <a:pPr algn="r" rtl="1">
              <a:lnSpc>
                <a:spcPct val="115000"/>
              </a:lnSpc>
              <a:spcAft>
                <a:spcPts val="800"/>
              </a:spcAft>
            </a:pPr>
            <a:r>
              <a:rPr lang="ar-SA" sz="2400" b="1" dirty="0">
                <a:solidFill>
                  <a:srgbClr val="C00000"/>
                </a:solidFill>
              </a:rPr>
              <a:t>10- </a:t>
            </a:r>
            <a:r>
              <a:rPr lang="ar-SA" sz="2000" b="1" dirty="0">
                <a:solidFill>
                  <a:srgbClr val="C00000"/>
                </a:solidFill>
              </a:rPr>
              <a:t>أنشئ تشبيها بليغاً من كلمة  ( الكتاب ) </a:t>
            </a:r>
          </a:p>
          <a:p>
            <a:pPr algn="r" rtl="1">
              <a:lnSpc>
                <a:spcPct val="115000"/>
              </a:lnSpc>
              <a:spcAft>
                <a:spcPts val="800"/>
              </a:spcAft>
            </a:pPr>
            <a:br>
              <a:rPr lang="ar-SA" sz="2000" dirty="0"/>
            </a:br>
            <a:r>
              <a:rPr lang="ar-SA" sz="2800" b="1" kern="100" dirty="0">
                <a:latin typeface="Aptos" panose="020B0004020202020204" pitchFamily="34" charset="0"/>
                <a:ea typeface="Aptos" panose="020B0004020202020204" pitchFamily="34" charset="0"/>
                <a:cs typeface="Arial" panose="020B0604020202020204" pitchFamily="34" charset="0"/>
              </a:rPr>
              <a:t>ج –    الكتاب صديق الوحدة </a:t>
            </a:r>
            <a:endParaRPr lang="ar-SA" sz="2000" b="1" kern="100" dirty="0">
              <a:highlight>
                <a:srgbClr val="00FFFF"/>
              </a:highlight>
              <a:latin typeface="Aptos" panose="020B0004020202020204" pitchFamily="34" charset="0"/>
              <a:ea typeface="Aptos" panose="020B00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0562A3D-6E80-C939-3F62-082DC58814F6}"/>
              </a:ext>
            </a:extLst>
          </p:cNvPr>
          <p:cNvSpPr txBox="1"/>
          <p:nvPr/>
        </p:nvSpPr>
        <p:spPr>
          <a:xfrm>
            <a:off x="4552781" y="2823403"/>
            <a:ext cx="1178887" cy="338554"/>
          </a:xfrm>
          <a:prstGeom prst="rect">
            <a:avLst/>
          </a:prstGeom>
          <a:noFill/>
        </p:spPr>
        <p:txBody>
          <a:bodyPr wrap="square">
            <a:spAutoFit/>
          </a:bodyPr>
          <a:lstStyle/>
          <a:p>
            <a:r>
              <a:rPr lang="ar-SA" sz="1600" b="1" i="0" u="none" strike="noStrike" baseline="0" dirty="0">
                <a:latin typeface="SakkalMajalla-Bold"/>
              </a:rPr>
              <a:t>سُؤالٌ مقاليٌّ</a:t>
            </a:r>
            <a:endParaRPr lang="en-US" sz="4400" b="1" dirty="0"/>
          </a:p>
        </p:txBody>
      </p:sp>
      <p:pic>
        <p:nvPicPr>
          <p:cNvPr id="4" name="Picture 3">
            <a:extLst>
              <a:ext uri="{FF2B5EF4-FFF2-40B4-BE49-F238E27FC236}">
                <a16:creationId xmlns:a16="http://schemas.microsoft.com/office/drawing/2014/main" id="{84DD4236-5FB8-EE72-AE63-CCF154A5AAE7}"/>
              </a:ext>
            </a:extLst>
          </p:cNvPr>
          <p:cNvPicPr>
            <a:picLocks noChangeAspect="1"/>
          </p:cNvPicPr>
          <p:nvPr/>
        </p:nvPicPr>
        <p:blipFill>
          <a:blip r:embed="rId6"/>
          <a:stretch>
            <a:fillRect/>
          </a:stretch>
        </p:blipFill>
        <p:spPr>
          <a:xfrm>
            <a:off x="1468501" y="2990374"/>
            <a:ext cx="2521577" cy="558109"/>
          </a:xfrm>
          <a:prstGeom prst="rect">
            <a:avLst/>
          </a:prstGeom>
        </p:spPr>
      </p:pic>
      <p:pic>
        <p:nvPicPr>
          <p:cNvPr id="3076" name="Picture 4" descr="‫كرتون كتاب مفتوح Png ، المتجهات ، PSD ، قصاصة فنية , تحميل مجاني | Pngtree‬‎">
            <a:extLst>
              <a:ext uri="{FF2B5EF4-FFF2-40B4-BE49-F238E27FC236}">
                <a16:creationId xmlns:a16="http://schemas.microsoft.com/office/drawing/2014/main" id="{CD31B0E8-A5AB-3F62-BD81-CD6D44F08E7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0171" y="4291002"/>
            <a:ext cx="1887302" cy="144077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D2684EC-F781-6E63-4226-B2F479FB4D66}"/>
              </a:ext>
            </a:extLst>
          </p:cNvPr>
          <p:cNvSpPr txBox="1"/>
          <p:nvPr/>
        </p:nvSpPr>
        <p:spPr>
          <a:xfrm>
            <a:off x="474646" y="6351069"/>
            <a:ext cx="5205483" cy="400110"/>
          </a:xfrm>
          <a:prstGeom prst="rect">
            <a:avLst/>
          </a:prstGeom>
          <a:noFill/>
        </p:spPr>
        <p:txBody>
          <a:bodyPr wrap="square" rtlCol="0">
            <a:spAutoFit/>
          </a:bodyPr>
          <a:lstStyle/>
          <a:p>
            <a:r>
              <a:rPr lang="ar-SA" sz="2000" b="1" dirty="0">
                <a:solidFill>
                  <a:srgbClr val="CB6792"/>
                </a:solidFill>
              </a:rPr>
              <a:t>إعداد... أ: شيخة السويدي</a:t>
            </a:r>
            <a:endParaRPr lang="en-US" sz="2000" b="1" dirty="0">
              <a:solidFill>
                <a:srgbClr val="CB6792"/>
              </a:solidFill>
            </a:endParaRPr>
          </a:p>
        </p:txBody>
      </p:sp>
    </p:spTree>
    <p:extLst>
      <p:ext uri="{BB962C8B-B14F-4D97-AF65-F5344CB8AC3E}">
        <p14:creationId xmlns:p14="http://schemas.microsoft.com/office/powerpoint/2010/main" val="4826153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E910B-06A9-C351-D2F2-15DDDDE1C055}"/>
            </a:ext>
          </a:extLst>
        </p:cNvPr>
        <p:cNvGrpSpPr/>
        <p:nvPr/>
      </p:nvGrpSpPr>
      <p:grpSpPr>
        <a:xfrm>
          <a:off x="0" y="0"/>
          <a:ext cx="0" cy="0"/>
          <a:chOff x="0" y="0"/>
          <a:chExt cx="0" cy="0"/>
        </a:xfrm>
      </p:grpSpPr>
      <p:pic>
        <p:nvPicPr>
          <p:cNvPr id="5" name="Picture 4" descr="A logo with a feather and a book&#10;&#10;AI-generated content may be incorrect.">
            <a:extLst>
              <a:ext uri="{FF2B5EF4-FFF2-40B4-BE49-F238E27FC236}">
                <a16:creationId xmlns:a16="http://schemas.microsoft.com/office/drawing/2014/main" id="{0D82DD18-1767-280D-4F7A-3651461E064C}"/>
              </a:ext>
            </a:extLst>
          </p:cNvPr>
          <p:cNvPicPr>
            <a:picLocks noChangeAspect="1"/>
          </p:cNvPicPr>
          <p:nvPr/>
        </p:nvPicPr>
        <p:blipFill>
          <a:blip r:embed="rId3">
            <a:extLst>
              <a:ext uri="{28A0092B-C50C-407E-A947-70E740481C1C}">
                <a14:useLocalDpi xmlns:a14="http://schemas.microsoft.com/office/drawing/2010/main" val="0"/>
              </a:ext>
            </a:extLst>
          </a:blip>
          <a:srcRect t="18752" r="-1" b="-1"/>
          <a:stretch>
            <a:fillRect/>
          </a:stretch>
        </p:blipFill>
        <p:spPr>
          <a:xfrm>
            <a:off x="3068" y="9"/>
            <a:ext cx="12188932" cy="2011073"/>
          </a:xfrm>
          <a:prstGeom prst="rect">
            <a:avLst/>
          </a:prstGeom>
        </p:spPr>
      </p:pic>
      <p:sp>
        <p:nvSpPr>
          <p:cNvPr id="9" name="TextBox 8">
            <a:extLst>
              <a:ext uri="{FF2B5EF4-FFF2-40B4-BE49-F238E27FC236}">
                <a16:creationId xmlns:a16="http://schemas.microsoft.com/office/drawing/2014/main" id="{9EE90FB7-4ADD-C0EE-161E-76F683032765}"/>
              </a:ext>
            </a:extLst>
          </p:cNvPr>
          <p:cNvSpPr txBox="1"/>
          <p:nvPr/>
        </p:nvSpPr>
        <p:spPr>
          <a:xfrm>
            <a:off x="9957661" y="309966"/>
            <a:ext cx="1914041" cy="369332"/>
          </a:xfrm>
          <a:prstGeom prst="rect">
            <a:avLst/>
          </a:prstGeom>
          <a:noFill/>
        </p:spPr>
        <p:txBody>
          <a:bodyPr wrap="square" rtlCol="0">
            <a:spAutoFit/>
          </a:bodyPr>
          <a:lstStyle/>
          <a:p>
            <a:r>
              <a:rPr lang="ar-SA" dirty="0"/>
              <a:t>مدرسة الشوامخ ح2-3</a:t>
            </a:r>
            <a:endParaRPr lang="en-US" dirty="0"/>
          </a:p>
        </p:txBody>
      </p:sp>
      <p:pic>
        <p:nvPicPr>
          <p:cNvPr id="11" name="Picture 10" descr="التربية والتعليم» تعلن هويتها المرئية الجديدة | صحيفة الخليج">
            <a:extLst>
              <a:ext uri="{FF2B5EF4-FFF2-40B4-BE49-F238E27FC236}">
                <a16:creationId xmlns:a16="http://schemas.microsoft.com/office/drawing/2014/main" id="{07A980D0-DE94-A7E4-84E3-281157EBF30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28" y="0"/>
            <a:ext cx="1393825" cy="950595"/>
          </a:xfrm>
          <a:prstGeom prst="rect">
            <a:avLst/>
          </a:prstGeom>
          <a:noFill/>
          <a:ln>
            <a:noFill/>
          </a:ln>
        </p:spPr>
      </p:pic>
      <p:cxnSp>
        <p:nvCxnSpPr>
          <p:cNvPr id="26" name="Straight Connector 25">
            <a:extLst>
              <a:ext uri="{FF2B5EF4-FFF2-40B4-BE49-F238E27FC236}">
                <a16:creationId xmlns:a16="http://schemas.microsoft.com/office/drawing/2014/main" id="{8E7CB59A-6C1C-DA8A-7029-BF60BA07A993}"/>
              </a:ext>
            </a:extLst>
          </p:cNvPr>
          <p:cNvCxnSpPr>
            <a:cxnSpLocks/>
          </p:cNvCxnSpPr>
          <p:nvPr/>
        </p:nvCxnSpPr>
        <p:spPr>
          <a:xfrm>
            <a:off x="6103462" y="2011082"/>
            <a:ext cx="0" cy="412213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4" name="TextBox 43">
            <a:extLst>
              <a:ext uri="{FF2B5EF4-FFF2-40B4-BE49-F238E27FC236}">
                <a16:creationId xmlns:a16="http://schemas.microsoft.com/office/drawing/2014/main" id="{C4FE0D2B-702E-6939-3518-06620CD81A89}"/>
              </a:ext>
            </a:extLst>
          </p:cNvPr>
          <p:cNvSpPr txBox="1"/>
          <p:nvPr/>
        </p:nvSpPr>
        <p:spPr>
          <a:xfrm>
            <a:off x="8958651" y="1859374"/>
            <a:ext cx="2756736" cy="461665"/>
          </a:xfrm>
          <a:prstGeom prst="rect">
            <a:avLst/>
          </a:prstGeom>
          <a:noFill/>
        </p:spPr>
        <p:txBody>
          <a:bodyPr wrap="square">
            <a:spAutoFit/>
          </a:bodyPr>
          <a:lstStyle/>
          <a:p>
            <a:r>
              <a:rPr lang="ar-SA" sz="2400" b="1" dirty="0">
                <a:highlight>
                  <a:srgbClr val="FF00FF"/>
                </a:highlight>
              </a:rPr>
              <a:t> </a:t>
            </a:r>
            <a:r>
              <a:rPr lang="ar-SA" sz="2400" b="1" dirty="0">
                <a:highlight>
                  <a:srgbClr val="00FFFF"/>
                </a:highlight>
              </a:rPr>
              <a:t>11</a:t>
            </a:r>
            <a:r>
              <a:rPr lang="ar-SA" sz="2400" b="1" dirty="0">
                <a:highlight>
                  <a:srgbClr val="FF00FF"/>
                </a:highlight>
              </a:rPr>
              <a:t>- مهارة  الكتابة </a:t>
            </a:r>
            <a:endParaRPr lang="en-US" sz="6600" b="1" dirty="0">
              <a:highlight>
                <a:srgbClr val="FF00FF"/>
              </a:highlight>
            </a:endParaRPr>
          </a:p>
        </p:txBody>
      </p:sp>
      <p:pic>
        <p:nvPicPr>
          <p:cNvPr id="6" name="Picture 5">
            <a:extLst>
              <a:ext uri="{FF2B5EF4-FFF2-40B4-BE49-F238E27FC236}">
                <a16:creationId xmlns:a16="http://schemas.microsoft.com/office/drawing/2014/main" id="{2C869CB7-A453-CEBE-F313-D04C9B8AD83C}"/>
              </a:ext>
            </a:extLst>
          </p:cNvPr>
          <p:cNvPicPr>
            <a:picLocks noChangeAspect="1"/>
          </p:cNvPicPr>
          <p:nvPr/>
        </p:nvPicPr>
        <p:blipFill>
          <a:blip r:embed="rId5"/>
          <a:stretch>
            <a:fillRect/>
          </a:stretch>
        </p:blipFill>
        <p:spPr>
          <a:xfrm>
            <a:off x="6260600" y="2330800"/>
            <a:ext cx="5350929" cy="1947072"/>
          </a:xfrm>
          <a:prstGeom prst="rect">
            <a:avLst/>
          </a:prstGeom>
        </p:spPr>
      </p:pic>
      <p:pic>
        <p:nvPicPr>
          <p:cNvPr id="10" name="Picture 9">
            <a:extLst>
              <a:ext uri="{FF2B5EF4-FFF2-40B4-BE49-F238E27FC236}">
                <a16:creationId xmlns:a16="http://schemas.microsoft.com/office/drawing/2014/main" id="{EB3546CE-9773-DA70-657F-C6ACEE81E661}"/>
              </a:ext>
            </a:extLst>
          </p:cNvPr>
          <p:cNvPicPr>
            <a:picLocks noChangeAspect="1"/>
          </p:cNvPicPr>
          <p:nvPr/>
        </p:nvPicPr>
        <p:blipFill>
          <a:blip r:embed="rId6"/>
          <a:stretch>
            <a:fillRect/>
          </a:stretch>
        </p:blipFill>
        <p:spPr>
          <a:xfrm>
            <a:off x="9169401" y="4658300"/>
            <a:ext cx="2391178" cy="1302994"/>
          </a:xfrm>
          <a:prstGeom prst="rect">
            <a:avLst/>
          </a:prstGeom>
        </p:spPr>
      </p:pic>
      <p:pic>
        <p:nvPicPr>
          <p:cNvPr id="2050" name="Picture 2" descr="‫فتاة تكتب Png ، المتجهات ، PSD ، قصاصة فنية , تحميل مجاني | Pngtree‬‎">
            <a:extLst>
              <a:ext uri="{FF2B5EF4-FFF2-40B4-BE49-F238E27FC236}">
                <a16:creationId xmlns:a16="http://schemas.microsoft.com/office/drawing/2014/main" id="{15579793-30FD-66FE-61D2-18CE4CE3D36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60599" y="4409655"/>
            <a:ext cx="2578597" cy="1551639"/>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71BC36A9-BBDB-A734-43B0-8E1709E1FE3A}"/>
              </a:ext>
            </a:extLst>
          </p:cNvPr>
          <p:cNvPicPr>
            <a:picLocks noChangeAspect="1"/>
          </p:cNvPicPr>
          <p:nvPr/>
        </p:nvPicPr>
        <p:blipFill>
          <a:blip r:embed="rId8"/>
          <a:stretch>
            <a:fillRect/>
          </a:stretch>
        </p:blipFill>
        <p:spPr>
          <a:xfrm>
            <a:off x="118535" y="2624668"/>
            <a:ext cx="5909728" cy="2350990"/>
          </a:xfrm>
          <a:prstGeom prst="rect">
            <a:avLst/>
          </a:prstGeom>
        </p:spPr>
      </p:pic>
      <p:sp>
        <p:nvSpPr>
          <p:cNvPr id="14" name="TextBox 13">
            <a:extLst>
              <a:ext uri="{FF2B5EF4-FFF2-40B4-BE49-F238E27FC236}">
                <a16:creationId xmlns:a16="http://schemas.microsoft.com/office/drawing/2014/main" id="{3DD3749D-10CA-9054-1EFE-D74E30E072FF}"/>
              </a:ext>
            </a:extLst>
          </p:cNvPr>
          <p:cNvSpPr txBox="1"/>
          <p:nvPr/>
        </p:nvSpPr>
        <p:spPr>
          <a:xfrm>
            <a:off x="474646" y="6351069"/>
            <a:ext cx="5205483" cy="400110"/>
          </a:xfrm>
          <a:prstGeom prst="rect">
            <a:avLst/>
          </a:prstGeom>
          <a:noFill/>
        </p:spPr>
        <p:txBody>
          <a:bodyPr wrap="square" rtlCol="0">
            <a:spAutoFit/>
          </a:bodyPr>
          <a:lstStyle/>
          <a:p>
            <a:r>
              <a:rPr lang="ar-SA" sz="2000" b="1" dirty="0">
                <a:solidFill>
                  <a:srgbClr val="CB6792"/>
                </a:solidFill>
              </a:rPr>
              <a:t>إعداد... أ: شيخة السويدي</a:t>
            </a:r>
            <a:endParaRPr lang="en-US" sz="2000" b="1" dirty="0">
              <a:solidFill>
                <a:srgbClr val="CB6792"/>
              </a:solidFill>
            </a:endParaRPr>
          </a:p>
        </p:txBody>
      </p:sp>
    </p:spTree>
    <p:extLst>
      <p:ext uri="{BB962C8B-B14F-4D97-AF65-F5344CB8AC3E}">
        <p14:creationId xmlns:p14="http://schemas.microsoft.com/office/powerpoint/2010/main" val="9124015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E1081-F15D-CBA6-FB43-B360CB524609}"/>
            </a:ext>
          </a:extLst>
        </p:cNvPr>
        <p:cNvGrpSpPr/>
        <p:nvPr/>
      </p:nvGrpSpPr>
      <p:grpSpPr>
        <a:xfrm>
          <a:off x="0" y="0"/>
          <a:ext cx="0" cy="0"/>
          <a:chOff x="0" y="0"/>
          <a:chExt cx="0" cy="0"/>
        </a:xfrm>
      </p:grpSpPr>
      <p:pic>
        <p:nvPicPr>
          <p:cNvPr id="5" name="Picture 4" descr="A logo with a feather and a book&#10;&#10;AI-generated content may be incorrect.">
            <a:extLst>
              <a:ext uri="{FF2B5EF4-FFF2-40B4-BE49-F238E27FC236}">
                <a16:creationId xmlns:a16="http://schemas.microsoft.com/office/drawing/2014/main" id="{9CB1C52E-A32C-5A0D-A50B-4C70B4CC9FDF}"/>
              </a:ext>
            </a:extLst>
          </p:cNvPr>
          <p:cNvPicPr>
            <a:picLocks noChangeAspect="1"/>
          </p:cNvPicPr>
          <p:nvPr/>
        </p:nvPicPr>
        <p:blipFill>
          <a:blip r:embed="rId3">
            <a:extLst>
              <a:ext uri="{28A0092B-C50C-407E-A947-70E740481C1C}">
                <a14:useLocalDpi xmlns:a14="http://schemas.microsoft.com/office/drawing/2010/main" val="0"/>
              </a:ext>
            </a:extLst>
          </a:blip>
          <a:srcRect t="18752" r="-1" b="-1"/>
          <a:stretch>
            <a:fillRect/>
          </a:stretch>
        </p:blipFill>
        <p:spPr>
          <a:xfrm>
            <a:off x="3068" y="9"/>
            <a:ext cx="12188932" cy="2011073"/>
          </a:xfrm>
          <a:prstGeom prst="rect">
            <a:avLst/>
          </a:prstGeom>
        </p:spPr>
      </p:pic>
      <p:sp>
        <p:nvSpPr>
          <p:cNvPr id="9" name="TextBox 8">
            <a:extLst>
              <a:ext uri="{FF2B5EF4-FFF2-40B4-BE49-F238E27FC236}">
                <a16:creationId xmlns:a16="http://schemas.microsoft.com/office/drawing/2014/main" id="{CD53FD01-207D-1E07-F0C8-8D24658FEC6C}"/>
              </a:ext>
            </a:extLst>
          </p:cNvPr>
          <p:cNvSpPr txBox="1"/>
          <p:nvPr/>
        </p:nvSpPr>
        <p:spPr>
          <a:xfrm>
            <a:off x="9957661" y="309966"/>
            <a:ext cx="1914041" cy="369332"/>
          </a:xfrm>
          <a:prstGeom prst="rect">
            <a:avLst/>
          </a:prstGeom>
          <a:noFill/>
        </p:spPr>
        <p:txBody>
          <a:bodyPr wrap="square" rtlCol="0">
            <a:spAutoFit/>
          </a:bodyPr>
          <a:lstStyle/>
          <a:p>
            <a:r>
              <a:rPr lang="ar-SA" dirty="0"/>
              <a:t>مدرسة الشوامخ ح2-3</a:t>
            </a:r>
            <a:endParaRPr lang="en-US" dirty="0"/>
          </a:p>
        </p:txBody>
      </p:sp>
      <p:pic>
        <p:nvPicPr>
          <p:cNvPr id="11" name="Picture 10" descr="التربية والتعليم» تعلن هويتها المرئية الجديدة | صحيفة الخليج">
            <a:extLst>
              <a:ext uri="{FF2B5EF4-FFF2-40B4-BE49-F238E27FC236}">
                <a16:creationId xmlns:a16="http://schemas.microsoft.com/office/drawing/2014/main" id="{4B1FE65B-218B-0608-B8A8-93219D795A0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28" y="0"/>
            <a:ext cx="1393825" cy="950595"/>
          </a:xfrm>
          <a:prstGeom prst="rect">
            <a:avLst/>
          </a:prstGeom>
          <a:noFill/>
          <a:ln>
            <a:noFill/>
          </a:ln>
        </p:spPr>
      </p:pic>
      <p:cxnSp>
        <p:nvCxnSpPr>
          <p:cNvPr id="26" name="Straight Connector 25">
            <a:extLst>
              <a:ext uri="{FF2B5EF4-FFF2-40B4-BE49-F238E27FC236}">
                <a16:creationId xmlns:a16="http://schemas.microsoft.com/office/drawing/2014/main" id="{454B7A0A-9597-F9BC-F847-E39BAE90C9B9}"/>
              </a:ext>
            </a:extLst>
          </p:cNvPr>
          <p:cNvCxnSpPr>
            <a:cxnSpLocks/>
          </p:cNvCxnSpPr>
          <p:nvPr/>
        </p:nvCxnSpPr>
        <p:spPr>
          <a:xfrm>
            <a:off x="6338240" y="2011081"/>
            <a:ext cx="0" cy="412213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3" name="Picture 2">
            <a:extLst>
              <a:ext uri="{FF2B5EF4-FFF2-40B4-BE49-F238E27FC236}">
                <a16:creationId xmlns:a16="http://schemas.microsoft.com/office/drawing/2014/main" id="{A2069BBE-A576-7AED-D6D2-028FEDFE53C2}"/>
              </a:ext>
            </a:extLst>
          </p:cNvPr>
          <p:cNvPicPr>
            <a:picLocks noChangeAspect="1"/>
          </p:cNvPicPr>
          <p:nvPr/>
        </p:nvPicPr>
        <p:blipFill>
          <a:blip r:embed="rId5"/>
          <a:stretch>
            <a:fillRect/>
          </a:stretch>
        </p:blipFill>
        <p:spPr>
          <a:xfrm>
            <a:off x="7329920" y="4148662"/>
            <a:ext cx="4201291" cy="978301"/>
          </a:xfrm>
          <a:prstGeom prst="rect">
            <a:avLst/>
          </a:prstGeom>
        </p:spPr>
      </p:pic>
      <p:sp>
        <p:nvSpPr>
          <p:cNvPr id="4" name="TextBox 3">
            <a:extLst>
              <a:ext uri="{FF2B5EF4-FFF2-40B4-BE49-F238E27FC236}">
                <a16:creationId xmlns:a16="http://schemas.microsoft.com/office/drawing/2014/main" id="{9DE62B7B-E1D5-72F2-10B8-605B341C02DB}"/>
              </a:ext>
            </a:extLst>
          </p:cNvPr>
          <p:cNvSpPr txBox="1"/>
          <p:nvPr/>
        </p:nvSpPr>
        <p:spPr>
          <a:xfrm>
            <a:off x="10187684" y="2932335"/>
            <a:ext cx="2014151" cy="646331"/>
          </a:xfrm>
          <a:prstGeom prst="rect">
            <a:avLst/>
          </a:prstGeom>
          <a:noFill/>
        </p:spPr>
        <p:txBody>
          <a:bodyPr wrap="square" rtlCol="0">
            <a:spAutoFit/>
          </a:bodyPr>
          <a:lstStyle/>
          <a:p>
            <a:r>
              <a:rPr lang="ar-SA" sz="3600" b="1" u="sng" dirty="0"/>
              <a:t>ثانياً</a:t>
            </a:r>
            <a:endParaRPr lang="en-US" sz="3600" b="1" u="sng" dirty="0"/>
          </a:p>
        </p:txBody>
      </p:sp>
      <p:sp>
        <p:nvSpPr>
          <p:cNvPr id="8" name="TextBox 7">
            <a:extLst>
              <a:ext uri="{FF2B5EF4-FFF2-40B4-BE49-F238E27FC236}">
                <a16:creationId xmlns:a16="http://schemas.microsoft.com/office/drawing/2014/main" id="{D2AFF7C3-CD90-B2DC-A27D-8AF58CBE21D2}"/>
              </a:ext>
            </a:extLst>
          </p:cNvPr>
          <p:cNvSpPr txBox="1"/>
          <p:nvPr/>
        </p:nvSpPr>
        <p:spPr>
          <a:xfrm>
            <a:off x="474646" y="2307965"/>
            <a:ext cx="6098058" cy="1248740"/>
          </a:xfrm>
          <a:prstGeom prst="rect">
            <a:avLst/>
          </a:prstGeom>
          <a:noFill/>
        </p:spPr>
        <p:txBody>
          <a:bodyPr wrap="square">
            <a:spAutoFit/>
          </a:bodyPr>
          <a:lstStyle/>
          <a:p>
            <a:pPr marL="0" marR="0" algn="ctr" rtl="1">
              <a:lnSpc>
                <a:spcPct val="107000"/>
              </a:lnSpc>
              <a:spcAft>
                <a:spcPts val="800"/>
              </a:spcAft>
              <a:buNone/>
            </a:pPr>
            <a:r>
              <a:rPr lang="ar-SA" sz="3600" b="1" dirty="0">
                <a:solidFill>
                  <a:srgbClr val="2F5496"/>
                </a:solidFill>
                <a:effectLst/>
                <a:latin typeface="Calibri" panose="020F0502020204030204" pitchFamily="34" charset="0"/>
                <a:ea typeface="Calibri" panose="020F0502020204030204" pitchFamily="34" charset="0"/>
                <a:cs typeface="Sakkal Majalla" panose="02000000000000000000" pitchFamily="2" charset="-78"/>
              </a:rPr>
              <a:t>فتاتُ الذاكرةِ   </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l" rtl="1">
              <a:lnSpc>
                <a:spcPct val="107000"/>
              </a:lnSpc>
              <a:spcAft>
                <a:spcPts val="800"/>
              </a:spcAft>
              <a:buNone/>
            </a:pPr>
            <a:r>
              <a:rPr lang="ar-SA" sz="2000" b="1" dirty="0">
                <a:effectLst/>
                <a:latin typeface="Calibri" panose="020F0502020204030204" pitchFamily="34" charset="0"/>
                <a:ea typeface="Calibri" panose="020F0502020204030204" pitchFamily="34" charset="0"/>
                <a:cs typeface="Sakkal Majalla" panose="02000000000000000000" pitchFamily="2" charset="-78"/>
              </a:rPr>
              <a:t>حكايةٌ مستوحاةٌ من أحداث هزيمة فرنسا في معركة (</a:t>
            </a:r>
            <a:r>
              <a:rPr lang="ar-SA" sz="2000" b="1" dirty="0" err="1">
                <a:effectLst/>
                <a:latin typeface="Calibri" panose="020F0502020204030204" pitchFamily="34" charset="0"/>
                <a:ea typeface="Calibri" panose="020F0502020204030204" pitchFamily="34" charset="0"/>
                <a:cs typeface="Sakkal Majalla" panose="02000000000000000000" pitchFamily="2" charset="-78"/>
              </a:rPr>
              <a:t>واترلو</a:t>
            </a:r>
            <a:r>
              <a:rPr lang="ar-SA" sz="2000" b="1" dirty="0">
                <a:effectLst/>
                <a:latin typeface="Calibri" panose="020F0502020204030204" pitchFamily="34" charset="0"/>
                <a:ea typeface="Calibri" panose="020F0502020204030204" pitchFamily="34" charset="0"/>
                <a:cs typeface="Sakkal Majalla" panose="02000000000000000000" pitchFamily="2" charset="-78"/>
              </a:rPr>
              <a:t>) عام 1815م</a:t>
            </a:r>
            <a:r>
              <a:rPr lang="ar-SA" sz="2800" b="1" dirty="0">
                <a:effectLst/>
                <a:latin typeface="Calibri" panose="020F0502020204030204" pitchFamily="34" charset="0"/>
                <a:ea typeface="Calibri" panose="020F0502020204030204" pitchFamily="34" charset="0"/>
                <a:cs typeface="Sakkal Majalla" panose="02000000000000000000" pitchFamily="2" charset="-78"/>
              </a:rPr>
              <a:t>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3851D779-1AE8-2630-BFAB-EDF33B73A8D0}"/>
              </a:ext>
            </a:extLst>
          </p:cNvPr>
          <p:cNvSpPr txBox="1"/>
          <p:nvPr/>
        </p:nvSpPr>
        <p:spPr>
          <a:xfrm>
            <a:off x="474646" y="4282226"/>
            <a:ext cx="5391625" cy="523220"/>
          </a:xfrm>
          <a:prstGeom prst="rect">
            <a:avLst/>
          </a:prstGeom>
          <a:noFill/>
        </p:spPr>
        <p:txBody>
          <a:bodyPr wrap="square" rtlCol="0">
            <a:spAutoFit/>
          </a:bodyPr>
          <a:lstStyle/>
          <a:p>
            <a:r>
              <a:rPr lang="ar-SA" sz="2800" b="1" dirty="0">
                <a:highlight>
                  <a:srgbClr val="00FFFF"/>
                </a:highlight>
              </a:rPr>
              <a:t>اقرأ النص جيدًا ثم أجب عما يليه من أسئلة</a:t>
            </a:r>
            <a:endParaRPr lang="en-US" sz="2800" b="1" dirty="0">
              <a:highlight>
                <a:srgbClr val="00FFFF"/>
              </a:highlight>
            </a:endParaRPr>
          </a:p>
        </p:txBody>
      </p:sp>
      <p:pic>
        <p:nvPicPr>
          <p:cNvPr id="5122" name="Picture 2" descr="11 بديلا صحيا للخبز | أسلوب حياة | الجزيرة نت">
            <a:extLst>
              <a:ext uri="{FF2B5EF4-FFF2-40B4-BE49-F238E27FC236}">
                <a16:creationId xmlns:a16="http://schemas.microsoft.com/office/drawing/2014/main" id="{A76306A8-008B-3BF1-01EA-E0C438B9C64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03543" y="2125793"/>
            <a:ext cx="2466975" cy="1847850"/>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B6E7200E-7CC3-D45E-8BAA-B8A66CB59712}"/>
              </a:ext>
            </a:extLst>
          </p:cNvPr>
          <p:cNvSpPr txBox="1"/>
          <p:nvPr/>
        </p:nvSpPr>
        <p:spPr>
          <a:xfrm>
            <a:off x="474646" y="6351069"/>
            <a:ext cx="5205483" cy="400110"/>
          </a:xfrm>
          <a:prstGeom prst="rect">
            <a:avLst/>
          </a:prstGeom>
          <a:noFill/>
        </p:spPr>
        <p:txBody>
          <a:bodyPr wrap="square" rtlCol="0">
            <a:spAutoFit/>
          </a:bodyPr>
          <a:lstStyle/>
          <a:p>
            <a:r>
              <a:rPr lang="ar-SA" sz="2000" b="1" dirty="0">
                <a:solidFill>
                  <a:srgbClr val="CB6792"/>
                </a:solidFill>
              </a:rPr>
              <a:t>إعداد... أ: شيخة السويدي</a:t>
            </a:r>
            <a:endParaRPr lang="en-US" sz="2000" b="1" dirty="0">
              <a:solidFill>
                <a:srgbClr val="CB6792"/>
              </a:solidFill>
            </a:endParaRPr>
          </a:p>
        </p:txBody>
      </p:sp>
    </p:spTree>
    <p:extLst>
      <p:ext uri="{BB962C8B-B14F-4D97-AF65-F5344CB8AC3E}">
        <p14:creationId xmlns:p14="http://schemas.microsoft.com/office/powerpoint/2010/main" val="15909298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596D70F-0F8E-1F49-651B-C2A37ADAAD9B}"/>
              </a:ext>
            </a:extLst>
          </p:cNvPr>
          <p:cNvSpPr txBox="1"/>
          <p:nvPr/>
        </p:nvSpPr>
        <p:spPr>
          <a:xfrm>
            <a:off x="0" y="781511"/>
            <a:ext cx="12120892" cy="5860066"/>
          </a:xfrm>
          <a:prstGeom prst="rect">
            <a:avLst/>
          </a:prstGeom>
          <a:noFill/>
        </p:spPr>
        <p:txBody>
          <a:bodyPr wrap="square">
            <a:spAutoFit/>
          </a:bodyPr>
          <a:lstStyle/>
          <a:p>
            <a:pPr marL="0" marR="0" algn="r" rtl="1">
              <a:lnSpc>
                <a:spcPct val="107000"/>
              </a:lnSpc>
              <a:spcAft>
                <a:spcPts val="800"/>
              </a:spcAft>
              <a:buNone/>
            </a:pPr>
            <a:r>
              <a:rPr lang="ar-SA" sz="1800" b="1" dirty="0">
                <a:effectLst/>
                <a:latin typeface="Calibri" panose="020F0502020204030204" pitchFamily="34" charset="0"/>
                <a:ea typeface="Calibri" panose="020F0502020204030204" pitchFamily="34" charset="0"/>
                <a:cs typeface="Sakkal Majalla" panose="02000000000000000000" pitchFamily="2" charset="-78"/>
              </a:rPr>
              <a:t>لم تَسِرِ الأمورُ كما تمنى الصبِي (</a:t>
            </a:r>
            <a:r>
              <a:rPr lang="ar-SA" sz="1800" b="1" dirty="0" err="1">
                <a:effectLst/>
                <a:latin typeface="Calibri" panose="020F0502020204030204" pitchFamily="34" charset="0"/>
                <a:ea typeface="Calibri" panose="020F0502020204030204" pitchFamily="34" charset="0"/>
                <a:cs typeface="Sakkal Majalla" panose="02000000000000000000" pitchFamily="2" charset="-78"/>
              </a:rPr>
              <a:t>بييرو</a:t>
            </a:r>
            <a:r>
              <a:rPr lang="ar-SA" sz="1800" b="1" dirty="0">
                <a:effectLst/>
                <a:latin typeface="Calibri" panose="020F0502020204030204" pitchFamily="34" charset="0"/>
                <a:ea typeface="Calibri" panose="020F0502020204030204" pitchFamily="34" charset="0"/>
                <a:cs typeface="Sakkal Majalla" panose="02000000000000000000" pitchFamily="2" charset="-78"/>
              </a:rPr>
              <a:t>) في ذلكَ الوقتِ منَ السَّنَةِ، كانتِ الجيوشُ تعودُ مهزومَةً من أرضٍ بعيدَةٍ، ولم يكُن أَبوهُ من بينِ الجموعِ التي كانتْ تعودُ بجراحٍ وقصصٍ مُرَّةٍ سيحكونَها لمنْ ينتظرونهُمْ، أمّا (</a:t>
            </a:r>
            <a:r>
              <a:rPr lang="ar-SA" sz="1800" b="1" dirty="0" err="1">
                <a:effectLst/>
                <a:latin typeface="Calibri" panose="020F0502020204030204" pitchFamily="34" charset="0"/>
                <a:ea typeface="Calibri" panose="020F0502020204030204" pitchFamily="34" charset="0"/>
                <a:cs typeface="Sakkal Majalla" panose="02000000000000000000" pitchFamily="2" charset="-78"/>
              </a:rPr>
              <a:t>بييرو</a:t>
            </a:r>
            <a:r>
              <a:rPr lang="ar-SA" sz="1800" b="1" dirty="0">
                <a:effectLst/>
                <a:latin typeface="Calibri" panose="020F0502020204030204" pitchFamily="34" charset="0"/>
                <a:ea typeface="Calibri" panose="020F0502020204030204" pitchFamily="34" charset="0"/>
                <a:cs typeface="Sakkal Majalla" panose="02000000000000000000" pitchFamily="2" charset="-78"/>
              </a:rPr>
              <a:t>) وأُمُّهُ فقد كانا ينتظرانِ منْ لنْ يأتِيَ، ولم يكُنِ الأمرُ سهلًا أبدًا.  </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Aft>
                <a:spcPts val="800"/>
              </a:spcAft>
              <a:buNone/>
            </a:pPr>
            <a:r>
              <a:rPr lang="ar-SA" sz="1800" b="1" dirty="0">
                <a:effectLst/>
                <a:latin typeface="Calibri" panose="020F0502020204030204" pitchFamily="34" charset="0"/>
                <a:ea typeface="Calibri" panose="020F0502020204030204" pitchFamily="34" charset="0"/>
                <a:cs typeface="Sakkal Majalla" panose="02000000000000000000" pitchFamily="2" charset="-78"/>
              </a:rPr>
              <a:t>في ساعاتِ الصباحِ الأولى، وعلى جانبِ زقاقٍ ضيقٍ بحيِّ </a:t>
            </a:r>
            <a:r>
              <a:rPr lang="ar-SA" sz="1800" b="1" dirty="0" err="1">
                <a:effectLst/>
                <a:latin typeface="Calibri" panose="020F0502020204030204" pitchFamily="34" charset="0"/>
                <a:ea typeface="Calibri" panose="020F0502020204030204" pitchFamily="34" charset="0"/>
                <a:cs typeface="Sakkal Majalla" panose="02000000000000000000" pitchFamily="2" charset="-78"/>
              </a:rPr>
              <a:t>مونمارترَ</a:t>
            </a:r>
            <a:r>
              <a:rPr lang="ar-SA" sz="1800" b="1" dirty="0">
                <a:effectLst/>
                <a:latin typeface="Calibri" panose="020F0502020204030204" pitchFamily="34" charset="0"/>
                <a:ea typeface="Calibri" panose="020F0502020204030204" pitchFamily="34" charset="0"/>
                <a:cs typeface="Sakkal Majalla" panose="02000000000000000000" pitchFamily="2" charset="-78"/>
              </a:rPr>
              <a:t> الباريسيِّ، حيثُ يتسللُ الضبابُ بينَ جدرانِ مخبزٍ عتيقٍ، كانَ الصبِيُّ (</a:t>
            </a:r>
            <a:r>
              <a:rPr lang="ar-SA" sz="1800" b="1" dirty="0" err="1">
                <a:effectLst/>
                <a:latin typeface="Calibri" panose="020F0502020204030204" pitchFamily="34" charset="0"/>
                <a:ea typeface="Calibri" panose="020F0502020204030204" pitchFamily="34" charset="0"/>
                <a:cs typeface="Sakkal Majalla" panose="02000000000000000000" pitchFamily="2" charset="-78"/>
              </a:rPr>
              <a:t>بييرو</a:t>
            </a:r>
            <a:r>
              <a:rPr lang="ar-SA" sz="1800" b="1" dirty="0">
                <a:effectLst/>
                <a:latin typeface="Calibri" panose="020F0502020204030204" pitchFamily="34" charset="0"/>
                <a:ea typeface="Calibri" panose="020F0502020204030204" pitchFamily="34" charset="0"/>
                <a:cs typeface="Sakkal Majalla" panose="02000000000000000000" pitchFamily="2" charset="-78"/>
              </a:rPr>
              <a:t>) ذو العينينِ الزجاجيتينِ يلصقُ وجهَهُ بزجاجٍ متَّسِخٍ، يتفرجُ على أرغفةِ الخبزِ وهي تدورُ في الفرنِ الحجريِّ. كانتْ عيناهُ الزرقاوانِ تتسعانِ كلما رأى تلكَ الكراتِ الذهبيةَ تنتفخُ كالغيومِ الصغيرةِ.  </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Aft>
                <a:spcPts val="800"/>
              </a:spcAft>
              <a:buFont typeface="Sakkal Majalla" panose="02000000000000000000" pitchFamily="2" charset="-78"/>
              <a:buChar char="-"/>
            </a:pPr>
            <a:r>
              <a:rPr lang="ar-SA" sz="1800" b="1" dirty="0">
                <a:effectLst/>
                <a:latin typeface="Calibri" panose="020F0502020204030204" pitchFamily="34" charset="0"/>
                <a:ea typeface="Calibri" panose="020F0502020204030204" pitchFamily="34" charset="0"/>
                <a:cs typeface="Sakkal Majalla" panose="02000000000000000000" pitchFamily="2" charset="-78"/>
              </a:rPr>
              <a:t>"انصرِفْ مِنْ هُنا"</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Aft>
                <a:spcPts val="800"/>
              </a:spcAft>
              <a:buNone/>
            </a:pPr>
            <a:r>
              <a:rPr lang="ar-SA" sz="1800" b="1" dirty="0">
                <a:effectLst/>
                <a:latin typeface="Calibri" panose="020F0502020204030204" pitchFamily="34" charset="0"/>
                <a:ea typeface="Calibri" panose="020F0502020204030204" pitchFamily="34" charset="0"/>
                <a:cs typeface="Sakkal Majalla" panose="02000000000000000000" pitchFamily="2" charset="-78"/>
              </a:rPr>
              <a:t>صوتٌ كالرَّعدِ جعلَهُ يقفزُ في مكانِهِ، السيدُ (</a:t>
            </a:r>
            <a:r>
              <a:rPr lang="ar-SA" sz="1800" b="1" dirty="0" err="1">
                <a:effectLst/>
                <a:latin typeface="Calibri" panose="020F0502020204030204" pitchFamily="34" charset="0"/>
                <a:ea typeface="Calibri" panose="020F0502020204030204" pitchFamily="34" charset="0"/>
                <a:cs typeface="Sakkal Majalla" panose="02000000000000000000" pitchFamily="2" charset="-78"/>
              </a:rPr>
              <a:t>لوبير</a:t>
            </a:r>
            <a:r>
              <a:rPr lang="ar-SA" sz="1800" b="1" dirty="0">
                <a:effectLst/>
                <a:latin typeface="Calibri" panose="020F0502020204030204" pitchFamily="34" charset="0"/>
                <a:ea typeface="Calibri" panose="020F0502020204030204" pitchFamily="34" charset="0"/>
                <a:cs typeface="Sakkal Majalla" panose="02000000000000000000" pitchFamily="2" charset="-78"/>
              </a:rPr>
              <a:t>) الرجلُ الضخمُ بشاربيْهِ الكَثَّيْنِ كانَ يلَوِّحُ بممسحةٍ في يدِهِ، لكنَّ الصبِيَّ ظلَّ واقفًا، بينما كانتْ رائحةُ الخبزِ تحفرُ في ذاكرتِهِ مكانًا، وتلاحقُهُ حتى المدرسةِ.  </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Aft>
                <a:spcPts val="800"/>
              </a:spcAft>
              <a:buNone/>
            </a:pPr>
            <a:r>
              <a:rPr lang="ar-SA" sz="1800" b="1" dirty="0">
                <a:effectLst/>
                <a:latin typeface="Calibri" panose="020F0502020204030204" pitchFamily="34" charset="0"/>
                <a:ea typeface="Calibri" panose="020F0502020204030204" pitchFamily="34" charset="0"/>
                <a:cs typeface="Sakkal Majalla" panose="02000000000000000000" pitchFamily="2" charset="-78"/>
              </a:rPr>
              <a:t>في قاعةِ الدراسةِ الباردةِ، بينما كانَ الأستاذُ (مارتن) يشرحُ درسَ التاريخِ، ويوثّقُ ما حدثَ للجيوشِ الفرنسيةِ في معركةِ (</a:t>
            </a:r>
            <a:r>
              <a:rPr lang="ar-SA" sz="1800" b="1" dirty="0" err="1">
                <a:effectLst/>
                <a:latin typeface="Calibri" panose="020F0502020204030204" pitchFamily="34" charset="0"/>
                <a:ea typeface="Calibri" panose="020F0502020204030204" pitchFamily="34" charset="0"/>
                <a:cs typeface="Sakkal Majalla" panose="02000000000000000000" pitchFamily="2" charset="-78"/>
              </a:rPr>
              <a:t>واترلو</a:t>
            </a:r>
            <a:r>
              <a:rPr lang="ar-SA" sz="1800" b="1" dirty="0">
                <a:effectLst/>
                <a:latin typeface="Calibri" panose="020F0502020204030204" pitchFamily="34" charset="0"/>
                <a:ea typeface="Calibri" panose="020F0502020204030204" pitchFamily="34" charset="0"/>
                <a:cs typeface="Sakkal Majalla" panose="02000000000000000000" pitchFamily="2" charset="-78"/>
              </a:rPr>
              <a:t>) بقيادةِ (نابليونَ بونابرت)، كانَ (</a:t>
            </a:r>
            <a:r>
              <a:rPr lang="ar-SA" sz="1800" b="1" dirty="0" err="1">
                <a:effectLst/>
                <a:latin typeface="Calibri" panose="020F0502020204030204" pitchFamily="34" charset="0"/>
                <a:ea typeface="Calibri" panose="020F0502020204030204" pitchFamily="34" charset="0"/>
                <a:cs typeface="Sakkal Majalla" panose="02000000000000000000" pitchFamily="2" charset="-78"/>
              </a:rPr>
              <a:t>بييرُو</a:t>
            </a:r>
            <a:r>
              <a:rPr lang="ar-SA" sz="1800" b="1" dirty="0">
                <a:effectLst/>
                <a:latin typeface="Calibri" panose="020F0502020204030204" pitchFamily="34" charset="0"/>
                <a:ea typeface="Calibri" panose="020F0502020204030204" pitchFamily="34" charset="0"/>
                <a:cs typeface="Sakkal Majalla" panose="02000000000000000000" pitchFamily="2" charset="-78"/>
              </a:rPr>
              <a:t>) البائسُ الصغيرُ يرسمُ أمنيةً وحيدةً في دفترِهِ بأشكالِ أرغفةِ الخبزِ.  </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Aft>
                <a:spcPts val="800"/>
              </a:spcAft>
              <a:buNone/>
            </a:pPr>
            <a:r>
              <a:rPr lang="ar-SA" sz="1800" b="1" dirty="0">
                <a:effectLst/>
                <a:latin typeface="Calibri" panose="020F0502020204030204" pitchFamily="34" charset="0"/>
                <a:ea typeface="Calibri" panose="020F0502020204030204" pitchFamily="34" charset="0"/>
                <a:cs typeface="Sakkal Majalla" panose="02000000000000000000" pitchFamily="2" charset="-78"/>
              </a:rPr>
              <a:t>- "</a:t>
            </a:r>
            <a:r>
              <a:rPr lang="ar-SA" sz="1800" b="1" dirty="0" err="1">
                <a:effectLst/>
                <a:latin typeface="Calibri" panose="020F0502020204030204" pitchFamily="34" charset="0"/>
                <a:ea typeface="Calibri" panose="020F0502020204030204" pitchFamily="34" charset="0"/>
                <a:cs typeface="Sakkal Majalla" panose="02000000000000000000" pitchFamily="2" charset="-78"/>
              </a:rPr>
              <a:t>بييرو</a:t>
            </a:r>
            <a:r>
              <a:rPr lang="ar-SA" sz="1800" b="1" dirty="0">
                <a:effectLst/>
                <a:latin typeface="Calibri" panose="020F0502020204030204" pitchFamily="34" charset="0"/>
                <a:ea typeface="Calibri" panose="020F0502020204030204" pitchFamily="34" charset="0"/>
                <a:cs typeface="Sakkal Majalla" panose="02000000000000000000" pitchFamily="2" charset="-78"/>
              </a:rPr>
              <a:t>! ماذا كانتْ نتيجةُ معركةِ </a:t>
            </a:r>
            <a:r>
              <a:rPr lang="ar-SA" sz="1800" b="1" dirty="0" err="1">
                <a:effectLst/>
                <a:latin typeface="Calibri" panose="020F0502020204030204" pitchFamily="34" charset="0"/>
                <a:ea typeface="Calibri" panose="020F0502020204030204" pitchFamily="34" charset="0"/>
                <a:cs typeface="Sakkal Majalla" panose="02000000000000000000" pitchFamily="2" charset="-78"/>
              </a:rPr>
              <a:t>واترلو</a:t>
            </a:r>
            <a:r>
              <a:rPr lang="ar-SA" sz="1800" b="1" dirty="0">
                <a:effectLst/>
                <a:latin typeface="Calibri" panose="020F0502020204030204" pitchFamily="34" charset="0"/>
                <a:ea typeface="Calibri" panose="020F0502020204030204" pitchFamily="34" charset="0"/>
                <a:cs typeface="Sakkal Majalla" panose="02000000000000000000" pitchFamily="2" charset="-78"/>
              </a:rPr>
              <a:t>؟" سألَ الأستاذُ.  </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Aft>
                <a:spcPts val="800"/>
              </a:spcAft>
              <a:buNone/>
            </a:pPr>
            <a:r>
              <a:rPr lang="ar-SA" sz="1800" b="1" dirty="0">
                <a:effectLst/>
                <a:latin typeface="Calibri" panose="020F0502020204030204" pitchFamily="34" charset="0"/>
                <a:ea typeface="Calibri" panose="020F0502020204030204" pitchFamily="34" charset="0"/>
                <a:cs typeface="Sakkal Majalla" panose="02000000000000000000" pitchFamily="2" charset="-78"/>
              </a:rPr>
              <a:t>- "خ...خبز؟"  </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Aft>
                <a:spcPts val="800"/>
              </a:spcAft>
              <a:buNone/>
            </a:pPr>
            <a:r>
              <a:rPr lang="ar-SA" sz="1800" b="1" dirty="0">
                <a:effectLst/>
                <a:latin typeface="Calibri" panose="020F0502020204030204" pitchFamily="34" charset="0"/>
                <a:ea typeface="Calibri" panose="020F0502020204030204" pitchFamily="34" charset="0"/>
                <a:cs typeface="Sakkal Majalla" panose="02000000000000000000" pitchFamily="2" charset="-78"/>
              </a:rPr>
              <a:t>ضحكَ التلاميذُ جميعًا، إلا أنَّ الأستاذَ لم يضحكْ.. رأى في عينيْ تلميذِهِ ذلكَ الفراغَ الذي تركتْهُ الحربُ.  </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Aft>
                <a:spcPts val="800"/>
              </a:spcAft>
              <a:buNone/>
            </a:pPr>
            <a:r>
              <a:rPr lang="ar-SA" sz="1800" b="1" dirty="0">
                <a:effectLst/>
                <a:latin typeface="Calibri" panose="020F0502020204030204" pitchFamily="34" charset="0"/>
                <a:ea typeface="Calibri" panose="020F0502020204030204" pitchFamily="34" charset="0"/>
                <a:cs typeface="Sakkal Majalla" panose="02000000000000000000" pitchFamily="2" charset="-78"/>
              </a:rPr>
              <a:t>ذلكَ المساءَ، بينما كانَ (</a:t>
            </a:r>
            <a:r>
              <a:rPr lang="ar-SA" sz="1800" b="1" dirty="0" err="1">
                <a:effectLst/>
                <a:latin typeface="Calibri" panose="020F0502020204030204" pitchFamily="34" charset="0"/>
                <a:ea typeface="Calibri" panose="020F0502020204030204" pitchFamily="34" charset="0"/>
                <a:cs typeface="Sakkal Majalla" panose="02000000000000000000" pitchFamily="2" charset="-78"/>
              </a:rPr>
              <a:t>بييرو</a:t>
            </a:r>
            <a:r>
              <a:rPr lang="ar-SA" sz="1800" b="1" dirty="0">
                <a:effectLst/>
                <a:latin typeface="Calibri" panose="020F0502020204030204" pitchFamily="34" charset="0"/>
                <a:ea typeface="Calibri" panose="020F0502020204030204" pitchFamily="34" charset="0"/>
                <a:cs typeface="Sakkal Majalla" panose="02000000000000000000" pitchFamily="2" charset="-78"/>
              </a:rPr>
              <a:t>) يتلمَّسُ طريقَهُ بحائطِ المخبزِ، سمعَ أنينًا يأتي منَ الداخلِ. وجدَ السيدَ (</a:t>
            </a:r>
            <a:r>
              <a:rPr lang="ar-SA" sz="1800" b="1" dirty="0" err="1">
                <a:effectLst/>
                <a:latin typeface="Calibri" panose="020F0502020204030204" pitchFamily="34" charset="0"/>
                <a:ea typeface="Calibri" panose="020F0502020204030204" pitchFamily="34" charset="0"/>
                <a:cs typeface="Sakkal Majalla" panose="02000000000000000000" pitchFamily="2" charset="-78"/>
              </a:rPr>
              <a:t>لوبير</a:t>
            </a:r>
            <a:r>
              <a:rPr lang="ar-SA" sz="1800" b="1" dirty="0">
                <a:effectLst/>
                <a:latin typeface="Calibri" panose="020F0502020204030204" pitchFamily="34" charset="0"/>
                <a:ea typeface="Calibri" panose="020F0502020204030204" pitchFamily="34" charset="0"/>
                <a:cs typeface="Sakkal Majalla" panose="02000000000000000000" pitchFamily="2" charset="-78"/>
              </a:rPr>
              <a:t>) منحنيًا على جرحٍ نازفٍ في ساقِهِ، وجهُهُ الأصفرُ يلمعُ تحتَ ضوءِ القمرِ.  </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Aft>
                <a:spcPts val="800"/>
              </a:spcAft>
              <a:buNone/>
            </a:pPr>
            <a:r>
              <a:rPr lang="ar-SA" sz="1800" b="1" dirty="0">
                <a:effectLst/>
                <a:latin typeface="Calibri" panose="020F0502020204030204" pitchFamily="34" charset="0"/>
                <a:ea typeface="Calibri" panose="020F0502020204030204" pitchFamily="34" charset="0"/>
                <a:cs typeface="Sakkal Majalla" panose="02000000000000000000" pitchFamily="2" charset="-78"/>
              </a:rPr>
              <a:t>"ا... اذهبْ بعيدًا!" زمجرَ الرجلُ، لكنَّ صوتَهُ كانَ ضعيفًا هذه المرةَ.  </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Aft>
                <a:spcPts val="800"/>
              </a:spcAft>
              <a:buNone/>
            </a:pPr>
            <a:r>
              <a:rPr lang="ar-SA" sz="1800" b="1" dirty="0">
                <a:effectLst/>
                <a:latin typeface="Calibri" panose="020F0502020204030204" pitchFamily="34" charset="0"/>
                <a:ea typeface="Calibri" panose="020F0502020204030204" pitchFamily="34" charset="0"/>
                <a:cs typeface="Sakkal Majalla" panose="02000000000000000000" pitchFamily="2" charset="-78"/>
              </a:rPr>
              <a:t>في اليومِ التالي، ظهرَ (</a:t>
            </a:r>
            <a:r>
              <a:rPr lang="ar-SA" sz="1800" b="1" dirty="0" err="1">
                <a:effectLst/>
                <a:latin typeface="Calibri" panose="020F0502020204030204" pitchFamily="34" charset="0"/>
                <a:ea typeface="Calibri" panose="020F0502020204030204" pitchFamily="34" charset="0"/>
                <a:cs typeface="Sakkal Majalla" panose="02000000000000000000" pitchFamily="2" charset="-78"/>
              </a:rPr>
              <a:t>بييرو</a:t>
            </a:r>
            <a:r>
              <a:rPr lang="ar-SA" sz="1800" b="1" dirty="0">
                <a:effectLst/>
                <a:latin typeface="Calibri" panose="020F0502020204030204" pitchFamily="34" charset="0"/>
                <a:ea typeface="Calibri" panose="020F0502020204030204" pitchFamily="34" charset="0"/>
                <a:cs typeface="Sakkal Majalla" panose="02000000000000000000" pitchFamily="2" charset="-78"/>
              </a:rPr>
              <a:t>) عندَ بابِ المخبزِ قبلَ الفجرِ. حملَ الدقيقَ، أشعلَ الفرنَ، وعجنَ العجينَ بأصابعِهِ الصغيرةِ، كانَ يفعلُ كما كانَ يرى العجوزَ (</a:t>
            </a:r>
            <a:r>
              <a:rPr lang="ar-SA" sz="1800" b="1" dirty="0" err="1">
                <a:effectLst/>
                <a:latin typeface="Calibri" panose="020F0502020204030204" pitchFamily="34" charset="0"/>
                <a:ea typeface="Calibri" panose="020F0502020204030204" pitchFamily="34" charset="0"/>
                <a:cs typeface="Sakkal Majalla" panose="02000000000000000000" pitchFamily="2" charset="-78"/>
              </a:rPr>
              <a:t>لوبير</a:t>
            </a:r>
            <a:r>
              <a:rPr lang="ar-SA" sz="1800" b="1" dirty="0">
                <a:effectLst/>
                <a:latin typeface="Calibri" panose="020F0502020204030204" pitchFamily="34" charset="0"/>
                <a:ea typeface="Calibri" panose="020F0502020204030204" pitchFamily="34" charset="0"/>
                <a:cs typeface="Sakkal Majalla" panose="02000000000000000000" pitchFamily="2" charset="-78"/>
              </a:rPr>
              <a:t>) يفعلُ ألفَ مرةٍ، بينما كانَ السيدُ يراقبُ من سريرِهِ المؤقتِ، عيناهُ تلمعانِ كجمرتينِ في رمادٍ، عندما دقتِ الساعةُ الخامسةُ صباحًا، انتشرَ عبقُ الخبزِ الطازجِ في الزقاقِ، وخرجتِ الأرغفةُ الذهبيةُ منَ الفرنِ.  </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053669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E184B82-B9FD-D482-B6C4-B8E110549939}"/>
              </a:ext>
            </a:extLst>
          </p:cNvPr>
          <p:cNvSpPr txBox="1"/>
          <p:nvPr/>
        </p:nvSpPr>
        <p:spPr>
          <a:xfrm>
            <a:off x="580768" y="1393764"/>
            <a:ext cx="11343502" cy="4762201"/>
          </a:xfrm>
          <a:prstGeom prst="rect">
            <a:avLst/>
          </a:prstGeom>
          <a:noFill/>
        </p:spPr>
        <p:txBody>
          <a:bodyPr wrap="square">
            <a:spAutoFit/>
          </a:bodyPr>
          <a:lstStyle/>
          <a:p>
            <a:pPr marL="0" marR="0" algn="r" rtl="1">
              <a:lnSpc>
                <a:spcPct val="107000"/>
              </a:lnSpc>
              <a:spcAft>
                <a:spcPts val="800"/>
              </a:spcAft>
              <a:buNone/>
            </a:pPr>
            <a:r>
              <a:rPr lang="ar-SA" sz="1800" b="1" dirty="0">
                <a:effectLst/>
                <a:latin typeface="Calibri" panose="020F0502020204030204" pitchFamily="34" charset="0"/>
                <a:ea typeface="Calibri" panose="020F0502020204030204" pitchFamily="34" charset="0"/>
                <a:cs typeface="Sakkal Majalla" panose="02000000000000000000" pitchFamily="2" charset="-78"/>
              </a:rPr>
              <a:t>"</a:t>
            </a:r>
            <a:r>
              <a:rPr lang="ar-SA" sz="2400" b="1" dirty="0">
                <a:effectLst/>
                <a:latin typeface="Calibri" panose="020F0502020204030204" pitchFamily="34" charset="0"/>
                <a:ea typeface="Calibri" panose="020F0502020204030204" pitchFamily="34" charset="0"/>
                <a:cs typeface="Sakkal Majalla" panose="02000000000000000000" pitchFamily="2" charset="-78"/>
              </a:rPr>
              <a:t>أنت... تعرفُ كيفَ تخبزُ؟" سألَ (</a:t>
            </a:r>
            <a:r>
              <a:rPr lang="ar-SA" sz="2400" b="1" dirty="0" err="1">
                <a:effectLst/>
                <a:latin typeface="Calibri" panose="020F0502020204030204" pitchFamily="34" charset="0"/>
                <a:ea typeface="Calibri" panose="020F0502020204030204" pitchFamily="34" charset="0"/>
                <a:cs typeface="Sakkal Majalla" panose="02000000000000000000" pitchFamily="2" charset="-78"/>
              </a:rPr>
              <a:t>لوبير</a:t>
            </a:r>
            <a:r>
              <a:rPr lang="ar-SA" sz="2400" b="1" dirty="0">
                <a:effectLst/>
                <a:latin typeface="Calibri" panose="020F0502020204030204" pitchFamily="34" charset="0"/>
                <a:ea typeface="Calibri" panose="020F0502020204030204" pitchFamily="34" charset="0"/>
                <a:cs typeface="Sakkal Majalla" panose="02000000000000000000" pitchFamily="2" charset="-78"/>
              </a:rPr>
              <a:t>) وهو يحملُ رغيفًا دافئًا بيدٍ مرتعشةٍ.  </a:t>
            </a:r>
            <a:endParaRPr lang="en-US" sz="1600" b="1"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Aft>
                <a:spcPts val="800"/>
              </a:spcAft>
              <a:buNone/>
            </a:pPr>
            <a:r>
              <a:rPr lang="ar-SA" sz="2400" b="1" dirty="0">
                <a:effectLst/>
                <a:latin typeface="Calibri" panose="020F0502020204030204" pitchFamily="34" charset="0"/>
                <a:ea typeface="Calibri" panose="020F0502020204030204" pitchFamily="34" charset="0"/>
                <a:cs typeface="Sakkal Majalla" panose="02000000000000000000" pitchFamily="2" charset="-78"/>
              </a:rPr>
              <a:t>"كنتُ أراقبُكَ كلَّ صباحٍ، سيدي."  </a:t>
            </a:r>
            <a:endParaRPr lang="en-US" sz="1600" b="1"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Aft>
                <a:spcPts val="800"/>
              </a:spcAft>
              <a:buNone/>
            </a:pPr>
            <a:r>
              <a:rPr lang="ar-SA" sz="2400" b="1" dirty="0">
                <a:effectLst/>
                <a:latin typeface="Calibri" panose="020F0502020204030204" pitchFamily="34" charset="0"/>
                <a:ea typeface="Calibri" panose="020F0502020204030204" pitchFamily="34" charset="0"/>
                <a:cs typeface="Sakkal Majalla" panose="02000000000000000000" pitchFamily="2" charset="-78"/>
              </a:rPr>
              <a:t>عندَ الظهرِ، وقفَ </a:t>
            </a:r>
            <a:r>
              <a:rPr lang="ar-SA" sz="2400" b="1" dirty="0" err="1">
                <a:effectLst/>
                <a:latin typeface="Calibri" panose="020F0502020204030204" pitchFamily="34" charset="0"/>
                <a:ea typeface="Calibri" panose="020F0502020204030204" pitchFamily="34" charset="0"/>
                <a:cs typeface="Sakkal Majalla" panose="02000000000000000000" pitchFamily="2" charset="-78"/>
              </a:rPr>
              <a:t>بييرو</a:t>
            </a:r>
            <a:r>
              <a:rPr lang="ar-SA" sz="2400" b="1" dirty="0">
                <a:effectLst/>
                <a:latin typeface="Calibri" panose="020F0502020204030204" pitchFamily="34" charset="0"/>
                <a:ea typeface="Calibri" panose="020F0502020204030204" pitchFamily="34" charset="0"/>
                <a:cs typeface="Sakkal Majalla" panose="02000000000000000000" pitchFamily="2" charset="-78"/>
              </a:rPr>
              <a:t> خلفَ الزجاجِ مرةً أخرى. لكنْ هذه المرةَ، كانَ يرتدي مِئزرًا أبيضَ، وعبْرَ الزجاجِ رأى أطفالَ الحيِّ يتفرجونَ عليهِ وهو يديرُ عجلةَ الفرنِ، تمامًا كما كانَ يفعلُ من قبلُ.  </a:t>
            </a:r>
            <a:endParaRPr lang="en-US" sz="1600" b="1"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Aft>
                <a:spcPts val="800"/>
              </a:spcAft>
              <a:buNone/>
            </a:pPr>
            <a:r>
              <a:rPr lang="ar-SA" sz="2400" b="1" dirty="0">
                <a:effectLst/>
                <a:latin typeface="Calibri" panose="020F0502020204030204" pitchFamily="34" charset="0"/>
                <a:ea typeface="Calibri" panose="020F0502020204030204" pitchFamily="34" charset="0"/>
                <a:cs typeface="Sakkal Majalla" panose="02000000000000000000" pitchFamily="2" charset="-78"/>
              </a:rPr>
              <a:t>في المساءِ، بينما كانَ يغلقُ المحلَ، وضعَ (</a:t>
            </a:r>
            <a:r>
              <a:rPr lang="ar-SA" sz="2400" b="1" dirty="0" err="1">
                <a:effectLst/>
                <a:latin typeface="Calibri" panose="020F0502020204030204" pitchFamily="34" charset="0"/>
                <a:ea typeface="Calibri" panose="020F0502020204030204" pitchFamily="34" charset="0"/>
                <a:cs typeface="Sakkal Majalla" panose="02000000000000000000" pitchFamily="2" charset="-78"/>
              </a:rPr>
              <a:t>لوبير</a:t>
            </a:r>
            <a:r>
              <a:rPr lang="ar-SA" sz="2400" b="1" dirty="0">
                <a:effectLst/>
                <a:latin typeface="Calibri" panose="020F0502020204030204" pitchFamily="34" charset="0"/>
                <a:ea typeface="Calibri" panose="020F0502020204030204" pitchFamily="34" charset="0"/>
                <a:cs typeface="Sakkal Majalla" panose="02000000000000000000" pitchFamily="2" charset="-78"/>
              </a:rPr>
              <a:t>) يديهِ الثقيلتينِ على كتفيِ الصبيِّ:  </a:t>
            </a:r>
            <a:endParaRPr lang="en-US" sz="1600" b="1"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Aft>
                <a:spcPts val="800"/>
              </a:spcAft>
              <a:buNone/>
            </a:pPr>
            <a:r>
              <a:rPr lang="ar-SA" sz="2400" b="1" dirty="0">
                <a:effectLst/>
                <a:latin typeface="Calibri" panose="020F0502020204030204" pitchFamily="34" charset="0"/>
                <a:ea typeface="Calibri" panose="020F0502020204030204" pitchFamily="34" charset="0"/>
                <a:cs typeface="Sakkal Majalla" panose="02000000000000000000" pitchFamily="2" charset="-78"/>
              </a:rPr>
              <a:t>"لم نعدْ ننتظرُ من يعودُ... بل نَخْبِزُ لِمَنْ سيأتي"</a:t>
            </a:r>
            <a:endParaRPr lang="en-US" sz="1600" b="1"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Aft>
                <a:spcPts val="800"/>
              </a:spcAft>
              <a:buNone/>
            </a:pPr>
            <a:r>
              <a:rPr lang="ar-SA" sz="2400" b="1" dirty="0">
                <a:effectLst/>
                <a:latin typeface="Calibri" panose="020F0502020204030204" pitchFamily="34" charset="0"/>
                <a:ea typeface="Calibri" panose="020F0502020204030204" pitchFamily="34" charset="0"/>
                <a:cs typeface="Sakkal Majalla" panose="02000000000000000000" pitchFamily="2" charset="-78"/>
              </a:rPr>
              <a:t>وفي نهايةِ الزقاقِ كانَ الصبيُّ يمشي إلى منزلِهِ برغيفٍ واحدٍ، وعلى عتبةِ البيتِ المهدَّمِ تقِفُ أمُّهُ منتظرةً، وضَعَ الرغيفَ على الطاولةِ حيثُ كانَ كتابُ التاريخِ مفتوحًا على صفحةِ </a:t>
            </a:r>
            <a:r>
              <a:rPr lang="ar-SA" sz="2400" b="1" dirty="0" err="1">
                <a:effectLst/>
                <a:latin typeface="Calibri" panose="020F0502020204030204" pitchFamily="34" charset="0"/>
                <a:ea typeface="Calibri" panose="020F0502020204030204" pitchFamily="34" charset="0"/>
                <a:cs typeface="Sakkal Majalla" panose="02000000000000000000" pitchFamily="2" charset="-78"/>
              </a:rPr>
              <a:t>واترلو</a:t>
            </a:r>
            <a:r>
              <a:rPr lang="ar-SA" sz="2400" b="1" dirty="0">
                <a:effectLst/>
                <a:latin typeface="Calibri" panose="020F0502020204030204" pitchFamily="34" charset="0"/>
                <a:ea typeface="Calibri" panose="020F0502020204030204" pitchFamily="34" charset="0"/>
                <a:cs typeface="Sakkal Majalla" panose="02000000000000000000" pitchFamily="2" charset="-78"/>
              </a:rPr>
              <a:t>.  </a:t>
            </a:r>
            <a:endParaRPr lang="en-US" sz="1600" b="1"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Aft>
                <a:spcPts val="800"/>
              </a:spcAft>
              <a:buNone/>
            </a:pPr>
            <a:r>
              <a:rPr lang="ar-SA" sz="2400" b="1" dirty="0">
                <a:effectLst/>
                <a:latin typeface="Calibri" panose="020F0502020204030204" pitchFamily="34" charset="0"/>
                <a:ea typeface="Calibri" panose="020F0502020204030204" pitchFamily="34" charset="0"/>
                <a:cs typeface="Sakkal Majalla" panose="02000000000000000000" pitchFamily="2" charset="-78"/>
              </a:rPr>
              <a:t>- "الخبزُ سيُعَلِّمُنا الكثيرَ". همسَتِ الأمُّ.</a:t>
            </a:r>
            <a:endParaRPr lang="en-US" sz="1600" b="1"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Aft>
                <a:spcPts val="800"/>
              </a:spcAft>
              <a:buNone/>
            </a:pPr>
            <a:r>
              <a:rPr lang="ar-SA" sz="2400" b="1" dirty="0">
                <a:effectLst/>
                <a:latin typeface="Calibri" panose="020F0502020204030204" pitchFamily="34" charset="0"/>
                <a:ea typeface="Calibri" panose="020F0502020204030204" pitchFamily="34" charset="0"/>
                <a:cs typeface="Sakkal Majalla" panose="02000000000000000000" pitchFamily="2" charset="-78"/>
              </a:rPr>
              <a:t>بينما اختلطَ بخارُ الرَّغيفِ بدموعِها، مُكَوِّنًا سحابةً صغيرةً في الهواءِ الباردِ، ربَّما كانتْ روحًا، أو ربَّما مجردَ ذكرى، ترفضُ أن تَتَبَدَّدَ.  </a:t>
            </a:r>
            <a:endParaRPr lang="en-US" sz="1600" b="1"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6" name="Picture 2" descr="11 بديلا صحيا للخبز | أسلوب حياة | الجزيرة نت">
            <a:extLst>
              <a:ext uri="{FF2B5EF4-FFF2-40B4-BE49-F238E27FC236}">
                <a16:creationId xmlns:a16="http://schemas.microsoft.com/office/drawing/2014/main" id="{B3D7D19E-5641-5D91-670D-9C93BA9C28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768" y="720327"/>
            <a:ext cx="2604221" cy="13468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79741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D40F3-C174-B467-51B5-BE72D8474AB2}"/>
            </a:ext>
          </a:extLst>
        </p:cNvPr>
        <p:cNvGrpSpPr/>
        <p:nvPr/>
      </p:nvGrpSpPr>
      <p:grpSpPr>
        <a:xfrm>
          <a:off x="0" y="0"/>
          <a:ext cx="0" cy="0"/>
          <a:chOff x="0" y="0"/>
          <a:chExt cx="0" cy="0"/>
        </a:xfrm>
      </p:grpSpPr>
      <p:pic>
        <p:nvPicPr>
          <p:cNvPr id="5" name="Picture 4" descr="A logo with a feather and a book&#10;&#10;AI-generated content may be incorrect.">
            <a:extLst>
              <a:ext uri="{FF2B5EF4-FFF2-40B4-BE49-F238E27FC236}">
                <a16:creationId xmlns:a16="http://schemas.microsoft.com/office/drawing/2014/main" id="{3F64E983-1FDA-EC88-7A95-E59621634192}"/>
              </a:ext>
            </a:extLst>
          </p:cNvPr>
          <p:cNvPicPr>
            <a:picLocks noChangeAspect="1"/>
          </p:cNvPicPr>
          <p:nvPr/>
        </p:nvPicPr>
        <p:blipFill>
          <a:blip r:embed="rId3">
            <a:extLst>
              <a:ext uri="{28A0092B-C50C-407E-A947-70E740481C1C}">
                <a14:useLocalDpi xmlns:a14="http://schemas.microsoft.com/office/drawing/2010/main" val="0"/>
              </a:ext>
            </a:extLst>
          </a:blip>
          <a:srcRect t="18752" r="-1" b="-1"/>
          <a:stretch>
            <a:fillRect/>
          </a:stretch>
        </p:blipFill>
        <p:spPr>
          <a:xfrm>
            <a:off x="3068" y="9"/>
            <a:ext cx="12188932" cy="2011073"/>
          </a:xfrm>
          <a:prstGeom prst="rect">
            <a:avLst/>
          </a:prstGeom>
        </p:spPr>
      </p:pic>
      <p:sp>
        <p:nvSpPr>
          <p:cNvPr id="9" name="TextBox 8">
            <a:extLst>
              <a:ext uri="{FF2B5EF4-FFF2-40B4-BE49-F238E27FC236}">
                <a16:creationId xmlns:a16="http://schemas.microsoft.com/office/drawing/2014/main" id="{9DB7352A-8FD6-47AF-9117-38E640A59FF6}"/>
              </a:ext>
            </a:extLst>
          </p:cNvPr>
          <p:cNvSpPr txBox="1"/>
          <p:nvPr/>
        </p:nvSpPr>
        <p:spPr>
          <a:xfrm>
            <a:off x="9957661" y="309966"/>
            <a:ext cx="1914041" cy="369332"/>
          </a:xfrm>
          <a:prstGeom prst="rect">
            <a:avLst/>
          </a:prstGeom>
          <a:noFill/>
        </p:spPr>
        <p:txBody>
          <a:bodyPr wrap="square" rtlCol="0">
            <a:spAutoFit/>
          </a:bodyPr>
          <a:lstStyle/>
          <a:p>
            <a:r>
              <a:rPr lang="ar-SA" dirty="0"/>
              <a:t>مدرسة الشوامخ ح2-3</a:t>
            </a:r>
            <a:endParaRPr lang="en-US" dirty="0"/>
          </a:p>
        </p:txBody>
      </p:sp>
      <p:pic>
        <p:nvPicPr>
          <p:cNvPr id="11" name="Picture 10" descr="التربية والتعليم» تعلن هويتها المرئية الجديدة | صحيفة الخليج">
            <a:extLst>
              <a:ext uri="{FF2B5EF4-FFF2-40B4-BE49-F238E27FC236}">
                <a16:creationId xmlns:a16="http://schemas.microsoft.com/office/drawing/2014/main" id="{8D4773A9-B064-82FE-A0A8-E63189053C8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28" y="0"/>
            <a:ext cx="1393825" cy="950595"/>
          </a:xfrm>
          <a:prstGeom prst="rect">
            <a:avLst/>
          </a:prstGeom>
          <a:noFill/>
          <a:ln>
            <a:noFill/>
          </a:ln>
        </p:spPr>
      </p:pic>
      <p:cxnSp>
        <p:nvCxnSpPr>
          <p:cNvPr id="26" name="Straight Connector 25">
            <a:extLst>
              <a:ext uri="{FF2B5EF4-FFF2-40B4-BE49-F238E27FC236}">
                <a16:creationId xmlns:a16="http://schemas.microsoft.com/office/drawing/2014/main" id="{C7B927B8-BD1B-E863-D3C1-AC4DFB184833}"/>
              </a:ext>
            </a:extLst>
          </p:cNvPr>
          <p:cNvCxnSpPr>
            <a:cxnSpLocks/>
          </p:cNvCxnSpPr>
          <p:nvPr/>
        </p:nvCxnSpPr>
        <p:spPr>
          <a:xfrm>
            <a:off x="5680129" y="1995639"/>
            <a:ext cx="0" cy="412213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7" name="Arrow: Left 36">
            <a:extLst>
              <a:ext uri="{FF2B5EF4-FFF2-40B4-BE49-F238E27FC236}">
                <a16:creationId xmlns:a16="http://schemas.microsoft.com/office/drawing/2014/main" id="{BCBE0887-A10C-ECAF-19E1-9C31A968AB51}"/>
              </a:ext>
            </a:extLst>
          </p:cNvPr>
          <p:cNvSpPr/>
          <p:nvPr/>
        </p:nvSpPr>
        <p:spPr>
          <a:xfrm>
            <a:off x="4172062" y="2758094"/>
            <a:ext cx="1317481" cy="584773"/>
          </a:xfrm>
          <a:prstGeom prst="lef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ar-SA" b="1" dirty="0"/>
              <a:t>المهارة</a:t>
            </a:r>
            <a:endParaRPr lang="en-US" b="1" dirty="0"/>
          </a:p>
        </p:txBody>
      </p:sp>
      <p:sp>
        <p:nvSpPr>
          <p:cNvPr id="46" name="TextBox 45">
            <a:extLst>
              <a:ext uri="{FF2B5EF4-FFF2-40B4-BE49-F238E27FC236}">
                <a16:creationId xmlns:a16="http://schemas.microsoft.com/office/drawing/2014/main" id="{2EDC4D5D-DE24-DB9C-0968-E9757D4958E1}"/>
              </a:ext>
            </a:extLst>
          </p:cNvPr>
          <p:cNvSpPr txBox="1"/>
          <p:nvPr/>
        </p:nvSpPr>
        <p:spPr>
          <a:xfrm>
            <a:off x="-60971" y="3354277"/>
            <a:ext cx="5580858" cy="3438570"/>
          </a:xfrm>
          <a:prstGeom prst="rect">
            <a:avLst/>
          </a:prstGeom>
          <a:noFill/>
        </p:spPr>
        <p:txBody>
          <a:bodyPr wrap="square">
            <a:spAutoFit/>
          </a:bodyPr>
          <a:lstStyle/>
          <a:p>
            <a:pPr algn="r" rtl="1">
              <a:lnSpc>
                <a:spcPct val="115000"/>
              </a:lnSpc>
              <a:spcAft>
                <a:spcPts val="800"/>
              </a:spcAft>
            </a:pPr>
            <a:r>
              <a:rPr lang="ar-SA" sz="2400" b="1" dirty="0">
                <a:solidFill>
                  <a:srgbClr val="C00000"/>
                </a:solidFill>
              </a:rPr>
              <a:t>12- </a:t>
            </a:r>
            <a:r>
              <a:rPr lang="ar-SA" sz="2000" b="1" dirty="0">
                <a:solidFill>
                  <a:srgbClr val="C00000"/>
                </a:solidFill>
              </a:rPr>
              <a:t>ما الحدث المحوري في القصة  ؟</a:t>
            </a:r>
          </a:p>
          <a:p>
            <a:pPr algn="r" rtl="1">
              <a:lnSpc>
                <a:spcPct val="115000"/>
              </a:lnSpc>
              <a:spcAft>
                <a:spcPts val="800"/>
              </a:spcAft>
            </a:pPr>
            <a:r>
              <a:rPr lang="ar-SA" sz="2400" b="1" dirty="0">
                <a:solidFill>
                  <a:schemeClr val="tx2"/>
                </a:solidFill>
                <a:highlight>
                  <a:srgbClr val="00FFFF"/>
                </a:highlight>
              </a:rPr>
              <a:t>أ- </a:t>
            </a:r>
            <a:r>
              <a:rPr lang="ar-SA" sz="2000" dirty="0">
                <a:solidFill>
                  <a:schemeClr val="tx2"/>
                </a:solidFill>
                <a:highlight>
                  <a:srgbClr val="00FFFF"/>
                </a:highlight>
              </a:rPr>
              <a:t>عودةُ الجيوشِ الفرنسيةِ مهزومَةً.  </a:t>
            </a:r>
            <a:endParaRPr lang="en-US" sz="2000" dirty="0">
              <a:solidFill>
                <a:schemeClr val="tx2"/>
              </a:solidFill>
              <a:highlight>
                <a:srgbClr val="00FFFF"/>
              </a:highlight>
            </a:endParaRPr>
          </a:p>
          <a:p>
            <a:pPr algn="r" rtl="1">
              <a:lnSpc>
                <a:spcPct val="115000"/>
              </a:lnSpc>
              <a:spcAft>
                <a:spcPts val="800"/>
              </a:spcAft>
            </a:pPr>
            <a:r>
              <a:rPr lang="ar-SA" sz="2400" b="1" dirty="0">
                <a:solidFill>
                  <a:schemeClr val="tx2"/>
                </a:solidFill>
              </a:rPr>
              <a:t>ب- </a:t>
            </a:r>
            <a:r>
              <a:rPr lang="ar-SA" sz="2000" dirty="0">
                <a:solidFill>
                  <a:schemeClr val="tx2"/>
                </a:solidFill>
              </a:rPr>
              <a:t>قرارُ (</a:t>
            </a:r>
            <a:r>
              <a:rPr lang="ar-SA" sz="2000" dirty="0" err="1">
                <a:solidFill>
                  <a:schemeClr val="tx2"/>
                </a:solidFill>
              </a:rPr>
              <a:t>بييرو</a:t>
            </a:r>
            <a:r>
              <a:rPr lang="ar-SA" sz="2000" dirty="0">
                <a:solidFill>
                  <a:schemeClr val="tx2"/>
                </a:solidFill>
              </a:rPr>
              <a:t>) مساعدةَ السيدِ </a:t>
            </a:r>
            <a:r>
              <a:rPr lang="ar-SA" sz="2000" dirty="0" err="1">
                <a:solidFill>
                  <a:schemeClr val="tx2"/>
                </a:solidFill>
              </a:rPr>
              <a:t>لوبير</a:t>
            </a:r>
            <a:r>
              <a:rPr lang="ar-SA" sz="2000" dirty="0">
                <a:solidFill>
                  <a:schemeClr val="tx2"/>
                </a:solidFill>
              </a:rPr>
              <a:t>.  </a:t>
            </a:r>
            <a:endParaRPr lang="en-US" sz="2000" dirty="0">
              <a:solidFill>
                <a:schemeClr val="tx2"/>
              </a:solidFill>
            </a:endParaRPr>
          </a:p>
          <a:p>
            <a:pPr algn="r" rtl="1">
              <a:lnSpc>
                <a:spcPct val="115000"/>
              </a:lnSpc>
              <a:spcAft>
                <a:spcPts val="800"/>
              </a:spcAft>
            </a:pPr>
            <a:r>
              <a:rPr lang="ar-SA" sz="2400" b="1" dirty="0">
                <a:solidFill>
                  <a:schemeClr val="tx2"/>
                </a:solidFill>
              </a:rPr>
              <a:t>ت- </a:t>
            </a:r>
            <a:r>
              <a:rPr lang="ar-SA" sz="2000" dirty="0">
                <a:solidFill>
                  <a:schemeClr val="tx2"/>
                </a:solidFill>
              </a:rPr>
              <a:t>ضحكُ التلاميذِ على إجابةِ </a:t>
            </a:r>
            <a:r>
              <a:rPr lang="ar-SA" sz="2000" dirty="0" err="1">
                <a:solidFill>
                  <a:schemeClr val="tx2"/>
                </a:solidFill>
              </a:rPr>
              <a:t>بييرو</a:t>
            </a:r>
            <a:r>
              <a:rPr lang="ar-SA" sz="2000" dirty="0">
                <a:solidFill>
                  <a:schemeClr val="tx2"/>
                </a:solidFill>
              </a:rPr>
              <a:t>. </a:t>
            </a:r>
          </a:p>
          <a:p>
            <a:pPr algn="r" rtl="1">
              <a:lnSpc>
                <a:spcPct val="115000"/>
              </a:lnSpc>
              <a:spcAft>
                <a:spcPts val="800"/>
              </a:spcAft>
            </a:pPr>
            <a:r>
              <a:rPr lang="ar-SA" sz="2000" dirty="0">
                <a:solidFill>
                  <a:schemeClr val="tx2"/>
                </a:solidFill>
              </a:rPr>
              <a:t>ث- شرحُ الأستاذِ مارتن لمعركةِ </a:t>
            </a:r>
            <a:r>
              <a:rPr lang="ar-SA" sz="2000" dirty="0" err="1">
                <a:solidFill>
                  <a:schemeClr val="tx2"/>
                </a:solidFill>
              </a:rPr>
              <a:t>واترلو</a:t>
            </a:r>
            <a:r>
              <a:rPr lang="ar-SA" sz="2000" dirty="0">
                <a:solidFill>
                  <a:srgbClr val="C00000"/>
                </a:solidFill>
              </a:rPr>
              <a:t>.  </a:t>
            </a:r>
            <a:endParaRPr lang="en-US" sz="2000" dirty="0">
              <a:solidFill>
                <a:srgbClr val="C00000"/>
              </a:solidFill>
            </a:endParaRPr>
          </a:p>
          <a:p>
            <a:pPr algn="r" rtl="1">
              <a:lnSpc>
                <a:spcPct val="115000"/>
              </a:lnSpc>
              <a:spcAft>
                <a:spcPts val="800"/>
              </a:spcAft>
            </a:pPr>
            <a:r>
              <a:rPr lang="ar-SA" sz="2000" dirty="0">
                <a:solidFill>
                  <a:srgbClr val="C00000"/>
                </a:solidFill>
              </a:rPr>
              <a:t> </a:t>
            </a:r>
            <a:endParaRPr lang="en-US" sz="2000" dirty="0">
              <a:solidFill>
                <a:srgbClr val="C00000"/>
              </a:solidFill>
            </a:endParaRPr>
          </a:p>
          <a:p>
            <a:pPr algn="r" rtl="1">
              <a:lnSpc>
                <a:spcPct val="115000"/>
              </a:lnSpc>
              <a:spcAft>
                <a:spcPts val="800"/>
              </a:spcAft>
            </a:pPr>
            <a:endParaRPr lang="ar-SA" sz="2000" b="1" dirty="0">
              <a:solidFill>
                <a:srgbClr val="C00000"/>
              </a:solidFill>
            </a:endParaRPr>
          </a:p>
        </p:txBody>
      </p:sp>
      <p:sp>
        <p:nvSpPr>
          <p:cNvPr id="7" name="TextBox 6">
            <a:extLst>
              <a:ext uri="{FF2B5EF4-FFF2-40B4-BE49-F238E27FC236}">
                <a16:creationId xmlns:a16="http://schemas.microsoft.com/office/drawing/2014/main" id="{8F56983D-05A0-31FD-BAE5-938C0CDBEEFA}"/>
              </a:ext>
            </a:extLst>
          </p:cNvPr>
          <p:cNvSpPr txBox="1"/>
          <p:nvPr/>
        </p:nvSpPr>
        <p:spPr>
          <a:xfrm>
            <a:off x="4294958" y="1872583"/>
            <a:ext cx="6449784" cy="276999"/>
          </a:xfrm>
          <a:prstGeom prst="rect">
            <a:avLst/>
          </a:prstGeom>
          <a:noFill/>
        </p:spPr>
        <p:txBody>
          <a:bodyPr wrap="square">
            <a:spAutoFit/>
          </a:bodyPr>
          <a:lstStyle/>
          <a:p>
            <a:r>
              <a:rPr lang="ar-SA" sz="1200" b="1" i="0" u="none" strike="noStrike" baseline="0" dirty="0">
                <a:highlight>
                  <a:srgbClr val="00FF00"/>
                </a:highlight>
                <a:latin typeface="SakkalMajalla-Bold"/>
              </a:rPr>
              <a:t>نص سردي خارجيٌّ</a:t>
            </a:r>
            <a:endParaRPr lang="en-US" sz="3600" b="1" dirty="0">
              <a:highlight>
                <a:srgbClr val="00FF00"/>
              </a:highlight>
            </a:endParaRPr>
          </a:p>
        </p:txBody>
      </p:sp>
      <p:pic>
        <p:nvPicPr>
          <p:cNvPr id="4" name="Picture 3">
            <a:extLst>
              <a:ext uri="{FF2B5EF4-FFF2-40B4-BE49-F238E27FC236}">
                <a16:creationId xmlns:a16="http://schemas.microsoft.com/office/drawing/2014/main" id="{BEA91E9B-1B11-3DA0-ADEF-718DBA9503BF}"/>
              </a:ext>
            </a:extLst>
          </p:cNvPr>
          <p:cNvPicPr>
            <a:picLocks noChangeAspect="1"/>
          </p:cNvPicPr>
          <p:nvPr/>
        </p:nvPicPr>
        <p:blipFill>
          <a:blip r:embed="rId5"/>
          <a:stretch>
            <a:fillRect/>
          </a:stretch>
        </p:blipFill>
        <p:spPr>
          <a:xfrm>
            <a:off x="3719393" y="2205135"/>
            <a:ext cx="1817260" cy="426879"/>
          </a:xfrm>
          <a:prstGeom prst="rect">
            <a:avLst/>
          </a:prstGeom>
        </p:spPr>
      </p:pic>
      <p:pic>
        <p:nvPicPr>
          <p:cNvPr id="12" name="Picture 11">
            <a:extLst>
              <a:ext uri="{FF2B5EF4-FFF2-40B4-BE49-F238E27FC236}">
                <a16:creationId xmlns:a16="http://schemas.microsoft.com/office/drawing/2014/main" id="{94C10B1B-2D94-BBCF-4D1B-F23E735543C7}"/>
              </a:ext>
            </a:extLst>
          </p:cNvPr>
          <p:cNvPicPr>
            <a:picLocks noChangeAspect="1"/>
          </p:cNvPicPr>
          <p:nvPr/>
        </p:nvPicPr>
        <p:blipFill>
          <a:blip r:embed="rId6"/>
          <a:stretch>
            <a:fillRect/>
          </a:stretch>
        </p:blipFill>
        <p:spPr>
          <a:xfrm>
            <a:off x="1042455" y="2694110"/>
            <a:ext cx="2906381" cy="769730"/>
          </a:xfrm>
          <a:prstGeom prst="rect">
            <a:avLst/>
          </a:prstGeom>
        </p:spPr>
      </p:pic>
      <p:sp>
        <p:nvSpPr>
          <p:cNvPr id="16" name="TextBox 15">
            <a:extLst>
              <a:ext uri="{FF2B5EF4-FFF2-40B4-BE49-F238E27FC236}">
                <a16:creationId xmlns:a16="http://schemas.microsoft.com/office/drawing/2014/main" id="{B24CAAC7-D937-B2FE-AF50-C4FFA18E7584}"/>
              </a:ext>
            </a:extLst>
          </p:cNvPr>
          <p:cNvSpPr txBox="1"/>
          <p:nvPr/>
        </p:nvSpPr>
        <p:spPr>
          <a:xfrm>
            <a:off x="5840372" y="1946460"/>
            <a:ext cx="6128402" cy="3752181"/>
          </a:xfrm>
          <a:prstGeom prst="rect">
            <a:avLst/>
          </a:prstGeom>
          <a:noFill/>
        </p:spPr>
        <p:txBody>
          <a:bodyPr wrap="square">
            <a:spAutoFit/>
          </a:bodyPr>
          <a:lstStyle/>
          <a:p>
            <a:pPr marL="0" marR="0" algn="r" rtl="1">
              <a:lnSpc>
                <a:spcPct val="107000"/>
              </a:lnSpc>
              <a:spcAft>
                <a:spcPts val="800"/>
              </a:spcAft>
              <a:buNone/>
            </a:pPr>
            <a:r>
              <a:rPr lang="ar-SA" sz="1800" b="1" dirty="0">
                <a:effectLst/>
                <a:latin typeface="Calibri" panose="020F0502020204030204" pitchFamily="34" charset="0"/>
                <a:ea typeface="Calibri" panose="020F0502020204030204" pitchFamily="34" charset="0"/>
                <a:cs typeface="Sakkal Majalla" panose="02000000000000000000" pitchFamily="2" charset="-78"/>
              </a:rPr>
              <a:t>في اليومِ التالي، ظهرَ (</a:t>
            </a:r>
            <a:r>
              <a:rPr lang="ar-SA" sz="1800" b="1" dirty="0" err="1">
                <a:effectLst/>
                <a:latin typeface="Calibri" panose="020F0502020204030204" pitchFamily="34" charset="0"/>
                <a:ea typeface="Calibri" panose="020F0502020204030204" pitchFamily="34" charset="0"/>
                <a:cs typeface="Sakkal Majalla" panose="02000000000000000000" pitchFamily="2" charset="-78"/>
              </a:rPr>
              <a:t>بييرو</a:t>
            </a:r>
            <a:r>
              <a:rPr lang="ar-SA" sz="1800" b="1" dirty="0">
                <a:effectLst/>
                <a:latin typeface="Calibri" panose="020F0502020204030204" pitchFamily="34" charset="0"/>
                <a:ea typeface="Calibri" panose="020F0502020204030204" pitchFamily="34" charset="0"/>
                <a:cs typeface="Sakkal Majalla" panose="02000000000000000000" pitchFamily="2" charset="-78"/>
              </a:rPr>
              <a:t>) عندَ بابِ المخبزِ قبلَ الفجرِ. حملَ الدقيقَ، أشعلَ الفرنَ، وعجنَ العجينَ بأصابعِهِ الصغيرةِ، كانَ يفعلُ كما كانَ يرى العجوزَ (</a:t>
            </a:r>
            <a:r>
              <a:rPr lang="ar-SA" sz="1800" b="1" dirty="0" err="1">
                <a:effectLst/>
                <a:latin typeface="Calibri" panose="020F0502020204030204" pitchFamily="34" charset="0"/>
                <a:ea typeface="Calibri" panose="020F0502020204030204" pitchFamily="34" charset="0"/>
                <a:cs typeface="Sakkal Majalla" panose="02000000000000000000" pitchFamily="2" charset="-78"/>
              </a:rPr>
              <a:t>لوبير</a:t>
            </a:r>
            <a:r>
              <a:rPr lang="ar-SA" sz="1800" b="1" dirty="0">
                <a:effectLst/>
                <a:latin typeface="Calibri" panose="020F0502020204030204" pitchFamily="34" charset="0"/>
                <a:ea typeface="Calibri" panose="020F0502020204030204" pitchFamily="34" charset="0"/>
                <a:cs typeface="Sakkal Majalla" panose="02000000000000000000" pitchFamily="2" charset="-78"/>
              </a:rPr>
              <a:t>) يفعلُ ألفَ مرةٍ، بينما كانَ السيدُ يراقبُ من سريرِهِ المؤقتِ، عيناهُ تلمعانِ كجمرتينِ في رمادٍ، عندما دقتِ الساعةُ الخامسةُ صباحًا، انتشرَ عبقُ الخبزِ الطازجِ في الزقاقِ، وخرجتِ الأرغفةُ الذهبيةُ منَ الفرنِ.  </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Aft>
                <a:spcPts val="800"/>
              </a:spcAft>
              <a:buNone/>
            </a:pPr>
            <a:r>
              <a:rPr lang="ar-SA" sz="1800" b="1" dirty="0">
                <a:effectLst/>
                <a:latin typeface="Calibri" panose="020F0502020204030204" pitchFamily="34" charset="0"/>
                <a:ea typeface="Calibri" panose="020F0502020204030204" pitchFamily="34" charset="0"/>
                <a:cs typeface="Sakkal Majalla" panose="02000000000000000000" pitchFamily="2" charset="-78"/>
              </a:rPr>
              <a:t>"أنت... تعرفُ كيفَ تخبزُ؟" سألَ (</a:t>
            </a:r>
            <a:r>
              <a:rPr lang="ar-SA" sz="1800" b="1" dirty="0" err="1">
                <a:effectLst/>
                <a:latin typeface="Calibri" panose="020F0502020204030204" pitchFamily="34" charset="0"/>
                <a:ea typeface="Calibri" panose="020F0502020204030204" pitchFamily="34" charset="0"/>
                <a:cs typeface="Sakkal Majalla" panose="02000000000000000000" pitchFamily="2" charset="-78"/>
              </a:rPr>
              <a:t>لوبير</a:t>
            </a:r>
            <a:r>
              <a:rPr lang="ar-SA" sz="1800" b="1" dirty="0">
                <a:effectLst/>
                <a:latin typeface="Calibri" panose="020F0502020204030204" pitchFamily="34" charset="0"/>
                <a:ea typeface="Calibri" panose="020F0502020204030204" pitchFamily="34" charset="0"/>
                <a:cs typeface="Sakkal Majalla" panose="02000000000000000000" pitchFamily="2" charset="-78"/>
              </a:rPr>
              <a:t>) وهو يحملُ رغيفًا دافئًا بيدٍ مرتعشةٍ.  </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Aft>
                <a:spcPts val="800"/>
              </a:spcAft>
              <a:buNone/>
            </a:pPr>
            <a:r>
              <a:rPr lang="ar-SA" sz="1800" b="1" dirty="0">
                <a:effectLst/>
                <a:latin typeface="Calibri" panose="020F0502020204030204" pitchFamily="34" charset="0"/>
                <a:ea typeface="Calibri" panose="020F0502020204030204" pitchFamily="34" charset="0"/>
                <a:cs typeface="Sakkal Majalla" panose="02000000000000000000" pitchFamily="2" charset="-78"/>
              </a:rPr>
              <a:t>"كنتُ أراقبُكَ كلَّ صباحٍ، سيدي."  </a:t>
            </a:r>
          </a:p>
          <a:p>
            <a:pPr algn="r" rtl="1"/>
            <a:r>
              <a:rPr lang="ar-SA" dirty="0"/>
              <a:t>عندَ الظهرِ، وقفَ </a:t>
            </a:r>
            <a:r>
              <a:rPr lang="ar-SA" dirty="0" err="1"/>
              <a:t>بييرو</a:t>
            </a:r>
            <a:r>
              <a:rPr lang="ar-SA" dirty="0"/>
              <a:t> خلفَ الزجاجِ مرةً أخرى. لكنْ هذه المرةَ، كانَ يرتدي مِئزرًا أبيضَ، وعبْرَ الزجاجِ رأى أطفالَ الحيِّ يتفرجونَ عليهِ وهو يديرُ عجلةَ الفرنِ، تمامًا كما كانَ يفعلُ من قبلُ.  </a:t>
            </a:r>
            <a:endParaRPr lang="en-US" dirty="0"/>
          </a:p>
          <a:p>
            <a:pPr algn="r" rtl="1"/>
            <a:r>
              <a:rPr lang="ar-SA" dirty="0"/>
              <a:t>في المساءِ، بينما كانَ يغلقُ المحلَ، وضعَ (</a:t>
            </a:r>
            <a:r>
              <a:rPr lang="ar-SA" dirty="0" err="1"/>
              <a:t>لوبير</a:t>
            </a:r>
            <a:r>
              <a:rPr lang="ar-SA" dirty="0"/>
              <a:t>) يديهِ الثقيلتينِ على كتفيِ الصبيِّ:  </a:t>
            </a:r>
            <a:endParaRPr lang="en-US" dirty="0"/>
          </a:p>
          <a:p>
            <a:pPr algn="r" rtl="1"/>
            <a:r>
              <a:rPr lang="ar-SA" dirty="0"/>
              <a:t>"لم نعدْ ننتظرُ من يعودُ... بل نَخْبِزُ لِمَنْ سيأتي"</a:t>
            </a:r>
            <a:endParaRPr lang="en-US" dirty="0"/>
          </a:p>
          <a:p>
            <a:pPr marL="0" marR="0" algn="r" rtl="1">
              <a:lnSpc>
                <a:spcPct val="107000"/>
              </a:lnSpc>
              <a:spcAft>
                <a:spcPts val="800"/>
              </a:spcAft>
              <a:buNone/>
            </a:pPr>
            <a:endParaRPr lang="en-US" sz="1200" b="1"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7" name="Picture 2" descr="11 بديلا صحيا للخبز | أسلوب حياة | الجزيرة نت">
            <a:extLst>
              <a:ext uri="{FF2B5EF4-FFF2-40B4-BE49-F238E27FC236}">
                <a16:creationId xmlns:a16="http://schemas.microsoft.com/office/drawing/2014/main" id="{6FD2BDAC-394F-6A00-E636-17147E32C1C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3226" y="1897338"/>
            <a:ext cx="1687767" cy="836008"/>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B412610-0E92-A441-B56D-2C5C043C3A8C}"/>
              </a:ext>
            </a:extLst>
          </p:cNvPr>
          <p:cNvSpPr txBox="1"/>
          <p:nvPr/>
        </p:nvSpPr>
        <p:spPr>
          <a:xfrm>
            <a:off x="474646" y="6351069"/>
            <a:ext cx="5205483" cy="400110"/>
          </a:xfrm>
          <a:prstGeom prst="rect">
            <a:avLst/>
          </a:prstGeom>
          <a:noFill/>
        </p:spPr>
        <p:txBody>
          <a:bodyPr wrap="square" rtlCol="0">
            <a:spAutoFit/>
          </a:bodyPr>
          <a:lstStyle/>
          <a:p>
            <a:r>
              <a:rPr lang="ar-SA" sz="2000" b="1" dirty="0">
                <a:solidFill>
                  <a:srgbClr val="CB6792"/>
                </a:solidFill>
              </a:rPr>
              <a:t>إعداد... أ: شيخة السويدي</a:t>
            </a:r>
            <a:endParaRPr lang="en-US" sz="2000" b="1" dirty="0">
              <a:solidFill>
                <a:srgbClr val="CB6792"/>
              </a:solidFill>
            </a:endParaRPr>
          </a:p>
        </p:txBody>
      </p:sp>
    </p:spTree>
    <p:extLst>
      <p:ext uri="{BB962C8B-B14F-4D97-AF65-F5344CB8AC3E}">
        <p14:creationId xmlns:p14="http://schemas.microsoft.com/office/powerpoint/2010/main" val="24525379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34D3C-1163-CF86-DA3C-7B0D877C0070}"/>
            </a:ext>
          </a:extLst>
        </p:cNvPr>
        <p:cNvGrpSpPr/>
        <p:nvPr/>
      </p:nvGrpSpPr>
      <p:grpSpPr>
        <a:xfrm>
          <a:off x="0" y="0"/>
          <a:ext cx="0" cy="0"/>
          <a:chOff x="0" y="0"/>
          <a:chExt cx="0" cy="0"/>
        </a:xfrm>
      </p:grpSpPr>
      <p:pic>
        <p:nvPicPr>
          <p:cNvPr id="5" name="Picture 4" descr="A logo with a feather and a book&#10;&#10;AI-generated content may be incorrect.">
            <a:extLst>
              <a:ext uri="{FF2B5EF4-FFF2-40B4-BE49-F238E27FC236}">
                <a16:creationId xmlns:a16="http://schemas.microsoft.com/office/drawing/2014/main" id="{0A6F5ADC-A790-E9CB-2042-614F12AAE766}"/>
              </a:ext>
            </a:extLst>
          </p:cNvPr>
          <p:cNvPicPr>
            <a:picLocks noChangeAspect="1"/>
          </p:cNvPicPr>
          <p:nvPr/>
        </p:nvPicPr>
        <p:blipFill>
          <a:blip r:embed="rId3">
            <a:extLst>
              <a:ext uri="{28A0092B-C50C-407E-A947-70E740481C1C}">
                <a14:useLocalDpi xmlns:a14="http://schemas.microsoft.com/office/drawing/2010/main" val="0"/>
              </a:ext>
            </a:extLst>
          </a:blip>
          <a:srcRect t="18752" r="-1" b="-1"/>
          <a:stretch>
            <a:fillRect/>
          </a:stretch>
        </p:blipFill>
        <p:spPr>
          <a:xfrm>
            <a:off x="3068" y="9"/>
            <a:ext cx="12188932" cy="2011073"/>
          </a:xfrm>
          <a:prstGeom prst="rect">
            <a:avLst/>
          </a:prstGeom>
        </p:spPr>
      </p:pic>
      <p:sp>
        <p:nvSpPr>
          <p:cNvPr id="9" name="TextBox 8">
            <a:extLst>
              <a:ext uri="{FF2B5EF4-FFF2-40B4-BE49-F238E27FC236}">
                <a16:creationId xmlns:a16="http://schemas.microsoft.com/office/drawing/2014/main" id="{69282241-5767-39DE-E203-C21058695812}"/>
              </a:ext>
            </a:extLst>
          </p:cNvPr>
          <p:cNvSpPr txBox="1"/>
          <p:nvPr/>
        </p:nvSpPr>
        <p:spPr>
          <a:xfrm>
            <a:off x="9957661" y="309966"/>
            <a:ext cx="1914041" cy="369332"/>
          </a:xfrm>
          <a:prstGeom prst="rect">
            <a:avLst/>
          </a:prstGeom>
          <a:noFill/>
        </p:spPr>
        <p:txBody>
          <a:bodyPr wrap="square" rtlCol="0">
            <a:spAutoFit/>
          </a:bodyPr>
          <a:lstStyle/>
          <a:p>
            <a:r>
              <a:rPr lang="ar-SA" dirty="0"/>
              <a:t>مدرسة الشوامخ ح2-3</a:t>
            </a:r>
            <a:endParaRPr lang="en-US" dirty="0"/>
          </a:p>
        </p:txBody>
      </p:sp>
      <p:pic>
        <p:nvPicPr>
          <p:cNvPr id="11" name="Picture 10" descr="التربية والتعليم» تعلن هويتها المرئية الجديدة | صحيفة الخليج">
            <a:extLst>
              <a:ext uri="{FF2B5EF4-FFF2-40B4-BE49-F238E27FC236}">
                <a16:creationId xmlns:a16="http://schemas.microsoft.com/office/drawing/2014/main" id="{B92217E7-9421-7A1C-C95D-B1AA839DA4B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28" y="0"/>
            <a:ext cx="1393825" cy="950595"/>
          </a:xfrm>
          <a:prstGeom prst="rect">
            <a:avLst/>
          </a:prstGeom>
          <a:noFill/>
          <a:ln>
            <a:noFill/>
          </a:ln>
        </p:spPr>
      </p:pic>
      <p:cxnSp>
        <p:nvCxnSpPr>
          <p:cNvPr id="26" name="Straight Connector 25">
            <a:extLst>
              <a:ext uri="{FF2B5EF4-FFF2-40B4-BE49-F238E27FC236}">
                <a16:creationId xmlns:a16="http://schemas.microsoft.com/office/drawing/2014/main" id="{08E3A00C-514A-71F7-AF10-2493CF3920C5}"/>
              </a:ext>
            </a:extLst>
          </p:cNvPr>
          <p:cNvCxnSpPr>
            <a:cxnSpLocks/>
          </p:cNvCxnSpPr>
          <p:nvPr/>
        </p:nvCxnSpPr>
        <p:spPr>
          <a:xfrm>
            <a:off x="5680129" y="1995639"/>
            <a:ext cx="0" cy="412213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7" name="Arrow: Left 36">
            <a:extLst>
              <a:ext uri="{FF2B5EF4-FFF2-40B4-BE49-F238E27FC236}">
                <a16:creationId xmlns:a16="http://schemas.microsoft.com/office/drawing/2014/main" id="{45379EC5-7203-EB15-52E5-597AE736FDDE}"/>
              </a:ext>
            </a:extLst>
          </p:cNvPr>
          <p:cNvSpPr/>
          <p:nvPr/>
        </p:nvSpPr>
        <p:spPr>
          <a:xfrm>
            <a:off x="4172062" y="2758094"/>
            <a:ext cx="1317481" cy="584773"/>
          </a:xfrm>
          <a:prstGeom prst="lef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ar-SA" b="1" dirty="0"/>
              <a:t>المهارة</a:t>
            </a:r>
            <a:endParaRPr lang="en-US" b="1" dirty="0"/>
          </a:p>
        </p:txBody>
      </p:sp>
      <p:sp>
        <p:nvSpPr>
          <p:cNvPr id="46" name="TextBox 45">
            <a:extLst>
              <a:ext uri="{FF2B5EF4-FFF2-40B4-BE49-F238E27FC236}">
                <a16:creationId xmlns:a16="http://schemas.microsoft.com/office/drawing/2014/main" id="{9132E804-8ECC-9334-6CC2-2A18BEB5811A}"/>
              </a:ext>
            </a:extLst>
          </p:cNvPr>
          <p:cNvSpPr txBox="1"/>
          <p:nvPr/>
        </p:nvSpPr>
        <p:spPr>
          <a:xfrm>
            <a:off x="-60971" y="3354277"/>
            <a:ext cx="5580858" cy="3438570"/>
          </a:xfrm>
          <a:prstGeom prst="rect">
            <a:avLst/>
          </a:prstGeom>
          <a:noFill/>
        </p:spPr>
        <p:txBody>
          <a:bodyPr wrap="square">
            <a:spAutoFit/>
          </a:bodyPr>
          <a:lstStyle/>
          <a:p>
            <a:pPr algn="r" rtl="1">
              <a:lnSpc>
                <a:spcPct val="115000"/>
              </a:lnSpc>
              <a:spcAft>
                <a:spcPts val="800"/>
              </a:spcAft>
            </a:pPr>
            <a:r>
              <a:rPr lang="ar-SA" sz="2400" b="1" dirty="0">
                <a:solidFill>
                  <a:srgbClr val="C00000"/>
                </a:solidFill>
              </a:rPr>
              <a:t>13- </a:t>
            </a:r>
            <a:r>
              <a:rPr lang="ar-SA" sz="2000" b="1" dirty="0">
                <a:solidFill>
                  <a:srgbClr val="C00000"/>
                </a:solidFill>
              </a:rPr>
              <a:t>ما العبارة الدالة على صغر سن بيرو؟</a:t>
            </a:r>
          </a:p>
          <a:p>
            <a:pPr algn="r" rtl="1">
              <a:lnSpc>
                <a:spcPct val="115000"/>
              </a:lnSpc>
              <a:spcAft>
                <a:spcPts val="800"/>
              </a:spcAft>
            </a:pPr>
            <a:r>
              <a:rPr lang="ar-SA" sz="2400" b="1" dirty="0">
                <a:solidFill>
                  <a:schemeClr val="tx2"/>
                </a:solidFill>
              </a:rPr>
              <a:t>أ- </a:t>
            </a:r>
            <a:r>
              <a:rPr lang="ar-SA" sz="2000" b="1" dirty="0">
                <a:effectLst/>
                <a:latin typeface="Calibri" panose="020F0502020204030204" pitchFamily="34" charset="0"/>
                <a:ea typeface="Calibri" panose="020F0502020204030204" pitchFamily="34" charset="0"/>
                <a:cs typeface="Sakkal Majalla" panose="02000000000000000000" pitchFamily="2" charset="-78"/>
              </a:rPr>
              <a:t>"كنتُ أراقبُكَ كلَّ صباحٍ، سيدي."  </a:t>
            </a:r>
            <a:endParaRPr lang="en-US" sz="2000" dirty="0">
              <a:solidFill>
                <a:schemeClr val="tx2"/>
              </a:solidFill>
            </a:endParaRPr>
          </a:p>
          <a:p>
            <a:pPr algn="r" rtl="1">
              <a:lnSpc>
                <a:spcPct val="115000"/>
              </a:lnSpc>
              <a:spcAft>
                <a:spcPts val="800"/>
              </a:spcAft>
            </a:pPr>
            <a:r>
              <a:rPr lang="ar-SA" sz="2400" b="1" dirty="0">
                <a:solidFill>
                  <a:schemeClr val="tx2"/>
                </a:solidFill>
              </a:rPr>
              <a:t>ب-</a:t>
            </a:r>
            <a:r>
              <a:rPr lang="ar-SA" sz="2000" dirty="0"/>
              <a:t> عندَ الظهرِ، وقفَ </a:t>
            </a:r>
            <a:r>
              <a:rPr lang="ar-SA" sz="2000" dirty="0" err="1"/>
              <a:t>بييرو</a:t>
            </a:r>
            <a:r>
              <a:rPr lang="ar-SA" sz="2000" dirty="0"/>
              <a:t> خلفَ الزجاجِ .</a:t>
            </a:r>
            <a:endParaRPr lang="en-US" sz="2000" dirty="0">
              <a:solidFill>
                <a:schemeClr val="tx2"/>
              </a:solidFill>
            </a:endParaRPr>
          </a:p>
          <a:p>
            <a:pPr algn="r" rtl="1">
              <a:lnSpc>
                <a:spcPct val="115000"/>
              </a:lnSpc>
              <a:spcAft>
                <a:spcPts val="800"/>
              </a:spcAft>
            </a:pPr>
            <a:r>
              <a:rPr lang="ar-SA" sz="2400" b="1" dirty="0">
                <a:solidFill>
                  <a:schemeClr val="tx2"/>
                </a:solidFill>
              </a:rPr>
              <a:t>ت-</a:t>
            </a:r>
            <a:r>
              <a:rPr lang="ar-SA" sz="2000" dirty="0"/>
              <a:t>"لم نعدْ ننتظرُ من يعودُ... بل نَخْبِزُ لِمَنْ سيأتي"</a:t>
            </a:r>
            <a:endParaRPr lang="ar-SA" sz="2000" dirty="0">
              <a:solidFill>
                <a:schemeClr val="tx2"/>
              </a:solidFill>
            </a:endParaRPr>
          </a:p>
          <a:p>
            <a:pPr algn="r" rtl="1">
              <a:lnSpc>
                <a:spcPct val="115000"/>
              </a:lnSpc>
              <a:spcAft>
                <a:spcPts val="800"/>
              </a:spcAft>
            </a:pPr>
            <a:r>
              <a:rPr lang="ar-SA" sz="2000" dirty="0">
                <a:solidFill>
                  <a:schemeClr val="tx2"/>
                </a:solidFill>
                <a:highlight>
                  <a:srgbClr val="00FFFF"/>
                </a:highlight>
              </a:rPr>
              <a:t>ث-</a:t>
            </a:r>
            <a:r>
              <a:rPr lang="ar-SA" sz="2000" b="1" dirty="0">
                <a:effectLst/>
                <a:highlight>
                  <a:srgbClr val="00FFFF"/>
                </a:highlight>
                <a:latin typeface="Calibri" panose="020F0502020204030204" pitchFamily="34" charset="0"/>
                <a:ea typeface="Calibri" panose="020F0502020204030204" pitchFamily="34" charset="0"/>
                <a:cs typeface="Sakkal Majalla" panose="02000000000000000000" pitchFamily="2" charset="-78"/>
              </a:rPr>
              <a:t> وعجنَ العجينَ بأصابعِهِ الصغيرةِ.</a:t>
            </a:r>
            <a:endParaRPr lang="en-US" sz="2000" dirty="0">
              <a:solidFill>
                <a:srgbClr val="C00000"/>
              </a:solidFill>
              <a:highlight>
                <a:srgbClr val="00FFFF"/>
              </a:highlight>
            </a:endParaRPr>
          </a:p>
          <a:p>
            <a:pPr algn="r" rtl="1">
              <a:lnSpc>
                <a:spcPct val="115000"/>
              </a:lnSpc>
              <a:spcAft>
                <a:spcPts val="800"/>
              </a:spcAft>
            </a:pPr>
            <a:r>
              <a:rPr lang="ar-SA" sz="2000" dirty="0">
                <a:solidFill>
                  <a:srgbClr val="C00000"/>
                </a:solidFill>
              </a:rPr>
              <a:t> </a:t>
            </a:r>
            <a:endParaRPr lang="en-US" sz="2000" dirty="0">
              <a:solidFill>
                <a:srgbClr val="C00000"/>
              </a:solidFill>
            </a:endParaRPr>
          </a:p>
          <a:p>
            <a:pPr algn="r" rtl="1">
              <a:lnSpc>
                <a:spcPct val="115000"/>
              </a:lnSpc>
              <a:spcAft>
                <a:spcPts val="800"/>
              </a:spcAft>
            </a:pPr>
            <a:endParaRPr lang="ar-SA" sz="2000" b="1" dirty="0">
              <a:solidFill>
                <a:srgbClr val="C00000"/>
              </a:solidFill>
            </a:endParaRPr>
          </a:p>
        </p:txBody>
      </p:sp>
      <p:sp>
        <p:nvSpPr>
          <p:cNvPr id="7" name="TextBox 6">
            <a:extLst>
              <a:ext uri="{FF2B5EF4-FFF2-40B4-BE49-F238E27FC236}">
                <a16:creationId xmlns:a16="http://schemas.microsoft.com/office/drawing/2014/main" id="{4322494E-BF83-A699-A016-807405995F0F}"/>
              </a:ext>
            </a:extLst>
          </p:cNvPr>
          <p:cNvSpPr txBox="1"/>
          <p:nvPr/>
        </p:nvSpPr>
        <p:spPr>
          <a:xfrm>
            <a:off x="4294958" y="1872583"/>
            <a:ext cx="6449784" cy="276999"/>
          </a:xfrm>
          <a:prstGeom prst="rect">
            <a:avLst/>
          </a:prstGeom>
          <a:noFill/>
        </p:spPr>
        <p:txBody>
          <a:bodyPr wrap="square">
            <a:spAutoFit/>
          </a:bodyPr>
          <a:lstStyle/>
          <a:p>
            <a:r>
              <a:rPr lang="ar-SA" sz="1200" b="1" i="0" u="none" strike="noStrike" baseline="0" dirty="0">
                <a:highlight>
                  <a:srgbClr val="00FF00"/>
                </a:highlight>
                <a:latin typeface="SakkalMajalla-Bold"/>
              </a:rPr>
              <a:t>نص سردي خارجيٌّ</a:t>
            </a:r>
            <a:endParaRPr lang="en-US" sz="3600" b="1" dirty="0">
              <a:highlight>
                <a:srgbClr val="00FF00"/>
              </a:highlight>
            </a:endParaRPr>
          </a:p>
        </p:txBody>
      </p:sp>
      <p:pic>
        <p:nvPicPr>
          <p:cNvPr id="4" name="Picture 3">
            <a:extLst>
              <a:ext uri="{FF2B5EF4-FFF2-40B4-BE49-F238E27FC236}">
                <a16:creationId xmlns:a16="http://schemas.microsoft.com/office/drawing/2014/main" id="{C9FD869D-D49C-80EC-7F0B-7E56739B8C77}"/>
              </a:ext>
            </a:extLst>
          </p:cNvPr>
          <p:cNvPicPr>
            <a:picLocks noChangeAspect="1"/>
          </p:cNvPicPr>
          <p:nvPr/>
        </p:nvPicPr>
        <p:blipFill>
          <a:blip r:embed="rId5"/>
          <a:stretch>
            <a:fillRect/>
          </a:stretch>
        </p:blipFill>
        <p:spPr>
          <a:xfrm>
            <a:off x="3719393" y="2205135"/>
            <a:ext cx="1817260" cy="426879"/>
          </a:xfrm>
          <a:prstGeom prst="rect">
            <a:avLst/>
          </a:prstGeom>
        </p:spPr>
      </p:pic>
      <p:sp>
        <p:nvSpPr>
          <p:cNvPr id="16" name="TextBox 15">
            <a:extLst>
              <a:ext uri="{FF2B5EF4-FFF2-40B4-BE49-F238E27FC236}">
                <a16:creationId xmlns:a16="http://schemas.microsoft.com/office/drawing/2014/main" id="{51125083-86B9-0CB4-05D4-934DE1632C51}"/>
              </a:ext>
            </a:extLst>
          </p:cNvPr>
          <p:cNvSpPr txBox="1"/>
          <p:nvPr/>
        </p:nvSpPr>
        <p:spPr>
          <a:xfrm>
            <a:off x="5840372" y="1946460"/>
            <a:ext cx="6128402" cy="3752181"/>
          </a:xfrm>
          <a:prstGeom prst="rect">
            <a:avLst/>
          </a:prstGeom>
          <a:noFill/>
        </p:spPr>
        <p:txBody>
          <a:bodyPr wrap="square">
            <a:spAutoFit/>
          </a:bodyPr>
          <a:lstStyle/>
          <a:p>
            <a:pPr marL="0" marR="0" algn="r" rtl="1">
              <a:lnSpc>
                <a:spcPct val="107000"/>
              </a:lnSpc>
              <a:spcAft>
                <a:spcPts val="800"/>
              </a:spcAft>
              <a:buNone/>
            </a:pPr>
            <a:r>
              <a:rPr lang="ar-SA" sz="1800" b="1" dirty="0">
                <a:effectLst/>
                <a:latin typeface="Calibri" panose="020F0502020204030204" pitchFamily="34" charset="0"/>
                <a:ea typeface="Calibri" panose="020F0502020204030204" pitchFamily="34" charset="0"/>
                <a:cs typeface="Sakkal Majalla" panose="02000000000000000000" pitchFamily="2" charset="-78"/>
              </a:rPr>
              <a:t>في اليومِ التالي، ظهرَ (</a:t>
            </a:r>
            <a:r>
              <a:rPr lang="ar-SA" sz="1800" b="1" dirty="0" err="1">
                <a:effectLst/>
                <a:latin typeface="Calibri" panose="020F0502020204030204" pitchFamily="34" charset="0"/>
                <a:ea typeface="Calibri" panose="020F0502020204030204" pitchFamily="34" charset="0"/>
                <a:cs typeface="Sakkal Majalla" panose="02000000000000000000" pitchFamily="2" charset="-78"/>
              </a:rPr>
              <a:t>بييرو</a:t>
            </a:r>
            <a:r>
              <a:rPr lang="ar-SA" sz="1800" b="1" dirty="0">
                <a:effectLst/>
                <a:latin typeface="Calibri" panose="020F0502020204030204" pitchFamily="34" charset="0"/>
                <a:ea typeface="Calibri" panose="020F0502020204030204" pitchFamily="34" charset="0"/>
                <a:cs typeface="Sakkal Majalla" panose="02000000000000000000" pitchFamily="2" charset="-78"/>
              </a:rPr>
              <a:t>) عندَ بابِ المخبزِ قبلَ الفجرِ. حملَ الدقيقَ، أشعلَ الفرنَ، وعجنَ العجينَ بأصابعِهِ الصغيرةِ، كانَ يفعلُ كما كانَ يرى العجوزَ (</a:t>
            </a:r>
            <a:r>
              <a:rPr lang="ar-SA" sz="1800" b="1" dirty="0" err="1">
                <a:effectLst/>
                <a:latin typeface="Calibri" panose="020F0502020204030204" pitchFamily="34" charset="0"/>
                <a:ea typeface="Calibri" panose="020F0502020204030204" pitchFamily="34" charset="0"/>
                <a:cs typeface="Sakkal Majalla" panose="02000000000000000000" pitchFamily="2" charset="-78"/>
              </a:rPr>
              <a:t>لوبير</a:t>
            </a:r>
            <a:r>
              <a:rPr lang="ar-SA" sz="1800" b="1" dirty="0">
                <a:effectLst/>
                <a:latin typeface="Calibri" panose="020F0502020204030204" pitchFamily="34" charset="0"/>
                <a:ea typeface="Calibri" panose="020F0502020204030204" pitchFamily="34" charset="0"/>
                <a:cs typeface="Sakkal Majalla" panose="02000000000000000000" pitchFamily="2" charset="-78"/>
              </a:rPr>
              <a:t>) يفعلُ ألفَ مرةٍ، بينما كانَ السيدُ يراقبُ من سريرِهِ المؤقتِ، عيناهُ تلمعانِ كجمرتينِ في رمادٍ، عندما دقتِ الساعةُ الخامسةُ صباحًا، انتشرَ عبقُ الخبزِ الطازجِ في الزقاقِ، وخرجتِ الأرغفةُ الذهبيةُ منَ الفرنِ.  </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Aft>
                <a:spcPts val="800"/>
              </a:spcAft>
              <a:buNone/>
            </a:pPr>
            <a:r>
              <a:rPr lang="ar-SA" sz="1800" b="1" dirty="0">
                <a:effectLst/>
                <a:latin typeface="Calibri" panose="020F0502020204030204" pitchFamily="34" charset="0"/>
                <a:ea typeface="Calibri" panose="020F0502020204030204" pitchFamily="34" charset="0"/>
                <a:cs typeface="Sakkal Majalla" panose="02000000000000000000" pitchFamily="2" charset="-78"/>
              </a:rPr>
              <a:t>"أنت... تعرفُ كيفَ تخبزُ؟" سألَ (</a:t>
            </a:r>
            <a:r>
              <a:rPr lang="ar-SA" sz="1800" b="1" dirty="0" err="1">
                <a:effectLst/>
                <a:latin typeface="Calibri" panose="020F0502020204030204" pitchFamily="34" charset="0"/>
                <a:ea typeface="Calibri" panose="020F0502020204030204" pitchFamily="34" charset="0"/>
                <a:cs typeface="Sakkal Majalla" panose="02000000000000000000" pitchFamily="2" charset="-78"/>
              </a:rPr>
              <a:t>لوبير</a:t>
            </a:r>
            <a:r>
              <a:rPr lang="ar-SA" sz="1800" b="1" dirty="0">
                <a:effectLst/>
                <a:latin typeface="Calibri" panose="020F0502020204030204" pitchFamily="34" charset="0"/>
                <a:ea typeface="Calibri" panose="020F0502020204030204" pitchFamily="34" charset="0"/>
                <a:cs typeface="Sakkal Majalla" panose="02000000000000000000" pitchFamily="2" charset="-78"/>
              </a:rPr>
              <a:t>) وهو يحملُ رغيفًا دافئًا بيدٍ مرتعشةٍ.  </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Aft>
                <a:spcPts val="800"/>
              </a:spcAft>
              <a:buNone/>
            </a:pPr>
            <a:r>
              <a:rPr lang="ar-SA" sz="1800" b="1" dirty="0">
                <a:effectLst/>
                <a:latin typeface="Calibri" panose="020F0502020204030204" pitchFamily="34" charset="0"/>
                <a:ea typeface="Calibri" panose="020F0502020204030204" pitchFamily="34" charset="0"/>
                <a:cs typeface="Sakkal Majalla" panose="02000000000000000000" pitchFamily="2" charset="-78"/>
              </a:rPr>
              <a:t>"كنتُ أراقبُكَ كلَّ صباحٍ، سيدي."  </a:t>
            </a:r>
          </a:p>
          <a:p>
            <a:pPr algn="r" rtl="1"/>
            <a:r>
              <a:rPr lang="ar-SA" dirty="0"/>
              <a:t>عندَ الظهرِ، وقفَ </a:t>
            </a:r>
            <a:r>
              <a:rPr lang="ar-SA" dirty="0" err="1"/>
              <a:t>بييرو</a:t>
            </a:r>
            <a:r>
              <a:rPr lang="ar-SA" dirty="0"/>
              <a:t> خلفَ الزجاجِ مرةً أخرى. لكنْ هذه المرةَ، كانَ يرتدي مِئزرًا أبيضَ، وعبْرَ الزجاجِ رأى أطفالَ الحيِّ يتفرجونَ عليهِ وهو يديرُ عجلةَ الفرنِ، تمامًا كما كانَ يفعلُ من قبلُ.  </a:t>
            </a:r>
            <a:endParaRPr lang="en-US" dirty="0"/>
          </a:p>
          <a:p>
            <a:pPr algn="r" rtl="1"/>
            <a:r>
              <a:rPr lang="ar-SA" dirty="0"/>
              <a:t>في المساءِ، بينما كانَ يغلقُ المحلَ، وضعَ (</a:t>
            </a:r>
            <a:r>
              <a:rPr lang="ar-SA" dirty="0" err="1"/>
              <a:t>لوبير</a:t>
            </a:r>
            <a:r>
              <a:rPr lang="ar-SA" dirty="0"/>
              <a:t>) يديهِ الثقيلتينِ على كتفيِ الصبيِّ:  </a:t>
            </a:r>
            <a:endParaRPr lang="en-US" dirty="0"/>
          </a:p>
          <a:p>
            <a:pPr algn="r" rtl="1"/>
            <a:r>
              <a:rPr lang="ar-SA" dirty="0"/>
              <a:t>"لم نعدْ ننتظرُ من يعودُ... بل نَخْبِزُ لِمَنْ سيأتي"</a:t>
            </a:r>
            <a:endParaRPr lang="en-US" dirty="0"/>
          </a:p>
          <a:p>
            <a:pPr marL="0" marR="0" algn="r" rtl="1">
              <a:lnSpc>
                <a:spcPct val="107000"/>
              </a:lnSpc>
              <a:spcAft>
                <a:spcPts val="800"/>
              </a:spcAft>
              <a:buNone/>
            </a:pPr>
            <a:endParaRPr lang="en-US" sz="1200" b="1"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417A576B-52D6-A946-19B8-AB0A6370607E}"/>
              </a:ext>
            </a:extLst>
          </p:cNvPr>
          <p:cNvPicPr>
            <a:picLocks noChangeAspect="1"/>
          </p:cNvPicPr>
          <p:nvPr/>
        </p:nvPicPr>
        <p:blipFill>
          <a:blip r:embed="rId6"/>
          <a:stretch>
            <a:fillRect/>
          </a:stretch>
        </p:blipFill>
        <p:spPr>
          <a:xfrm>
            <a:off x="1390797" y="2746927"/>
            <a:ext cx="2558039" cy="703158"/>
          </a:xfrm>
          <a:prstGeom prst="rect">
            <a:avLst/>
          </a:prstGeom>
        </p:spPr>
      </p:pic>
      <p:pic>
        <p:nvPicPr>
          <p:cNvPr id="10" name="Picture 2" descr="11 بديلا صحيا للخبز | أسلوب حياة | الجزيرة نت">
            <a:extLst>
              <a:ext uri="{FF2B5EF4-FFF2-40B4-BE49-F238E27FC236}">
                <a16:creationId xmlns:a16="http://schemas.microsoft.com/office/drawing/2014/main" id="{E75951EB-523F-1ACD-489C-07968FA7063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3226" y="1897338"/>
            <a:ext cx="1687767" cy="836008"/>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59A3D18-6CDD-53E8-E956-364EEA84C119}"/>
              </a:ext>
            </a:extLst>
          </p:cNvPr>
          <p:cNvSpPr txBox="1"/>
          <p:nvPr/>
        </p:nvSpPr>
        <p:spPr>
          <a:xfrm>
            <a:off x="474646" y="6351069"/>
            <a:ext cx="5205483" cy="400110"/>
          </a:xfrm>
          <a:prstGeom prst="rect">
            <a:avLst/>
          </a:prstGeom>
          <a:noFill/>
        </p:spPr>
        <p:txBody>
          <a:bodyPr wrap="square" rtlCol="0">
            <a:spAutoFit/>
          </a:bodyPr>
          <a:lstStyle/>
          <a:p>
            <a:r>
              <a:rPr lang="ar-SA" sz="2000" b="1" dirty="0">
                <a:solidFill>
                  <a:srgbClr val="CB6792"/>
                </a:solidFill>
              </a:rPr>
              <a:t>إعداد... أ: شيخة السويدي</a:t>
            </a:r>
            <a:endParaRPr lang="en-US" sz="2000" b="1" dirty="0">
              <a:solidFill>
                <a:srgbClr val="CB6792"/>
              </a:solidFill>
            </a:endParaRPr>
          </a:p>
        </p:txBody>
      </p:sp>
    </p:spTree>
    <p:extLst>
      <p:ext uri="{BB962C8B-B14F-4D97-AF65-F5344CB8AC3E}">
        <p14:creationId xmlns:p14="http://schemas.microsoft.com/office/powerpoint/2010/main" val="39813866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11887-1806-3D04-2620-1A2919CBBE08}"/>
            </a:ext>
          </a:extLst>
        </p:cNvPr>
        <p:cNvGrpSpPr/>
        <p:nvPr/>
      </p:nvGrpSpPr>
      <p:grpSpPr>
        <a:xfrm>
          <a:off x="0" y="0"/>
          <a:ext cx="0" cy="0"/>
          <a:chOff x="0" y="0"/>
          <a:chExt cx="0" cy="0"/>
        </a:xfrm>
      </p:grpSpPr>
      <p:pic>
        <p:nvPicPr>
          <p:cNvPr id="5" name="Picture 4" descr="A logo with a feather and a book&#10;&#10;AI-generated content may be incorrect.">
            <a:extLst>
              <a:ext uri="{FF2B5EF4-FFF2-40B4-BE49-F238E27FC236}">
                <a16:creationId xmlns:a16="http://schemas.microsoft.com/office/drawing/2014/main" id="{F9B916EE-B911-D739-CDC4-16CC719E0181}"/>
              </a:ext>
            </a:extLst>
          </p:cNvPr>
          <p:cNvPicPr>
            <a:picLocks noChangeAspect="1"/>
          </p:cNvPicPr>
          <p:nvPr/>
        </p:nvPicPr>
        <p:blipFill>
          <a:blip r:embed="rId3">
            <a:extLst>
              <a:ext uri="{28A0092B-C50C-407E-A947-70E740481C1C}">
                <a14:useLocalDpi xmlns:a14="http://schemas.microsoft.com/office/drawing/2010/main" val="0"/>
              </a:ext>
            </a:extLst>
          </a:blip>
          <a:srcRect t="18752" r="-1" b="-1"/>
          <a:stretch>
            <a:fillRect/>
          </a:stretch>
        </p:blipFill>
        <p:spPr>
          <a:xfrm>
            <a:off x="3068" y="9"/>
            <a:ext cx="12188932" cy="2011073"/>
          </a:xfrm>
          <a:prstGeom prst="rect">
            <a:avLst/>
          </a:prstGeom>
        </p:spPr>
      </p:pic>
      <p:sp>
        <p:nvSpPr>
          <p:cNvPr id="9" name="TextBox 8">
            <a:extLst>
              <a:ext uri="{FF2B5EF4-FFF2-40B4-BE49-F238E27FC236}">
                <a16:creationId xmlns:a16="http://schemas.microsoft.com/office/drawing/2014/main" id="{03B79188-B218-5791-DDBA-5CABFF90F3E5}"/>
              </a:ext>
            </a:extLst>
          </p:cNvPr>
          <p:cNvSpPr txBox="1"/>
          <p:nvPr/>
        </p:nvSpPr>
        <p:spPr>
          <a:xfrm>
            <a:off x="9957661" y="309966"/>
            <a:ext cx="1914041" cy="369332"/>
          </a:xfrm>
          <a:prstGeom prst="rect">
            <a:avLst/>
          </a:prstGeom>
          <a:noFill/>
        </p:spPr>
        <p:txBody>
          <a:bodyPr wrap="square" rtlCol="0">
            <a:spAutoFit/>
          </a:bodyPr>
          <a:lstStyle/>
          <a:p>
            <a:r>
              <a:rPr lang="ar-SA" dirty="0"/>
              <a:t>مدرسة الشوامخ ح2-3</a:t>
            </a:r>
            <a:endParaRPr lang="en-US" dirty="0"/>
          </a:p>
        </p:txBody>
      </p:sp>
      <p:pic>
        <p:nvPicPr>
          <p:cNvPr id="11" name="Picture 10" descr="التربية والتعليم» تعلن هويتها المرئية الجديدة | صحيفة الخليج">
            <a:extLst>
              <a:ext uri="{FF2B5EF4-FFF2-40B4-BE49-F238E27FC236}">
                <a16:creationId xmlns:a16="http://schemas.microsoft.com/office/drawing/2014/main" id="{9860348A-F1D1-9D62-7915-48F09DBFF50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28" y="0"/>
            <a:ext cx="1393825" cy="950595"/>
          </a:xfrm>
          <a:prstGeom prst="rect">
            <a:avLst/>
          </a:prstGeom>
          <a:noFill/>
          <a:ln>
            <a:noFill/>
          </a:ln>
        </p:spPr>
      </p:pic>
      <p:cxnSp>
        <p:nvCxnSpPr>
          <p:cNvPr id="26" name="Straight Connector 25">
            <a:extLst>
              <a:ext uri="{FF2B5EF4-FFF2-40B4-BE49-F238E27FC236}">
                <a16:creationId xmlns:a16="http://schemas.microsoft.com/office/drawing/2014/main" id="{AA0A86D8-363D-8D28-1B34-1B12328C7AC6}"/>
              </a:ext>
            </a:extLst>
          </p:cNvPr>
          <p:cNvCxnSpPr>
            <a:cxnSpLocks/>
          </p:cNvCxnSpPr>
          <p:nvPr/>
        </p:nvCxnSpPr>
        <p:spPr>
          <a:xfrm>
            <a:off x="5680129" y="1995639"/>
            <a:ext cx="0" cy="412213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7" name="Arrow: Left 36">
            <a:extLst>
              <a:ext uri="{FF2B5EF4-FFF2-40B4-BE49-F238E27FC236}">
                <a16:creationId xmlns:a16="http://schemas.microsoft.com/office/drawing/2014/main" id="{18CA14E6-2988-B73D-D582-E436C6A4402B}"/>
              </a:ext>
            </a:extLst>
          </p:cNvPr>
          <p:cNvSpPr/>
          <p:nvPr/>
        </p:nvSpPr>
        <p:spPr>
          <a:xfrm>
            <a:off x="4172062" y="2758094"/>
            <a:ext cx="1317481" cy="584773"/>
          </a:xfrm>
          <a:prstGeom prst="lef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ar-SA" b="1" dirty="0"/>
              <a:t>المهارة</a:t>
            </a:r>
            <a:endParaRPr lang="en-US" b="1" dirty="0"/>
          </a:p>
        </p:txBody>
      </p:sp>
      <p:sp>
        <p:nvSpPr>
          <p:cNvPr id="46" name="TextBox 45">
            <a:extLst>
              <a:ext uri="{FF2B5EF4-FFF2-40B4-BE49-F238E27FC236}">
                <a16:creationId xmlns:a16="http://schemas.microsoft.com/office/drawing/2014/main" id="{A0001450-27AC-AF0E-36CD-311D5BA959B7}"/>
              </a:ext>
            </a:extLst>
          </p:cNvPr>
          <p:cNvSpPr txBox="1"/>
          <p:nvPr/>
        </p:nvSpPr>
        <p:spPr>
          <a:xfrm>
            <a:off x="-60971" y="3354277"/>
            <a:ext cx="5580858" cy="3296993"/>
          </a:xfrm>
          <a:prstGeom prst="rect">
            <a:avLst/>
          </a:prstGeom>
          <a:noFill/>
        </p:spPr>
        <p:txBody>
          <a:bodyPr wrap="square">
            <a:spAutoFit/>
          </a:bodyPr>
          <a:lstStyle/>
          <a:p>
            <a:pPr algn="r" rtl="1">
              <a:lnSpc>
                <a:spcPct val="115000"/>
              </a:lnSpc>
              <a:spcAft>
                <a:spcPts val="800"/>
              </a:spcAft>
            </a:pPr>
            <a:r>
              <a:rPr lang="ar-SA" sz="1600" b="1" dirty="0">
                <a:solidFill>
                  <a:srgbClr val="C00000"/>
                </a:solidFill>
              </a:rPr>
              <a:t>14- لماذا ضحك التلاميذ بعد أن سأل الأستاذ بيرو عن نتيجة معركة </a:t>
            </a:r>
            <a:r>
              <a:rPr lang="ar-SA" sz="1600" b="1" dirty="0" err="1">
                <a:solidFill>
                  <a:srgbClr val="C00000"/>
                </a:solidFill>
              </a:rPr>
              <a:t>واترلو</a:t>
            </a:r>
            <a:r>
              <a:rPr lang="ar-SA" sz="1600" b="1" dirty="0">
                <a:solidFill>
                  <a:srgbClr val="C00000"/>
                </a:solidFill>
              </a:rPr>
              <a:t> </a:t>
            </a:r>
            <a:r>
              <a:rPr lang="ar-SA" sz="1400" b="1" dirty="0">
                <a:solidFill>
                  <a:srgbClr val="C00000"/>
                </a:solidFill>
              </a:rPr>
              <a:t>؟</a:t>
            </a:r>
          </a:p>
          <a:p>
            <a:pPr algn="r" rtl="1">
              <a:lnSpc>
                <a:spcPct val="115000"/>
              </a:lnSpc>
              <a:spcAft>
                <a:spcPts val="800"/>
              </a:spcAft>
            </a:pPr>
            <a:r>
              <a:rPr lang="ar-SA" sz="2400" b="1" dirty="0">
                <a:solidFill>
                  <a:schemeClr val="tx2"/>
                </a:solidFill>
              </a:rPr>
              <a:t>أ- </a:t>
            </a:r>
            <a:r>
              <a:rPr lang="ar-SA" sz="2000" b="1" dirty="0">
                <a:effectLst/>
                <a:latin typeface="Calibri" panose="020F0502020204030204" pitchFamily="34" charset="0"/>
                <a:ea typeface="Calibri" panose="020F0502020204030204" pitchFamily="34" charset="0"/>
                <a:cs typeface="Sakkal Majalla" panose="02000000000000000000" pitchFamily="2" charset="-78"/>
              </a:rPr>
              <a:t>لأن السؤال كان غريباً.</a:t>
            </a:r>
            <a:endParaRPr lang="en-US" sz="2000" dirty="0">
              <a:solidFill>
                <a:schemeClr val="tx2"/>
              </a:solidFill>
            </a:endParaRPr>
          </a:p>
          <a:p>
            <a:pPr algn="r" rtl="1">
              <a:lnSpc>
                <a:spcPct val="115000"/>
              </a:lnSpc>
              <a:spcAft>
                <a:spcPts val="800"/>
              </a:spcAft>
            </a:pPr>
            <a:r>
              <a:rPr lang="ar-SA" sz="2400" b="1" dirty="0">
                <a:solidFill>
                  <a:schemeClr val="tx2"/>
                </a:solidFill>
              </a:rPr>
              <a:t>ب-</a:t>
            </a:r>
            <a:r>
              <a:rPr lang="ar-SA" sz="2000" dirty="0"/>
              <a:t> لأن بيرو لم يجب.</a:t>
            </a:r>
            <a:endParaRPr lang="en-US" sz="2000" dirty="0">
              <a:solidFill>
                <a:schemeClr val="tx2"/>
              </a:solidFill>
            </a:endParaRPr>
          </a:p>
          <a:p>
            <a:pPr algn="r" rtl="1">
              <a:lnSpc>
                <a:spcPct val="115000"/>
              </a:lnSpc>
              <a:spcAft>
                <a:spcPts val="800"/>
              </a:spcAft>
            </a:pPr>
            <a:r>
              <a:rPr lang="ar-SA" sz="2400" b="1" dirty="0">
                <a:solidFill>
                  <a:schemeClr val="tx2"/>
                </a:solidFill>
                <a:highlight>
                  <a:srgbClr val="00FFFF"/>
                </a:highlight>
              </a:rPr>
              <a:t>ت-</a:t>
            </a:r>
            <a:r>
              <a:rPr lang="ar-SA" sz="2000" dirty="0">
                <a:highlight>
                  <a:srgbClr val="00FFFF"/>
                </a:highlight>
              </a:rPr>
              <a:t>لأن بيرو أجاب الأستاذ " </a:t>
            </a:r>
            <a:r>
              <a:rPr lang="ar-SA" sz="2000" dirty="0" err="1">
                <a:highlight>
                  <a:srgbClr val="00FFFF"/>
                </a:highlight>
              </a:rPr>
              <a:t>خ..خبز</a:t>
            </a:r>
            <a:r>
              <a:rPr lang="ar-SA" sz="2000" dirty="0">
                <a:highlight>
                  <a:srgbClr val="00FFFF"/>
                </a:highlight>
              </a:rPr>
              <a:t>؟".</a:t>
            </a:r>
            <a:endParaRPr lang="ar-SA" sz="2000" dirty="0">
              <a:solidFill>
                <a:schemeClr val="tx2"/>
              </a:solidFill>
              <a:highlight>
                <a:srgbClr val="00FFFF"/>
              </a:highlight>
            </a:endParaRPr>
          </a:p>
          <a:p>
            <a:pPr algn="r" rtl="1">
              <a:lnSpc>
                <a:spcPct val="115000"/>
              </a:lnSpc>
              <a:spcAft>
                <a:spcPts val="800"/>
              </a:spcAft>
            </a:pPr>
            <a:r>
              <a:rPr lang="ar-SA" sz="2000" dirty="0">
                <a:solidFill>
                  <a:schemeClr val="tx2"/>
                </a:solidFill>
              </a:rPr>
              <a:t>ث-</a:t>
            </a:r>
            <a:r>
              <a:rPr lang="ar-SA" sz="2000" b="1" dirty="0">
                <a:effectLst/>
                <a:latin typeface="Calibri" panose="020F0502020204030204" pitchFamily="34" charset="0"/>
                <a:ea typeface="Calibri" panose="020F0502020204030204" pitchFamily="34" charset="0"/>
                <a:cs typeface="Sakkal Majalla" panose="02000000000000000000" pitchFamily="2" charset="-78"/>
              </a:rPr>
              <a:t> لأن السيد </a:t>
            </a:r>
            <a:r>
              <a:rPr lang="ar-SA" sz="2000" b="1" dirty="0" err="1">
                <a:effectLst/>
                <a:latin typeface="Calibri" panose="020F0502020204030204" pitchFamily="34" charset="0"/>
                <a:ea typeface="Calibri" panose="020F0502020204030204" pitchFamily="34" charset="0"/>
                <a:cs typeface="Sakkal Majalla" panose="02000000000000000000" pitchFamily="2" charset="-78"/>
              </a:rPr>
              <a:t>لوبير</a:t>
            </a:r>
            <a:r>
              <a:rPr lang="ar-SA" sz="2000" b="1" dirty="0">
                <a:effectLst/>
                <a:latin typeface="Calibri" panose="020F0502020204030204" pitchFamily="34" charset="0"/>
                <a:ea typeface="Calibri" panose="020F0502020204030204" pitchFamily="34" charset="0"/>
                <a:cs typeface="Sakkal Majalla" panose="02000000000000000000" pitchFamily="2" charset="-78"/>
              </a:rPr>
              <a:t> صرخ على بيرو.</a:t>
            </a:r>
            <a:endParaRPr lang="en-US" sz="2000" dirty="0">
              <a:solidFill>
                <a:srgbClr val="C00000"/>
              </a:solidFill>
            </a:endParaRPr>
          </a:p>
          <a:p>
            <a:pPr algn="r" rtl="1">
              <a:lnSpc>
                <a:spcPct val="115000"/>
              </a:lnSpc>
              <a:spcAft>
                <a:spcPts val="800"/>
              </a:spcAft>
            </a:pPr>
            <a:r>
              <a:rPr lang="ar-SA" sz="2000" dirty="0">
                <a:solidFill>
                  <a:srgbClr val="C00000"/>
                </a:solidFill>
              </a:rPr>
              <a:t> </a:t>
            </a:r>
            <a:endParaRPr lang="en-US" sz="2000" dirty="0">
              <a:solidFill>
                <a:srgbClr val="C00000"/>
              </a:solidFill>
            </a:endParaRPr>
          </a:p>
          <a:p>
            <a:pPr algn="r" rtl="1">
              <a:lnSpc>
                <a:spcPct val="115000"/>
              </a:lnSpc>
              <a:spcAft>
                <a:spcPts val="800"/>
              </a:spcAft>
            </a:pPr>
            <a:endParaRPr lang="ar-SA" sz="2000" b="1" dirty="0">
              <a:solidFill>
                <a:srgbClr val="C00000"/>
              </a:solidFill>
            </a:endParaRPr>
          </a:p>
        </p:txBody>
      </p:sp>
      <p:sp>
        <p:nvSpPr>
          <p:cNvPr id="7" name="TextBox 6">
            <a:extLst>
              <a:ext uri="{FF2B5EF4-FFF2-40B4-BE49-F238E27FC236}">
                <a16:creationId xmlns:a16="http://schemas.microsoft.com/office/drawing/2014/main" id="{5AB36F42-5CFC-FD50-5C8B-0614FBAEB56F}"/>
              </a:ext>
            </a:extLst>
          </p:cNvPr>
          <p:cNvSpPr txBox="1"/>
          <p:nvPr/>
        </p:nvSpPr>
        <p:spPr>
          <a:xfrm>
            <a:off x="4294958" y="1872583"/>
            <a:ext cx="6449784" cy="276999"/>
          </a:xfrm>
          <a:prstGeom prst="rect">
            <a:avLst/>
          </a:prstGeom>
          <a:noFill/>
        </p:spPr>
        <p:txBody>
          <a:bodyPr wrap="square">
            <a:spAutoFit/>
          </a:bodyPr>
          <a:lstStyle/>
          <a:p>
            <a:r>
              <a:rPr lang="ar-SA" sz="1200" b="1" i="0" u="none" strike="noStrike" baseline="0" dirty="0">
                <a:highlight>
                  <a:srgbClr val="00FF00"/>
                </a:highlight>
                <a:latin typeface="SakkalMajalla-Bold"/>
              </a:rPr>
              <a:t>نص سردي خارجيٌّ</a:t>
            </a:r>
            <a:endParaRPr lang="en-US" sz="3600" b="1" dirty="0">
              <a:highlight>
                <a:srgbClr val="00FF00"/>
              </a:highlight>
            </a:endParaRPr>
          </a:p>
        </p:txBody>
      </p:sp>
      <p:pic>
        <p:nvPicPr>
          <p:cNvPr id="4" name="Picture 3">
            <a:extLst>
              <a:ext uri="{FF2B5EF4-FFF2-40B4-BE49-F238E27FC236}">
                <a16:creationId xmlns:a16="http://schemas.microsoft.com/office/drawing/2014/main" id="{54FEE147-0EEC-7B04-BCE1-97035D3B9F4B}"/>
              </a:ext>
            </a:extLst>
          </p:cNvPr>
          <p:cNvPicPr>
            <a:picLocks noChangeAspect="1"/>
          </p:cNvPicPr>
          <p:nvPr/>
        </p:nvPicPr>
        <p:blipFill>
          <a:blip r:embed="rId5"/>
          <a:stretch>
            <a:fillRect/>
          </a:stretch>
        </p:blipFill>
        <p:spPr>
          <a:xfrm>
            <a:off x="3719393" y="2205135"/>
            <a:ext cx="1817260" cy="426879"/>
          </a:xfrm>
          <a:prstGeom prst="rect">
            <a:avLst/>
          </a:prstGeom>
        </p:spPr>
      </p:pic>
      <p:pic>
        <p:nvPicPr>
          <p:cNvPr id="6" name="Picture 5">
            <a:extLst>
              <a:ext uri="{FF2B5EF4-FFF2-40B4-BE49-F238E27FC236}">
                <a16:creationId xmlns:a16="http://schemas.microsoft.com/office/drawing/2014/main" id="{7B31099C-5DFF-4CE4-D83E-0D9B2C572E5A}"/>
              </a:ext>
            </a:extLst>
          </p:cNvPr>
          <p:cNvPicPr>
            <a:picLocks noChangeAspect="1"/>
          </p:cNvPicPr>
          <p:nvPr/>
        </p:nvPicPr>
        <p:blipFill>
          <a:blip r:embed="rId6"/>
          <a:stretch>
            <a:fillRect/>
          </a:stretch>
        </p:blipFill>
        <p:spPr>
          <a:xfrm>
            <a:off x="778477" y="2632014"/>
            <a:ext cx="3026024" cy="710853"/>
          </a:xfrm>
          <a:prstGeom prst="rect">
            <a:avLst/>
          </a:prstGeom>
        </p:spPr>
      </p:pic>
      <p:sp>
        <p:nvSpPr>
          <p:cNvPr id="10" name="TextBox 9">
            <a:extLst>
              <a:ext uri="{FF2B5EF4-FFF2-40B4-BE49-F238E27FC236}">
                <a16:creationId xmlns:a16="http://schemas.microsoft.com/office/drawing/2014/main" id="{39751F5E-45E3-D3AA-7604-AF3616694B46}"/>
              </a:ext>
            </a:extLst>
          </p:cNvPr>
          <p:cNvSpPr txBox="1"/>
          <p:nvPr/>
        </p:nvSpPr>
        <p:spPr>
          <a:xfrm>
            <a:off x="5840372" y="2099193"/>
            <a:ext cx="6128950" cy="3568926"/>
          </a:xfrm>
          <a:prstGeom prst="rect">
            <a:avLst/>
          </a:prstGeom>
          <a:noFill/>
        </p:spPr>
        <p:txBody>
          <a:bodyPr wrap="square">
            <a:spAutoFit/>
          </a:bodyPr>
          <a:lstStyle/>
          <a:p>
            <a:pPr marL="0" marR="0" algn="r" rtl="1">
              <a:lnSpc>
                <a:spcPct val="107000"/>
              </a:lnSpc>
              <a:spcAft>
                <a:spcPts val="800"/>
              </a:spcAft>
              <a:buNone/>
            </a:pPr>
            <a:r>
              <a:rPr lang="ar-SA" sz="1800" b="1" dirty="0">
                <a:effectLst/>
                <a:latin typeface="Calibri" panose="020F0502020204030204" pitchFamily="34" charset="0"/>
                <a:ea typeface="Calibri" panose="020F0502020204030204" pitchFamily="34" charset="0"/>
                <a:cs typeface="Sakkal Majalla" panose="02000000000000000000" pitchFamily="2" charset="-78"/>
              </a:rPr>
              <a:t>في قاعةِ الدراسةِ الباردةِ، بينما كانَ الأستاذُ (مارتن) يشرحُ درسَ التاريخِ، ويوثّقُ ما حدثَ للجيوشِ الفرنسيةِ في معركةِ (</a:t>
            </a:r>
            <a:r>
              <a:rPr lang="ar-SA" sz="1800" b="1" dirty="0" err="1">
                <a:effectLst/>
                <a:latin typeface="Calibri" panose="020F0502020204030204" pitchFamily="34" charset="0"/>
                <a:ea typeface="Calibri" panose="020F0502020204030204" pitchFamily="34" charset="0"/>
                <a:cs typeface="Sakkal Majalla" panose="02000000000000000000" pitchFamily="2" charset="-78"/>
              </a:rPr>
              <a:t>واترلو</a:t>
            </a:r>
            <a:r>
              <a:rPr lang="ar-SA" sz="1800" b="1" dirty="0">
                <a:effectLst/>
                <a:latin typeface="Calibri" panose="020F0502020204030204" pitchFamily="34" charset="0"/>
                <a:ea typeface="Calibri" panose="020F0502020204030204" pitchFamily="34" charset="0"/>
                <a:cs typeface="Sakkal Majalla" panose="02000000000000000000" pitchFamily="2" charset="-78"/>
              </a:rPr>
              <a:t>) بقيادةِ (نابليونَ بونابرت)، كانَ (</a:t>
            </a:r>
            <a:r>
              <a:rPr lang="ar-SA" sz="1800" b="1" dirty="0" err="1">
                <a:effectLst/>
                <a:latin typeface="Calibri" panose="020F0502020204030204" pitchFamily="34" charset="0"/>
                <a:ea typeface="Calibri" panose="020F0502020204030204" pitchFamily="34" charset="0"/>
                <a:cs typeface="Sakkal Majalla" panose="02000000000000000000" pitchFamily="2" charset="-78"/>
              </a:rPr>
              <a:t>بييرُو</a:t>
            </a:r>
            <a:r>
              <a:rPr lang="ar-SA" sz="1800" b="1" dirty="0">
                <a:effectLst/>
                <a:latin typeface="Calibri" panose="020F0502020204030204" pitchFamily="34" charset="0"/>
                <a:ea typeface="Calibri" panose="020F0502020204030204" pitchFamily="34" charset="0"/>
                <a:cs typeface="Sakkal Majalla" panose="02000000000000000000" pitchFamily="2" charset="-78"/>
              </a:rPr>
              <a:t>) البائسُ الصغيرُ يرسمُ أمنيةً وحيدةً في دفترِهِ بأشكالِ أرغفةِ الخبزِ.  </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Aft>
                <a:spcPts val="800"/>
              </a:spcAft>
              <a:buNone/>
            </a:pPr>
            <a:r>
              <a:rPr lang="ar-SA" sz="1800" b="1" dirty="0">
                <a:effectLst/>
                <a:latin typeface="Calibri" panose="020F0502020204030204" pitchFamily="34" charset="0"/>
                <a:ea typeface="Calibri" panose="020F0502020204030204" pitchFamily="34" charset="0"/>
                <a:cs typeface="Sakkal Majalla" panose="02000000000000000000" pitchFamily="2" charset="-78"/>
              </a:rPr>
              <a:t>- "</a:t>
            </a:r>
            <a:r>
              <a:rPr lang="ar-SA" sz="1800" b="1" dirty="0" err="1">
                <a:effectLst/>
                <a:latin typeface="Calibri" panose="020F0502020204030204" pitchFamily="34" charset="0"/>
                <a:ea typeface="Calibri" panose="020F0502020204030204" pitchFamily="34" charset="0"/>
                <a:cs typeface="Sakkal Majalla" panose="02000000000000000000" pitchFamily="2" charset="-78"/>
              </a:rPr>
              <a:t>بييرو</a:t>
            </a:r>
            <a:r>
              <a:rPr lang="ar-SA" sz="1800" b="1" dirty="0">
                <a:effectLst/>
                <a:latin typeface="Calibri" panose="020F0502020204030204" pitchFamily="34" charset="0"/>
                <a:ea typeface="Calibri" panose="020F0502020204030204" pitchFamily="34" charset="0"/>
                <a:cs typeface="Sakkal Majalla" panose="02000000000000000000" pitchFamily="2" charset="-78"/>
              </a:rPr>
              <a:t>! ماذا كانتْ نتيجةُ معركةِ </a:t>
            </a:r>
            <a:r>
              <a:rPr lang="ar-SA" sz="1800" b="1" dirty="0" err="1">
                <a:effectLst/>
                <a:latin typeface="Calibri" panose="020F0502020204030204" pitchFamily="34" charset="0"/>
                <a:ea typeface="Calibri" panose="020F0502020204030204" pitchFamily="34" charset="0"/>
                <a:cs typeface="Sakkal Majalla" panose="02000000000000000000" pitchFamily="2" charset="-78"/>
              </a:rPr>
              <a:t>واترلو</a:t>
            </a:r>
            <a:r>
              <a:rPr lang="ar-SA" sz="1800" b="1" dirty="0">
                <a:effectLst/>
                <a:latin typeface="Calibri" panose="020F0502020204030204" pitchFamily="34" charset="0"/>
                <a:ea typeface="Calibri" panose="020F0502020204030204" pitchFamily="34" charset="0"/>
                <a:cs typeface="Sakkal Majalla" panose="02000000000000000000" pitchFamily="2" charset="-78"/>
              </a:rPr>
              <a:t>؟" سألَ الأستاذُ.  </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Aft>
                <a:spcPts val="800"/>
              </a:spcAft>
              <a:buNone/>
            </a:pPr>
            <a:r>
              <a:rPr lang="ar-SA" sz="1800" b="1" dirty="0">
                <a:effectLst/>
                <a:latin typeface="Calibri" panose="020F0502020204030204" pitchFamily="34" charset="0"/>
                <a:ea typeface="Calibri" panose="020F0502020204030204" pitchFamily="34" charset="0"/>
                <a:cs typeface="Sakkal Majalla" panose="02000000000000000000" pitchFamily="2" charset="-78"/>
              </a:rPr>
              <a:t>- "خ...خبز؟"  </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Aft>
                <a:spcPts val="800"/>
              </a:spcAft>
              <a:buNone/>
            </a:pPr>
            <a:r>
              <a:rPr lang="ar-SA" sz="1800" b="1" dirty="0">
                <a:effectLst/>
                <a:latin typeface="Calibri" panose="020F0502020204030204" pitchFamily="34" charset="0"/>
                <a:ea typeface="Calibri" panose="020F0502020204030204" pitchFamily="34" charset="0"/>
                <a:cs typeface="Sakkal Majalla" panose="02000000000000000000" pitchFamily="2" charset="-78"/>
              </a:rPr>
              <a:t>ضحكَ التلاميذُ جميعًا، إلا أنَّ الأستاذَ لم يضحكْ.. رأى في عينيْ تلميذِهِ ذلكَ الفراغَ الذي تركتْهُ الحربُ.  </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Aft>
                <a:spcPts val="800"/>
              </a:spcAft>
              <a:buNone/>
            </a:pPr>
            <a:r>
              <a:rPr lang="ar-SA" sz="1800" b="1" dirty="0">
                <a:effectLst/>
                <a:latin typeface="Calibri" panose="020F0502020204030204" pitchFamily="34" charset="0"/>
                <a:ea typeface="Calibri" panose="020F0502020204030204" pitchFamily="34" charset="0"/>
                <a:cs typeface="Sakkal Majalla" panose="02000000000000000000" pitchFamily="2" charset="-78"/>
              </a:rPr>
              <a:t>ذلكَ المساءَ، بينما كانَ (</a:t>
            </a:r>
            <a:r>
              <a:rPr lang="ar-SA" sz="1800" b="1" dirty="0" err="1">
                <a:effectLst/>
                <a:latin typeface="Calibri" panose="020F0502020204030204" pitchFamily="34" charset="0"/>
                <a:ea typeface="Calibri" panose="020F0502020204030204" pitchFamily="34" charset="0"/>
                <a:cs typeface="Sakkal Majalla" panose="02000000000000000000" pitchFamily="2" charset="-78"/>
              </a:rPr>
              <a:t>بييرو</a:t>
            </a:r>
            <a:r>
              <a:rPr lang="ar-SA" sz="1800" b="1" dirty="0">
                <a:effectLst/>
                <a:latin typeface="Calibri" panose="020F0502020204030204" pitchFamily="34" charset="0"/>
                <a:ea typeface="Calibri" panose="020F0502020204030204" pitchFamily="34" charset="0"/>
                <a:cs typeface="Sakkal Majalla" panose="02000000000000000000" pitchFamily="2" charset="-78"/>
              </a:rPr>
              <a:t>) يتلمَّسُ طريقَهُ بحائطِ المخبزِ، سمعَ أنينًا يأتي منَ الداخلِ. وجدَ السيدَ (</a:t>
            </a:r>
            <a:r>
              <a:rPr lang="ar-SA" sz="1800" b="1" dirty="0" err="1">
                <a:effectLst/>
                <a:latin typeface="Calibri" panose="020F0502020204030204" pitchFamily="34" charset="0"/>
                <a:ea typeface="Calibri" panose="020F0502020204030204" pitchFamily="34" charset="0"/>
                <a:cs typeface="Sakkal Majalla" panose="02000000000000000000" pitchFamily="2" charset="-78"/>
              </a:rPr>
              <a:t>لوبير</a:t>
            </a:r>
            <a:r>
              <a:rPr lang="ar-SA" sz="1800" b="1" dirty="0">
                <a:effectLst/>
                <a:latin typeface="Calibri" panose="020F0502020204030204" pitchFamily="34" charset="0"/>
                <a:ea typeface="Calibri" panose="020F0502020204030204" pitchFamily="34" charset="0"/>
                <a:cs typeface="Sakkal Majalla" panose="02000000000000000000" pitchFamily="2" charset="-78"/>
              </a:rPr>
              <a:t>) منحنيًا على جرحٍ نازفٍ في ساقِهِ، وجهُهُ الأصفرُ يلمعُ تحتَ ضوءِ القمرِ.  </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Aft>
                <a:spcPts val="800"/>
              </a:spcAft>
              <a:buNone/>
            </a:pPr>
            <a:r>
              <a:rPr lang="ar-SA" sz="1800" b="1" dirty="0">
                <a:effectLst/>
                <a:latin typeface="Calibri" panose="020F0502020204030204" pitchFamily="34" charset="0"/>
                <a:ea typeface="Calibri" panose="020F0502020204030204" pitchFamily="34" charset="0"/>
                <a:cs typeface="Sakkal Majalla" panose="02000000000000000000" pitchFamily="2" charset="-78"/>
              </a:rPr>
              <a:t>"ا... اذهبْ بعيدًا!" زمجرَ الرجلُ، لكنَّ صوتَهُ كانَ ضعيفًا هذه المرةَ.  </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2" name="Picture 2" descr="11 بديلا صحيا للخبز | أسلوب حياة | الجزيرة نت">
            <a:extLst>
              <a:ext uri="{FF2B5EF4-FFF2-40B4-BE49-F238E27FC236}">
                <a16:creationId xmlns:a16="http://schemas.microsoft.com/office/drawing/2014/main" id="{D588E108-AB17-0B14-906B-0D2270A4956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3226" y="1897338"/>
            <a:ext cx="1687767" cy="836008"/>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DB34F672-704E-9AFE-90CE-D9EFB4A19A30}"/>
              </a:ext>
            </a:extLst>
          </p:cNvPr>
          <p:cNvSpPr txBox="1"/>
          <p:nvPr/>
        </p:nvSpPr>
        <p:spPr>
          <a:xfrm>
            <a:off x="474646" y="6351069"/>
            <a:ext cx="5205483" cy="400110"/>
          </a:xfrm>
          <a:prstGeom prst="rect">
            <a:avLst/>
          </a:prstGeom>
          <a:noFill/>
        </p:spPr>
        <p:txBody>
          <a:bodyPr wrap="square" rtlCol="0">
            <a:spAutoFit/>
          </a:bodyPr>
          <a:lstStyle/>
          <a:p>
            <a:r>
              <a:rPr lang="ar-SA" sz="2000" b="1" dirty="0">
                <a:solidFill>
                  <a:srgbClr val="CB6792"/>
                </a:solidFill>
              </a:rPr>
              <a:t>إعداد... أ: شيخة السويدي</a:t>
            </a:r>
            <a:endParaRPr lang="en-US" sz="2000" b="1" dirty="0">
              <a:solidFill>
                <a:srgbClr val="CB6792"/>
              </a:solidFill>
            </a:endParaRPr>
          </a:p>
        </p:txBody>
      </p:sp>
    </p:spTree>
    <p:extLst>
      <p:ext uri="{BB962C8B-B14F-4D97-AF65-F5344CB8AC3E}">
        <p14:creationId xmlns:p14="http://schemas.microsoft.com/office/powerpoint/2010/main" val="21622750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01ABD-C427-A8DC-284E-4668EAC6A9FF}"/>
            </a:ext>
          </a:extLst>
        </p:cNvPr>
        <p:cNvGrpSpPr/>
        <p:nvPr/>
      </p:nvGrpSpPr>
      <p:grpSpPr>
        <a:xfrm>
          <a:off x="0" y="0"/>
          <a:ext cx="0" cy="0"/>
          <a:chOff x="0" y="0"/>
          <a:chExt cx="0" cy="0"/>
        </a:xfrm>
      </p:grpSpPr>
      <p:pic>
        <p:nvPicPr>
          <p:cNvPr id="5" name="Picture 4" descr="A logo with a feather and a book&#10;&#10;AI-generated content may be incorrect.">
            <a:extLst>
              <a:ext uri="{FF2B5EF4-FFF2-40B4-BE49-F238E27FC236}">
                <a16:creationId xmlns:a16="http://schemas.microsoft.com/office/drawing/2014/main" id="{B042DAF6-C971-6988-89E9-0D007661C701}"/>
              </a:ext>
            </a:extLst>
          </p:cNvPr>
          <p:cNvPicPr>
            <a:picLocks noChangeAspect="1"/>
          </p:cNvPicPr>
          <p:nvPr/>
        </p:nvPicPr>
        <p:blipFill>
          <a:blip r:embed="rId3">
            <a:extLst>
              <a:ext uri="{28A0092B-C50C-407E-A947-70E740481C1C}">
                <a14:useLocalDpi xmlns:a14="http://schemas.microsoft.com/office/drawing/2010/main" val="0"/>
              </a:ext>
            </a:extLst>
          </a:blip>
          <a:srcRect t="18752" r="-1" b="-1"/>
          <a:stretch>
            <a:fillRect/>
          </a:stretch>
        </p:blipFill>
        <p:spPr>
          <a:xfrm>
            <a:off x="3068" y="9"/>
            <a:ext cx="12188932" cy="2011073"/>
          </a:xfrm>
          <a:prstGeom prst="rect">
            <a:avLst/>
          </a:prstGeom>
        </p:spPr>
      </p:pic>
      <p:sp>
        <p:nvSpPr>
          <p:cNvPr id="9" name="TextBox 8">
            <a:extLst>
              <a:ext uri="{FF2B5EF4-FFF2-40B4-BE49-F238E27FC236}">
                <a16:creationId xmlns:a16="http://schemas.microsoft.com/office/drawing/2014/main" id="{1F297787-092F-6ED2-382D-3C9362E39623}"/>
              </a:ext>
            </a:extLst>
          </p:cNvPr>
          <p:cNvSpPr txBox="1"/>
          <p:nvPr/>
        </p:nvSpPr>
        <p:spPr>
          <a:xfrm>
            <a:off x="9957661" y="309966"/>
            <a:ext cx="1914041" cy="369332"/>
          </a:xfrm>
          <a:prstGeom prst="rect">
            <a:avLst/>
          </a:prstGeom>
          <a:noFill/>
        </p:spPr>
        <p:txBody>
          <a:bodyPr wrap="square" rtlCol="0">
            <a:spAutoFit/>
          </a:bodyPr>
          <a:lstStyle/>
          <a:p>
            <a:r>
              <a:rPr lang="ar-SA" dirty="0"/>
              <a:t>مدرسة الشوامخ ح2-3</a:t>
            </a:r>
            <a:endParaRPr lang="en-US" dirty="0"/>
          </a:p>
        </p:txBody>
      </p:sp>
      <p:pic>
        <p:nvPicPr>
          <p:cNvPr id="11" name="Picture 10" descr="التربية والتعليم» تعلن هويتها المرئية الجديدة | صحيفة الخليج">
            <a:extLst>
              <a:ext uri="{FF2B5EF4-FFF2-40B4-BE49-F238E27FC236}">
                <a16:creationId xmlns:a16="http://schemas.microsoft.com/office/drawing/2014/main" id="{CA3A16B6-4D32-15E6-588C-890F8AAFA55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28" y="0"/>
            <a:ext cx="1393825" cy="950595"/>
          </a:xfrm>
          <a:prstGeom prst="rect">
            <a:avLst/>
          </a:prstGeom>
          <a:noFill/>
          <a:ln>
            <a:noFill/>
          </a:ln>
        </p:spPr>
      </p:pic>
      <p:cxnSp>
        <p:nvCxnSpPr>
          <p:cNvPr id="26" name="Straight Connector 25">
            <a:extLst>
              <a:ext uri="{FF2B5EF4-FFF2-40B4-BE49-F238E27FC236}">
                <a16:creationId xmlns:a16="http://schemas.microsoft.com/office/drawing/2014/main" id="{2D18FDEB-D8D2-9079-054E-32E7F459DF5C}"/>
              </a:ext>
            </a:extLst>
          </p:cNvPr>
          <p:cNvCxnSpPr>
            <a:cxnSpLocks/>
          </p:cNvCxnSpPr>
          <p:nvPr/>
        </p:nvCxnSpPr>
        <p:spPr>
          <a:xfrm>
            <a:off x="5680129" y="1995639"/>
            <a:ext cx="0" cy="412213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7" name="Arrow: Left 36">
            <a:extLst>
              <a:ext uri="{FF2B5EF4-FFF2-40B4-BE49-F238E27FC236}">
                <a16:creationId xmlns:a16="http://schemas.microsoft.com/office/drawing/2014/main" id="{5B9BCC35-6C72-3167-2FB5-86CD738B7813}"/>
              </a:ext>
            </a:extLst>
          </p:cNvPr>
          <p:cNvSpPr/>
          <p:nvPr/>
        </p:nvSpPr>
        <p:spPr>
          <a:xfrm>
            <a:off x="4172062" y="2758094"/>
            <a:ext cx="1317481" cy="584773"/>
          </a:xfrm>
          <a:prstGeom prst="lef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ar-SA" b="1" dirty="0"/>
              <a:t>المهارة</a:t>
            </a:r>
            <a:endParaRPr lang="en-US" b="1" dirty="0"/>
          </a:p>
        </p:txBody>
      </p:sp>
      <p:sp>
        <p:nvSpPr>
          <p:cNvPr id="46" name="TextBox 45">
            <a:extLst>
              <a:ext uri="{FF2B5EF4-FFF2-40B4-BE49-F238E27FC236}">
                <a16:creationId xmlns:a16="http://schemas.microsoft.com/office/drawing/2014/main" id="{F3DF9CD9-A459-3532-14E6-A342D1ACE68C}"/>
              </a:ext>
            </a:extLst>
          </p:cNvPr>
          <p:cNvSpPr txBox="1"/>
          <p:nvPr/>
        </p:nvSpPr>
        <p:spPr>
          <a:xfrm>
            <a:off x="-60971" y="3354277"/>
            <a:ext cx="5580858" cy="3647345"/>
          </a:xfrm>
          <a:prstGeom prst="rect">
            <a:avLst/>
          </a:prstGeom>
          <a:noFill/>
        </p:spPr>
        <p:txBody>
          <a:bodyPr wrap="square">
            <a:spAutoFit/>
          </a:bodyPr>
          <a:lstStyle/>
          <a:p>
            <a:pPr algn="r" rtl="1">
              <a:lnSpc>
                <a:spcPct val="115000"/>
              </a:lnSpc>
              <a:spcAft>
                <a:spcPts val="800"/>
              </a:spcAft>
            </a:pPr>
            <a:r>
              <a:rPr lang="ar-SA" sz="1600" b="1" dirty="0">
                <a:solidFill>
                  <a:srgbClr val="C00000"/>
                </a:solidFill>
              </a:rPr>
              <a:t>15- ما الرسالة المضمنة في هذه القصة </a:t>
            </a:r>
            <a:r>
              <a:rPr lang="ar-SA" sz="1400" b="1" dirty="0">
                <a:solidFill>
                  <a:srgbClr val="C00000"/>
                </a:solidFill>
              </a:rPr>
              <a:t>؟</a:t>
            </a:r>
          </a:p>
          <a:p>
            <a:pPr algn="r" rtl="1">
              <a:lnSpc>
                <a:spcPct val="115000"/>
              </a:lnSpc>
              <a:spcAft>
                <a:spcPts val="800"/>
              </a:spcAft>
            </a:pPr>
            <a:r>
              <a:rPr lang="ar-SA" sz="2400" b="1" dirty="0">
                <a:solidFill>
                  <a:schemeClr val="tx2"/>
                </a:solidFill>
              </a:rPr>
              <a:t>أ- </a:t>
            </a:r>
            <a:r>
              <a:rPr lang="ar-SA" dirty="0"/>
              <a:t>قسوةُ الحياةِ في الأحياءِ الفقيرةِ.  </a:t>
            </a:r>
            <a:endParaRPr lang="en-US" sz="2000" dirty="0">
              <a:solidFill>
                <a:schemeClr val="tx2"/>
              </a:solidFill>
            </a:endParaRPr>
          </a:p>
          <a:p>
            <a:pPr algn="r" rtl="1">
              <a:lnSpc>
                <a:spcPct val="115000"/>
              </a:lnSpc>
              <a:spcAft>
                <a:spcPts val="800"/>
              </a:spcAft>
            </a:pPr>
            <a:r>
              <a:rPr lang="ar-SA" sz="2400" b="1" dirty="0">
                <a:solidFill>
                  <a:schemeClr val="tx2"/>
                </a:solidFill>
                <a:highlight>
                  <a:srgbClr val="00FFFF"/>
                </a:highlight>
              </a:rPr>
              <a:t>ب- </a:t>
            </a:r>
            <a:r>
              <a:rPr lang="ar-SA" dirty="0">
                <a:highlight>
                  <a:srgbClr val="00FFFF"/>
                </a:highlight>
              </a:rPr>
              <a:t>تأثيرُ الحربِ على الأطفالِ والأسرِ.</a:t>
            </a:r>
          </a:p>
          <a:p>
            <a:pPr algn="r" rtl="1">
              <a:lnSpc>
                <a:spcPct val="115000"/>
              </a:lnSpc>
              <a:spcAft>
                <a:spcPts val="800"/>
              </a:spcAft>
            </a:pPr>
            <a:r>
              <a:rPr lang="ar-SA" dirty="0"/>
              <a:t>ت- صعوبةُ تعلمِ صناعةِ الخبزِ.  </a:t>
            </a:r>
            <a:endParaRPr lang="en-US" sz="2000" dirty="0">
              <a:solidFill>
                <a:schemeClr val="tx2"/>
              </a:solidFill>
              <a:highlight>
                <a:srgbClr val="00FFFF"/>
              </a:highlight>
            </a:endParaRPr>
          </a:p>
          <a:p>
            <a:pPr algn="r" rtl="1">
              <a:lnSpc>
                <a:spcPct val="115000"/>
              </a:lnSpc>
              <a:spcAft>
                <a:spcPts val="800"/>
              </a:spcAft>
            </a:pPr>
            <a:r>
              <a:rPr lang="ar-SA" sz="2000" dirty="0">
                <a:solidFill>
                  <a:schemeClr val="tx2"/>
                </a:solidFill>
              </a:rPr>
              <a:t>ث-</a:t>
            </a:r>
            <a:r>
              <a:rPr lang="ar-SA" sz="2000" b="1" dirty="0">
                <a:effectLst/>
                <a:latin typeface="Calibri" panose="020F0502020204030204" pitchFamily="34" charset="0"/>
                <a:ea typeface="Calibri" panose="020F0502020204030204" pitchFamily="34" charset="0"/>
                <a:cs typeface="Sakkal Majalla" panose="02000000000000000000" pitchFamily="2" charset="-78"/>
              </a:rPr>
              <a:t> </a:t>
            </a:r>
            <a:r>
              <a:rPr lang="ar-SA" dirty="0"/>
              <a:t>أهميةُ التعليمِ في حياةِ الفقراءِ.  </a:t>
            </a:r>
            <a:endParaRPr lang="en-US" dirty="0"/>
          </a:p>
          <a:p>
            <a:pPr algn="r" rtl="1">
              <a:lnSpc>
                <a:spcPct val="115000"/>
              </a:lnSpc>
              <a:spcAft>
                <a:spcPts val="800"/>
              </a:spcAft>
            </a:pPr>
            <a:endParaRPr lang="ar-SA" sz="2000" b="1" dirty="0">
              <a:effectLst/>
              <a:latin typeface="Calibri" panose="020F0502020204030204" pitchFamily="34" charset="0"/>
              <a:ea typeface="Calibri" panose="020F0502020204030204" pitchFamily="34" charset="0"/>
              <a:cs typeface="Sakkal Majalla" panose="02000000000000000000" pitchFamily="2" charset="-78"/>
            </a:endParaRPr>
          </a:p>
          <a:p>
            <a:pPr algn="r" rtl="1">
              <a:lnSpc>
                <a:spcPct val="115000"/>
              </a:lnSpc>
              <a:spcAft>
                <a:spcPts val="800"/>
              </a:spcAft>
            </a:pPr>
            <a:r>
              <a:rPr lang="ar-SA" sz="2000" dirty="0">
                <a:solidFill>
                  <a:srgbClr val="C00000"/>
                </a:solidFill>
              </a:rPr>
              <a:t> </a:t>
            </a:r>
            <a:endParaRPr lang="en-US" sz="2000" dirty="0">
              <a:solidFill>
                <a:srgbClr val="C00000"/>
              </a:solidFill>
            </a:endParaRPr>
          </a:p>
          <a:p>
            <a:pPr algn="r" rtl="1">
              <a:lnSpc>
                <a:spcPct val="115000"/>
              </a:lnSpc>
              <a:spcAft>
                <a:spcPts val="800"/>
              </a:spcAft>
            </a:pPr>
            <a:endParaRPr lang="ar-SA" sz="2000" b="1" dirty="0">
              <a:solidFill>
                <a:srgbClr val="C00000"/>
              </a:solidFill>
            </a:endParaRPr>
          </a:p>
        </p:txBody>
      </p:sp>
      <p:sp>
        <p:nvSpPr>
          <p:cNvPr id="7" name="TextBox 6">
            <a:extLst>
              <a:ext uri="{FF2B5EF4-FFF2-40B4-BE49-F238E27FC236}">
                <a16:creationId xmlns:a16="http://schemas.microsoft.com/office/drawing/2014/main" id="{C0C7EE7D-2752-333B-CBBB-B4B9153E5106}"/>
              </a:ext>
            </a:extLst>
          </p:cNvPr>
          <p:cNvSpPr txBox="1"/>
          <p:nvPr/>
        </p:nvSpPr>
        <p:spPr>
          <a:xfrm>
            <a:off x="4294958" y="1872583"/>
            <a:ext cx="6449784" cy="276999"/>
          </a:xfrm>
          <a:prstGeom prst="rect">
            <a:avLst/>
          </a:prstGeom>
          <a:noFill/>
        </p:spPr>
        <p:txBody>
          <a:bodyPr wrap="square">
            <a:spAutoFit/>
          </a:bodyPr>
          <a:lstStyle/>
          <a:p>
            <a:r>
              <a:rPr lang="ar-SA" sz="1200" b="1" i="0" u="none" strike="noStrike" baseline="0" dirty="0">
                <a:highlight>
                  <a:srgbClr val="00FF00"/>
                </a:highlight>
                <a:latin typeface="SakkalMajalla-Bold"/>
              </a:rPr>
              <a:t>نص سردي خارجيٌّ</a:t>
            </a:r>
            <a:endParaRPr lang="en-US" sz="3600" b="1" dirty="0">
              <a:highlight>
                <a:srgbClr val="00FF00"/>
              </a:highlight>
            </a:endParaRPr>
          </a:p>
        </p:txBody>
      </p:sp>
      <p:pic>
        <p:nvPicPr>
          <p:cNvPr id="4" name="Picture 3">
            <a:extLst>
              <a:ext uri="{FF2B5EF4-FFF2-40B4-BE49-F238E27FC236}">
                <a16:creationId xmlns:a16="http://schemas.microsoft.com/office/drawing/2014/main" id="{14AC6F90-E6DC-24BA-A0CB-9DC51F6A4AED}"/>
              </a:ext>
            </a:extLst>
          </p:cNvPr>
          <p:cNvPicPr>
            <a:picLocks noChangeAspect="1"/>
          </p:cNvPicPr>
          <p:nvPr/>
        </p:nvPicPr>
        <p:blipFill>
          <a:blip r:embed="rId5"/>
          <a:stretch>
            <a:fillRect/>
          </a:stretch>
        </p:blipFill>
        <p:spPr>
          <a:xfrm>
            <a:off x="3719393" y="2205135"/>
            <a:ext cx="1817260" cy="426879"/>
          </a:xfrm>
          <a:prstGeom prst="rect">
            <a:avLst/>
          </a:prstGeom>
        </p:spPr>
      </p:pic>
      <p:sp>
        <p:nvSpPr>
          <p:cNvPr id="10" name="TextBox 9">
            <a:extLst>
              <a:ext uri="{FF2B5EF4-FFF2-40B4-BE49-F238E27FC236}">
                <a16:creationId xmlns:a16="http://schemas.microsoft.com/office/drawing/2014/main" id="{FB8B7FEF-46EC-EF3A-A9A9-54807BDD1B96}"/>
              </a:ext>
            </a:extLst>
          </p:cNvPr>
          <p:cNvSpPr txBox="1"/>
          <p:nvPr/>
        </p:nvSpPr>
        <p:spPr>
          <a:xfrm>
            <a:off x="5840372" y="2099193"/>
            <a:ext cx="6128950" cy="3568926"/>
          </a:xfrm>
          <a:prstGeom prst="rect">
            <a:avLst/>
          </a:prstGeom>
          <a:noFill/>
        </p:spPr>
        <p:txBody>
          <a:bodyPr wrap="square">
            <a:spAutoFit/>
          </a:bodyPr>
          <a:lstStyle/>
          <a:p>
            <a:pPr marL="0" marR="0" algn="r" rtl="1">
              <a:lnSpc>
                <a:spcPct val="107000"/>
              </a:lnSpc>
              <a:spcAft>
                <a:spcPts val="800"/>
              </a:spcAft>
              <a:buNone/>
            </a:pPr>
            <a:r>
              <a:rPr lang="ar-SA" sz="1800" b="1" dirty="0">
                <a:effectLst/>
                <a:latin typeface="Calibri" panose="020F0502020204030204" pitchFamily="34" charset="0"/>
                <a:ea typeface="Calibri" panose="020F0502020204030204" pitchFamily="34" charset="0"/>
                <a:cs typeface="Sakkal Majalla" panose="02000000000000000000" pitchFamily="2" charset="-78"/>
              </a:rPr>
              <a:t>في قاعةِ الدراسةِ الباردةِ، بينما كانَ الأستاذُ (مارتن) يشرحُ درسَ التاريخِ، ويوثّقُ ما حدثَ للجيوشِ الفرنسيةِ في معركةِ (</a:t>
            </a:r>
            <a:r>
              <a:rPr lang="ar-SA" sz="1800" b="1" dirty="0" err="1">
                <a:effectLst/>
                <a:latin typeface="Calibri" panose="020F0502020204030204" pitchFamily="34" charset="0"/>
                <a:ea typeface="Calibri" panose="020F0502020204030204" pitchFamily="34" charset="0"/>
                <a:cs typeface="Sakkal Majalla" panose="02000000000000000000" pitchFamily="2" charset="-78"/>
              </a:rPr>
              <a:t>واترلو</a:t>
            </a:r>
            <a:r>
              <a:rPr lang="ar-SA" sz="1800" b="1" dirty="0">
                <a:effectLst/>
                <a:latin typeface="Calibri" panose="020F0502020204030204" pitchFamily="34" charset="0"/>
                <a:ea typeface="Calibri" panose="020F0502020204030204" pitchFamily="34" charset="0"/>
                <a:cs typeface="Sakkal Majalla" panose="02000000000000000000" pitchFamily="2" charset="-78"/>
              </a:rPr>
              <a:t>) بقيادةِ (نابليونَ بونابرت)، كانَ (</a:t>
            </a:r>
            <a:r>
              <a:rPr lang="ar-SA" sz="1800" b="1" dirty="0" err="1">
                <a:effectLst/>
                <a:latin typeface="Calibri" panose="020F0502020204030204" pitchFamily="34" charset="0"/>
                <a:ea typeface="Calibri" panose="020F0502020204030204" pitchFamily="34" charset="0"/>
                <a:cs typeface="Sakkal Majalla" panose="02000000000000000000" pitchFamily="2" charset="-78"/>
              </a:rPr>
              <a:t>بييرُو</a:t>
            </a:r>
            <a:r>
              <a:rPr lang="ar-SA" sz="1800" b="1" dirty="0">
                <a:effectLst/>
                <a:latin typeface="Calibri" panose="020F0502020204030204" pitchFamily="34" charset="0"/>
                <a:ea typeface="Calibri" panose="020F0502020204030204" pitchFamily="34" charset="0"/>
                <a:cs typeface="Sakkal Majalla" panose="02000000000000000000" pitchFamily="2" charset="-78"/>
              </a:rPr>
              <a:t>) البائسُ الصغيرُ يرسمُ أمنيةً وحيدةً في دفترِهِ بأشكالِ أرغفةِ الخبزِ.  </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Aft>
                <a:spcPts val="800"/>
              </a:spcAft>
              <a:buNone/>
            </a:pPr>
            <a:r>
              <a:rPr lang="ar-SA" sz="1800" b="1" dirty="0">
                <a:effectLst/>
                <a:latin typeface="Calibri" panose="020F0502020204030204" pitchFamily="34" charset="0"/>
                <a:ea typeface="Calibri" panose="020F0502020204030204" pitchFamily="34" charset="0"/>
                <a:cs typeface="Sakkal Majalla" panose="02000000000000000000" pitchFamily="2" charset="-78"/>
              </a:rPr>
              <a:t>- "</a:t>
            </a:r>
            <a:r>
              <a:rPr lang="ar-SA" sz="1800" b="1" dirty="0" err="1">
                <a:effectLst/>
                <a:latin typeface="Calibri" panose="020F0502020204030204" pitchFamily="34" charset="0"/>
                <a:ea typeface="Calibri" panose="020F0502020204030204" pitchFamily="34" charset="0"/>
                <a:cs typeface="Sakkal Majalla" panose="02000000000000000000" pitchFamily="2" charset="-78"/>
              </a:rPr>
              <a:t>بييرو</a:t>
            </a:r>
            <a:r>
              <a:rPr lang="ar-SA" sz="1800" b="1" dirty="0">
                <a:effectLst/>
                <a:latin typeface="Calibri" panose="020F0502020204030204" pitchFamily="34" charset="0"/>
                <a:ea typeface="Calibri" panose="020F0502020204030204" pitchFamily="34" charset="0"/>
                <a:cs typeface="Sakkal Majalla" panose="02000000000000000000" pitchFamily="2" charset="-78"/>
              </a:rPr>
              <a:t>! ماذا كانتْ نتيجةُ معركةِ </a:t>
            </a:r>
            <a:r>
              <a:rPr lang="ar-SA" sz="1800" b="1" dirty="0" err="1">
                <a:effectLst/>
                <a:latin typeface="Calibri" panose="020F0502020204030204" pitchFamily="34" charset="0"/>
                <a:ea typeface="Calibri" panose="020F0502020204030204" pitchFamily="34" charset="0"/>
                <a:cs typeface="Sakkal Majalla" panose="02000000000000000000" pitchFamily="2" charset="-78"/>
              </a:rPr>
              <a:t>واترلو</a:t>
            </a:r>
            <a:r>
              <a:rPr lang="ar-SA" sz="1800" b="1" dirty="0">
                <a:effectLst/>
                <a:latin typeface="Calibri" panose="020F0502020204030204" pitchFamily="34" charset="0"/>
                <a:ea typeface="Calibri" panose="020F0502020204030204" pitchFamily="34" charset="0"/>
                <a:cs typeface="Sakkal Majalla" panose="02000000000000000000" pitchFamily="2" charset="-78"/>
              </a:rPr>
              <a:t>؟" سألَ الأستاذُ.  </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Aft>
                <a:spcPts val="800"/>
              </a:spcAft>
              <a:buNone/>
            </a:pPr>
            <a:r>
              <a:rPr lang="ar-SA" sz="1800" b="1" dirty="0">
                <a:effectLst/>
                <a:latin typeface="Calibri" panose="020F0502020204030204" pitchFamily="34" charset="0"/>
                <a:ea typeface="Calibri" panose="020F0502020204030204" pitchFamily="34" charset="0"/>
                <a:cs typeface="Sakkal Majalla" panose="02000000000000000000" pitchFamily="2" charset="-78"/>
              </a:rPr>
              <a:t>- "خ...خبز؟"  </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Aft>
                <a:spcPts val="800"/>
              </a:spcAft>
              <a:buNone/>
            </a:pPr>
            <a:r>
              <a:rPr lang="ar-SA" sz="1800" b="1" dirty="0">
                <a:effectLst/>
                <a:latin typeface="Calibri" panose="020F0502020204030204" pitchFamily="34" charset="0"/>
                <a:ea typeface="Calibri" panose="020F0502020204030204" pitchFamily="34" charset="0"/>
                <a:cs typeface="Sakkal Majalla" panose="02000000000000000000" pitchFamily="2" charset="-78"/>
              </a:rPr>
              <a:t>ضحكَ التلاميذُ جميعًا، إلا أنَّ الأستاذَ لم يضحكْ.. رأى في عينيْ تلميذِهِ ذلكَ الفراغَ الذي تركتْهُ الحربُ.  </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Aft>
                <a:spcPts val="800"/>
              </a:spcAft>
              <a:buNone/>
            </a:pPr>
            <a:r>
              <a:rPr lang="ar-SA" sz="1800" b="1" dirty="0">
                <a:effectLst/>
                <a:latin typeface="Calibri" panose="020F0502020204030204" pitchFamily="34" charset="0"/>
                <a:ea typeface="Calibri" panose="020F0502020204030204" pitchFamily="34" charset="0"/>
                <a:cs typeface="Sakkal Majalla" panose="02000000000000000000" pitchFamily="2" charset="-78"/>
              </a:rPr>
              <a:t>ذلكَ المساءَ، بينما كانَ (</a:t>
            </a:r>
            <a:r>
              <a:rPr lang="ar-SA" sz="1800" b="1" dirty="0" err="1">
                <a:effectLst/>
                <a:latin typeface="Calibri" panose="020F0502020204030204" pitchFamily="34" charset="0"/>
                <a:ea typeface="Calibri" panose="020F0502020204030204" pitchFamily="34" charset="0"/>
                <a:cs typeface="Sakkal Majalla" panose="02000000000000000000" pitchFamily="2" charset="-78"/>
              </a:rPr>
              <a:t>بييرو</a:t>
            </a:r>
            <a:r>
              <a:rPr lang="ar-SA" sz="1800" b="1" dirty="0">
                <a:effectLst/>
                <a:latin typeface="Calibri" panose="020F0502020204030204" pitchFamily="34" charset="0"/>
                <a:ea typeface="Calibri" panose="020F0502020204030204" pitchFamily="34" charset="0"/>
                <a:cs typeface="Sakkal Majalla" panose="02000000000000000000" pitchFamily="2" charset="-78"/>
              </a:rPr>
              <a:t>) يتلمَّسُ طريقَهُ بحائطِ المخبزِ، سمعَ أنينًا يأتي منَ الداخلِ. وجدَ السيدَ (</a:t>
            </a:r>
            <a:r>
              <a:rPr lang="ar-SA" sz="1800" b="1" dirty="0" err="1">
                <a:effectLst/>
                <a:latin typeface="Calibri" panose="020F0502020204030204" pitchFamily="34" charset="0"/>
                <a:ea typeface="Calibri" panose="020F0502020204030204" pitchFamily="34" charset="0"/>
                <a:cs typeface="Sakkal Majalla" panose="02000000000000000000" pitchFamily="2" charset="-78"/>
              </a:rPr>
              <a:t>لوبير</a:t>
            </a:r>
            <a:r>
              <a:rPr lang="ar-SA" sz="1800" b="1" dirty="0">
                <a:effectLst/>
                <a:latin typeface="Calibri" panose="020F0502020204030204" pitchFamily="34" charset="0"/>
                <a:ea typeface="Calibri" panose="020F0502020204030204" pitchFamily="34" charset="0"/>
                <a:cs typeface="Sakkal Majalla" panose="02000000000000000000" pitchFamily="2" charset="-78"/>
              </a:rPr>
              <a:t>) منحنيًا على جرحٍ نازفٍ في ساقِهِ، وجهُهُ الأصفرُ يلمعُ تحتَ ضوءِ القمرِ.  </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Aft>
                <a:spcPts val="800"/>
              </a:spcAft>
              <a:buNone/>
            </a:pPr>
            <a:r>
              <a:rPr lang="ar-SA" sz="1800" b="1" dirty="0">
                <a:effectLst/>
                <a:latin typeface="Calibri" panose="020F0502020204030204" pitchFamily="34" charset="0"/>
                <a:ea typeface="Calibri" panose="020F0502020204030204" pitchFamily="34" charset="0"/>
                <a:cs typeface="Sakkal Majalla" panose="02000000000000000000" pitchFamily="2" charset="-78"/>
              </a:rPr>
              <a:t>"ا... اذهبْ بعيدًا!" زمجرَ الرجلُ، لكنَّ صوتَهُ كانَ ضعيفًا هذه المرةَ.  </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6BDC957B-09CB-0750-89B6-82F752D5157B}"/>
              </a:ext>
            </a:extLst>
          </p:cNvPr>
          <p:cNvPicPr>
            <a:picLocks noChangeAspect="1"/>
          </p:cNvPicPr>
          <p:nvPr/>
        </p:nvPicPr>
        <p:blipFill>
          <a:blip r:embed="rId6"/>
          <a:stretch>
            <a:fillRect/>
          </a:stretch>
        </p:blipFill>
        <p:spPr>
          <a:xfrm>
            <a:off x="1390797" y="2700759"/>
            <a:ext cx="2497983" cy="584773"/>
          </a:xfrm>
          <a:prstGeom prst="rect">
            <a:avLst/>
          </a:prstGeom>
        </p:spPr>
      </p:pic>
      <p:pic>
        <p:nvPicPr>
          <p:cNvPr id="13" name="Picture 2" descr="11 بديلا صحيا للخبز | أسلوب حياة | الجزيرة نت">
            <a:extLst>
              <a:ext uri="{FF2B5EF4-FFF2-40B4-BE49-F238E27FC236}">
                <a16:creationId xmlns:a16="http://schemas.microsoft.com/office/drawing/2014/main" id="{C3E9955A-4536-F5A6-E1ED-88B795442CD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3226" y="1897338"/>
            <a:ext cx="1687767" cy="836008"/>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82462CDA-1B89-6B5E-E8EE-9392E10436EB}"/>
              </a:ext>
            </a:extLst>
          </p:cNvPr>
          <p:cNvSpPr txBox="1"/>
          <p:nvPr/>
        </p:nvSpPr>
        <p:spPr>
          <a:xfrm>
            <a:off x="474646" y="6351069"/>
            <a:ext cx="5205483" cy="400110"/>
          </a:xfrm>
          <a:prstGeom prst="rect">
            <a:avLst/>
          </a:prstGeom>
          <a:noFill/>
        </p:spPr>
        <p:txBody>
          <a:bodyPr wrap="square" rtlCol="0">
            <a:spAutoFit/>
          </a:bodyPr>
          <a:lstStyle/>
          <a:p>
            <a:r>
              <a:rPr lang="ar-SA" sz="2000" b="1" dirty="0">
                <a:solidFill>
                  <a:srgbClr val="CB6792"/>
                </a:solidFill>
              </a:rPr>
              <a:t>إعداد... أ: شيخة السويدي</a:t>
            </a:r>
            <a:endParaRPr lang="en-US" sz="2000" b="1" dirty="0">
              <a:solidFill>
                <a:srgbClr val="CB6792"/>
              </a:solidFill>
            </a:endParaRPr>
          </a:p>
        </p:txBody>
      </p:sp>
    </p:spTree>
    <p:extLst>
      <p:ext uri="{BB962C8B-B14F-4D97-AF65-F5344CB8AC3E}">
        <p14:creationId xmlns:p14="http://schemas.microsoft.com/office/powerpoint/2010/main" val="17903192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2CDF5-E381-4B8C-6E9B-29EE73E62020}"/>
            </a:ext>
          </a:extLst>
        </p:cNvPr>
        <p:cNvGrpSpPr/>
        <p:nvPr/>
      </p:nvGrpSpPr>
      <p:grpSpPr>
        <a:xfrm>
          <a:off x="0" y="0"/>
          <a:ext cx="0" cy="0"/>
          <a:chOff x="0" y="0"/>
          <a:chExt cx="0" cy="0"/>
        </a:xfrm>
      </p:grpSpPr>
      <p:pic>
        <p:nvPicPr>
          <p:cNvPr id="5" name="Picture 4" descr="A logo with a feather and a book&#10;&#10;AI-generated content may be incorrect.">
            <a:extLst>
              <a:ext uri="{FF2B5EF4-FFF2-40B4-BE49-F238E27FC236}">
                <a16:creationId xmlns:a16="http://schemas.microsoft.com/office/drawing/2014/main" id="{50B92EA0-C1E3-942C-C4F4-4F13B1BC5BB4}"/>
              </a:ext>
            </a:extLst>
          </p:cNvPr>
          <p:cNvPicPr>
            <a:picLocks noChangeAspect="1"/>
          </p:cNvPicPr>
          <p:nvPr/>
        </p:nvPicPr>
        <p:blipFill>
          <a:blip r:embed="rId3">
            <a:extLst>
              <a:ext uri="{28A0092B-C50C-407E-A947-70E740481C1C}">
                <a14:useLocalDpi xmlns:a14="http://schemas.microsoft.com/office/drawing/2010/main" val="0"/>
              </a:ext>
            </a:extLst>
          </a:blip>
          <a:srcRect t="18752" r="-1" b="-1"/>
          <a:stretch>
            <a:fillRect/>
          </a:stretch>
        </p:blipFill>
        <p:spPr>
          <a:xfrm>
            <a:off x="3068" y="9"/>
            <a:ext cx="12188932" cy="2011073"/>
          </a:xfrm>
          <a:prstGeom prst="rect">
            <a:avLst/>
          </a:prstGeom>
        </p:spPr>
      </p:pic>
      <p:sp>
        <p:nvSpPr>
          <p:cNvPr id="9" name="TextBox 8">
            <a:extLst>
              <a:ext uri="{FF2B5EF4-FFF2-40B4-BE49-F238E27FC236}">
                <a16:creationId xmlns:a16="http://schemas.microsoft.com/office/drawing/2014/main" id="{40A25825-8327-6275-BB94-6E04C34967B0}"/>
              </a:ext>
            </a:extLst>
          </p:cNvPr>
          <p:cNvSpPr txBox="1"/>
          <p:nvPr/>
        </p:nvSpPr>
        <p:spPr>
          <a:xfrm>
            <a:off x="9957661" y="309966"/>
            <a:ext cx="1914041" cy="369332"/>
          </a:xfrm>
          <a:prstGeom prst="rect">
            <a:avLst/>
          </a:prstGeom>
          <a:noFill/>
        </p:spPr>
        <p:txBody>
          <a:bodyPr wrap="square" rtlCol="0">
            <a:spAutoFit/>
          </a:bodyPr>
          <a:lstStyle/>
          <a:p>
            <a:r>
              <a:rPr lang="ar-SA" dirty="0"/>
              <a:t>مدرسة الشوامخ ح2-3</a:t>
            </a:r>
            <a:endParaRPr lang="en-US" dirty="0"/>
          </a:p>
        </p:txBody>
      </p:sp>
      <p:pic>
        <p:nvPicPr>
          <p:cNvPr id="11" name="Picture 10" descr="التربية والتعليم» تعلن هويتها المرئية الجديدة | صحيفة الخليج">
            <a:extLst>
              <a:ext uri="{FF2B5EF4-FFF2-40B4-BE49-F238E27FC236}">
                <a16:creationId xmlns:a16="http://schemas.microsoft.com/office/drawing/2014/main" id="{03ECD96E-4A48-0351-596C-8A2A888CC05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28" y="0"/>
            <a:ext cx="1393825" cy="950595"/>
          </a:xfrm>
          <a:prstGeom prst="rect">
            <a:avLst/>
          </a:prstGeom>
          <a:noFill/>
          <a:ln>
            <a:noFill/>
          </a:ln>
        </p:spPr>
      </p:pic>
      <p:cxnSp>
        <p:nvCxnSpPr>
          <p:cNvPr id="26" name="Straight Connector 25">
            <a:extLst>
              <a:ext uri="{FF2B5EF4-FFF2-40B4-BE49-F238E27FC236}">
                <a16:creationId xmlns:a16="http://schemas.microsoft.com/office/drawing/2014/main" id="{8ECB9833-77B7-8361-9BF1-8EF6F75D6778}"/>
              </a:ext>
            </a:extLst>
          </p:cNvPr>
          <p:cNvCxnSpPr>
            <a:cxnSpLocks/>
          </p:cNvCxnSpPr>
          <p:nvPr/>
        </p:nvCxnSpPr>
        <p:spPr>
          <a:xfrm>
            <a:off x="5680129" y="1995639"/>
            <a:ext cx="0" cy="412213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7" name="Arrow: Left 36">
            <a:extLst>
              <a:ext uri="{FF2B5EF4-FFF2-40B4-BE49-F238E27FC236}">
                <a16:creationId xmlns:a16="http://schemas.microsoft.com/office/drawing/2014/main" id="{F14BE59B-C221-80F8-DF01-642CDF66DF24}"/>
              </a:ext>
            </a:extLst>
          </p:cNvPr>
          <p:cNvSpPr/>
          <p:nvPr/>
        </p:nvSpPr>
        <p:spPr>
          <a:xfrm>
            <a:off x="4172062" y="2758094"/>
            <a:ext cx="1317481" cy="584773"/>
          </a:xfrm>
          <a:prstGeom prst="lef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ar-SA" b="1" dirty="0"/>
              <a:t>المهارة</a:t>
            </a:r>
            <a:endParaRPr lang="en-US" b="1" dirty="0"/>
          </a:p>
        </p:txBody>
      </p:sp>
      <p:sp>
        <p:nvSpPr>
          <p:cNvPr id="46" name="TextBox 45">
            <a:extLst>
              <a:ext uri="{FF2B5EF4-FFF2-40B4-BE49-F238E27FC236}">
                <a16:creationId xmlns:a16="http://schemas.microsoft.com/office/drawing/2014/main" id="{B7D31458-8B8C-4802-2600-8EFDAB259C7F}"/>
              </a:ext>
            </a:extLst>
          </p:cNvPr>
          <p:cNvSpPr txBox="1"/>
          <p:nvPr/>
        </p:nvSpPr>
        <p:spPr>
          <a:xfrm>
            <a:off x="-60971" y="3354277"/>
            <a:ext cx="5580858" cy="3718134"/>
          </a:xfrm>
          <a:prstGeom prst="rect">
            <a:avLst/>
          </a:prstGeom>
          <a:noFill/>
        </p:spPr>
        <p:txBody>
          <a:bodyPr wrap="square">
            <a:spAutoFit/>
          </a:bodyPr>
          <a:lstStyle/>
          <a:p>
            <a:pPr algn="r" rtl="1">
              <a:lnSpc>
                <a:spcPct val="115000"/>
              </a:lnSpc>
              <a:spcAft>
                <a:spcPts val="800"/>
              </a:spcAft>
            </a:pPr>
            <a:r>
              <a:rPr lang="ar-SA" sz="1600" b="1" dirty="0">
                <a:solidFill>
                  <a:srgbClr val="C00000"/>
                </a:solidFill>
              </a:rPr>
              <a:t>16- </a:t>
            </a:r>
            <a:r>
              <a:rPr lang="ar-SA" sz="2000" b="1" dirty="0">
                <a:solidFill>
                  <a:srgbClr val="C00000"/>
                </a:solidFill>
              </a:rPr>
              <a:t>الميزان الصرفي  الصحيح لكلمة  مهزومة هي  </a:t>
            </a:r>
            <a:r>
              <a:rPr lang="ar-SA" b="1" dirty="0">
                <a:solidFill>
                  <a:srgbClr val="C00000"/>
                </a:solidFill>
              </a:rPr>
              <a:t>:</a:t>
            </a:r>
          </a:p>
          <a:p>
            <a:pPr algn="r" rtl="1">
              <a:lnSpc>
                <a:spcPct val="115000"/>
              </a:lnSpc>
              <a:spcAft>
                <a:spcPts val="800"/>
              </a:spcAft>
            </a:pPr>
            <a:r>
              <a:rPr lang="ar-SA" sz="2400" b="1" dirty="0">
                <a:solidFill>
                  <a:schemeClr val="tx2"/>
                </a:solidFill>
                <a:highlight>
                  <a:srgbClr val="00FFFF"/>
                </a:highlight>
              </a:rPr>
              <a:t>أ- </a:t>
            </a:r>
            <a:r>
              <a:rPr lang="ar-SA" dirty="0">
                <a:highlight>
                  <a:srgbClr val="00FFFF"/>
                </a:highlight>
              </a:rPr>
              <a:t>مفعولة</a:t>
            </a:r>
            <a:endParaRPr lang="en-US" sz="2000" dirty="0">
              <a:solidFill>
                <a:schemeClr val="tx2"/>
              </a:solidFill>
              <a:highlight>
                <a:srgbClr val="00FFFF"/>
              </a:highlight>
            </a:endParaRPr>
          </a:p>
          <a:p>
            <a:pPr algn="r" rtl="1">
              <a:lnSpc>
                <a:spcPct val="115000"/>
              </a:lnSpc>
              <a:spcAft>
                <a:spcPts val="800"/>
              </a:spcAft>
            </a:pPr>
            <a:r>
              <a:rPr lang="ar-SA" sz="2400" b="1" dirty="0">
                <a:solidFill>
                  <a:schemeClr val="tx2"/>
                </a:solidFill>
              </a:rPr>
              <a:t>ب- </a:t>
            </a:r>
            <a:r>
              <a:rPr lang="ar-SA" dirty="0"/>
              <a:t>مفاعيل</a:t>
            </a:r>
          </a:p>
          <a:p>
            <a:pPr algn="r" rtl="1">
              <a:lnSpc>
                <a:spcPct val="115000"/>
              </a:lnSpc>
              <a:spcAft>
                <a:spcPts val="800"/>
              </a:spcAft>
            </a:pPr>
            <a:r>
              <a:rPr lang="ar-SA" dirty="0"/>
              <a:t>ت- </a:t>
            </a:r>
            <a:r>
              <a:rPr lang="ar-SA" dirty="0" err="1"/>
              <a:t>فعللة</a:t>
            </a:r>
            <a:r>
              <a:rPr lang="ar-SA" dirty="0"/>
              <a:t> </a:t>
            </a:r>
            <a:endParaRPr lang="en-US" sz="2000" dirty="0">
              <a:solidFill>
                <a:schemeClr val="tx2"/>
              </a:solidFill>
              <a:highlight>
                <a:srgbClr val="00FFFF"/>
              </a:highlight>
            </a:endParaRPr>
          </a:p>
          <a:p>
            <a:pPr algn="r" rtl="1">
              <a:lnSpc>
                <a:spcPct val="115000"/>
              </a:lnSpc>
              <a:spcAft>
                <a:spcPts val="800"/>
              </a:spcAft>
            </a:pPr>
            <a:r>
              <a:rPr lang="ar-SA" sz="2000" dirty="0">
                <a:solidFill>
                  <a:schemeClr val="tx2"/>
                </a:solidFill>
              </a:rPr>
              <a:t>ث-</a:t>
            </a:r>
            <a:r>
              <a:rPr lang="ar-SA" sz="2000" b="1" dirty="0">
                <a:effectLst/>
                <a:latin typeface="Calibri" panose="020F0502020204030204" pitchFamily="34" charset="0"/>
                <a:ea typeface="Calibri" panose="020F0502020204030204" pitchFamily="34" charset="0"/>
                <a:cs typeface="Sakkal Majalla" panose="02000000000000000000" pitchFamily="2" charset="-78"/>
              </a:rPr>
              <a:t> </a:t>
            </a:r>
            <a:r>
              <a:rPr lang="ar-SA" dirty="0"/>
              <a:t>مفعول</a:t>
            </a:r>
            <a:endParaRPr lang="en-US" dirty="0"/>
          </a:p>
          <a:p>
            <a:pPr algn="r" rtl="1">
              <a:lnSpc>
                <a:spcPct val="115000"/>
              </a:lnSpc>
              <a:spcAft>
                <a:spcPts val="800"/>
              </a:spcAft>
            </a:pPr>
            <a:endParaRPr lang="ar-SA" sz="2000" b="1" dirty="0">
              <a:effectLst/>
              <a:latin typeface="Calibri" panose="020F0502020204030204" pitchFamily="34" charset="0"/>
              <a:ea typeface="Calibri" panose="020F0502020204030204" pitchFamily="34" charset="0"/>
              <a:cs typeface="Sakkal Majalla" panose="02000000000000000000" pitchFamily="2" charset="-78"/>
            </a:endParaRPr>
          </a:p>
          <a:p>
            <a:pPr algn="r" rtl="1">
              <a:lnSpc>
                <a:spcPct val="115000"/>
              </a:lnSpc>
              <a:spcAft>
                <a:spcPts val="800"/>
              </a:spcAft>
            </a:pPr>
            <a:r>
              <a:rPr lang="ar-SA" sz="2000" dirty="0">
                <a:solidFill>
                  <a:srgbClr val="C00000"/>
                </a:solidFill>
              </a:rPr>
              <a:t> </a:t>
            </a:r>
            <a:endParaRPr lang="en-US" sz="2000" dirty="0">
              <a:solidFill>
                <a:srgbClr val="C00000"/>
              </a:solidFill>
            </a:endParaRPr>
          </a:p>
          <a:p>
            <a:pPr algn="r" rtl="1">
              <a:lnSpc>
                <a:spcPct val="115000"/>
              </a:lnSpc>
              <a:spcAft>
                <a:spcPts val="800"/>
              </a:spcAft>
            </a:pPr>
            <a:endParaRPr lang="ar-SA" sz="2000" b="1" dirty="0">
              <a:solidFill>
                <a:srgbClr val="C00000"/>
              </a:solidFill>
            </a:endParaRPr>
          </a:p>
        </p:txBody>
      </p:sp>
      <p:sp>
        <p:nvSpPr>
          <p:cNvPr id="7" name="TextBox 6">
            <a:extLst>
              <a:ext uri="{FF2B5EF4-FFF2-40B4-BE49-F238E27FC236}">
                <a16:creationId xmlns:a16="http://schemas.microsoft.com/office/drawing/2014/main" id="{458B4F0F-10CF-C120-9946-C3A8BF7BEDD9}"/>
              </a:ext>
            </a:extLst>
          </p:cNvPr>
          <p:cNvSpPr txBox="1"/>
          <p:nvPr/>
        </p:nvSpPr>
        <p:spPr>
          <a:xfrm>
            <a:off x="4294958" y="1872583"/>
            <a:ext cx="6449784" cy="276999"/>
          </a:xfrm>
          <a:prstGeom prst="rect">
            <a:avLst/>
          </a:prstGeom>
          <a:noFill/>
        </p:spPr>
        <p:txBody>
          <a:bodyPr wrap="square">
            <a:spAutoFit/>
          </a:bodyPr>
          <a:lstStyle/>
          <a:p>
            <a:r>
              <a:rPr lang="ar-SA" sz="1200" b="1" i="0" u="none" strike="noStrike" baseline="0" dirty="0">
                <a:highlight>
                  <a:srgbClr val="00FF00"/>
                </a:highlight>
                <a:latin typeface="SakkalMajalla-Bold"/>
              </a:rPr>
              <a:t>نص سردي خارجيٌّ</a:t>
            </a:r>
            <a:endParaRPr lang="en-US" sz="3600" b="1" dirty="0">
              <a:highlight>
                <a:srgbClr val="00FF00"/>
              </a:highlight>
            </a:endParaRPr>
          </a:p>
        </p:txBody>
      </p:sp>
      <p:pic>
        <p:nvPicPr>
          <p:cNvPr id="4" name="Picture 3">
            <a:extLst>
              <a:ext uri="{FF2B5EF4-FFF2-40B4-BE49-F238E27FC236}">
                <a16:creationId xmlns:a16="http://schemas.microsoft.com/office/drawing/2014/main" id="{AE3C5732-F373-4276-4E76-CEEC8EBF09A9}"/>
              </a:ext>
            </a:extLst>
          </p:cNvPr>
          <p:cNvPicPr>
            <a:picLocks noChangeAspect="1"/>
          </p:cNvPicPr>
          <p:nvPr/>
        </p:nvPicPr>
        <p:blipFill>
          <a:blip r:embed="rId5"/>
          <a:stretch>
            <a:fillRect/>
          </a:stretch>
        </p:blipFill>
        <p:spPr>
          <a:xfrm>
            <a:off x="3719393" y="2205135"/>
            <a:ext cx="1817260" cy="426879"/>
          </a:xfrm>
          <a:prstGeom prst="rect">
            <a:avLst/>
          </a:prstGeom>
        </p:spPr>
      </p:pic>
      <p:pic>
        <p:nvPicPr>
          <p:cNvPr id="6" name="Picture 5">
            <a:extLst>
              <a:ext uri="{FF2B5EF4-FFF2-40B4-BE49-F238E27FC236}">
                <a16:creationId xmlns:a16="http://schemas.microsoft.com/office/drawing/2014/main" id="{9D8E7722-2282-5395-3478-891542D177AA}"/>
              </a:ext>
            </a:extLst>
          </p:cNvPr>
          <p:cNvPicPr>
            <a:picLocks noChangeAspect="1"/>
          </p:cNvPicPr>
          <p:nvPr/>
        </p:nvPicPr>
        <p:blipFill>
          <a:blip r:embed="rId6"/>
          <a:stretch>
            <a:fillRect/>
          </a:stretch>
        </p:blipFill>
        <p:spPr>
          <a:xfrm>
            <a:off x="1299992" y="2631830"/>
            <a:ext cx="2636028" cy="584773"/>
          </a:xfrm>
          <a:prstGeom prst="rect">
            <a:avLst/>
          </a:prstGeom>
        </p:spPr>
      </p:pic>
      <p:sp>
        <p:nvSpPr>
          <p:cNvPr id="12" name="TextBox 11">
            <a:extLst>
              <a:ext uri="{FF2B5EF4-FFF2-40B4-BE49-F238E27FC236}">
                <a16:creationId xmlns:a16="http://schemas.microsoft.com/office/drawing/2014/main" id="{B645CC52-1797-F870-8C4C-A4ACB304062E}"/>
              </a:ext>
            </a:extLst>
          </p:cNvPr>
          <p:cNvSpPr txBox="1"/>
          <p:nvPr/>
        </p:nvSpPr>
        <p:spPr>
          <a:xfrm>
            <a:off x="5840372" y="2256672"/>
            <a:ext cx="6130886" cy="3253968"/>
          </a:xfrm>
          <a:prstGeom prst="rect">
            <a:avLst/>
          </a:prstGeom>
          <a:noFill/>
        </p:spPr>
        <p:txBody>
          <a:bodyPr wrap="square">
            <a:spAutoFit/>
          </a:bodyPr>
          <a:lstStyle/>
          <a:p>
            <a:pPr marL="0" marR="0" algn="r" rtl="1">
              <a:lnSpc>
                <a:spcPct val="107000"/>
              </a:lnSpc>
              <a:spcAft>
                <a:spcPts val="800"/>
              </a:spcAft>
              <a:buNone/>
            </a:pPr>
            <a:r>
              <a:rPr lang="ar-SA" sz="3200" b="1" dirty="0">
                <a:effectLst/>
                <a:latin typeface="Calibri" panose="020F0502020204030204" pitchFamily="34" charset="0"/>
                <a:ea typeface="Calibri" panose="020F0502020204030204" pitchFamily="34" charset="0"/>
                <a:cs typeface="Sakkal Majalla" panose="02000000000000000000" pitchFamily="2" charset="-78"/>
              </a:rPr>
              <a:t>لم تَسِرِ الأمورُ  كما تمنى الصبِي (</a:t>
            </a:r>
            <a:r>
              <a:rPr lang="ar-SA" sz="3200" b="1" dirty="0" err="1">
                <a:effectLst/>
                <a:latin typeface="Calibri" panose="020F0502020204030204" pitchFamily="34" charset="0"/>
                <a:ea typeface="Calibri" panose="020F0502020204030204" pitchFamily="34" charset="0"/>
                <a:cs typeface="Sakkal Majalla" panose="02000000000000000000" pitchFamily="2" charset="-78"/>
              </a:rPr>
              <a:t>بييرو</a:t>
            </a:r>
            <a:r>
              <a:rPr lang="ar-SA" sz="3200" b="1" dirty="0">
                <a:effectLst/>
                <a:latin typeface="Calibri" panose="020F0502020204030204" pitchFamily="34" charset="0"/>
                <a:ea typeface="Calibri" panose="020F0502020204030204" pitchFamily="34" charset="0"/>
                <a:cs typeface="Sakkal Majalla" panose="02000000000000000000" pitchFamily="2" charset="-78"/>
              </a:rPr>
              <a:t>) في ذلكَ الوقتِ منَ السَّنَةِ، كانتِ الجيوشُ تعودُ </a:t>
            </a:r>
            <a:r>
              <a:rPr lang="ar-SA" sz="3200" b="1" dirty="0">
                <a:effectLst/>
                <a:highlight>
                  <a:srgbClr val="00FFFF"/>
                </a:highlight>
                <a:latin typeface="Calibri" panose="020F0502020204030204" pitchFamily="34" charset="0"/>
                <a:ea typeface="Calibri" panose="020F0502020204030204" pitchFamily="34" charset="0"/>
                <a:cs typeface="Sakkal Majalla" panose="02000000000000000000" pitchFamily="2" charset="-78"/>
              </a:rPr>
              <a:t>مهزومَةً</a:t>
            </a:r>
            <a:r>
              <a:rPr lang="ar-SA" sz="3200" b="1" dirty="0">
                <a:effectLst/>
                <a:latin typeface="Calibri" panose="020F0502020204030204" pitchFamily="34" charset="0"/>
                <a:ea typeface="Calibri" panose="020F0502020204030204" pitchFamily="34" charset="0"/>
                <a:cs typeface="Sakkal Majalla" panose="02000000000000000000" pitchFamily="2" charset="-78"/>
              </a:rPr>
              <a:t> من أرضٍ بعيدَةٍ، ولم يكُن أَبوهُ من بينِ الجموعِ التي كانتْ تعودُ بجراحٍ وقصصٍ مُرَّةٍ سيحكونَها لمنْ ينتظرونهُمْ، أمّا (</a:t>
            </a:r>
            <a:r>
              <a:rPr lang="ar-SA" sz="3200" b="1" dirty="0" err="1">
                <a:effectLst/>
                <a:latin typeface="Calibri" panose="020F0502020204030204" pitchFamily="34" charset="0"/>
                <a:ea typeface="Calibri" panose="020F0502020204030204" pitchFamily="34" charset="0"/>
                <a:cs typeface="Sakkal Majalla" panose="02000000000000000000" pitchFamily="2" charset="-78"/>
              </a:rPr>
              <a:t>بييرو</a:t>
            </a:r>
            <a:r>
              <a:rPr lang="ar-SA" sz="3200" b="1" dirty="0">
                <a:effectLst/>
                <a:latin typeface="Calibri" panose="020F0502020204030204" pitchFamily="34" charset="0"/>
                <a:ea typeface="Calibri" panose="020F0502020204030204" pitchFamily="34" charset="0"/>
                <a:cs typeface="Sakkal Majalla" panose="02000000000000000000" pitchFamily="2" charset="-78"/>
              </a:rPr>
              <a:t>) وأُمُّهُ فقد كانا ينتظرانِ منْ لنْ يأتِيَ، ولم يكُنِ الأمرُ سهلًا أبدًا.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3" name="Picture 2" descr="11 بديلا صحيا للخبز | أسلوب حياة | الجزيرة نت">
            <a:extLst>
              <a:ext uri="{FF2B5EF4-FFF2-40B4-BE49-F238E27FC236}">
                <a16:creationId xmlns:a16="http://schemas.microsoft.com/office/drawing/2014/main" id="{87B6756F-9C94-7B2B-924E-D8AAAB98E8A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3226" y="1897338"/>
            <a:ext cx="1687767" cy="836008"/>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DF7AF53B-08CF-C9A8-8556-828FD5A71721}"/>
              </a:ext>
            </a:extLst>
          </p:cNvPr>
          <p:cNvSpPr txBox="1"/>
          <p:nvPr/>
        </p:nvSpPr>
        <p:spPr>
          <a:xfrm>
            <a:off x="474646" y="6351069"/>
            <a:ext cx="5205483" cy="400110"/>
          </a:xfrm>
          <a:prstGeom prst="rect">
            <a:avLst/>
          </a:prstGeom>
          <a:noFill/>
        </p:spPr>
        <p:txBody>
          <a:bodyPr wrap="square" rtlCol="0">
            <a:spAutoFit/>
          </a:bodyPr>
          <a:lstStyle/>
          <a:p>
            <a:r>
              <a:rPr lang="ar-SA" sz="2000" b="1" dirty="0">
                <a:solidFill>
                  <a:srgbClr val="CB6792"/>
                </a:solidFill>
              </a:rPr>
              <a:t>إعداد... أ: شيخة السويدي</a:t>
            </a:r>
            <a:endParaRPr lang="en-US" sz="2000" b="1" dirty="0">
              <a:solidFill>
                <a:srgbClr val="CB6792"/>
              </a:solidFill>
            </a:endParaRPr>
          </a:p>
        </p:txBody>
      </p:sp>
    </p:spTree>
    <p:extLst>
      <p:ext uri="{BB962C8B-B14F-4D97-AF65-F5344CB8AC3E}">
        <p14:creationId xmlns:p14="http://schemas.microsoft.com/office/powerpoint/2010/main" val="20555478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98E0A-171D-7E00-6984-3CFC3D61D31B}"/>
            </a:ext>
          </a:extLst>
        </p:cNvPr>
        <p:cNvGrpSpPr/>
        <p:nvPr/>
      </p:nvGrpSpPr>
      <p:grpSpPr>
        <a:xfrm>
          <a:off x="0" y="0"/>
          <a:ext cx="0" cy="0"/>
          <a:chOff x="0" y="0"/>
          <a:chExt cx="0" cy="0"/>
        </a:xfrm>
      </p:grpSpPr>
      <p:pic>
        <p:nvPicPr>
          <p:cNvPr id="5" name="Picture 4" descr="A logo with a feather and a book&#10;&#10;AI-generated content may be incorrect.">
            <a:extLst>
              <a:ext uri="{FF2B5EF4-FFF2-40B4-BE49-F238E27FC236}">
                <a16:creationId xmlns:a16="http://schemas.microsoft.com/office/drawing/2014/main" id="{F83D1ADF-263F-3A91-74AD-9FB70413ADD7}"/>
              </a:ext>
            </a:extLst>
          </p:cNvPr>
          <p:cNvPicPr>
            <a:picLocks noChangeAspect="1"/>
          </p:cNvPicPr>
          <p:nvPr/>
        </p:nvPicPr>
        <p:blipFill>
          <a:blip r:embed="rId3">
            <a:extLst>
              <a:ext uri="{28A0092B-C50C-407E-A947-70E740481C1C}">
                <a14:useLocalDpi xmlns:a14="http://schemas.microsoft.com/office/drawing/2010/main" val="0"/>
              </a:ext>
            </a:extLst>
          </a:blip>
          <a:srcRect t="18752" r="-1" b="-1"/>
          <a:stretch>
            <a:fillRect/>
          </a:stretch>
        </p:blipFill>
        <p:spPr>
          <a:xfrm>
            <a:off x="3068" y="9"/>
            <a:ext cx="12188932" cy="2011073"/>
          </a:xfrm>
          <a:prstGeom prst="rect">
            <a:avLst/>
          </a:prstGeom>
        </p:spPr>
      </p:pic>
      <p:sp>
        <p:nvSpPr>
          <p:cNvPr id="9" name="TextBox 8">
            <a:extLst>
              <a:ext uri="{FF2B5EF4-FFF2-40B4-BE49-F238E27FC236}">
                <a16:creationId xmlns:a16="http://schemas.microsoft.com/office/drawing/2014/main" id="{C8842EAE-B241-E5B8-9AC6-C7BD89F7AC6D}"/>
              </a:ext>
            </a:extLst>
          </p:cNvPr>
          <p:cNvSpPr txBox="1"/>
          <p:nvPr/>
        </p:nvSpPr>
        <p:spPr>
          <a:xfrm>
            <a:off x="9957661" y="309966"/>
            <a:ext cx="1914041" cy="369332"/>
          </a:xfrm>
          <a:prstGeom prst="rect">
            <a:avLst/>
          </a:prstGeom>
          <a:noFill/>
        </p:spPr>
        <p:txBody>
          <a:bodyPr wrap="square" rtlCol="0">
            <a:spAutoFit/>
          </a:bodyPr>
          <a:lstStyle/>
          <a:p>
            <a:r>
              <a:rPr lang="ar-SA" dirty="0"/>
              <a:t>مدرسة الشوامخ ح2-3</a:t>
            </a:r>
            <a:endParaRPr lang="en-US" dirty="0"/>
          </a:p>
        </p:txBody>
      </p:sp>
      <p:pic>
        <p:nvPicPr>
          <p:cNvPr id="11" name="Picture 10" descr="التربية والتعليم» تعلن هويتها المرئية الجديدة | صحيفة الخليج">
            <a:extLst>
              <a:ext uri="{FF2B5EF4-FFF2-40B4-BE49-F238E27FC236}">
                <a16:creationId xmlns:a16="http://schemas.microsoft.com/office/drawing/2014/main" id="{A7837CE3-5CC5-78CD-AA91-94DAFFDD014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28" y="0"/>
            <a:ext cx="1393825" cy="950595"/>
          </a:xfrm>
          <a:prstGeom prst="rect">
            <a:avLst/>
          </a:prstGeom>
          <a:noFill/>
          <a:ln>
            <a:noFill/>
          </a:ln>
        </p:spPr>
      </p:pic>
      <p:cxnSp>
        <p:nvCxnSpPr>
          <p:cNvPr id="26" name="Straight Connector 25">
            <a:extLst>
              <a:ext uri="{FF2B5EF4-FFF2-40B4-BE49-F238E27FC236}">
                <a16:creationId xmlns:a16="http://schemas.microsoft.com/office/drawing/2014/main" id="{AA1F289F-CE61-2D7D-36A8-71C259CDD766}"/>
              </a:ext>
            </a:extLst>
          </p:cNvPr>
          <p:cNvCxnSpPr>
            <a:cxnSpLocks/>
          </p:cNvCxnSpPr>
          <p:nvPr/>
        </p:nvCxnSpPr>
        <p:spPr>
          <a:xfrm>
            <a:off x="5680129" y="1995639"/>
            <a:ext cx="0" cy="412213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7" name="Arrow: Left 36">
            <a:extLst>
              <a:ext uri="{FF2B5EF4-FFF2-40B4-BE49-F238E27FC236}">
                <a16:creationId xmlns:a16="http://schemas.microsoft.com/office/drawing/2014/main" id="{0465C509-919F-3A80-4336-C2B11EC4E9A0}"/>
              </a:ext>
            </a:extLst>
          </p:cNvPr>
          <p:cNvSpPr/>
          <p:nvPr/>
        </p:nvSpPr>
        <p:spPr>
          <a:xfrm>
            <a:off x="4172062" y="2758094"/>
            <a:ext cx="1317481" cy="584773"/>
          </a:xfrm>
          <a:prstGeom prst="lef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ar-SA" b="1" dirty="0"/>
              <a:t>المهارة</a:t>
            </a:r>
            <a:endParaRPr lang="en-US" b="1" dirty="0"/>
          </a:p>
        </p:txBody>
      </p:sp>
      <p:sp>
        <p:nvSpPr>
          <p:cNvPr id="46" name="TextBox 45">
            <a:extLst>
              <a:ext uri="{FF2B5EF4-FFF2-40B4-BE49-F238E27FC236}">
                <a16:creationId xmlns:a16="http://schemas.microsoft.com/office/drawing/2014/main" id="{584045FC-9140-626C-63B8-0BFA28FE9702}"/>
              </a:ext>
            </a:extLst>
          </p:cNvPr>
          <p:cNvSpPr txBox="1"/>
          <p:nvPr/>
        </p:nvSpPr>
        <p:spPr>
          <a:xfrm>
            <a:off x="-60971" y="3354277"/>
            <a:ext cx="5580858" cy="4139275"/>
          </a:xfrm>
          <a:prstGeom prst="rect">
            <a:avLst/>
          </a:prstGeom>
          <a:noFill/>
        </p:spPr>
        <p:txBody>
          <a:bodyPr wrap="square">
            <a:spAutoFit/>
          </a:bodyPr>
          <a:lstStyle/>
          <a:p>
            <a:pPr algn="r" rtl="1">
              <a:lnSpc>
                <a:spcPct val="115000"/>
              </a:lnSpc>
              <a:spcAft>
                <a:spcPts val="800"/>
              </a:spcAft>
            </a:pPr>
            <a:r>
              <a:rPr lang="ar-SA" sz="1600" b="1" dirty="0">
                <a:solidFill>
                  <a:srgbClr val="C00000"/>
                </a:solidFill>
              </a:rPr>
              <a:t>17- </a:t>
            </a:r>
            <a:r>
              <a:rPr lang="ar-SA" sz="2000" b="1" dirty="0">
                <a:solidFill>
                  <a:srgbClr val="C00000"/>
                </a:solidFill>
              </a:rPr>
              <a:t>تعرب كلمة ( المهدم ) في الجملة التالية </a:t>
            </a:r>
            <a:r>
              <a:rPr lang="ar-SA" b="1" dirty="0">
                <a:solidFill>
                  <a:srgbClr val="C00000"/>
                </a:solidFill>
              </a:rPr>
              <a:t>:</a:t>
            </a:r>
            <a:r>
              <a:rPr lang="ar-SA" dirty="0">
                <a:latin typeface="Calibri" panose="020F0502020204030204" pitchFamily="34" charset="0"/>
                <a:ea typeface="Calibri" panose="020F0502020204030204" pitchFamily="34" charset="0"/>
                <a:cs typeface="Sakkal Majalla" panose="02000000000000000000" pitchFamily="2" charset="-78"/>
              </a:rPr>
              <a:t> </a:t>
            </a:r>
          </a:p>
          <a:p>
            <a:pPr algn="r" rtl="1">
              <a:lnSpc>
                <a:spcPct val="115000"/>
              </a:lnSpc>
              <a:spcAft>
                <a:spcPts val="800"/>
              </a:spcAft>
            </a:pPr>
            <a:r>
              <a:rPr lang="ar-SA" dirty="0">
                <a:latin typeface="Calibri" panose="020F0502020204030204" pitchFamily="34" charset="0"/>
                <a:ea typeface="Calibri" panose="020F0502020204030204" pitchFamily="34" charset="0"/>
                <a:cs typeface="Sakkal Majalla" panose="02000000000000000000" pitchFamily="2" charset="-78"/>
              </a:rPr>
              <a:t>وعلى عتبةِ البيتِ </a:t>
            </a:r>
            <a:r>
              <a:rPr lang="ar-SA" u="sng" dirty="0">
                <a:latin typeface="Calibri" panose="020F0502020204030204" pitchFamily="34" charset="0"/>
                <a:ea typeface="Calibri" panose="020F0502020204030204" pitchFamily="34" charset="0"/>
                <a:cs typeface="Sakkal Majalla" panose="02000000000000000000" pitchFamily="2" charset="-78"/>
              </a:rPr>
              <a:t>المهدَّمِ</a:t>
            </a:r>
            <a:r>
              <a:rPr lang="ar-SA" dirty="0">
                <a:latin typeface="Calibri" panose="020F0502020204030204" pitchFamily="34" charset="0"/>
                <a:ea typeface="Calibri" panose="020F0502020204030204" pitchFamily="34" charset="0"/>
                <a:cs typeface="Sakkal Majalla" panose="02000000000000000000" pitchFamily="2" charset="-78"/>
              </a:rPr>
              <a:t> تقِفُ أمُّهُ منتظرةً</a:t>
            </a:r>
            <a:endParaRPr lang="ar-SA" b="1" dirty="0">
              <a:solidFill>
                <a:srgbClr val="C00000"/>
              </a:solidFill>
            </a:endParaRPr>
          </a:p>
          <a:p>
            <a:pPr algn="r" rtl="1">
              <a:lnSpc>
                <a:spcPct val="115000"/>
              </a:lnSpc>
              <a:spcAft>
                <a:spcPts val="800"/>
              </a:spcAft>
            </a:pPr>
            <a:r>
              <a:rPr lang="ar-SA" sz="2400" b="1" dirty="0">
                <a:solidFill>
                  <a:schemeClr val="tx2"/>
                </a:solidFill>
              </a:rPr>
              <a:t>أ- </a:t>
            </a:r>
            <a:r>
              <a:rPr lang="ar-SA" dirty="0"/>
              <a:t>مبتدأ مرفوع</a:t>
            </a:r>
            <a:endParaRPr lang="en-US" sz="2000" dirty="0">
              <a:solidFill>
                <a:schemeClr val="tx2"/>
              </a:solidFill>
            </a:endParaRPr>
          </a:p>
          <a:p>
            <a:pPr algn="r" rtl="1">
              <a:lnSpc>
                <a:spcPct val="115000"/>
              </a:lnSpc>
              <a:spcAft>
                <a:spcPts val="800"/>
              </a:spcAft>
            </a:pPr>
            <a:r>
              <a:rPr lang="ar-SA" sz="2400" b="1" dirty="0">
                <a:solidFill>
                  <a:schemeClr val="tx2"/>
                </a:solidFill>
              </a:rPr>
              <a:t>ب- </a:t>
            </a:r>
            <a:r>
              <a:rPr lang="ar-SA" dirty="0"/>
              <a:t>مضاف إليه مجرور</a:t>
            </a:r>
          </a:p>
          <a:p>
            <a:pPr algn="r" rtl="1">
              <a:lnSpc>
                <a:spcPct val="115000"/>
              </a:lnSpc>
              <a:spcAft>
                <a:spcPts val="800"/>
              </a:spcAft>
            </a:pPr>
            <a:r>
              <a:rPr lang="ar-SA" dirty="0">
                <a:highlight>
                  <a:srgbClr val="00FFFF"/>
                </a:highlight>
              </a:rPr>
              <a:t>ت- نعت مجرور</a:t>
            </a:r>
            <a:endParaRPr lang="en-US" sz="2000" dirty="0">
              <a:solidFill>
                <a:schemeClr val="tx2"/>
              </a:solidFill>
              <a:highlight>
                <a:srgbClr val="00FFFF"/>
              </a:highlight>
            </a:endParaRPr>
          </a:p>
          <a:p>
            <a:pPr algn="r" rtl="1">
              <a:lnSpc>
                <a:spcPct val="115000"/>
              </a:lnSpc>
              <a:spcAft>
                <a:spcPts val="800"/>
              </a:spcAft>
            </a:pPr>
            <a:r>
              <a:rPr lang="ar-SA" sz="2000" dirty="0">
                <a:solidFill>
                  <a:schemeClr val="tx2"/>
                </a:solidFill>
              </a:rPr>
              <a:t>ث-</a:t>
            </a:r>
            <a:r>
              <a:rPr lang="ar-SA" sz="2000" b="1" dirty="0">
                <a:effectLst/>
                <a:latin typeface="Calibri" panose="020F0502020204030204" pitchFamily="34" charset="0"/>
                <a:ea typeface="Calibri" panose="020F0502020204030204" pitchFamily="34" charset="0"/>
                <a:cs typeface="Sakkal Majalla" panose="02000000000000000000" pitchFamily="2" charset="-78"/>
              </a:rPr>
              <a:t> </a:t>
            </a:r>
            <a:r>
              <a:rPr lang="ar-SA" dirty="0"/>
              <a:t>مفعول به مجرور</a:t>
            </a:r>
            <a:endParaRPr lang="en-US" dirty="0"/>
          </a:p>
          <a:p>
            <a:pPr algn="r" rtl="1">
              <a:lnSpc>
                <a:spcPct val="115000"/>
              </a:lnSpc>
              <a:spcAft>
                <a:spcPts val="800"/>
              </a:spcAft>
            </a:pPr>
            <a:endParaRPr lang="ar-SA" sz="2000" b="1" dirty="0">
              <a:effectLst/>
              <a:latin typeface="Calibri" panose="020F0502020204030204" pitchFamily="34" charset="0"/>
              <a:ea typeface="Calibri" panose="020F0502020204030204" pitchFamily="34" charset="0"/>
              <a:cs typeface="Sakkal Majalla" panose="02000000000000000000" pitchFamily="2" charset="-78"/>
            </a:endParaRPr>
          </a:p>
          <a:p>
            <a:pPr algn="r" rtl="1">
              <a:lnSpc>
                <a:spcPct val="115000"/>
              </a:lnSpc>
              <a:spcAft>
                <a:spcPts val="800"/>
              </a:spcAft>
            </a:pPr>
            <a:r>
              <a:rPr lang="ar-SA" sz="2000" dirty="0">
                <a:solidFill>
                  <a:srgbClr val="C00000"/>
                </a:solidFill>
              </a:rPr>
              <a:t> </a:t>
            </a:r>
            <a:endParaRPr lang="en-US" sz="2000" dirty="0">
              <a:solidFill>
                <a:srgbClr val="C00000"/>
              </a:solidFill>
            </a:endParaRPr>
          </a:p>
          <a:p>
            <a:pPr algn="r" rtl="1">
              <a:lnSpc>
                <a:spcPct val="115000"/>
              </a:lnSpc>
              <a:spcAft>
                <a:spcPts val="800"/>
              </a:spcAft>
            </a:pPr>
            <a:endParaRPr lang="ar-SA" sz="2000" b="1" dirty="0">
              <a:solidFill>
                <a:srgbClr val="C00000"/>
              </a:solidFill>
            </a:endParaRPr>
          </a:p>
        </p:txBody>
      </p:sp>
      <p:sp>
        <p:nvSpPr>
          <p:cNvPr id="7" name="TextBox 6">
            <a:extLst>
              <a:ext uri="{FF2B5EF4-FFF2-40B4-BE49-F238E27FC236}">
                <a16:creationId xmlns:a16="http://schemas.microsoft.com/office/drawing/2014/main" id="{0DDAB2C7-A4FE-8C19-C329-6D9A615E860A}"/>
              </a:ext>
            </a:extLst>
          </p:cNvPr>
          <p:cNvSpPr txBox="1"/>
          <p:nvPr/>
        </p:nvSpPr>
        <p:spPr>
          <a:xfrm>
            <a:off x="4294958" y="1872583"/>
            <a:ext cx="6449784" cy="276999"/>
          </a:xfrm>
          <a:prstGeom prst="rect">
            <a:avLst/>
          </a:prstGeom>
          <a:noFill/>
        </p:spPr>
        <p:txBody>
          <a:bodyPr wrap="square">
            <a:spAutoFit/>
          </a:bodyPr>
          <a:lstStyle/>
          <a:p>
            <a:r>
              <a:rPr lang="ar-SA" sz="1200" b="1" i="0" u="none" strike="noStrike" baseline="0" dirty="0">
                <a:highlight>
                  <a:srgbClr val="00FF00"/>
                </a:highlight>
                <a:latin typeface="SakkalMajalla-Bold"/>
              </a:rPr>
              <a:t>نص سردي خارجيٌّ</a:t>
            </a:r>
            <a:endParaRPr lang="en-US" sz="3600" b="1" dirty="0">
              <a:highlight>
                <a:srgbClr val="00FF00"/>
              </a:highlight>
            </a:endParaRPr>
          </a:p>
        </p:txBody>
      </p:sp>
      <p:pic>
        <p:nvPicPr>
          <p:cNvPr id="4" name="Picture 3">
            <a:extLst>
              <a:ext uri="{FF2B5EF4-FFF2-40B4-BE49-F238E27FC236}">
                <a16:creationId xmlns:a16="http://schemas.microsoft.com/office/drawing/2014/main" id="{CDCCD34C-A130-51AB-526B-BA6D2363E6BC}"/>
              </a:ext>
            </a:extLst>
          </p:cNvPr>
          <p:cNvPicPr>
            <a:picLocks noChangeAspect="1"/>
          </p:cNvPicPr>
          <p:nvPr/>
        </p:nvPicPr>
        <p:blipFill>
          <a:blip r:embed="rId5"/>
          <a:stretch>
            <a:fillRect/>
          </a:stretch>
        </p:blipFill>
        <p:spPr>
          <a:xfrm>
            <a:off x="3719393" y="2205135"/>
            <a:ext cx="1817260" cy="426879"/>
          </a:xfrm>
          <a:prstGeom prst="rect">
            <a:avLst/>
          </a:prstGeom>
        </p:spPr>
      </p:pic>
      <p:pic>
        <p:nvPicPr>
          <p:cNvPr id="3" name="Picture 2">
            <a:extLst>
              <a:ext uri="{FF2B5EF4-FFF2-40B4-BE49-F238E27FC236}">
                <a16:creationId xmlns:a16="http://schemas.microsoft.com/office/drawing/2014/main" id="{0AC0F82B-7552-9361-0FE2-078751B0F7DA}"/>
              </a:ext>
            </a:extLst>
          </p:cNvPr>
          <p:cNvPicPr>
            <a:picLocks noChangeAspect="1"/>
          </p:cNvPicPr>
          <p:nvPr/>
        </p:nvPicPr>
        <p:blipFill>
          <a:blip r:embed="rId6"/>
          <a:stretch>
            <a:fillRect/>
          </a:stretch>
        </p:blipFill>
        <p:spPr>
          <a:xfrm>
            <a:off x="741271" y="2632014"/>
            <a:ext cx="3244747" cy="789821"/>
          </a:xfrm>
          <a:prstGeom prst="rect">
            <a:avLst/>
          </a:prstGeom>
        </p:spPr>
      </p:pic>
      <p:sp>
        <p:nvSpPr>
          <p:cNvPr id="10" name="TextBox 9">
            <a:extLst>
              <a:ext uri="{FF2B5EF4-FFF2-40B4-BE49-F238E27FC236}">
                <a16:creationId xmlns:a16="http://schemas.microsoft.com/office/drawing/2014/main" id="{C3BDBFC5-3A00-8E80-E379-F193D12B556A}"/>
              </a:ext>
            </a:extLst>
          </p:cNvPr>
          <p:cNvSpPr txBox="1"/>
          <p:nvPr/>
        </p:nvSpPr>
        <p:spPr>
          <a:xfrm>
            <a:off x="5840372" y="2232835"/>
            <a:ext cx="6130886" cy="3524683"/>
          </a:xfrm>
          <a:prstGeom prst="rect">
            <a:avLst/>
          </a:prstGeom>
          <a:noFill/>
        </p:spPr>
        <p:txBody>
          <a:bodyPr wrap="square">
            <a:spAutoFit/>
          </a:bodyPr>
          <a:lstStyle/>
          <a:p>
            <a:pPr marL="0" marR="0" algn="r" rtl="1">
              <a:lnSpc>
                <a:spcPct val="107000"/>
              </a:lnSpc>
              <a:spcAft>
                <a:spcPts val="800"/>
              </a:spcAft>
              <a:buNone/>
            </a:pPr>
            <a:r>
              <a:rPr lang="ar-SA" sz="2800" dirty="0">
                <a:effectLst/>
                <a:latin typeface="Calibri" panose="020F0502020204030204" pitchFamily="34" charset="0"/>
                <a:ea typeface="Calibri" panose="020F0502020204030204" pitchFamily="34" charset="0"/>
                <a:cs typeface="Sakkal Majalla" panose="02000000000000000000" pitchFamily="2" charset="-78"/>
              </a:rPr>
              <a:t>وفي نهايةِ الزقاقِ كانَ الصبيُّ يمشي إلى منزلِهِ برغيفٍ واحدٍ، وعلى عتبةِ البيتِ </a:t>
            </a:r>
            <a:r>
              <a:rPr lang="ar-SA" sz="2800" u="sng" dirty="0">
                <a:effectLst/>
                <a:highlight>
                  <a:srgbClr val="00FFFF"/>
                </a:highlight>
                <a:latin typeface="Calibri" panose="020F0502020204030204" pitchFamily="34" charset="0"/>
                <a:ea typeface="Calibri" panose="020F0502020204030204" pitchFamily="34" charset="0"/>
                <a:cs typeface="Sakkal Majalla" panose="02000000000000000000" pitchFamily="2" charset="-78"/>
              </a:rPr>
              <a:t>المهدَّمِ</a:t>
            </a:r>
            <a:r>
              <a:rPr lang="ar-SA" sz="2800" dirty="0">
                <a:effectLst/>
                <a:highlight>
                  <a:srgbClr val="00FFFF"/>
                </a:highlight>
                <a:latin typeface="Calibri" panose="020F0502020204030204" pitchFamily="34" charset="0"/>
                <a:ea typeface="Calibri" panose="020F0502020204030204" pitchFamily="34" charset="0"/>
                <a:cs typeface="Sakkal Majalla" panose="02000000000000000000" pitchFamily="2" charset="-78"/>
              </a:rPr>
              <a:t> </a:t>
            </a:r>
            <a:r>
              <a:rPr lang="ar-SA" sz="2800" dirty="0">
                <a:effectLst/>
                <a:latin typeface="Calibri" panose="020F0502020204030204" pitchFamily="34" charset="0"/>
                <a:ea typeface="Calibri" panose="020F0502020204030204" pitchFamily="34" charset="0"/>
                <a:cs typeface="Sakkal Majalla" panose="02000000000000000000" pitchFamily="2" charset="-78"/>
              </a:rPr>
              <a:t>تقِفُ أمُّهُ منتظرةً، وضَعَ الرغيفَ على الطاولةِ حيثُ كانَ كتابُ التاريخِ مفتوحًا على صفحةِ </a:t>
            </a:r>
            <a:r>
              <a:rPr lang="ar-SA" sz="2800" dirty="0" err="1">
                <a:effectLst/>
                <a:latin typeface="Calibri" panose="020F0502020204030204" pitchFamily="34" charset="0"/>
                <a:ea typeface="Calibri" panose="020F0502020204030204" pitchFamily="34" charset="0"/>
                <a:cs typeface="Sakkal Majalla" panose="02000000000000000000" pitchFamily="2" charset="-78"/>
              </a:rPr>
              <a:t>واترلو</a:t>
            </a:r>
            <a:r>
              <a:rPr lang="ar-SA" sz="2800" dirty="0">
                <a:effectLst/>
                <a:latin typeface="Calibri" panose="020F0502020204030204" pitchFamily="34" charset="0"/>
                <a:ea typeface="Calibri" panose="020F0502020204030204" pitchFamily="34" charset="0"/>
                <a:cs typeface="Sakkal Majalla" panose="02000000000000000000" pitchFamily="2" charset="-78"/>
              </a:rPr>
              <a:t>.  </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Aft>
                <a:spcPts val="800"/>
              </a:spcAft>
              <a:buNone/>
            </a:pPr>
            <a:r>
              <a:rPr lang="ar-SA" sz="2800" dirty="0">
                <a:effectLst/>
                <a:latin typeface="Calibri" panose="020F0502020204030204" pitchFamily="34" charset="0"/>
                <a:ea typeface="Calibri" panose="020F0502020204030204" pitchFamily="34" charset="0"/>
                <a:cs typeface="Sakkal Majalla" panose="02000000000000000000" pitchFamily="2" charset="-78"/>
              </a:rPr>
              <a:t>- "الخبزُ سيُعَلِّمُنا الكثيرَ". همسَتِ الأمُّ.</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Aft>
                <a:spcPts val="800"/>
              </a:spcAft>
              <a:buNone/>
            </a:pPr>
            <a:r>
              <a:rPr lang="ar-SA" sz="2800" dirty="0">
                <a:effectLst/>
                <a:latin typeface="Calibri" panose="020F0502020204030204" pitchFamily="34" charset="0"/>
                <a:ea typeface="Calibri" panose="020F0502020204030204" pitchFamily="34" charset="0"/>
                <a:cs typeface="Sakkal Majalla" panose="02000000000000000000" pitchFamily="2" charset="-78"/>
              </a:rPr>
              <a:t>بينما اختلطَ بخارُ الرَّغيفِ بدموعِها، مُكَوِّنًا سحابةً صغيرةً في الهواءِ الباردِ، ربَّما كانتْ روحًا، أو ربَّما مجردَ ذكرى، ترفضُ أن تَتَبَدَّدَ</a:t>
            </a:r>
            <a:r>
              <a:rPr lang="ar-SA" sz="1800" dirty="0">
                <a:effectLst/>
                <a:latin typeface="Calibri" panose="020F0502020204030204" pitchFamily="34" charset="0"/>
                <a:ea typeface="Calibri" panose="020F0502020204030204" pitchFamily="34" charset="0"/>
                <a:cs typeface="Sakkal Majalla" panose="02000000000000000000" pitchFamily="2" charset="-78"/>
              </a:rPr>
              <a:t>.  </a:t>
            </a:r>
            <a:endParaRPr lang="en-US" sz="12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4" name="Picture 2" descr="11 بديلا صحيا للخبز | أسلوب حياة | الجزيرة نت">
            <a:extLst>
              <a:ext uri="{FF2B5EF4-FFF2-40B4-BE49-F238E27FC236}">
                <a16:creationId xmlns:a16="http://schemas.microsoft.com/office/drawing/2014/main" id="{44B7BB9F-BDA0-E419-3023-139FD242AFB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3226" y="1897338"/>
            <a:ext cx="1687767" cy="836008"/>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B239B27F-BD28-A540-DF08-64E4E48AF17E}"/>
              </a:ext>
            </a:extLst>
          </p:cNvPr>
          <p:cNvSpPr txBox="1"/>
          <p:nvPr/>
        </p:nvSpPr>
        <p:spPr>
          <a:xfrm>
            <a:off x="474646" y="6351069"/>
            <a:ext cx="5205483" cy="400110"/>
          </a:xfrm>
          <a:prstGeom prst="rect">
            <a:avLst/>
          </a:prstGeom>
          <a:noFill/>
        </p:spPr>
        <p:txBody>
          <a:bodyPr wrap="square" rtlCol="0">
            <a:spAutoFit/>
          </a:bodyPr>
          <a:lstStyle/>
          <a:p>
            <a:r>
              <a:rPr lang="ar-SA" sz="2000" b="1" dirty="0">
                <a:solidFill>
                  <a:srgbClr val="CB6792"/>
                </a:solidFill>
              </a:rPr>
              <a:t>إعداد... أ: شيخة السويدي</a:t>
            </a:r>
            <a:endParaRPr lang="en-US" sz="2000" b="1" dirty="0">
              <a:solidFill>
                <a:srgbClr val="CB6792"/>
              </a:solidFill>
            </a:endParaRPr>
          </a:p>
        </p:txBody>
      </p:sp>
    </p:spTree>
    <p:extLst>
      <p:ext uri="{BB962C8B-B14F-4D97-AF65-F5344CB8AC3E}">
        <p14:creationId xmlns:p14="http://schemas.microsoft.com/office/powerpoint/2010/main" val="24871299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E2695-D9D6-C2EF-46BC-8B2141F13794}"/>
            </a:ext>
          </a:extLst>
        </p:cNvPr>
        <p:cNvGrpSpPr/>
        <p:nvPr/>
      </p:nvGrpSpPr>
      <p:grpSpPr>
        <a:xfrm>
          <a:off x="0" y="0"/>
          <a:ext cx="0" cy="0"/>
          <a:chOff x="0" y="0"/>
          <a:chExt cx="0" cy="0"/>
        </a:xfrm>
      </p:grpSpPr>
      <p:pic>
        <p:nvPicPr>
          <p:cNvPr id="5" name="Picture 4" descr="A logo with a feather and a book&#10;&#10;AI-generated content may be incorrect.">
            <a:extLst>
              <a:ext uri="{FF2B5EF4-FFF2-40B4-BE49-F238E27FC236}">
                <a16:creationId xmlns:a16="http://schemas.microsoft.com/office/drawing/2014/main" id="{69067560-B99E-02AE-5878-6E7D125912FB}"/>
              </a:ext>
            </a:extLst>
          </p:cNvPr>
          <p:cNvPicPr>
            <a:picLocks noChangeAspect="1"/>
          </p:cNvPicPr>
          <p:nvPr/>
        </p:nvPicPr>
        <p:blipFill>
          <a:blip r:embed="rId3">
            <a:extLst>
              <a:ext uri="{28A0092B-C50C-407E-A947-70E740481C1C}">
                <a14:useLocalDpi xmlns:a14="http://schemas.microsoft.com/office/drawing/2010/main" val="0"/>
              </a:ext>
            </a:extLst>
          </a:blip>
          <a:srcRect t="18752" r="-1" b="-1"/>
          <a:stretch>
            <a:fillRect/>
          </a:stretch>
        </p:blipFill>
        <p:spPr>
          <a:xfrm>
            <a:off x="3068" y="9"/>
            <a:ext cx="12188932" cy="2011073"/>
          </a:xfrm>
          <a:prstGeom prst="rect">
            <a:avLst/>
          </a:prstGeom>
        </p:spPr>
      </p:pic>
      <p:sp>
        <p:nvSpPr>
          <p:cNvPr id="9" name="TextBox 8">
            <a:extLst>
              <a:ext uri="{FF2B5EF4-FFF2-40B4-BE49-F238E27FC236}">
                <a16:creationId xmlns:a16="http://schemas.microsoft.com/office/drawing/2014/main" id="{2BFF3448-89E7-0707-E07E-65BC2A413E11}"/>
              </a:ext>
            </a:extLst>
          </p:cNvPr>
          <p:cNvSpPr txBox="1"/>
          <p:nvPr/>
        </p:nvSpPr>
        <p:spPr>
          <a:xfrm>
            <a:off x="9957661" y="309966"/>
            <a:ext cx="1914041" cy="369332"/>
          </a:xfrm>
          <a:prstGeom prst="rect">
            <a:avLst/>
          </a:prstGeom>
          <a:noFill/>
        </p:spPr>
        <p:txBody>
          <a:bodyPr wrap="square" rtlCol="0">
            <a:spAutoFit/>
          </a:bodyPr>
          <a:lstStyle/>
          <a:p>
            <a:r>
              <a:rPr lang="ar-SA" dirty="0"/>
              <a:t>مدرسة الشوامخ ح2-3</a:t>
            </a:r>
            <a:endParaRPr lang="en-US" dirty="0"/>
          </a:p>
        </p:txBody>
      </p:sp>
      <p:pic>
        <p:nvPicPr>
          <p:cNvPr id="11" name="Picture 10" descr="التربية والتعليم» تعلن هويتها المرئية الجديدة | صحيفة الخليج">
            <a:extLst>
              <a:ext uri="{FF2B5EF4-FFF2-40B4-BE49-F238E27FC236}">
                <a16:creationId xmlns:a16="http://schemas.microsoft.com/office/drawing/2014/main" id="{89E69C12-0EC3-B7AA-B555-AE667DD60A6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28" y="0"/>
            <a:ext cx="1393825" cy="950595"/>
          </a:xfrm>
          <a:prstGeom prst="rect">
            <a:avLst/>
          </a:prstGeom>
          <a:noFill/>
          <a:ln>
            <a:noFill/>
          </a:ln>
        </p:spPr>
      </p:pic>
      <p:cxnSp>
        <p:nvCxnSpPr>
          <p:cNvPr id="26" name="Straight Connector 25">
            <a:extLst>
              <a:ext uri="{FF2B5EF4-FFF2-40B4-BE49-F238E27FC236}">
                <a16:creationId xmlns:a16="http://schemas.microsoft.com/office/drawing/2014/main" id="{357D77E1-551B-5AA2-83ED-82DE5325ADDD}"/>
              </a:ext>
            </a:extLst>
          </p:cNvPr>
          <p:cNvCxnSpPr>
            <a:cxnSpLocks/>
          </p:cNvCxnSpPr>
          <p:nvPr/>
        </p:nvCxnSpPr>
        <p:spPr>
          <a:xfrm>
            <a:off x="5680129" y="1995639"/>
            <a:ext cx="0" cy="412213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7" name="Arrow: Left 36">
            <a:extLst>
              <a:ext uri="{FF2B5EF4-FFF2-40B4-BE49-F238E27FC236}">
                <a16:creationId xmlns:a16="http://schemas.microsoft.com/office/drawing/2014/main" id="{E1D27DB9-414C-F445-FFF9-DFC0B64510E6}"/>
              </a:ext>
            </a:extLst>
          </p:cNvPr>
          <p:cNvSpPr/>
          <p:nvPr/>
        </p:nvSpPr>
        <p:spPr>
          <a:xfrm>
            <a:off x="4172062" y="2758094"/>
            <a:ext cx="1317481" cy="584773"/>
          </a:xfrm>
          <a:prstGeom prst="lef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ar-SA" b="1" dirty="0"/>
              <a:t>المهارة</a:t>
            </a:r>
            <a:endParaRPr lang="en-US" b="1" dirty="0"/>
          </a:p>
        </p:txBody>
      </p:sp>
      <p:sp>
        <p:nvSpPr>
          <p:cNvPr id="46" name="TextBox 45">
            <a:extLst>
              <a:ext uri="{FF2B5EF4-FFF2-40B4-BE49-F238E27FC236}">
                <a16:creationId xmlns:a16="http://schemas.microsoft.com/office/drawing/2014/main" id="{A26D53F5-4FBA-8362-D230-FB5342CB7FCA}"/>
              </a:ext>
            </a:extLst>
          </p:cNvPr>
          <p:cNvSpPr txBox="1"/>
          <p:nvPr/>
        </p:nvSpPr>
        <p:spPr>
          <a:xfrm>
            <a:off x="-60971" y="3354277"/>
            <a:ext cx="5580858" cy="3718134"/>
          </a:xfrm>
          <a:prstGeom prst="rect">
            <a:avLst/>
          </a:prstGeom>
          <a:noFill/>
        </p:spPr>
        <p:txBody>
          <a:bodyPr wrap="square">
            <a:spAutoFit/>
          </a:bodyPr>
          <a:lstStyle/>
          <a:p>
            <a:pPr algn="r" rtl="1">
              <a:lnSpc>
                <a:spcPct val="115000"/>
              </a:lnSpc>
              <a:spcAft>
                <a:spcPts val="800"/>
              </a:spcAft>
            </a:pPr>
            <a:r>
              <a:rPr lang="ar-SA" sz="1600" b="1" dirty="0">
                <a:solidFill>
                  <a:srgbClr val="C00000"/>
                </a:solidFill>
              </a:rPr>
              <a:t>18- </a:t>
            </a:r>
            <a:r>
              <a:rPr lang="ar-SA" sz="2000" b="1" dirty="0">
                <a:solidFill>
                  <a:srgbClr val="C00000"/>
                </a:solidFill>
              </a:rPr>
              <a:t>مفرد كلمة الأرغفة في الفقرة التالية  هي </a:t>
            </a:r>
            <a:r>
              <a:rPr lang="ar-SA" b="1" dirty="0">
                <a:solidFill>
                  <a:srgbClr val="C00000"/>
                </a:solidFill>
              </a:rPr>
              <a:t>:</a:t>
            </a:r>
            <a:r>
              <a:rPr lang="ar-SA" dirty="0">
                <a:latin typeface="Calibri" panose="020F0502020204030204" pitchFamily="34" charset="0"/>
                <a:ea typeface="Calibri" panose="020F0502020204030204" pitchFamily="34" charset="0"/>
                <a:cs typeface="Sakkal Majalla" panose="02000000000000000000" pitchFamily="2" charset="-78"/>
              </a:rPr>
              <a:t> </a:t>
            </a:r>
          </a:p>
          <a:p>
            <a:pPr algn="r" rtl="1">
              <a:lnSpc>
                <a:spcPct val="115000"/>
              </a:lnSpc>
              <a:spcAft>
                <a:spcPts val="800"/>
              </a:spcAft>
            </a:pPr>
            <a:r>
              <a:rPr lang="ar-SA" sz="2400" b="1" dirty="0">
                <a:solidFill>
                  <a:schemeClr val="tx2"/>
                </a:solidFill>
              </a:rPr>
              <a:t>أ- </a:t>
            </a:r>
            <a:r>
              <a:rPr lang="ar-SA" dirty="0" err="1"/>
              <a:t>رغيفات</a:t>
            </a:r>
            <a:endParaRPr lang="en-US" sz="2000" dirty="0">
              <a:solidFill>
                <a:schemeClr val="tx2"/>
              </a:solidFill>
            </a:endParaRPr>
          </a:p>
          <a:p>
            <a:pPr algn="r" rtl="1">
              <a:lnSpc>
                <a:spcPct val="115000"/>
              </a:lnSpc>
              <a:spcAft>
                <a:spcPts val="800"/>
              </a:spcAft>
            </a:pPr>
            <a:r>
              <a:rPr lang="ar-SA" sz="2400" b="1" dirty="0">
                <a:solidFill>
                  <a:schemeClr val="tx2"/>
                </a:solidFill>
              </a:rPr>
              <a:t>ب- </a:t>
            </a:r>
            <a:r>
              <a:rPr lang="ar-SA" dirty="0" err="1"/>
              <a:t>مرغوف</a:t>
            </a:r>
            <a:endParaRPr lang="ar-SA" dirty="0"/>
          </a:p>
          <a:p>
            <a:pPr algn="r" rtl="1">
              <a:lnSpc>
                <a:spcPct val="115000"/>
              </a:lnSpc>
              <a:spcAft>
                <a:spcPts val="800"/>
              </a:spcAft>
            </a:pPr>
            <a:r>
              <a:rPr lang="ar-SA" dirty="0"/>
              <a:t>ت- </a:t>
            </a:r>
            <a:r>
              <a:rPr lang="ar-SA" dirty="0" err="1"/>
              <a:t>رغاف</a:t>
            </a:r>
            <a:endParaRPr lang="en-US" sz="2000" dirty="0">
              <a:solidFill>
                <a:schemeClr val="tx2"/>
              </a:solidFill>
            </a:endParaRPr>
          </a:p>
          <a:p>
            <a:pPr algn="r" rtl="1">
              <a:lnSpc>
                <a:spcPct val="115000"/>
              </a:lnSpc>
              <a:spcAft>
                <a:spcPts val="800"/>
              </a:spcAft>
            </a:pPr>
            <a:r>
              <a:rPr lang="ar-SA" sz="2000" dirty="0">
                <a:solidFill>
                  <a:schemeClr val="tx2"/>
                </a:solidFill>
                <a:highlight>
                  <a:srgbClr val="00FFFF"/>
                </a:highlight>
              </a:rPr>
              <a:t>ث-</a:t>
            </a:r>
            <a:r>
              <a:rPr lang="ar-SA" sz="2000" b="1" dirty="0">
                <a:effectLst/>
                <a:highlight>
                  <a:srgbClr val="00FFFF"/>
                </a:highlight>
                <a:latin typeface="Calibri" panose="020F0502020204030204" pitchFamily="34" charset="0"/>
                <a:ea typeface="Calibri" panose="020F0502020204030204" pitchFamily="34" charset="0"/>
                <a:cs typeface="Sakkal Majalla" panose="02000000000000000000" pitchFamily="2" charset="-78"/>
              </a:rPr>
              <a:t> </a:t>
            </a:r>
            <a:r>
              <a:rPr lang="ar-SA" dirty="0">
                <a:highlight>
                  <a:srgbClr val="00FFFF"/>
                </a:highlight>
              </a:rPr>
              <a:t>رغيف</a:t>
            </a:r>
            <a:endParaRPr lang="en-US" dirty="0">
              <a:highlight>
                <a:srgbClr val="00FFFF"/>
              </a:highlight>
            </a:endParaRPr>
          </a:p>
          <a:p>
            <a:pPr algn="r" rtl="1">
              <a:lnSpc>
                <a:spcPct val="115000"/>
              </a:lnSpc>
              <a:spcAft>
                <a:spcPts val="800"/>
              </a:spcAft>
            </a:pPr>
            <a:endParaRPr lang="ar-SA" sz="2000" b="1" dirty="0">
              <a:effectLst/>
              <a:latin typeface="Calibri" panose="020F0502020204030204" pitchFamily="34" charset="0"/>
              <a:ea typeface="Calibri" panose="020F0502020204030204" pitchFamily="34" charset="0"/>
              <a:cs typeface="Sakkal Majalla" panose="02000000000000000000" pitchFamily="2" charset="-78"/>
            </a:endParaRPr>
          </a:p>
          <a:p>
            <a:pPr algn="r" rtl="1">
              <a:lnSpc>
                <a:spcPct val="115000"/>
              </a:lnSpc>
              <a:spcAft>
                <a:spcPts val="800"/>
              </a:spcAft>
            </a:pPr>
            <a:r>
              <a:rPr lang="ar-SA" sz="2000" dirty="0">
                <a:solidFill>
                  <a:srgbClr val="C00000"/>
                </a:solidFill>
              </a:rPr>
              <a:t> </a:t>
            </a:r>
            <a:endParaRPr lang="en-US" sz="2000" dirty="0">
              <a:solidFill>
                <a:srgbClr val="C00000"/>
              </a:solidFill>
            </a:endParaRPr>
          </a:p>
          <a:p>
            <a:pPr algn="r" rtl="1">
              <a:lnSpc>
                <a:spcPct val="115000"/>
              </a:lnSpc>
              <a:spcAft>
                <a:spcPts val="800"/>
              </a:spcAft>
            </a:pPr>
            <a:endParaRPr lang="ar-SA" sz="2000" b="1" dirty="0">
              <a:solidFill>
                <a:srgbClr val="C00000"/>
              </a:solidFill>
            </a:endParaRPr>
          </a:p>
        </p:txBody>
      </p:sp>
      <p:sp>
        <p:nvSpPr>
          <p:cNvPr id="7" name="TextBox 6">
            <a:extLst>
              <a:ext uri="{FF2B5EF4-FFF2-40B4-BE49-F238E27FC236}">
                <a16:creationId xmlns:a16="http://schemas.microsoft.com/office/drawing/2014/main" id="{FC539294-6A6D-DD36-322D-283CA5623066}"/>
              </a:ext>
            </a:extLst>
          </p:cNvPr>
          <p:cNvSpPr txBox="1"/>
          <p:nvPr/>
        </p:nvSpPr>
        <p:spPr>
          <a:xfrm>
            <a:off x="4294958" y="1872583"/>
            <a:ext cx="6449784" cy="276999"/>
          </a:xfrm>
          <a:prstGeom prst="rect">
            <a:avLst/>
          </a:prstGeom>
          <a:noFill/>
        </p:spPr>
        <p:txBody>
          <a:bodyPr wrap="square">
            <a:spAutoFit/>
          </a:bodyPr>
          <a:lstStyle/>
          <a:p>
            <a:r>
              <a:rPr lang="ar-SA" sz="1200" b="1" i="0" u="none" strike="noStrike" baseline="0" dirty="0">
                <a:highlight>
                  <a:srgbClr val="00FF00"/>
                </a:highlight>
                <a:latin typeface="SakkalMajalla-Bold"/>
              </a:rPr>
              <a:t>نص سردي خارجيٌّ</a:t>
            </a:r>
            <a:endParaRPr lang="en-US" sz="3600" b="1" dirty="0">
              <a:highlight>
                <a:srgbClr val="00FF00"/>
              </a:highlight>
            </a:endParaRPr>
          </a:p>
        </p:txBody>
      </p:sp>
      <p:pic>
        <p:nvPicPr>
          <p:cNvPr id="4" name="Picture 3">
            <a:extLst>
              <a:ext uri="{FF2B5EF4-FFF2-40B4-BE49-F238E27FC236}">
                <a16:creationId xmlns:a16="http://schemas.microsoft.com/office/drawing/2014/main" id="{CAFE264C-E4A9-9C21-C1F3-AB0807F3629F}"/>
              </a:ext>
            </a:extLst>
          </p:cNvPr>
          <p:cNvPicPr>
            <a:picLocks noChangeAspect="1"/>
          </p:cNvPicPr>
          <p:nvPr/>
        </p:nvPicPr>
        <p:blipFill>
          <a:blip r:embed="rId5"/>
          <a:stretch>
            <a:fillRect/>
          </a:stretch>
        </p:blipFill>
        <p:spPr>
          <a:xfrm>
            <a:off x="3719393" y="2205135"/>
            <a:ext cx="1817260" cy="426879"/>
          </a:xfrm>
          <a:prstGeom prst="rect">
            <a:avLst/>
          </a:prstGeom>
        </p:spPr>
      </p:pic>
      <p:pic>
        <p:nvPicPr>
          <p:cNvPr id="6" name="Picture 5">
            <a:extLst>
              <a:ext uri="{FF2B5EF4-FFF2-40B4-BE49-F238E27FC236}">
                <a16:creationId xmlns:a16="http://schemas.microsoft.com/office/drawing/2014/main" id="{3F8EB940-1623-9CB0-FF99-50DDB219E278}"/>
              </a:ext>
            </a:extLst>
          </p:cNvPr>
          <p:cNvPicPr>
            <a:picLocks noChangeAspect="1"/>
          </p:cNvPicPr>
          <p:nvPr/>
        </p:nvPicPr>
        <p:blipFill>
          <a:blip r:embed="rId6"/>
          <a:stretch>
            <a:fillRect/>
          </a:stretch>
        </p:blipFill>
        <p:spPr>
          <a:xfrm>
            <a:off x="1009677" y="2720120"/>
            <a:ext cx="3002143" cy="735489"/>
          </a:xfrm>
          <a:prstGeom prst="rect">
            <a:avLst/>
          </a:prstGeom>
        </p:spPr>
      </p:pic>
      <p:sp>
        <p:nvSpPr>
          <p:cNvPr id="12" name="TextBox 11">
            <a:extLst>
              <a:ext uri="{FF2B5EF4-FFF2-40B4-BE49-F238E27FC236}">
                <a16:creationId xmlns:a16="http://schemas.microsoft.com/office/drawing/2014/main" id="{70EA215F-1DFA-0AB6-CDB8-7D600F0B2F3B}"/>
              </a:ext>
            </a:extLst>
          </p:cNvPr>
          <p:cNvSpPr txBox="1"/>
          <p:nvPr/>
        </p:nvSpPr>
        <p:spPr>
          <a:xfrm>
            <a:off x="5870715" y="1845412"/>
            <a:ext cx="6130886" cy="4307846"/>
          </a:xfrm>
          <a:prstGeom prst="rect">
            <a:avLst/>
          </a:prstGeom>
          <a:noFill/>
        </p:spPr>
        <p:txBody>
          <a:bodyPr wrap="square">
            <a:spAutoFit/>
          </a:bodyPr>
          <a:lstStyle/>
          <a:p>
            <a:pPr marL="0" marR="0" algn="r" rtl="1">
              <a:lnSpc>
                <a:spcPct val="107000"/>
              </a:lnSpc>
              <a:spcAft>
                <a:spcPts val="800"/>
              </a:spcAft>
              <a:buNone/>
            </a:pPr>
            <a:r>
              <a:rPr lang="ar-SA" sz="3200" b="1" dirty="0">
                <a:effectLst/>
                <a:latin typeface="Calibri" panose="020F0502020204030204" pitchFamily="34" charset="0"/>
                <a:ea typeface="Calibri" panose="020F0502020204030204" pitchFamily="34" charset="0"/>
                <a:cs typeface="Sakkal Majalla" panose="02000000000000000000" pitchFamily="2" charset="-78"/>
              </a:rPr>
              <a:t>في اليومِ التالي، ظهرَ (</a:t>
            </a:r>
            <a:r>
              <a:rPr lang="ar-SA" sz="3200" b="1" dirty="0" err="1">
                <a:effectLst/>
                <a:latin typeface="Calibri" panose="020F0502020204030204" pitchFamily="34" charset="0"/>
                <a:ea typeface="Calibri" panose="020F0502020204030204" pitchFamily="34" charset="0"/>
                <a:cs typeface="Sakkal Majalla" panose="02000000000000000000" pitchFamily="2" charset="-78"/>
              </a:rPr>
              <a:t>بييرو</a:t>
            </a:r>
            <a:r>
              <a:rPr lang="ar-SA" sz="3200" b="1" dirty="0">
                <a:effectLst/>
                <a:latin typeface="Calibri" panose="020F0502020204030204" pitchFamily="34" charset="0"/>
                <a:ea typeface="Calibri" panose="020F0502020204030204" pitchFamily="34" charset="0"/>
                <a:cs typeface="Sakkal Majalla" panose="02000000000000000000" pitchFamily="2" charset="-78"/>
              </a:rPr>
              <a:t>) عندَ بابِ المخبزِ قبلَ الفجرِ. حملَ الدقيقَ، أشعلَ الفرنَ، وعجنَ العجينَ بأصابعِهِ الصغيرةِ، كانَ يفعلُ كما كانَ يرى العجوزَ (</a:t>
            </a:r>
            <a:r>
              <a:rPr lang="ar-SA" sz="3200" b="1" dirty="0" err="1">
                <a:effectLst/>
                <a:latin typeface="Calibri" panose="020F0502020204030204" pitchFamily="34" charset="0"/>
                <a:ea typeface="Calibri" panose="020F0502020204030204" pitchFamily="34" charset="0"/>
                <a:cs typeface="Sakkal Majalla" panose="02000000000000000000" pitchFamily="2" charset="-78"/>
              </a:rPr>
              <a:t>لوبير</a:t>
            </a:r>
            <a:r>
              <a:rPr lang="ar-SA" sz="3200" b="1" dirty="0">
                <a:effectLst/>
                <a:latin typeface="Calibri" panose="020F0502020204030204" pitchFamily="34" charset="0"/>
                <a:ea typeface="Calibri" panose="020F0502020204030204" pitchFamily="34" charset="0"/>
                <a:cs typeface="Sakkal Majalla" panose="02000000000000000000" pitchFamily="2" charset="-78"/>
              </a:rPr>
              <a:t>) يفعلُ ألفَ مرةٍ، بينما كانَ السيدُ يراقبُ من سريرِهِ المؤقتِ، عيناهُ تلمعانِ كجمرتينِ في رمادٍ، عندما دقتِ الساعةُ الخامسةُ صباحًا، انتشرَ عبقُ الخبزِ الطازجِ في الزقاقِ، وخرجتِ </a:t>
            </a:r>
            <a:r>
              <a:rPr lang="ar-SA" sz="3200" b="1" u="sng" dirty="0">
                <a:effectLst/>
                <a:latin typeface="Calibri" panose="020F0502020204030204" pitchFamily="34" charset="0"/>
                <a:ea typeface="Calibri" panose="020F0502020204030204" pitchFamily="34" charset="0"/>
                <a:cs typeface="Sakkal Majalla" panose="02000000000000000000" pitchFamily="2" charset="-78"/>
              </a:rPr>
              <a:t>الأرغفة</a:t>
            </a:r>
            <a:r>
              <a:rPr lang="ar-SA" sz="3200" b="1" dirty="0">
                <a:effectLst/>
                <a:latin typeface="Calibri" panose="020F0502020204030204" pitchFamily="34" charset="0"/>
                <a:ea typeface="Calibri" panose="020F0502020204030204" pitchFamily="34" charset="0"/>
                <a:cs typeface="Sakkal Majalla" panose="02000000000000000000" pitchFamily="2" charset="-78"/>
              </a:rPr>
              <a:t>ُ الذهبيةُ منَ الفرنِ.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3" name="Picture 2" descr="11 بديلا صحيا للخبز | أسلوب حياة | الجزيرة نت">
            <a:extLst>
              <a:ext uri="{FF2B5EF4-FFF2-40B4-BE49-F238E27FC236}">
                <a16:creationId xmlns:a16="http://schemas.microsoft.com/office/drawing/2014/main" id="{DC2CC7B7-D701-5196-CAEB-95F224FCD5B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3226" y="1897338"/>
            <a:ext cx="1687767" cy="836008"/>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72DBA961-F965-488E-F2FE-EC9FC6C95506}"/>
              </a:ext>
            </a:extLst>
          </p:cNvPr>
          <p:cNvSpPr txBox="1"/>
          <p:nvPr/>
        </p:nvSpPr>
        <p:spPr>
          <a:xfrm>
            <a:off x="474646" y="6351069"/>
            <a:ext cx="5205483" cy="400110"/>
          </a:xfrm>
          <a:prstGeom prst="rect">
            <a:avLst/>
          </a:prstGeom>
          <a:noFill/>
        </p:spPr>
        <p:txBody>
          <a:bodyPr wrap="square" rtlCol="0">
            <a:spAutoFit/>
          </a:bodyPr>
          <a:lstStyle/>
          <a:p>
            <a:r>
              <a:rPr lang="ar-SA" sz="2000" b="1" dirty="0">
                <a:solidFill>
                  <a:srgbClr val="CB6792"/>
                </a:solidFill>
              </a:rPr>
              <a:t>إعداد... أ: شيخة السويدي</a:t>
            </a:r>
            <a:endParaRPr lang="en-US" sz="2000" b="1" dirty="0">
              <a:solidFill>
                <a:srgbClr val="CB6792"/>
              </a:solidFill>
            </a:endParaRPr>
          </a:p>
        </p:txBody>
      </p:sp>
    </p:spTree>
    <p:extLst>
      <p:ext uri="{BB962C8B-B14F-4D97-AF65-F5344CB8AC3E}">
        <p14:creationId xmlns:p14="http://schemas.microsoft.com/office/powerpoint/2010/main" val="4241383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E5D3C-3DB8-A71F-FB76-9B1B9EE602B7}"/>
            </a:ext>
          </a:extLst>
        </p:cNvPr>
        <p:cNvGrpSpPr/>
        <p:nvPr/>
      </p:nvGrpSpPr>
      <p:grpSpPr>
        <a:xfrm>
          <a:off x="0" y="0"/>
          <a:ext cx="0" cy="0"/>
          <a:chOff x="0" y="0"/>
          <a:chExt cx="0" cy="0"/>
        </a:xfrm>
      </p:grpSpPr>
      <p:pic>
        <p:nvPicPr>
          <p:cNvPr id="5" name="Picture 4" descr="A logo with a feather and a book&#10;&#10;AI-generated content may be incorrect.">
            <a:extLst>
              <a:ext uri="{FF2B5EF4-FFF2-40B4-BE49-F238E27FC236}">
                <a16:creationId xmlns:a16="http://schemas.microsoft.com/office/drawing/2014/main" id="{4C6D086D-6420-ED6E-EAC1-A5AAC7C369F6}"/>
              </a:ext>
            </a:extLst>
          </p:cNvPr>
          <p:cNvPicPr>
            <a:picLocks noChangeAspect="1"/>
          </p:cNvPicPr>
          <p:nvPr/>
        </p:nvPicPr>
        <p:blipFill>
          <a:blip r:embed="rId3">
            <a:extLst>
              <a:ext uri="{28A0092B-C50C-407E-A947-70E740481C1C}">
                <a14:useLocalDpi xmlns:a14="http://schemas.microsoft.com/office/drawing/2010/main" val="0"/>
              </a:ext>
            </a:extLst>
          </a:blip>
          <a:srcRect t="18752" r="-1" b="-1"/>
          <a:stretch>
            <a:fillRect/>
          </a:stretch>
        </p:blipFill>
        <p:spPr>
          <a:xfrm>
            <a:off x="3068" y="9"/>
            <a:ext cx="12188932" cy="2011073"/>
          </a:xfrm>
          <a:prstGeom prst="rect">
            <a:avLst/>
          </a:prstGeom>
        </p:spPr>
      </p:pic>
      <p:sp>
        <p:nvSpPr>
          <p:cNvPr id="9" name="TextBox 8">
            <a:extLst>
              <a:ext uri="{FF2B5EF4-FFF2-40B4-BE49-F238E27FC236}">
                <a16:creationId xmlns:a16="http://schemas.microsoft.com/office/drawing/2014/main" id="{17DF6FE9-126B-C368-CAF9-23CEB369BEF1}"/>
              </a:ext>
            </a:extLst>
          </p:cNvPr>
          <p:cNvSpPr txBox="1"/>
          <p:nvPr/>
        </p:nvSpPr>
        <p:spPr>
          <a:xfrm>
            <a:off x="9957661" y="309966"/>
            <a:ext cx="1914041" cy="369332"/>
          </a:xfrm>
          <a:prstGeom prst="rect">
            <a:avLst/>
          </a:prstGeom>
          <a:noFill/>
        </p:spPr>
        <p:txBody>
          <a:bodyPr wrap="square" rtlCol="0">
            <a:spAutoFit/>
          </a:bodyPr>
          <a:lstStyle/>
          <a:p>
            <a:r>
              <a:rPr lang="ar-SA" dirty="0"/>
              <a:t>مدرسة الشوامخ ح2-3</a:t>
            </a:r>
            <a:endParaRPr lang="en-US" dirty="0"/>
          </a:p>
        </p:txBody>
      </p:sp>
      <p:pic>
        <p:nvPicPr>
          <p:cNvPr id="11" name="Picture 10" descr="التربية والتعليم» تعلن هويتها المرئية الجديدة | صحيفة الخليج">
            <a:extLst>
              <a:ext uri="{FF2B5EF4-FFF2-40B4-BE49-F238E27FC236}">
                <a16:creationId xmlns:a16="http://schemas.microsoft.com/office/drawing/2014/main" id="{110F71C0-10D8-F9BF-2FF0-5F9527C6E5D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28" y="0"/>
            <a:ext cx="1393825" cy="950595"/>
          </a:xfrm>
          <a:prstGeom prst="rect">
            <a:avLst/>
          </a:prstGeom>
          <a:noFill/>
          <a:ln>
            <a:noFill/>
          </a:ln>
        </p:spPr>
      </p:pic>
      <p:cxnSp>
        <p:nvCxnSpPr>
          <p:cNvPr id="26" name="Straight Connector 25">
            <a:extLst>
              <a:ext uri="{FF2B5EF4-FFF2-40B4-BE49-F238E27FC236}">
                <a16:creationId xmlns:a16="http://schemas.microsoft.com/office/drawing/2014/main" id="{F95EBE79-B7F9-DD28-BD95-8EB282597370}"/>
              </a:ext>
            </a:extLst>
          </p:cNvPr>
          <p:cNvCxnSpPr>
            <a:cxnSpLocks/>
          </p:cNvCxnSpPr>
          <p:nvPr/>
        </p:nvCxnSpPr>
        <p:spPr>
          <a:xfrm>
            <a:off x="5680129" y="1995639"/>
            <a:ext cx="0" cy="412213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7" name="Arrow: Left 36">
            <a:extLst>
              <a:ext uri="{FF2B5EF4-FFF2-40B4-BE49-F238E27FC236}">
                <a16:creationId xmlns:a16="http://schemas.microsoft.com/office/drawing/2014/main" id="{0B940A1C-BDB7-915D-CFF4-58F71FDAC6C0}"/>
              </a:ext>
            </a:extLst>
          </p:cNvPr>
          <p:cNvSpPr/>
          <p:nvPr/>
        </p:nvSpPr>
        <p:spPr>
          <a:xfrm>
            <a:off x="4172062" y="2758094"/>
            <a:ext cx="1317481" cy="584773"/>
          </a:xfrm>
          <a:prstGeom prst="lef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ar-SA" b="1" dirty="0"/>
              <a:t>المهارة</a:t>
            </a:r>
            <a:endParaRPr lang="en-US" b="1" dirty="0"/>
          </a:p>
        </p:txBody>
      </p:sp>
      <p:sp>
        <p:nvSpPr>
          <p:cNvPr id="46" name="TextBox 45">
            <a:extLst>
              <a:ext uri="{FF2B5EF4-FFF2-40B4-BE49-F238E27FC236}">
                <a16:creationId xmlns:a16="http://schemas.microsoft.com/office/drawing/2014/main" id="{372A7170-8FE7-6D45-FAEA-52082FEAC506}"/>
              </a:ext>
            </a:extLst>
          </p:cNvPr>
          <p:cNvSpPr txBox="1"/>
          <p:nvPr/>
        </p:nvSpPr>
        <p:spPr>
          <a:xfrm>
            <a:off x="-60971" y="3354277"/>
            <a:ext cx="5580858" cy="3718134"/>
          </a:xfrm>
          <a:prstGeom prst="rect">
            <a:avLst/>
          </a:prstGeom>
          <a:noFill/>
        </p:spPr>
        <p:txBody>
          <a:bodyPr wrap="square">
            <a:spAutoFit/>
          </a:bodyPr>
          <a:lstStyle/>
          <a:p>
            <a:pPr algn="r" rtl="1">
              <a:lnSpc>
                <a:spcPct val="115000"/>
              </a:lnSpc>
              <a:spcAft>
                <a:spcPts val="800"/>
              </a:spcAft>
            </a:pPr>
            <a:r>
              <a:rPr lang="ar-SA" sz="1600" b="1" dirty="0">
                <a:solidFill>
                  <a:srgbClr val="C00000"/>
                </a:solidFill>
              </a:rPr>
              <a:t>19- </a:t>
            </a:r>
            <a:r>
              <a:rPr lang="ar-SA" sz="2000" b="1" dirty="0">
                <a:solidFill>
                  <a:srgbClr val="C00000"/>
                </a:solidFill>
              </a:rPr>
              <a:t>أي من السمات التالية تصف شخصية بيرو</a:t>
            </a:r>
            <a:r>
              <a:rPr lang="ar-SA" b="1" dirty="0">
                <a:solidFill>
                  <a:srgbClr val="C00000"/>
                </a:solidFill>
              </a:rPr>
              <a:t>:</a:t>
            </a:r>
            <a:r>
              <a:rPr lang="ar-SA" dirty="0">
                <a:latin typeface="Calibri" panose="020F0502020204030204" pitchFamily="34" charset="0"/>
                <a:ea typeface="Calibri" panose="020F0502020204030204" pitchFamily="34" charset="0"/>
                <a:cs typeface="Sakkal Majalla" panose="02000000000000000000" pitchFamily="2" charset="-78"/>
              </a:rPr>
              <a:t> </a:t>
            </a:r>
          </a:p>
          <a:p>
            <a:pPr algn="r" rtl="1">
              <a:lnSpc>
                <a:spcPct val="115000"/>
              </a:lnSpc>
              <a:spcAft>
                <a:spcPts val="800"/>
              </a:spcAft>
            </a:pPr>
            <a:r>
              <a:rPr lang="ar-SA" sz="2400" b="1" dirty="0">
                <a:solidFill>
                  <a:schemeClr val="tx2"/>
                </a:solidFill>
              </a:rPr>
              <a:t>أ- </a:t>
            </a:r>
            <a:r>
              <a:rPr lang="ar-SA" dirty="0"/>
              <a:t>كسول غير نشط</a:t>
            </a:r>
            <a:endParaRPr lang="en-US" sz="2000" dirty="0">
              <a:solidFill>
                <a:schemeClr val="tx2"/>
              </a:solidFill>
            </a:endParaRPr>
          </a:p>
          <a:p>
            <a:pPr algn="r" rtl="1">
              <a:lnSpc>
                <a:spcPct val="115000"/>
              </a:lnSpc>
              <a:spcAft>
                <a:spcPts val="800"/>
              </a:spcAft>
            </a:pPr>
            <a:r>
              <a:rPr lang="ar-SA" sz="2400" b="1" dirty="0">
                <a:solidFill>
                  <a:schemeClr val="tx2"/>
                </a:solidFill>
                <a:highlight>
                  <a:srgbClr val="00FFFF"/>
                </a:highlight>
              </a:rPr>
              <a:t>ب- </a:t>
            </a:r>
            <a:r>
              <a:rPr lang="ar-SA" dirty="0">
                <a:highlight>
                  <a:srgbClr val="00FFFF"/>
                </a:highlight>
              </a:rPr>
              <a:t>خدوم ويحب العمل</a:t>
            </a:r>
          </a:p>
          <a:p>
            <a:pPr algn="r" rtl="1">
              <a:lnSpc>
                <a:spcPct val="115000"/>
              </a:lnSpc>
              <a:spcAft>
                <a:spcPts val="800"/>
              </a:spcAft>
            </a:pPr>
            <a:r>
              <a:rPr lang="ar-SA" dirty="0"/>
              <a:t>ت- متكبر لا يحب الناس</a:t>
            </a:r>
            <a:endParaRPr lang="en-US" sz="2000" dirty="0">
              <a:solidFill>
                <a:schemeClr val="tx2"/>
              </a:solidFill>
            </a:endParaRPr>
          </a:p>
          <a:p>
            <a:pPr algn="r" rtl="1">
              <a:lnSpc>
                <a:spcPct val="115000"/>
              </a:lnSpc>
              <a:spcAft>
                <a:spcPts val="800"/>
              </a:spcAft>
            </a:pPr>
            <a:r>
              <a:rPr lang="ar-SA" sz="2000" dirty="0">
                <a:solidFill>
                  <a:schemeClr val="tx2"/>
                </a:solidFill>
              </a:rPr>
              <a:t>ث-</a:t>
            </a:r>
            <a:r>
              <a:rPr lang="ar-SA" sz="2000" b="1" dirty="0">
                <a:effectLst/>
                <a:latin typeface="Calibri" panose="020F0502020204030204" pitchFamily="34" charset="0"/>
                <a:ea typeface="Calibri" panose="020F0502020204030204" pitchFamily="34" charset="0"/>
                <a:cs typeface="Sakkal Majalla" panose="02000000000000000000" pitchFamily="2" charset="-78"/>
              </a:rPr>
              <a:t> </a:t>
            </a:r>
            <a:r>
              <a:rPr lang="ar-SA" dirty="0"/>
              <a:t>عصبي صوته مرتفع</a:t>
            </a:r>
            <a:endParaRPr lang="en-US" dirty="0"/>
          </a:p>
          <a:p>
            <a:pPr algn="r" rtl="1">
              <a:lnSpc>
                <a:spcPct val="115000"/>
              </a:lnSpc>
              <a:spcAft>
                <a:spcPts val="800"/>
              </a:spcAft>
            </a:pPr>
            <a:endParaRPr lang="ar-SA" sz="2000" b="1" dirty="0">
              <a:effectLst/>
              <a:latin typeface="Calibri" panose="020F0502020204030204" pitchFamily="34" charset="0"/>
              <a:ea typeface="Calibri" panose="020F0502020204030204" pitchFamily="34" charset="0"/>
              <a:cs typeface="Sakkal Majalla" panose="02000000000000000000" pitchFamily="2" charset="-78"/>
            </a:endParaRPr>
          </a:p>
          <a:p>
            <a:pPr algn="r" rtl="1">
              <a:lnSpc>
                <a:spcPct val="115000"/>
              </a:lnSpc>
              <a:spcAft>
                <a:spcPts val="800"/>
              </a:spcAft>
            </a:pPr>
            <a:r>
              <a:rPr lang="ar-SA" sz="2000" dirty="0">
                <a:solidFill>
                  <a:srgbClr val="C00000"/>
                </a:solidFill>
              </a:rPr>
              <a:t> </a:t>
            </a:r>
            <a:endParaRPr lang="en-US" sz="2000" dirty="0">
              <a:solidFill>
                <a:srgbClr val="C00000"/>
              </a:solidFill>
            </a:endParaRPr>
          </a:p>
          <a:p>
            <a:pPr algn="r" rtl="1">
              <a:lnSpc>
                <a:spcPct val="115000"/>
              </a:lnSpc>
              <a:spcAft>
                <a:spcPts val="800"/>
              </a:spcAft>
            </a:pPr>
            <a:endParaRPr lang="ar-SA" sz="2000" b="1" dirty="0">
              <a:solidFill>
                <a:srgbClr val="C00000"/>
              </a:solidFill>
            </a:endParaRPr>
          </a:p>
        </p:txBody>
      </p:sp>
      <p:sp>
        <p:nvSpPr>
          <p:cNvPr id="7" name="TextBox 6">
            <a:extLst>
              <a:ext uri="{FF2B5EF4-FFF2-40B4-BE49-F238E27FC236}">
                <a16:creationId xmlns:a16="http://schemas.microsoft.com/office/drawing/2014/main" id="{5A735E04-C166-90E3-0C4E-377697FA0547}"/>
              </a:ext>
            </a:extLst>
          </p:cNvPr>
          <p:cNvSpPr txBox="1"/>
          <p:nvPr/>
        </p:nvSpPr>
        <p:spPr>
          <a:xfrm>
            <a:off x="4294958" y="1872583"/>
            <a:ext cx="6449784" cy="276999"/>
          </a:xfrm>
          <a:prstGeom prst="rect">
            <a:avLst/>
          </a:prstGeom>
          <a:noFill/>
        </p:spPr>
        <p:txBody>
          <a:bodyPr wrap="square">
            <a:spAutoFit/>
          </a:bodyPr>
          <a:lstStyle/>
          <a:p>
            <a:r>
              <a:rPr lang="ar-SA" sz="1200" b="1" i="0" u="none" strike="noStrike" baseline="0" dirty="0">
                <a:highlight>
                  <a:srgbClr val="00FF00"/>
                </a:highlight>
                <a:latin typeface="SakkalMajalla-Bold"/>
              </a:rPr>
              <a:t>نص سردي خارجيٌّ</a:t>
            </a:r>
            <a:endParaRPr lang="en-US" sz="3600" b="1" dirty="0">
              <a:highlight>
                <a:srgbClr val="00FF00"/>
              </a:highlight>
            </a:endParaRPr>
          </a:p>
        </p:txBody>
      </p:sp>
      <p:pic>
        <p:nvPicPr>
          <p:cNvPr id="4" name="Picture 3">
            <a:extLst>
              <a:ext uri="{FF2B5EF4-FFF2-40B4-BE49-F238E27FC236}">
                <a16:creationId xmlns:a16="http://schemas.microsoft.com/office/drawing/2014/main" id="{F2112CD9-52F1-D21D-EE6F-E2E6DC62EC56}"/>
              </a:ext>
            </a:extLst>
          </p:cNvPr>
          <p:cNvPicPr>
            <a:picLocks noChangeAspect="1"/>
          </p:cNvPicPr>
          <p:nvPr/>
        </p:nvPicPr>
        <p:blipFill>
          <a:blip r:embed="rId5"/>
          <a:stretch>
            <a:fillRect/>
          </a:stretch>
        </p:blipFill>
        <p:spPr>
          <a:xfrm>
            <a:off x="3719393" y="2205135"/>
            <a:ext cx="1817260" cy="426879"/>
          </a:xfrm>
          <a:prstGeom prst="rect">
            <a:avLst/>
          </a:prstGeom>
        </p:spPr>
      </p:pic>
      <p:sp>
        <p:nvSpPr>
          <p:cNvPr id="12" name="TextBox 11">
            <a:extLst>
              <a:ext uri="{FF2B5EF4-FFF2-40B4-BE49-F238E27FC236}">
                <a16:creationId xmlns:a16="http://schemas.microsoft.com/office/drawing/2014/main" id="{C6792AD9-7EF3-026E-1FA9-C054CDB37CCF}"/>
              </a:ext>
            </a:extLst>
          </p:cNvPr>
          <p:cNvSpPr txBox="1"/>
          <p:nvPr/>
        </p:nvSpPr>
        <p:spPr>
          <a:xfrm>
            <a:off x="5870715" y="1845412"/>
            <a:ext cx="6130886" cy="4307846"/>
          </a:xfrm>
          <a:prstGeom prst="rect">
            <a:avLst/>
          </a:prstGeom>
          <a:noFill/>
        </p:spPr>
        <p:txBody>
          <a:bodyPr wrap="square">
            <a:spAutoFit/>
          </a:bodyPr>
          <a:lstStyle/>
          <a:p>
            <a:pPr marL="0" marR="0" algn="r" rtl="1">
              <a:lnSpc>
                <a:spcPct val="107000"/>
              </a:lnSpc>
              <a:spcAft>
                <a:spcPts val="800"/>
              </a:spcAft>
              <a:buNone/>
            </a:pPr>
            <a:r>
              <a:rPr lang="ar-SA" sz="3200" b="1" dirty="0">
                <a:effectLst/>
                <a:latin typeface="Calibri" panose="020F0502020204030204" pitchFamily="34" charset="0"/>
                <a:ea typeface="Calibri" panose="020F0502020204030204" pitchFamily="34" charset="0"/>
                <a:cs typeface="Sakkal Majalla" panose="02000000000000000000" pitchFamily="2" charset="-78"/>
              </a:rPr>
              <a:t>في اليومِ التالي، ظهرَ (</a:t>
            </a:r>
            <a:r>
              <a:rPr lang="ar-SA" sz="3200" b="1" dirty="0" err="1">
                <a:effectLst/>
                <a:latin typeface="Calibri" panose="020F0502020204030204" pitchFamily="34" charset="0"/>
                <a:ea typeface="Calibri" panose="020F0502020204030204" pitchFamily="34" charset="0"/>
                <a:cs typeface="Sakkal Majalla" panose="02000000000000000000" pitchFamily="2" charset="-78"/>
              </a:rPr>
              <a:t>بييرو</a:t>
            </a:r>
            <a:r>
              <a:rPr lang="ar-SA" sz="3200" b="1" dirty="0">
                <a:effectLst/>
                <a:latin typeface="Calibri" panose="020F0502020204030204" pitchFamily="34" charset="0"/>
                <a:ea typeface="Calibri" panose="020F0502020204030204" pitchFamily="34" charset="0"/>
                <a:cs typeface="Sakkal Majalla" panose="02000000000000000000" pitchFamily="2" charset="-78"/>
              </a:rPr>
              <a:t>) عندَ بابِ المخبزِ قبلَ الفجرِ. حملَ الدقيقَ، أشعلَ الفرنَ، وعجنَ العجينَ بأصابعِهِ الصغيرةِ، كانَ يفعلُ كما كانَ يرى العجوزَ (</a:t>
            </a:r>
            <a:r>
              <a:rPr lang="ar-SA" sz="3200" b="1" dirty="0" err="1">
                <a:effectLst/>
                <a:latin typeface="Calibri" panose="020F0502020204030204" pitchFamily="34" charset="0"/>
                <a:ea typeface="Calibri" panose="020F0502020204030204" pitchFamily="34" charset="0"/>
                <a:cs typeface="Sakkal Majalla" panose="02000000000000000000" pitchFamily="2" charset="-78"/>
              </a:rPr>
              <a:t>لوبير</a:t>
            </a:r>
            <a:r>
              <a:rPr lang="ar-SA" sz="3200" b="1" dirty="0">
                <a:effectLst/>
                <a:latin typeface="Calibri" panose="020F0502020204030204" pitchFamily="34" charset="0"/>
                <a:ea typeface="Calibri" panose="020F0502020204030204" pitchFamily="34" charset="0"/>
                <a:cs typeface="Sakkal Majalla" panose="02000000000000000000" pitchFamily="2" charset="-78"/>
              </a:rPr>
              <a:t>) يفعلُ ألفَ مرةٍ، بينما كانَ السيدُ يراقبُ من سريرِهِ المؤقتِ، عيناهُ تلمعانِ كجمرتينِ في رمادٍ، عندما دقتِ الساعةُ الخامسةُ صباحًا، انتشرَ عبقُ الخبزِ الطازجِ في الزقاقِ، وخرجتِ </a:t>
            </a:r>
            <a:r>
              <a:rPr lang="ar-SA" sz="3200" b="1" u="sng" dirty="0">
                <a:effectLst/>
                <a:latin typeface="Calibri" panose="020F0502020204030204" pitchFamily="34" charset="0"/>
                <a:ea typeface="Calibri" panose="020F0502020204030204" pitchFamily="34" charset="0"/>
                <a:cs typeface="Sakkal Majalla" panose="02000000000000000000" pitchFamily="2" charset="-78"/>
              </a:rPr>
              <a:t>الأرغفة</a:t>
            </a:r>
            <a:r>
              <a:rPr lang="ar-SA" sz="3200" b="1" dirty="0">
                <a:effectLst/>
                <a:latin typeface="Calibri" panose="020F0502020204030204" pitchFamily="34" charset="0"/>
                <a:ea typeface="Calibri" panose="020F0502020204030204" pitchFamily="34" charset="0"/>
                <a:cs typeface="Sakkal Majalla" panose="02000000000000000000" pitchFamily="2" charset="-78"/>
              </a:rPr>
              <a:t>ُ الذهبيةُ منَ الفرنِ.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946A4577-188B-47FB-1BA3-7333E6FE7F22}"/>
              </a:ext>
            </a:extLst>
          </p:cNvPr>
          <p:cNvPicPr>
            <a:picLocks noChangeAspect="1"/>
          </p:cNvPicPr>
          <p:nvPr/>
        </p:nvPicPr>
        <p:blipFill>
          <a:blip r:embed="rId6"/>
          <a:stretch>
            <a:fillRect/>
          </a:stretch>
        </p:blipFill>
        <p:spPr>
          <a:xfrm>
            <a:off x="870333" y="2687567"/>
            <a:ext cx="3022283" cy="584773"/>
          </a:xfrm>
          <a:prstGeom prst="rect">
            <a:avLst/>
          </a:prstGeom>
        </p:spPr>
      </p:pic>
      <p:pic>
        <p:nvPicPr>
          <p:cNvPr id="8" name="Picture 2" descr="11 بديلا صحيا للخبز | أسلوب حياة | الجزيرة نت">
            <a:extLst>
              <a:ext uri="{FF2B5EF4-FFF2-40B4-BE49-F238E27FC236}">
                <a16:creationId xmlns:a16="http://schemas.microsoft.com/office/drawing/2014/main" id="{11A37E42-96CC-87AA-ADE2-FC56E62C263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3226" y="1897338"/>
            <a:ext cx="1687767" cy="83600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310C9049-4496-CAE5-3EF3-3B4C3BCA025F}"/>
              </a:ext>
            </a:extLst>
          </p:cNvPr>
          <p:cNvSpPr txBox="1"/>
          <p:nvPr/>
        </p:nvSpPr>
        <p:spPr>
          <a:xfrm>
            <a:off x="474646" y="6351069"/>
            <a:ext cx="5205483" cy="400110"/>
          </a:xfrm>
          <a:prstGeom prst="rect">
            <a:avLst/>
          </a:prstGeom>
          <a:noFill/>
        </p:spPr>
        <p:txBody>
          <a:bodyPr wrap="square" rtlCol="0">
            <a:spAutoFit/>
          </a:bodyPr>
          <a:lstStyle/>
          <a:p>
            <a:r>
              <a:rPr lang="ar-SA" sz="2000" b="1" dirty="0">
                <a:solidFill>
                  <a:srgbClr val="CB6792"/>
                </a:solidFill>
              </a:rPr>
              <a:t>إعداد... أ: شيخة السويدي</a:t>
            </a:r>
            <a:endParaRPr lang="en-US" sz="2000" b="1" dirty="0">
              <a:solidFill>
                <a:srgbClr val="CB6792"/>
              </a:solidFill>
            </a:endParaRPr>
          </a:p>
        </p:txBody>
      </p:sp>
    </p:spTree>
    <p:extLst>
      <p:ext uri="{BB962C8B-B14F-4D97-AF65-F5344CB8AC3E}">
        <p14:creationId xmlns:p14="http://schemas.microsoft.com/office/powerpoint/2010/main" val="21288164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87EEC-255B-B139-C167-9998429B8746}"/>
            </a:ext>
          </a:extLst>
        </p:cNvPr>
        <p:cNvGrpSpPr/>
        <p:nvPr/>
      </p:nvGrpSpPr>
      <p:grpSpPr>
        <a:xfrm>
          <a:off x="0" y="0"/>
          <a:ext cx="0" cy="0"/>
          <a:chOff x="0" y="0"/>
          <a:chExt cx="0" cy="0"/>
        </a:xfrm>
      </p:grpSpPr>
      <p:pic>
        <p:nvPicPr>
          <p:cNvPr id="5" name="Picture 4" descr="A logo with a feather and a book&#10;&#10;AI-generated content may be incorrect.">
            <a:extLst>
              <a:ext uri="{FF2B5EF4-FFF2-40B4-BE49-F238E27FC236}">
                <a16:creationId xmlns:a16="http://schemas.microsoft.com/office/drawing/2014/main" id="{AE8BA6CB-599B-68F9-D862-F8363632C118}"/>
              </a:ext>
            </a:extLst>
          </p:cNvPr>
          <p:cNvPicPr>
            <a:picLocks noChangeAspect="1"/>
          </p:cNvPicPr>
          <p:nvPr/>
        </p:nvPicPr>
        <p:blipFill>
          <a:blip r:embed="rId3">
            <a:extLst>
              <a:ext uri="{28A0092B-C50C-407E-A947-70E740481C1C}">
                <a14:useLocalDpi xmlns:a14="http://schemas.microsoft.com/office/drawing/2010/main" val="0"/>
              </a:ext>
            </a:extLst>
          </a:blip>
          <a:srcRect t="18752" r="-1" b="-1"/>
          <a:stretch>
            <a:fillRect/>
          </a:stretch>
        </p:blipFill>
        <p:spPr>
          <a:xfrm>
            <a:off x="3068" y="9"/>
            <a:ext cx="12188932" cy="2011073"/>
          </a:xfrm>
          <a:prstGeom prst="rect">
            <a:avLst/>
          </a:prstGeom>
        </p:spPr>
      </p:pic>
      <p:sp>
        <p:nvSpPr>
          <p:cNvPr id="9" name="TextBox 8">
            <a:extLst>
              <a:ext uri="{FF2B5EF4-FFF2-40B4-BE49-F238E27FC236}">
                <a16:creationId xmlns:a16="http://schemas.microsoft.com/office/drawing/2014/main" id="{7A31EF0C-6E41-0759-A4A9-5D2AA252214E}"/>
              </a:ext>
            </a:extLst>
          </p:cNvPr>
          <p:cNvSpPr txBox="1"/>
          <p:nvPr/>
        </p:nvSpPr>
        <p:spPr>
          <a:xfrm>
            <a:off x="9957661" y="309966"/>
            <a:ext cx="1914041" cy="369332"/>
          </a:xfrm>
          <a:prstGeom prst="rect">
            <a:avLst/>
          </a:prstGeom>
          <a:noFill/>
        </p:spPr>
        <p:txBody>
          <a:bodyPr wrap="square" rtlCol="0">
            <a:spAutoFit/>
          </a:bodyPr>
          <a:lstStyle/>
          <a:p>
            <a:r>
              <a:rPr lang="ar-SA" dirty="0"/>
              <a:t>مدرسة الشوامخ ح2-3</a:t>
            </a:r>
            <a:endParaRPr lang="en-US" dirty="0"/>
          </a:p>
        </p:txBody>
      </p:sp>
      <p:pic>
        <p:nvPicPr>
          <p:cNvPr id="11" name="Picture 10" descr="التربية والتعليم» تعلن هويتها المرئية الجديدة | صحيفة الخليج">
            <a:extLst>
              <a:ext uri="{FF2B5EF4-FFF2-40B4-BE49-F238E27FC236}">
                <a16:creationId xmlns:a16="http://schemas.microsoft.com/office/drawing/2014/main" id="{3C8EB5E9-F4F7-4286-85E3-07C270F67EE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28" y="0"/>
            <a:ext cx="1393825" cy="950595"/>
          </a:xfrm>
          <a:prstGeom prst="rect">
            <a:avLst/>
          </a:prstGeom>
          <a:noFill/>
          <a:ln>
            <a:noFill/>
          </a:ln>
        </p:spPr>
      </p:pic>
      <p:cxnSp>
        <p:nvCxnSpPr>
          <p:cNvPr id="26" name="Straight Connector 25">
            <a:extLst>
              <a:ext uri="{FF2B5EF4-FFF2-40B4-BE49-F238E27FC236}">
                <a16:creationId xmlns:a16="http://schemas.microsoft.com/office/drawing/2014/main" id="{F01D46CC-8FB0-C94B-7CAD-849E1A165EE8}"/>
              </a:ext>
            </a:extLst>
          </p:cNvPr>
          <p:cNvCxnSpPr>
            <a:cxnSpLocks/>
          </p:cNvCxnSpPr>
          <p:nvPr/>
        </p:nvCxnSpPr>
        <p:spPr>
          <a:xfrm>
            <a:off x="5680129" y="1995639"/>
            <a:ext cx="0" cy="412213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7" name="Arrow: Left 36">
            <a:extLst>
              <a:ext uri="{FF2B5EF4-FFF2-40B4-BE49-F238E27FC236}">
                <a16:creationId xmlns:a16="http://schemas.microsoft.com/office/drawing/2014/main" id="{699F6E13-6569-5369-D1DA-A1EBBD1DBC33}"/>
              </a:ext>
            </a:extLst>
          </p:cNvPr>
          <p:cNvSpPr/>
          <p:nvPr/>
        </p:nvSpPr>
        <p:spPr>
          <a:xfrm>
            <a:off x="4172062" y="2758094"/>
            <a:ext cx="1317481" cy="584773"/>
          </a:xfrm>
          <a:prstGeom prst="lef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ar-SA" b="1" dirty="0"/>
              <a:t>المهارة</a:t>
            </a:r>
            <a:endParaRPr lang="en-US" b="1" dirty="0"/>
          </a:p>
        </p:txBody>
      </p:sp>
      <p:sp>
        <p:nvSpPr>
          <p:cNvPr id="7" name="TextBox 6">
            <a:extLst>
              <a:ext uri="{FF2B5EF4-FFF2-40B4-BE49-F238E27FC236}">
                <a16:creationId xmlns:a16="http://schemas.microsoft.com/office/drawing/2014/main" id="{2F408831-56B6-7F0A-E390-91495105DC7E}"/>
              </a:ext>
            </a:extLst>
          </p:cNvPr>
          <p:cNvSpPr txBox="1"/>
          <p:nvPr/>
        </p:nvSpPr>
        <p:spPr>
          <a:xfrm>
            <a:off x="4294958" y="1872583"/>
            <a:ext cx="6449784" cy="276999"/>
          </a:xfrm>
          <a:prstGeom prst="rect">
            <a:avLst/>
          </a:prstGeom>
          <a:noFill/>
        </p:spPr>
        <p:txBody>
          <a:bodyPr wrap="square">
            <a:spAutoFit/>
          </a:bodyPr>
          <a:lstStyle/>
          <a:p>
            <a:r>
              <a:rPr lang="ar-SA" sz="1200" b="1" i="0" u="none" strike="noStrike" baseline="0" dirty="0">
                <a:highlight>
                  <a:srgbClr val="00FF00"/>
                </a:highlight>
                <a:latin typeface="SakkalMajalla-Bold"/>
              </a:rPr>
              <a:t>نص سردي خارجيٌّ</a:t>
            </a:r>
            <a:endParaRPr lang="en-US" sz="3600" b="1" dirty="0">
              <a:highlight>
                <a:srgbClr val="00FF00"/>
              </a:highlight>
            </a:endParaRPr>
          </a:p>
        </p:txBody>
      </p:sp>
      <p:pic>
        <p:nvPicPr>
          <p:cNvPr id="4" name="Picture 3">
            <a:extLst>
              <a:ext uri="{FF2B5EF4-FFF2-40B4-BE49-F238E27FC236}">
                <a16:creationId xmlns:a16="http://schemas.microsoft.com/office/drawing/2014/main" id="{1AB06A2E-61A3-381D-D966-403C9987F160}"/>
              </a:ext>
            </a:extLst>
          </p:cNvPr>
          <p:cNvPicPr>
            <a:picLocks noChangeAspect="1"/>
          </p:cNvPicPr>
          <p:nvPr/>
        </p:nvPicPr>
        <p:blipFill>
          <a:blip r:embed="rId5"/>
          <a:stretch>
            <a:fillRect/>
          </a:stretch>
        </p:blipFill>
        <p:spPr>
          <a:xfrm>
            <a:off x="3719393" y="2205135"/>
            <a:ext cx="1817260" cy="426879"/>
          </a:xfrm>
          <a:prstGeom prst="rect">
            <a:avLst/>
          </a:prstGeom>
        </p:spPr>
      </p:pic>
      <p:pic>
        <p:nvPicPr>
          <p:cNvPr id="3" name="Picture 2">
            <a:extLst>
              <a:ext uri="{FF2B5EF4-FFF2-40B4-BE49-F238E27FC236}">
                <a16:creationId xmlns:a16="http://schemas.microsoft.com/office/drawing/2014/main" id="{DF4D8D70-58AC-2424-F1C4-4EB3D2B33A6D}"/>
              </a:ext>
            </a:extLst>
          </p:cNvPr>
          <p:cNvPicPr>
            <a:picLocks noChangeAspect="1"/>
          </p:cNvPicPr>
          <p:nvPr/>
        </p:nvPicPr>
        <p:blipFill>
          <a:blip r:embed="rId6"/>
          <a:stretch>
            <a:fillRect/>
          </a:stretch>
        </p:blipFill>
        <p:spPr>
          <a:xfrm>
            <a:off x="1101689" y="2748663"/>
            <a:ext cx="2716856" cy="594204"/>
          </a:xfrm>
          <a:prstGeom prst="rect">
            <a:avLst/>
          </a:prstGeom>
        </p:spPr>
      </p:pic>
      <p:sp>
        <p:nvSpPr>
          <p:cNvPr id="8" name="TextBox 7">
            <a:extLst>
              <a:ext uri="{FF2B5EF4-FFF2-40B4-BE49-F238E27FC236}">
                <a16:creationId xmlns:a16="http://schemas.microsoft.com/office/drawing/2014/main" id="{D9371CCC-F485-A630-1B24-E480F22FF676}"/>
              </a:ext>
            </a:extLst>
          </p:cNvPr>
          <p:cNvSpPr txBox="1"/>
          <p:nvPr/>
        </p:nvSpPr>
        <p:spPr>
          <a:xfrm>
            <a:off x="5840372" y="2099193"/>
            <a:ext cx="6128950" cy="3568926"/>
          </a:xfrm>
          <a:prstGeom prst="rect">
            <a:avLst/>
          </a:prstGeom>
          <a:noFill/>
        </p:spPr>
        <p:txBody>
          <a:bodyPr wrap="square">
            <a:spAutoFit/>
          </a:bodyPr>
          <a:lstStyle/>
          <a:p>
            <a:pPr marL="0" marR="0" algn="r" rtl="1">
              <a:lnSpc>
                <a:spcPct val="107000"/>
              </a:lnSpc>
              <a:spcAft>
                <a:spcPts val="800"/>
              </a:spcAft>
              <a:buNone/>
            </a:pPr>
            <a:r>
              <a:rPr lang="ar-SA" sz="1800" b="1" dirty="0">
                <a:effectLst/>
                <a:latin typeface="Calibri" panose="020F0502020204030204" pitchFamily="34" charset="0"/>
                <a:ea typeface="Calibri" panose="020F0502020204030204" pitchFamily="34" charset="0"/>
                <a:cs typeface="Sakkal Majalla" panose="02000000000000000000" pitchFamily="2" charset="-78"/>
              </a:rPr>
              <a:t>في قاعةِ الدراسةِ الباردةِ، بينما كانَ الأستاذُ (مارتن) يشرحُ درسَ التاريخِ، ويوثّقُ ما حدثَ للجيوشِ الفرنسيةِ في معركةِ (</a:t>
            </a:r>
            <a:r>
              <a:rPr lang="ar-SA" sz="1800" b="1" dirty="0" err="1">
                <a:effectLst/>
                <a:latin typeface="Calibri" panose="020F0502020204030204" pitchFamily="34" charset="0"/>
                <a:ea typeface="Calibri" panose="020F0502020204030204" pitchFamily="34" charset="0"/>
                <a:cs typeface="Sakkal Majalla" panose="02000000000000000000" pitchFamily="2" charset="-78"/>
              </a:rPr>
              <a:t>واترلو</a:t>
            </a:r>
            <a:r>
              <a:rPr lang="ar-SA" sz="1800" b="1" dirty="0">
                <a:effectLst/>
                <a:latin typeface="Calibri" panose="020F0502020204030204" pitchFamily="34" charset="0"/>
                <a:ea typeface="Calibri" panose="020F0502020204030204" pitchFamily="34" charset="0"/>
                <a:cs typeface="Sakkal Majalla" panose="02000000000000000000" pitchFamily="2" charset="-78"/>
              </a:rPr>
              <a:t>) بقيادةِ (نابليونَ بونابرت)، كانَ (</a:t>
            </a:r>
            <a:r>
              <a:rPr lang="ar-SA" sz="1800" b="1" dirty="0" err="1">
                <a:effectLst/>
                <a:latin typeface="Calibri" panose="020F0502020204030204" pitchFamily="34" charset="0"/>
                <a:ea typeface="Calibri" panose="020F0502020204030204" pitchFamily="34" charset="0"/>
                <a:cs typeface="Sakkal Majalla" panose="02000000000000000000" pitchFamily="2" charset="-78"/>
              </a:rPr>
              <a:t>بييرُو</a:t>
            </a:r>
            <a:r>
              <a:rPr lang="ar-SA" sz="1800" b="1" dirty="0">
                <a:effectLst/>
                <a:latin typeface="Calibri" panose="020F0502020204030204" pitchFamily="34" charset="0"/>
                <a:ea typeface="Calibri" panose="020F0502020204030204" pitchFamily="34" charset="0"/>
                <a:cs typeface="Sakkal Majalla" panose="02000000000000000000" pitchFamily="2" charset="-78"/>
              </a:rPr>
              <a:t>) البائسُ الصغيرُ يرسمُ أمنيةً وحيدةً في دفترِهِ بأشكالِ أرغفةِ الخبزِ.  </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Aft>
                <a:spcPts val="800"/>
              </a:spcAft>
              <a:buNone/>
            </a:pPr>
            <a:r>
              <a:rPr lang="ar-SA" sz="1800" b="1" dirty="0">
                <a:effectLst/>
                <a:latin typeface="Calibri" panose="020F0502020204030204" pitchFamily="34" charset="0"/>
                <a:ea typeface="Calibri" panose="020F0502020204030204" pitchFamily="34" charset="0"/>
                <a:cs typeface="Sakkal Majalla" panose="02000000000000000000" pitchFamily="2" charset="-78"/>
              </a:rPr>
              <a:t>- "</a:t>
            </a:r>
            <a:r>
              <a:rPr lang="ar-SA" sz="1800" b="1" dirty="0" err="1">
                <a:effectLst/>
                <a:latin typeface="Calibri" panose="020F0502020204030204" pitchFamily="34" charset="0"/>
                <a:ea typeface="Calibri" panose="020F0502020204030204" pitchFamily="34" charset="0"/>
                <a:cs typeface="Sakkal Majalla" panose="02000000000000000000" pitchFamily="2" charset="-78"/>
              </a:rPr>
              <a:t>بييرو</a:t>
            </a:r>
            <a:r>
              <a:rPr lang="ar-SA" sz="1800" b="1" dirty="0">
                <a:effectLst/>
                <a:latin typeface="Calibri" panose="020F0502020204030204" pitchFamily="34" charset="0"/>
                <a:ea typeface="Calibri" panose="020F0502020204030204" pitchFamily="34" charset="0"/>
                <a:cs typeface="Sakkal Majalla" panose="02000000000000000000" pitchFamily="2" charset="-78"/>
              </a:rPr>
              <a:t>! ماذا كانتْ نتيجةُ معركةِ </a:t>
            </a:r>
            <a:r>
              <a:rPr lang="ar-SA" sz="1800" b="1" dirty="0" err="1">
                <a:effectLst/>
                <a:latin typeface="Calibri" panose="020F0502020204030204" pitchFamily="34" charset="0"/>
                <a:ea typeface="Calibri" panose="020F0502020204030204" pitchFamily="34" charset="0"/>
                <a:cs typeface="Sakkal Majalla" panose="02000000000000000000" pitchFamily="2" charset="-78"/>
              </a:rPr>
              <a:t>واترلو</a:t>
            </a:r>
            <a:r>
              <a:rPr lang="ar-SA" sz="1800" b="1" dirty="0">
                <a:effectLst/>
                <a:latin typeface="Calibri" panose="020F0502020204030204" pitchFamily="34" charset="0"/>
                <a:ea typeface="Calibri" panose="020F0502020204030204" pitchFamily="34" charset="0"/>
                <a:cs typeface="Sakkal Majalla" panose="02000000000000000000" pitchFamily="2" charset="-78"/>
              </a:rPr>
              <a:t>؟" سألَ الأستاذُ.  </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Aft>
                <a:spcPts val="800"/>
              </a:spcAft>
              <a:buNone/>
            </a:pPr>
            <a:r>
              <a:rPr lang="ar-SA" sz="1800" b="1" dirty="0">
                <a:effectLst/>
                <a:latin typeface="Calibri" panose="020F0502020204030204" pitchFamily="34" charset="0"/>
                <a:ea typeface="Calibri" panose="020F0502020204030204" pitchFamily="34" charset="0"/>
                <a:cs typeface="Sakkal Majalla" panose="02000000000000000000" pitchFamily="2" charset="-78"/>
              </a:rPr>
              <a:t>- "خ...خبز؟"  </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Aft>
                <a:spcPts val="800"/>
              </a:spcAft>
              <a:buNone/>
            </a:pPr>
            <a:r>
              <a:rPr lang="ar-SA" sz="1800" b="1" dirty="0">
                <a:effectLst/>
                <a:latin typeface="Calibri" panose="020F0502020204030204" pitchFamily="34" charset="0"/>
                <a:ea typeface="Calibri" panose="020F0502020204030204" pitchFamily="34" charset="0"/>
                <a:cs typeface="Sakkal Majalla" panose="02000000000000000000" pitchFamily="2" charset="-78"/>
              </a:rPr>
              <a:t>ضحكَ التلاميذُ جميعًا، إلا أنَّ الأستاذَ لم يضحكْ.. رأى في عينيْ تلميذِهِ ذلكَ الفراغَ الذي تركتْهُ الحربُ.  </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Aft>
                <a:spcPts val="800"/>
              </a:spcAft>
              <a:buNone/>
            </a:pPr>
            <a:r>
              <a:rPr lang="ar-SA" sz="1800" b="1" dirty="0">
                <a:effectLst/>
                <a:latin typeface="Calibri" panose="020F0502020204030204" pitchFamily="34" charset="0"/>
                <a:ea typeface="Calibri" panose="020F0502020204030204" pitchFamily="34" charset="0"/>
                <a:cs typeface="Sakkal Majalla" panose="02000000000000000000" pitchFamily="2" charset="-78"/>
              </a:rPr>
              <a:t>ذلكَ المساءَ، بينما كانَ (</a:t>
            </a:r>
            <a:r>
              <a:rPr lang="ar-SA" sz="1800" b="1" dirty="0" err="1">
                <a:effectLst/>
                <a:latin typeface="Calibri" panose="020F0502020204030204" pitchFamily="34" charset="0"/>
                <a:ea typeface="Calibri" panose="020F0502020204030204" pitchFamily="34" charset="0"/>
                <a:cs typeface="Sakkal Majalla" panose="02000000000000000000" pitchFamily="2" charset="-78"/>
              </a:rPr>
              <a:t>بييرو</a:t>
            </a:r>
            <a:r>
              <a:rPr lang="ar-SA" sz="1800" b="1" dirty="0">
                <a:effectLst/>
                <a:latin typeface="Calibri" panose="020F0502020204030204" pitchFamily="34" charset="0"/>
                <a:ea typeface="Calibri" panose="020F0502020204030204" pitchFamily="34" charset="0"/>
                <a:cs typeface="Sakkal Majalla" panose="02000000000000000000" pitchFamily="2" charset="-78"/>
              </a:rPr>
              <a:t>) يتلمَّسُ طريقَهُ بحائطِ المخبزِ، سمعَ أنينًا يأتي منَ الداخلِ. وجدَ السيدَ (</a:t>
            </a:r>
            <a:r>
              <a:rPr lang="ar-SA" sz="1800" b="1" dirty="0" err="1">
                <a:effectLst/>
                <a:latin typeface="Calibri" panose="020F0502020204030204" pitchFamily="34" charset="0"/>
                <a:ea typeface="Calibri" panose="020F0502020204030204" pitchFamily="34" charset="0"/>
                <a:cs typeface="Sakkal Majalla" panose="02000000000000000000" pitchFamily="2" charset="-78"/>
              </a:rPr>
              <a:t>لوبير</a:t>
            </a:r>
            <a:r>
              <a:rPr lang="ar-SA" sz="1800" b="1" dirty="0">
                <a:effectLst/>
                <a:latin typeface="Calibri" panose="020F0502020204030204" pitchFamily="34" charset="0"/>
                <a:ea typeface="Calibri" panose="020F0502020204030204" pitchFamily="34" charset="0"/>
                <a:cs typeface="Sakkal Majalla" panose="02000000000000000000" pitchFamily="2" charset="-78"/>
              </a:rPr>
              <a:t>) منحنيًا على جرحٍ نازفٍ في ساقِهِ، وجهُهُ الأصفرُ يلمعُ تحتَ ضوءِ القمرِ.  </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Aft>
                <a:spcPts val="800"/>
              </a:spcAft>
              <a:buNone/>
            </a:pPr>
            <a:r>
              <a:rPr lang="ar-SA" sz="1800" b="1" dirty="0">
                <a:effectLst/>
                <a:latin typeface="Calibri" panose="020F0502020204030204" pitchFamily="34" charset="0"/>
                <a:ea typeface="Calibri" panose="020F0502020204030204" pitchFamily="34" charset="0"/>
                <a:cs typeface="Sakkal Majalla" panose="02000000000000000000" pitchFamily="2" charset="-78"/>
              </a:rPr>
              <a:t>"ا... اذهبْ بعيدًا!" زمجرَ الرجلُ، لكنَّ صوتَهُ كانَ ضعيفًا هذه المرةَ.  </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p:txBody>
      </p:sp>
      <p:sp>
        <p:nvSpPr>
          <p:cNvPr id="10" name="TextBox 9">
            <a:extLst>
              <a:ext uri="{FF2B5EF4-FFF2-40B4-BE49-F238E27FC236}">
                <a16:creationId xmlns:a16="http://schemas.microsoft.com/office/drawing/2014/main" id="{C50805AA-34C8-E7E1-5B31-A8FD0CF6DCEB}"/>
              </a:ext>
            </a:extLst>
          </p:cNvPr>
          <p:cNvSpPr txBox="1"/>
          <p:nvPr/>
        </p:nvSpPr>
        <p:spPr>
          <a:xfrm>
            <a:off x="-158851" y="3515134"/>
            <a:ext cx="5580858" cy="3718134"/>
          </a:xfrm>
          <a:prstGeom prst="rect">
            <a:avLst/>
          </a:prstGeom>
          <a:noFill/>
        </p:spPr>
        <p:txBody>
          <a:bodyPr wrap="square">
            <a:spAutoFit/>
          </a:bodyPr>
          <a:lstStyle/>
          <a:p>
            <a:pPr algn="r" rtl="1">
              <a:lnSpc>
                <a:spcPct val="115000"/>
              </a:lnSpc>
              <a:spcAft>
                <a:spcPts val="800"/>
              </a:spcAft>
            </a:pPr>
            <a:r>
              <a:rPr lang="ar-SA" sz="1600" b="1" dirty="0">
                <a:solidFill>
                  <a:srgbClr val="C00000"/>
                </a:solidFill>
              </a:rPr>
              <a:t>20- </a:t>
            </a:r>
            <a:r>
              <a:rPr lang="ar-SA" sz="2000" b="1" dirty="0">
                <a:solidFill>
                  <a:srgbClr val="C00000"/>
                </a:solidFill>
              </a:rPr>
              <a:t>واحدة من الأفكار التالية هي من أفكار النص </a:t>
            </a:r>
            <a:r>
              <a:rPr lang="ar-SA" b="1" dirty="0">
                <a:solidFill>
                  <a:srgbClr val="C00000"/>
                </a:solidFill>
              </a:rPr>
              <a:t>:</a:t>
            </a:r>
          </a:p>
          <a:p>
            <a:pPr algn="r" rtl="1">
              <a:lnSpc>
                <a:spcPct val="115000"/>
              </a:lnSpc>
              <a:spcAft>
                <a:spcPts val="800"/>
              </a:spcAft>
            </a:pPr>
            <a:r>
              <a:rPr lang="ar-SA" sz="2400" b="1" dirty="0">
                <a:solidFill>
                  <a:schemeClr val="tx2"/>
                </a:solidFill>
                <a:highlight>
                  <a:srgbClr val="00FFFF"/>
                </a:highlight>
              </a:rPr>
              <a:t>أ- </a:t>
            </a:r>
            <a:r>
              <a:rPr lang="ar-SA" dirty="0">
                <a:highlight>
                  <a:srgbClr val="00FFFF"/>
                </a:highlight>
              </a:rPr>
              <a:t>انتظار بيرو والده الذي لم يرجع من الحرب</a:t>
            </a:r>
            <a:endParaRPr lang="en-US" sz="2000" dirty="0">
              <a:solidFill>
                <a:schemeClr val="tx2"/>
              </a:solidFill>
              <a:highlight>
                <a:srgbClr val="00FFFF"/>
              </a:highlight>
            </a:endParaRPr>
          </a:p>
          <a:p>
            <a:pPr algn="r" rtl="1">
              <a:lnSpc>
                <a:spcPct val="115000"/>
              </a:lnSpc>
              <a:spcAft>
                <a:spcPts val="800"/>
              </a:spcAft>
            </a:pPr>
            <a:r>
              <a:rPr lang="ar-SA" sz="2400" b="1" dirty="0">
                <a:solidFill>
                  <a:schemeClr val="tx2"/>
                </a:solidFill>
              </a:rPr>
              <a:t>ب- </a:t>
            </a:r>
            <a:r>
              <a:rPr lang="ar-SA" dirty="0"/>
              <a:t>حب بيرو لشراء الملابس الجديدة</a:t>
            </a:r>
          </a:p>
          <a:p>
            <a:pPr algn="r" rtl="1">
              <a:lnSpc>
                <a:spcPct val="115000"/>
              </a:lnSpc>
              <a:spcAft>
                <a:spcPts val="800"/>
              </a:spcAft>
            </a:pPr>
            <a:r>
              <a:rPr lang="ar-SA" b="1" dirty="0"/>
              <a:t>ت- موت السيد </a:t>
            </a:r>
            <a:r>
              <a:rPr lang="ar-SA" b="1" dirty="0" err="1"/>
              <a:t>لوبير</a:t>
            </a:r>
            <a:r>
              <a:rPr lang="ar-SA" b="1" dirty="0"/>
              <a:t> بعد مرضه</a:t>
            </a:r>
            <a:endParaRPr lang="en-US" sz="2000" b="1" dirty="0">
              <a:solidFill>
                <a:schemeClr val="tx2"/>
              </a:solidFill>
              <a:highlight>
                <a:srgbClr val="00FFFF"/>
              </a:highlight>
            </a:endParaRPr>
          </a:p>
          <a:p>
            <a:pPr algn="r" rtl="1">
              <a:lnSpc>
                <a:spcPct val="115000"/>
              </a:lnSpc>
              <a:spcAft>
                <a:spcPts val="800"/>
              </a:spcAft>
            </a:pPr>
            <a:r>
              <a:rPr lang="ar-SA" sz="2000" b="1" dirty="0">
                <a:solidFill>
                  <a:schemeClr val="tx2"/>
                </a:solidFill>
              </a:rPr>
              <a:t>ث-</a:t>
            </a:r>
            <a:r>
              <a:rPr lang="ar-SA" sz="2000" b="1" dirty="0">
                <a:effectLst/>
                <a:latin typeface="Calibri" panose="020F0502020204030204" pitchFamily="34" charset="0"/>
                <a:ea typeface="Calibri" panose="020F0502020204030204" pitchFamily="34" charset="0"/>
                <a:cs typeface="Sakkal Majalla" panose="02000000000000000000" pitchFamily="2" charset="-78"/>
              </a:rPr>
              <a:t> </a:t>
            </a:r>
            <a:r>
              <a:rPr lang="ar-SA" b="1" dirty="0"/>
              <a:t>عدم قدرة بيرو لصناعة الخبز</a:t>
            </a:r>
            <a:endParaRPr lang="en-US" b="1" dirty="0"/>
          </a:p>
          <a:p>
            <a:pPr algn="r" rtl="1">
              <a:lnSpc>
                <a:spcPct val="115000"/>
              </a:lnSpc>
              <a:spcAft>
                <a:spcPts val="800"/>
              </a:spcAft>
            </a:pPr>
            <a:endParaRPr lang="ar-SA" sz="2000" b="1" dirty="0">
              <a:effectLst/>
              <a:latin typeface="Calibri" panose="020F0502020204030204" pitchFamily="34" charset="0"/>
              <a:ea typeface="Calibri" panose="020F0502020204030204" pitchFamily="34" charset="0"/>
              <a:cs typeface="Sakkal Majalla" panose="02000000000000000000" pitchFamily="2" charset="-78"/>
            </a:endParaRPr>
          </a:p>
          <a:p>
            <a:pPr algn="r" rtl="1">
              <a:lnSpc>
                <a:spcPct val="115000"/>
              </a:lnSpc>
              <a:spcAft>
                <a:spcPts val="800"/>
              </a:spcAft>
            </a:pPr>
            <a:r>
              <a:rPr lang="ar-SA" sz="2000" dirty="0">
                <a:solidFill>
                  <a:srgbClr val="C00000"/>
                </a:solidFill>
              </a:rPr>
              <a:t> </a:t>
            </a:r>
            <a:endParaRPr lang="en-US" sz="2000" dirty="0">
              <a:solidFill>
                <a:srgbClr val="C00000"/>
              </a:solidFill>
            </a:endParaRPr>
          </a:p>
          <a:p>
            <a:pPr algn="r" rtl="1">
              <a:lnSpc>
                <a:spcPct val="115000"/>
              </a:lnSpc>
              <a:spcAft>
                <a:spcPts val="800"/>
              </a:spcAft>
            </a:pPr>
            <a:endParaRPr lang="ar-SA" sz="2000" b="1" dirty="0">
              <a:solidFill>
                <a:srgbClr val="C00000"/>
              </a:solidFill>
            </a:endParaRPr>
          </a:p>
        </p:txBody>
      </p:sp>
      <p:pic>
        <p:nvPicPr>
          <p:cNvPr id="13" name="Picture 2" descr="11 بديلا صحيا للخبز | أسلوب حياة | الجزيرة نت">
            <a:extLst>
              <a:ext uri="{FF2B5EF4-FFF2-40B4-BE49-F238E27FC236}">
                <a16:creationId xmlns:a16="http://schemas.microsoft.com/office/drawing/2014/main" id="{A3B3EB88-64B2-66D9-9DD9-0EBA13098E4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3226" y="1897338"/>
            <a:ext cx="1687767" cy="836008"/>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33780598-EA6D-185F-5703-F09DA5BC55A9}"/>
              </a:ext>
            </a:extLst>
          </p:cNvPr>
          <p:cNvSpPr txBox="1"/>
          <p:nvPr/>
        </p:nvSpPr>
        <p:spPr>
          <a:xfrm>
            <a:off x="474646" y="6351069"/>
            <a:ext cx="5205483" cy="400110"/>
          </a:xfrm>
          <a:prstGeom prst="rect">
            <a:avLst/>
          </a:prstGeom>
          <a:noFill/>
        </p:spPr>
        <p:txBody>
          <a:bodyPr wrap="square" rtlCol="0">
            <a:spAutoFit/>
          </a:bodyPr>
          <a:lstStyle/>
          <a:p>
            <a:r>
              <a:rPr lang="ar-SA" sz="2000" b="1" dirty="0">
                <a:solidFill>
                  <a:srgbClr val="CB6792"/>
                </a:solidFill>
              </a:rPr>
              <a:t>إعداد... أ: شيخة السويدي</a:t>
            </a:r>
            <a:endParaRPr lang="en-US" sz="2000" b="1" dirty="0">
              <a:solidFill>
                <a:srgbClr val="CB6792"/>
              </a:solidFill>
            </a:endParaRPr>
          </a:p>
        </p:txBody>
      </p:sp>
    </p:spTree>
    <p:extLst>
      <p:ext uri="{BB962C8B-B14F-4D97-AF65-F5344CB8AC3E}">
        <p14:creationId xmlns:p14="http://schemas.microsoft.com/office/powerpoint/2010/main" val="1416097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A9F35-1570-6ED6-81B9-F7B5F7BB0E9D}"/>
            </a:ext>
          </a:extLst>
        </p:cNvPr>
        <p:cNvGrpSpPr/>
        <p:nvPr/>
      </p:nvGrpSpPr>
      <p:grpSpPr>
        <a:xfrm>
          <a:off x="0" y="0"/>
          <a:ext cx="0" cy="0"/>
          <a:chOff x="0" y="0"/>
          <a:chExt cx="0" cy="0"/>
        </a:xfrm>
      </p:grpSpPr>
      <p:pic>
        <p:nvPicPr>
          <p:cNvPr id="5" name="Picture 4" descr="A logo with a feather and a book&#10;&#10;AI-generated content may be incorrect.">
            <a:extLst>
              <a:ext uri="{FF2B5EF4-FFF2-40B4-BE49-F238E27FC236}">
                <a16:creationId xmlns:a16="http://schemas.microsoft.com/office/drawing/2014/main" id="{3816B3C6-2FB6-C180-D91E-5E54D0F1B7F0}"/>
              </a:ext>
            </a:extLst>
          </p:cNvPr>
          <p:cNvPicPr>
            <a:picLocks noChangeAspect="1"/>
          </p:cNvPicPr>
          <p:nvPr/>
        </p:nvPicPr>
        <p:blipFill>
          <a:blip r:embed="rId3">
            <a:extLst>
              <a:ext uri="{28A0092B-C50C-407E-A947-70E740481C1C}">
                <a14:useLocalDpi xmlns:a14="http://schemas.microsoft.com/office/drawing/2010/main" val="0"/>
              </a:ext>
            </a:extLst>
          </a:blip>
          <a:srcRect t="18752" r="-1" b="-1"/>
          <a:stretch>
            <a:fillRect/>
          </a:stretch>
        </p:blipFill>
        <p:spPr>
          <a:xfrm>
            <a:off x="3068" y="9"/>
            <a:ext cx="12188932" cy="2011073"/>
          </a:xfrm>
          <a:prstGeom prst="rect">
            <a:avLst/>
          </a:prstGeom>
        </p:spPr>
      </p:pic>
      <p:sp>
        <p:nvSpPr>
          <p:cNvPr id="9" name="TextBox 8">
            <a:extLst>
              <a:ext uri="{FF2B5EF4-FFF2-40B4-BE49-F238E27FC236}">
                <a16:creationId xmlns:a16="http://schemas.microsoft.com/office/drawing/2014/main" id="{D3B7C5E8-82DD-68A0-CAC1-B95EF605698B}"/>
              </a:ext>
            </a:extLst>
          </p:cNvPr>
          <p:cNvSpPr txBox="1"/>
          <p:nvPr/>
        </p:nvSpPr>
        <p:spPr>
          <a:xfrm>
            <a:off x="9957661" y="309966"/>
            <a:ext cx="1914041" cy="369332"/>
          </a:xfrm>
          <a:prstGeom prst="rect">
            <a:avLst/>
          </a:prstGeom>
          <a:noFill/>
        </p:spPr>
        <p:txBody>
          <a:bodyPr wrap="square" rtlCol="0">
            <a:spAutoFit/>
          </a:bodyPr>
          <a:lstStyle/>
          <a:p>
            <a:r>
              <a:rPr lang="ar-SA" dirty="0"/>
              <a:t>مدرسة الشوامخ ح2-3</a:t>
            </a:r>
            <a:endParaRPr lang="en-US" dirty="0"/>
          </a:p>
        </p:txBody>
      </p:sp>
      <p:pic>
        <p:nvPicPr>
          <p:cNvPr id="11" name="Picture 10" descr="التربية والتعليم» تعلن هويتها المرئية الجديدة | صحيفة الخليج">
            <a:extLst>
              <a:ext uri="{FF2B5EF4-FFF2-40B4-BE49-F238E27FC236}">
                <a16:creationId xmlns:a16="http://schemas.microsoft.com/office/drawing/2014/main" id="{55A1F369-1755-150E-6E2A-B14A8EACD19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28" y="0"/>
            <a:ext cx="1393825" cy="950595"/>
          </a:xfrm>
          <a:prstGeom prst="rect">
            <a:avLst/>
          </a:prstGeom>
          <a:noFill/>
          <a:ln>
            <a:noFill/>
          </a:ln>
        </p:spPr>
      </p:pic>
      <p:cxnSp>
        <p:nvCxnSpPr>
          <p:cNvPr id="26" name="Straight Connector 25">
            <a:extLst>
              <a:ext uri="{FF2B5EF4-FFF2-40B4-BE49-F238E27FC236}">
                <a16:creationId xmlns:a16="http://schemas.microsoft.com/office/drawing/2014/main" id="{7497DBFA-5671-15DD-4EFC-4A2C2771471C}"/>
              </a:ext>
            </a:extLst>
          </p:cNvPr>
          <p:cNvCxnSpPr>
            <a:cxnSpLocks/>
          </p:cNvCxnSpPr>
          <p:nvPr/>
        </p:nvCxnSpPr>
        <p:spPr>
          <a:xfrm>
            <a:off x="6338240" y="2011081"/>
            <a:ext cx="0" cy="412213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 name="TextBox 3">
            <a:extLst>
              <a:ext uri="{FF2B5EF4-FFF2-40B4-BE49-F238E27FC236}">
                <a16:creationId xmlns:a16="http://schemas.microsoft.com/office/drawing/2014/main" id="{4E64365E-D50D-6B31-5DDB-A678AE7805F7}"/>
              </a:ext>
            </a:extLst>
          </p:cNvPr>
          <p:cNvSpPr txBox="1"/>
          <p:nvPr/>
        </p:nvSpPr>
        <p:spPr>
          <a:xfrm>
            <a:off x="9907605" y="2553168"/>
            <a:ext cx="2014151" cy="646331"/>
          </a:xfrm>
          <a:prstGeom prst="rect">
            <a:avLst/>
          </a:prstGeom>
          <a:noFill/>
        </p:spPr>
        <p:txBody>
          <a:bodyPr wrap="square" rtlCol="0">
            <a:spAutoFit/>
          </a:bodyPr>
          <a:lstStyle/>
          <a:p>
            <a:r>
              <a:rPr lang="ar-SA" sz="3600" b="1" u="sng" dirty="0"/>
              <a:t>ثالثاً</a:t>
            </a:r>
            <a:endParaRPr lang="en-US" sz="3600" b="1" u="sng" dirty="0"/>
          </a:p>
        </p:txBody>
      </p:sp>
      <p:sp>
        <p:nvSpPr>
          <p:cNvPr id="8" name="TextBox 7">
            <a:extLst>
              <a:ext uri="{FF2B5EF4-FFF2-40B4-BE49-F238E27FC236}">
                <a16:creationId xmlns:a16="http://schemas.microsoft.com/office/drawing/2014/main" id="{D9985118-2596-C942-6D72-A268FBC2B8CF}"/>
              </a:ext>
            </a:extLst>
          </p:cNvPr>
          <p:cNvSpPr txBox="1"/>
          <p:nvPr/>
        </p:nvSpPr>
        <p:spPr>
          <a:xfrm>
            <a:off x="474646" y="2307965"/>
            <a:ext cx="6098058" cy="655244"/>
          </a:xfrm>
          <a:prstGeom prst="rect">
            <a:avLst/>
          </a:prstGeom>
          <a:noFill/>
        </p:spPr>
        <p:txBody>
          <a:bodyPr wrap="square">
            <a:spAutoFit/>
          </a:bodyPr>
          <a:lstStyle/>
          <a:p>
            <a:pPr algn="ctr" rtl="1">
              <a:lnSpc>
                <a:spcPct val="107000"/>
              </a:lnSpc>
              <a:spcAft>
                <a:spcPts val="800"/>
              </a:spcAft>
            </a:pPr>
            <a:r>
              <a:rPr lang="ar-SA" sz="3600" b="1" dirty="0"/>
              <a:t>مخلوقات الماء العجيبة</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9D827BEF-C780-BA74-3978-C03320B84A49}"/>
              </a:ext>
            </a:extLst>
          </p:cNvPr>
          <p:cNvSpPr txBox="1"/>
          <p:nvPr/>
        </p:nvSpPr>
        <p:spPr>
          <a:xfrm>
            <a:off x="310185" y="4759760"/>
            <a:ext cx="6192516" cy="461665"/>
          </a:xfrm>
          <a:prstGeom prst="rect">
            <a:avLst/>
          </a:prstGeom>
          <a:noFill/>
        </p:spPr>
        <p:txBody>
          <a:bodyPr wrap="square" rtlCol="0">
            <a:spAutoFit/>
          </a:bodyPr>
          <a:lstStyle/>
          <a:p>
            <a:r>
              <a:rPr lang="ar-SA" sz="2400" b="1" dirty="0">
                <a:highlight>
                  <a:srgbClr val="00FFFF"/>
                </a:highlight>
              </a:rPr>
              <a:t>اقرأ النص المعلوماتي  الآتي ثم  أجب عما يليه  من أسئلة </a:t>
            </a:r>
            <a:endParaRPr lang="en-US" sz="2400" b="1" dirty="0">
              <a:highlight>
                <a:srgbClr val="00FFFF"/>
              </a:highlight>
            </a:endParaRPr>
          </a:p>
        </p:txBody>
      </p:sp>
      <p:pic>
        <p:nvPicPr>
          <p:cNvPr id="6" name="Picture 5">
            <a:extLst>
              <a:ext uri="{FF2B5EF4-FFF2-40B4-BE49-F238E27FC236}">
                <a16:creationId xmlns:a16="http://schemas.microsoft.com/office/drawing/2014/main" id="{36BAB1F7-4481-5F6C-21BB-3763506CCE89}"/>
              </a:ext>
            </a:extLst>
          </p:cNvPr>
          <p:cNvPicPr>
            <a:picLocks noChangeAspect="1"/>
          </p:cNvPicPr>
          <p:nvPr/>
        </p:nvPicPr>
        <p:blipFill>
          <a:blip r:embed="rId5"/>
          <a:stretch>
            <a:fillRect/>
          </a:stretch>
        </p:blipFill>
        <p:spPr>
          <a:xfrm>
            <a:off x="7276027" y="3447850"/>
            <a:ext cx="3777899" cy="875108"/>
          </a:xfrm>
          <a:prstGeom prst="rect">
            <a:avLst/>
          </a:prstGeom>
        </p:spPr>
      </p:pic>
      <p:pic>
        <p:nvPicPr>
          <p:cNvPr id="4098" name="Picture 2" descr="منظر جانبي لأنواع أسماك البحر, منظر جانبي لأنواع أسماك البحر, أنواع الأسماك  البحرية, منظر جانبي لأنواع الأسماك PNG صورة للتحميل مجانا">
            <a:extLst>
              <a:ext uri="{FF2B5EF4-FFF2-40B4-BE49-F238E27FC236}">
                <a16:creationId xmlns:a16="http://schemas.microsoft.com/office/drawing/2014/main" id="{AF12CA43-3DF5-36D7-CA19-303492C55EC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41559" y="2876333"/>
            <a:ext cx="2929768" cy="167711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146ACD2-A2AC-18F9-6A49-79896D5E7E82}"/>
              </a:ext>
            </a:extLst>
          </p:cNvPr>
          <p:cNvSpPr txBox="1"/>
          <p:nvPr/>
        </p:nvSpPr>
        <p:spPr>
          <a:xfrm>
            <a:off x="474646" y="6351069"/>
            <a:ext cx="5205483" cy="400110"/>
          </a:xfrm>
          <a:prstGeom prst="rect">
            <a:avLst/>
          </a:prstGeom>
          <a:noFill/>
        </p:spPr>
        <p:txBody>
          <a:bodyPr wrap="square" rtlCol="0">
            <a:spAutoFit/>
          </a:bodyPr>
          <a:lstStyle/>
          <a:p>
            <a:r>
              <a:rPr lang="ar-SA" sz="2000" b="1" dirty="0">
                <a:solidFill>
                  <a:srgbClr val="CB6792"/>
                </a:solidFill>
              </a:rPr>
              <a:t>إعداد... أ: شيخة السويدي</a:t>
            </a:r>
            <a:endParaRPr lang="en-US" sz="2000" b="1" dirty="0">
              <a:solidFill>
                <a:srgbClr val="CB6792"/>
              </a:solidFill>
            </a:endParaRPr>
          </a:p>
        </p:txBody>
      </p:sp>
    </p:spTree>
    <p:extLst>
      <p:ext uri="{BB962C8B-B14F-4D97-AF65-F5344CB8AC3E}">
        <p14:creationId xmlns:p14="http://schemas.microsoft.com/office/powerpoint/2010/main" val="32690887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3F674-710B-01E0-DE35-848C3C4335D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8A52290-0955-BC83-E19A-D55BC3AAFBCC}"/>
              </a:ext>
            </a:extLst>
          </p:cNvPr>
          <p:cNvSpPr txBox="1"/>
          <p:nvPr/>
        </p:nvSpPr>
        <p:spPr>
          <a:xfrm>
            <a:off x="132203" y="752521"/>
            <a:ext cx="11505282" cy="5632311"/>
          </a:xfrm>
          <a:prstGeom prst="rect">
            <a:avLst/>
          </a:prstGeom>
          <a:noFill/>
        </p:spPr>
        <p:txBody>
          <a:bodyPr wrap="square">
            <a:spAutoFit/>
          </a:bodyPr>
          <a:lstStyle/>
          <a:p>
            <a:pPr algn="r">
              <a:buNone/>
            </a:pPr>
            <a:r>
              <a:rPr lang="en-US" sz="2400" b="1" dirty="0"/>
              <a:t>🐟 </a:t>
            </a:r>
            <a:r>
              <a:rPr lang="ar-SA" sz="2400" b="1" dirty="0"/>
              <a:t>الأسماك: مخلوقات الماء العجيبة</a:t>
            </a:r>
          </a:p>
          <a:p>
            <a:pPr algn="r">
              <a:buNone/>
            </a:pPr>
            <a:r>
              <a:rPr lang="ar-SA" sz="2400" dirty="0"/>
              <a:t>الأسماك هي حيوانات فقارية تعيش في </a:t>
            </a:r>
            <a:r>
              <a:rPr lang="ar-SA" sz="2400" b="1" dirty="0"/>
              <a:t>المياه العذبة والمالحة</a:t>
            </a:r>
            <a:r>
              <a:rPr lang="ar-SA" sz="2400" dirty="0"/>
              <a:t>، وتُعد من أقدم الكائنات الحية على الأرض، إذ ظهرت قبل ملايين السنين. تمتلك الأسماك </a:t>
            </a:r>
            <a:r>
              <a:rPr lang="ar-SA" sz="2400" b="1" dirty="0"/>
              <a:t>جسمًا مغطى بالقشور</a:t>
            </a:r>
            <a:r>
              <a:rPr lang="ar-SA" sz="2400" dirty="0"/>
              <a:t> يساعدها على الحماية والحركة، ولها </a:t>
            </a:r>
            <a:r>
              <a:rPr lang="ar-SA" sz="2400" b="1" dirty="0"/>
              <a:t>زعانف متعددة</a:t>
            </a:r>
            <a:r>
              <a:rPr lang="ar-SA" sz="2400" dirty="0"/>
              <a:t> تساعدها على السباحة بسرعة والتوازن في الماء. كما تتنفس عن طريق </a:t>
            </a:r>
            <a:r>
              <a:rPr lang="ar-SA" sz="2400" b="1" dirty="0"/>
              <a:t>الخياشيم</a:t>
            </a:r>
            <a:r>
              <a:rPr lang="ar-SA" sz="2400" dirty="0"/>
              <a:t> التي تمتص الأكسجين من الماء.</a:t>
            </a:r>
          </a:p>
          <a:p>
            <a:pPr algn="r">
              <a:buNone/>
            </a:pPr>
            <a:r>
              <a:rPr lang="ar-SA" sz="2400" dirty="0"/>
              <a:t>تختلف الأسماك بشكل كبير في الحجم والشكل واللون. فهناك </a:t>
            </a:r>
            <a:r>
              <a:rPr lang="ar-SA" sz="2400" b="1" dirty="0"/>
              <a:t>الأسماك الصغيرة</a:t>
            </a:r>
            <a:r>
              <a:rPr lang="ar-SA" sz="2400" dirty="0"/>
              <a:t> مثل السمك الذهبي، و</a:t>
            </a:r>
            <a:r>
              <a:rPr lang="ar-SA" sz="2400" b="1" dirty="0"/>
              <a:t>الأسماك الكبيرة</a:t>
            </a:r>
            <a:r>
              <a:rPr lang="ar-SA" sz="2400" dirty="0"/>
              <a:t> مثل أسماك القرش والحوت. تتلون بعض الأسماك بألوان زاهية لجذب الأنظار، بينما تتخذ أخرى ألوانًا متناسقة مع البيئة لتخفي نفسها عن المفترسين.</a:t>
            </a:r>
          </a:p>
          <a:p>
            <a:pPr algn="r">
              <a:buNone/>
            </a:pPr>
            <a:r>
              <a:rPr lang="ar-SA" sz="2400" dirty="0"/>
              <a:t>تلعب الأسماك دورًا مهمًا في </a:t>
            </a:r>
            <a:r>
              <a:rPr lang="ar-SA" sz="2400" b="1" dirty="0"/>
              <a:t>التوازن البيئي</a:t>
            </a:r>
            <a:r>
              <a:rPr lang="ar-SA" sz="2400" dirty="0"/>
              <a:t>، فهي تتغذى على النباتات المائية والحيوانات الصغيرة، وفي نفس الوقت تُعد مصدرًا غذائيًا للكائنات الأكبر حجمًا. بعض الأسماك تعيش في أعماق البحار المظلمة، حيث تُنتج الضوء من أجسامها للتواصل أو لصيد الطعام، وهي ظاهرة تُسمى </a:t>
            </a:r>
            <a:r>
              <a:rPr lang="ar-SA" sz="2400" b="1" dirty="0"/>
              <a:t>التلألؤ البيولوجي</a:t>
            </a:r>
            <a:r>
              <a:rPr lang="ar-SA" sz="2400" dirty="0"/>
              <a:t>.</a:t>
            </a:r>
          </a:p>
          <a:p>
            <a:pPr algn="r">
              <a:buNone/>
            </a:pPr>
            <a:r>
              <a:rPr lang="ar-SA" sz="2400" dirty="0"/>
              <a:t>الأسماك مفيدة للإنسان أيضًا، فهي مصدر غني </a:t>
            </a:r>
            <a:r>
              <a:rPr lang="ar-SA" sz="2400" b="1" dirty="0"/>
              <a:t>بالبروتين، الفيتامينات، والأحماض الدهنية الأساسية</a:t>
            </a:r>
            <a:r>
              <a:rPr lang="ar-SA" sz="2400" dirty="0"/>
              <a:t> التي تقوي القلب والدماغ. وينصح الأطباء بتناول الأسماك بشكل منتظم ضمن النظام الغذائي الصحي.</a:t>
            </a:r>
          </a:p>
          <a:p>
            <a:pPr algn="r">
              <a:buNone/>
            </a:pPr>
            <a:r>
              <a:rPr lang="ar-SA" sz="2400" dirty="0"/>
              <a:t>بالإضافة إلى ذلك، تهتم العديد من المجتمعات بتربية الأسماك في </a:t>
            </a:r>
            <a:r>
              <a:rPr lang="ar-SA" sz="2400" b="1" dirty="0"/>
              <a:t>الأحواض والمزارع المائية</a:t>
            </a:r>
            <a:r>
              <a:rPr lang="ar-SA" sz="2400" dirty="0"/>
              <a:t> لتوفير الغذاء والحفاظ على الأنواع المهددة بالانقراض. وللأسماك مكانة مهمة في الثقافة والفنون، فهي مصدر إلهام للرسامين والشعراء والأساطير الشعبية حول العالم</a:t>
            </a:r>
            <a:r>
              <a:rPr lang="ar-SA" dirty="0"/>
              <a:t>.</a:t>
            </a:r>
          </a:p>
        </p:txBody>
      </p:sp>
    </p:spTree>
    <p:extLst>
      <p:ext uri="{BB962C8B-B14F-4D97-AF65-F5344CB8AC3E}">
        <p14:creationId xmlns:p14="http://schemas.microsoft.com/office/powerpoint/2010/main" val="14296621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36AFD-A113-9B9C-0180-1412E531BC2D}"/>
            </a:ext>
          </a:extLst>
        </p:cNvPr>
        <p:cNvGrpSpPr/>
        <p:nvPr/>
      </p:nvGrpSpPr>
      <p:grpSpPr>
        <a:xfrm>
          <a:off x="0" y="0"/>
          <a:ext cx="0" cy="0"/>
          <a:chOff x="0" y="0"/>
          <a:chExt cx="0" cy="0"/>
        </a:xfrm>
      </p:grpSpPr>
      <p:pic>
        <p:nvPicPr>
          <p:cNvPr id="5" name="Picture 4" descr="A logo with a feather and a book&#10;&#10;AI-generated content may be incorrect.">
            <a:extLst>
              <a:ext uri="{FF2B5EF4-FFF2-40B4-BE49-F238E27FC236}">
                <a16:creationId xmlns:a16="http://schemas.microsoft.com/office/drawing/2014/main" id="{5B16C261-3D85-1194-9BA3-510CF53A44F2}"/>
              </a:ext>
            </a:extLst>
          </p:cNvPr>
          <p:cNvPicPr>
            <a:picLocks noChangeAspect="1"/>
          </p:cNvPicPr>
          <p:nvPr/>
        </p:nvPicPr>
        <p:blipFill>
          <a:blip r:embed="rId3">
            <a:extLst>
              <a:ext uri="{28A0092B-C50C-407E-A947-70E740481C1C}">
                <a14:useLocalDpi xmlns:a14="http://schemas.microsoft.com/office/drawing/2010/main" val="0"/>
              </a:ext>
            </a:extLst>
          </a:blip>
          <a:srcRect t="18752" r="-1" b="-1"/>
          <a:stretch>
            <a:fillRect/>
          </a:stretch>
        </p:blipFill>
        <p:spPr>
          <a:xfrm>
            <a:off x="3068" y="9"/>
            <a:ext cx="12188932" cy="2011073"/>
          </a:xfrm>
          <a:prstGeom prst="rect">
            <a:avLst/>
          </a:prstGeom>
        </p:spPr>
      </p:pic>
      <p:sp>
        <p:nvSpPr>
          <p:cNvPr id="9" name="TextBox 8">
            <a:extLst>
              <a:ext uri="{FF2B5EF4-FFF2-40B4-BE49-F238E27FC236}">
                <a16:creationId xmlns:a16="http://schemas.microsoft.com/office/drawing/2014/main" id="{43CBCF6D-0D9D-E8D0-5668-BF796B3706BA}"/>
              </a:ext>
            </a:extLst>
          </p:cNvPr>
          <p:cNvSpPr txBox="1"/>
          <p:nvPr/>
        </p:nvSpPr>
        <p:spPr>
          <a:xfrm>
            <a:off x="9957661" y="309966"/>
            <a:ext cx="1914041" cy="369332"/>
          </a:xfrm>
          <a:prstGeom prst="rect">
            <a:avLst/>
          </a:prstGeom>
          <a:noFill/>
        </p:spPr>
        <p:txBody>
          <a:bodyPr wrap="square" rtlCol="0">
            <a:spAutoFit/>
          </a:bodyPr>
          <a:lstStyle/>
          <a:p>
            <a:r>
              <a:rPr lang="ar-SA" dirty="0"/>
              <a:t>مدرسة الشوامخ ح2-3</a:t>
            </a:r>
            <a:endParaRPr lang="en-US" dirty="0"/>
          </a:p>
        </p:txBody>
      </p:sp>
      <p:pic>
        <p:nvPicPr>
          <p:cNvPr id="11" name="Picture 10" descr="التربية والتعليم» تعلن هويتها المرئية الجديدة | صحيفة الخليج">
            <a:extLst>
              <a:ext uri="{FF2B5EF4-FFF2-40B4-BE49-F238E27FC236}">
                <a16:creationId xmlns:a16="http://schemas.microsoft.com/office/drawing/2014/main" id="{3D8FEBA1-DAC7-7A44-4B43-499F6C07EB2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28" y="0"/>
            <a:ext cx="1393825" cy="950595"/>
          </a:xfrm>
          <a:prstGeom prst="rect">
            <a:avLst/>
          </a:prstGeom>
          <a:noFill/>
          <a:ln>
            <a:noFill/>
          </a:ln>
        </p:spPr>
      </p:pic>
      <p:cxnSp>
        <p:nvCxnSpPr>
          <p:cNvPr id="26" name="Straight Connector 25">
            <a:extLst>
              <a:ext uri="{FF2B5EF4-FFF2-40B4-BE49-F238E27FC236}">
                <a16:creationId xmlns:a16="http://schemas.microsoft.com/office/drawing/2014/main" id="{3BB5DDA6-ECA8-18A2-3A2A-8592D3B78AA5}"/>
              </a:ext>
            </a:extLst>
          </p:cNvPr>
          <p:cNvCxnSpPr>
            <a:cxnSpLocks/>
          </p:cNvCxnSpPr>
          <p:nvPr/>
        </p:nvCxnSpPr>
        <p:spPr>
          <a:xfrm>
            <a:off x="5680129" y="1995639"/>
            <a:ext cx="0" cy="412213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7" name="Arrow: Left 36">
            <a:extLst>
              <a:ext uri="{FF2B5EF4-FFF2-40B4-BE49-F238E27FC236}">
                <a16:creationId xmlns:a16="http://schemas.microsoft.com/office/drawing/2014/main" id="{B4484EFA-5EE4-286C-9C3F-6603EA09DF79}"/>
              </a:ext>
            </a:extLst>
          </p:cNvPr>
          <p:cNvSpPr/>
          <p:nvPr/>
        </p:nvSpPr>
        <p:spPr>
          <a:xfrm>
            <a:off x="4172062" y="2758094"/>
            <a:ext cx="1317481" cy="584773"/>
          </a:xfrm>
          <a:prstGeom prst="lef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ar-SA" b="1" dirty="0"/>
              <a:t>المهارة</a:t>
            </a:r>
            <a:endParaRPr lang="en-US" b="1" dirty="0"/>
          </a:p>
        </p:txBody>
      </p:sp>
      <p:sp>
        <p:nvSpPr>
          <p:cNvPr id="7" name="TextBox 6">
            <a:extLst>
              <a:ext uri="{FF2B5EF4-FFF2-40B4-BE49-F238E27FC236}">
                <a16:creationId xmlns:a16="http://schemas.microsoft.com/office/drawing/2014/main" id="{CDCE9BA0-5C65-A64E-C796-6498167B58CC}"/>
              </a:ext>
            </a:extLst>
          </p:cNvPr>
          <p:cNvSpPr txBox="1"/>
          <p:nvPr/>
        </p:nvSpPr>
        <p:spPr>
          <a:xfrm>
            <a:off x="4294958" y="1872583"/>
            <a:ext cx="6449784" cy="276999"/>
          </a:xfrm>
          <a:prstGeom prst="rect">
            <a:avLst/>
          </a:prstGeom>
          <a:noFill/>
        </p:spPr>
        <p:txBody>
          <a:bodyPr wrap="square">
            <a:spAutoFit/>
          </a:bodyPr>
          <a:lstStyle/>
          <a:p>
            <a:r>
              <a:rPr lang="ar-SA" sz="1200" b="1" i="0" u="none" strike="noStrike" baseline="0" dirty="0">
                <a:highlight>
                  <a:srgbClr val="00FF00"/>
                </a:highlight>
                <a:latin typeface="SakkalMajalla-Bold"/>
              </a:rPr>
              <a:t>نص معلوماتي خارجيٌّ</a:t>
            </a:r>
            <a:endParaRPr lang="en-US" sz="3600" b="1" dirty="0">
              <a:highlight>
                <a:srgbClr val="00FF00"/>
              </a:highlight>
            </a:endParaRPr>
          </a:p>
        </p:txBody>
      </p:sp>
      <p:pic>
        <p:nvPicPr>
          <p:cNvPr id="4" name="Picture 3">
            <a:extLst>
              <a:ext uri="{FF2B5EF4-FFF2-40B4-BE49-F238E27FC236}">
                <a16:creationId xmlns:a16="http://schemas.microsoft.com/office/drawing/2014/main" id="{073B3287-1C46-459D-161C-741C2C5178F6}"/>
              </a:ext>
            </a:extLst>
          </p:cNvPr>
          <p:cNvPicPr>
            <a:picLocks noChangeAspect="1"/>
          </p:cNvPicPr>
          <p:nvPr/>
        </p:nvPicPr>
        <p:blipFill>
          <a:blip r:embed="rId5"/>
          <a:stretch>
            <a:fillRect/>
          </a:stretch>
        </p:blipFill>
        <p:spPr>
          <a:xfrm>
            <a:off x="3719393" y="2205135"/>
            <a:ext cx="1817260" cy="426879"/>
          </a:xfrm>
          <a:prstGeom prst="rect">
            <a:avLst/>
          </a:prstGeom>
        </p:spPr>
      </p:pic>
      <p:sp>
        <p:nvSpPr>
          <p:cNvPr id="10" name="TextBox 9">
            <a:extLst>
              <a:ext uri="{FF2B5EF4-FFF2-40B4-BE49-F238E27FC236}">
                <a16:creationId xmlns:a16="http://schemas.microsoft.com/office/drawing/2014/main" id="{0F863886-95DC-939C-E620-DC192E7C31A6}"/>
              </a:ext>
            </a:extLst>
          </p:cNvPr>
          <p:cNvSpPr txBox="1"/>
          <p:nvPr/>
        </p:nvSpPr>
        <p:spPr>
          <a:xfrm>
            <a:off x="-91315" y="3559760"/>
            <a:ext cx="5580858" cy="3718134"/>
          </a:xfrm>
          <a:prstGeom prst="rect">
            <a:avLst/>
          </a:prstGeom>
          <a:noFill/>
        </p:spPr>
        <p:txBody>
          <a:bodyPr wrap="square">
            <a:spAutoFit/>
          </a:bodyPr>
          <a:lstStyle/>
          <a:p>
            <a:pPr algn="r" rtl="1">
              <a:lnSpc>
                <a:spcPct val="115000"/>
              </a:lnSpc>
              <a:spcAft>
                <a:spcPts val="800"/>
              </a:spcAft>
            </a:pPr>
            <a:r>
              <a:rPr lang="ar-SA" sz="1600" b="1" dirty="0">
                <a:solidFill>
                  <a:srgbClr val="C00000"/>
                </a:solidFill>
              </a:rPr>
              <a:t>21- </a:t>
            </a:r>
            <a:r>
              <a:rPr lang="ar-SA" sz="2000" b="1" dirty="0">
                <a:solidFill>
                  <a:srgbClr val="C00000"/>
                </a:solidFill>
              </a:rPr>
              <a:t>ما الفكرة الرئيسة للنص السابق </a:t>
            </a:r>
            <a:r>
              <a:rPr lang="ar-SA" b="1" dirty="0">
                <a:solidFill>
                  <a:srgbClr val="C00000"/>
                </a:solidFill>
              </a:rPr>
              <a:t>:</a:t>
            </a:r>
          </a:p>
          <a:p>
            <a:pPr algn="r" rtl="1">
              <a:lnSpc>
                <a:spcPct val="115000"/>
              </a:lnSpc>
              <a:spcAft>
                <a:spcPts val="800"/>
              </a:spcAft>
            </a:pPr>
            <a:r>
              <a:rPr lang="ar-SA" sz="2400" b="1" dirty="0">
                <a:solidFill>
                  <a:schemeClr val="tx2"/>
                </a:solidFill>
              </a:rPr>
              <a:t>أ- </a:t>
            </a:r>
            <a:r>
              <a:rPr lang="ar-SA" dirty="0"/>
              <a:t>أنواع الأسماك الموجودة في الأرض.</a:t>
            </a:r>
            <a:endParaRPr lang="en-US" sz="2000" dirty="0">
              <a:solidFill>
                <a:schemeClr val="tx2"/>
              </a:solidFill>
            </a:endParaRPr>
          </a:p>
          <a:p>
            <a:pPr algn="r" rtl="1">
              <a:lnSpc>
                <a:spcPct val="115000"/>
              </a:lnSpc>
              <a:spcAft>
                <a:spcPts val="800"/>
              </a:spcAft>
            </a:pPr>
            <a:r>
              <a:rPr lang="ar-SA" sz="2400" b="1" dirty="0">
                <a:solidFill>
                  <a:schemeClr val="tx2"/>
                </a:solidFill>
                <a:highlight>
                  <a:srgbClr val="FFFF00"/>
                </a:highlight>
              </a:rPr>
              <a:t>ب- </a:t>
            </a:r>
            <a:r>
              <a:rPr lang="ar-SA" dirty="0">
                <a:highlight>
                  <a:srgbClr val="FFFF00"/>
                </a:highlight>
              </a:rPr>
              <a:t>الأسماك أنواعها وأهميتها للإنسان.</a:t>
            </a:r>
          </a:p>
          <a:p>
            <a:pPr algn="r" rtl="1">
              <a:lnSpc>
                <a:spcPct val="115000"/>
              </a:lnSpc>
              <a:spcAft>
                <a:spcPts val="800"/>
              </a:spcAft>
            </a:pPr>
            <a:r>
              <a:rPr lang="ar-SA" b="1" dirty="0"/>
              <a:t>ت- الأسماك حيوانات فوائدها قليلة.</a:t>
            </a:r>
            <a:endParaRPr lang="en-US" sz="2000" b="1" dirty="0">
              <a:solidFill>
                <a:schemeClr val="tx2"/>
              </a:solidFill>
              <a:highlight>
                <a:srgbClr val="00FFFF"/>
              </a:highlight>
            </a:endParaRPr>
          </a:p>
          <a:p>
            <a:pPr algn="r" rtl="1">
              <a:lnSpc>
                <a:spcPct val="115000"/>
              </a:lnSpc>
              <a:spcAft>
                <a:spcPts val="800"/>
              </a:spcAft>
            </a:pPr>
            <a:r>
              <a:rPr lang="ar-SA" sz="2000" b="1" dirty="0">
                <a:solidFill>
                  <a:schemeClr val="tx2"/>
                </a:solidFill>
              </a:rPr>
              <a:t>ث-</a:t>
            </a:r>
            <a:r>
              <a:rPr lang="ar-SA" sz="2000" b="1" dirty="0">
                <a:effectLst/>
                <a:latin typeface="Calibri" panose="020F0502020204030204" pitchFamily="34" charset="0"/>
                <a:ea typeface="Calibri" panose="020F0502020204030204" pitchFamily="34" charset="0"/>
                <a:cs typeface="Sakkal Majalla" panose="02000000000000000000" pitchFamily="2" charset="-78"/>
              </a:rPr>
              <a:t> </a:t>
            </a:r>
            <a:r>
              <a:rPr lang="ar-SA" b="1" dirty="0"/>
              <a:t>الأسماك حيوانات فقارية تختلف في الشكل.</a:t>
            </a:r>
            <a:endParaRPr lang="en-US" b="1" dirty="0"/>
          </a:p>
          <a:p>
            <a:pPr algn="r" rtl="1">
              <a:lnSpc>
                <a:spcPct val="115000"/>
              </a:lnSpc>
              <a:spcAft>
                <a:spcPts val="800"/>
              </a:spcAft>
            </a:pPr>
            <a:endParaRPr lang="ar-SA" sz="2000" b="1" dirty="0">
              <a:effectLst/>
              <a:latin typeface="Calibri" panose="020F0502020204030204" pitchFamily="34" charset="0"/>
              <a:ea typeface="Calibri" panose="020F0502020204030204" pitchFamily="34" charset="0"/>
              <a:cs typeface="Sakkal Majalla" panose="02000000000000000000" pitchFamily="2" charset="-78"/>
            </a:endParaRPr>
          </a:p>
          <a:p>
            <a:pPr algn="r" rtl="1">
              <a:lnSpc>
                <a:spcPct val="115000"/>
              </a:lnSpc>
              <a:spcAft>
                <a:spcPts val="800"/>
              </a:spcAft>
            </a:pPr>
            <a:r>
              <a:rPr lang="ar-SA" sz="2000" dirty="0">
                <a:solidFill>
                  <a:srgbClr val="C00000"/>
                </a:solidFill>
              </a:rPr>
              <a:t> </a:t>
            </a:r>
            <a:endParaRPr lang="en-US" sz="2000" dirty="0">
              <a:solidFill>
                <a:srgbClr val="C00000"/>
              </a:solidFill>
            </a:endParaRPr>
          </a:p>
          <a:p>
            <a:pPr algn="r" rtl="1">
              <a:lnSpc>
                <a:spcPct val="115000"/>
              </a:lnSpc>
              <a:spcAft>
                <a:spcPts val="800"/>
              </a:spcAft>
            </a:pPr>
            <a:endParaRPr lang="ar-SA" sz="2000" b="1" dirty="0">
              <a:solidFill>
                <a:srgbClr val="C00000"/>
              </a:solidFill>
            </a:endParaRPr>
          </a:p>
        </p:txBody>
      </p:sp>
      <p:pic>
        <p:nvPicPr>
          <p:cNvPr id="13" name="Picture 12">
            <a:extLst>
              <a:ext uri="{FF2B5EF4-FFF2-40B4-BE49-F238E27FC236}">
                <a16:creationId xmlns:a16="http://schemas.microsoft.com/office/drawing/2014/main" id="{65C1659D-D810-FA69-D171-943F331078F6}"/>
              </a:ext>
            </a:extLst>
          </p:cNvPr>
          <p:cNvPicPr>
            <a:picLocks noChangeAspect="1"/>
          </p:cNvPicPr>
          <p:nvPr/>
        </p:nvPicPr>
        <p:blipFill>
          <a:blip r:embed="rId6"/>
          <a:stretch>
            <a:fillRect/>
          </a:stretch>
        </p:blipFill>
        <p:spPr>
          <a:xfrm>
            <a:off x="837282" y="2758094"/>
            <a:ext cx="2882111" cy="494293"/>
          </a:xfrm>
          <a:prstGeom prst="rect">
            <a:avLst/>
          </a:prstGeom>
        </p:spPr>
      </p:pic>
      <p:sp>
        <p:nvSpPr>
          <p:cNvPr id="15" name="TextBox 14">
            <a:extLst>
              <a:ext uri="{FF2B5EF4-FFF2-40B4-BE49-F238E27FC236}">
                <a16:creationId xmlns:a16="http://schemas.microsoft.com/office/drawing/2014/main" id="{69737B07-031E-7C32-9E95-86EFA583CD0C}"/>
              </a:ext>
            </a:extLst>
          </p:cNvPr>
          <p:cNvSpPr txBox="1"/>
          <p:nvPr/>
        </p:nvSpPr>
        <p:spPr>
          <a:xfrm>
            <a:off x="5870716" y="1930473"/>
            <a:ext cx="6130886" cy="4278094"/>
          </a:xfrm>
          <a:prstGeom prst="rect">
            <a:avLst/>
          </a:prstGeom>
          <a:noFill/>
        </p:spPr>
        <p:txBody>
          <a:bodyPr wrap="square">
            <a:spAutoFit/>
          </a:bodyPr>
          <a:lstStyle/>
          <a:p>
            <a:pPr algn="r">
              <a:buNone/>
            </a:pPr>
            <a:r>
              <a:rPr lang="ar-SA" sz="1600" b="1" dirty="0"/>
              <a:t>الأسماك هي حيوانات فقارية تعيش في المياه العذبة والمالحة، وتُعد من أقدم الكائنات الحية على الأرض، إذ ظهرت قبل ملايين السنين. تمتلك الأسماك جسمًا مغطى بالقشور يساعدها على الحماية والحركة، ولها زعانف متعددة تساعدها على السباحة بسرعة والتوازن في الماء. كما تتنفس عن طريق الخياشيم التي تمتص الأكسجين من الماء.</a:t>
            </a:r>
          </a:p>
          <a:p>
            <a:pPr algn="r">
              <a:buNone/>
            </a:pPr>
            <a:r>
              <a:rPr lang="ar-SA" sz="1600" b="1" dirty="0"/>
              <a:t>تختلف الأسماك بشكل كبير في الحجم والشكل واللون. فهناك الأسماك الصغيرة مثل السمك الذهبي، والأسماك الكبيرة مثل أسماك القرش والحوت. تتلون بعض الأسماك بألوان زاهية لجذب الأنظار، بينما تتخذ أخرى ألوانًا متناسقة مع البيئة لتخفي نفسها عن المفترسين.</a:t>
            </a:r>
          </a:p>
          <a:p>
            <a:pPr algn="r">
              <a:buNone/>
            </a:pPr>
            <a:r>
              <a:rPr lang="ar-SA" sz="1600" b="1" dirty="0"/>
              <a:t>تلعب الأسماك دورًا مهمًا في التوازن البيئي، فهي تتغذى على النباتات المائية والحيوانات الصغيرة، وفي نفس الوقت تُعد مصدرًا غذائيًا للكائنات الأكبر حجمًا. بعض الأسماك تعيش في أعماق البحار المظلمة، حيث تُنتج الضوء من أجسامها للتواصل أو لصيد الطعام، وهي ظاهرة تُسمى التلألؤ البيولوجي.</a:t>
            </a:r>
          </a:p>
          <a:p>
            <a:pPr algn="r">
              <a:buNone/>
            </a:pPr>
            <a:r>
              <a:rPr lang="ar-SA" sz="1600" b="1" dirty="0"/>
              <a:t>الأسماك مفيدة للإنسان أيضًا، فهي مصدر غني بالبروتين، الفيتامينات، والأحماض الدهنية الأساسية التي تقوي القلب والدماغ. وينصح الأطباء بتناول الأسماك بشكل منتظم ضمن النظام الغذائي الصحي.</a:t>
            </a:r>
          </a:p>
          <a:p>
            <a:pPr algn="r">
              <a:buNone/>
            </a:pPr>
            <a:r>
              <a:rPr lang="ar-SA" sz="1600" b="1" dirty="0"/>
              <a:t>بالإضافة إلى ذلك، تهتم العديد من المجتمعات بتربية الأسماك في الأحواض والمزارع المائية لتوفير الغذاء والحفاظ على الأنواع المهددة بالانقراض. وللأسماك مكانة مهمة في الثقافة والفنون، فهي مصدر إلهام للرسامين والشعراء والأساطير الشعبية حول العالم.</a:t>
            </a:r>
          </a:p>
        </p:txBody>
      </p:sp>
      <p:pic>
        <p:nvPicPr>
          <p:cNvPr id="16" name="Picture 2" descr="منظر جانبي لأنواع أسماك البحر, منظر جانبي لأنواع أسماك البحر, أنواع الأسماك  البحرية, منظر جانبي لأنواع الأسماك PNG صورة للتحميل مجانا">
            <a:extLst>
              <a:ext uri="{FF2B5EF4-FFF2-40B4-BE49-F238E27FC236}">
                <a16:creationId xmlns:a16="http://schemas.microsoft.com/office/drawing/2014/main" id="{B46F47DE-053F-19DE-314D-74CE6F30D2C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4613" y="1995639"/>
            <a:ext cx="1263722" cy="817109"/>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58DDBC8D-ED6F-F0D7-BBA5-C4A7BCA489EF}"/>
              </a:ext>
            </a:extLst>
          </p:cNvPr>
          <p:cNvSpPr txBox="1"/>
          <p:nvPr/>
        </p:nvSpPr>
        <p:spPr>
          <a:xfrm>
            <a:off x="474646" y="6351069"/>
            <a:ext cx="5205483" cy="400110"/>
          </a:xfrm>
          <a:prstGeom prst="rect">
            <a:avLst/>
          </a:prstGeom>
          <a:noFill/>
        </p:spPr>
        <p:txBody>
          <a:bodyPr wrap="square" rtlCol="0">
            <a:spAutoFit/>
          </a:bodyPr>
          <a:lstStyle/>
          <a:p>
            <a:r>
              <a:rPr lang="ar-SA" sz="2000" b="1" dirty="0">
                <a:solidFill>
                  <a:srgbClr val="CB6792"/>
                </a:solidFill>
              </a:rPr>
              <a:t>إعداد... أ: شيخة السويدي</a:t>
            </a:r>
            <a:endParaRPr lang="en-US" sz="2000" b="1" dirty="0">
              <a:solidFill>
                <a:srgbClr val="CB6792"/>
              </a:solidFill>
            </a:endParaRPr>
          </a:p>
        </p:txBody>
      </p:sp>
    </p:spTree>
    <p:extLst>
      <p:ext uri="{BB962C8B-B14F-4D97-AF65-F5344CB8AC3E}">
        <p14:creationId xmlns:p14="http://schemas.microsoft.com/office/powerpoint/2010/main" val="24271249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4BA71-726F-19E4-EAD8-F70DE96AA62D}"/>
            </a:ext>
          </a:extLst>
        </p:cNvPr>
        <p:cNvGrpSpPr/>
        <p:nvPr/>
      </p:nvGrpSpPr>
      <p:grpSpPr>
        <a:xfrm>
          <a:off x="0" y="0"/>
          <a:ext cx="0" cy="0"/>
          <a:chOff x="0" y="0"/>
          <a:chExt cx="0" cy="0"/>
        </a:xfrm>
      </p:grpSpPr>
      <p:pic>
        <p:nvPicPr>
          <p:cNvPr id="5" name="Picture 4" descr="A logo with a feather and a book&#10;&#10;AI-generated content may be incorrect.">
            <a:extLst>
              <a:ext uri="{FF2B5EF4-FFF2-40B4-BE49-F238E27FC236}">
                <a16:creationId xmlns:a16="http://schemas.microsoft.com/office/drawing/2014/main" id="{ACCDCD90-E7E9-4DDE-BA6F-E8C81D37457D}"/>
              </a:ext>
            </a:extLst>
          </p:cNvPr>
          <p:cNvPicPr>
            <a:picLocks noChangeAspect="1"/>
          </p:cNvPicPr>
          <p:nvPr/>
        </p:nvPicPr>
        <p:blipFill>
          <a:blip r:embed="rId3">
            <a:extLst>
              <a:ext uri="{28A0092B-C50C-407E-A947-70E740481C1C}">
                <a14:useLocalDpi xmlns:a14="http://schemas.microsoft.com/office/drawing/2010/main" val="0"/>
              </a:ext>
            </a:extLst>
          </a:blip>
          <a:srcRect t="18752" r="-1" b="-1"/>
          <a:stretch>
            <a:fillRect/>
          </a:stretch>
        </p:blipFill>
        <p:spPr>
          <a:xfrm>
            <a:off x="3068" y="9"/>
            <a:ext cx="12188932" cy="2011073"/>
          </a:xfrm>
          <a:prstGeom prst="rect">
            <a:avLst/>
          </a:prstGeom>
        </p:spPr>
      </p:pic>
      <p:sp>
        <p:nvSpPr>
          <p:cNvPr id="9" name="TextBox 8">
            <a:extLst>
              <a:ext uri="{FF2B5EF4-FFF2-40B4-BE49-F238E27FC236}">
                <a16:creationId xmlns:a16="http://schemas.microsoft.com/office/drawing/2014/main" id="{C5E1DEF0-9F7E-1D29-C85C-C8FDCFD7CB73}"/>
              </a:ext>
            </a:extLst>
          </p:cNvPr>
          <p:cNvSpPr txBox="1"/>
          <p:nvPr/>
        </p:nvSpPr>
        <p:spPr>
          <a:xfrm>
            <a:off x="9957661" y="309966"/>
            <a:ext cx="1914041" cy="369332"/>
          </a:xfrm>
          <a:prstGeom prst="rect">
            <a:avLst/>
          </a:prstGeom>
          <a:noFill/>
        </p:spPr>
        <p:txBody>
          <a:bodyPr wrap="square" rtlCol="0">
            <a:spAutoFit/>
          </a:bodyPr>
          <a:lstStyle/>
          <a:p>
            <a:r>
              <a:rPr lang="ar-SA" dirty="0"/>
              <a:t>مدرسة الشوامخ ح2-3</a:t>
            </a:r>
            <a:endParaRPr lang="en-US" dirty="0"/>
          </a:p>
        </p:txBody>
      </p:sp>
      <p:pic>
        <p:nvPicPr>
          <p:cNvPr id="11" name="Picture 10" descr="التربية والتعليم» تعلن هويتها المرئية الجديدة | صحيفة الخليج">
            <a:extLst>
              <a:ext uri="{FF2B5EF4-FFF2-40B4-BE49-F238E27FC236}">
                <a16:creationId xmlns:a16="http://schemas.microsoft.com/office/drawing/2014/main" id="{53FD26FF-AC69-9508-6ACE-851F2884BC8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28" y="0"/>
            <a:ext cx="1393825" cy="950595"/>
          </a:xfrm>
          <a:prstGeom prst="rect">
            <a:avLst/>
          </a:prstGeom>
          <a:noFill/>
          <a:ln>
            <a:noFill/>
          </a:ln>
        </p:spPr>
      </p:pic>
      <p:cxnSp>
        <p:nvCxnSpPr>
          <p:cNvPr id="26" name="Straight Connector 25">
            <a:extLst>
              <a:ext uri="{FF2B5EF4-FFF2-40B4-BE49-F238E27FC236}">
                <a16:creationId xmlns:a16="http://schemas.microsoft.com/office/drawing/2014/main" id="{B508B966-DB52-785B-05E6-219B83DD1ABF}"/>
              </a:ext>
            </a:extLst>
          </p:cNvPr>
          <p:cNvCxnSpPr>
            <a:cxnSpLocks/>
          </p:cNvCxnSpPr>
          <p:nvPr/>
        </p:nvCxnSpPr>
        <p:spPr>
          <a:xfrm>
            <a:off x="5680129" y="1995639"/>
            <a:ext cx="0" cy="412213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7" name="Arrow: Left 36">
            <a:extLst>
              <a:ext uri="{FF2B5EF4-FFF2-40B4-BE49-F238E27FC236}">
                <a16:creationId xmlns:a16="http://schemas.microsoft.com/office/drawing/2014/main" id="{69112EE3-647C-F007-7314-98499518125A}"/>
              </a:ext>
            </a:extLst>
          </p:cNvPr>
          <p:cNvSpPr/>
          <p:nvPr/>
        </p:nvSpPr>
        <p:spPr>
          <a:xfrm>
            <a:off x="4172062" y="2758094"/>
            <a:ext cx="1317481" cy="584773"/>
          </a:xfrm>
          <a:prstGeom prst="lef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ar-SA" b="1" dirty="0"/>
              <a:t>المهارة</a:t>
            </a:r>
            <a:endParaRPr lang="en-US" b="1" dirty="0"/>
          </a:p>
        </p:txBody>
      </p:sp>
      <p:sp>
        <p:nvSpPr>
          <p:cNvPr id="7" name="TextBox 6">
            <a:extLst>
              <a:ext uri="{FF2B5EF4-FFF2-40B4-BE49-F238E27FC236}">
                <a16:creationId xmlns:a16="http://schemas.microsoft.com/office/drawing/2014/main" id="{F305CC91-2C73-72EE-0F59-4FBD4F4B13DF}"/>
              </a:ext>
            </a:extLst>
          </p:cNvPr>
          <p:cNvSpPr txBox="1"/>
          <p:nvPr/>
        </p:nvSpPr>
        <p:spPr>
          <a:xfrm>
            <a:off x="4294958" y="1872583"/>
            <a:ext cx="6449784" cy="276999"/>
          </a:xfrm>
          <a:prstGeom prst="rect">
            <a:avLst/>
          </a:prstGeom>
          <a:noFill/>
        </p:spPr>
        <p:txBody>
          <a:bodyPr wrap="square">
            <a:spAutoFit/>
          </a:bodyPr>
          <a:lstStyle/>
          <a:p>
            <a:r>
              <a:rPr lang="ar-SA" sz="1200" b="1" i="0" u="none" strike="noStrike" baseline="0" dirty="0">
                <a:highlight>
                  <a:srgbClr val="00FF00"/>
                </a:highlight>
                <a:latin typeface="SakkalMajalla-Bold"/>
              </a:rPr>
              <a:t>نص معلوماتي خارجيٌّ</a:t>
            </a:r>
            <a:endParaRPr lang="en-US" sz="3600" b="1" dirty="0">
              <a:highlight>
                <a:srgbClr val="00FF00"/>
              </a:highlight>
            </a:endParaRPr>
          </a:p>
        </p:txBody>
      </p:sp>
      <p:pic>
        <p:nvPicPr>
          <p:cNvPr id="4" name="Picture 3">
            <a:extLst>
              <a:ext uri="{FF2B5EF4-FFF2-40B4-BE49-F238E27FC236}">
                <a16:creationId xmlns:a16="http://schemas.microsoft.com/office/drawing/2014/main" id="{DB1FE92B-9ED1-EBE6-3DD5-D2944774F2E7}"/>
              </a:ext>
            </a:extLst>
          </p:cNvPr>
          <p:cNvPicPr>
            <a:picLocks noChangeAspect="1"/>
          </p:cNvPicPr>
          <p:nvPr/>
        </p:nvPicPr>
        <p:blipFill>
          <a:blip r:embed="rId5"/>
          <a:stretch>
            <a:fillRect/>
          </a:stretch>
        </p:blipFill>
        <p:spPr>
          <a:xfrm>
            <a:off x="3719393" y="2205135"/>
            <a:ext cx="1817260" cy="426879"/>
          </a:xfrm>
          <a:prstGeom prst="rect">
            <a:avLst/>
          </a:prstGeom>
        </p:spPr>
      </p:pic>
      <p:sp>
        <p:nvSpPr>
          <p:cNvPr id="10" name="TextBox 9">
            <a:extLst>
              <a:ext uri="{FF2B5EF4-FFF2-40B4-BE49-F238E27FC236}">
                <a16:creationId xmlns:a16="http://schemas.microsoft.com/office/drawing/2014/main" id="{49C14E1F-D74F-E713-9079-0F28A2C4FE2C}"/>
              </a:ext>
            </a:extLst>
          </p:cNvPr>
          <p:cNvSpPr txBox="1"/>
          <p:nvPr/>
        </p:nvSpPr>
        <p:spPr>
          <a:xfrm>
            <a:off x="-91315" y="3518248"/>
            <a:ext cx="5580858" cy="3718134"/>
          </a:xfrm>
          <a:prstGeom prst="rect">
            <a:avLst/>
          </a:prstGeom>
          <a:noFill/>
        </p:spPr>
        <p:txBody>
          <a:bodyPr wrap="square">
            <a:spAutoFit/>
          </a:bodyPr>
          <a:lstStyle/>
          <a:p>
            <a:pPr algn="r" rtl="1">
              <a:lnSpc>
                <a:spcPct val="115000"/>
              </a:lnSpc>
              <a:spcAft>
                <a:spcPts val="800"/>
              </a:spcAft>
            </a:pPr>
            <a:r>
              <a:rPr lang="ar-SA" sz="1600" b="1" dirty="0">
                <a:solidFill>
                  <a:srgbClr val="C00000"/>
                </a:solidFill>
              </a:rPr>
              <a:t>22- </a:t>
            </a:r>
            <a:r>
              <a:rPr lang="ar-SA" sz="2000" b="1" dirty="0">
                <a:solidFill>
                  <a:srgbClr val="C00000"/>
                </a:solidFill>
              </a:rPr>
              <a:t>تتخذ بعض الحيوانات ألواناً متناسقة مع البيئة </a:t>
            </a:r>
            <a:r>
              <a:rPr lang="ar-SA" b="1" dirty="0">
                <a:solidFill>
                  <a:srgbClr val="C00000"/>
                </a:solidFill>
              </a:rPr>
              <a:t>:</a:t>
            </a:r>
          </a:p>
          <a:p>
            <a:pPr algn="r" rtl="1">
              <a:lnSpc>
                <a:spcPct val="115000"/>
              </a:lnSpc>
              <a:spcAft>
                <a:spcPts val="800"/>
              </a:spcAft>
            </a:pPr>
            <a:r>
              <a:rPr lang="ar-SA" sz="2400" b="1" dirty="0">
                <a:solidFill>
                  <a:schemeClr val="tx2"/>
                </a:solidFill>
              </a:rPr>
              <a:t>أ- </a:t>
            </a:r>
            <a:r>
              <a:rPr lang="ar-SA" dirty="0"/>
              <a:t>لحبها لألوان البيئة  .</a:t>
            </a:r>
            <a:endParaRPr lang="en-US" sz="2000" dirty="0">
              <a:solidFill>
                <a:schemeClr val="tx2"/>
              </a:solidFill>
            </a:endParaRPr>
          </a:p>
          <a:p>
            <a:pPr algn="r" rtl="1">
              <a:lnSpc>
                <a:spcPct val="115000"/>
              </a:lnSpc>
              <a:spcAft>
                <a:spcPts val="800"/>
              </a:spcAft>
            </a:pPr>
            <a:r>
              <a:rPr lang="ar-SA" sz="2400" b="1" dirty="0">
                <a:solidFill>
                  <a:schemeClr val="tx2"/>
                </a:solidFill>
              </a:rPr>
              <a:t>ب- </a:t>
            </a:r>
            <a:r>
              <a:rPr lang="ar-SA" dirty="0"/>
              <a:t>لتجذب الأسماك لها</a:t>
            </a:r>
          </a:p>
          <a:p>
            <a:pPr algn="r" rtl="1">
              <a:lnSpc>
                <a:spcPct val="115000"/>
              </a:lnSpc>
              <a:spcAft>
                <a:spcPts val="800"/>
              </a:spcAft>
            </a:pPr>
            <a:r>
              <a:rPr lang="ar-SA" b="1" dirty="0">
                <a:highlight>
                  <a:srgbClr val="FFFF00"/>
                </a:highlight>
              </a:rPr>
              <a:t>ت- لتخفي نفسها عن المفترسين .</a:t>
            </a:r>
            <a:endParaRPr lang="en-US" sz="2000" b="1" dirty="0">
              <a:solidFill>
                <a:schemeClr val="tx2"/>
              </a:solidFill>
              <a:highlight>
                <a:srgbClr val="FFFF00"/>
              </a:highlight>
            </a:endParaRPr>
          </a:p>
          <a:p>
            <a:pPr algn="r" rtl="1">
              <a:lnSpc>
                <a:spcPct val="115000"/>
              </a:lnSpc>
              <a:spcAft>
                <a:spcPts val="800"/>
              </a:spcAft>
            </a:pPr>
            <a:r>
              <a:rPr lang="ar-SA" sz="2000" b="1" dirty="0">
                <a:solidFill>
                  <a:schemeClr val="tx2"/>
                </a:solidFill>
              </a:rPr>
              <a:t>ث-</a:t>
            </a:r>
            <a:r>
              <a:rPr lang="ar-SA" sz="2000" b="1" dirty="0">
                <a:effectLst/>
                <a:latin typeface="Calibri" panose="020F0502020204030204" pitchFamily="34" charset="0"/>
                <a:ea typeface="Calibri" panose="020F0502020204030204" pitchFamily="34" charset="0"/>
                <a:cs typeface="Sakkal Majalla" panose="02000000000000000000" pitchFamily="2" charset="-78"/>
              </a:rPr>
              <a:t> </a:t>
            </a:r>
            <a:r>
              <a:rPr lang="ar-SA" b="1" dirty="0"/>
              <a:t>لتخفي نفسها عن الأشجار . </a:t>
            </a:r>
            <a:endParaRPr lang="en-US" b="1" dirty="0"/>
          </a:p>
          <a:p>
            <a:pPr algn="r" rtl="1">
              <a:lnSpc>
                <a:spcPct val="115000"/>
              </a:lnSpc>
              <a:spcAft>
                <a:spcPts val="800"/>
              </a:spcAft>
            </a:pPr>
            <a:endParaRPr lang="ar-SA" sz="2000" b="1" dirty="0">
              <a:effectLst/>
              <a:latin typeface="Calibri" panose="020F0502020204030204" pitchFamily="34" charset="0"/>
              <a:ea typeface="Calibri" panose="020F0502020204030204" pitchFamily="34" charset="0"/>
              <a:cs typeface="Sakkal Majalla" panose="02000000000000000000" pitchFamily="2" charset="-78"/>
            </a:endParaRPr>
          </a:p>
          <a:p>
            <a:pPr algn="r" rtl="1">
              <a:lnSpc>
                <a:spcPct val="115000"/>
              </a:lnSpc>
              <a:spcAft>
                <a:spcPts val="800"/>
              </a:spcAft>
            </a:pPr>
            <a:r>
              <a:rPr lang="ar-SA" sz="2000" dirty="0">
                <a:solidFill>
                  <a:srgbClr val="C00000"/>
                </a:solidFill>
              </a:rPr>
              <a:t> </a:t>
            </a:r>
            <a:endParaRPr lang="en-US" sz="2000" dirty="0">
              <a:solidFill>
                <a:srgbClr val="C00000"/>
              </a:solidFill>
            </a:endParaRPr>
          </a:p>
          <a:p>
            <a:pPr algn="r" rtl="1">
              <a:lnSpc>
                <a:spcPct val="115000"/>
              </a:lnSpc>
              <a:spcAft>
                <a:spcPts val="800"/>
              </a:spcAft>
            </a:pPr>
            <a:endParaRPr lang="ar-SA" sz="2000" b="1" dirty="0">
              <a:solidFill>
                <a:srgbClr val="C00000"/>
              </a:solidFill>
            </a:endParaRPr>
          </a:p>
        </p:txBody>
      </p:sp>
      <p:sp>
        <p:nvSpPr>
          <p:cNvPr id="15" name="TextBox 14">
            <a:extLst>
              <a:ext uri="{FF2B5EF4-FFF2-40B4-BE49-F238E27FC236}">
                <a16:creationId xmlns:a16="http://schemas.microsoft.com/office/drawing/2014/main" id="{52F8CC22-531F-80E6-AD66-0E37FC90CFE8}"/>
              </a:ext>
            </a:extLst>
          </p:cNvPr>
          <p:cNvSpPr txBox="1"/>
          <p:nvPr/>
        </p:nvSpPr>
        <p:spPr>
          <a:xfrm>
            <a:off x="5870716" y="1930473"/>
            <a:ext cx="6130886" cy="4278094"/>
          </a:xfrm>
          <a:prstGeom prst="rect">
            <a:avLst/>
          </a:prstGeom>
          <a:noFill/>
        </p:spPr>
        <p:txBody>
          <a:bodyPr wrap="square">
            <a:spAutoFit/>
          </a:bodyPr>
          <a:lstStyle/>
          <a:p>
            <a:pPr algn="r">
              <a:buNone/>
            </a:pPr>
            <a:r>
              <a:rPr lang="ar-SA" sz="1600" b="1" dirty="0"/>
              <a:t>الأسماك هي حيوانات فقارية تعيش في المياه العذبة والمالحة، وتُعد من أقدم الكائنات الحية على الأرض، إذ ظهرت قبل ملايين السنين. تمتلك الأسماك جسمًا مغطى بالقشور يساعدها على الحماية والحركة، ولها زعانف متعددة تساعدها على السباحة بسرعة والتوازن في الماء. كما تتنفس عن طريق الخياشيم التي تمتص الأكسجين من الماء.</a:t>
            </a:r>
          </a:p>
          <a:p>
            <a:pPr algn="r">
              <a:buNone/>
            </a:pPr>
            <a:r>
              <a:rPr lang="ar-SA" sz="1600" b="1" dirty="0"/>
              <a:t>تختلف الأسماك بشكل كبير في الحجم والشكل واللون. فهناك الأسماك الصغيرة مثل السمك الذهبي، والأسماك الكبيرة مثل أسماك القرش والحوت. تتلون بعض الأسماك بألوان زاهية لجذب الأنظار، بينما تتخذ أخرى ألوانًا متناسقة مع البيئة لتخفي نفسها عن المفترسين.</a:t>
            </a:r>
          </a:p>
          <a:p>
            <a:pPr algn="r">
              <a:buNone/>
            </a:pPr>
            <a:r>
              <a:rPr lang="ar-SA" sz="1600" b="1" dirty="0"/>
              <a:t>تلعب الأسماك دورًا مهمًا في التوازن البيئي، فهي تتغذى على النباتات المائية والحيوانات الصغيرة، وفي نفس الوقت تُعد مصدرًا غذائيًا للكائنات الأكبر حجمًا. بعض الأسماك تعيش في أعماق البحار المظلمة، حيث تُنتج الضوء من أجسامها للتواصل أو لصيد الطعام، وهي ظاهرة تُسمى التلألؤ البيولوجي.</a:t>
            </a:r>
          </a:p>
          <a:p>
            <a:pPr algn="r">
              <a:buNone/>
            </a:pPr>
            <a:r>
              <a:rPr lang="ar-SA" sz="1600" b="1" dirty="0"/>
              <a:t>الأسماك مفيدة للإنسان أيضًا، فهي مصدر غني بالبروتين، الفيتامينات، والأحماض الدهنية الأساسية التي تقوي القلب والدماغ. وينصح الأطباء بتناول الأسماك بشكل منتظم ضمن النظام الغذائي الصحي.</a:t>
            </a:r>
          </a:p>
          <a:p>
            <a:pPr algn="r">
              <a:buNone/>
            </a:pPr>
            <a:r>
              <a:rPr lang="ar-SA" sz="1600" b="1" dirty="0"/>
              <a:t>بالإضافة إلى ذلك، تهتم العديد من المجتمعات بتربية الأسماك في الأحواض والمزارع المائية لتوفير الغذاء والحفاظ على الأنواع المهددة بالانقراض. وللأسماك مكانة مهمة في الثقافة والفنون، فهي مصدر إلهام للرسامين والشعراء والأساطير الشعبية حول العالم.</a:t>
            </a:r>
          </a:p>
        </p:txBody>
      </p:sp>
      <p:pic>
        <p:nvPicPr>
          <p:cNvPr id="3" name="Picture 2">
            <a:extLst>
              <a:ext uri="{FF2B5EF4-FFF2-40B4-BE49-F238E27FC236}">
                <a16:creationId xmlns:a16="http://schemas.microsoft.com/office/drawing/2014/main" id="{1B7CA790-4DE3-CEE7-3F2A-1AFC06A879B0}"/>
              </a:ext>
            </a:extLst>
          </p:cNvPr>
          <p:cNvPicPr>
            <a:picLocks noChangeAspect="1"/>
          </p:cNvPicPr>
          <p:nvPr/>
        </p:nvPicPr>
        <p:blipFill>
          <a:blip r:embed="rId6"/>
          <a:stretch>
            <a:fillRect/>
          </a:stretch>
        </p:blipFill>
        <p:spPr>
          <a:xfrm>
            <a:off x="1513999" y="2713550"/>
            <a:ext cx="2430917" cy="640727"/>
          </a:xfrm>
          <a:prstGeom prst="rect">
            <a:avLst/>
          </a:prstGeom>
        </p:spPr>
      </p:pic>
      <p:pic>
        <p:nvPicPr>
          <p:cNvPr id="6" name="Picture 2" descr="منظر جانبي لأنواع أسماك البحر, منظر جانبي لأنواع أسماك البحر, أنواع الأسماك  البحرية, منظر جانبي لأنواع الأسماك PNG صورة للتحميل مجانا">
            <a:extLst>
              <a:ext uri="{FF2B5EF4-FFF2-40B4-BE49-F238E27FC236}">
                <a16:creationId xmlns:a16="http://schemas.microsoft.com/office/drawing/2014/main" id="{18A5211A-3631-A395-038E-4D4002000A0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4613" y="1995639"/>
            <a:ext cx="1263722" cy="81710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D4AC034A-0AEE-4008-B760-733D4ACEF9CD}"/>
              </a:ext>
            </a:extLst>
          </p:cNvPr>
          <p:cNvSpPr txBox="1"/>
          <p:nvPr/>
        </p:nvSpPr>
        <p:spPr>
          <a:xfrm>
            <a:off x="474646" y="6351069"/>
            <a:ext cx="5205483" cy="400110"/>
          </a:xfrm>
          <a:prstGeom prst="rect">
            <a:avLst/>
          </a:prstGeom>
          <a:noFill/>
        </p:spPr>
        <p:txBody>
          <a:bodyPr wrap="square" rtlCol="0">
            <a:spAutoFit/>
          </a:bodyPr>
          <a:lstStyle/>
          <a:p>
            <a:r>
              <a:rPr lang="ar-SA" sz="2000" b="1" dirty="0">
                <a:solidFill>
                  <a:srgbClr val="CB6792"/>
                </a:solidFill>
              </a:rPr>
              <a:t>إعداد... أ: شيخة السويدي</a:t>
            </a:r>
            <a:endParaRPr lang="en-US" sz="2000" b="1" dirty="0">
              <a:solidFill>
                <a:srgbClr val="CB6792"/>
              </a:solidFill>
            </a:endParaRPr>
          </a:p>
        </p:txBody>
      </p:sp>
    </p:spTree>
    <p:extLst>
      <p:ext uri="{BB962C8B-B14F-4D97-AF65-F5344CB8AC3E}">
        <p14:creationId xmlns:p14="http://schemas.microsoft.com/office/powerpoint/2010/main" val="11286465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A7D45-225B-EEF2-CF30-6C6A74A9F447}"/>
            </a:ext>
          </a:extLst>
        </p:cNvPr>
        <p:cNvGrpSpPr/>
        <p:nvPr/>
      </p:nvGrpSpPr>
      <p:grpSpPr>
        <a:xfrm>
          <a:off x="0" y="0"/>
          <a:ext cx="0" cy="0"/>
          <a:chOff x="0" y="0"/>
          <a:chExt cx="0" cy="0"/>
        </a:xfrm>
      </p:grpSpPr>
      <p:pic>
        <p:nvPicPr>
          <p:cNvPr id="5" name="Picture 4" descr="A logo with a feather and a book&#10;&#10;AI-generated content may be incorrect.">
            <a:extLst>
              <a:ext uri="{FF2B5EF4-FFF2-40B4-BE49-F238E27FC236}">
                <a16:creationId xmlns:a16="http://schemas.microsoft.com/office/drawing/2014/main" id="{B9766231-D268-091E-09FB-B2CA34A06AFF}"/>
              </a:ext>
            </a:extLst>
          </p:cNvPr>
          <p:cNvPicPr>
            <a:picLocks noChangeAspect="1"/>
          </p:cNvPicPr>
          <p:nvPr/>
        </p:nvPicPr>
        <p:blipFill>
          <a:blip r:embed="rId3">
            <a:extLst>
              <a:ext uri="{28A0092B-C50C-407E-A947-70E740481C1C}">
                <a14:useLocalDpi xmlns:a14="http://schemas.microsoft.com/office/drawing/2010/main" val="0"/>
              </a:ext>
            </a:extLst>
          </a:blip>
          <a:srcRect t="18752" r="-1" b="-1"/>
          <a:stretch>
            <a:fillRect/>
          </a:stretch>
        </p:blipFill>
        <p:spPr>
          <a:xfrm>
            <a:off x="3068" y="9"/>
            <a:ext cx="12188932" cy="2011073"/>
          </a:xfrm>
          <a:prstGeom prst="rect">
            <a:avLst/>
          </a:prstGeom>
        </p:spPr>
      </p:pic>
      <p:sp>
        <p:nvSpPr>
          <p:cNvPr id="9" name="TextBox 8">
            <a:extLst>
              <a:ext uri="{FF2B5EF4-FFF2-40B4-BE49-F238E27FC236}">
                <a16:creationId xmlns:a16="http://schemas.microsoft.com/office/drawing/2014/main" id="{1C5871F9-E673-5ECD-74F6-B75ED40DFAE6}"/>
              </a:ext>
            </a:extLst>
          </p:cNvPr>
          <p:cNvSpPr txBox="1"/>
          <p:nvPr/>
        </p:nvSpPr>
        <p:spPr>
          <a:xfrm>
            <a:off x="9957661" y="309966"/>
            <a:ext cx="1914041" cy="369332"/>
          </a:xfrm>
          <a:prstGeom prst="rect">
            <a:avLst/>
          </a:prstGeom>
          <a:noFill/>
        </p:spPr>
        <p:txBody>
          <a:bodyPr wrap="square" rtlCol="0">
            <a:spAutoFit/>
          </a:bodyPr>
          <a:lstStyle/>
          <a:p>
            <a:r>
              <a:rPr lang="ar-SA" dirty="0"/>
              <a:t>مدرسة الشوامخ ح2-3</a:t>
            </a:r>
            <a:endParaRPr lang="en-US" dirty="0"/>
          </a:p>
        </p:txBody>
      </p:sp>
      <p:pic>
        <p:nvPicPr>
          <p:cNvPr id="11" name="Picture 10" descr="التربية والتعليم» تعلن هويتها المرئية الجديدة | صحيفة الخليج">
            <a:extLst>
              <a:ext uri="{FF2B5EF4-FFF2-40B4-BE49-F238E27FC236}">
                <a16:creationId xmlns:a16="http://schemas.microsoft.com/office/drawing/2014/main" id="{C3E1BEBD-D3D3-F92E-C349-6DBD996DB4E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28" y="0"/>
            <a:ext cx="1393825" cy="950595"/>
          </a:xfrm>
          <a:prstGeom prst="rect">
            <a:avLst/>
          </a:prstGeom>
          <a:noFill/>
          <a:ln>
            <a:noFill/>
          </a:ln>
        </p:spPr>
      </p:pic>
      <p:cxnSp>
        <p:nvCxnSpPr>
          <p:cNvPr id="26" name="Straight Connector 25">
            <a:extLst>
              <a:ext uri="{FF2B5EF4-FFF2-40B4-BE49-F238E27FC236}">
                <a16:creationId xmlns:a16="http://schemas.microsoft.com/office/drawing/2014/main" id="{8DBF14A1-EC95-3268-84C1-CBA977830BD0}"/>
              </a:ext>
            </a:extLst>
          </p:cNvPr>
          <p:cNvCxnSpPr>
            <a:cxnSpLocks/>
          </p:cNvCxnSpPr>
          <p:nvPr/>
        </p:nvCxnSpPr>
        <p:spPr>
          <a:xfrm>
            <a:off x="5680129" y="1995639"/>
            <a:ext cx="0" cy="412213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7" name="Arrow: Left 36">
            <a:extLst>
              <a:ext uri="{FF2B5EF4-FFF2-40B4-BE49-F238E27FC236}">
                <a16:creationId xmlns:a16="http://schemas.microsoft.com/office/drawing/2014/main" id="{ECDB90D5-BFD4-AE79-F672-F5AB65A9BC48}"/>
              </a:ext>
            </a:extLst>
          </p:cNvPr>
          <p:cNvSpPr/>
          <p:nvPr/>
        </p:nvSpPr>
        <p:spPr>
          <a:xfrm>
            <a:off x="4172062" y="2758094"/>
            <a:ext cx="1317481" cy="584773"/>
          </a:xfrm>
          <a:prstGeom prst="lef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ar-SA" b="1" dirty="0"/>
              <a:t>المهارة</a:t>
            </a:r>
            <a:endParaRPr lang="en-US" b="1" dirty="0"/>
          </a:p>
        </p:txBody>
      </p:sp>
      <p:sp>
        <p:nvSpPr>
          <p:cNvPr id="7" name="TextBox 6">
            <a:extLst>
              <a:ext uri="{FF2B5EF4-FFF2-40B4-BE49-F238E27FC236}">
                <a16:creationId xmlns:a16="http://schemas.microsoft.com/office/drawing/2014/main" id="{9677ECC3-27D9-DFA3-FFBC-8D8490E8A2EC}"/>
              </a:ext>
            </a:extLst>
          </p:cNvPr>
          <p:cNvSpPr txBox="1"/>
          <p:nvPr/>
        </p:nvSpPr>
        <p:spPr>
          <a:xfrm>
            <a:off x="4294958" y="1872583"/>
            <a:ext cx="6449784" cy="276999"/>
          </a:xfrm>
          <a:prstGeom prst="rect">
            <a:avLst/>
          </a:prstGeom>
          <a:noFill/>
        </p:spPr>
        <p:txBody>
          <a:bodyPr wrap="square">
            <a:spAutoFit/>
          </a:bodyPr>
          <a:lstStyle/>
          <a:p>
            <a:r>
              <a:rPr lang="ar-SA" sz="1200" b="1" i="0" u="none" strike="noStrike" baseline="0" dirty="0">
                <a:highlight>
                  <a:srgbClr val="00FF00"/>
                </a:highlight>
                <a:latin typeface="SakkalMajalla-Bold"/>
              </a:rPr>
              <a:t>نص معلوماتي خارجيٌّ</a:t>
            </a:r>
            <a:endParaRPr lang="en-US" sz="3600" b="1" dirty="0">
              <a:highlight>
                <a:srgbClr val="00FF00"/>
              </a:highlight>
            </a:endParaRPr>
          </a:p>
        </p:txBody>
      </p:sp>
      <p:pic>
        <p:nvPicPr>
          <p:cNvPr id="4" name="Picture 3">
            <a:extLst>
              <a:ext uri="{FF2B5EF4-FFF2-40B4-BE49-F238E27FC236}">
                <a16:creationId xmlns:a16="http://schemas.microsoft.com/office/drawing/2014/main" id="{2C7CD041-68E8-491A-74D5-D9817C53BFB6}"/>
              </a:ext>
            </a:extLst>
          </p:cNvPr>
          <p:cNvPicPr>
            <a:picLocks noChangeAspect="1"/>
          </p:cNvPicPr>
          <p:nvPr/>
        </p:nvPicPr>
        <p:blipFill>
          <a:blip r:embed="rId5"/>
          <a:stretch>
            <a:fillRect/>
          </a:stretch>
        </p:blipFill>
        <p:spPr>
          <a:xfrm>
            <a:off x="3719393" y="2205135"/>
            <a:ext cx="1817260" cy="426879"/>
          </a:xfrm>
          <a:prstGeom prst="rect">
            <a:avLst/>
          </a:prstGeom>
        </p:spPr>
      </p:pic>
      <p:sp>
        <p:nvSpPr>
          <p:cNvPr id="10" name="TextBox 9">
            <a:extLst>
              <a:ext uri="{FF2B5EF4-FFF2-40B4-BE49-F238E27FC236}">
                <a16:creationId xmlns:a16="http://schemas.microsoft.com/office/drawing/2014/main" id="{8ED24CDD-D4F9-62C5-5B7E-AE295BA30B31}"/>
              </a:ext>
            </a:extLst>
          </p:cNvPr>
          <p:cNvSpPr txBox="1"/>
          <p:nvPr/>
        </p:nvSpPr>
        <p:spPr>
          <a:xfrm>
            <a:off x="242527" y="3515134"/>
            <a:ext cx="5329489" cy="4103880"/>
          </a:xfrm>
          <a:prstGeom prst="rect">
            <a:avLst/>
          </a:prstGeom>
          <a:noFill/>
        </p:spPr>
        <p:txBody>
          <a:bodyPr wrap="square">
            <a:spAutoFit/>
          </a:bodyPr>
          <a:lstStyle/>
          <a:p>
            <a:pPr algn="r" rtl="1">
              <a:lnSpc>
                <a:spcPct val="115000"/>
              </a:lnSpc>
              <a:spcAft>
                <a:spcPts val="800"/>
              </a:spcAft>
            </a:pPr>
            <a:r>
              <a:rPr lang="ar-SA" sz="1600" b="1" dirty="0">
                <a:solidFill>
                  <a:srgbClr val="C00000"/>
                </a:solidFill>
              </a:rPr>
              <a:t>23- </a:t>
            </a:r>
            <a:r>
              <a:rPr lang="ar-SA" sz="1600" b="1" dirty="0"/>
              <a:t>والحفاظ على الأنواع المهددة </a:t>
            </a:r>
            <a:r>
              <a:rPr lang="ar-SA" sz="1600" b="1" dirty="0">
                <a:highlight>
                  <a:srgbClr val="FF00FF"/>
                </a:highlight>
              </a:rPr>
              <a:t>بالانقراض</a:t>
            </a:r>
            <a:endParaRPr lang="ar-SA" sz="1600" b="1" dirty="0">
              <a:solidFill>
                <a:srgbClr val="C00000"/>
              </a:solidFill>
              <a:highlight>
                <a:srgbClr val="FF00FF"/>
              </a:highlight>
            </a:endParaRPr>
          </a:p>
          <a:p>
            <a:pPr algn="r" rtl="1">
              <a:lnSpc>
                <a:spcPct val="115000"/>
              </a:lnSpc>
              <a:spcAft>
                <a:spcPts val="800"/>
              </a:spcAft>
            </a:pPr>
            <a:r>
              <a:rPr lang="ar-SA" sz="2000" b="1" dirty="0">
                <a:solidFill>
                  <a:srgbClr val="C00000"/>
                </a:solidFill>
              </a:rPr>
              <a:t>ما المعنى المعجمي للكلمة الملونة في هذه العبارة </a:t>
            </a:r>
            <a:r>
              <a:rPr lang="ar-SA" b="1" dirty="0">
                <a:solidFill>
                  <a:srgbClr val="C00000"/>
                </a:solidFill>
              </a:rPr>
              <a:t>:</a:t>
            </a:r>
          </a:p>
          <a:p>
            <a:pPr algn="r" rtl="1">
              <a:lnSpc>
                <a:spcPct val="115000"/>
              </a:lnSpc>
              <a:spcAft>
                <a:spcPts val="800"/>
              </a:spcAft>
            </a:pPr>
            <a:r>
              <a:rPr lang="ar-SA" sz="2400" b="1" dirty="0">
                <a:solidFill>
                  <a:schemeClr val="tx2"/>
                </a:solidFill>
                <a:highlight>
                  <a:srgbClr val="FFFF00"/>
                </a:highlight>
              </a:rPr>
              <a:t>أ- </a:t>
            </a:r>
            <a:r>
              <a:rPr lang="ar-SA" b="1" dirty="0">
                <a:highlight>
                  <a:srgbClr val="FFFF00"/>
                </a:highlight>
              </a:rPr>
              <a:t>الزوال التام أو الفناء الكامل.</a:t>
            </a:r>
            <a:endParaRPr lang="en-US" sz="2000" b="1" dirty="0">
              <a:solidFill>
                <a:schemeClr val="tx2"/>
              </a:solidFill>
              <a:highlight>
                <a:srgbClr val="FFFF00"/>
              </a:highlight>
            </a:endParaRPr>
          </a:p>
          <a:p>
            <a:pPr algn="r" rtl="1">
              <a:lnSpc>
                <a:spcPct val="115000"/>
              </a:lnSpc>
              <a:spcAft>
                <a:spcPts val="800"/>
              </a:spcAft>
            </a:pPr>
            <a:r>
              <a:rPr lang="ar-SA" sz="2400" b="1" dirty="0">
                <a:solidFill>
                  <a:schemeClr val="tx2"/>
                </a:solidFill>
              </a:rPr>
              <a:t>ب- </a:t>
            </a:r>
            <a:r>
              <a:rPr lang="ar-SA" b="1" dirty="0"/>
              <a:t>الزوال المؤقت للشيء.</a:t>
            </a:r>
          </a:p>
          <a:p>
            <a:pPr algn="r" rtl="1">
              <a:lnSpc>
                <a:spcPct val="115000"/>
              </a:lnSpc>
              <a:spcAft>
                <a:spcPts val="800"/>
              </a:spcAft>
            </a:pPr>
            <a:r>
              <a:rPr lang="ar-SA" b="1" dirty="0"/>
              <a:t>ت- البقاء لفترة محددة .</a:t>
            </a:r>
            <a:endParaRPr lang="en-US" sz="2000" b="1" dirty="0">
              <a:solidFill>
                <a:schemeClr val="tx2"/>
              </a:solidFill>
            </a:endParaRPr>
          </a:p>
          <a:p>
            <a:pPr algn="r" rtl="1">
              <a:lnSpc>
                <a:spcPct val="115000"/>
              </a:lnSpc>
              <a:spcAft>
                <a:spcPts val="800"/>
              </a:spcAft>
            </a:pPr>
            <a:r>
              <a:rPr lang="ar-SA" sz="2000" b="1" dirty="0">
                <a:solidFill>
                  <a:schemeClr val="tx2"/>
                </a:solidFill>
              </a:rPr>
              <a:t>ث-</a:t>
            </a:r>
            <a:r>
              <a:rPr lang="ar-SA" sz="2000" b="1" dirty="0">
                <a:effectLst/>
                <a:latin typeface="Calibri" panose="020F0502020204030204" pitchFamily="34" charset="0"/>
                <a:ea typeface="Calibri" panose="020F0502020204030204" pitchFamily="34" charset="0"/>
                <a:cs typeface="Sakkal Majalla" panose="02000000000000000000" pitchFamily="2" charset="-78"/>
              </a:rPr>
              <a:t> </a:t>
            </a:r>
            <a:r>
              <a:rPr lang="ar-SA" b="1" dirty="0"/>
              <a:t>البقاء الدائم دون اختفاء. </a:t>
            </a:r>
            <a:endParaRPr lang="en-US" b="1" dirty="0"/>
          </a:p>
          <a:p>
            <a:pPr algn="r" rtl="1">
              <a:lnSpc>
                <a:spcPct val="115000"/>
              </a:lnSpc>
              <a:spcAft>
                <a:spcPts val="800"/>
              </a:spcAft>
            </a:pPr>
            <a:endParaRPr lang="ar-SA" sz="2000" b="1" dirty="0">
              <a:effectLst/>
              <a:latin typeface="Calibri" panose="020F0502020204030204" pitchFamily="34" charset="0"/>
              <a:ea typeface="Calibri" panose="020F0502020204030204" pitchFamily="34" charset="0"/>
              <a:cs typeface="Sakkal Majalla" panose="02000000000000000000" pitchFamily="2" charset="-78"/>
            </a:endParaRPr>
          </a:p>
          <a:p>
            <a:pPr algn="r" rtl="1">
              <a:lnSpc>
                <a:spcPct val="115000"/>
              </a:lnSpc>
              <a:spcAft>
                <a:spcPts val="800"/>
              </a:spcAft>
            </a:pPr>
            <a:r>
              <a:rPr lang="ar-SA" sz="2000" dirty="0">
                <a:solidFill>
                  <a:srgbClr val="C00000"/>
                </a:solidFill>
              </a:rPr>
              <a:t> </a:t>
            </a:r>
            <a:endParaRPr lang="en-US" sz="2000" dirty="0">
              <a:solidFill>
                <a:srgbClr val="C00000"/>
              </a:solidFill>
            </a:endParaRPr>
          </a:p>
          <a:p>
            <a:pPr algn="r" rtl="1">
              <a:lnSpc>
                <a:spcPct val="115000"/>
              </a:lnSpc>
              <a:spcAft>
                <a:spcPts val="800"/>
              </a:spcAft>
            </a:pPr>
            <a:endParaRPr lang="ar-SA" sz="2000" b="1" dirty="0">
              <a:solidFill>
                <a:srgbClr val="C00000"/>
              </a:solidFill>
            </a:endParaRPr>
          </a:p>
        </p:txBody>
      </p:sp>
      <p:sp>
        <p:nvSpPr>
          <p:cNvPr id="15" name="TextBox 14">
            <a:extLst>
              <a:ext uri="{FF2B5EF4-FFF2-40B4-BE49-F238E27FC236}">
                <a16:creationId xmlns:a16="http://schemas.microsoft.com/office/drawing/2014/main" id="{8CB23509-BF2A-2E4E-9CB1-02DEE10BF61A}"/>
              </a:ext>
            </a:extLst>
          </p:cNvPr>
          <p:cNvSpPr txBox="1"/>
          <p:nvPr/>
        </p:nvSpPr>
        <p:spPr>
          <a:xfrm>
            <a:off x="5870716" y="1930473"/>
            <a:ext cx="6130886" cy="4278094"/>
          </a:xfrm>
          <a:prstGeom prst="rect">
            <a:avLst/>
          </a:prstGeom>
          <a:noFill/>
        </p:spPr>
        <p:txBody>
          <a:bodyPr wrap="square">
            <a:spAutoFit/>
          </a:bodyPr>
          <a:lstStyle/>
          <a:p>
            <a:pPr algn="r">
              <a:buNone/>
            </a:pPr>
            <a:r>
              <a:rPr lang="ar-SA" sz="1600" b="1" dirty="0"/>
              <a:t>الأسماك هي حيوانات فقارية تعيش في المياه العذبة والمالحة، وتُعد من أقدم الكائنات الحية على الأرض، إذ ظهرت قبل ملايين السنين. تمتلك الأسماك جسمًا مغطى بالقشور يساعدها على الحماية والحركة، ولها زعانف متعددة تساعدها على السباحة بسرعة والتوازن في الماء. كما تتنفس عن طريق الخياشيم التي تمتص الأكسجين من الماء.</a:t>
            </a:r>
          </a:p>
          <a:p>
            <a:pPr algn="r">
              <a:buNone/>
            </a:pPr>
            <a:r>
              <a:rPr lang="ar-SA" sz="1600" b="1" dirty="0"/>
              <a:t>تختلف الأسماك بشكل كبير في الحجم والشكل واللون. فهناك الأسماك الصغيرة مثل السمك الذهبي، والأسماك الكبيرة مثل أسماك القرش والحوت. تتلون بعض الأسماك بألوان زاهية لجذب الأنظار، بينما تتخذ أخرى ألوانًا متناسقة مع البيئة لتخفي نفسها عن المفترسين.</a:t>
            </a:r>
          </a:p>
          <a:p>
            <a:pPr algn="r">
              <a:buNone/>
            </a:pPr>
            <a:r>
              <a:rPr lang="ar-SA" sz="1600" b="1" dirty="0"/>
              <a:t>تلعب الأسماك دورًا مهمًا في التوازن البيئي، فهي تتغذى على النباتات المائية والحيوانات الصغيرة، وفي نفس الوقت تُعد مصدرًا غذائيًا للكائنات الأكبر حجمًا. بعض الأسماك تعيش في أعماق البحار المظلمة، حيث تُنتج الضوء من أجسامها للتواصل أو لصيد الطعام، وهي ظاهرة تُسمى التلألؤ البيولوجي.</a:t>
            </a:r>
          </a:p>
          <a:p>
            <a:pPr algn="r">
              <a:buNone/>
            </a:pPr>
            <a:r>
              <a:rPr lang="ar-SA" sz="1600" b="1" dirty="0"/>
              <a:t>الأسماك مفيدة للإنسان أيضًا، فهي مصدر غني بالبروتين، الفيتامينات، والأحماض الدهنية الأساسية التي تقوي القلب والدماغ. وينصح الأطباء بتناول الأسماك بشكل منتظم ضمن النظام الغذائي الصحي.</a:t>
            </a:r>
          </a:p>
          <a:p>
            <a:pPr algn="r">
              <a:buNone/>
            </a:pPr>
            <a:r>
              <a:rPr lang="ar-SA" sz="1600" b="1" dirty="0"/>
              <a:t>بالإضافة إلى ذلك، تهتم العديد من المجتمعات بتربية الأسماك في الأحواض والمزارع المائية لتوفير الغذاء والحفاظ على الأنواع المهددة بالانقراض. وللأسماك مكانة مهمة في الثقافة والفنون، فهي مصدر إلهام للرسامين والشعراء والأساطير الشعبية حول العالم.</a:t>
            </a:r>
          </a:p>
        </p:txBody>
      </p:sp>
      <p:pic>
        <p:nvPicPr>
          <p:cNvPr id="6" name="Picture 5">
            <a:extLst>
              <a:ext uri="{FF2B5EF4-FFF2-40B4-BE49-F238E27FC236}">
                <a16:creationId xmlns:a16="http://schemas.microsoft.com/office/drawing/2014/main" id="{9B344486-2CAA-1719-DBBB-46462540A637}"/>
              </a:ext>
            </a:extLst>
          </p:cNvPr>
          <p:cNvPicPr>
            <a:picLocks noChangeAspect="1"/>
          </p:cNvPicPr>
          <p:nvPr/>
        </p:nvPicPr>
        <p:blipFill>
          <a:blip r:embed="rId6"/>
          <a:stretch>
            <a:fillRect/>
          </a:stretch>
        </p:blipFill>
        <p:spPr>
          <a:xfrm>
            <a:off x="1299990" y="2649867"/>
            <a:ext cx="2304513" cy="584773"/>
          </a:xfrm>
          <a:prstGeom prst="rect">
            <a:avLst/>
          </a:prstGeom>
        </p:spPr>
      </p:pic>
      <p:pic>
        <p:nvPicPr>
          <p:cNvPr id="8" name="Picture 2" descr="منظر جانبي لأنواع أسماك البحر, منظر جانبي لأنواع أسماك البحر, أنواع الأسماك  البحرية, منظر جانبي لأنواع الأسماك PNG صورة للتحميل مجانا">
            <a:extLst>
              <a:ext uri="{FF2B5EF4-FFF2-40B4-BE49-F238E27FC236}">
                <a16:creationId xmlns:a16="http://schemas.microsoft.com/office/drawing/2014/main" id="{90B27D58-1B3D-9863-E678-A02B57D5626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4613" y="1995639"/>
            <a:ext cx="1263722" cy="817109"/>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1B27A9FD-DB02-60D3-52B9-7BE279724F70}"/>
              </a:ext>
            </a:extLst>
          </p:cNvPr>
          <p:cNvSpPr txBox="1"/>
          <p:nvPr/>
        </p:nvSpPr>
        <p:spPr>
          <a:xfrm>
            <a:off x="474646" y="6351069"/>
            <a:ext cx="5205483" cy="400110"/>
          </a:xfrm>
          <a:prstGeom prst="rect">
            <a:avLst/>
          </a:prstGeom>
          <a:noFill/>
        </p:spPr>
        <p:txBody>
          <a:bodyPr wrap="square" rtlCol="0">
            <a:spAutoFit/>
          </a:bodyPr>
          <a:lstStyle/>
          <a:p>
            <a:r>
              <a:rPr lang="ar-SA" sz="2000" b="1" dirty="0">
                <a:solidFill>
                  <a:srgbClr val="CB6792"/>
                </a:solidFill>
              </a:rPr>
              <a:t>إعداد... أ: شيخة السويدي</a:t>
            </a:r>
            <a:endParaRPr lang="en-US" sz="2000" b="1" dirty="0">
              <a:solidFill>
                <a:srgbClr val="CB6792"/>
              </a:solidFill>
            </a:endParaRPr>
          </a:p>
        </p:txBody>
      </p:sp>
    </p:spTree>
    <p:extLst>
      <p:ext uri="{BB962C8B-B14F-4D97-AF65-F5344CB8AC3E}">
        <p14:creationId xmlns:p14="http://schemas.microsoft.com/office/powerpoint/2010/main" val="33982085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3F124-47D7-50F8-25A0-BDE42F20A4D8}"/>
            </a:ext>
          </a:extLst>
        </p:cNvPr>
        <p:cNvGrpSpPr/>
        <p:nvPr/>
      </p:nvGrpSpPr>
      <p:grpSpPr>
        <a:xfrm>
          <a:off x="0" y="0"/>
          <a:ext cx="0" cy="0"/>
          <a:chOff x="0" y="0"/>
          <a:chExt cx="0" cy="0"/>
        </a:xfrm>
      </p:grpSpPr>
      <p:pic>
        <p:nvPicPr>
          <p:cNvPr id="5" name="Picture 4" descr="A logo with a feather and a book&#10;&#10;AI-generated content may be incorrect.">
            <a:extLst>
              <a:ext uri="{FF2B5EF4-FFF2-40B4-BE49-F238E27FC236}">
                <a16:creationId xmlns:a16="http://schemas.microsoft.com/office/drawing/2014/main" id="{00DCD207-CE20-58B4-4023-59BD15020919}"/>
              </a:ext>
            </a:extLst>
          </p:cNvPr>
          <p:cNvPicPr>
            <a:picLocks noChangeAspect="1"/>
          </p:cNvPicPr>
          <p:nvPr/>
        </p:nvPicPr>
        <p:blipFill>
          <a:blip r:embed="rId3">
            <a:extLst>
              <a:ext uri="{28A0092B-C50C-407E-A947-70E740481C1C}">
                <a14:useLocalDpi xmlns:a14="http://schemas.microsoft.com/office/drawing/2010/main" val="0"/>
              </a:ext>
            </a:extLst>
          </a:blip>
          <a:srcRect t="18752" r="-1" b="-1"/>
          <a:stretch>
            <a:fillRect/>
          </a:stretch>
        </p:blipFill>
        <p:spPr>
          <a:xfrm>
            <a:off x="3068" y="9"/>
            <a:ext cx="12188932" cy="2011073"/>
          </a:xfrm>
          <a:prstGeom prst="rect">
            <a:avLst/>
          </a:prstGeom>
        </p:spPr>
      </p:pic>
      <p:sp>
        <p:nvSpPr>
          <p:cNvPr id="9" name="TextBox 8">
            <a:extLst>
              <a:ext uri="{FF2B5EF4-FFF2-40B4-BE49-F238E27FC236}">
                <a16:creationId xmlns:a16="http://schemas.microsoft.com/office/drawing/2014/main" id="{D041C2D1-186F-F83F-91E7-9FF3F7F5B2CF}"/>
              </a:ext>
            </a:extLst>
          </p:cNvPr>
          <p:cNvSpPr txBox="1"/>
          <p:nvPr/>
        </p:nvSpPr>
        <p:spPr>
          <a:xfrm>
            <a:off x="9957661" y="309966"/>
            <a:ext cx="1914041" cy="369332"/>
          </a:xfrm>
          <a:prstGeom prst="rect">
            <a:avLst/>
          </a:prstGeom>
          <a:noFill/>
        </p:spPr>
        <p:txBody>
          <a:bodyPr wrap="square" rtlCol="0">
            <a:spAutoFit/>
          </a:bodyPr>
          <a:lstStyle/>
          <a:p>
            <a:r>
              <a:rPr lang="ar-SA" dirty="0"/>
              <a:t>مدرسة الشوامخ ح2-3</a:t>
            </a:r>
            <a:endParaRPr lang="en-US" dirty="0"/>
          </a:p>
        </p:txBody>
      </p:sp>
      <p:pic>
        <p:nvPicPr>
          <p:cNvPr id="11" name="Picture 10" descr="التربية والتعليم» تعلن هويتها المرئية الجديدة | صحيفة الخليج">
            <a:extLst>
              <a:ext uri="{FF2B5EF4-FFF2-40B4-BE49-F238E27FC236}">
                <a16:creationId xmlns:a16="http://schemas.microsoft.com/office/drawing/2014/main" id="{3C512199-6FCC-485D-D3F6-50180C7698E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28" y="0"/>
            <a:ext cx="1393825" cy="950595"/>
          </a:xfrm>
          <a:prstGeom prst="rect">
            <a:avLst/>
          </a:prstGeom>
          <a:noFill/>
          <a:ln>
            <a:noFill/>
          </a:ln>
        </p:spPr>
      </p:pic>
      <p:cxnSp>
        <p:nvCxnSpPr>
          <p:cNvPr id="26" name="Straight Connector 25">
            <a:extLst>
              <a:ext uri="{FF2B5EF4-FFF2-40B4-BE49-F238E27FC236}">
                <a16:creationId xmlns:a16="http://schemas.microsoft.com/office/drawing/2014/main" id="{A482BE02-D109-50B6-78CE-B51430DD68A6}"/>
              </a:ext>
            </a:extLst>
          </p:cNvPr>
          <p:cNvCxnSpPr>
            <a:cxnSpLocks/>
          </p:cNvCxnSpPr>
          <p:nvPr/>
        </p:nvCxnSpPr>
        <p:spPr>
          <a:xfrm>
            <a:off x="5680129" y="1995639"/>
            <a:ext cx="0" cy="412213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7" name="Arrow: Left 36">
            <a:extLst>
              <a:ext uri="{FF2B5EF4-FFF2-40B4-BE49-F238E27FC236}">
                <a16:creationId xmlns:a16="http://schemas.microsoft.com/office/drawing/2014/main" id="{5B7E6A53-7A5F-422F-3EA0-2C6CCE3D5171}"/>
              </a:ext>
            </a:extLst>
          </p:cNvPr>
          <p:cNvSpPr/>
          <p:nvPr/>
        </p:nvSpPr>
        <p:spPr>
          <a:xfrm>
            <a:off x="4172062" y="2758094"/>
            <a:ext cx="1317481" cy="584773"/>
          </a:xfrm>
          <a:prstGeom prst="lef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ar-SA" b="1" dirty="0"/>
              <a:t>المهارة</a:t>
            </a:r>
            <a:endParaRPr lang="en-US" b="1" dirty="0"/>
          </a:p>
        </p:txBody>
      </p:sp>
      <p:sp>
        <p:nvSpPr>
          <p:cNvPr id="7" name="TextBox 6">
            <a:extLst>
              <a:ext uri="{FF2B5EF4-FFF2-40B4-BE49-F238E27FC236}">
                <a16:creationId xmlns:a16="http://schemas.microsoft.com/office/drawing/2014/main" id="{DF4EE06C-3378-22F9-9CDD-1DB83693E693}"/>
              </a:ext>
            </a:extLst>
          </p:cNvPr>
          <p:cNvSpPr txBox="1"/>
          <p:nvPr/>
        </p:nvSpPr>
        <p:spPr>
          <a:xfrm>
            <a:off x="4294958" y="1872583"/>
            <a:ext cx="6449784" cy="276999"/>
          </a:xfrm>
          <a:prstGeom prst="rect">
            <a:avLst/>
          </a:prstGeom>
          <a:noFill/>
        </p:spPr>
        <p:txBody>
          <a:bodyPr wrap="square">
            <a:spAutoFit/>
          </a:bodyPr>
          <a:lstStyle/>
          <a:p>
            <a:r>
              <a:rPr lang="ar-SA" sz="1200" b="1" i="0" u="none" strike="noStrike" baseline="0" dirty="0">
                <a:highlight>
                  <a:srgbClr val="00FF00"/>
                </a:highlight>
                <a:latin typeface="SakkalMajalla-Bold"/>
              </a:rPr>
              <a:t>نص معلوماتي خارجيٌّ</a:t>
            </a:r>
            <a:endParaRPr lang="en-US" sz="3600" b="1" dirty="0">
              <a:highlight>
                <a:srgbClr val="00FF00"/>
              </a:highlight>
            </a:endParaRPr>
          </a:p>
        </p:txBody>
      </p:sp>
      <p:pic>
        <p:nvPicPr>
          <p:cNvPr id="4" name="Picture 3">
            <a:extLst>
              <a:ext uri="{FF2B5EF4-FFF2-40B4-BE49-F238E27FC236}">
                <a16:creationId xmlns:a16="http://schemas.microsoft.com/office/drawing/2014/main" id="{164C321F-3B39-5C23-63A2-DABB175346D6}"/>
              </a:ext>
            </a:extLst>
          </p:cNvPr>
          <p:cNvPicPr>
            <a:picLocks noChangeAspect="1"/>
          </p:cNvPicPr>
          <p:nvPr/>
        </p:nvPicPr>
        <p:blipFill>
          <a:blip r:embed="rId5"/>
          <a:stretch>
            <a:fillRect/>
          </a:stretch>
        </p:blipFill>
        <p:spPr>
          <a:xfrm>
            <a:off x="3719393" y="2205135"/>
            <a:ext cx="1817260" cy="426879"/>
          </a:xfrm>
          <a:prstGeom prst="rect">
            <a:avLst/>
          </a:prstGeom>
        </p:spPr>
      </p:pic>
      <p:sp>
        <p:nvSpPr>
          <p:cNvPr id="10" name="TextBox 9">
            <a:extLst>
              <a:ext uri="{FF2B5EF4-FFF2-40B4-BE49-F238E27FC236}">
                <a16:creationId xmlns:a16="http://schemas.microsoft.com/office/drawing/2014/main" id="{2F3BC35B-671E-4A24-4860-E17EBD4C4940}"/>
              </a:ext>
            </a:extLst>
          </p:cNvPr>
          <p:cNvSpPr txBox="1"/>
          <p:nvPr/>
        </p:nvSpPr>
        <p:spPr>
          <a:xfrm>
            <a:off x="-60972" y="3480357"/>
            <a:ext cx="5580858" cy="3965894"/>
          </a:xfrm>
          <a:prstGeom prst="rect">
            <a:avLst/>
          </a:prstGeom>
          <a:noFill/>
        </p:spPr>
        <p:txBody>
          <a:bodyPr wrap="square">
            <a:spAutoFit/>
          </a:bodyPr>
          <a:lstStyle/>
          <a:p>
            <a:pPr algn="r" rtl="1">
              <a:lnSpc>
                <a:spcPct val="115000"/>
              </a:lnSpc>
              <a:spcAft>
                <a:spcPts val="800"/>
              </a:spcAft>
            </a:pPr>
            <a:r>
              <a:rPr lang="ar-SA" sz="1600" b="1" dirty="0">
                <a:solidFill>
                  <a:srgbClr val="C00000"/>
                </a:solidFill>
              </a:rPr>
              <a:t>24- </a:t>
            </a:r>
            <a:r>
              <a:rPr lang="ar-SA" sz="2000" dirty="0">
                <a:solidFill>
                  <a:srgbClr val="C00000"/>
                </a:solidFill>
              </a:rPr>
              <a:t>تلعب الأسماك دورًا مهمًا في </a:t>
            </a:r>
            <a:r>
              <a:rPr lang="ar-SA" sz="2000" b="1" dirty="0">
                <a:solidFill>
                  <a:srgbClr val="C00000"/>
                </a:solidFill>
              </a:rPr>
              <a:t>التوازن البيئي  عن طريق أنها</a:t>
            </a:r>
            <a:r>
              <a:rPr lang="ar-SA" sz="2000" dirty="0">
                <a:solidFill>
                  <a:srgbClr val="C00000"/>
                </a:solidFill>
              </a:rPr>
              <a:t> </a:t>
            </a:r>
            <a:r>
              <a:rPr lang="ar-SA" b="1" dirty="0">
                <a:solidFill>
                  <a:srgbClr val="C00000"/>
                </a:solidFill>
              </a:rPr>
              <a:t>:</a:t>
            </a:r>
          </a:p>
          <a:p>
            <a:pPr algn="r" rtl="1">
              <a:lnSpc>
                <a:spcPct val="115000"/>
              </a:lnSpc>
              <a:spcAft>
                <a:spcPts val="800"/>
              </a:spcAft>
            </a:pPr>
            <a:r>
              <a:rPr lang="ar-SA" sz="2800" dirty="0">
                <a:solidFill>
                  <a:schemeClr val="tx2"/>
                </a:solidFill>
              </a:rPr>
              <a:t>أ- </a:t>
            </a:r>
            <a:r>
              <a:rPr lang="ar-SA" sz="2000" dirty="0"/>
              <a:t>تحاول الاختباء في الأماكن الصغيرة.</a:t>
            </a:r>
            <a:endParaRPr lang="en-US" sz="2400" dirty="0">
              <a:solidFill>
                <a:schemeClr val="tx2"/>
              </a:solidFill>
            </a:endParaRPr>
          </a:p>
          <a:p>
            <a:pPr algn="r" rtl="1">
              <a:lnSpc>
                <a:spcPct val="115000"/>
              </a:lnSpc>
              <a:spcAft>
                <a:spcPts val="800"/>
              </a:spcAft>
            </a:pPr>
            <a:r>
              <a:rPr lang="ar-SA" sz="2800" dirty="0">
                <a:solidFill>
                  <a:schemeClr val="tx2"/>
                </a:solidFill>
              </a:rPr>
              <a:t>ب- </a:t>
            </a:r>
            <a:r>
              <a:rPr lang="ar-SA" sz="2000" dirty="0"/>
              <a:t>تتغذى على بقية الأسماك الكبيرة .</a:t>
            </a:r>
          </a:p>
          <a:p>
            <a:pPr algn="r" rtl="1">
              <a:lnSpc>
                <a:spcPct val="115000"/>
              </a:lnSpc>
              <a:spcAft>
                <a:spcPts val="800"/>
              </a:spcAft>
            </a:pPr>
            <a:r>
              <a:rPr lang="ar-SA" sz="2000" dirty="0"/>
              <a:t>ت- مصدر إلهام للرسامين والشعراء.</a:t>
            </a:r>
            <a:endParaRPr lang="en-US" sz="2400" dirty="0">
              <a:solidFill>
                <a:schemeClr val="tx2"/>
              </a:solidFill>
            </a:endParaRPr>
          </a:p>
          <a:p>
            <a:pPr algn="r" rtl="1">
              <a:lnSpc>
                <a:spcPct val="115000"/>
              </a:lnSpc>
              <a:spcAft>
                <a:spcPts val="800"/>
              </a:spcAft>
            </a:pPr>
            <a:r>
              <a:rPr lang="ar-SA" sz="2400" dirty="0">
                <a:solidFill>
                  <a:schemeClr val="tx2"/>
                </a:solidFill>
                <a:highlight>
                  <a:srgbClr val="FFFF00"/>
                </a:highlight>
              </a:rPr>
              <a:t>ث-</a:t>
            </a:r>
            <a:r>
              <a:rPr lang="ar-SA" sz="2400" dirty="0">
                <a:effectLst/>
                <a:highlight>
                  <a:srgbClr val="FFFF00"/>
                </a:highlight>
                <a:latin typeface="Calibri" panose="020F0502020204030204" pitchFamily="34" charset="0"/>
                <a:ea typeface="Calibri" panose="020F0502020204030204" pitchFamily="34" charset="0"/>
                <a:cs typeface="Sakkal Majalla" panose="02000000000000000000" pitchFamily="2" charset="-78"/>
              </a:rPr>
              <a:t> </a:t>
            </a:r>
            <a:r>
              <a:rPr lang="ar-SA" sz="2000" dirty="0">
                <a:highlight>
                  <a:srgbClr val="FFFF00"/>
                </a:highlight>
              </a:rPr>
              <a:t>تتغذى على النباتات المائية والحيوانات الصغيرة. </a:t>
            </a:r>
            <a:endParaRPr lang="en-US" sz="2000" dirty="0">
              <a:highlight>
                <a:srgbClr val="FFFF00"/>
              </a:highlight>
            </a:endParaRPr>
          </a:p>
          <a:p>
            <a:pPr algn="r" rtl="1">
              <a:lnSpc>
                <a:spcPct val="115000"/>
              </a:lnSpc>
              <a:spcAft>
                <a:spcPts val="800"/>
              </a:spcAft>
            </a:pPr>
            <a:endParaRPr lang="ar-SA" sz="2000" b="1" dirty="0">
              <a:effectLst/>
              <a:latin typeface="Calibri" panose="020F0502020204030204" pitchFamily="34" charset="0"/>
              <a:ea typeface="Calibri" panose="020F0502020204030204" pitchFamily="34" charset="0"/>
              <a:cs typeface="Sakkal Majalla" panose="02000000000000000000" pitchFamily="2" charset="-78"/>
            </a:endParaRPr>
          </a:p>
          <a:p>
            <a:pPr algn="r" rtl="1">
              <a:lnSpc>
                <a:spcPct val="115000"/>
              </a:lnSpc>
              <a:spcAft>
                <a:spcPts val="800"/>
              </a:spcAft>
            </a:pPr>
            <a:r>
              <a:rPr lang="ar-SA" sz="2000" dirty="0">
                <a:solidFill>
                  <a:srgbClr val="C00000"/>
                </a:solidFill>
              </a:rPr>
              <a:t> </a:t>
            </a:r>
            <a:endParaRPr lang="en-US" sz="2000" dirty="0">
              <a:solidFill>
                <a:srgbClr val="C00000"/>
              </a:solidFill>
            </a:endParaRPr>
          </a:p>
          <a:p>
            <a:pPr algn="r" rtl="1">
              <a:lnSpc>
                <a:spcPct val="115000"/>
              </a:lnSpc>
              <a:spcAft>
                <a:spcPts val="800"/>
              </a:spcAft>
            </a:pPr>
            <a:endParaRPr lang="ar-SA" sz="2000" b="1" dirty="0">
              <a:solidFill>
                <a:srgbClr val="C00000"/>
              </a:solidFill>
            </a:endParaRPr>
          </a:p>
        </p:txBody>
      </p:sp>
      <p:sp>
        <p:nvSpPr>
          <p:cNvPr id="15" name="TextBox 14">
            <a:extLst>
              <a:ext uri="{FF2B5EF4-FFF2-40B4-BE49-F238E27FC236}">
                <a16:creationId xmlns:a16="http://schemas.microsoft.com/office/drawing/2014/main" id="{D87F6777-988A-32A0-66D1-0FB6D11BDBA6}"/>
              </a:ext>
            </a:extLst>
          </p:cNvPr>
          <p:cNvSpPr txBox="1"/>
          <p:nvPr/>
        </p:nvSpPr>
        <p:spPr>
          <a:xfrm>
            <a:off x="5870716" y="1930473"/>
            <a:ext cx="6130886" cy="4278094"/>
          </a:xfrm>
          <a:prstGeom prst="rect">
            <a:avLst/>
          </a:prstGeom>
          <a:noFill/>
        </p:spPr>
        <p:txBody>
          <a:bodyPr wrap="square">
            <a:spAutoFit/>
          </a:bodyPr>
          <a:lstStyle/>
          <a:p>
            <a:pPr algn="r">
              <a:buNone/>
            </a:pPr>
            <a:r>
              <a:rPr lang="ar-SA" sz="1600" b="1" dirty="0"/>
              <a:t>الأسماك هي حيوانات فقارية تعيش في المياه العذبة والمالحة، وتُعد من أقدم الكائنات الحية على الأرض، إذ ظهرت قبل ملايين السنين. تمتلك الأسماك جسمًا مغطى بالقشور يساعدها على الحماية والحركة، ولها زعانف متعددة تساعدها على السباحة بسرعة والتوازن في الماء. كما تتنفس عن طريق الخياشيم التي تمتص الأكسجين من الماء.</a:t>
            </a:r>
          </a:p>
          <a:p>
            <a:pPr algn="r">
              <a:buNone/>
            </a:pPr>
            <a:r>
              <a:rPr lang="ar-SA" sz="1600" b="1" dirty="0"/>
              <a:t>تختلف الأسماك بشكل كبير في الحجم والشكل واللون. فهناك الأسماك الصغيرة مثل السمك الذهبي، والأسماك الكبيرة مثل أسماك القرش والحوت. تتلون بعض الأسماك بألوان زاهية لجذب الأنظار، بينما تتخذ أخرى ألوانًا متناسقة مع البيئة لتخفي نفسها عن المفترسين.</a:t>
            </a:r>
          </a:p>
          <a:p>
            <a:pPr algn="r">
              <a:buNone/>
            </a:pPr>
            <a:r>
              <a:rPr lang="ar-SA" sz="1600" b="1" dirty="0"/>
              <a:t>تلعب الأسماك دورًا مهمًا في التوازن البيئي، فهي تتغذى على النباتات المائية والحيوانات الصغيرة، وفي نفس الوقت تُعد مصدرًا غذائيًا للكائنات الأكبر حجمًا. بعض الأسماك تعيش في أعماق البحار المظلمة، حيث تُنتج الضوء من أجسامها للتواصل أو لصيد الطعام، وهي ظاهرة تُسمى التلألؤ البيولوجي.</a:t>
            </a:r>
          </a:p>
          <a:p>
            <a:pPr algn="r">
              <a:buNone/>
            </a:pPr>
            <a:r>
              <a:rPr lang="ar-SA" sz="1600" b="1" dirty="0"/>
              <a:t>الأسماك مفيدة للإنسان أيضًا، فهي مصدر غني بالبروتين، الفيتامينات، والأحماض الدهنية الأساسية التي تقوي القلب والدماغ. وينصح الأطباء بتناول الأسماك بشكل منتظم ضمن النظام الغذائي الصحي.</a:t>
            </a:r>
          </a:p>
          <a:p>
            <a:pPr algn="r">
              <a:buNone/>
            </a:pPr>
            <a:r>
              <a:rPr lang="ar-SA" sz="1600" b="1" dirty="0"/>
              <a:t>بالإضافة إلى ذلك، تهتم العديد من المجتمعات بتربية الأسماك في الأحواض والمزارع المائية لتوفير الغذاء والحفاظ على الأنواع المهددة بالانقراض. وللأسماك مكانة مهمة في الثقافة والفنون، فهي مصدر إلهام للرسامين والشعراء والأساطير الشعبية حول العالم.</a:t>
            </a:r>
          </a:p>
        </p:txBody>
      </p:sp>
      <p:pic>
        <p:nvPicPr>
          <p:cNvPr id="3" name="Picture 2">
            <a:extLst>
              <a:ext uri="{FF2B5EF4-FFF2-40B4-BE49-F238E27FC236}">
                <a16:creationId xmlns:a16="http://schemas.microsoft.com/office/drawing/2014/main" id="{7C1C02C6-D735-D770-8C37-AC82BDB4E324}"/>
              </a:ext>
            </a:extLst>
          </p:cNvPr>
          <p:cNvPicPr>
            <a:picLocks noChangeAspect="1"/>
          </p:cNvPicPr>
          <p:nvPr/>
        </p:nvPicPr>
        <p:blipFill>
          <a:blip r:embed="rId6"/>
          <a:stretch>
            <a:fillRect/>
          </a:stretch>
        </p:blipFill>
        <p:spPr>
          <a:xfrm>
            <a:off x="1513999" y="2713550"/>
            <a:ext cx="2430917" cy="640727"/>
          </a:xfrm>
          <a:prstGeom prst="rect">
            <a:avLst/>
          </a:prstGeom>
        </p:spPr>
      </p:pic>
      <p:pic>
        <p:nvPicPr>
          <p:cNvPr id="2" name="Picture 2" descr="منظر جانبي لأنواع أسماك البحر, منظر جانبي لأنواع أسماك البحر, أنواع الأسماك  البحرية, منظر جانبي لأنواع الأسماك PNG صورة للتحميل مجانا">
            <a:extLst>
              <a:ext uri="{FF2B5EF4-FFF2-40B4-BE49-F238E27FC236}">
                <a16:creationId xmlns:a16="http://schemas.microsoft.com/office/drawing/2014/main" id="{9F29E3B8-8D9B-D2AE-B4E0-9804DCD11C2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4613" y="1995639"/>
            <a:ext cx="1263722" cy="81710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7FC5600-C7B4-70E5-11A8-70BE05FB2B4D}"/>
              </a:ext>
            </a:extLst>
          </p:cNvPr>
          <p:cNvSpPr txBox="1"/>
          <p:nvPr/>
        </p:nvSpPr>
        <p:spPr>
          <a:xfrm>
            <a:off x="474646" y="6351069"/>
            <a:ext cx="5205483" cy="400110"/>
          </a:xfrm>
          <a:prstGeom prst="rect">
            <a:avLst/>
          </a:prstGeom>
          <a:noFill/>
        </p:spPr>
        <p:txBody>
          <a:bodyPr wrap="square" rtlCol="0">
            <a:spAutoFit/>
          </a:bodyPr>
          <a:lstStyle/>
          <a:p>
            <a:r>
              <a:rPr lang="ar-SA" sz="2000" b="1" dirty="0">
                <a:solidFill>
                  <a:srgbClr val="CB6792"/>
                </a:solidFill>
              </a:rPr>
              <a:t>إعداد... أ :  شيخة السويدي</a:t>
            </a:r>
            <a:endParaRPr lang="en-US" sz="2000" b="1" dirty="0">
              <a:solidFill>
                <a:srgbClr val="CB6792"/>
              </a:solidFill>
            </a:endParaRPr>
          </a:p>
        </p:txBody>
      </p:sp>
    </p:spTree>
    <p:extLst>
      <p:ext uri="{BB962C8B-B14F-4D97-AF65-F5344CB8AC3E}">
        <p14:creationId xmlns:p14="http://schemas.microsoft.com/office/powerpoint/2010/main" val="39671136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9077A-E34D-3848-E5CF-FD93F1C3BBFD}"/>
            </a:ext>
          </a:extLst>
        </p:cNvPr>
        <p:cNvGrpSpPr/>
        <p:nvPr/>
      </p:nvGrpSpPr>
      <p:grpSpPr>
        <a:xfrm>
          <a:off x="0" y="0"/>
          <a:ext cx="0" cy="0"/>
          <a:chOff x="0" y="0"/>
          <a:chExt cx="0" cy="0"/>
        </a:xfrm>
      </p:grpSpPr>
      <p:pic>
        <p:nvPicPr>
          <p:cNvPr id="5" name="Picture 4" descr="A logo with a feather and a book&#10;&#10;AI-generated content may be incorrect.">
            <a:extLst>
              <a:ext uri="{FF2B5EF4-FFF2-40B4-BE49-F238E27FC236}">
                <a16:creationId xmlns:a16="http://schemas.microsoft.com/office/drawing/2014/main" id="{4EDF4CE0-8ADD-026E-58B6-2E08A3D39DD1}"/>
              </a:ext>
            </a:extLst>
          </p:cNvPr>
          <p:cNvPicPr>
            <a:picLocks noChangeAspect="1"/>
          </p:cNvPicPr>
          <p:nvPr/>
        </p:nvPicPr>
        <p:blipFill>
          <a:blip r:embed="rId3">
            <a:extLst>
              <a:ext uri="{28A0092B-C50C-407E-A947-70E740481C1C}">
                <a14:useLocalDpi xmlns:a14="http://schemas.microsoft.com/office/drawing/2010/main" val="0"/>
              </a:ext>
            </a:extLst>
          </a:blip>
          <a:srcRect t="18752" r="-1" b="-1"/>
          <a:stretch>
            <a:fillRect/>
          </a:stretch>
        </p:blipFill>
        <p:spPr>
          <a:xfrm>
            <a:off x="3068" y="9"/>
            <a:ext cx="12188932" cy="2011073"/>
          </a:xfrm>
          <a:prstGeom prst="rect">
            <a:avLst/>
          </a:prstGeom>
        </p:spPr>
      </p:pic>
      <p:sp>
        <p:nvSpPr>
          <p:cNvPr id="9" name="TextBox 8">
            <a:extLst>
              <a:ext uri="{FF2B5EF4-FFF2-40B4-BE49-F238E27FC236}">
                <a16:creationId xmlns:a16="http://schemas.microsoft.com/office/drawing/2014/main" id="{72A94CEF-9D84-BF9A-E91F-B48B96E65CF3}"/>
              </a:ext>
            </a:extLst>
          </p:cNvPr>
          <p:cNvSpPr txBox="1"/>
          <p:nvPr/>
        </p:nvSpPr>
        <p:spPr>
          <a:xfrm>
            <a:off x="9957661" y="309966"/>
            <a:ext cx="1914041" cy="369332"/>
          </a:xfrm>
          <a:prstGeom prst="rect">
            <a:avLst/>
          </a:prstGeom>
          <a:noFill/>
        </p:spPr>
        <p:txBody>
          <a:bodyPr wrap="square" rtlCol="0">
            <a:spAutoFit/>
          </a:bodyPr>
          <a:lstStyle/>
          <a:p>
            <a:r>
              <a:rPr lang="ar-SA" dirty="0"/>
              <a:t>مدرسة الشوامخ ح2-3</a:t>
            </a:r>
            <a:endParaRPr lang="en-US" dirty="0"/>
          </a:p>
        </p:txBody>
      </p:sp>
      <p:pic>
        <p:nvPicPr>
          <p:cNvPr id="11" name="Picture 10" descr="التربية والتعليم» تعلن هويتها المرئية الجديدة | صحيفة الخليج">
            <a:extLst>
              <a:ext uri="{FF2B5EF4-FFF2-40B4-BE49-F238E27FC236}">
                <a16:creationId xmlns:a16="http://schemas.microsoft.com/office/drawing/2014/main" id="{75D28EEF-B51D-9FFA-B256-4A72E331095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28" y="0"/>
            <a:ext cx="1393825" cy="950595"/>
          </a:xfrm>
          <a:prstGeom prst="rect">
            <a:avLst/>
          </a:prstGeom>
          <a:noFill/>
          <a:ln>
            <a:noFill/>
          </a:ln>
        </p:spPr>
      </p:pic>
      <p:cxnSp>
        <p:nvCxnSpPr>
          <p:cNvPr id="26" name="Straight Connector 25">
            <a:extLst>
              <a:ext uri="{FF2B5EF4-FFF2-40B4-BE49-F238E27FC236}">
                <a16:creationId xmlns:a16="http://schemas.microsoft.com/office/drawing/2014/main" id="{B9799707-D811-F921-A041-DEA5CBD4C649}"/>
              </a:ext>
            </a:extLst>
          </p:cNvPr>
          <p:cNvCxnSpPr>
            <a:cxnSpLocks/>
          </p:cNvCxnSpPr>
          <p:nvPr/>
        </p:nvCxnSpPr>
        <p:spPr>
          <a:xfrm>
            <a:off x="5680129" y="1995639"/>
            <a:ext cx="0" cy="412213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7" name="Arrow: Left 36">
            <a:extLst>
              <a:ext uri="{FF2B5EF4-FFF2-40B4-BE49-F238E27FC236}">
                <a16:creationId xmlns:a16="http://schemas.microsoft.com/office/drawing/2014/main" id="{BEDEA41D-5DC4-B6E9-DF4D-3933DE254DD1}"/>
              </a:ext>
            </a:extLst>
          </p:cNvPr>
          <p:cNvSpPr/>
          <p:nvPr/>
        </p:nvSpPr>
        <p:spPr>
          <a:xfrm>
            <a:off x="4172062" y="2758094"/>
            <a:ext cx="1317481" cy="584773"/>
          </a:xfrm>
          <a:prstGeom prst="lef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ar-SA" b="1" dirty="0"/>
              <a:t>المهارة</a:t>
            </a:r>
            <a:endParaRPr lang="en-US" b="1" dirty="0"/>
          </a:p>
        </p:txBody>
      </p:sp>
      <p:sp>
        <p:nvSpPr>
          <p:cNvPr id="7" name="TextBox 6">
            <a:extLst>
              <a:ext uri="{FF2B5EF4-FFF2-40B4-BE49-F238E27FC236}">
                <a16:creationId xmlns:a16="http://schemas.microsoft.com/office/drawing/2014/main" id="{D7429267-E8B2-C8DF-3709-422820D372F6}"/>
              </a:ext>
            </a:extLst>
          </p:cNvPr>
          <p:cNvSpPr txBox="1"/>
          <p:nvPr/>
        </p:nvSpPr>
        <p:spPr>
          <a:xfrm>
            <a:off x="4294958" y="1872583"/>
            <a:ext cx="6449784" cy="276999"/>
          </a:xfrm>
          <a:prstGeom prst="rect">
            <a:avLst/>
          </a:prstGeom>
          <a:noFill/>
        </p:spPr>
        <p:txBody>
          <a:bodyPr wrap="square">
            <a:spAutoFit/>
          </a:bodyPr>
          <a:lstStyle/>
          <a:p>
            <a:r>
              <a:rPr lang="ar-SA" sz="1200" b="1" i="0" u="none" strike="noStrike" baseline="0" dirty="0">
                <a:highlight>
                  <a:srgbClr val="00FF00"/>
                </a:highlight>
                <a:latin typeface="SakkalMajalla-Bold"/>
              </a:rPr>
              <a:t>نص معلوماتي خارجيٌّ</a:t>
            </a:r>
            <a:endParaRPr lang="en-US" sz="3600" b="1" dirty="0">
              <a:highlight>
                <a:srgbClr val="00FF00"/>
              </a:highlight>
            </a:endParaRPr>
          </a:p>
        </p:txBody>
      </p:sp>
      <p:pic>
        <p:nvPicPr>
          <p:cNvPr id="4" name="Picture 3">
            <a:extLst>
              <a:ext uri="{FF2B5EF4-FFF2-40B4-BE49-F238E27FC236}">
                <a16:creationId xmlns:a16="http://schemas.microsoft.com/office/drawing/2014/main" id="{462E6B42-690C-89C0-881A-982E994CE7C8}"/>
              </a:ext>
            </a:extLst>
          </p:cNvPr>
          <p:cNvPicPr>
            <a:picLocks noChangeAspect="1"/>
          </p:cNvPicPr>
          <p:nvPr/>
        </p:nvPicPr>
        <p:blipFill>
          <a:blip r:embed="rId5"/>
          <a:stretch>
            <a:fillRect/>
          </a:stretch>
        </p:blipFill>
        <p:spPr>
          <a:xfrm>
            <a:off x="3719393" y="2205135"/>
            <a:ext cx="1817260" cy="426879"/>
          </a:xfrm>
          <a:prstGeom prst="rect">
            <a:avLst/>
          </a:prstGeom>
        </p:spPr>
      </p:pic>
      <p:sp>
        <p:nvSpPr>
          <p:cNvPr id="10" name="TextBox 9">
            <a:extLst>
              <a:ext uri="{FF2B5EF4-FFF2-40B4-BE49-F238E27FC236}">
                <a16:creationId xmlns:a16="http://schemas.microsoft.com/office/drawing/2014/main" id="{A26BDD04-2245-55E9-A8C6-10F1D76ED07F}"/>
              </a:ext>
            </a:extLst>
          </p:cNvPr>
          <p:cNvSpPr txBox="1"/>
          <p:nvPr/>
        </p:nvSpPr>
        <p:spPr>
          <a:xfrm>
            <a:off x="27533" y="3618552"/>
            <a:ext cx="5580858" cy="3895105"/>
          </a:xfrm>
          <a:prstGeom prst="rect">
            <a:avLst/>
          </a:prstGeom>
          <a:noFill/>
        </p:spPr>
        <p:txBody>
          <a:bodyPr wrap="square">
            <a:spAutoFit/>
          </a:bodyPr>
          <a:lstStyle/>
          <a:p>
            <a:pPr algn="r" rtl="1">
              <a:lnSpc>
                <a:spcPct val="115000"/>
              </a:lnSpc>
              <a:spcAft>
                <a:spcPts val="800"/>
              </a:spcAft>
            </a:pPr>
            <a:r>
              <a:rPr lang="ar-SA" sz="1600" b="1" dirty="0">
                <a:solidFill>
                  <a:srgbClr val="C00000"/>
                </a:solidFill>
              </a:rPr>
              <a:t>25- </a:t>
            </a:r>
            <a:r>
              <a:rPr lang="ar-SA" sz="1400" b="1" dirty="0"/>
              <a:t>تلعب الأسماك دورًا مهمًا في </a:t>
            </a:r>
            <a:r>
              <a:rPr lang="ar-SA" sz="1400" b="1" dirty="0">
                <a:highlight>
                  <a:srgbClr val="FF00FF"/>
                </a:highlight>
              </a:rPr>
              <a:t>التوازن البيئي  </a:t>
            </a:r>
            <a:r>
              <a:rPr lang="ar-SA" sz="1400" b="1" dirty="0"/>
              <a:t>ما مرادف الكلمة الملونة في الجملة ؟</a:t>
            </a:r>
            <a:endParaRPr lang="ar-SA" sz="2800" dirty="0">
              <a:solidFill>
                <a:schemeClr val="tx2"/>
              </a:solidFill>
            </a:endParaRPr>
          </a:p>
          <a:p>
            <a:pPr algn="r" rtl="1">
              <a:lnSpc>
                <a:spcPct val="115000"/>
              </a:lnSpc>
              <a:spcAft>
                <a:spcPts val="800"/>
              </a:spcAft>
            </a:pPr>
            <a:r>
              <a:rPr lang="ar-SA" sz="2800" dirty="0">
                <a:solidFill>
                  <a:schemeClr val="tx2"/>
                </a:solidFill>
                <a:highlight>
                  <a:srgbClr val="FFFF00"/>
                </a:highlight>
              </a:rPr>
              <a:t>أ-</a:t>
            </a:r>
            <a:r>
              <a:rPr lang="ar-SA" sz="2000" b="1" dirty="0">
                <a:highlight>
                  <a:srgbClr val="FFFF00"/>
                </a:highlight>
              </a:rPr>
              <a:t> الاستقرار الطبيعي</a:t>
            </a:r>
            <a:r>
              <a:rPr lang="ar-SA" sz="2000" dirty="0">
                <a:highlight>
                  <a:srgbClr val="FFFF00"/>
                </a:highlight>
              </a:rPr>
              <a:t> أو </a:t>
            </a:r>
            <a:r>
              <a:rPr lang="ar-SA" sz="2000" b="1" dirty="0">
                <a:highlight>
                  <a:srgbClr val="FFFF00"/>
                </a:highlight>
              </a:rPr>
              <a:t>الانسجام البيئي</a:t>
            </a:r>
            <a:r>
              <a:rPr lang="ar-SA" sz="2000" dirty="0">
                <a:highlight>
                  <a:srgbClr val="FFFF00"/>
                </a:highlight>
              </a:rPr>
              <a:t>.</a:t>
            </a:r>
            <a:endParaRPr lang="en-US" sz="2400" dirty="0">
              <a:solidFill>
                <a:schemeClr val="tx2"/>
              </a:solidFill>
              <a:highlight>
                <a:srgbClr val="FFFF00"/>
              </a:highlight>
            </a:endParaRPr>
          </a:p>
          <a:p>
            <a:pPr algn="r" rtl="1">
              <a:lnSpc>
                <a:spcPct val="115000"/>
              </a:lnSpc>
              <a:spcAft>
                <a:spcPts val="800"/>
              </a:spcAft>
            </a:pPr>
            <a:r>
              <a:rPr lang="ar-SA" sz="2800" dirty="0">
                <a:solidFill>
                  <a:schemeClr val="tx2"/>
                </a:solidFill>
              </a:rPr>
              <a:t>ب- </a:t>
            </a:r>
            <a:r>
              <a:rPr lang="ar-SA" sz="2000" dirty="0"/>
              <a:t>الاستقرار والتوازن والطبيعة الخضراء .</a:t>
            </a:r>
          </a:p>
          <a:p>
            <a:pPr algn="r" rtl="1">
              <a:lnSpc>
                <a:spcPct val="115000"/>
              </a:lnSpc>
              <a:spcAft>
                <a:spcPts val="800"/>
              </a:spcAft>
            </a:pPr>
            <a:r>
              <a:rPr lang="ar-SA" sz="2000" dirty="0"/>
              <a:t>ت- تكاتف البيئة مع الطبيعة .</a:t>
            </a:r>
            <a:endParaRPr lang="en-US" sz="2400" dirty="0">
              <a:solidFill>
                <a:schemeClr val="tx2"/>
              </a:solidFill>
            </a:endParaRPr>
          </a:p>
          <a:p>
            <a:pPr algn="r" rtl="1">
              <a:lnSpc>
                <a:spcPct val="115000"/>
              </a:lnSpc>
              <a:spcAft>
                <a:spcPts val="800"/>
              </a:spcAft>
            </a:pPr>
            <a:r>
              <a:rPr lang="ar-SA" sz="2400" dirty="0">
                <a:solidFill>
                  <a:schemeClr val="tx2"/>
                </a:solidFill>
              </a:rPr>
              <a:t>ث-</a:t>
            </a:r>
            <a:r>
              <a:rPr lang="ar-SA" sz="2400" dirty="0">
                <a:effectLst/>
                <a:latin typeface="Calibri" panose="020F0502020204030204" pitchFamily="34" charset="0"/>
                <a:ea typeface="Calibri" panose="020F0502020204030204" pitchFamily="34" charset="0"/>
                <a:cs typeface="Sakkal Majalla" panose="02000000000000000000" pitchFamily="2" charset="-78"/>
              </a:rPr>
              <a:t> </a:t>
            </a:r>
            <a:r>
              <a:rPr lang="ar-SA" sz="2000" dirty="0"/>
              <a:t>البيئة الخالية من الأوكسجين. </a:t>
            </a:r>
            <a:endParaRPr lang="en-US" sz="2000" dirty="0"/>
          </a:p>
          <a:p>
            <a:pPr algn="r" rtl="1">
              <a:lnSpc>
                <a:spcPct val="115000"/>
              </a:lnSpc>
              <a:spcAft>
                <a:spcPts val="800"/>
              </a:spcAft>
            </a:pPr>
            <a:endParaRPr lang="ar-SA" sz="2000" b="1" dirty="0">
              <a:effectLst/>
              <a:latin typeface="Calibri" panose="020F0502020204030204" pitchFamily="34" charset="0"/>
              <a:ea typeface="Calibri" panose="020F0502020204030204" pitchFamily="34" charset="0"/>
              <a:cs typeface="Sakkal Majalla" panose="02000000000000000000" pitchFamily="2" charset="-78"/>
            </a:endParaRPr>
          </a:p>
          <a:p>
            <a:pPr algn="r" rtl="1">
              <a:lnSpc>
                <a:spcPct val="115000"/>
              </a:lnSpc>
              <a:spcAft>
                <a:spcPts val="800"/>
              </a:spcAft>
            </a:pPr>
            <a:r>
              <a:rPr lang="ar-SA" sz="2000" dirty="0">
                <a:solidFill>
                  <a:srgbClr val="C00000"/>
                </a:solidFill>
              </a:rPr>
              <a:t> </a:t>
            </a:r>
            <a:endParaRPr lang="en-US" sz="2000" dirty="0">
              <a:solidFill>
                <a:srgbClr val="C00000"/>
              </a:solidFill>
            </a:endParaRPr>
          </a:p>
          <a:p>
            <a:pPr algn="r" rtl="1">
              <a:lnSpc>
                <a:spcPct val="115000"/>
              </a:lnSpc>
              <a:spcAft>
                <a:spcPts val="800"/>
              </a:spcAft>
            </a:pPr>
            <a:endParaRPr lang="ar-SA" sz="2000" b="1" dirty="0">
              <a:solidFill>
                <a:srgbClr val="C00000"/>
              </a:solidFill>
            </a:endParaRPr>
          </a:p>
        </p:txBody>
      </p:sp>
      <p:sp>
        <p:nvSpPr>
          <p:cNvPr id="15" name="TextBox 14">
            <a:extLst>
              <a:ext uri="{FF2B5EF4-FFF2-40B4-BE49-F238E27FC236}">
                <a16:creationId xmlns:a16="http://schemas.microsoft.com/office/drawing/2014/main" id="{DB8C7713-5D48-3BE2-76F9-783A58889C6C}"/>
              </a:ext>
            </a:extLst>
          </p:cNvPr>
          <p:cNvSpPr txBox="1"/>
          <p:nvPr/>
        </p:nvSpPr>
        <p:spPr>
          <a:xfrm>
            <a:off x="5870716" y="1930473"/>
            <a:ext cx="6130886" cy="4278094"/>
          </a:xfrm>
          <a:prstGeom prst="rect">
            <a:avLst/>
          </a:prstGeom>
          <a:noFill/>
        </p:spPr>
        <p:txBody>
          <a:bodyPr wrap="square">
            <a:spAutoFit/>
          </a:bodyPr>
          <a:lstStyle/>
          <a:p>
            <a:pPr algn="r">
              <a:buNone/>
            </a:pPr>
            <a:r>
              <a:rPr lang="ar-SA" sz="1600" b="1" dirty="0"/>
              <a:t>الأسماك هي حيوانات فقارية تعيش في المياه العذبة والمالحة، وتُعد من أقدم الكائنات الحية على الأرض، إذ ظهرت قبل ملايين السنين. تمتلك الأسماك جسمًا مغطى بالقشور يساعدها على الحماية والحركة، ولها زعانف متعددة تساعدها على السباحة بسرعة والتوازن في الماء. كما تتنفس عن طريق الخياشيم التي تمتص الأكسجين من الماء.</a:t>
            </a:r>
          </a:p>
          <a:p>
            <a:pPr algn="r">
              <a:buNone/>
            </a:pPr>
            <a:r>
              <a:rPr lang="ar-SA" sz="1600" b="1" dirty="0"/>
              <a:t>تختلف الأسماك بشكل كبير في الحجم والشكل واللون. فهناك الأسماك الصغيرة مثل السمك الذهبي، والأسماك الكبيرة مثل أسماك القرش والحوت. تتلون بعض الأسماك بألوان زاهية لجذب الأنظار، بينما تتخذ أخرى ألوانًا متناسقة مع البيئة لتخفي نفسها عن المفترسين.</a:t>
            </a:r>
          </a:p>
          <a:p>
            <a:pPr algn="r">
              <a:buNone/>
            </a:pPr>
            <a:r>
              <a:rPr lang="ar-SA" sz="1600" b="1" dirty="0"/>
              <a:t>تلعب الأسماك دورًا مهمًا في التوازن البيئي، فهي تتغذى على النباتات المائية والحيوانات الصغيرة، وفي نفس الوقت تُعد مصدرًا غذائيًا للكائنات الأكبر حجمًا. بعض الأسماك تعيش في أعماق البحار المظلمة، حيث تُنتج الضوء من أجسامها للتواصل أو لصيد الطعام، وهي ظاهرة تُسمى التلألؤ البيولوجي.</a:t>
            </a:r>
          </a:p>
          <a:p>
            <a:pPr algn="r">
              <a:buNone/>
            </a:pPr>
            <a:r>
              <a:rPr lang="ar-SA" sz="1600" b="1" dirty="0"/>
              <a:t>الأسماك مفيدة للإنسان أيضًا، فهي مصدر غني بالبروتين، الفيتامينات، والأحماض الدهنية الأساسية التي تقوي القلب والدماغ. وينصح الأطباء بتناول الأسماك بشكل منتظم ضمن النظام الغذائي الصحي.</a:t>
            </a:r>
          </a:p>
          <a:p>
            <a:pPr algn="r">
              <a:buNone/>
            </a:pPr>
            <a:r>
              <a:rPr lang="ar-SA" sz="1600" b="1" dirty="0"/>
              <a:t>بالإضافة إلى ذلك، تهتم العديد من المجتمعات بتربية الأسماك في الأحواض والمزارع المائية لتوفير الغذاء والحفاظ على الأنواع المهددة بالانقراض. وللأسماك مكانة مهمة في الثقافة والفنون، فهي مصدر إلهام للرسامين والشعراء والأساطير الشعبية حول العالم.</a:t>
            </a:r>
          </a:p>
        </p:txBody>
      </p:sp>
      <p:pic>
        <p:nvPicPr>
          <p:cNvPr id="6" name="Picture 5">
            <a:extLst>
              <a:ext uri="{FF2B5EF4-FFF2-40B4-BE49-F238E27FC236}">
                <a16:creationId xmlns:a16="http://schemas.microsoft.com/office/drawing/2014/main" id="{0CAF4749-DEDD-ADB5-E289-525AF0EB3D8E}"/>
              </a:ext>
            </a:extLst>
          </p:cNvPr>
          <p:cNvPicPr>
            <a:picLocks noChangeAspect="1"/>
          </p:cNvPicPr>
          <p:nvPr/>
        </p:nvPicPr>
        <p:blipFill>
          <a:blip r:embed="rId6"/>
          <a:stretch>
            <a:fillRect/>
          </a:stretch>
        </p:blipFill>
        <p:spPr>
          <a:xfrm>
            <a:off x="996288" y="2511188"/>
            <a:ext cx="2718768" cy="801311"/>
          </a:xfrm>
          <a:prstGeom prst="rect">
            <a:avLst/>
          </a:prstGeom>
        </p:spPr>
      </p:pic>
      <p:pic>
        <p:nvPicPr>
          <p:cNvPr id="8" name="Picture 2" descr="منظر جانبي لأنواع أسماك البحر, منظر جانبي لأنواع أسماك البحر, أنواع الأسماك  البحرية, منظر جانبي لأنواع الأسماك PNG صورة للتحميل مجانا">
            <a:extLst>
              <a:ext uri="{FF2B5EF4-FFF2-40B4-BE49-F238E27FC236}">
                <a16:creationId xmlns:a16="http://schemas.microsoft.com/office/drawing/2014/main" id="{F1BD6358-CFBA-B35A-D8C7-F48C40C1B97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4613" y="1995639"/>
            <a:ext cx="1263722" cy="817109"/>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6DDA0670-F71E-C0AB-C262-336039243690}"/>
              </a:ext>
            </a:extLst>
          </p:cNvPr>
          <p:cNvSpPr txBox="1"/>
          <p:nvPr/>
        </p:nvSpPr>
        <p:spPr>
          <a:xfrm>
            <a:off x="474646" y="6351069"/>
            <a:ext cx="5205483" cy="400110"/>
          </a:xfrm>
          <a:prstGeom prst="rect">
            <a:avLst/>
          </a:prstGeom>
          <a:noFill/>
        </p:spPr>
        <p:txBody>
          <a:bodyPr wrap="square" rtlCol="0">
            <a:spAutoFit/>
          </a:bodyPr>
          <a:lstStyle/>
          <a:p>
            <a:r>
              <a:rPr lang="ar-SA" sz="2000" b="1" dirty="0">
                <a:solidFill>
                  <a:srgbClr val="CB6792"/>
                </a:solidFill>
              </a:rPr>
              <a:t>إعداد... أ: شيخة السويدي</a:t>
            </a:r>
            <a:endParaRPr lang="en-US" sz="2000" b="1" dirty="0">
              <a:solidFill>
                <a:srgbClr val="CB6792"/>
              </a:solidFill>
            </a:endParaRPr>
          </a:p>
        </p:txBody>
      </p:sp>
    </p:spTree>
    <p:extLst>
      <p:ext uri="{BB962C8B-B14F-4D97-AF65-F5344CB8AC3E}">
        <p14:creationId xmlns:p14="http://schemas.microsoft.com/office/powerpoint/2010/main" val="31368457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ACDE2-0C2F-380E-17C2-154CC36E1AB0}"/>
            </a:ext>
          </a:extLst>
        </p:cNvPr>
        <p:cNvGrpSpPr/>
        <p:nvPr/>
      </p:nvGrpSpPr>
      <p:grpSpPr>
        <a:xfrm>
          <a:off x="0" y="0"/>
          <a:ext cx="0" cy="0"/>
          <a:chOff x="0" y="0"/>
          <a:chExt cx="0" cy="0"/>
        </a:xfrm>
      </p:grpSpPr>
      <p:pic>
        <p:nvPicPr>
          <p:cNvPr id="5" name="Picture 4" descr="A logo with a feather and a book&#10;&#10;AI-generated content may be incorrect.">
            <a:extLst>
              <a:ext uri="{FF2B5EF4-FFF2-40B4-BE49-F238E27FC236}">
                <a16:creationId xmlns:a16="http://schemas.microsoft.com/office/drawing/2014/main" id="{F5D6155C-CE06-968B-EC74-4FADD4859058}"/>
              </a:ext>
            </a:extLst>
          </p:cNvPr>
          <p:cNvPicPr>
            <a:picLocks noChangeAspect="1"/>
          </p:cNvPicPr>
          <p:nvPr/>
        </p:nvPicPr>
        <p:blipFill>
          <a:blip r:embed="rId3">
            <a:extLst>
              <a:ext uri="{28A0092B-C50C-407E-A947-70E740481C1C}">
                <a14:useLocalDpi xmlns:a14="http://schemas.microsoft.com/office/drawing/2010/main" val="0"/>
              </a:ext>
            </a:extLst>
          </a:blip>
          <a:srcRect t="18752" r="-1" b="-1"/>
          <a:stretch>
            <a:fillRect/>
          </a:stretch>
        </p:blipFill>
        <p:spPr>
          <a:xfrm>
            <a:off x="3068" y="9"/>
            <a:ext cx="12188932" cy="2011073"/>
          </a:xfrm>
          <a:prstGeom prst="rect">
            <a:avLst/>
          </a:prstGeom>
        </p:spPr>
      </p:pic>
      <p:sp>
        <p:nvSpPr>
          <p:cNvPr id="9" name="TextBox 8">
            <a:extLst>
              <a:ext uri="{FF2B5EF4-FFF2-40B4-BE49-F238E27FC236}">
                <a16:creationId xmlns:a16="http://schemas.microsoft.com/office/drawing/2014/main" id="{E35D3518-7476-7B9A-8FAC-3E6BAAC471A4}"/>
              </a:ext>
            </a:extLst>
          </p:cNvPr>
          <p:cNvSpPr txBox="1"/>
          <p:nvPr/>
        </p:nvSpPr>
        <p:spPr>
          <a:xfrm>
            <a:off x="9957661" y="309966"/>
            <a:ext cx="1914041" cy="369332"/>
          </a:xfrm>
          <a:prstGeom prst="rect">
            <a:avLst/>
          </a:prstGeom>
          <a:noFill/>
        </p:spPr>
        <p:txBody>
          <a:bodyPr wrap="square" rtlCol="0">
            <a:spAutoFit/>
          </a:bodyPr>
          <a:lstStyle/>
          <a:p>
            <a:r>
              <a:rPr lang="ar-SA" dirty="0"/>
              <a:t>مدرسة الشوامخ ح2-3</a:t>
            </a:r>
            <a:endParaRPr lang="en-US" dirty="0"/>
          </a:p>
        </p:txBody>
      </p:sp>
      <p:pic>
        <p:nvPicPr>
          <p:cNvPr id="11" name="Picture 10" descr="التربية والتعليم» تعلن هويتها المرئية الجديدة | صحيفة الخليج">
            <a:extLst>
              <a:ext uri="{FF2B5EF4-FFF2-40B4-BE49-F238E27FC236}">
                <a16:creationId xmlns:a16="http://schemas.microsoft.com/office/drawing/2014/main" id="{2CDEC061-F2B9-F946-AE31-FD509B2E64B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28" y="0"/>
            <a:ext cx="1393825" cy="950595"/>
          </a:xfrm>
          <a:prstGeom prst="rect">
            <a:avLst/>
          </a:prstGeom>
          <a:noFill/>
          <a:ln>
            <a:noFill/>
          </a:ln>
        </p:spPr>
      </p:pic>
      <p:cxnSp>
        <p:nvCxnSpPr>
          <p:cNvPr id="26" name="Straight Connector 25">
            <a:extLst>
              <a:ext uri="{FF2B5EF4-FFF2-40B4-BE49-F238E27FC236}">
                <a16:creationId xmlns:a16="http://schemas.microsoft.com/office/drawing/2014/main" id="{0EE496DC-A916-3C89-C0E7-C27CBDE76A2B}"/>
              </a:ext>
            </a:extLst>
          </p:cNvPr>
          <p:cNvCxnSpPr>
            <a:cxnSpLocks/>
          </p:cNvCxnSpPr>
          <p:nvPr/>
        </p:nvCxnSpPr>
        <p:spPr>
          <a:xfrm>
            <a:off x="5680129" y="1995639"/>
            <a:ext cx="0" cy="412213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7" name="Arrow: Left 36">
            <a:extLst>
              <a:ext uri="{FF2B5EF4-FFF2-40B4-BE49-F238E27FC236}">
                <a16:creationId xmlns:a16="http://schemas.microsoft.com/office/drawing/2014/main" id="{DE0B3877-4E17-619F-00C9-D60620E93558}"/>
              </a:ext>
            </a:extLst>
          </p:cNvPr>
          <p:cNvSpPr/>
          <p:nvPr/>
        </p:nvSpPr>
        <p:spPr>
          <a:xfrm>
            <a:off x="4172062" y="2758094"/>
            <a:ext cx="1317481" cy="584773"/>
          </a:xfrm>
          <a:prstGeom prst="lef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ar-SA" b="1" dirty="0"/>
              <a:t>المهارة</a:t>
            </a:r>
            <a:endParaRPr lang="en-US" b="1" dirty="0"/>
          </a:p>
        </p:txBody>
      </p:sp>
      <p:sp>
        <p:nvSpPr>
          <p:cNvPr id="7" name="TextBox 6">
            <a:extLst>
              <a:ext uri="{FF2B5EF4-FFF2-40B4-BE49-F238E27FC236}">
                <a16:creationId xmlns:a16="http://schemas.microsoft.com/office/drawing/2014/main" id="{BBB390B7-A601-A390-60A1-DC658EB352AB}"/>
              </a:ext>
            </a:extLst>
          </p:cNvPr>
          <p:cNvSpPr txBox="1"/>
          <p:nvPr/>
        </p:nvSpPr>
        <p:spPr>
          <a:xfrm>
            <a:off x="4294958" y="1872583"/>
            <a:ext cx="6449784" cy="276999"/>
          </a:xfrm>
          <a:prstGeom prst="rect">
            <a:avLst/>
          </a:prstGeom>
          <a:noFill/>
        </p:spPr>
        <p:txBody>
          <a:bodyPr wrap="square">
            <a:spAutoFit/>
          </a:bodyPr>
          <a:lstStyle/>
          <a:p>
            <a:r>
              <a:rPr lang="ar-SA" sz="1200" b="1" i="0" u="none" strike="noStrike" baseline="0" dirty="0">
                <a:highlight>
                  <a:srgbClr val="00FF00"/>
                </a:highlight>
                <a:latin typeface="SakkalMajalla-Bold"/>
              </a:rPr>
              <a:t>نص معلوماتي خارجيٌّ</a:t>
            </a:r>
            <a:endParaRPr lang="en-US" sz="3600" b="1" dirty="0">
              <a:highlight>
                <a:srgbClr val="00FF00"/>
              </a:highlight>
            </a:endParaRPr>
          </a:p>
        </p:txBody>
      </p:sp>
      <p:pic>
        <p:nvPicPr>
          <p:cNvPr id="4" name="Picture 3">
            <a:extLst>
              <a:ext uri="{FF2B5EF4-FFF2-40B4-BE49-F238E27FC236}">
                <a16:creationId xmlns:a16="http://schemas.microsoft.com/office/drawing/2014/main" id="{AD7AC27E-FE0A-CEA4-E1E2-224D3A070469}"/>
              </a:ext>
            </a:extLst>
          </p:cNvPr>
          <p:cNvPicPr>
            <a:picLocks noChangeAspect="1"/>
          </p:cNvPicPr>
          <p:nvPr/>
        </p:nvPicPr>
        <p:blipFill>
          <a:blip r:embed="rId5"/>
          <a:stretch>
            <a:fillRect/>
          </a:stretch>
        </p:blipFill>
        <p:spPr>
          <a:xfrm>
            <a:off x="3719393" y="2205135"/>
            <a:ext cx="1817260" cy="426879"/>
          </a:xfrm>
          <a:prstGeom prst="rect">
            <a:avLst/>
          </a:prstGeom>
        </p:spPr>
      </p:pic>
      <p:sp>
        <p:nvSpPr>
          <p:cNvPr id="10" name="TextBox 9">
            <a:extLst>
              <a:ext uri="{FF2B5EF4-FFF2-40B4-BE49-F238E27FC236}">
                <a16:creationId xmlns:a16="http://schemas.microsoft.com/office/drawing/2014/main" id="{0D30E31F-B134-7663-D26C-8025B8F452B5}"/>
              </a:ext>
            </a:extLst>
          </p:cNvPr>
          <p:cNvSpPr txBox="1"/>
          <p:nvPr/>
        </p:nvSpPr>
        <p:spPr>
          <a:xfrm>
            <a:off x="-77200" y="3435813"/>
            <a:ext cx="5580858" cy="3965894"/>
          </a:xfrm>
          <a:prstGeom prst="rect">
            <a:avLst/>
          </a:prstGeom>
          <a:noFill/>
        </p:spPr>
        <p:txBody>
          <a:bodyPr wrap="square">
            <a:spAutoFit/>
          </a:bodyPr>
          <a:lstStyle/>
          <a:p>
            <a:pPr algn="r" rtl="1">
              <a:lnSpc>
                <a:spcPct val="115000"/>
              </a:lnSpc>
              <a:spcAft>
                <a:spcPts val="800"/>
              </a:spcAft>
            </a:pPr>
            <a:r>
              <a:rPr lang="ar-SA" sz="1600" b="1" dirty="0">
                <a:solidFill>
                  <a:srgbClr val="C00000"/>
                </a:solidFill>
              </a:rPr>
              <a:t>26- </a:t>
            </a:r>
            <a:r>
              <a:rPr lang="ar-SA" sz="2000" dirty="0">
                <a:solidFill>
                  <a:srgbClr val="C00000"/>
                </a:solidFill>
              </a:rPr>
              <a:t>ما السمة الفنية التي لا تنطبق على النص السابق</a:t>
            </a:r>
            <a:r>
              <a:rPr lang="ar-SA" b="1" dirty="0">
                <a:solidFill>
                  <a:srgbClr val="C00000"/>
                </a:solidFill>
              </a:rPr>
              <a:t>:</a:t>
            </a:r>
          </a:p>
          <a:p>
            <a:pPr algn="r" rtl="1">
              <a:lnSpc>
                <a:spcPct val="115000"/>
              </a:lnSpc>
              <a:spcAft>
                <a:spcPts val="800"/>
              </a:spcAft>
            </a:pPr>
            <a:r>
              <a:rPr lang="ar-SA" sz="2800" dirty="0">
                <a:solidFill>
                  <a:schemeClr val="tx2"/>
                </a:solidFill>
              </a:rPr>
              <a:t>أ- </a:t>
            </a:r>
            <a:r>
              <a:rPr lang="ar-SA" sz="2000" dirty="0"/>
              <a:t>دعم الفكرة الرئيسية بالأدلة المناسبة </a:t>
            </a:r>
            <a:endParaRPr lang="en-US" sz="2400" dirty="0">
              <a:solidFill>
                <a:schemeClr val="tx2"/>
              </a:solidFill>
            </a:endParaRPr>
          </a:p>
          <a:p>
            <a:pPr algn="r" rtl="1">
              <a:lnSpc>
                <a:spcPct val="115000"/>
              </a:lnSpc>
              <a:spcAft>
                <a:spcPts val="800"/>
              </a:spcAft>
            </a:pPr>
            <a:r>
              <a:rPr lang="ar-SA" sz="2800" dirty="0">
                <a:solidFill>
                  <a:schemeClr val="tx2"/>
                </a:solidFill>
                <a:highlight>
                  <a:srgbClr val="FFFF00"/>
                </a:highlight>
              </a:rPr>
              <a:t>ب- </a:t>
            </a:r>
            <a:r>
              <a:rPr lang="ar-SA" sz="2000" dirty="0">
                <a:highlight>
                  <a:srgbClr val="FFFF00"/>
                </a:highlight>
              </a:rPr>
              <a:t>مراعاة التسلسل المنطقي للأفكار .</a:t>
            </a:r>
          </a:p>
          <a:p>
            <a:pPr algn="r" rtl="1">
              <a:lnSpc>
                <a:spcPct val="115000"/>
              </a:lnSpc>
              <a:spcAft>
                <a:spcPts val="800"/>
              </a:spcAft>
            </a:pPr>
            <a:r>
              <a:rPr lang="ar-SA" sz="2000" dirty="0"/>
              <a:t>ت- خلو النص من الصور المجازية والبيانية .</a:t>
            </a:r>
            <a:endParaRPr lang="en-US" sz="2400" dirty="0">
              <a:solidFill>
                <a:schemeClr val="tx2"/>
              </a:solidFill>
            </a:endParaRPr>
          </a:p>
          <a:p>
            <a:pPr algn="r" rtl="1">
              <a:lnSpc>
                <a:spcPct val="115000"/>
              </a:lnSpc>
              <a:spcAft>
                <a:spcPts val="800"/>
              </a:spcAft>
            </a:pPr>
            <a:r>
              <a:rPr lang="ar-SA" sz="2400" dirty="0">
                <a:solidFill>
                  <a:schemeClr val="tx2"/>
                </a:solidFill>
              </a:rPr>
              <a:t>ث-</a:t>
            </a:r>
            <a:r>
              <a:rPr lang="ar-SA" sz="2400" dirty="0">
                <a:effectLst/>
                <a:latin typeface="Calibri" panose="020F0502020204030204" pitchFamily="34" charset="0"/>
                <a:ea typeface="Calibri" panose="020F0502020204030204" pitchFamily="34" charset="0"/>
                <a:cs typeface="Sakkal Majalla" panose="02000000000000000000" pitchFamily="2" charset="-78"/>
              </a:rPr>
              <a:t> </a:t>
            </a:r>
            <a:r>
              <a:rPr lang="ar-SA" sz="2000" dirty="0"/>
              <a:t>تقديم المعلومات والأخبار للقارئ. </a:t>
            </a:r>
            <a:endParaRPr lang="en-US" sz="2000" dirty="0"/>
          </a:p>
          <a:p>
            <a:pPr algn="r" rtl="1">
              <a:lnSpc>
                <a:spcPct val="115000"/>
              </a:lnSpc>
              <a:spcAft>
                <a:spcPts val="800"/>
              </a:spcAft>
            </a:pPr>
            <a:endParaRPr lang="ar-SA" sz="2000" b="1" dirty="0">
              <a:effectLst/>
              <a:latin typeface="Calibri" panose="020F0502020204030204" pitchFamily="34" charset="0"/>
              <a:ea typeface="Calibri" panose="020F0502020204030204" pitchFamily="34" charset="0"/>
              <a:cs typeface="Sakkal Majalla" panose="02000000000000000000" pitchFamily="2" charset="-78"/>
            </a:endParaRPr>
          </a:p>
          <a:p>
            <a:pPr algn="r" rtl="1">
              <a:lnSpc>
                <a:spcPct val="115000"/>
              </a:lnSpc>
              <a:spcAft>
                <a:spcPts val="800"/>
              </a:spcAft>
            </a:pPr>
            <a:r>
              <a:rPr lang="ar-SA" sz="2000" dirty="0">
                <a:solidFill>
                  <a:srgbClr val="C00000"/>
                </a:solidFill>
              </a:rPr>
              <a:t> </a:t>
            </a:r>
            <a:endParaRPr lang="en-US" sz="2000" dirty="0">
              <a:solidFill>
                <a:srgbClr val="C00000"/>
              </a:solidFill>
            </a:endParaRPr>
          </a:p>
          <a:p>
            <a:pPr algn="r" rtl="1">
              <a:lnSpc>
                <a:spcPct val="115000"/>
              </a:lnSpc>
              <a:spcAft>
                <a:spcPts val="800"/>
              </a:spcAft>
            </a:pPr>
            <a:endParaRPr lang="ar-SA" sz="2000" b="1" dirty="0">
              <a:solidFill>
                <a:srgbClr val="C00000"/>
              </a:solidFill>
            </a:endParaRPr>
          </a:p>
        </p:txBody>
      </p:sp>
      <p:sp>
        <p:nvSpPr>
          <p:cNvPr id="15" name="TextBox 14">
            <a:extLst>
              <a:ext uri="{FF2B5EF4-FFF2-40B4-BE49-F238E27FC236}">
                <a16:creationId xmlns:a16="http://schemas.microsoft.com/office/drawing/2014/main" id="{42C31898-9A77-E05B-114C-3AF7F587DDE9}"/>
              </a:ext>
            </a:extLst>
          </p:cNvPr>
          <p:cNvSpPr txBox="1"/>
          <p:nvPr/>
        </p:nvSpPr>
        <p:spPr>
          <a:xfrm>
            <a:off x="5870716" y="1930473"/>
            <a:ext cx="6130886" cy="4278094"/>
          </a:xfrm>
          <a:prstGeom prst="rect">
            <a:avLst/>
          </a:prstGeom>
          <a:noFill/>
        </p:spPr>
        <p:txBody>
          <a:bodyPr wrap="square">
            <a:spAutoFit/>
          </a:bodyPr>
          <a:lstStyle/>
          <a:p>
            <a:pPr algn="r">
              <a:buNone/>
            </a:pPr>
            <a:r>
              <a:rPr lang="ar-SA" sz="1600" b="1" dirty="0"/>
              <a:t>الأسماك هي حيوانات فقارية تعيش في المياه العذبة والمالحة، وتُعد من أقدم الكائنات الحية على الأرض، إذ ظهرت قبل ملايين السنين. تمتلك الأسماك جسمًا مغطى بالقشور يساعدها على الحماية والحركة، ولها زعانف متعددة تساعدها على السباحة بسرعة والتوازن في الماء. كما تتنفس عن طريق الخياشيم التي تمتص الأكسجين من الماء.</a:t>
            </a:r>
          </a:p>
          <a:p>
            <a:pPr algn="r">
              <a:buNone/>
            </a:pPr>
            <a:r>
              <a:rPr lang="ar-SA" sz="1600" b="1" dirty="0"/>
              <a:t>تختلف الأسماك بشكل كبير في الحجم والشكل واللون. فهناك الأسماك الصغيرة مثل السمك الذهبي، والأسماك الكبيرة مثل أسماك القرش والحوت. تتلون بعض الأسماك بألوان زاهية لجذب الأنظار، بينما تتخذ أخرى ألوانًا متناسقة مع البيئة لتخفي نفسها عن المفترسين.</a:t>
            </a:r>
          </a:p>
          <a:p>
            <a:pPr algn="r">
              <a:buNone/>
            </a:pPr>
            <a:r>
              <a:rPr lang="ar-SA" sz="1600" b="1" dirty="0"/>
              <a:t>تلعب الأسماك دورًا مهمًا في التوازن البيئي، فهي تتغذى على النباتات المائية والحيوانات الصغيرة، وفي نفس الوقت تُعد مصدرًا غذائيًا للكائنات الأكبر حجمًا. بعض الأسماك تعيش في أعماق البحار المظلمة، حيث تُنتج الضوء من أجسامها للتواصل أو لصيد الطعام، وهي ظاهرة تُسمى التلألؤ البيولوجي.</a:t>
            </a:r>
          </a:p>
          <a:p>
            <a:pPr algn="r">
              <a:buNone/>
            </a:pPr>
            <a:r>
              <a:rPr lang="ar-SA" sz="1600" b="1" dirty="0"/>
              <a:t>الأسماك مفيدة للإنسان أيضًا، فهي مصدر غني بالبروتين، الفيتامينات، والأحماض الدهنية الأساسية التي تقوي القلب والدماغ. وينصح الأطباء بتناول الأسماك بشكل منتظم ضمن النظام الغذائي الصحي.</a:t>
            </a:r>
          </a:p>
          <a:p>
            <a:pPr algn="r">
              <a:buNone/>
            </a:pPr>
            <a:r>
              <a:rPr lang="ar-SA" sz="1600" b="1" dirty="0"/>
              <a:t>بالإضافة إلى ذلك، تهتم العديد من المجتمعات بتربية الأسماك في الأحواض والمزارع المائية لتوفير الغذاء والحفاظ على الأنواع المهددة بالانقراض. وللأسماك مكانة مهمة في الثقافة والفنون، فهي مصدر إلهام للرسامين والشعراء والأساطير الشعبية حول العالم.</a:t>
            </a:r>
          </a:p>
        </p:txBody>
      </p:sp>
      <p:pic>
        <p:nvPicPr>
          <p:cNvPr id="3" name="Picture 2">
            <a:extLst>
              <a:ext uri="{FF2B5EF4-FFF2-40B4-BE49-F238E27FC236}">
                <a16:creationId xmlns:a16="http://schemas.microsoft.com/office/drawing/2014/main" id="{947026DE-02D9-6B88-D887-F312D871A270}"/>
              </a:ext>
            </a:extLst>
          </p:cNvPr>
          <p:cNvPicPr>
            <a:picLocks noChangeAspect="1"/>
          </p:cNvPicPr>
          <p:nvPr/>
        </p:nvPicPr>
        <p:blipFill>
          <a:blip r:embed="rId6"/>
          <a:stretch>
            <a:fillRect/>
          </a:stretch>
        </p:blipFill>
        <p:spPr>
          <a:xfrm>
            <a:off x="1513999" y="2713550"/>
            <a:ext cx="2430917" cy="640727"/>
          </a:xfrm>
          <a:prstGeom prst="rect">
            <a:avLst/>
          </a:prstGeom>
        </p:spPr>
      </p:pic>
      <p:pic>
        <p:nvPicPr>
          <p:cNvPr id="2" name="Picture 2" descr="منظر جانبي لأنواع أسماك البحر, منظر جانبي لأنواع أسماك البحر, أنواع الأسماك  البحرية, منظر جانبي لأنواع الأسماك PNG صورة للتحميل مجانا">
            <a:extLst>
              <a:ext uri="{FF2B5EF4-FFF2-40B4-BE49-F238E27FC236}">
                <a16:creationId xmlns:a16="http://schemas.microsoft.com/office/drawing/2014/main" id="{B6733D12-3604-2D58-C1CE-1846BBA6309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4613" y="1995639"/>
            <a:ext cx="1263722" cy="81710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3129549-B7B0-9FD3-341D-4EA77EF91B43}"/>
              </a:ext>
            </a:extLst>
          </p:cNvPr>
          <p:cNvSpPr txBox="1"/>
          <p:nvPr/>
        </p:nvSpPr>
        <p:spPr>
          <a:xfrm>
            <a:off x="474646" y="6351069"/>
            <a:ext cx="5205483" cy="400110"/>
          </a:xfrm>
          <a:prstGeom prst="rect">
            <a:avLst/>
          </a:prstGeom>
          <a:noFill/>
        </p:spPr>
        <p:txBody>
          <a:bodyPr wrap="square" rtlCol="0">
            <a:spAutoFit/>
          </a:bodyPr>
          <a:lstStyle/>
          <a:p>
            <a:r>
              <a:rPr lang="ar-SA" sz="2000" b="1" dirty="0">
                <a:solidFill>
                  <a:srgbClr val="CB6792"/>
                </a:solidFill>
              </a:rPr>
              <a:t>إعداد... أ: شيخة السويدي</a:t>
            </a:r>
            <a:endParaRPr lang="en-US" sz="2000" b="1" dirty="0">
              <a:solidFill>
                <a:srgbClr val="CB6792"/>
              </a:solidFill>
            </a:endParaRPr>
          </a:p>
        </p:txBody>
      </p:sp>
    </p:spTree>
    <p:extLst>
      <p:ext uri="{BB962C8B-B14F-4D97-AF65-F5344CB8AC3E}">
        <p14:creationId xmlns:p14="http://schemas.microsoft.com/office/powerpoint/2010/main" val="8636928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1CDC0-F8EC-2B6E-CB31-FCE0FAE644FA}"/>
            </a:ext>
          </a:extLst>
        </p:cNvPr>
        <p:cNvGrpSpPr/>
        <p:nvPr/>
      </p:nvGrpSpPr>
      <p:grpSpPr>
        <a:xfrm>
          <a:off x="0" y="0"/>
          <a:ext cx="0" cy="0"/>
          <a:chOff x="0" y="0"/>
          <a:chExt cx="0" cy="0"/>
        </a:xfrm>
      </p:grpSpPr>
      <p:pic>
        <p:nvPicPr>
          <p:cNvPr id="5" name="Picture 4" descr="A logo with a feather and a book&#10;&#10;AI-generated content may be incorrect.">
            <a:extLst>
              <a:ext uri="{FF2B5EF4-FFF2-40B4-BE49-F238E27FC236}">
                <a16:creationId xmlns:a16="http://schemas.microsoft.com/office/drawing/2014/main" id="{6329A071-D108-4479-582F-B82D032F3716}"/>
              </a:ext>
            </a:extLst>
          </p:cNvPr>
          <p:cNvPicPr>
            <a:picLocks noChangeAspect="1"/>
          </p:cNvPicPr>
          <p:nvPr/>
        </p:nvPicPr>
        <p:blipFill>
          <a:blip r:embed="rId3">
            <a:extLst>
              <a:ext uri="{28A0092B-C50C-407E-A947-70E740481C1C}">
                <a14:useLocalDpi xmlns:a14="http://schemas.microsoft.com/office/drawing/2010/main" val="0"/>
              </a:ext>
            </a:extLst>
          </a:blip>
          <a:srcRect t="18752" r="-1" b="-1"/>
          <a:stretch>
            <a:fillRect/>
          </a:stretch>
        </p:blipFill>
        <p:spPr>
          <a:xfrm>
            <a:off x="3068" y="9"/>
            <a:ext cx="12188932" cy="5020709"/>
          </a:xfrm>
          <a:prstGeom prst="rect">
            <a:avLst/>
          </a:prstGeom>
        </p:spPr>
      </p:pic>
      <p:sp>
        <p:nvSpPr>
          <p:cNvPr id="9" name="TextBox 8">
            <a:extLst>
              <a:ext uri="{FF2B5EF4-FFF2-40B4-BE49-F238E27FC236}">
                <a16:creationId xmlns:a16="http://schemas.microsoft.com/office/drawing/2014/main" id="{910CFE51-497B-4BC5-C9D4-442AF6F0A9DA}"/>
              </a:ext>
            </a:extLst>
          </p:cNvPr>
          <p:cNvSpPr txBox="1"/>
          <p:nvPr/>
        </p:nvSpPr>
        <p:spPr>
          <a:xfrm>
            <a:off x="9041222" y="409656"/>
            <a:ext cx="3156874" cy="523220"/>
          </a:xfrm>
          <a:prstGeom prst="rect">
            <a:avLst/>
          </a:prstGeom>
          <a:noFill/>
        </p:spPr>
        <p:txBody>
          <a:bodyPr wrap="square" rtlCol="0">
            <a:spAutoFit/>
          </a:bodyPr>
          <a:lstStyle/>
          <a:p>
            <a:r>
              <a:rPr lang="ar-SA" sz="2800" b="1" dirty="0">
                <a:latin typeface="Calibri" panose="020F0502020204030204" pitchFamily="34" charset="0"/>
                <a:ea typeface="Calibri" panose="020F0502020204030204" pitchFamily="34" charset="0"/>
                <a:cs typeface="Calibri" panose="020F0502020204030204" pitchFamily="34" charset="0"/>
              </a:rPr>
              <a:t>مدرسة الشوامخ  ح2-3</a:t>
            </a:r>
            <a:endParaRPr lang="en-US" sz="2800" b="1" dirty="0">
              <a:latin typeface="Calibri" panose="020F0502020204030204" pitchFamily="34" charset="0"/>
              <a:ea typeface="Calibri" panose="020F0502020204030204" pitchFamily="34" charset="0"/>
              <a:cs typeface="Calibri" panose="020F0502020204030204" pitchFamily="34" charset="0"/>
            </a:endParaRPr>
          </a:p>
        </p:txBody>
      </p:sp>
      <p:pic>
        <p:nvPicPr>
          <p:cNvPr id="11" name="Picture 10" descr="التربية والتعليم» تعلن هويتها المرئية الجديدة | صحيفة الخليج">
            <a:extLst>
              <a:ext uri="{FF2B5EF4-FFF2-40B4-BE49-F238E27FC236}">
                <a16:creationId xmlns:a16="http://schemas.microsoft.com/office/drawing/2014/main" id="{4DD71916-A06D-2C2A-BDE8-B1408FB1A7F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28" y="-1"/>
            <a:ext cx="2759876" cy="1774209"/>
          </a:xfrm>
          <a:prstGeom prst="rect">
            <a:avLst/>
          </a:prstGeom>
          <a:noFill/>
          <a:ln>
            <a:noFill/>
          </a:ln>
        </p:spPr>
      </p:pic>
      <p:sp>
        <p:nvSpPr>
          <p:cNvPr id="47" name="TextBox 46">
            <a:extLst>
              <a:ext uri="{FF2B5EF4-FFF2-40B4-BE49-F238E27FC236}">
                <a16:creationId xmlns:a16="http://schemas.microsoft.com/office/drawing/2014/main" id="{797A028C-C58C-D9D2-B626-1883CCC7E405}"/>
              </a:ext>
            </a:extLst>
          </p:cNvPr>
          <p:cNvSpPr txBox="1"/>
          <p:nvPr/>
        </p:nvSpPr>
        <p:spPr>
          <a:xfrm>
            <a:off x="4779517" y="5706441"/>
            <a:ext cx="5205483" cy="400110"/>
          </a:xfrm>
          <a:prstGeom prst="rect">
            <a:avLst/>
          </a:prstGeom>
          <a:noFill/>
        </p:spPr>
        <p:txBody>
          <a:bodyPr wrap="square" rtlCol="0">
            <a:spAutoFit/>
          </a:bodyPr>
          <a:lstStyle/>
          <a:p>
            <a:r>
              <a:rPr lang="ar-SA" sz="2000" b="1" dirty="0">
                <a:solidFill>
                  <a:srgbClr val="CB6792"/>
                </a:solidFill>
              </a:rPr>
              <a:t>تحياتي أ: شيخة السويدي</a:t>
            </a:r>
            <a:endParaRPr lang="en-US" sz="2000" b="1" dirty="0">
              <a:solidFill>
                <a:srgbClr val="CB6792"/>
              </a:solidFill>
            </a:endParaRPr>
          </a:p>
        </p:txBody>
      </p:sp>
      <p:sp>
        <p:nvSpPr>
          <p:cNvPr id="2" name="TextBox 1">
            <a:extLst>
              <a:ext uri="{FF2B5EF4-FFF2-40B4-BE49-F238E27FC236}">
                <a16:creationId xmlns:a16="http://schemas.microsoft.com/office/drawing/2014/main" id="{C1176AF9-EB33-D3DE-2CCE-83904FA52520}"/>
              </a:ext>
            </a:extLst>
          </p:cNvPr>
          <p:cNvSpPr txBox="1"/>
          <p:nvPr/>
        </p:nvSpPr>
        <p:spPr>
          <a:xfrm>
            <a:off x="2912028" y="4680415"/>
            <a:ext cx="6129194" cy="954107"/>
          </a:xfrm>
          <a:prstGeom prst="rect">
            <a:avLst/>
          </a:prstGeom>
          <a:noFill/>
        </p:spPr>
        <p:txBody>
          <a:bodyPr wrap="square" rtlCol="0">
            <a:spAutoFit/>
          </a:bodyPr>
          <a:lstStyle/>
          <a:p>
            <a:pPr algn="ctr"/>
            <a:r>
              <a:rPr lang="ar-SA" sz="2800" b="1" dirty="0">
                <a:solidFill>
                  <a:srgbClr val="7030A0"/>
                </a:solidFill>
                <a:latin typeface="Calibri" panose="020F0502020204030204" pitchFamily="34" charset="0"/>
                <a:ea typeface="Calibri" panose="020F0502020204030204" pitchFamily="34" charset="0"/>
                <a:cs typeface="Calibri" panose="020F0502020204030204" pitchFamily="34" charset="0"/>
              </a:rPr>
              <a:t>اللهم أحلامهم بين يديك ولا شيء يعجزك</a:t>
            </a:r>
          </a:p>
          <a:p>
            <a:pPr algn="ctr"/>
            <a:r>
              <a:rPr lang="ar-SA" sz="2800" b="1" dirty="0">
                <a:solidFill>
                  <a:srgbClr val="7030A0"/>
                </a:solidFill>
                <a:latin typeface="Calibri" panose="020F0502020204030204" pitchFamily="34" charset="0"/>
                <a:ea typeface="Calibri" panose="020F0502020204030204" pitchFamily="34" charset="0"/>
                <a:cs typeface="Calibri" panose="020F0502020204030204" pitchFamily="34" charset="0"/>
              </a:rPr>
              <a:t>اللهم  توفيقاً ونجاحاً  للجميع </a:t>
            </a:r>
          </a:p>
        </p:txBody>
      </p:sp>
    </p:spTree>
    <p:extLst>
      <p:ext uri="{BB962C8B-B14F-4D97-AF65-F5344CB8AC3E}">
        <p14:creationId xmlns:p14="http://schemas.microsoft.com/office/powerpoint/2010/main" val="2085945928"/>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Organic</Template>
  <TotalTime>451</TotalTime>
  <Words>5704</Words>
  <Application>Microsoft Office PowerPoint</Application>
  <PresentationFormat>Widescreen</PresentationFormat>
  <Paragraphs>497</Paragraphs>
  <Slides>34</Slides>
  <Notes>30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Aptos</vt:lpstr>
      <vt:lpstr>Arial</vt:lpstr>
      <vt:lpstr>Bierstadt</vt:lpstr>
      <vt:lpstr>Calibri</vt:lpstr>
      <vt:lpstr>Sakkal Majalla</vt:lpstr>
      <vt:lpstr>SakkalMajalla-Bold</vt:lpstr>
      <vt:lpstr>GestaltVTI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Shaikha Mohamed Almal   Alsuwaidi</dc:creator>
  <cp:lastModifiedBy>Shaikha Mohamed Almal   Alsuwaidi</cp:lastModifiedBy>
  <cp:revision>14</cp:revision>
  <dcterms:created xsi:type="dcterms:W3CDTF">2025-10-28T14:19:45Z</dcterms:created>
  <dcterms:modified xsi:type="dcterms:W3CDTF">2025-10-28T22:00:39Z</dcterms:modified>
</cp:coreProperties>
</file>