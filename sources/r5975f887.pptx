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91" r:id="rId11"/>
    <p:sldId id="349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362" r:id="rId21"/>
    <p:sldId id="344" r:id="rId22"/>
    <p:sldId id="361" r:id="rId23"/>
    <p:sldId id="272" r:id="rId24"/>
    <p:sldId id="273" r:id="rId25"/>
    <p:sldId id="274" r:id="rId26"/>
    <p:sldId id="275" r:id="rId27"/>
    <p:sldId id="276" r:id="rId28"/>
    <p:sldId id="277" r:id="rId29"/>
    <p:sldId id="36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DD502-B0B3-43F2-9B8B-202856FD747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33014-BD7F-4282-AF6B-116596490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تُعرض الشريحة دقيقة واحدة فقط.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 الطلاب بتوزيع الأدوار داخل الثنائي قبل بدء أول نشاط.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مدة المقطع ٤٢ ثانية.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بعد المشاهدة اسأل سؤالًا واحدًا سريعًا ولا تُطل النقاش.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اقرأ الهدف بصوت واضح واطلب من أحد الطلاب إعادة صياغته بلغته.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الهدف بما سبق دراسته في القسم الأول.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النواتج الثلاثة ثم ثبّتها في السبورة طوال الحصة.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بعد كل ناتج سيُجرى تقييم قصير يقيس تحقّقه.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طالب أن يشرح مصطلحين لزميله، ثم يتبادلان.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علّق المصطلحات على جدار الصف (حائط المفردات).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أكّد أن السهم لا يعني (يأكل) بل (تنتقل الطاقة إلى).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طالب أن يقرأ السلسلة بصوت عالٍ من اليمين إلى اليسار.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المقطع ١٧ ثانية — يبني سلسلة ويحدّد مستوياتها.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في أي مستوى يقع الإنسان حين يأكل سلطة؟ وحين يأكل لحمًا؟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طالب أن يستخرج سلسلة غذائية واحدة من داخل الشبكة المعروضة.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أشر إلى أن الصقر يحصل على غذائه من أكثر من مسار.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33014-BD7F-4282-AF6B-1165964907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55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مدة المقطع ٢٤ ثانية.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 dirty="0">
                <a:solidFill>
                  <a:srgbClr val="16243A"/>
                </a:solidFill>
                <a:latin typeface="Arial"/>
                <a:cs typeface="Arial"/>
              </a:rPr>
              <a:t>استعمله لتثبيت الفرق بين السلسلة والشبكة.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من منكم شاهد هذا الكائن في رحلة أو في منطقته؟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الحديث بجهود الدولة في حماية البيئة والتنوّع الحيوي.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وجّه بطاقات الدعم للطلاب الذين لاحظت تعثّرهم أثناء المرور بين الثنائيات.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لأصحاب الهمم: اجلسهم في الصف الأمامي، وامنحهم وقتًا إضافيًّا وبطاقات مصوّرة.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امنح الطلاب دقيقتين للتقييم الذاتي — هذا بند مستقل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اجمع الاستمارات لتحديد من يحتاج دعمًا في الحصة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بطاقة الخروج أداة قياس رئيسة — صحّحها قبل الحصة القادمة.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من يجيب عن سؤالين فأكثر إجابة صحيحة يكون قد حقّق نواتج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اشكر الثنائيات المتميّزة بالاسم — التحفيز بند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ذكّرهم بموعد تسليم الواجب.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EDFF2C-304E-487F-81F6-6503120F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03983C-951D-4D55-8590-797371B8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F2533D-644C-4B09-8DAD-7992533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E01427-E552-4488-8BE9-D8E23476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00AEF01-9072-4BE2-8E13-77C9F55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199535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E3FF17-B5AB-481C-ACAF-12E403EC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A45058-1F23-4989-863D-24D216C2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A04DDF4-C53D-402D-BB33-09C99B97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6CF2D-3DD9-4D4B-8CCC-0A92FADF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66FDC3-59B9-4E02-8CAA-1A786B94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577474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877253B-4390-4FBD-8667-7ABD4D5F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E6F9FF-B28B-4C49-A1C2-3F67BA9C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9025E9-E2D8-43CA-A23A-0BC6094B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184A0C-12E4-417F-81E7-95F28D7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FEBCD4-4C9A-4CB1-9B85-BBC2470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461581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AF49F4-9102-4585-822D-F2ECAB5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F0ED8B-284F-42C6-9371-B088A47A2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0B0486-CC55-4CB5-A5B2-005B81AE6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C8E57E0-C1D1-4AA8-9CC2-F5AA43F7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C8E913-52C7-4F17-8389-78F88A7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E169CB-44A9-4C5B-845B-13CB4B1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18922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EB88F2-11C8-46BC-A9F9-53375A43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2EF40F-90F6-4778-B456-FD43F81B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A43E5CF-361D-43FA-A7EE-0E2843E9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D60006A-220B-4728-B8BF-45127DE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50A8807-70E8-4DF8-A7E7-5CF47749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6660CDE-60E5-4121-B90C-A05FD9DD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EAE9D7F-FC6F-449E-BFB1-65B2F62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2F4C6B0-80AB-4336-9D82-67BA5E83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881039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344D27-4F8C-4F75-9A0A-07464B7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17A858F-A2B7-4431-897E-8CC86A6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92B2E00-B428-45B4-B6BE-1353800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740583-6361-49F6-BF48-159ECFE2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969177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B4F6025-8AAD-404F-9711-350F3614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3395B8B-58EF-49BC-BEFD-35AD596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383AD81-8D27-48AF-8681-44BC9B0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45283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51EFA-4610-42CF-8368-7A1AD0D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08F04-4D10-448A-BE36-80E513F7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E7FF1B9-5379-4F06-9AD2-7033BEF1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758CAE4-5C96-4DC7-BA6F-31CD14A9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56E4F24-DC8C-4ABC-96EA-2B9A1755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D95B873-8955-476A-9AD3-9A6F038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2952411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50BA8D-5D71-4317-B054-9092B45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341872-ADC0-4E6A-B400-8A7B23859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B845F6E-C117-443C-90B1-381DC3F5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A4ACCF-7807-46B6-B385-A239B68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64AD1C2-8310-4E91-A2A2-8E1E334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70FFE1-DECC-414F-86FB-8D2B99C6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988831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FA8A70-A6FC-4863-816F-ACC153E9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DE0D321-9A98-4FE6-98B7-50587053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CD00BC4-3033-44EF-8130-C83242E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D047D01-3DCB-4CE5-9AF5-3F6945A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64E4B1-F3BD-4FC4-ACA1-1D1BECB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768008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5066759-4B35-4045-8DBA-C0A3E02FF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4070FA-09E4-4E9B-A224-3EE347C4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B36E2E5-4047-4C46-9736-C23675D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0893E4-DA68-4CDE-B8E9-C35BC77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6097DE-8866-4B82-84D8-69EFDE68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65082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7B08401-0FB6-4B19-9205-DD87BD70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3657A82-7BEA-4D77-B28A-E9D1433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7BB527C-764D-4977-8744-FD1677D73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7C5-F12D-4C69-9756-BCF883783F13}" type="datetimeFigureOut">
              <a:rPr lang="ar-AE" smtClean="0"/>
              <a:t>04/04/1448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7D04DED-DC42-4E86-A37B-1D09DFBF4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A7E708-5E1B-4186-8A23-00EAFDB37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73333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1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5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73351"/>
            <a:ext cx="8723376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800"/>
              </a:spcAft>
            </a:pPr>
            <a:r>
              <a:rPr lang="ar-AE" altLang="en-US" sz="1900" b="1" i="0">
                <a:solidFill>
                  <a:srgbClr val="1E6FC4"/>
                </a:solidFill>
                <a:latin typeface="Arial"/>
                <a:cs typeface="Arial"/>
              </a:rPr>
              <a:t>الحصة الثالثة  •  القسم الثاني  •  الصف التاسع (عام)</a:t>
            </a:r>
          </a:p>
          <a:p>
            <a:pPr algn="ctr" rtl="1">
              <a:spcAft>
                <a:spcPts val="800"/>
              </a:spcAft>
            </a:pPr>
            <a:r>
              <a:rPr lang="ar-AE" altLang="en-US" sz="3700" b="1" i="0">
                <a:solidFill>
                  <a:srgbClr val="143664"/>
                </a:solidFill>
                <a:latin typeface="Arial"/>
                <a:cs typeface="Arial"/>
              </a:rPr>
              <a:t>السلاسل والشبكات الغذائية</a:t>
            </a:r>
          </a:p>
          <a:p>
            <a:pPr algn="ctr" rtl="1"/>
            <a:r>
              <a:rPr lang="ar-AE" altLang="en-US" sz="1800" b="0" i="0">
                <a:solidFill>
                  <a:srgbClr val="55667A"/>
                </a:solidFill>
                <a:latin typeface="Arial"/>
                <a:cs typeface="Arial"/>
              </a:rPr>
              <a:t>كيف نرسم مسار الطاقة بين الكائنات الحيّة؟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190" y="4059935"/>
            <a:ext cx="1477455" cy="9966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منتِج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778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601" y="4059935"/>
            <a:ext cx="1511473" cy="99669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5264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مستهلك أول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7" name="Picture 16" descr="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437" y="4059935"/>
            <a:ext cx="1330640" cy="99669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37006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مستهلك ثانٍ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262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image1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5233" y="4059935"/>
            <a:ext cx="1405889" cy="99669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58748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مستهلك ثالث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2e31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●  قواعد العمل الثنائي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نتّفق عليها قبل أن نبدأ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6355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97795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نجلس معًا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6083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كل طالبَين معًا على طاولة واحدة.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نبدأ العمل فور سماع الإشارة.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3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15783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صوت هادئ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نتحدّث بصوت يسمعه زميلي فقط.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ننصت لبعضنا دون مقاطعة.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1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33771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الجميع يشارك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59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لكلّ منّا دور واضح.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لا نترك زميلنا يعمل وحده.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19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51759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4.  نلتزم بالوقت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7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ننتهي قبل انتهاء المؤقّت.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نرفع أيدينا عند الانتهاء.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828032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6243A"/>
                </a:solidFill>
                <a:latin typeface="Arial"/>
                <a:cs typeface="Arial"/>
              </a:rPr>
              <a:t>★   الثنائي الملتزم يحصل على نجمة تقدير في نهاية الحصة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التهيئة الحافزة — ماذا لو؟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شاهدا المقطع وأنتما تفكّران في السؤال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124" y="2377440"/>
            <a:ext cx="3932651" cy="3090672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5716" y="2505456"/>
            <a:ext cx="3603467" cy="28346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1400"/>
              </a:spcAft>
            </a:pPr>
            <a:r>
              <a:rPr lang="ar-AE" altLang="en-US" sz="2100" b="1" i="0">
                <a:solidFill>
                  <a:srgbClr val="143664"/>
                </a:solidFill>
                <a:latin typeface="Arial"/>
                <a:cs typeface="Arial"/>
              </a:rPr>
              <a:t>ماذا يحدث للنظام البيئي في الصحراء
لو اختفت الحشرات فجأة؟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600" b="0" i="0">
                <a:solidFill>
                  <a:srgbClr val="16243A"/>
                </a:solidFill>
                <a:latin typeface="Arial"/>
                <a:cs typeface="Arial"/>
              </a:rPr>
              <a:t>الكائنات الحيّة مرتبطة ببعضها ارتباطًا غذائيًّا وثيقًا.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600" b="0" i="0">
                <a:solidFill>
                  <a:srgbClr val="16243A"/>
                </a:solidFill>
                <a:latin typeface="Arial"/>
                <a:cs typeface="Arial"/>
              </a:rPr>
              <a:t>واختفاء حلقة واحدة قد يؤثّر في كل الحلقات التي تليها.</a:t>
            </a:r>
          </a:p>
          <a:p>
            <a:pPr algn="r" rtl="1"/>
            <a:r>
              <a:rPr lang="ar-AE" altLang="en-US" sz="1800" b="1" i="0">
                <a:solidFill>
                  <a:srgbClr val="1E6FC4"/>
                </a:solidFill>
                <a:latin typeface="Arial"/>
                <a:cs typeface="Arial"/>
              </a:rPr>
              <a:t>فكيف نرسم هذه العلاقات؟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387932"/>
            <a:ext cx="5357652" cy="3069686"/>
          </a:xfrm>
          <a:prstGeom prst="roundRect">
            <a:avLst>
              <a:gd name="adj" fmla="val 5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5" name="c3_chai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60320" y="2451940"/>
            <a:ext cx="5229636" cy="2941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◎  هدف الدرس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350008"/>
            <a:ext cx="8357616" cy="16916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381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2500" b="1" i="0">
                <a:solidFill>
                  <a:srgbClr val="143664"/>
                </a:solidFill>
                <a:latin typeface="Arial"/>
                <a:cs typeface="Arial"/>
              </a:rPr>
              <a:t>أن أمثّل انتقال الطاقة باستعمال السلاسل والشبكات الغذائية، وأحدّد المستويات الغذائية فيها.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315968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1E6FC4"/>
                </a:solidFill>
                <a:latin typeface="Arial"/>
                <a:cs typeface="Arial"/>
              </a:rPr>
              <a:t>✓   في نهاية الحصة سأكون قادرًا على تحقيق هذا الهدف بنفسي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نواتج التعلم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ثلاثة نواتج فقط — نقيس كلّ ناتج فور الانتهاء منه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أبني سلسلة غذائية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أرتّب الكائنات ترتيبًا صحيحًا.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أحدّد اتجاه انتقال الطاقة.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أحدّد المستويات الغذائية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المنتِج والمستهلك الأول والثاني والثالث.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أسمّي كل مستوى باسمه.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أقارن السلسلة بالشبكة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أوجه الشبه وأوجه الاختلاف.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أيّهما أقرب إلى الواقع؟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المفردات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نقرؤها معًا، ثم يشرحها كل طالب لزميله بلغته الخاصة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160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3312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السلسلة الغذائية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59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2E7D32"/>
                </a:solidFill>
                <a:latin typeface="Arial"/>
                <a:cs typeface="Arial"/>
              </a:rPr>
              <a:t>Food chain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نموذج بسيط يبيّن مسارًا واحدًا لانتقال الطاقة.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023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0339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المستوى الغذائي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167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1E6FC4"/>
                </a:solidFill>
                <a:latin typeface="Arial"/>
                <a:cs typeface="Arial"/>
              </a:rPr>
              <a:t>Trophic level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كل خطوة في السلسلة الغذائية.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3347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الشبكة الغذائية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5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00766E"/>
                </a:solidFill>
                <a:latin typeface="Arial"/>
                <a:cs typeface="Arial"/>
              </a:rPr>
              <a:t>Food web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نموذج يمثّل تداخل سلاسل غذائية كثيرة.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8835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المستهلك الأول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6A1B9A"/>
                </a:solidFill>
                <a:latin typeface="Arial"/>
                <a:cs typeface="Arial"/>
              </a:rPr>
              <a:t>Primary consumer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يتغذّى مباشرة على المنتِجات.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1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3347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المفترِس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59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E68A00"/>
                </a:solidFill>
                <a:latin typeface="Arial"/>
                <a:cs typeface="Arial"/>
              </a:rPr>
              <a:t>Predator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حيوان يصطاد كائنًا آخر ويتغذّى عليه.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①  الناتج الأول: كيف نبني سلسلة غذائية؟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3243" y="2212848"/>
            <a:ext cx="1970532" cy="146304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8107" y="2267712"/>
            <a:ext cx="1860804" cy="13533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أعشاب صحراوية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منتِج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9514332" y="2788920"/>
            <a:ext cx="384048" cy="310896"/>
          </a:xfrm>
          <a:prstGeom prst="leftArrow">
            <a:avLst/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88935" y="2212848"/>
            <a:ext cx="1970532" cy="146304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799" y="2267712"/>
            <a:ext cx="1860804" cy="13533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700" b="1" i="0">
                <a:solidFill>
                  <a:srgbClr val="00766E"/>
                </a:solidFill>
                <a:latin typeface="Arial"/>
                <a:cs typeface="Arial"/>
              </a:rPr>
              <a:t>جراد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مستهلك أول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050023" y="2788920"/>
            <a:ext cx="384048" cy="310896"/>
          </a:xfrm>
          <a:prstGeom prst="leftArrow">
            <a:avLst/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4627" y="2212848"/>
            <a:ext cx="1970532" cy="14630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9491" y="2267712"/>
            <a:ext cx="1860804" cy="13533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700" b="1" i="0">
                <a:solidFill>
                  <a:srgbClr val="E68A00"/>
                </a:solidFill>
                <a:latin typeface="Arial"/>
                <a:cs typeface="Arial"/>
              </a:rPr>
              <a:t>حرباء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مستهلك ثانٍ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585715" y="2788920"/>
            <a:ext cx="384048" cy="310896"/>
          </a:xfrm>
          <a:prstGeom prst="leftArrow">
            <a:avLst/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60319" y="2212848"/>
            <a:ext cx="1970532" cy="14630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15183" y="2267712"/>
            <a:ext cx="1860804" cy="13533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700" b="1" i="0">
                <a:solidFill>
                  <a:srgbClr val="C02B2B"/>
                </a:solidFill>
                <a:latin typeface="Arial"/>
                <a:cs typeface="Arial"/>
              </a:rPr>
              <a:t>صقر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مستهلك ثالث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877056"/>
            <a:ext cx="9363456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1E6FC4"/>
                </a:solidFill>
                <a:latin typeface="Arial"/>
                <a:cs typeface="Arial"/>
              </a:rPr>
              <a:t>◄   اتجاه السهم يدلّ على اتجاه انتقال الطاقة — من المأكول إلى الآكل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663440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C02B2B"/>
                </a:solidFill>
                <a:latin typeface="Arial"/>
                <a:cs typeface="Arial"/>
              </a:rPr>
              <a:t>!   تبدأ كل سلسلة غذائية بمنتِج، ولا تبدأ أبدًا بمستهلك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5400000">
            <a:off x="8350516" y="-2471057"/>
            <a:ext cx="615553" cy="685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صورة توضح السلاسل الغذائية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3359" t="16694" r="25288" b="7249"/>
          <a:stretch/>
        </p:blipFill>
        <p:spPr>
          <a:xfrm>
            <a:off x="282683" y="449438"/>
            <a:ext cx="4539688" cy="6194624"/>
          </a:xfrm>
          <a:prstGeom prst="rect">
            <a:avLst/>
          </a:prstGeom>
        </p:spPr>
      </p:pic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D4DDF2B6-573C-4876-B8AF-10731C760FCB}"/>
              </a:ext>
            </a:extLst>
          </p:cNvPr>
          <p:cNvSpPr/>
          <p:nvPr/>
        </p:nvSpPr>
        <p:spPr>
          <a:xfrm>
            <a:off x="6487886" y="1611086"/>
            <a:ext cx="5214257" cy="707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استناداً للشكل: ما المقصور بالسلسلة الغذائية؟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D88E25A7-C841-4D80-9EA7-3AC52D0851F7}"/>
              </a:ext>
            </a:extLst>
          </p:cNvPr>
          <p:cNvSpPr/>
          <p:nvPr/>
        </p:nvSpPr>
        <p:spPr>
          <a:xfrm>
            <a:off x="5229294" y="2939144"/>
            <a:ext cx="6857998" cy="20247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السلسلة الغذائية: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هي نموذج بسيط يبين كيف تنتقل الطاقة عبر نظام بيئي ما.</a:t>
            </a:r>
          </a:p>
        </p:txBody>
      </p:sp>
    </p:spTree>
    <p:extLst>
      <p:ext uri="{BB962C8B-B14F-4D97-AF65-F5344CB8AC3E}">
        <p14:creationId xmlns:p14="http://schemas.microsoft.com/office/powerpoint/2010/main" val="44812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9680" y="151039"/>
            <a:ext cx="2849554" cy="62184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ar-AE" sz="3600" b="1" dirty="0">
                <a:solidFill>
                  <a:srgbClr val="FF0000"/>
                </a:solidFill>
              </a:rPr>
              <a:t>السلاسل الغذائية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772CAA-7B01-4E49-91ED-D1A715EC6281}"/>
              </a:ext>
            </a:extLst>
          </p:cNvPr>
          <p:cNvSpPr txBox="1">
            <a:spLocks/>
          </p:cNvSpPr>
          <p:nvPr/>
        </p:nvSpPr>
        <p:spPr>
          <a:xfrm>
            <a:off x="903514" y="4178753"/>
            <a:ext cx="11046497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استناداً للسلاسل الغذائية الموضحة: أي منها تنتمي إلى المنتجات؟ و أيها مستهلكات؟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7DE5CE-8654-4227-97D2-89352CD51020}"/>
              </a:ext>
            </a:extLst>
          </p:cNvPr>
          <p:cNvSpPr txBox="1">
            <a:spLocks/>
          </p:cNvSpPr>
          <p:nvPr/>
        </p:nvSpPr>
        <p:spPr>
          <a:xfrm>
            <a:off x="8153400" y="5026477"/>
            <a:ext cx="3796611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ما المقصود بالسلسلة الغذائية؟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70BFDE-51EC-4230-BA7C-5E8EE38D7262}"/>
              </a:ext>
            </a:extLst>
          </p:cNvPr>
          <p:cNvSpPr txBox="1">
            <a:spLocks/>
          </p:cNvSpPr>
          <p:nvPr/>
        </p:nvSpPr>
        <p:spPr>
          <a:xfrm>
            <a:off x="1045029" y="5026477"/>
            <a:ext cx="6836228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هي مسار مفرد يوضح انتقال الطاقة في الكائنات الحية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646ABA-7413-40BC-BECB-C1BA58F22F4C}"/>
              </a:ext>
            </a:extLst>
          </p:cNvPr>
          <p:cNvSpPr txBox="1">
            <a:spLocks/>
          </p:cNvSpPr>
          <p:nvPr/>
        </p:nvSpPr>
        <p:spPr>
          <a:xfrm>
            <a:off x="8142516" y="5853793"/>
            <a:ext cx="3796611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ما المقصود بالمستوى الغذائي؟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552873-2A06-4F36-92A2-B9736B10047B}"/>
              </a:ext>
            </a:extLst>
          </p:cNvPr>
          <p:cNvSpPr txBox="1">
            <a:spLocks/>
          </p:cNvSpPr>
          <p:nvPr/>
        </p:nvSpPr>
        <p:spPr>
          <a:xfrm>
            <a:off x="1034145" y="5853793"/>
            <a:ext cx="6836228" cy="6218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هو كل خطوة في السلسلة الغذائية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3976D627-2C8A-499A-B14D-43EF4B67E4DF}"/>
              </a:ext>
            </a:extLst>
          </p:cNvPr>
          <p:cNvGrpSpPr/>
          <p:nvPr/>
        </p:nvGrpSpPr>
        <p:grpSpPr>
          <a:xfrm>
            <a:off x="261257" y="151039"/>
            <a:ext cx="8839200" cy="3811361"/>
            <a:chOff x="261257" y="151039"/>
            <a:chExt cx="8839200" cy="381136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257" y="151039"/>
              <a:ext cx="8839200" cy="3811361"/>
            </a:xfrm>
            <a:prstGeom prst="rect">
              <a:avLst/>
            </a:prstGeom>
          </p:spPr>
        </p:pic>
        <p:sp>
          <p:nvSpPr>
            <p:cNvPr id="3" name="مستطيل 2">
              <a:extLst>
                <a:ext uri="{FF2B5EF4-FFF2-40B4-BE49-F238E27FC236}">
                  <a16:creationId xmlns:a16="http://schemas.microsoft.com/office/drawing/2014/main" id="{E36D6C2E-711C-4955-8784-8D4BB3D6C22E}"/>
                </a:ext>
              </a:extLst>
            </p:cNvPr>
            <p:cNvSpPr/>
            <p:nvPr/>
          </p:nvSpPr>
          <p:spPr>
            <a:xfrm>
              <a:off x="6578082" y="1446245"/>
              <a:ext cx="2360645" cy="128762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A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928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الأول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اشرح لزميلك سبب كل خطوة وأنت ترتّب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تطبيق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يبني أحدكما بصوت مسموع ويتابع الآخر ثم تتبادلان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رتّبا هذه الكائنات في سلسلة غذائية صحيحة، وارسما الأسهم:
أفعى    •    نبات    •    صقر    •    جرذ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بعد الانتهاء: أخبرا بعضكما بعدد المستهلكات في السلسلة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الأول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السلسلة الصحيحة:   نبات  ←  جرذ  ←  أفعى  ←  صقر.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النبات منتِج، والجرذ مستهلك أول، والأفعى مستهلك ثانٍ، والصقر مستهلك ثالث.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عدد المستهلكات = ٣.  وتبدأ السلسلة دائمًا بمنتِج.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②  الناتج الثاني: المستويات الغذائية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كل خطوة في السلسلة الغذائية تُسمّى مستوًى غذائيًّا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586" y="2377440"/>
            <a:ext cx="4307189" cy="3090672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178" y="2505456"/>
            <a:ext cx="3978005" cy="28346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المستوى الأول: المنتِجات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تصنع غذاءها بنفسها (نباتات وطحالب).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700" b="1" i="0">
                <a:solidFill>
                  <a:srgbClr val="00766E"/>
                </a:solidFill>
                <a:latin typeface="Arial"/>
                <a:cs typeface="Arial"/>
              </a:rPr>
              <a:t>المستوى الثاني: المستهلك الأول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يتغذّى مباشرة على المنتِجات (آكل نباتات).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700" b="1" i="0">
                <a:solidFill>
                  <a:srgbClr val="E68A00"/>
                </a:solidFill>
                <a:latin typeface="Arial"/>
                <a:cs typeface="Arial"/>
              </a:rPr>
              <a:t>المستوى الثالث: المستهلك الثاني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يتغذّى على المستهلك الأول.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700" b="1" i="0">
                <a:solidFill>
                  <a:srgbClr val="C02B2B"/>
                </a:solidFill>
                <a:latin typeface="Arial"/>
                <a:cs typeface="Arial"/>
              </a:rPr>
              <a:t>المستوى الرابع: المستهلك الثالث</a:t>
            </a:r>
          </a:p>
          <a:p>
            <a:pPr algn="r" rtl="1"/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يقع في قمة السلسلة الغذائية.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493271"/>
            <a:ext cx="4983114" cy="2859008"/>
          </a:xfrm>
          <a:prstGeom prst="roundRect">
            <a:avLst>
              <a:gd name="adj" fmla="val 5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5" name="c3_buil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60320" y="2557279"/>
            <a:ext cx="4855098" cy="2730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الثاني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عُدّا المستويات من القاعدة إلى القمة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يجيب أحدكما ويتحقّق الآخر ثم تتبادلان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40817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 dirty="0">
                <a:solidFill>
                  <a:srgbClr val="16243A"/>
                </a:solidFill>
                <a:latin typeface="Arial"/>
                <a:cs typeface="Arial"/>
              </a:rPr>
              <a:t>في السلسلة:   طحالب  ←  سمكة صغيرة  ←  سمكة كبيرة  ←  قرش
١)  في أي مستوى غذائي تقع السمكة الكبيرة؟
٢)  ماذا نسمّي الطحالب في هذه السلسلة؟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8" y="516636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السمكة الكبيرة تقع في المستوى الغذائي الثالث، وتُسمّى المستهلك الثاني.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الطحالب هي المنتِجات، وتقع في المستوى الغذائي الأول — قاعدة السلسلة.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تنبيه: ترتيب المستوى يبدأ من المنتِج دائمًا، لا من أول حيوان.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③  الناتج الثالث: من السلسلة إلى الشبكة الغذائية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8393" y="2029968"/>
            <a:ext cx="3745382" cy="343814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2985" y="2157984"/>
            <a:ext cx="3416198" cy="31821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spcAft>
                <a:spcPts val="500"/>
              </a:spcAft>
            </a:pPr>
            <a:r>
              <a:rPr lang="ar-AE" altLang="en-US" sz="1900" b="1" i="0">
                <a:solidFill>
                  <a:srgbClr val="00766E"/>
                </a:solidFill>
                <a:latin typeface="Arial"/>
                <a:cs typeface="Arial"/>
              </a:rPr>
              <a:t>السلسلة الغذائية</a:t>
            </a:r>
          </a:p>
          <a:p>
            <a:pPr algn="r" rtl="1">
              <a:spcAft>
                <a:spcPts val="12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مسار واحد بسيط لانتقال الطاقة بين عدد قليل من الكائنات.</a:t>
            </a:r>
          </a:p>
          <a:p>
            <a:pPr algn="r" rtl="1">
              <a:spcAft>
                <a:spcPts val="500"/>
              </a:spcAft>
            </a:pPr>
            <a:r>
              <a:rPr lang="ar-AE" altLang="en-US" sz="1900" b="1" i="0">
                <a:solidFill>
                  <a:srgbClr val="1E6FC4"/>
                </a:solidFill>
                <a:latin typeface="Arial"/>
                <a:cs typeface="Arial"/>
              </a:rPr>
              <a:t>الشبكة الغذائية</a:t>
            </a:r>
          </a:p>
          <a:p>
            <a:pPr algn="r" rtl="1">
              <a:spcAft>
                <a:spcPts val="12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تداخل عدد كبير من السلاسل الغذائية معًا، وتبيّن كل المسارات الممكنة للطاقة.</a:t>
            </a:r>
          </a:p>
          <a:p>
            <a:pPr algn="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الشبكة الغذائية أقرب إلى الواقع؛ لأن معظم الكائنات تتغذّى على أكثر من كائن واحد.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029968"/>
            <a:ext cx="5416905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735" y="2121408"/>
            <a:ext cx="4930073" cy="32552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الثالث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اكتبا السلسلة بالأسهم الصحيحة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تحليل + تقويم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أحدكما يستخرج والآخر يقارن ثم تتبادلان القراءة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40817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بالنظر إلى الشبكة الغذائية في الشريحة السابقة:
١)  استخرجا سلسلة غذائية واحدة مكوّنة من ثلاث حلقات.
٢)  اذكرا فرقًا واحدًا بين السلسلة الغذائية والشبكة الغذائية.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516636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الثالث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مثال صحيح:   نبات  ←  أرنب  ←  صقر.    (وتُقبل أي سلسلة صحيحة من الشبكة.)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السلسلة تبيّن مسارًا واحدًا فقط، أمّا الشبكة فتبيّن تداخل مسارات كثيرة.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الشبكة الغذائية أكثر ثباتًا؛ فإذا اختفى كائن وجد المفترِس غذاءً بديلًا.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212"/>
            <a:ext cx="8401051" cy="630078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"/>
            <a:ext cx="3581400" cy="84908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Times New Roman" panose="02020603050405020304" pitchFamily="18" charset="0"/>
              </a:rPr>
              <a:t>الشبكات  الغذائية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951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6891" t="11882" r="12400" b="5370"/>
          <a:stretch/>
        </p:blipFill>
        <p:spPr>
          <a:xfrm>
            <a:off x="104708" y="0"/>
            <a:ext cx="5756251" cy="658152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C13BC5C-BAF8-416E-9813-8AA494DCE806}"/>
              </a:ext>
            </a:extLst>
          </p:cNvPr>
          <p:cNvSpPr txBox="1"/>
          <p:nvPr/>
        </p:nvSpPr>
        <p:spPr>
          <a:xfrm rot="5400000">
            <a:off x="8787238" y="-1859893"/>
            <a:ext cx="615553" cy="44045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39BE1"/>
            </a:solidFill>
          </a:ln>
        </p:spPr>
        <p:txBody>
          <a:bodyPr vert="vert270"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صورة توضح الشبكة الغذائية 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6D9F689C-7F1E-43C5-A545-7B850830CFFB}"/>
              </a:ext>
            </a:extLst>
          </p:cNvPr>
          <p:cNvSpPr/>
          <p:nvPr/>
        </p:nvSpPr>
        <p:spPr>
          <a:xfrm>
            <a:off x="6892732" y="925286"/>
            <a:ext cx="5214257" cy="707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استناداً للشكل: ما المقصور بالشبكة الغذائية؟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B59C2504-69F7-4A15-A4F4-A47E1D840737}"/>
              </a:ext>
            </a:extLst>
          </p:cNvPr>
          <p:cNvSpPr/>
          <p:nvPr/>
        </p:nvSpPr>
        <p:spPr>
          <a:xfrm>
            <a:off x="6204856" y="2939144"/>
            <a:ext cx="5882435" cy="31350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الشبكة الغذائية: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هي نموذج يمثل الكثير من السلاسل الغذائية المتداخلة والمسارات التي تنتقل فيها الطاقة عبر مجموعة من الكائنات الحية.</a:t>
            </a:r>
          </a:p>
        </p:txBody>
      </p:sp>
    </p:spTree>
    <p:extLst>
      <p:ext uri="{BB962C8B-B14F-4D97-AF65-F5344CB8AC3E}">
        <p14:creationId xmlns:p14="http://schemas.microsoft.com/office/powerpoint/2010/main" val="3606457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2">
            <a:extLst>
              <a:ext uri="{FF2B5EF4-FFF2-40B4-BE49-F238E27FC236}">
                <a16:creationId xmlns:a16="http://schemas.microsoft.com/office/drawing/2014/main" id="{C80227AD-AA83-4370-A74A-83BA173DE613}"/>
              </a:ext>
            </a:extLst>
          </p:cNvPr>
          <p:cNvGraphicFramePr>
            <a:graphicFrameLocks noGrp="1"/>
          </p:cNvGraphicFramePr>
          <p:nvPr/>
        </p:nvGraphicFramePr>
        <p:xfrm>
          <a:off x="119742" y="220557"/>
          <a:ext cx="11952515" cy="653947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2128">
                  <a:extLst>
                    <a:ext uri="{9D8B030D-6E8A-4147-A177-3AD203B41FA5}">
                      <a16:colId xmlns:a16="http://schemas.microsoft.com/office/drawing/2014/main" val="905686107"/>
                    </a:ext>
                  </a:extLst>
                </a:gridCol>
                <a:gridCol w="10330387">
                  <a:extLst>
                    <a:ext uri="{9D8B030D-6E8A-4147-A177-3AD203B41FA5}">
                      <a16:colId xmlns:a16="http://schemas.microsoft.com/office/drawing/2014/main" val="2468313732"/>
                    </a:ext>
                  </a:extLst>
                </a:gridCol>
              </a:tblGrid>
              <a:tr h="653947">
                <a:tc gridSpan="2">
                  <a:txBody>
                    <a:bodyPr/>
                    <a:lstStyle/>
                    <a:p>
                      <a:pPr algn="ctr" rtl="1"/>
                      <a:r>
                        <a:rPr lang="ar-AE" sz="3200" b="1" dirty="0">
                          <a:solidFill>
                            <a:srgbClr val="002060"/>
                          </a:solidFill>
                        </a:rPr>
                        <a:t>اكتب المصطلح العلمي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60491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ذاتي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هو الذي يجمع الطاقة من ضوء الشمس أو المواد غير العضوية لينتج غذاءه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329878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غير ذاتي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هو الذي يحصل على احتياجاته من الطاقة بالتهام كائنات حية أخرى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80966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آكل النباتات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الحية التي تتغذى على النباتات فقط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22133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آكل اللحوم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الحية التي تفترس كائنات حية أخرى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68180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متنوع التغذية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هي الكائنات التي تتغذى على النباتات والحيوانات معا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427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الكائنات </a:t>
                      </a:r>
                      <a:r>
                        <a:rPr lang="ar-AE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الكانسة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هي الكائنات التي تتغذى على أجزاء من المواد الميتة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721404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المستوى الغذائي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كل خطوة في السلسة الغذائية أو الشبكة الغذائية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646053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السلسلة الغذائية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نموذج بسيط يبين كيف تنتقل الطاقة عبر نظام بيئي ما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69396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الشبكة الغذائية</a:t>
                      </a:r>
                      <a:endParaRPr lang="ar-AE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AE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نموذج يمثل الكثير من السلاسل الغذائية المتداخلة والمسارات التي تنتقل فيها الطاقة عبر مجموعة من الكائنات الحية</a:t>
                      </a:r>
                      <a:endParaRPr lang="ar-AE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853908"/>
                  </a:ext>
                </a:extLst>
              </a:tr>
            </a:tbl>
          </a:graphicData>
        </a:graphic>
      </p:graphicFrame>
      <p:sp>
        <p:nvSpPr>
          <p:cNvPr id="4" name="مستطيل 3">
            <a:extLst>
              <a:ext uri="{FF2B5EF4-FFF2-40B4-BE49-F238E27FC236}">
                <a16:creationId xmlns:a16="http://schemas.microsoft.com/office/drawing/2014/main" id="{0AFB96B6-25A6-4DD6-8FA5-C6805FC2E4D9}"/>
              </a:ext>
            </a:extLst>
          </p:cNvPr>
          <p:cNvSpPr/>
          <p:nvPr/>
        </p:nvSpPr>
        <p:spPr>
          <a:xfrm>
            <a:off x="10570029" y="936171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F7E2EBD8-F78C-454F-8007-95F297F2182B}"/>
              </a:ext>
            </a:extLst>
          </p:cNvPr>
          <p:cNvSpPr/>
          <p:nvPr/>
        </p:nvSpPr>
        <p:spPr>
          <a:xfrm>
            <a:off x="10570029" y="1611086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936F530B-1122-4AD0-B37B-931B7F9D9245}"/>
              </a:ext>
            </a:extLst>
          </p:cNvPr>
          <p:cNvSpPr/>
          <p:nvPr/>
        </p:nvSpPr>
        <p:spPr>
          <a:xfrm>
            <a:off x="10570029" y="2206957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E94DAEF8-372B-42B3-8D37-0DEBF757280C}"/>
              </a:ext>
            </a:extLst>
          </p:cNvPr>
          <p:cNvSpPr/>
          <p:nvPr/>
        </p:nvSpPr>
        <p:spPr>
          <a:xfrm>
            <a:off x="10570029" y="2906485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02BA00BB-A1FA-4CCA-9F34-DBEA20893DEA}"/>
              </a:ext>
            </a:extLst>
          </p:cNvPr>
          <p:cNvSpPr/>
          <p:nvPr/>
        </p:nvSpPr>
        <p:spPr>
          <a:xfrm>
            <a:off x="10570029" y="3537857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FE1D6FD1-1F0F-4F12-A602-BEA7FBD07B4A}"/>
              </a:ext>
            </a:extLst>
          </p:cNvPr>
          <p:cNvSpPr/>
          <p:nvPr/>
        </p:nvSpPr>
        <p:spPr>
          <a:xfrm>
            <a:off x="10570029" y="4169229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C837A90-B0DF-4455-9C70-18073239AD3D}"/>
              </a:ext>
            </a:extLst>
          </p:cNvPr>
          <p:cNvSpPr/>
          <p:nvPr/>
        </p:nvSpPr>
        <p:spPr>
          <a:xfrm>
            <a:off x="10570029" y="4833256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F54A674-0682-4CA2-BB65-E98700EEACA6}"/>
              </a:ext>
            </a:extLst>
          </p:cNvPr>
          <p:cNvSpPr/>
          <p:nvPr/>
        </p:nvSpPr>
        <p:spPr>
          <a:xfrm>
            <a:off x="10570029" y="5497283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61833B47-7138-4F4A-9553-726B14C41B83}"/>
              </a:ext>
            </a:extLst>
          </p:cNvPr>
          <p:cNvSpPr/>
          <p:nvPr/>
        </p:nvSpPr>
        <p:spPr>
          <a:xfrm>
            <a:off x="10570029" y="6161310"/>
            <a:ext cx="1415142" cy="52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21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▶  خلاصة الحصة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شاهدا الخلاصة وقارنا إجابتكما بما ورد فيها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272" y="2331720"/>
            <a:ext cx="4289551" cy="2468879"/>
          </a:xfrm>
          <a:prstGeom prst="roundRect">
            <a:avLst>
              <a:gd name="adj" fmla="val 5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3" name="c3_we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41320" y="2295146"/>
            <a:ext cx="8869680" cy="302209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79776" y="573786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✔   راجعا معًا: هل كانت إجابتكما مطابقة للخلاصة؟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درسنا في بيئة الإمارات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نربط ما تعلّمناه بالبيئة المحلية من حولنا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سلسلة صحراوية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أعشاب صحراوية ← جربوع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← أفعى رملية ← صقر.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شائعة في صحراء الإمارات.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سلسلة بحرية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عوالق نباتية ← عوالق حيوانية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← أسماك صغيرة ← هامور.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في مياه الخليج العربي.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سلسلة في القرم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أوراق القرم ← قشريات صغيرة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← أسماك صغيرة ← طيور بحرية.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في محميات أبوظبي.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50" b="1" i="0">
                <a:solidFill>
                  <a:srgbClr val="143664"/>
                </a:solidFill>
                <a:latin typeface="Arial"/>
                <a:cs typeface="Arial"/>
              </a:rPr>
              <a:t>✦   محميّات الإمارات تحافظ على اتّزان هذه الشبكات الغذائية وتحمي أنواعها من الانقراض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الدعم والإثراء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لكل طالب ما يناسبه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59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دعم إضافي — لمن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3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بطاقات مصوّرة للكائنات يرتّبها الطالب بالصور بدل الكلمات.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سلسلة غذائية ناقصة يُكمل الطالب حلقة واحدة فيها.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تلوين كل مستوى غذائي بلون مختلف لتسهيل التمييز.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دقيقة إضافية في كل نشاط ثنائي.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70048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إثراء — لمن أنجز مبكرًا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استخرج ثلاث سلاسل غذائية مختلفة من الشبكة نفسها.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ارسم شبكة غذائية لبيئة أشجار القرم في الإمارات.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فسّر: لماذا تكون الشبكة الغذائية أكثر ثباتًا من السلسلة؟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◉  قيّم نفسك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ضع علامة أمام المستوى الذي وصلت إليه في كل ناتج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2450592"/>
            <a:ext cx="3931920" cy="475488"/>
          </a:xfrm>
          <a:prstGeom prst="roundRect">
            <a:avLst>
              <a:gd name="adj" fmla="val 22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ناتج التعلم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أتقنته تمامًا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تدريبًا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مساعدة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999232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أبني سلسلة غذائية صحيحة بالأسهم.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342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054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5" y="3712464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أحدّد المستوى الغذائي لكل كائن.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42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054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91855" y="4425696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أقارن بين السلسلة والشبكة الغذائية.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342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054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▣  بطاقة الخروج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أجب في ورقتك ثم سلّمها لي عند الباب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85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الأول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0368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بمَ تبدأ كل سلسلة غذائية؟ ولماذا؟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كلمة + سبب قصير.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857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351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ماذا يعني اتجاه السهم في السلسلة الغذائية؟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سطر واحد.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85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الثالث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5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اذكر فرقًا واحدًا بين السلسلة الغذائية والشبكة الغذائية.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فرق واحد فقط.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الأربعاء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أبني سلسلة غذائية صحيحة.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أحدّد المستويات الغذائية.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أقارن السلسلة بالشبكة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الواجب المنزلي وختام الحصة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1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52359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الواجب المنزلي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3" y="2743200"/>
            <a:ext cx="4251959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ارسم سلسلة غذائية من بيئتك المحلية مكوّنة من أربع حلقات.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حلّ سؤال (٢) من مراجعة القسم الثاني في الكتاب.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70048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في الحصة القادمة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779776"/>
            <a:ext cx="4251959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ar-AE" altLang="en-US" sz="1700" b="1" i="0">
                <a:solidFill>
                  <a:srgbClr val="143664"/>
                </a:solidFill>
                <a:latin typeface="Arial"/>
                <a:cs typeface="Arial"/>
              </a:rPr>
              <a:t>الأهرام البيئية:
لماذا تتناقص الطاقة كلّما صعدنا؟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379976"/>
            <a:ext cx="9363456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★   أحسنتم اليوم — إلى لقاء قادم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السلسله الغذائيه">
            <a:hlinkClick r:id="" action="ppaction://media"/>
            <a:extLst>
              <a:ext uri="{FF2B5EF4-FFF2-40B4-BE49-F238E27FC236}">
                <a16:creationId xmlns:a16="http://schemas.microsoft.com/office/drawing/2014/main" id="{55FD3544-5CEE-4B07-9875-8EAC29896B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5847" y="191654"/>
            <a:ext cx="11662190" cy="65599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26" y="106364"/>
            <a:ext cx="2718510" cy="536731"/>
          </a:xfrm>
          <a:solidFill>
            <a:schemeClr val="accent2"/>
          </a:solidFill>
        </p:spPr>
        <p:txBody>
          <a:bodyPr>
            <a:noAutofit/>
          </a:bodyPr>
          <a:lstStyle/>
          <a:p>
            <a:pPr algn="ctr"/>
            <a:r>
              <a:rPr lang="ar-AE" sz="3200" b="1" dirty="0"/>
              <a:t>السلاسل الغذائية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4993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279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2684</Words>
  <Application>Microsoft Office PowerPoint</Application>
  <PresentationFormat>Widescreen</PresentationFormat>
  <Paragraphs>426</Paragraphs>
  <Slides>28</Slides>
  <Notes>21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السلاسل الغذائية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السلاسل الغذائية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Mustafa</cp:lastModifiedBy>
  <cp:revision>9</cp:revision>
  <dcterms:created xsi:type="dcterms:W3CDTF">2013-01-27T09:14:16Z</dcterms:created>
  <dcterms:modified xsi:type="dcterms:W3CDTF">2026-09-16T08:27:40Z</dcterms:modified>
  <cp:category/>
</cp:coreProperties>
</file>