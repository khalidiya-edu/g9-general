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25.jfif" ContentType="image/jpeg"/>
  <Override PartName="/ppt/media/image26.jfif" ContentType="image/jpeg"/>
  <Override PartName="/ppt/media/image27.jfif" ContentType="image/jpeg"/>
  <Override PartName="/ppt/media/image30.jfif" ContentType="image/jpeg"/>
  <Override PartName="/ppt/media/image3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79" r:id="rId30"/>
    <p:sldId id="267" r:id="rId13"/>
    <p:sldId id="268" r:id="rId14"/>
    <p:sldId id="269" r:id="rId15"/>
    <p:sldId id="270" r:id="rId16"/>
    <p:sldId id="271" r:id="rId17"/>
    <p:sldId id="280" r:id="rId31"/>
    <p:sldId id="272" r:id="rId18"/>
    <p:sldId id="281" r:id="rId32"/>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99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9.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2.xml"/><Relationship Id="rId31" Type="http://schemas.openxmlformats.org/officeDocument/2006/relationships/slide" Target="slides/slide18.xml"/><Relationship Id="rId32"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ar-AE" sz="1400" b="1">
                <a:solidFill>
                  <a:srgbClr val="102A43"/>
                </a:solidFill>
                <a:latin typeface="Arial"/>
              </a:rPr>
              <a:t>مكوّنات الهواء الجوي</a:t>
            </a:r>
          </a:p>
        </c:rich>
      </c:tx>
      <c:overlay val="0"/>
    </c:title>
    <c:autoTitleDeleted val="0"/>
    <c:plotArea>
      <c:layout>
        <c:manualLayout>
          <c:layoutTarget val="inner"/>
          <c:xMode val="edge"/>
          <c:yMode val="edge"/>
          <c:x val="0.2596"/>
          <c:y val="0.15590000000000001"/>
          <c:w val="0.48070000000000002"/>
          <c:h val="0.63549999999999995"/>
        </c:manualLayout>
      </c:layout>
      <c:doughnutChart>
        <c:varyColors val="1"/>
        <c:ser>
          <c:idx val="0"/>
          <c:order val="0"/>
          <c:tx>
            <c:strRef>
              <c:f>Sheet1!$B$1</c:f>
              <c:strCache>
                <c:ptCount val="1"/>
                <c:pt idx="0">
                  <c:v>مكوّنات الهواء الجوي</c:v>
                </c:pt>
              </c:strCache>
            </c:strRef>
          </c:tx>
          <c:dPt>
            <c:idx val="0"/>
            <c:bubble3D val="0"/>
            <c:spPr>
              <a:solidFill>
                <a:srgbClr val="5B3B91"/>
              </a:solidFill>
            </c:spPr>
            <c:extLst>
              <c:ext xmlns:c16="http://schemas.microsoft.com/office/drawing/2014/chart" uri="{C3380CC4-5D6E-409C-BE32-E72D297353CC}">
                <c16:uniqueId val="{00000001-C37C-4763-B622-955852BDB150}"/>
              </c:ext>
            </c:extLst>
          </c:dPt>
          <c:dPt>
            <c:idx val="1"/>
            <c:bubble3D val="0"/>
            <c:spPr>
              <a:solidFill>
                <a:srgbClr val="1E88C8"/>
              </a:solidFill>
            </c:spPr>
            <c:extLst>
              <c:ext xmlns:c16="http://schemas.microsoft.com/office/drawing/2014/chart" uri="{C3380CC4-5D6E-409C-BE32-E72D297353CC}">
                <c16:uniqueId val="{00000003-C37C-4763-B622-955852BDB150}"/>
              </c:ext>
            </c:extLst>
          </c:dPt>
          <c:dPt>
            <c:idx val="2"/>
            <c:bubble3D val="0"/>
            <c:spPr>
              <a:solidFill>
                <a:srgbClr val="B0B8C4"/>
              </a:solidFill>
            </c:spPr>
            <c:extLst>
              <c:ext xmlns:c16="http://schemas.microsoft.com/office/drawing/2014/chart" uri="{C3380CC4-5D6E-409C-BE32-E72D297353CC}">
                <c16:uniqueId val="{00000005-C37C-4763-B622-955852BDB150}"/>
              </c:ext>
            </c:extLst>
          </c:dPt>
          <c:cat>
            <c:strRef>
              <c:f>Sheet1!$A$2:$A$4</c:f>
              <c:strCache>
                <c:ptCount val="3"/>
                <c:pt idx="0">
                  <c:v>نيتروجين 78%</c:v>
                </c:pt>
                <c:pt idx="1">
                  <c:v>أكسجين 21%</c:v>
                </c:pt>
                <c:pt idx="2">
                  <c:v>غازات أخرى 1%</c:v>
                </c:pt>
              </c:strCache>
            </c:strRef>
          </c:cat>
          <c:val>
            <c:numRef>
              <c:f>Sheet1!$B$2:$B$4</c:f>
              <c:numCache>
                <c:formatCode>General</c:formatCode>
                <c:ptCount val="3"/>
                <c:pt idx="0">
                  <c:v>78</c:v>
                </c:pt>
                <c:pt idx="1">
                  <c:v>21</c:v>
                </c:pt>
                <c:pt idx="2">
                  <c:v>1</c:v>
                </c:pt>
              </c:numCache>
            </c:numRef>
          </c:val>
          <c:extLst>
            <c:ext xmlns:c16="http://schemas.microsoft.com/office/drawing/2014/chart" uri="{C3380CC4-5D6E-409C-BE32-E72D297353CC}">
              <c16:uniqueId val="{00000006-C37C-4763-B622-955852BDB150}"/>
            </c:ext>
          </c:extLst>
        </c:ser>
        <c:dLbls>
          <c:showLegendKey val="0"/>
          <c:showVal val="0"/>
          <c:showCatName val="0"/>
          <c:showSerName val="0"/>
          <c:showPercent val="0"/>
          <c:showBubbleSize val="0"/>
          <c:showLeaderLines val="1"/>
        </c:dLbls>
        <c:firstSliceAng val="0"/>
        <c:holeSize val="55"/>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6387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رحّب بالطلاب. جهّز (إن أمكن) كيس سماد فارغًا عليه ملصق N-P-K، وبطاقات ترتيب رحلة النيتروجين لكل مجموعة.</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قيمتا اليوم: العمل الجماعي والإبداع.</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ذكّر بقوانين الصف بسرعة.</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ذكّر بالأوسمة الخمسة.</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الإجابات: 1) صح  2) خطأ – الحجر الجيري مخزن طويل المدى  3) صح.</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شغّل الفيديو (20 ثانية)، ثم اطرح اللغز. تقبّل التوقعات دون تصحيح؛ سنكتشف الإجابة في الناتج الأول: غاز النيتروجين N₂ لا تستطيع معظم الكائنات استخدامه مباشرة، ويجب أن يُثبَّت أولًا.</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اسأل: «من خلال التهيئة، ماذا تتوقعون أن نتعلم اليوم؟» استمع لتوقعات 2–3 طلاب، ثم اضغط لإظهار الهدف، ثم اضغط مرة أخرى لإظهار النواتج. اقرأ كل ناتج واطلب من طالب أن يشرحه بلغته. تبقى النواتج ظاهرة في لوحة «نواتج التعلم» طوال الحصة، ويشير السهم الأحمر على هرم بلوم إلى مستوى كل نشاط.</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اعرض خط سير الحصة سريعًا.</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المصطلحان الجديدان في دليل المعلم: تثبيت النيتروجين، وإزالة النيتروجين. نبّه إلى أن الكلمتين متعاكستان في الاتجاه.</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بداية الناتج الأول. استراتيجية القراءة: النمذجة (كتاب المعلم) – توقّف للتحقق من الفهم. اضغط على الرقم لإظهار الإجابة.</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حلّ لغز التهيئة: النباتات محاطة بغاز N₂ لكنها لا تستطيع استخدامه مباشرة؛ تحتاج إلى نيتروجين مثبّت (أمونيا/نترات). التكامل: الكيمياء (الرابطة الثلاثية)، التربية الإسلامية (آية البرق – البرق يصاحبه المطر ويسهم في تثبيت النيتروجين).</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ربط بالبيئة المحلية وبالقسم الأول (العلاقات التكافلية). الصورة الدائرية المكبّرة: عُقد جذرية حقيقية على جذور نبات بقولي. إجابة «فكّروا»: لأن البكتيريا في عُقد جذور الغاف تثبّت نيتروجين الهواء، فتزيد مركّبات النيتروجين في التربة حول الشجرة وتصبح أكثر خصوبة. بعد نقاش المجموعات في سؤال الربط اضغط (نقرة واحدة) لإظهار الإجابة: تبادل المنفعة.</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تعاوني للناتج الأول. سؤال الاختيار: (ب). العبارة: خطأ – الحيوانات تحصل على النيتروجين بالتغذّي. تحدي شاهين: لأن كمية النيتروجين في الشبكة الغذائية تعتمد على كمية النيتروجين المثبّت، وهي محدودة.</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فيديو قصير من إعداد المعلم (50 ثانية) يتتبّع ذرة نيتروجين: الهواء ← عُقد جذور الغاف (تثبيت) ← البروتين في الأوراق ← الجمل ← الفضلات ← المحللات (أمونيا) ← بكتيريا النترتة (نترات) ← بكتيريا إزالة النيتروجين ← الهواء.</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تتبّع مع الطلاب الأسهم: من التربة إلى النبات إلى الحيوان، ثم الفضلات والبقايا، فالمحللات (أمونيا)، فبكتيريا النترتة (نترات)، والعودة إلى النبات. الصورة توضح عملية النترتة (تحويل أيونات الأمونيوم إلى نتريت ونترات).</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تعاوني للناتج الثاني (بطاقات ترتيب – معالجة من كتاب المعلم). وزّع البطاقات الست مقصوصة على كل مجموعة. الترتيب: و ← ج ← أ ← هـ ← د ← ب ثم تعود النترات إلى الجذور (ج). لأصحاب الهمم: بطاقات بصور وكلمات أقل، والاكتفاء بترتيب أربع بطاقات (و، ج، أ، هـ).</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قارن مع الطلاب بين العمليتين (تمايز: يكمل الطلاب فوق المستوى الجدول بأنفسهم قبل عرضه). ربط بالكيمياء: N₂، NH₃، NO₃⁻.</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السلسلة تظهر خطوة خطوة بالنقر: قبل كل نقرة اسأل المجموعات «ماذا تتوقعون أن يحدث بعد ذلك؟» ثم اكشف الخطوة التالية. عرض توضيحي (دورات المعادن – كتاب المعلم، 5 دقائق مختصرة): اعرض كيس سماد فارغًا واقرأ الأرقام. اختياري: تجربة مصغّرة للكشف عن النترات في عينات مياه مختلفة إن توفرت أدوات الفحص. اربط بدرس الغد: الفوسفور أيضًا يسبب تكاثر الطحالب.</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تعاوني للناتج الثالث بمستويات متدرجة. اطلب من المجموعات تقييم إجابات بعضها بعد عرض النموذج.</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راجع الدورة كاملة على المخطط: اطلب من طالب تتبّع مسار ذرة نيتروجين من الهواء إلى الهواء.</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يرفع كل طالب عدد أصابع يعبّر عن مستواه في كل ناتج (1 أتقنته، 2 أحتاج إلى تدريب، 3 أحتاج إلى مساعدة). دوّن أسماء من يحتاجون إلى دعم للمتابعة في الحصة التالية وفي مهام منصة ألف.</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الإجابات: 1) تثبيت النيتروجين. 2) (ب). 3) تقلّ مركّبات النيتروجين المتاحة فيضعف نمو النباتات، ويتأثر من يتغذّى عليها. لأصحاب الهمم: بطاقة بصور للاختيار.</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أعلن المجموعات الفائزة بالأوسمة، واشكر الطلاب. ذكّر بالمهمة على المنصة. أغلق الحصة في الوقت المحدد.</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المختبر الافتراضي – المحطة 1 (3 دقائق، تطبيق). اضغط الصورة أو الزر لفتح المحطة على السبورة الذكية، أو ليمسح قائد كل مجموعة رمز QR إن توفرت الأجهزة. نتائج متوقعة: (1) قمح بلا إضافات: 11 سم وأوراق صفراء، رغم أن N₂ يمثل 78% حول النبتة. (2) برسيم + بكتيريا: 28 سم، أخضر داكن، و14 عقدة جذرية. (3) قمح + 3 عواصف برقية: 18 سم تقريبًا، أخضر مصفرّ. الاستنتاج: معظم الكائنات لا تستخدم غاز N₂ مباشرة؛ يجب أن يُثبَّت أولًا، والبكتيريا تثبّت الجزء الأكبر والبرق كمية صغيرة. بهذا يُحَلّ لغز التهيئة. انتقل بعدها إلى شريحة شجرة الغاف: «مثل البرسيم في المختبر».</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المختبر الافتراضي – المحطة 2 (دقيقتان، تطبيق). بعد انتهاء ترتيب البطاقات، تقود مجموعة واحدة الذرة على السبورة، وتتحقق بقية المجموعات من ترتيبها. السلسلة الصحيحة: تثبيت النيتروجين (عقد الغاف) ← بناء البروتين في النبات ← التغذّي (الجمل) ← الإخراج والموت ← التحلّل (أمونيا) ← النترتة (نترات) ← [امتصاص النترات من جديد] ← إزالة النيتروجين ← العودة إلى الهواء. سؤال للنقاش: أيّ عمليتين في السلسلة متعاكستان في الاتجاه؟ (تثبيت النيتروجين وإزالته) – تمهيد للناتج الثالث.</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المختبر الافتراضي – المحطة 3 (3 دقائق، تحليل). تجربة 1: 10 أكياس، دفعة واحدة قبل المطر، غمر، بلا أرض رطبة ← إنتاج 97%، طحالب 85%، أكسجين 2.5 ملغم/لتر، سمكتان فقط، و4 أكياس مهدرة. تجربة 2: 6 أكياس على دفعات، تنقيط، مع أرض رطبة ← إنتاج 96%، طحالب 0%، 20 سمكة. الربط بإزالة النيتروجين: بكتيريا الأرض الرطبة تعيد جزءًا من النترات غازَ N₂ إلى الهواء. اسأل: هل زاد الإنتاج كثيرًا بزيادة السماد من 6 إلى 10 أكياس؟ لماذا إذن لا نضيف أكثر؟ بعدها اعرض شريحة «حين نُسرف في الأسمدة» سريعًا للتأكيد (دقيقة واحدة).</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5.xml"/><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18.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slideLayout" Target="../slideLayouts/slideLayout7.xml"/><Relationship Id="rId6" Type="http://schemas.openxmlformats.org/officeDocument/2006/relationships/notesSlide" Target="../notesSlides/notesSlide6.xml"/><Relationship Id="rId7" Type="http://schemas.openxmlformats.org/officeDocument/2006/relationships/image" Target="../media/image17.png"/><Relationship Id="rId8" Type="http://schemas.openxmlformats.org/officeDocument/2006/relationships/image" Target="../media/image4.png"/><Relationship Id="rId9" Type="http://schemas.openxmlformats.org/officeDocument/2006/relationships/image" Target="../media/image20.png"/><Relationship Id="rId10" Type="http://schemas.openxmlformats.org/officeDocument/2006/relationships/chart" Target="../charts/chart1.xml"/><Relationship Id="rId11"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25.jfif"/><Relationship Id="rId6" Type="http://schemas.openxmlformats.org/officeDocument/2006/relationships/image" Target="../media/image26.jfif"/><Relationship Id="rId7" Type="http://schemas.openxmlformats.org/officeDocument/2006/relationships/image" Target="../media/image27.jfif"/></Relationships>
</file>

<file path=ppt/slides/_rels/slide10.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10.xml"/><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5.png"/><Relationship Id="rId8" Type="http://schemas.openxmlformats.org/officeDocument/2006/relationships/image" Target="../media/image30.jfif"/><Relationship Id="rId9" Type="http://schemas.openxmlformats.org/officeDocument/2006/relationships/image" Target="../media/image31.jf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image" Target="../media/image54.png"/><Relationship Id="rId5" Type="http://schemas.openxmlformats.org/officeDocument/2006/relationships/image" Target="../media/image17.png"/><Relationship Id="rId6" Type="http://schemas.openxmlformats.org/officeDocument/2006/relationships/image" Target="../media/image6.png"/><Relationship Id="rId7" Type="http://schemas.openxmlformats.org/officeDocument/2006/relationships/image" Target="../media/image29.png"/><Relationship Id="rId8" Type="http://schemas.openxmlformats.org/officeDocument/2006/relationships/image" Target="../media/image12.png"/><Relationship Id="rId9" Type="http://schemas.openxmlformats.org/officeDocument/2006/relationships/hyperlink" Target="https://claude.ai/artifact/2MRnNaqiM6MhRAnzxXGP54#s1" TargetMode="External"/><Relationship Id="rId10" Type="http://schemas.openxmlformats.org/officeDocument/2006/relationships/image" Target="../media/image55.png"/><Relationship Id="rId11" Type="http://schemas.openxmlformats.org/officeDocument/2006/relationships/image" Target="../media/image56.jpg"/><Relationship Id="rId12" Type="http://schemas.openxmlformats.org/officeDocument/2006/relationships/notesSlide" Target="../notesSlides/notesSlide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17.png"/><Relationship Id="rId6" Type="http://schemas.openxmlformats.org/officeDocument/2006/relationships/image" Target="../media/image6.png"/><Relationship Id="rId7" Type="http://schemas.openxmlformats.org/officeDocument/2006/relationships/image" Target="../media/image29.png"/><Relationship Id="rId8"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microsoft.com/office/2007/relationships/media" Target="../media/media5.mp4"/><Relationship Id="rId2" Type="http://schemas.openxmlformats.org/officeDocument/2006/relationships/video" Target="../media/media5.mp4"/><Relationship Id="rId3"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17.png"/><Relationship Id="rId6" Type="http://schemas.openxmlformats.org/officeDocument/2006/relationships/image" Target="../media/image37.png"/><Relationship Id="rId7"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microsoft.com/office/2007/relationships/media" Target="../media/media6.mp4"/><Relationship Id="rId2" Type="http://schemas.openxmlformats.org/officeDocument/2006/relationships/video" Target="../media/media6.mp4"/><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17.png"/><Relationship Id="rId6" Type="http://schemas.openxmlformats.org/officeDocument/2006/relationships/image" Target="../media/image40.png"/><Relationship Id="rId7"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image" Target="../media/image57.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41.png"/><Relationship Id="rId8" Type="http://schemas.openxmlformats.org/officeDocument/2006/relationships/hyperlink" Target="https://claude.ai/artifact/2MRnNaqiM6MhRAnzxXGP54#s2" TargetMode="External"/><Relationship Id="rId9" Type="http://schemas.openxmlformats.org/officeDocument/2006/relationships/image" Target="../media/image58.png"/><Relationship Id="rId10" Type="http://schemas.openxmlformats.org/officeDocument/2006/relationships/image" Target="../media/image59.jpg"/><Relationship Id="rId11" Type="http://schemas.openxmlformats.org/officeDocument/2006/relationships/notesSlide" Target="../notesSlides/notesSlide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image" Target="../media/image60.png"/><Relationship Id="rId5" Type="http://schemas.openxmlformats.org/officeDocument/2006/relationships/image" Target="../media/image17.png"/><Relationship Id="rId6" Type="http://schemas.openxmlformats.org/officeDocument/2006/relationships/image" Target="../media/image29.png"/><Relationship Id="rId7" Type="http://schemas.openxmlformats.org/officeDocument/2006/relationships/image" Target="../media/image48.png"/><Relationship Id="rId8" Type="http://schemas.openxmlformats.org/officeDocument/2006/relationships/hyperlink" Target="https://claude.ai/artifact/2MRnNaqiM6MhRAnzxXGP54#s3" TargetMode="External"/><Relationship Id="rId9" Type="http://schemas.openxmlformats.org/officeDocument/2006/relationships/image" Target="../media/image61.png"/><Relationship Id="rId10" Type="http://schemas.openxmlformats.org/officeDocument/2006/relationships/image" Target="../media/image62.jpg"/><Relationship Id="rId11"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34.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19.xml"/><Relationship Id="rId5" Type="http://schemas.openxmlformats.org/officeDocument/2006/relationships/image" Target="../media/image17.png"/><Relationship Id="rId6" Type="http://schemas.openxmlformats.org/officeDocument/2006/relationships/image" Target="../media/image29.png"/><Relationship Id="rId7" Type="http://schemas.openxmlformats.org/officeDocument/2006/relationships/image" Target="../media/image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22.xml"/><Relationship Id="rId5" Type="http://schemas.openxmlformats.org/officeDocument/2006/relationships/image" Target="../media/image17.png"/><Relationship Id="rId6" Type="http://schemas.openxmlformats.org/officeDocument/2006/relationships/image" Target="../media/image29.png"/><Relationship Id="rId7"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rame.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669280" y="502920"/>
            <a:ext cx="6035040" cy="365760"/>
          </a:xfrm>
          <a:prstGeom prst="rect">
            <a:avLst/>
          </a:prstGeom>
          <a:noFill/>
        </p:spPr>
        <p:txBody>
          <a:bodyPr wrap="square" lIns="73152" tIns="36576" rIns="73152" bIns="36576" anchor="t"/>
          <a:lstStyle/>
          <a:p>
            <a:pPr algn="r" rtl="1"/>
            <a:r>
              <a:rPr lang="ar-AE" altLang="en-US" sz="1400" b="1" i="0">
                <a:solidFill>
                  <a:srgbClr val="5A687D"/>
                </a:solidFill>
                <a:latin typeface="Arial"/>
                <a:cs typeface="Arial"/>
              </a:rPr>
              <a:t>مدرسة الخالدية – الحلقة الثالثة بنين – الشرقية</a:t>
            </a:r>
          </a:p>
        </p:txBody>
      </p:sp>
      <p:sp>
        <p:nvSpPr>
          <p:cNvPr id="4" name="Rounded Rectangle 3"/>
          <p:cNvSpPr/>
          <p:nvPr/>
        </p:nvSpPr>
        <p:spPr>
          <a:xfrm>
            <a:off x="8732520" y="960120"/>
            <a:ext cx="2971800" cy="420624"/>
          </a:xfrm>
          <a:prstGeom prst="roundRect">
            <a:avLst>
              <a:gd name="adj" fmla="val 43478"/>
            </a:avLst>
          </a:prstGeom>
          <a:solidFill>
            <a:srgbClr val="102A43"/>
          </a:solidFill>
          <a:ln>
            <a:noFill/>
          </a:ln>
        </p:spPr>
        <p:txBody>
          <a:bodyPr wrap="square" lIns="73152" tIns="36576" rIns="73152" bIns="36576" rtlCol="0" anchor="ctr"/>
          <a:lstStyle/>
          <a:p>
            <a:pPr algn="ctr" rtl="1"/>
            <a:r>
              <a:rPr lang="ar-AE" altLang="en-US" sz="1400" b="1" i="0">
                <a:solidFill>
                  <a:srgbClr val="FFFFFF"/>
                </a:solidFill>
                <a:latin typeface="Arial"/>
                <a:cs typeface="Arial"/>
              </a:rPr>
              <a:t>العلوم | الصف التاسع العام</a:t>
            </a:r>
          </a:p>
        </p:txBody>
      </p:sp>
      <p:sp>
        <p:nvSpPr>
          <p:cNvPr id="5" name="TextBox 4"/>
          <p:cNvSpPr txBox="1"/>
          <p:nvPr/>
        </p:nvSpPr>
        <p:spPr>
          <a:xfrm>
            <a:off x="5120640" y="1481328"/>
            <a:ext cx="6583680" cy="960120"/>
          </a:xfrm>
          <a:prstGeom prst="rect">
            <a:avLst/>
          </a:prstGeom>
          <a:noFill/>
        </p:spPr>
        <p:txBody>
          <a:bodyPr wrap="square" lIns="73152" tIns="36576" rIns="73152" bIns="36576" anchor="ctr"/>
          <a:lstStyle/>
          <a:p>
            <a:pPr algn="r" rtl="1"/>
            <a:r>
              <a:rPr lang="ar-AE" altLang="en-US" sz="6000" b="1" i="0">
                <a:solidFill>
                  <a:srgbClr val="102A43"/>
                </a:solidFill>
                <a:latin typeface="Arial"/>
                <a:cs typeface="Arial"/>
              </a:rPr>
              <a:t>تدوير المادة</a:t>
            </a:r>
          </a:p>
        </p:txBody>
      </p:sp>
      <p:sp>
        <p:nvSpPr>
          <p:cNvPr id="6" name="TextBox 5"/>
          <p:cNvSpPr txBox="1"/>
          <p:nvPr/>
        </p:nvSpPr>
        <p:spPr>
          <a:xfrm>
            <a:off x="5120640" y="2468880"/>
            <a:ext cx="6583680" cy="594360"/>
          </a:xfrm>
          <a:prstGeom prst="rect">
            <a:avLst/>
          </a:prstGeom>
          <a:noFill/>
        </p:spPr>
        <p:txBody>
          <a:bodyPr wrap="square" lIns="73152" tIns="36576" rIns="73152" bIns="36576" anchor="ctr"/>
          <a:lstStyle/>
          <a:p>
            <a:pPr algn="r" rtl="1"/>
            <a:r>
              <a:rPr lang="ar-AE" altLang="en-US" sz="2800" b="1" i="0">
                <a:solidFill>
                  <a:srgbClr val="5B3B91"/>
                </a:solidFill>
                <a:latin typeface="Arial"/>
                <a:cs typeface="Arial"/>
              </a:rPr>
              <a:t>الحصة الثالثة: دورة النيتروجين</a:t>
            </a:r>
          </a:p>
        </p:txBody>
      </p:sp>
      <p:sp>
        <p:nvSpPr>
          <p:cNvPr id="7" name="TextBox 6"/>
          <p:cNvSpPr txBox="1"/>
          <p:nvPr/>
        </p:nvSpPr>
        <p:spPr>
          <a:xfrm>
            <a:off x="5120640" y="3072384"/>
            <a:ext cx="6583680" cy="411480"/>
          </a:xfrm>
          <a:prstGeom prst="rect">
            <a:avLst/>
          </a:prstGeom>
          <a:noFill/>
        </p:spPr>
        <p:txBody>
          <a:bodyPr wrap="square" lIns="73152" tIns="36576" rIns="73152" bIns="36576" anchor="ctr"/>
          <a:lstStyle/>
          <a:p>
            <a:pPr algn="r" rtl="1"/>
            <a:r>
              <a:rPr lang="ar-AE" altLang="en-US" sz="1700" b="1" i="0">
                <a:solidFill>
                  <a:srgbClr val="5A687D"/>
                </a:solidFill>
                <a:latin typeface="Arial"/>
                <a:cs typeface="Arial"/>
              </a:rPr>
              <a:t>الوحدة الأولى: مبادئ علم البيئة  |  القسم الثالث</a:t>
            </a:r>
          </a:p>
        </p:txBody>
      </p:sp>
      <p:sp>
        <p:nvSpPr>
          <p:cNvPr id="8" name="Rounded Rectangle 7"/>
          <p:cNvSpPr/>
          <p:nvPr/>
        </p:nvSpPr>
        <p:spPr>
          <a:xfrm>
            <a:off x="7086600" y="3675887"/>
            <a:ext cx="4617720" cy="512064"/>
          </a:xfrm>
          <a:prstGeom prst="roundRect">
            <a:avLst>
              <a:gd name="adj" fmla="val 50000"/>
            </a:avLst>
          </a:prstGeom>
          <a:solidFill>
            <a:srgbClr val="FFFFFF"/>
          </a:solidFill>
          <a:ln w="1905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9" name="Picture 8" descr="clock_g.png"/>
          <p:cNvPicPr>
            <a:picLocks noChangeAspect="1"/>
          </p:cNvPicPr>
          <p:nvPr/>
        </p:nvPicPr>
        <p:blipFill>
          <a:blip r:embed="rId4"/>
          <a:stretch>
            <a:fillRect/>
          </a:stretch>
        </p:blipFill>
        <p:spPr>
          <a:xfrm>
            <a:off x="11265408" y="3767328"/>
            <a:ext cx="329184" cy="329184"/>
          </a:xfrm>
          <a:prstGeom prst="rect">
            <a:avLst/>
          </a:prstGeom>
        </p:spPr>
      </p:pic>
      <p:sp>
        <p:nvSpPr>
          <p:cNvPr id="10" name="TextBox 9"/>
          <p:cNvSpPr txBox="1"/>
          <p:nvPr/>
        </p:nvSpPr>
        <p:spPr>
          <a:xfrm>
            <a:off x="7132320" y="3675887"/>
            <a:ext cx="4069080" cy="512064"/>
          </a:xfrm>
          <a:prstGeom prst="rect">
            <a:avLst/>
          </a:prstGeom>
          <a:noFill/>
        </p:spPr>
        <p:txBody>
          <a:bodyPr wrap="none" lIns="73152" tIns="36576" rIns="73152" bIns="36576" anchor="ctr"/>
          <a:lstStyle/>
          <a:p>
            <a:pPr algn="ctr" rtl="1"/>
            <a:r>
              <a:rPr lang="ar-AE" altLang="en-US" sz="1500" b="1" i="0">
                <a:solidFill>
                  <a:srgbClr val="102A43"/>
                </a:solidFill>
                <a:latin typeface="Arial"/>
                <a:cs typeface="Arial"/>
              </a:rPr>
              <a:t>الحصة 3 من 4  •  </a:t>
            </a:r>
            <a:r>
              <a:rPr lang="ar-AE" altLang="en-US" sz="1500" b="1" i="0">
                <a:solidFill>
                  <a:srgbClr val="5B3B91"/>
                </a:solidFill>
                <a:latin typeface="Arial"/>
                <a:cs typeface="Arial"/>
              </a:rPr>
              <a:t>الأربعاء  23/9/2026</a:t>
            </a:r>
          </a:p>
        </p:txBody>
      </p:sp>
      <p:sp>
        <p:nvSpPr>
          <p:cNvPr id="11" name="Rounded Rectangle 10"/>
          <p:cNvSpPr/>
          <p:nvPr/>
        </p:nvSpPr>
        <p:spPr>
          <a:xfrm>
            <a:off x="5120640" y="4370832"/>
            <a:ext cx="6583680" cy="822960"/>
          </a:xfrm>
          <a:prstGeom prst="roundRect">
            <a:avLst>
              <a:gd name="adj" fmla="val 16666"/>
            </a:avLst>
          </a:prstGeom>
          <a:solidFill>
            <a:srgbClr val="FBF5E8"/>
          </a:solidFill>
          <a:ln w="12700">
            <a:solidFill>
              <a:srgbClr val="E6D5B0"/>
            </a:solidFill>
          </a:ln>
        </p:spPr>
        <p:txBody>
          <a:bodyPr wrap="square" lIns="164592" rIns="164592" rtlCol="0" anchor="ctr"/>
          <a:lstStyle/>
          <a:p>
            <a:pPr algn="r" rtl="1"/>
            <a:r>
              <a:rPr lang="ar-AE" altLang="en-US" sz="1600" b="1" i="0">
                <a:solidFill>
                  <a:srgbClr val="102A43"/>
                </a:solidFill>
                <a:latin typeface="Arial"/>
                <a:cs typeface="Arial"/>
              </a:rPr>
              <a:t>لغز اليوم: نعيش في «بحر» من النيتروجين… فلماذا قد تجوع النباتات إليه؟</a:t>
            </a:r>
          </a:p>
        </p:txBody>
      </p:sp>
      <p:sp>
        <p:nvSpPr>
          <p:cNvPr id="12" name="Oval 11"/>
          <p:cNvSpPr/>
          <p:nvPr/>
        </p:nvSpPr>
        <p:spPr>
          <a:xfrm>
            <a:off x="822960" y="1463039"/>
            <a:ext cx="3566160" cy="3566160"/>
          </a:xfrm>
          <a:prstGeom prst="ellipse">
            <a:avLst/>
          </a:prstGeom>
          <a:noFill/>
          <a:ln w="25400">
            <a:solidFill>
              <a:srgbClr val="D9C9A6"/>
            </a:solidFill>
          </a:ln>
        </p:spPr>
        <p:txBody>
          <a:bodyPr lIns="54864" tIns="27432" rIns="54864" bIns="27432" rtlCol="0" anchor="ctr"/>
          <a:lstStyle/>
          <a:p>
            <a:pPr algn="ctr"/>
            <a:endParaRPr/>
          </a:p>
        </p:txBody>
      </p:sp>
      <p:sp>
        <p:nvSpPr>
          <p:cNvPr id="13" name="Oval 12"/>
          <p:cNvSpPr/>
          <p:nvPr/>
        </p:nvSpPr>
        <p:spPr>
          <a:xfrm>
            <a:off x="1124712" y="1764791"/>
            <a:ext cx="2962656" cy="2962656"/>
          </a:xfrm>
          <a:prstGeom prst="ellipse">
            <a:avLst/>
          </a:prstGeom>
          <a:noFill/>
          <a:ln w="38100">
            <a:solidFill>
              <a:srgbClr val="5B3B91"/>
            </a:solidFill>
          </a:ln>
        </p:spPr>
        <p:txBody>
          <a:bodyPr lIns="54864" tIns="27432" rIns="54864" bIns="27432" rtlCol="0" anchor="ctr"/>
          <a:lstStyle/>
          <a:p>
            <a:pPr algn="ctr"/>
            <a:endParaRPr/>
          </a:p>
        </p:txBody>
      </p:sp>
      <p:sp>
        <p:nvSpPr>
          <p:cNvPr id="14" name="Oval 13"/>
          <p:cNvSpPr/>
          <p:nvPr/>
        </p:nvSpPr>
        <p:spPr>
          <a:xfrm>
            <a:off x="1581912" y="2221991"/>
            <a:ext cx="2048256" cy="2048256"/>
          </a:xfrm>
          <a:prstGeom prst="ellipse">
            <a:avLst/>
          </a:prstGeom>
          <a:solidFill>
            <a:srgbClr val="5B3B91"/>
          </a:solidFill>
          <a:ln>
            <a:no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15" name="Picture 14" descr="bolt_w.png"/>
          <p:cNvPicPr>
            <a:picLocks noChangeAspect="1"/>
          </p:cNvPicPr>
          <p:nvPr/>
        </p:nvPicPr>
        <p:blipFill>
          <a:blip r:embed="rId5"/>
          <a:stretch>
            <a:fillRect/>
          </a:stretch>
        </p:blipFill>
        <p:spPr>
          <a:xfrm>
            <a:off x="2039112" y="2679191"/>
            <a:ext cx="1133856" cy="1133856"/>
          </a:xfrm>
          <a:prstGeom prst="rect">
            <a:avLst/>
          </a:prstGeom>
        </p:spPr>
      </p:pic>
      <p:pic>
        <p:nvPicPr>
          <p:cNvPr id="16" name="Picture 15" descr="badge_fahem.png"/>
          <p:cNvPicPr>
            <a:picLocks noChangeAspect="1"/>
          </p:cNvPicPr>
          <p:nvPr/>
        </p:nvPicPr>
        <p:blipFill>
          <a:blip r:embed="rId6"/>
          <a:stretch>
            <a:fillRect/>
          </a:stretch>
        </p:blipFill>
        <p:spPr>
          <a:xfrm>
            <a:off x="2139696" y="948619"/>
            <a:ext cx="932688" cy="1028841"/>
          </a:xfrm>
          <a:prstGeom prst="rect">
            <a:avLst/>
          </a:prstGeom>
        </p:spPr>
      </p:pic>
      <p:pic>
        <p:nvPicPr>
          <p:cNvPr id="17" name="Picture 16" descr="badge_hessa.png"/>
          <p:cNvPicPr>
            <a:picLocks noChangeAspect="1"/>
          </p:cNvPicPr>
          <p:nvPr/>
        </p:nvPicPr>
        <p:blipFill>
          <a:blip r:embed="rId7"/>
          <a:stretch>
            <a:fillRect/>
          </a:stretch>
        </p:blipFill>
        <p:spPr>
          <a:xfrm>
            <a:off x="3835505" y="2211145"/>
            <a:ext cx="932688" cy="967944"/>
          </a:xfrm>
          <a:prstGeom prst="rect">
            <a:avLst/>
          </a:prstGeom>
        </p:spPr>
      </p:pic>
      <p:pic>
        <p:nvPicPr>
          <p:cNvPr id="18" name="Picture 17" descr="badge_shaheen.png"/>
          <p:cNvPicPr>
            <a:picLocks noChangeAspect="1"/>
          </p:cNvPicPr>
          <p:nvPr/>
        </p:nvPicPr>
        <p:blipFill>
          <a:blip r:embed="rId8"/>
          <a:stretch>
            <a:fillRect/>
          </a:stretch>
        </p:blipFill>
        <p:spPr>
          <a:xfrm>
            <a:off x="3187764" y="4206292"/>
            <a:ext cx="932688" cy="964739"/>
          </a:xfrm>
          <a:prstGeom prst="rect">
            <a:avLst/>
          </a:prstGeom>
        </p:spPr>
      </p:pic>
      <p:pic>
        <p:nvPicPr>
          <p:cNvPr id="19" name="Picture 18" descr="badge_maha.png"/>
          <p:cNvPicPr>
            <a:picLocks noChangeAspect="1"/>
          </p:cNvPicPr>
          <p:nvPr/>
        </p:nvPicPr>
        <p:blipFill>
          <a:blip r:embed="rId9"/>
          <a:stretch>
            <a:fillRect/>
          </a:stretch>
        </p:blipFill>
        <p:spPr>
          <a:xfrm>
            <a:off x="1091627" y="4153408"/>
            <a:ext cx="932688" cy="1070507"/>
          </a:xfrm>
          <a:prstGeom prst="rect">
            <a:avLst/>
          </a:prstGeom>
        </p:spPr>
      </p:pic>
      <p:pic>
        <p:nvPicPr>
          <p:cNvPr id="20" name="Picture 19" descr="badge_ahmed.png"/>
          <p:cNvPicPr>
            <a:picLocks noChangeAspect="1"/>
          </p:cNvPicPr>
          <p:nvPr/>
        </p:nvPicPr>
        <p:blipFill>
          <a:blip r:embed="rId10"/>
          <a:stretch>
            <a:fillRect/>
          </a:stretch>
        </p:blipFill>
        <p:spPr>
          <a:xfrm>
            <a:off x="443886" y="2201530"/>
            <a:ext cx="932688" cy="987174"/>
          </a:xfrm>
          <a:prstGeom prst="rect">
            <a:avLst/>
          </a:prstGeom>
        </p:spPr>
      </p:pic>
      <p:sp>
        <p:nvSpPr>
          <p:cNvPr id="21" name="TextBox 20"/>
          <p:cNvSpPr txBox="1"/>
          <p:nvPr/>
        </p:nvSpPr>
        <p:spPr>
          <a:xfrm>
            <a:off x="365760" y="5742432"/>
            <a:ext cx="4480560" cy="384048"/>
          </a:xfrm>
          <a:prstGeom prst="rect">
            <a:avLst/>
          </a:prstGeom>
          <a:noFill/>
        </p:spPr>
        <p:txBody>
          <a:bodyPr wrap="square" lIns="73152" tIns="36576" rIns="73152" bIns="36576" anchor="ctr"/>
          <a:lstStyle/>
          <a:p>
            <a:pPr algn="ctr" rtl="1"/>
            <a:r>
              <a:rPr lang="ar-AE" altLang="en-US" sz="2000" b="1" i="0">
                <a:solidFill>
                  <a:srgbClr val="9A7B3F"/>
                </a:solidFill>
                <a:latin typeface="Arial"/>
                <a:cs typeface="Arial"/>
              </a:rPr>
              <a:t>بالميثاق نبلغ الآفاق</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rame.pn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lIns="54864" tIns="27432" rIns="54864" bIns="27432" rtlCol="0" anchor="ctr"/>
          <a:lstStyle/>
          <a:p>
            <a:pPr algn="ctr"/>
            <a:endParaRPr/>
          </a:p>
        </p:txBody>
      </p:sp>
      <p:sp>
        <p:nvSpPr>
          <p:cNvPr id="4" name="Rectangle 3"/>
          <p:cNvSpPr/>
          <p:nvPr/>
        </p:nvSpPr>
        <p:spPr>
          <a:xfrm>
            <a:off x="7762875" y="1219200"/>
            <a:ext cx="3314700" cy="38100"/>
          </a:xfrm>
          <a:prstGeom prst="rect">
            <a:avLst/>
          </a:prstGeom>
          <a:solidFill>
            <a:srgbClr val="C8B08A"/>
          </a:solidFill>
          <a:ln>
            <a:noFill/>
          </a:ln>
        </p:spPr>
        <p:txBody>
          <a:bodyPr lIns="54864" tIns="27432" rIns="54864" bIns="27432" rtlCol="0" anchor="ctr"/>
          <a:lstStyle/>
          <a:p>
            <a:pPr algn="ctr"/>
            <a:endParaRPr/>
          </a:p>
        </p:txBody>
      </p:sp>
      <p:sp>
        <p:nvSpPr>
          <p:cNvPr id="5" name="TextBox 4"/>
          <p:cNvSpPr txBox="1"/>
          <p:nvPr/>
        </p:nvSpPr>
        <p:spPr>
          <a:xfrm>
            <a:off x="7286625" y="438150"/>
            <a:ext cx="4267200" cy="781050"/>
          </a:xfrm>
          <a:prstGeom prst="rect">
            <a:avLst/>
          </a:prstGeom>
          <a:noFill/>
        </p:spPr>
        <p:txBody>
          <a:bodyPr wrap="square" lIns="45720" tIns="0" rIns="45720" bIns="0" anchor="ctr"/>
          <a:lstStyle/>
          <a:p>
            <a:pPr algn="ctr" rtl="1"/>
            <a:r>
              <a:rPr lang="ar-AE" altLang="en-US" sz="2600" b="0" i="0">
                <a:solidFill>
                  <a:srgbClr val="FFFFFF"/>
                </a:solidFill>
                <a:latin typeface="Arial"/>
                <a:cs typeface="Arial"/>
              </a:rPr>
              <a:t>الميثاق الوطني للتعليم</a:t>
            </a:r>
          </a:p>
        </p:txBody>
      </p:sp>
      <p:sp>
        <p:nvSpPr>
          <p:cNvPr id="6" name="TextBox 5"/>
          <p:cNvSpPr txBox="1"/>
          <p:nvPr/>
        </p:nvSpPr>
        <p:spPr>
          <a:xfrm>
            <a:off x="548640" y="566928"/>
            <a:ext cx="5943600" cy="457200"/>
          </a:xfrm>
          <a:prstGeom prst="rect">
            <a:avLst/>
          </a:prstGeom>
          <a:noFill/>
        </p:spPr>
        <p:txBody>
          <a:bodyPr wrap="square" lIns="73152" tIns="36576" rIns="73152" bIns="36576" anchor="ctr"/>
          <a:lstStyle/>
          <a:p>
            <a:pPr algn="r" rtl="1"/>
            <a:r>
              <a:rPr lang="ar-AE" altLang="en-US" sz="1800" b="1" i="0">
                <a:solidFill>
                  <a:srgbClr val="5A687D"/>
                </a:solidFill>
                <a:latin typeface="Arial"/>
                <a:cs typeface="Arial"/>
              </a:rPr>
              <a:t>قيمٌ نعيشها في حصتنا اليوم… بالميثاق نبلغ الآفاق</a:t>
            </a:r>
          </a:p>
        </p:txBody>
      </p:sp>
      <p:sp>
        <p:nvSpPr>
          <p:cNvPr id="7" name="Rounded Rectangle 6"/>
          <p:cNvSpPr/>
          <p:nvPr/>
        </p:nvSpPr>
        <p:spPr>
          <a:xfrm>
            <a:off x="7985455"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8" name="Oval 7"/>
          <p:cNvSpPr/>
          <p:nvPr/>
        </p:nvSpPr>
        <p:spPr>
          <a:xfrm>
            <a:off x="10545775" y="1682496"/>
            <a:ext cx="749808" cy="749808"/>
          </a:xfrm>
          <a:prstGeom prst="ellipse">
            <a:avLst/>
          </a:prstGeom>
          <a:solidFill>
            <a:srgbClr val="2E5D7B"/>
          </a:solidFill>
          <a:ln>
            <a:noFill/>
          </a:ln>
        </p:spPr>
        <p:txBody>
          <a:bodyPr lIns="54864" tIns="27432" rIns="54864" bIns="27432" rtlCol="0" anchor="ctr"/>
          <a:lstStyle/>
          <a:p>
            <a:pPr algn="ctr"/>
            <a:endParaRPr/>
          </a:p>
        </p:txBody>
      </p:sp>
      <p:pic>
        <p:nvPicPr>
          <p:cNvPr id="9" name="Picture 8" descr="clip_w.png"/>
          <p:cNvPicPr>
            <a:picLocks noChangeAspect="1"/>
          </p:cNvPicPr>
          <p:nvPr/>
        </p:nvPicPr>
        <p:blipFill>
          <a:blip r:embed="rId4"/>
          <a:stretch>
            <a:fillRect/>
          </a:stretch>
        </p:blipFill>
        <p:spPr>
          <a:xfrm>
            <a:off x="10710732" y="1847453"/>
            <a:ext cx="419892" cy="419892"/>
          </a:xfrm>
          <a:prstGeom prst="rect">
            <a:avLst/>
          </a:prstGeom>
        </p:spPr>
      </p:pic>
      <p:sp>
        <p:nvSpPr>
          <p:cNvPr id="10" name="TextBox 9"/>
          <p:cNvSpPr txBox="1"/>
          <p:nvPr/>
        </p:nvSpPr>
        <p:spPr>
          <a:xfrm>
            <a:off x="8122615" y="1645920"/>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التنظيم الذاتي والانضباط</a:t>
            </a:r>
          </a:p>
        </p:txBody>
      </p:sp>
      <p:sp>
        <p:nvSpPr>
          <p:cNvPr id="11" name="TextBox 10"/>
          <p:cNvSpPr txBox="1"/>
          <p:nvPr/>
        </p:nvSpPr>
        <p:spPr>
          <a:xfrm>
            <a:off x="8150047" y="2414016"/>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ننجز مهمة الترتيب في الوقت المحدد.</a:t>
            </a:r>
          </a:p>
        </p:txBody>
      </p:sp>
      <p:sp>
        <p:nvSpPr>
          <p:cNvPr id="12" name="Rounded Rectangle 11"/>
          <p:cNvSpPr/>
          <p:nvPr/>
        </p:nvSpPr>
        <p:spPr>
          <a:xfrm>
            <a:off x="4208983" y="1481328"/>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3" name="Oval 12"/>
          <p:cNvSpPr/>
          <p:nvPr/>
        </p:nvSpPr>
        <p:spPr>
          <a:xfrm>
            <a:off x="6769303" y="1682496"/>
            <a:ext cx="749808" cy="749808"/>
          </a:xfrm>
          <a:prstGeom prst="ellipse">
            <a:avLst/>
          </a:prstGeom>
          <a:solidFill>
            <a:srgbClr val="D9A21B"/>
          </a:solidFill>
          <a:ln>
            <a:noFill/>
          </a:ln>
        </p:spPr>
        <p:txBody>
          <a:bodyPr lIns="54864" tIns="27432" rIns="54864" bIns="27432" rtlCol="0" anchor="ctr"/>
          <a:lstStyle/>
          <a:p>
            <a:pPr algn="ctr"/>
            <a:endParaRPr/>
          </a:p>
        </p:txBody>
      </p:sp>
      <p:pic>
        <p:nvPicPr>
          <p:cNvPr id="14" name="Picture 13" descr="bulb_w.png"/>
          <p:cNvPicPr>
            <a:picLocks noChangeAspect="1"/>
          </p:cNvPicPr>
          <p:nvPr/>
        </p:nvPicPr>
        <p:blipFill>
          <a:blip r:embed="rId5"/>
          <a:stretch>
            <a:fillRect/>
          </a:stretch>
        </p:blipFill>
        <p:spPr>
          <a:xfrm>
            <a:off x="6934260" y="1847453"/>
            <a:ext cx="419892" cy="419892"/>
          </a:xfrm>
          <a:prstGeom prst="rect">
            <a:avLst/>
          </a:prstGeom>
        </p:spPr>
      </p:pic>
      <p:sp>
        <p:nvSpPr>
          <p:cNvPr id="15" name="TextBox 14"/>
          <p:cNvSpPr txBox="1"/>
          <p:nvPr/>
        </p:nvSpPr>
        <p:spPr>
          <a:xfrm>
            <a:off x="4346143" y="1645920"/>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الإبداع</a:t>
            </a:r>
          </a:p>
        </p:txBody>
      </p:sp>
      <p:sp>
        <p:nvSpPr>
          <p:cNvPr id="16" name="TextBox 15"/>
          <p:cNvSpPr txBox="1"/>
          <p:nvPr/>
        </p:nvSpPr>
        <p:spPr>
          <a:xfrm>
            <a:off x="4373575" y="2414016"/>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نقترح طرقًا ذكية لاستخدام الأسمدة دون هدر.</a:t>
            </a:r>
          </a:p>
        </p:txBody>
      </p:sp>
      <p:sp>
        <p:nvSpPr>
          <p:cNvPr id="17" name="Rounded Rectangle 16"/>
          <p:cNvSpPr/>
          <p:nvPr/>
        </p:nvSpPr>
        <p:spPr>
          <a:xfrm>
            <a:off x="4318711" y="1316736"/>
            <a:ext cx="1234440" cy="329184"/>
          </a:xfrm>
          <a:prstGeom prst="roundRect">
            <a:avLst>
              <a:gd name="adj" fmla="val 50000"/>
            </a:avLst>
          </a:prstGeom>
          <a:solidFill>
            <a:srgbClr val="C9A96A"/>
          </a:solidFill>
          <a:ln>
            <a:noFill/>
          </a:ln>
        </p:spPr>
        <p:txBody>
          <a:bodyPr wrap="square" lIns="18288" tIns="0" rIns="18288" bIns="0" rtlCol="0" anchor="ctr"/>
          <a:lstStyle/>
          <a:p>
            <a:pPr algn="ctr" rtl="1"/>
            <a:r>
              <a:rPr lang="ar-AE" altLang="en-US" sz="1150" b="1" i="0">
                <a:solidFill>
                  <a:srgbClr val="102A43"/>
                </a:solidFill>
                <a:latin typeface="Arial"/>
                <a:cs typeface="Arial"/>
              </a:rPr>
              <a:t>★ قيمة اليوم</a:t>
            </a:r>
          </a:p>
        </p:txBody>
      </p:sp>
      <p:sp>
        <p:nvSpPr>
          <p:cNvPr id="18" name="Rounded Rectangle 17"/>
          <p:cNvSpPr/>
          <p:nvPr/>
        </p:nvSpPr>
        <p:spPr>
          <a:xfrm>
            <a:off x="432511"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9" name="Oval 18"/>
          <p:cNvSpPr/>
          <p:nvPr/>
        </p:nvSpPr>
        <p:spPr>
          <a:xfrm>
            <a:off x="2992831" y="1682496"/>
            <a:ext cx="749808" cy="749808"/>
          </a:xfrm>
          <a:prstGeom prst="ellipse">
            <a:avLst/>
          </a:prstGeom>
          <a:solidFill>
            <a:srgbClr val="C8102E"/>
          </a:solidFill>
          <a:ln>
            <a:noFill/>
          </a:ln>
        </p:spPr>
        <p:txBody>
          <a:bodyPr lIns="54864" tIns="27432" rIns="54864" bIns="27432" rtlCol="0" anchor="ctr"/>
          <a:lstStyle/>
          <a:p>
            <a:pPr algn="ctr"/>
            <a:endParaRPr/>
          </a:p>
        </p:txBody>
      </p:sp>
      <p:pic>
        <p:nvPicPr>
          <p:cNvPr id="20" name="Picture 19" descr="flag_w.png"/>
          <p:cNvPicPr>
            <a:picLocks noChangeAspect="1"/>
          </p:cNvPicPr>
          <p:nvPr/>
        </p:nvPicPr>
        <p:blipFill>
          <a:blip r:embed="rId6"/>
          <a:stretch>
            <a:fillRect/>
          </a:stretch>
        </p:blipFill>
        <p:spPr>
          <a:xfrm>
            <a:off x="3157788" y="1847453"/>
            <a:ext cx="419892" cy="419892"/>
          </a:xfrm>
          <a:prstGeom prst="rect">
            <a:avLst/>
          </a:prstGeom>
        </p:spPr>
      </p:pic>
      <p:sp>
        <p:nvSpPr>
          <p:cNvPr id="21" name="TextBox 20"/>
          <p:cNvSpPr txBox="1"/>
          <p:nvPr/>
        </p:nvSpPr>
        <p:spPr>
          <a:xfrm>
            <a:off x="569671" y="1645920"/>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روح المبادرة والمثابرة</a:t>
            </a:r>
          </a:p>
        </p:txBody>
      </p:sp>
      <p:sp>
        <p:nvSpPr>
          <p:cNvPr id="22" name="TextBox 21"/>
          <p:cNvSpPr txBox="1"/>
          <p:nvPr/>
        </p:nvSpPr>
        <p:spPr>
          <a:xfrm>
            <a:off x="597103" y="2414016"/>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نبادر بطرح الأسئلة عن البكتيريا النافعة.</a:t>
            </a:r>
          </a:p>
        </p:txBody>
      </p:sp>
      <p:sp>
        <p:nvSpPr>
          <p:cNvPr id="23" name="Rounded Rectangle 22"/>
          <p:cNvSpPr/>
          <p:nvPr/>
        </p:nvSpPr>
        <p:spPr>
          <a:xfrm>
            <a:off x="7985455" y="3502152"/>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4" name="Oval 23"/>
          <p:cNvSpPr/>
          <p:nvPr/>
        </p:nvSpPr>
        <p:spPr>
          <a:xfrm>
            <a:off x="10545775" y="3703320"/>
            <a:ext cx="749808" cy="749808"/>
          </a:xfrm>
          <a:prstGeom prst="ellipse">
            <a:avLst/>
          </a:prstGeom>
          <a:solidFill>
            <a:srgbClr val="138955"/>
          </a:solidFill>
          <a:ln>
            <a:noFill/>
          </a:ln>
        </p:spPr>
        <p:txBody>
          <a:bodyPr lIns="54864" tIns="27432" rIns="54864" bIns="27432" rtlCol="0" anchor="ctr"/>
          <a:lstStyle/>
          <a:p>
            <a:pPr algn="ctr"/>
            <a:endParaRPr/>
          </a:p>
        </p:txBody>
      </p:sp>
      <p:pic>
        <p:nvPicPr>
          <p:cNvPr id="25" name="Picture 24" descr="users_w.png"/>
          <p:cNvPicPr>
            <a:picLocks noChangeAspect="1"/>
          </p:cNvPicPr>
          <p:nvPr/>
        </p:nvPicPr>
        <p:blipFill>
          <a:blip r:embed="rId7"/>
          <a:stretch>
            <a:fillRect/>
          </a:stretch>
        </p:blipFill>
        <p:spPr>
          <a:xfrm>
            <a:off x="10710732" y="3868277"/>
            <a:ext cx="419892" cy="419892"/>
          </a:xfrm>
          <a:prstGeom prst="rect">
            <a:avLst/>
          </a:prstGeom>
        </p:spPr>
      </p:pic>
      <p:sp>
        <p:nvSpPr>
          <p:cNvPr id="26" name="TextBox 25"/>
          <p:cNvSpPr txBox="1"/>
          <p:nvPr/>
        </p:nvSpPr>
        <p:spPr>
          <a:xfrm>
            <a:off x="8122615" y="3666744"/>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العمل الجماعي</a:t>
            </a:r>
          </a:p>
        </p:txBody>
      </p:sp>
      <p:sp>
        <p:nvSpPr>
          <p:cNvPr id="27" name="TextBox 26"/>
          <p:cNvSpPr txBox="1"/>
          <p:nvPr/>
        </p:nvSpPr>
        <p:spPr>
          <a:xfrm>
            <a:off x="8150047" y="4434840"/>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نتعاون لنرتّب رحلة النيتروجين كاملة.</a:t>
            </a:r>
          </a:p>
        </p:txBody>
      </p:sp>
      <p:sp>
        <p:nvSpPr>
          <p:cNvPr id="28" name="Rounded Rectangle 27"/>
          <p:cNvSpPr/>
          <p:nvPr/>
        </p:nvSpPr>
        <p:spPr>
          <a:xfrm>
            <a:off x="8095183" y="3337560"/>
            <a:ext cx="1234440" cy="329184"/>
          </a:xfrm>
          <a:prstGeom prst="roundRect">
            <a:avLst>
              <a:gd name="adj" fmla="val 50000"/>
            </a:avLst>
          </a:prstGeom>
          <a:solidFill>
            <a:srgbClr val="C9A96A"/>
          </a:solidFill>
          <a:ln>
            <a:noFill/>
          </a:ln>
        </p:spPr>
        <p:txBody>
          <a:bodyPr wrap="square" lIns="18288" tIns="0" rIns="18288" bIns="0" rtlCol="0" anchor="ctr"/>
          <a:lstStyle/>
          <a:p>
            <a:pPr algn="ctr" rtl="1"/>
            <a:r>
              <a:rPr lang="ar-AE" altLang="en-US" sz="1150" b="1" i="0">
                <a:solidFill>
                  <a:srgbClr val="102A43"/>
                </a:solidFill>
                <a:latin typeface="Arial"/>
                <a:cs typeface="Arial"/>
              </a:rPr>
              <a:t>★ قيمة اليوم</a:t>
            </a:r>
          </a:p>
        </p:txBody>
      </p:sp>
      <p:sp>
        <p:nvSpPr>
          <p:cNvPr id="29" name="Rounded Rectangle 28"/>
          <p:cNvSpPr/>
          <p:nvPr/>
        </p:nvSpPr>
        <p:spPr>
          <a:xfrm>
            <a:off x="4208983"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0" name="Oval 29"/>
          <p:cNvSpPr/>
          <p:nvPr/>
        </p:nvSpPr>
        <p:spPr>
          <a:xfrm>
            <a:off x="6769303" y="3703320"/>
            <a:ext cx="749808" cy="749808"/>
          </a:xfrm>
          <a:prstGeom prst="ellipse">
            <a:avLst/>
          </a:prstGeom>
          <a:solidFill>
            <a:srgbClr val="5B3B91"/>
          </a:solidFill>
          <a:ln>
            <a:noFill/>
          </a:ln>
        </p:spPr>
        <p:txBody>
          <a:bodyPr lIns="54864" tIns="27432" rIns="54864" bIns="27432" rtlCol="0" anchor="ctr"/>
          <a:lstStyle/>
          <a:p>
            <a:pPr algn="ctr"/>
            <a:endParaRPr/>
          </a:p>
        </p:txBody>
      </p:sp>
      <p:pic>
        <p:nvPicPr>
          <p:cNvPr id="31" name="Picture 30" descr="brain_w.png"/>
          <p:cNvPicPr>
            <a:picLocks noChangeAspect="1"/>
          </p:cNvPicPr>
          <p:nvPr/>
        </p:nvPicPr>
        <p:blipFill>
          <a:blip r:embed="rId8"/>
          <a:stretch>
            <a:fillRect/>
          </a:stretch>
        </p:blipFill>
        <p:spPr>
          <a:xfrm>
            <a:off x="6934260" y="3868277"/>
            <a:ext cx="419892" cy="419892"/>
          </a:xfrm>
          <a:prstGeom prst="rect">
            <a:avLst/>
          </a:prstGeom>
        </p:spPr>
      </p:pic>
      <p:sp>
        <p:nvSpPr>
          <p:cNvPr id="32" name="TextBox 31"/>
          <p:cNvSpPr txBox="1"/>
          <p:nvPr/>
        </p:nvSpPr>
        <p:spPr>
          <a:xfrm>
            <a:off x="4346143" y="3666744"/>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التفكير النقدي</a:t>
            </a:r>
          </a:p>
        </p:txBody>
      </p:sp>
      <p:sp>
        <p:nvSpPr>
          <p:cNvPr id="33" name="TextBox 32"/>
          <p:cNvSpPr txBox="1"/>
          <p:nvPr/>
        </p:nvSpPr>
        <p:spPr>
          <a:xfrm>
            <a:off x="4373575" y="4434840"/>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نميّز بالدليل بين تثبيت النيتروجين وإزالته.</a:t>
            </a:r>
          </a:p>
        </p:txBody>
      </p:sp>
      <p:sp>
        <p:nvSpPr>
          <p:cNvPr id="34" name="Rounded Rectangle 33"/>
          <p:cNvSpPr/>
          <p:nvPr/>
        </p:nvSpPr>
        <p:spPr>
          <a:xfrm>
            <a:off x="432511"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5" name="Oval 34"/>
          <p:cNvSpPr/>
          <p:nvPr/>
        </p:nvSpPr>
        <p:spPr>
          <a:xfrm>
            <a:off x="2992831" y="3703320"/>
            <a:ext cx="749808" cy="749808"/>
          </a:xfrm>
          <a:prstGeom prst="ellipse">
            <a:avLst/>
          </a:prstGeom>
          <a:solidFill>
            <a:srgbClr val="996B2F"/>
          </a:solidFill>
          <a:ln>
            <a:noFill/>
          </a:ln>
        </p:spPr>
        <p:txBody>
          <a:bodyPr lIns="54864" tIns="27432" rIns="54864" bIns="27432" rtlCol="0" anchor="ctr"/>
          <a:lstStyle/>
          <a:p>
            <a:pPr algn="ctr"/>
            <a:endParaRPr/>
          </a:p>
        </p:txBody>
      </p:sp>
      <p:pic>
        <p:nvPicPr>
          <p:cNvPr id="36" name="Picture 35" descr="grad_w.png"/>
          <p:cNvPicPr>
            <a:picLocks noChangeAspect="1"/>
          </p:cNvPicPr>
          <p:nvPr/>
        </p:nvPicPr>
        <p:blipFill>
          <a:blip r:embed="rId9"/>
          <a:stretch>
            <a:fillRect/>
          </a:stretch>
        </p:blipFill>
        <p:spPr>
          <a:xfrm>
            <a:off x="3157788" y="3868277"/>
            <a:ext cx="419892" cy="419892"/>
          </a:xfrm>
          <a:prstGeom prst="rect">
            <a:avLst/>
          </a:prstGeom>
        </p:spPr>
      </p:pic>
      <p:sp>
        <p:nvSpPr>
          <p:cNvPr id="37" name="TextBox 36"/>
          <p:cNvSpPr txBox="1"/>
          <p:nvPr/>
        </p:nvSpPr>
        <p:spPr>
          <a:xfrm>
            <a:off x="569671" y="3666744"/>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التعلم المستمر</a:t>
            </a:r>
          </a:p>
        </p:txBody>
      </p:sp>
      <p:sp>
        <p:nvSpPr>
          <p:cNvPr id="38" name="TextBox 37"/>
          <p:cNvSpPr txBox="1"/>
          <p:nvPr/>
        </p:nvSpPr>
        <p:spPr>
          <a:xfrm>
            <a:off x="597103" y="4434840"/>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نتعرّف شجرة الغاف والزراعة الذكية في الإمارات.</a:t>
            </a:r>
          </a:p>
        </p:txBody>
      </p:sp>
      <p:pic>
        <p:nvPicPr>
          <p:cNvPr id="39" name="Picture 38" descr="group_chars_cream.png"/>
          <p:cNvPicPr>
            <a:picLocks noChangeAspect="1"/>
          </p:cNvPicPr>
          <p:nvPr/>
        </p:nvPicPr>
        <p:blipFill>
          <a:blip r:embed="rId10"/>
          <a:stretch>
            <a:fillRect/>
          </a:stretch>
        </p:blipFill>
        <p:spPr>
          <a:xfrm>
            <a:off x="274320" y="5440680"/>
            <a:ext cx="1207008" cy="109728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rules.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rame.pn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lIns="54864" tIns="27432" rIns="54864" bIns="27432" rtlCol="0" anchor="ctr"/>
          <a:lstStyle/>
          <a:p>
            <a:pPr algn="ctr"/>
            <a:endParaRPr/>
          </a:p>
        </p:txBody>
      </p:sp>
      <p:sp>
        <p:nvSpPr>
          <p:cNvPr id="4" name="Rectangle 3"/>
          <p:cNvSpPr/>
          <p:nvPr/>
        </p:nvSpPr>
        <p:spPr>
          <a:xfrm>
            <a:off x="7762875" y="1219200"/>
            <a:ext cx="3314700" cy="38100"/>
          </a:xfrm>
          <a:prstGeom prst="rect">
            <a:avLst/>
          </a:prstGeom>
          <a:solidFill>
            <a:srgbClr val="C8B08A"/>
          </a:solidFill>
          <a:ln>
            <a:noFill/>
          </a:ln>
        </p:spPr>
        <p:txBody>
          <a:bodyPr lIns="54864" tIns="27432" rIns="54864" bIns="27432" rtlCol="0" anchor="ctr"/>
          <a:lstStyle/>
          <a:p>
            <a:pPr algn="ctr"/>
            <a:endParaRPr/>
          </a:p>
        </p:txBody>
      </p:sp>
      <p:sp>
        <p:nvSpPr>
          <p:cNvPr id="5" name="TextBox 4"/>
          <p:cNvSpPr txBox="1"/>
          <p:nvPr/>
        </p:nvSpPr>
        <p:spPr>
          <a:xfrm>
            <a:off x="7286625" y="438150"/>
            <a:ext cx="4267200" cy="781050"/>
          </a:xfrm>
          <a:prstGeom prst="rect">
            <a:avLst/>
          </a:prstGeom>
          <a:noFill/>
        </p:spPr>
        <p:txBody>
          <a:bodyPr wrap="square" lIns="45720" tIns="0" rIns="45720" bIns="0" anchor="ctr"/>
          <a:lstStyle/>
          <a:p>
            <a:pPr algn="ctr" rtl="1"/>
            <a:r>
              <a:rPr lang="ar-AE" altLang="en-US" sz="2600" b="0" i="0">
                <a:solidFill>
                  <a:srgbClr val="FFFFFF"/>
                </a:solidFill>
                <a:latin typeface="Arial"/>
                <a:cs typeface="Arial"/>
              </a:rPr>
              <a:t>أوسمة أبطال الميثاق</a:t>
            </a:r>
          </a:p>
        </p:txBody>
      </p:sp>
      <p:sp>
        <p:nvSpPr>
          <p:cNvPr id="6" name="TextBox 5"/>
          <p:cNvSpPr txBox="1"/>
          <p:nvPr/>
        </p:nvSpPr>
        <p:spPr>
          <a:xfrm>
            <a:off x="548640" y="566928"/>
            <a:ext cx="6035040" cy="457200"/>
          </a:xfrm>
          <a:prstGeom prst="rect">
            <a:avLst/>
          </a:prstGeom>
          <a:noFill/>
        </p:spPr>
        <p:txBody>
          <a:bodyPr wrap="square" lIns="73152" tIns="36576" rIns="73152" bIns="36576" anchor="ctr"/>
          <a:lstStyle/>
          <a:p>
            <a:pPr algn="r" rtl="1"/>
            <a:r>
              <a:rPr lang="ar-AE" altLang="en-US" sz="1800" b="1" i="0">
                <a:solidFill>
                  <a:srgbClr val="5A687D"/>
                </a:solidFill>
                <a:latin typeface="Arial"/>
                <a:cs typeface="Arial"/>
              </a:rPr>
              <a:t>تتنافس المجموعات اليوم على خمسة أوسمة</a:t>
            </a:r>
          </a:p>
        </p:txBody>
      </p:sp>
      <p:sp>
        <p:nvSpPr>
          <p:cNvPr id="7" name="Rounded Rectangle 6"/>
          <p:cNvSpPr/>
          <p:nvPr/>
        </p:nvSpPr>
        <p:spPr>
          <a:xfrm>
            <a:off x="9579711"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8" name="Picture 7" descr="badge_hessa.png"/>
          <p:cNvPicPr>
            <a:picLocks noChangeAspect="1"/>
          </p:cNvPicPr>
          <p:nvPr/>
        </p:nvPicPr>
        <p:blipFill>
          <a:blip r:embed="rId4"/>
          <a:stretch>
            <a:fillRect/>
          </a:stretch>
        </p:blipFill>
        <p:spPr>
          <a:xfrm>
            <a:off x="9831171" y="1417320"/>
            <a:ext cx="1600200" cy="1660688"/>
          </a:xfrm>
          <a:prstGeom prst="rect">
            <a:avLst/>
          </a:prstGeom>
        </p:spPr>
      </p:pic>
      <p:sp>
        <p:nvSpPr>
          <p:cNvPr id="9" name="TextBox 8"/>
          <p:cNvSpPr txBox="1"/>
          <p:nvPr/>
        </p:nvSpPr>
        <p:spPr>
          <a:xfrm>
            <a:off x="9671151" y="3401568"/>
            <a:ext cx="1920239" cy="457200"/>
          </a:xfrm>
          <a:prstGeom prst="rect">
            <a:avLst/>
          </a:prstGeom>
          <a:noFill/>
        </p:spPr>
        <p:txBody>
          <a:bodyPr wrap="square" lIns="73152" tIns="36576" rIns="73152" bIns="36576" anchor="ctr"/>
          <a:lstStyle/>
          <a:p>
            <a:pPr algn="ctr" rtl="1"/>
            <a:r>
              <a:rPr lang="ar-AE" altLang="en-US" sz="1900" b="1" i="0">
                <a:solidFill>
                  <a:srgbClr val="7D1F2E"/>
                </a:solidFill>
                <a:latin typeface="Arial"/>
                <a:cs typeface="Arial"/>
              </a:rPr>
              <a:t>وسام حصة</a:t>
            </a:r>
          </a:p>
        </p:txBody>
      </p:sp>
      <p:sp>
        <p:nvSpPr>
          <p:cNvPr id="10" name="TextBox 9"/>
          <p:cNvSpPr txBox="1"/>
          <p:nvPr/>
        </p:nvSpPr>
        <p:spPr>
          <a:xfrm>
            <a:off x="9716871"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لأفضل تعاونٍ وعملٍ بروح الفريق</a:t>
            </a:r>
          </a:p>
        </p:txBody>
      </p:sp>
      <p:sp>
        <p:nvSpPr>
          <p:cNvPr id="11" name="Rounded Rectangle 10"/>
          <p:cNvSpPr/>
          <p:nvPr/>
        </p:nvSpPr>
        <p:spPr>
          <a:xfrm>
            <a:off x="7311999"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12" name="Picture 11" descr="badge_ahmed.png"/>
          <p:cNvPicPr>
            <a:picLocks noChangeAspect="1"/>
          </p:cNvPicPr>
          <p:nvPr/>
        </p:nvPicPr>
        <p:blipFill>
          <a:blip r:embed="rId5"/>
          <a:stretch>
            <a:fillRect/>
          </a:stretch>
        </p:blipFill>
        <p:spPr>
          <a:xfrm>
            <a:off x="7563459" y="1417320"/>
            <a:ext cx="1600200" cy="1693682"/>
          </a:xfrm>
          <a:prstGeom prst="rect">
            <a:avLst/>
          </a:prstGeom>
        </p:spPr>
      </p:pic>
      <p:sp>
        <p:nvSpPr>
          <p:cNvPr id="13" name="TextBox 12"/>
          <p:cNvSpPr txBox="1"/>
          <p:nvPr/>
        </p:nvSpPr>
        <p:spPr>
          <a:xfrm>
            <a:off x="7403439" y="3401568"/>
            <a:ext cx="1920239" cy="457200"/>
          </a:xfrm>
          <a:prstGeom prst="rect">
            <a:avLst/>
          </a:prstGeom>
          <a:noFill/>
        </p:spPr>
        <p:txBody>
          <a:bodyPr wrap="square" lIns="73152" tIns="36576" rIns="73152" bIns="36576" anchor="ctr"/>
          <a:lstStyle/>
          <a:p>
            <a:pPr algn="ctr" rtl="1"/>
            <a:r>
              <a:rPr lang="ar-AE" altLang="en-US" sz="1900" b="1" i="0">
                <a:solidFill>
                  <a:srgbClr val="1C2F5E"/>
                </a:solidFill>
                <a:latin typeface="Arial"/>
                <a:cs typeface="Arial"/>
              </a:rPr>
              <a:t>وسام أحمد</a:t>
            </a:r>
          </a:p>
        </p:txBody>
      </p:sp>
      <p:sp>
        <p:nvSpPr>
          <p:cNvPr id="14" name="TextBox 13"/>
          <p:cNvSpPr txBox="1"/>
          <p:nvPr/>
        </p:nvSpPr>
        <p:spPr>
          <a:xfrm>
            <a:off x="7449159"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للالتزام بالوقت والانضباط</a:t>
            </a:r>
          </a:p>
        </p:txBody>
      </p:sp>
      <p:sp>
        <p:nvSpPr>
          <p:cNvPr id="15" name="Rounded Rectangle 14"/>
          <p:cNvSpPr/>
          <p:nvPr/>
        </p:nvSpPr>
        <p:spPr>
          <a:xfrm>
            <a:off x="5044287"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16" name="Picture 15" descr="badge_fahem.png"/>
          <p:cNvPicPr>
            <a:picLocks noChangeAspect="1"/>
          </p:cNvPicPr>
          <p:nvPr/>
        </p:nvPicPr>
        <p:blipFill>
          <a:blip r:embed="rId6"/>
          <a:stretch>
            <a:fillRect/>
          </a:stretch>
        </p:blipFill>
        <p:spPr>
          <a:xfrm>
            <a:off x="5295747" y="1417320"/>
            <a:ext cx="1600200" cy="1765169"/>
          </a:xfrm>
          <a:prstGeom prst="rect">
            <a:avLst/>
          </a:prstGeom>
        </p:spPr>
      </p:pic>
      <p:sp>
        <p:nvSpPr>
          <p:cNvPr id="17" name="TextBox 16"/>
          <p:cNvSpPr txBox="1"/>
          <p:nvPr/>
        </p:nvSpPr>
        <p:spPr>
          <a:xfrm>
            <a:off x="5135727" y="3401568"/>
            <a:ext cx="1920239" cy="457200"/>
          </a:xfrm>
          <a:prstGeom prst="rect">
            <a:avLst/>
          </a:prstGeom>
          <a:noFill/>
        </p:spPr>
        <p:txBody>
          <a:bodyPr wrap="square" lIns="73152" tIns="36576" rIns="73152" bIns="36576" anchor="ctr"/>
          <a:lstStyle/>
          <a:p>
            <a:pPr algn="ctr" rtl="1"/>
            <a:r>
              <a:rPr lang="ar-AE" altLang="en-US" sz="1900" b="1" i="0">
                <a:solidFill>
                  <a:srgbClr val="1E6B3A"/>
                </a:solidFill>
                <a:latin typeface="Arial"/>
                <a:cs typeface="Arial"/>
              </a:rPr>
              <a:t>وسام فاهم</a:t>
            </a:r>
          </a:p>
        </p:txBody>
      </p:sp>
      <p:sp>
        <p:nvSpPr>
          <p:cNvPr id="18" name="TextBox 17"/>
          <p:cNvSpPr txBox="1"/>
          <p:nvPr/>
        </p:nvSpPr>
        <p:spPr>
          <a:xfrm>
            <a:off x="5181447"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للفكرة المبتكرة والسؤال الذكي</a:t>
            </a:r>
          </a:p>
        </p:txBody>
      </p:sp>
      <p:sp>
        <p:nvSpPr>
          <p:cNvPr id="19" name="Rounded Rectangle 18"/>
          <p:cNvSpPr/>
          <p:nvPr/>
        </p:nvSpPr>
        <p:spPr>
          <a:xfrm>
            <a:off x="2776575"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20" name="Picture 19" descr="badge_shaheen.png"/>
          <p:cNvPicPr>
            <a:picLocks noChangeAspect="1"/>
          </p:cNvPicPr>
          <p:nvPr/>
        </p:nvPicPr>
        <p:blipFill>
          <a:blip r:embed="rId7"/>
          <a:stretch>
            <a:fillRect/>
          </a:stretch>
        </p:blipFill>
        <p:spPr>
          <a:xfrm>
            <a:off x="3028035" y="1417320"/>
            <a:ext cx="1600200" cy="1655189"/>
          </a:xfrm>
          <a:prstGeom prst="rect">
            <a:avLst/>
          </a:prstGeom>
        </p:spPr>
      </p:pic>
      <p:sp>
        <p:nvSpPr>
          <p:cNvPr id="21" name="TextBox 20"/>
          <p:cNvSpPr txBox="1"/>
          <p:nvPr/>
        </p:nvSpPr>
        <p:spPr>
          <a:xfrm>
            <a:off x="2868015" y="3401568"/>
            <a:ext cx="1920239" cy="457200"/>
          </a:xfrm>
          <a:prstGeom prst="rect">
            <a:avLst/>
          </a:prstGeom>
          <a:noFill/>
        </p:spPr>
        <p:txBody>
          <a:bodyPr wrap="square" lIns="73152" tIns="36576" rIns="73152" bIns="36576" anchor="ctr"/>
          <a:lstStyle/>
          <a:p>
            <a:pPr algn="ctr" rtl="1"/>
            <a:r>
              <a:rPr lang="ar-AE" altLang="en-US" sz="1900" b="1" i="0">
                <a:solidFill>
                  <a:srgbClr val="6B3F1D"/>
                </a:solidFill>
                <a:latin typeface="Arial"/>
                <a:cs typeface="Arial"/>
              </a:rPr>
              <a:t>وسام شاهين</a:t>
            </a:r>
          </a:p>
        </p:txBody>
      </p:sp>
      <p:sp>
        <p:nvSpPr>
          <p:cNvPr id="22" name="TextBox 21"/>
          <p:cNvSpPr txBox="1"/>
          <p:nvPr/>
        </p:nvSpPr>
        <p:spPr>
          <a:xfrm>
            <a:off x="2913735"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لمن يتحدّى نفسه في سؤال التحدّي</a:t>
            </a:r>
          </a:p>
        </p:txBody>
      </p:sp>
      <p:sp>
        <p:nvSpPr>
          <p:cNvPr id="23" name="Rounded Rectangle 22"/>
          <p:cNvSpPr/>
          <p:nvPr/>
        </p:nvSpPr>
        <p:spPr>
          <a:xfrm>
            <a:off x="508863"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24" name="Picture 23" descr="badge_maha.png"/>
          <p:cNvPicPr>
            <a:picLocks noChangeAspect="1"/>
          </p:cNvPicPr>
          <p:nvPr/>
        </p:nvPicPr>
        <p:blipFill>
          <a:blip r:embed="rId8"/>
          <a:stretch>
            <a:fillRect/>
          </a:stretch>
        </p:blipFill>
        <p:spPr>
          <a:xfrm>
            <a:off x="760323" y="1417320"/>
            <a:ext cx="1600200" cy="1836655"/>
          </a:xfrm>
          <a:prstGeom prst="rect">
            <a:avLst/>
          </a:prstGeom>
        </p:spPr>
      </p:pic>
      <p:sp>
        <p:nvSpPr>
          <p:cNvPr id="25" name="TextBox 24"/>
          <p:cNvSpPr txBox="1"/>
          <p:nvPr/>
        </p:nvSpPr>
        <p:spPr>
          <a:xfrm>
            <a:off x="600303" y="3401568"/>
            <a:ext cx="1920239" cy="457200"/>
          </a:xfrm>
          <a:prstGeom prst="rect">
            <a:avLst/>
          </a:prstGeom>
          <a:noFill/>
        </p:spPr>
        <p:txBody>
          <a:bodyPr wrap="square" lIns="73152" tIns="36576" rIns="73152" bIns="36576" anchor="ctr"/>
          <a:lstStyle/>
          <a:p>
            <a:pPr algn="ctr" rtl="1"/>
            <a:r>
              <a:rPr lang="ar-AE" altLang="en-US" sz="1900" b="1" i="0">
                <a:solidFill>
                  <a:srgbClr val="0F7C73"/>
                </a:solidFill>
                <a:latin typeface="Arial"/>
                <a:cs typeface="Arial"/>
              </a:rPr>
              <a:t>وسام مها</a:t>
            </a:r>
          </a:p>
        </p:txBody>
      </p:sp>
      <p:sp>
        <p:nvSpPr>
          <p:cNvPr id="26" name="TextBox 25"/>
          <p:cNvSpPr txBox="1"/>
          <p:nvPr/>
        </p:nvSpPr>
        <p:spPr>
          <a:xfrm>
            <a:off x="646023"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لأفضل حلٍّ بيئي مستدام</a:t>
            </a:r>
          </a:p>
        </p:txBody>
      </p:sp>
      <p:sp>
        <p:nvSpPr>
          <p:cNvPr id="27" name="TextBox 26"/>
          <p:cNvSpPr txBox="1"/>
          <p:nvPr/>
        </p:nvSpPr>
        <p:spPr>
          <a:xfrm>
            <a:off x="2011680" y="5074920"/>
            <a:ext cx="8138160" cy="457200"/>
          </a:xfrm>
          <a:prstGeom prst="rect">
            <a:avLst/>
          </a:prstGeom>
          <a:noFill/>
        </p:spPr>
        <p:txBody>
          <a:bodyPr wrap="square" lIns="73152" tIns="36576" rIns="73152" bIns="36576" anchor="ctr"/>
          <a:lstStyle/>
          <a:p>
            <a:pPr algn="ctr" rtl="1"/>
            <a:r>
              <a:rPr lang="ar-AE" altLang="en-US" sz="1700" b="1" i="0">
                <a:solidFill>
                  <a:srgbClr val="102A43"/>
                </a:solidFill>
                <a:latin typeface="Arial"/>
                <a:cs typeface="Arial"/>
              </a:rPr>
              <a:t>في نهاية الحصة نعلن المجموعات الفائزة بالأوسمة ★</a:t>
            </a:r>
          </a:p>
        </p:txBody>
      </p:sp>
      <p:pic>
        <p:nvPicPr>
          <p:cNvPr id="28" name="Picture 27" descr="group_chars_cream.png"/>
          <p:cNvPicPr>
            <a:picLocks noChangeAspect="1"/>
          </p:cNvPicPr>
          <p:nvPr/>
        </p:nvPicPr>
        <p:blipFill>
          <a:blip r:embed="rId9"/>
          <a:stretch>
            <a:fillRect/>
          </a:stretch>
        </p:blipFill>
        <p:spPr>
          <a:xfrm>
            <a:off x="274320" y="5440680"/>
            <a:ext cx="1207008" cy="109728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219325" y="4748212"/>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625328" y="1344168"/>
            <a:ext cx="1234440"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قبلي</a:t>
            </a:r>
          </a:p>
        </p:txBody>
      </p:sp>
      <p:sp>
        <p:nvSpPr>
          <p:cNvPr id="21" name="TextBox 20"/>
          <p:cNvSpPr txBox="1"/>
          <p:nvPr/>
        </p:nvSpPr>
        <p:spPr>
          <a:xfrm>
            <a:off x="5602795" y="1280160"/>
            <a:ext cx="4912805"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ماذا تتذكّر من حصة الأمس؟</a:t>
            </a:r>
          </a:p>
        </p:txBody>
      </p:sp>
      <p:pic>
        <p:nvPicPr>
          <p:cNvPr id="22" name="Picture 21" descr="badge_ahmed.png"/>
          <p:cNvPicPr>
            <a:picLocks noChangeAspect="1"/>
          </p:cNvPicPr>
          <p:nvPr/>
        </p:nvPicPr>
        <p:blipFill>
          <a:blip r:embed="rId6"/>
          <a:stretch>
            <a:fillRect/>
          </a:stretch>
        </p:blipFill>
        <p:spPr>
          <a:xfrm>
            <a:off x="2560320" y="1210464"/>
            <a:ext cx="566928" cy="600047"/>
          </a:xfrm>
          <a:prstGeom prst="rect">
            <a:avLst/>
          </a:prstGeom>
        </p:spPr>
      </p:pic>
      <p:sp>
        <p:nvSpPr>
          <p:cNvPr id="23" name="Rounded Rectangular Callout 22"/>
          <p:cNvSpPr/>
          <p:nvPr/>
        </p:nvSpPr>
        <p:spPr>
          <a:xfrm>
            <a:off x="3209544" y="1307592"/>
            <a:ext cx="2265235" cy="420624"/>
          </a:xfrm>
          <a:prstGeom prst="wedgeRoundRectCallout">
            <a:avLst>
              <a:gd name="adj1" fmla="val -54843"/>
              <a:gd name="adj2" fmla="val 18000"/>
              <a:gd name="adj3" fmla="val 16667"/>
            </a:avLst>
          </a:prstGeom>
          <a:solidFill>
            <a:srgbClr val="FFFFFF"/>
          </a:solidFill>
          <a:ln w="19050">
            <a:solidFill>
              <a:srgbClr val="1C2F5E"/>
            </a:solidFill>
          </a:ln>
        </p:spPr>
        <p:txBody>
          <a:bodyPr lIns="54864" tIns="27432" rIns="54864" bIns="27432" rtlCol="0" anchor="ctr"/>
          <a:lstStyle/>
          <a:p>
            <a:pPr algn="ctr"/>
            <a:endParaRPr/>
          </a:p>
        </p:txBody>
      </p:sp>
      <p:sp>
        <p:nvSpPr>
          <p:cNvPr id="24" name="TextBox 23"/>
          <p:cNvSpPr txBox="1"/>
          <p:nvPr/>
        </p:nvSpPr>
        <p:spPr>
          <a:xfrm>
            <a:off x="3246120" y="1307592"/>
            <a:ext cx="2192083" cy="420624"/>
          </a:xfrm>
          <a:prstGeom prst="rect">
            <a:avLst/>
          </a:prstGeom>
          <a:noFill/>
        </p:spPr>
        <p:txBody>
          <a:bodyPr wrap="square" lIns="36576" tIns="0" rIns="36576" bIns="0" anchor="ctr"/>
          <a:lstStyle/>
          <a:p>
            <a:pPr algn="r" rtl="1"/>
            <a:r>
              <a:rPr lang="ar-AE" altLang="en-US" sz="1150" b="1" i="0">
                <a:solidFill>
                  <a:srgbClr val="1C2F5E"/>
                </a:solidFill>
                <a:latin typeface="Arial"/>
                <a:cs typeface="Arial"/>
              </a:rPr>
              <a:t>أحمد: </a:t>
            </a:r>
            <a:r>
              <a:rPr lang="ar-AE" altLang="en-US" sz="1150" b="1" i="0">
                <a:solidFill>
                  <a:srgbClr val="102A43"/>
                </a:solidFill>
                <a:latin typeface="Arial"/>
                <a:cs typeface="Arial"/>
              </a:rPr>
              <a:t>تذكّروا رحلة الكربون!</a:t>
            </a:r>
          </a:p>
        </p:txBody>
      </p:sp>
      <p:sp>
        <p:nvSpPr>
          <p:cNvPr id="25" name="Rounded Rectangle 24"/>
          <p:cNvSpPr/>
          <p:nvPr/>
        </p:nvSpPr>
        <p:spPr>
          <a:xfrm>
            <a:off x="4160520" y="1965960"/>
            <a:ext cx="7680960" cy="786384"/>
          </a:xfrm>
          <a:prstGeom prst="roundRect">
            <a:avLst>
              <a:gd name="adj" fmla="val 13953"/>
            </a:avLst>
          </a:prstGeom>
          <a:solidFill>
            <a:srgbClr val="FFFFFF"/>
          </a:solidFill>
          <a:ln w="12700">
            <a:solidFill>
              <a:srgbClr val="D5DDE8"/>
            </a:solidFill>
          </a:ln>
        </p:spPr>
        <p:txBody>
          <a:bodyPr lIns="54864" tIns="27432" rIns="54864" bIns="27432" rtlCol="0" anchor="ctr"/>
          <a:lstStyle/>
          <a:p>
            <a:pPr algn="ctr"/>
            <a:endParaRPr/>
          </a:p>
        </p:txBody>
      </p:sp>
      <p:sp>
        <p:nvSpPr>
          <p:cNvPr id="26" name="Oval 25"/>
          <p:cNvSpPr/>
          <p:nvPr/>
        </p:nvSpPr>
        <p:spPr>
          <a:xfrm>
            <a:off x="11365992" y="2176272"/>
            <a:ext cx="365760" cy="365760"/>
          </a:xfrm>
          <a:prstGeom prst="ellipse">
            <a:avLst/>
          </a:prstGeom>
          <a:solidFill>
            <a:srgbClr val="5B3B91"/>
          </a:solidFill>
          <a:ln>
            <a:noFill/>
          </a:ln>
        </p:spPr>
        <p:txBody>
          <a:bodyPr wrap="square" lIns="0" tIns="0" rIns="0" bIns="0" rtlCol="0" anchor="ctr"/>
          <a:lstStyle/>
          <a:p>
            <a:pPr algn="ctr" rtl="1"/>
            <a:r>
              <a:rPr lang="ar-AE" altLang="en-US" sz="1400" b="1" i="0">
                <a:solidFill>
                  <a:srgbClr val="FFFFFF"/>
                </a:solidFill>
                <a:latin typeface="Arial"/>
                <a:cs typeface="Arial"/>
              </a:rPr>
              <a:t>1</a:t>
            </a:r>
          </a:p>
        </p:txBody>
      </p:sp>
      <p:sp>
        <p:nvSpPr>
          <p:cNvPr id="27" name="TextBox 26"/>
          <p:cNvSpPr txBox="1"/>
          <p:nvPr/>
        </p:nvSpPr>
        <p:spPr>
          <a:xfrm>
            <a:off x="5577840" y="1965960"/>
            <a:ext cx="5715000" cy="786384"/>
          </a:xfrm>
          <a:prstGeom prst="rect">
            <a:avLst/>
          </a:prstGeom>
          <a:noFill/>
        </p:spPr>
        <p:txBody>
          <a:bodyPr wrap="square" lIns="36576" tIns="0" rIns="36576" bIns="0" anchor="ctr"/>
          <a:lstStyle/>
          <a:p>
            <a:pPr algn="r" rtl="1"/>
            <a:r>
              <a:rPr lang="ar-AE" altLang="en-US" sz="1500" b="1" i="0">
                <a:solidFill>
                  <a:srgbClr val="102A43"/>
                </a:solidFill>
                <a:latin typeface="Arial"/>
                <a:cs typeface="Arial"/>
              </a:rPr>
              <a:t>تمتص النباتات ثاني أكسيد الكربون في عملية البناء الضوئي.</a:t>
            </a:r>
          </a:p>
        </p:txBody>
      </p:sp>
      <p:sp>
        <p:nvSpPr>
          <p:cNvPr id="28" name="Rounded Rectangle 27"/>
          <p:cNvSpPr/>
          <p:nvPr/>
        </p:nvSpPr>
        <p:spPr>
          <a:xfrm>
            <a:off x="4251959" y="2176272"/>
            <a:ext cx="1234440" cy="365760"/>
          </a:xfrm>
          <a:prstGeom prst="roundRect">
            <a:avLst>
              <a:gd name="adj" fmla="val 50000"/>
            </a:avLst>
          </a:prstGeom>
          <a:solidFill>
            <a:srgbClr val="2E9E5B"/>
          </a:solidFill>
          <a:ln>
            <a:noFill/>
          </a:ln>
        </p:spPr>
        <p:txBody>
          <a:bodyPr wrap="square" lIns="0" tIns="0" rIns="0" bIns="0" rtlCol="0" anchor="ctr"/>
          <a:lstStyle/>
          <a:p>
            <a:pPr algn="ctr" rtl="1"/>
            <a:r>
              <a:rPr lang="ar-AE" altLang="en-US" sz="1400" b="1" i="0">
                <a:solidFill>
                  <a:srgbClr val="FFFFFF"/>
                </a:solidFill>
                <a:latin typeface="Arial"/>
                <a:cs typeface="Arial"/>
              </a:rPr>
              <a:t>صح</a:t>
            </a:r>
          </a:p>
        </p:txBody>
      </p:sp>
      <p:sp>
        <p:nvSpPr>
          <p:cNvPr id="29" name="Rounded Rectangle 28"/>
          <p:cNvSpPr/>
          <p:nvPr/>
        </p:nvSpPr>
        <p:spPr>
          <a:xfrm>
            <a:off x="4160520" y="2898648"/>
            <a:ext cx="7680960" cy="786384"/>
          </a:xfrm>
          <a:prstGeom prst="roundRect">
            <a:avLst>
              <a:gd name="adj" fmla="val 13953"/>
            </a:avLst>
          </a:prstGeom>
          <a:solidFill>
            <a:srgbClr val="FFFFFF"/>
          </a:solidFill>
          <a:ln w="12700">
            <a:solidFill>
              <a:srgbClr val="D5DDE8"/>
            </a:solidFill>
          </a:ln>
        </p:spPr>
        <p:txBody>
          <a:bodyPr lIns="54864" tIns="27432" rIns="54864" bIns="27432" rtlCol="0" anchor="ctr"/>
          <a:lstStyle/>
          <a:p>
            <a:pPr algn="ctr"/>
            <a:endParaRPr/>
          </a:p>
        </p:txBody>
      </p:sp>
      <p:sp>
        <p:nvSpPr>
          <p:cNvPr id="30" name="Oval 29"/>
          <p:cNvSpPr/>
          <p:nvPr/>
        </p:nvSpPr>
        <p:spPr>
          <a:xfrm>
            <a:off x="11365992" y="3108960"/>
            <a:ext cx="365760" cy="365760"/>
          </a:xfrm>
          <a:prstGeom prst="ellipse">
            <a:avLst/>
          </a:prstGeom>
          <a:solidFill>
            <a:srgbClr val="5B3B91"/>
          </a:solidFill>
          <a:ln>
            <a:noFill/>
          </a:ln>
        </p:spPr>
        <p:txBody>
          <a:bodyPr wrap="square" lIns="0" tIns="0" rIns="0" bIns="0" rtlCol="0" anchor="ctr"/>
          <a:lstStyle/>
          <a:p>
            <a:pPr algn="ctr" rtl="1"/>
            <a:r>
              <a:rPr lang="ar-AE" altLang="en-US" sz="1400" b="1" i="0">
                <a:solidFill>
                  <a:srgbClr val="FFFFFF"/>
                </a:solidFill>
                <a:latin typeface="Arial"/>
                <a:cs typeface="Arial"/>
              </a:rPr>
              <a:t>2</a:t>
            </a:r>
          </a:p>
        </p:txBody>
      </p:sp>
      <p:sp>
        <p:nvSpPr>
          <p:cNvPr id="31" name="TextBox 30"/>
          <p:cNvSpPr txBox="1"/>
          <p:nvPr/>
        </p:nvSpPr>
        <p:spPr>
          <a:xfrm>
            <a:off x="5577840" y="2898648"/>
            <a:ext cx="5715000" cy="786384"/>
          </a:xfrm>
          <a:prstGeom prst="rect">
            <a:avLst/>
          </a:prstGeom>
          <a:noFill/>
        </p:spPr>
        <p:txBody>
          <a:bodyPr wrap="square" lIns="36576" tIns="0" rIns="36576" bIns="0" anchor="ctr"/>
          <a:lstStyle/>
          <a:p>
            <a:pPr algn="r" rtl="1"/>
            <a:r>
              <a:rPr lang="ar-AE" altLang="en-US" sz="1500" b="1" i="0">
                <a:solidFill>
                  <a:srgbClr val="102A43"/>
                </a:solidFill>
                <a:latin typeface="Arial"/>
                <a:cs typeface="Arial"/>
              </a:rPr>
              <a:t>الحجر الجيري مخزن قصير المدى للكربون.</a:t>
            </a:r>
          </a:p>
        </p:txBody>
      </p:sp>
      <p:sp>
        <p:nvSpPr>
          <p:cNvPr id="32" name="Rounded Rectangle 31"/>
          <p:cNvSpPr/>
          <p:nvPr/>
        </p:nvSpPr>
        <p:spPr>
          <a:xfrm>
            <a:off x="4251959" y="3108960"/>
            <a:ext cx="1234440" cy="365760"/>
          </a:xfrm>
          <a:prstGeom prst="roundRect">
            <a:avLst>
              <a:gd name="adj" fmla="val 50000"/>
            </a:avLst>
          </a:prstGeom>
          <a:solidFill>
            <a:srgbClr val="C8102E"/>
          </a:solidFill>
          <a:ln>
            <a:noFill/>
          </a:ln>
        </p:spPr>
        <p:txBody>
          <a:bodyPr wrap="square" lIns="0" tIns="0" rIns="0" bIns="0" rtlCol="0" anchor="ctr"/>
          <a:lstStyle/>
          <a:p>
            <a:pPr algn="ctr" rtl="1"/>
            <a:r>
              <a:rPr lang="ar-AE" altLang="en-US" sz="1400" b="1" i="0">
                <a:solidFill>
                  <a:srgbClr val="FFFFFF"/>
                </a:solidFill>
                <a:latin typeface="Arial"/>
                <a:cs typeface="Arial"/>
              </a:rPr>
              <a:t>خطأ</a:t>
            </a:r>
          </a:p>
        </p:txBody>
      </p:sp>
      <p:sp>
        <p:nvSpPr>
          <p:cNvPr id="33" name="Rounded Rectangle 32"/>
          <p:cNvSpPr/>
          <p:nvPr/>
        </p:nvSpPr>
        <p:spPr>
          <a:xfrm>
            <a:off x="4160520" y="3831335"/>
            <a:ext cx="7680960" cy="786384"/>
          </a:xfrm>
          <a:prstGeom prst="roundRect">
            <a:avLst>
              <a:gd name="adj" fmla="val 13953"/>
            </a:avLst>
          </a:prstGeom>
          <a:solidFill>
            <a:srgbClr val="FFFFFF"/>
          </a:solidFill>
          <a:ln w="12700">
            <a:solidFill>
              <a:srgbClr val="D5DDE8"/>
            </a:solidFill>
          </a:ln>
        </p:spPr>
        <p:txBody>
          <a:bodyPr lIns="54864" tIns="27432" rIns="54864" bIns="27432" rtlCol="0" anchor="ctr"/>
          <a:lstStyle/>
          <a:p>
            <a:pPr algn="ctr"/>
            <a:endParaRPr/>
          </a:p>
        </p:txBody>
      </p:sp>
      <p:sp>
        <p:nvSpPr>
          <p:cNvPr id="34" name="Oval 33"/>
          <p:cNvSpPr/>
          <p:nvPr/>
        </p:nvSpPr>
        <p:spPr>
          <a:xfrm>
            <a:off x="11365992" y="4041648"/>
            <a:ext cx="365760" cy="365760"/>
          </a:xfrm>
          <a:prstGeom prst="ellipse">
            <a:avLst/>
          </a:prstGeom>
          <a:solidFill>
            <a:srgbClr val="5B3B91"/>
          </a:solidFill>
          <a:ln>
            <a:noFill/>
          </a:ln>
        </p:spPr>
        <p:txBody>
          <a:bodyPr wrap="square" lIns="0" tIns="0" rIns="0" bIns="0" rtlCol="0" anchor="ctr"/>
          <a:lstStyle/>
          <a:p>
            <a:pPr algn="ctr" rtl="1"/>
            <a:r>
              <a:rPr lang="ar-AE" altLang="en-US" sz="1400" b="1" i="0">
                <a:solidFill>
                  <a:srgbClr val="FFFFFF"/>
                </a:solidFill>
                <a:latin typeface="Arial"/>
                <a:cs typeface="Arial"/>
              </a:rPr>
              <a:t>3</a:t>
            </a:r>
          </a:p>
        </p:txBody>
      </p:sp>
      <p:sp>
        <p:nvSpPr>
          <p:cNvPr id="35" name="TextBox 34"/>
          <p:cNvSpPr txBox="1"/>
          <p:nvPr/>
        </p:nvSpPr>
        <p:spPr>
          <a:xfrm>
            <a:off x="5577840" y="3831335"/>
            <a:ext cx="5715000" cy="786384"/>
          </a:xfrm>
          <a:prstGeom prst="rect">
            <a:avLst/>
          </a:prstGeom>
          <a:noFill/>
        </p:spPr>
        <p:txBody>
          <a:bodyPr wrap="square" lIns="36576" tIns="0" rIns="36576" bIns="0" anchor="ctr"/>
          <a:lstStyle/>
          <a:p>
            <a:pPr algn="r" rtl="1"/>
            <a:r>
              <a:rPr lang="ar-AE" altLang="en-US" sz="1500" b="1" i="0">
                <a:solidFill>
                  <a:srgbClr val="102A43"/>
                </a:solidFill>
                <a:latin typeface="Arial"/>
                <a:cs typeface="Arial"/>
              </a:rPr>
              <a:t>حرق الوقود الأحفوري يزيد تركيز ثاني أكسيد الكربون في الغلاف الجوي.</a:t>
            </a:r>
          </a:p>
        </p:txBody>
      </p:sp>
      <p:sp>
        <p:nvSpPr>
          <p:cNvPr id="36" name="Rounded Rectangle 35"/>
          <p:cNvSpPr/>
          <p:nvPr/>
        </p:nvSpPr>
        <p:spPr>
          <a:xfrm>
            <a:off x="4251959" y="4041648"/>
            <a:ext cx="1234440" cy="365760"/>
          </a:xfrm>
          <a:prstGeom prst="roundRect">
            <a:avLst>
              <a:gd name="adj" fmla="val 50000"/>
            </a:avLst>
          </a:prstGeom>
          <a:solidFill>
            <a:srgbClr val="2E9E5B"/>
          </a:solidFill>
          <a:ln>
            <a:noFill/>
          </a:ln>
        </p:spPr>
        <p:txBody>
          <a:bodyPr wrap="square" lIns="0" tIns="0" rIns="0" bIns="0" rtlCol="0" anchor="ctr"/>
          <a:lstStyle/>
          <a:p>
            <a:pPr algn="ctr" rtl="1"/>
            <a:r>
              <a:rPr lang="ar-AE" altLang="en-US" sz="1400" b="1" i="0">
                <a:solidFill>
                  <a:srgbClr val="FFFFFF"/>
                </a:solidFill>
                <a:latin typeface="Arial"/>
                <a:cs typeface="Arial"/>
              </a:rPr>
              <a:t>صح</a:t>
            </a:r>
          </a:p>
        </p:txBody>
      </p:sp>
      <p:pic>
        <p:nvPicPr>
          <p:cNvPr id="37" name="مؤقت 1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697480" y="2011680"/>
            <a:ext cx="1298448" cy="1298448"/>
          </a:xfrm>
          <a:prstGeom prst="rect">
            <a:avLst/>
          </a:prstGeom>
        </p:spPr>
      </p:pic>
      <p:sp>
        <p:nvSpPr>
          <p:cNvPr id="38" name="Oval 37"/>
          <p:cNvSpPr/>
          <p:nvPr/>
        </p:nvSpPr>
        <p:spPr>
          <a:xfrm>
            <a:off x="2971800" y="3977639"/>
            <a:ext cx="777240" cy="777240"/>
          </a:xfrm>
          <a:prstGeom prst="ellipse">
            <a:avLst/>
          </a:prstGeom>
          <a:solidFill>
            <a:srgbClr val="5B3B91"/>
          </a:solidFill>
          <a:ln>
            <a:noFill/>
          </a:ln>
        </p:spPr>
        <p:txBody>
          <a:bodyPr lIns="54864" tIns="27432" rIns="54864" bIns="27432" rtlCol="0" anchor="ctr"/>
          <a:lstStyle/>
          <a:p>
            <a:pPr algn="ctr"/>
            <a:endParaRPr/>
          </a:p>
        </p:txBody>
      </p:sp>
      <p:pic>
        <p:nvPicPr>
          <p:cNvPr id="39" name="Picture 38" descr="q_w.png"/>
          <p:cNvPicPr>
            <a:picLocks noChangeAspect="1"/>
          </p:cNvPicPr>
          <p:nvPr/>
        </p:nvPicPr>
        <p:blipFill>
          <a:blip r:embed="rId8"/>
          <a:stretch>
            <a:fillRect/>
          </a:stretch>
        </p:blipFill>
        <p:spPr>
          <a:xfrm>
            <a:off x="3142792" y="4148632"/>
            <a:ext cx="435254" cy="435254"/>
          </a:xfrm>
          <a:prstGeom prst="rect">
            <a:avLst/>
          </a:prstGeom>
        </p:spPr>
      </p:pic>
      <p:sp>
        <p:nvSpPr>
          <p:cNvPr id="40" name="TextBox 39"/>
          <p:cNvSpPr txBox="1"/>
          <p:nvPr/>
        </p:nvSpPr>
        <p:spPr>
          <a:xfrm>
            <a:off x="2651760" y="4800600"/>
            <a:ext cx="1417320" cy="640080"/>
          </a:xfrm>
          <a:prstGeom prst="rect">
            <a:avLst/>
          </a:prstGeom>
          <a:noFill/>
        </p:spPr>
        <p:txBody>
          <a:bodyPr wrap="square" lIns="73152" tIns="36576" rIns="73152" bIns="36576" anchor="ctr"/>
          <a:lstStyle/>
          <a:p>
            <a:pPr algn="ctr" rtl="1"/>
            <a:r>
              <a:rPr lang="ar-AE" altLang="en-US" sz="1500" b="1" i="0">
                <a:solidFill>
                  <a:srgbClr val="5B3B91"/>
                </a:solidFill>
                <a:latin typeface="Arial"/>
                <a:cs typeface="Arial"/>
              </a:rPr>
              <a:t>صح أم خطأ؟</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7"/>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7"/>
                                        </p:tgtEl>
                                      </p:cBhvr>
                                    </p:cmd>
                                  </p:childTnLst>
                                </p:cTn>
                              </p:par>
                            </p:childTnLst>
                          </p:cTn>
                        </p:par>
                      </p:childTnLst>
                    </p:cTn>
                  </p:par>
                </p:childTnLst>
              </p:cTn>
              <p:nextCondLst>
                <p:cond evt="onNext" delay="0">
                  <p:tgtEl>
                    <p:sldTgt/>
                  </p:tgtEl>
                </p:cond>
              </p:nextCondLst>
            </p:seq>
            <p:video>
              <p:cMediaNode vol="80000">
                <p:cTn id="25" fill="hold" display="0">
                  <p:stCondLst>
                    <p:cond delay="indefinite"/>
                  </p:stCondLst>
                </p:cTn>
                <p:tgtEl>
                  <p:spTgt spid="37"/>
                </p:tgtEl>
              </p:cMediaNode>
            </p:video>
          </p:childTnLst>
        </p:cTn>
      </p:par>
    </p:tnLst>
    <p:bldLst>
      <p:bldP spid="28" grpId="0" animBg="1"/>
      <p:bldP spid="32"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7"/>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145268" y="1344168"/>
            <a:ext cx="1714500"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التهيئة الحافزة</a:t>
            </a:r>
          </a:p>
        </p:txBody>
      </p:sp>
      <p:sp>
        <p:nvSpPr>
          <p:cNvPr id="21" name="TextBox 20"/>
          <p:cNvSpPr txBox="1"/>
          <p:nvPr/>
        </p:nvSpPr>
        <p:spPr>
          <a:xfrm>
            <a:off x="5542851" y="1280160"/>
            <a:ext cx="4492689" cy="502920"/>
          </a:xfrm>
          <a:prstGeom prst="rect">
            <a:avLst/>
          </a:prstGeom>
          <a:noFill/>
        </p:spPr>
        <p:txBody>
          <a:bodyPr wrap="square" lIns="18288" tIns="0" rIns="18288" bIns="0" anchor="ctr"/>
          <a:lstStyle/>
          <a:p>
            <a:pPr algn="r" rtl="1"/>
            <a:r>
              <a:rPr lang="ar-AE" altLang="en-US" sz="1900" b="1" i="0">
                <a:solidFill>
                  <a:srgbClr val="102A43"/>
                </a:solidFill>
                <a:latin typeface="Arial"/>
                <a:cs typeface="Arial"/>
              </a:rPr>
              <a:t>لغز: بحرٌ من النيتروجين… ونباتات جائعة!</a:t>
            </a:r>
          </a:p>
        </p:txBody>
      </p:sp>
      <p:pic>
        <p:nvPicPr>
          <p:cNvPr id="22" name="Picture 21" descr="badge_fahem.png"/>
          <p:cNvPicPr>
            <a:picLocks noChangeAspect="1"/>
          </p:cNvPicPr>
          <p:nvPr/>
        </p:nvPicPr>
        <p:blipFill>
          <a:blip r:embed="rId8"/>
          <a:stretch>
            <a:fillRect/>
          </a:stretch>
        </p:blipFill>
        <p:spPr>
          <a:xfrm>
            <a:off x="2560320" y="1185137"/>
            <a:ext cx="566928" cy="625374"/>
          </a:xfrm>
          <a:prstGeom prst="rect">
            <a:avLst/>
          </a:prstGeom>
        </p:spPr>
      </p:pic>
      <p:sp>
        <p:nvSpPr>
          <p:cNvPr id="23" name="Rounded Rectangular Callout 22"/>
          <p:cNvSpPr/>
          <p:nvPr/>
        </p:nvSpPr>
        <p:spPr>
          <a:xfrm>
            <a:off x="3209544" y="1307592"/>
            <a:ext cx="2205291" cy="420624"/>
          </a:xfrm>
          <a:prstGeom prst="wedgeRoundRectCallout">
            <a:avLst>
              <a:gd name="adj1" fmla="val -54975"/>
              <a:gd name="adj2" fmla="val 18000"/>
              <a:gd name="adj3" fmla="val 16667"/>
            </a:avLst>
          </a:prstGeom>
          <a:solidFill>
            <a:srgbClr val="FFFFFF"/>
          </a:solidFill>
          <a:ln w="19050">
            <a:solidFill>
              <a:srgbClr val="1E6B3A"/>
            </a:solidFill>
          </a:ln>
        </p:spPr>
        <p:txBody>
          <a:bodyPr lIns="54864" tIns="27432" rIns="54864" bIns="27432" rtlCol="0" anchor="ctr"/>
          <a:lstStyle/>
          <a:p>
            <a:pPr algn="ctr"/>
            <a:endParaRPr/>
          </a:p>
        </p:txBody>
      </p:sp>
      <p:sp>
        <p:nvSpPr>
          <p:cNvPr id="24" name="TextBox 23"/>
          <p:cNvSpPr txBox="1"/>
          <p:nvPr/>
        </p:nvSpPr>
        <p:spPr>
          <a:xfrm>
            <a:off x="3246120" y="1307592"/>
            <a:ext cx="2132139" cy="420624"/>
          </a:xfrm>
          <a:prstGeom prst="rect">
            <a:avLst/>
          </a:prstGeom>
          <a:noFill/>
        </p:spPr>
        <p:txBody>
          <a:bodyPr wrap="square" lIns="36576" tIns="0" rIns="36576" bIns="0" anchor="ctr"/>
          <a:lstStyle/>
          <a:p>
            <a:pPr algn="r" rtl="1"/>
            <a:r>
              <a:rPr lang="ar-AE" altLang="en-US" sz="1150" b="1" i="0">
                <a:solidFill>
                  <a:srgbClr val="1E6B3A"/>
                </a:solidFill>
                <a:latin typeface="Arial"/>
                <a:cs typeface="Arial"/>
              </a:rPr>
              <a:t>فاهم: </a:t>
            </a:r>
            <a:r>
              <a:rPr lang="ar-AE" altLang="en-US" sz="1150" b="1" i="0">
                <a:solidFill>
                  <a:srgbClr val="102A43"/>
                </a:solidFill>
                <a:latin typeface="Arial"/>
                <a:cs typeface="Arial"/>
              </a:rPr>
              <a:t>لغز يحتاج إلى عالِم!</a:t>
            </a:r>
          </a:p>
        </p:txBody>
      </p:sp>
      <p:pic>
        <p:nvPicPr>
          <p:cNvPr id="25" name="nitrogen_intr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7818120" y="1901952"/>
            <a:ext cx="4023360" cy="3017520"/>
          </a:xfrm>
          <a:prstGeom prst="rect">
            <a:avLst/>
          </a:prstGeom>
          <a:ln w="28575">
            <a:solidFill>
              <a:srgbClr val="C9A96A"/>
            </a:solidFill>
          </a:ln>
        </p:spPr>
      </p:pic>
      <p:graphicFrame>
        <p:nvGraphicFramePr>
          <p:cNvPr id="26" name="Chart 25"/>
          <p:cNvGraphicFramePr>
            <a:graphicFrameLocks noGrp="1"/>
          </p:cNvGraphicFramePr>
          <p:nvPr/>
        </p:nvGraphicFramePr>
        <p:xfrm>
          <a:off x="4114800" y="1828800"/>
          <a:ext cx="3566160" cy="2697480"/>
        </p:xfrm>
        <a:graphic>
          <a:graphicData uri="http://schemas.openxmlformats.org/drawingml/2006/chart">
            <c:chart xmlns:c="http://schemas.openxmlformats.org/drawingml/2006/chart" xmlns:r="http://schemas.openxmlformats.org/officeDocument/2006/relationships" r:id="rId10"/>
          </a:graphicData>
        </a:graphic>
      </p:graphicFrame>
      <p:sp>
        <p:nvSpPr>
          <p:cNvPr id="27" name="Rounded Rectangle 26"/>
          <p:cNvSpPr/>
          <p:nvPr/>
        </p:nvSpPr>
        <p:spPr>
          <a:xfrm>
            <a:off x="7072026" y="4054125"/>
            <a:ext cx="155448" cy="155448"/>
          </a:xfrm>
          <a:prstGeom prst="roundRect">
            <a:avLst>
              <a:gd name="adj" fmla="val 50000"/>
            </a:avLst>
          </a:prstGeom>
          <a:solidFill>
            <a:srgbClr val="5B3B91"/>
          </a:solidFill>
          <a:ln>
            <a:noFill/>
          </a:ln>
        </p:spPr>
        <p:txBody>
          <a:bodyPr lIns="54864" tIns="27432" rIns="54864" bIns="27432" rtlCol="0" anchor="ctr"/>
          <a:lstStyle/>
          <a:p>
            <a:pPr algn="ctr"/>
            <a:endParaRPr/>
          </a:p>
        </p:txBody>
      </p:sp>
      <p:sp>
        <p:nvSpPr>
          <p:cNvPr id="28" name="TextBox 27"/>
          <p:cNvSpPr txBox="1"/>
          <p:nvPr/>
        </p:nvSpPr>
        <p:spPr>
          <a:xfrm>
            <a:off x="5999702" y="4018661"/>
            <a:ext cx="1008316" cy="226377"/>
          </a:xfrm>
          <a:prstGeom prst="rect">
            <a:avLst/>
          </a:prstGeom>
          <a:noFill/>
        </p:spPr>
        <p:txBody>
          <a:bodyPr wrap="none" lIns="0" tIns="0" rIns="0" bIns="0" anchor="ctr"/>
          <a:lstStyle/>
          <a:p>
            <a:pPr algn="r" rtl="1"/>
            <a:r>
              <a:rPr lang="ar-AE" altLang="en-US" sz="1150" b="1" i="0">
                <a:solidFill>
                  <a:srgbClr val="102A43"/>
                </a:solidFill>
                <a:latin typeface="Arial"/>
                <a:cs typeface="Arial"/>
              </a:rPr>
              <a:t>نيتروجين ‎78%</a:t>
            </a:r>
          </a:p>
        </p:txBody>
      </p:sp>
      <p:sp>
        <p:nvSpPr>
          <p:cNvPr id="29" name="Rounded Rectangle 28"/>
          <p:cNvSpPr/>
          <p:nvPr/>
        </p:nvSpPr>
        <p:spPr>
          <a:xfrm>
            <a:off x="5588222" y="4054125"/>
            <a:ext cx="155448" cy="155448"/>
          </a:xfrm>
          <a:prstGeom prst="roundRect">
            <a:avLst>
              <a:gd name="adj" fmla="val 50000"/>
            </a:avLst>
          </a:prstGeom>
          <a:solidFill>
            <a:srgbClr val="1E88C8"/>
          </a:solidFill>
          <a:ln>
            <a:noFill/>
          </a:ln>
        </p:spPr>
        <p:txBody>
          <a:bodyPr lIns="54864" tIns="27432" rIns="54864" bIns="27432" rtlCol="0" anchor="ctr"/>
          <a:lstStyle/>
          <a:p>
            <a:pPr algn="ctr"/>
            <a:endParaRPr/>
          </a:p>
        </p:txBody>
      </p:sp>
      <p:sp>
        <p:nvSpPr>
          <p:cNvPr id="30" name="TextBox 29"/>
          <p:cNvSpPr txBox="1"/>
          <p:nvPr/>
        </p:nvSpPr>
        <p:spPr>
          <a:xfrm>
            <a:off x="4568285" y="4018661"/>
            <a:ext cx="955929" cy="226377"/>
          </a:xfrm>
          <a:prstGeom prst="rect">
            <a:avLst/>
          </a:prstGeom>
          <a:noFill/>
        </p:spPr>
        <p:txBody>
          <a:bodyPr wrap="none" lIns="0" tIns="0" rIns="0" bIns="0" anchor="ctr"/>
          <a:lstStyle/>
          <a:p>
            <a:pPr algn="r" rtl="1"/>
            <a:r>
              <a:rPr lang="ar-AE" altLang="en-US" sz="1150" b="1" i="0">
                <a:solidFill>
                  <a:srgbClr val="102A43"/>
                </a:solidFill>
                <a:latin typeface="Arial"/>
                <a:cs typeface="Arial"/>
              </a:rPr>
              <a:t>أكسجين ‎21%</a:t>
            </a:r>
          </a:p>
        </p:txBody>
      </p:sp>
      <p:sp>
        <p:nvSpPr>
          <p:cNvPr id="31" name="Rounded Rectangle 30"/>
          <p:cNvSpPr/>
          <p:nvPr/>
        </p:nvSpPr>
        <p:spPr>
          <a:xfrm>
            <a:off x="6394735" y="4280503"/>
            <a:ext cx="155448" cy="155448"/>
          </a:xfrm>
          <a:prstGeom prst="roundRect">
            <a:avLst>
              <a:gd name="adj" fmla="val 50000"/>
            </a:avLst>
          </a:prstGeom>
          <a:solidFill>
            <a:srgbClr val="B0B8C4"/>
          </a:solidFill>
          <a:ln>
            <a:noFill/>
          </a:ln>
        </p:spPr>
        <p:txBody>
          <a:bodyPr lIns="54864" tIns="27432" rIns="54864" bIns="27432" rtlCol="0" anchor="ctr"/>
          <a:lstStyle/>
          <a:p>
            <a:pPr algn="ctr"/>
            <a:endParaRPr/>
          </a:p>
        </p:txBody>
      </p:sp>
      <p:sp>
        <p:nvSpPr>
          <p:cNvPr id="32" name="TextBox 31"/>
          <p:cNvSpPr txBox="1"/>
          <p:nvPr/>
        </p:nvSpPr>
        <p:spPr>
          <a:xfrm>
            <a:off x="5245576" y="4245038"/>
            <a:ext cx="1085151" cy="226377"/>
          </a:xfrm>
          <a:prstGeom prst="rect">
            <a:avLst/>
          </a:prstGeom>
          <a:noFill/>
        </p:spPr>
        <p:txBody>
          <a:bodyPr wrap="none" lIns="0" tIns="0" rIns="0" bIns="0" anchor="ctr"/>
          <a:lstStyle/>
          <a:p>
            <a:pPr algn="r" rtl="1"/>
            <a:r>
              <a:rPr lang="ar-AE" altLang="en-US" sz="1150" b="1" i="0">
                <a:solidFill>
                  <a:srgbClr val="102A43"/>
                </a:solidFill>
                <a:latin typeface="Arial"/>
                <a:cs typeface="Arial"/>
              </a:rPr>
              <a:t>غازات أخرى ‎1%</a:t>
            </a:r>
          </a:p>
        </p:txBody>
      </p:sp>
      <p:sp>
        <p:nvSpPr>
          <p:cNvPr id="33" name="TextBox 32"/>
          <p:cNvSpPr txBox="1"/>
          <p:nvPr/>
        </p:nvSpPr>
        <p:spPr>
          <a:xfrm>
            <a:off x="5330952" y="2777426"/>
            <a:ext cx="1133856" cy="658368"/>
          </a:xfrm>
          <a:prstGeom prst="rect">
            <a:avLst/>
          </a:prstGeom>
          <a:noFill/>
        </p:spPr>
        <p:txBody>
          <a:bodyPr wrap="square" lIns="0" tIns="0" rIns="0" bIns="0" anchor="ctr"/>
          <a:lstStyle/>
          <a:p>
            <a:pPr algn="ctr" rtl="1"/>
            <a:r>
              <a:rPr lang="ar-AE" altLang="en-US" sz="1700" b="1" i="0">
                <a:solidFill>
                  <a:srgbClr val="5B3B91"/>
                </a:solidFill>
                <a:latin typeface="Arial"/>
                <a:cs typeface="Arial"/>
              </a:rPr>
              <a:t>78%</a:t>
            </a:r>
          </a:p>
          <a:p>
            <a:pPr algn="ctr" rtl="1"/>
            <a:r>
              <a:rPr lang="ar-AE" altLang="en-US" sz="1050" b="1" i="0">
                <a:solidFill>
                  <a:srgbClr val="5B3B91"/>
                </a:solidFill>
                <a:latin typeface="Arial"/>
                <a:cs typeface="Arial"/>
              </a:rPr>
              <a:t>نيتروجين</a:t>
            </a:r>
          </a:p>
        </p:txBody>
      </p:sp>
      <p:sp>
        <p:nvSpPr>
          <p:cNvPr id="34" name="Rounded Rectangle 33"/>
          <p:cNvSpPr/>
          <p:nvPr/>
        </p:nvSpPr>
        <p:spPr>
          <a:xfrm>
            <a:off x="4160520" y="4617720"/>
            <a:ext cx="7680960" cy="896112"/>
          </a:xfrm>
          <a:prstGeom prst="roundRect">
            <a:avLst>
              <a:gd name="adj" fmla="val 12244"/>
            </a:avLst>
          </a:prstGeom>
          <a:solidFill>
            <a:srgbClr val="102A43"/>
          </a:solidFill>
          <a:ln>
            <a:noFill/>
          </a:ln>
        </p:spPr>
        <p:txBody>
          <a:bodyPr wrap="square" lIns="137160" tIns="36576" rIns="137160" bIns="36576" rtlCol="0" anchor="ctr"/>
          <a:lstStyle/>
          <a:p>
            <a:pPr algn="r" rtl="1"/>
            <a:r>
              <a:rPr lang="ar-AE" altLang="en-US" sz="1450" b="1" i="0">
                <a:solidFill>
                  <a:srgbClr val="C9A96A"/>
                </a:solidFill>
                <a:latin typeface="Arial"/>
                <a:cs typeface="Arial"/>
              </a:rPr>
              <a:t>فكّروا: </a:t>
            </a:r>
            <a:r>
              <a:rPr lang="ar-AE" altLang="en-US" sz="1450" b="1" i="0">
                <a:solidFill>
                  <a:srgbClr val="FFFFFF"/>
                </a:solidFill>
                <a:latin typeface="Arial"/>
                <a:cs typeface="Arial"/>
              </a:rPr>
              <a:t>يدخل النيتروجين في تركيب البروتينات وDNA، ويحيط بالنباتات من كل جانب… ومع ذلك قد تصفرّ أوراقها من نقصه! كيف ذلك؟</a:t>
            </a:r>
          </a:p>
        </p:txBody>
      </p:sp>
      <p:pic>
        <p:nvPicPr>
          <p:cNvPr id="35" name="مؤقت 2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2697480" y="4160520"/>
            <a:ext cx="1325880" cy="1325880"/>
          </a:xfrm>
          <a:prstGeom prst="rect">
            <a:avLst/>
          </a:prstGeom>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5"/>
                                        </p:tgtEl>
                                      </p:cBhvr>
                                    </p:cmd>
                                  </p:childTnLst>
                                </p:cTn>
                              </p:par>
                            </p:childTnLst>
                          </p:cTn>
                        </p:par>
                      </p:childTnLst>
                    </p:cTn>
                  </p:par>
                </p:childTnLst>
              </p:cTn>
              <p:nextCondLst>
                <p:cond evt="onNext" delay="0">
                  <p:tgtEl>
                    <p:sldTgt/>
                  </p:tgtEl>
                </p:cond>
              </p:nextCondLst>
            </p:seq>
            <p:seq concurrent="1" nextAc="seek">
              <p:cTn id="7" restart="whenNotActive" fill="hold" evtFilter="cancelBubble" nodeType="interactiveSeq">
                <p:stCondLst>
                  <p:cond evt="onClick" delay="0">
                    <p:tgtEl>
                      <p:spTgt spid="3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5"/>
                                        </p:tgtEl>
                                      </p:cBhvr>
                                    </p:cmd>
                                  </p:childTnLst>
                                </p:cTn>
                              </p:par>
                            </p:childTnLst>
                          </p:cTn>
                        </p:par>
                      </p:childTnLst>
                    </p:cTn>
                  </p:par>
                </p:childTnLst>
              </p:cTn>
              <p:nextCondLst>
                <p:cond evt="onNext" delay="0">
                  <p:tgtEl>
                    <p:sldTgt/>
                  </p:tgtEl>
                </p:cond>
              </p:nextCondLst>
            </p:seq>
            <p:video>
              <p:cMediaNode vol="80000">
                <p:cTn id="12" fill="hold" display="0">
                  <p:stCondLst>
                    <p:cond delay="indefinite"/>
                  </p:stCondLst>
                </p:cTn>
                <p:tgtEl>
                  <p:spTgt spid="25"/>
                </p:tgtEl>
              </p:cMediaNode>
            </p:video>
            <p:video>
              <p:cMediaNode vol="80000">
                <p:cTn id="13" fill="hold" display="0">
                  <p:stCondLst>
                    <p:cond delay="indefinite"/>
                  </p:stCondLst>
                </p:cTn>
                <p:tgtEl>
                  <p:spTgt spid="3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نكتشفه معًا…</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نكتشفه معًا…</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نكتشفه معًا…</a:t>
            </a:r>
          </a:p>
        </p:txBody>
      </p:sp>
      <p:sp>
        <p:nvSpPr>
          <p:cNvPr id="13" name="Rounded Rectangle 12"/>
          <p:cNvSpPr/>
          <p:nvPr/>
        </p:nvSpPr>
        <p:spPr>
          <a:xfrm>
            <a:off x="9665208" y="1344168"/>
            <a:ext cx="2194560"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هدف الحصة ونواتج التعلم</a:t>
            </a:r>
          </a:p>
        </p:txBody>
      </p:sp>
      <p:sp>
        <p:nvSpPr>
          <p:cNvPr id="14" name="TextBox 13"/>
          <p:cNvSpPr txBox="1"/>
          <p:nvPr/>
        </p:nvSpPr>
        <p:spPr>
          <a:xfrm>
            <a:off x="2606040" y="1280160"/>
            <a:ext cx="694944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ماذا تتوقعون أن نتعلم اليوم؟</a:t>
            </a:r>
          </a:p>
        </p:txBody>
      </p:sp>
      <p:pic>
        <p:nvPicPr>
          <p:cNvPr id="15" name="Picture 14" descr="badge_ahmed.png"/>
          <p:cNvPicPr>
            <a:picLocks noChangeAspect="1"/>
          </p:cNvPicPr>
          <p:nvPr/>
        </p:nvPicPr>
        <p:blipFill>
          <a:blip r:embed="rId4"/>
          <a:stretch>
            <a:fillRect/>
          </a:stretch>
        </p:blipFill>
        <p:spPr>
          <a:xfrm>
            <a:off x="2697480" y="1856891"/>
            <a:ext cx="603504" cy="638760"/>
          </a:xfrm>
          <a:prstGeom prst="rect">
            <a:avLst/>
          </a:prstGeom>
        </p:spPr>
      </p:pic>
      <p:sp>
        <p:nvSpPr>
          <p:cNvPr id="16" name="Rounded Rectangular Callout 15"/>
          <p:cNvSpPr/>
          <p:nvPr/>
        </p:nvSpPr>
        <p:spPr>
          <a:xfrm>
            <a:off x="3410712" y="1847088"/>
            <a:ext cx="4773168" cy="658368"/>
          </a:xfrm>
          <a:prstGeom prst="wedgeRoundRectCallout">
            <a:avLst>
              <a:gd name="adj1" fmla="val -53065"/>
              <a:gd name="adj2" fmla="val 12000"/>
              <a:gd name="adj3" fmla="val 16667"/>
            </a:avLst>
          </a:prstGeom>
          <a:solidFill>
            <a:srgbClr val="FFFFFF"/>
          </a:solidFill>
          <a:ln w="22225">
            <a:solidFill>
              <a:srgbClr val="1C2F5E"/>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7" name="TextBox 16"/>
          <p:cNvSpPr txBox="1"/>
          <p:nvPr/>
        </p:nvSpPr>
        <p:spPr>
          <a:xfrm>
            <a:off x="3465576" y="1865376"/>
            <a:ext cx="4663440" cy="621792"/>
          </a:xfrm>
          <a:prstGeom prst="rect">
            <a:avLst/>
          </a:prstGeom>
          <a:noFill/>
        </p:spPr>
        <p:txBody>
          <a:bodyPr wrap="square" lIns="54864" tIns="27432" rIns="54864" bIns="27432" anchor="ctr"/>
          <a:lstStyle/>
          <a:p>
            <a:pPr algn="r" rtl="1"/>
            <a:r>
              <a:rPr lang="ar-AE" altLang="en-US" sz="1300" b="1" i="0">
                <a:solidFill>
                  <a:srgbClr val="1C2F5E"/>
                </a:solidFill>
                <a:latin typeface="Arial"/>
                <a:cs typeface="Arial"/>
              </a:rPr>
              <a:t>أحمد: </a:t>
            </a:r>
            <a:r>
              <a:rPr lang="ar-AE" altLang="en-US" sz="1300" b="1" i="0">
                <a:solidFill>
                  <a:srgbClr val="102A43"/>
                </a:solidFill>
                <a:latin typeface="Arial"/>
                <a:cs typeface="Arial"/>
              </a:rPr>
              <a:t>من اللغز… استنتجوا هدفنا اليوم، ثم لنتحقق منه معًا!</a:t>
            </a:r>
          </a:p>
        </p:txBody>
      </p:sp>
      <p:sp>
        <p:nvSpPr>
          <p:cNvPr id="18" name="Rounded Rectangle 17"/>
          <p:cNvSpPr/>
          <p:nvPr/>
        </p:nvSpPr>
        <p:spPr>
          <a:xfrm>
            <a:off x="2697480" y="2651760"/>
            <a:ext cx="9144000" cy="868680"/>
          </a:xfrm>
          <a:prstGeom prst="roundRect">
            <a:avLst>
              <a:gd name="adj" fmla="val 14736"/>
            </a:avLst>
          </a:prstGeom>
          <a:solidFill>
            <a:srgbClr val="102A43"/>
          </a:solidFill>
          <a:ln>
            <a:noFill/>
          </a:ln>
        </p:spPr>
        <p:txBody>
          <a:bodyPr wrap="square" lIns="182880" rIns="182880" rtlCol="0" anchor="ctr"/>
          <a:lstStyle/>
          <a:p>
            <a:pPr algn="r" rtl="1"/>
            <a:r>
              <a:rPr lang="ar-AE" altLang="en-US" sz="1550" b="1" i="0">
                <a:solidFill>
                  <a:srgbClr val="C9A96A"/>
                </a:solidFill>
                <a:latin typeface="Arial"/>
                <a:cs typeface="Arial"/>
              </a:rPr>
              <a:t>هدف الحصة: </a:t>
            </a:r>
            <a:r>
              <a:rPr lang="ar-AE" altLang="en-US" sz="1550" b="1" i="0">
                <a:solidFill>
                  <a:srgbClr val="FFFFFF"/>
                </a:solidFill>
                <a:latin typeface="Arial"/>
                <a:cs typeface="Arial"/>
              </a:rPr>
              <a:t>يستكشف الطالب كيف ينتقل النيتروجين عبر الأجزاء الحية وغير الحية من النظام البيئي، ودور البكتيريا في تثبيته وإعادته إلى الغلاف الجوي.</a:t>
            </a:r>
          </a:p>
        </p:txBody>
      </p:sp>
      <p:sp>
        <p:nvSpPr>
          <p:cNvPr id="19" name="Rounded Rectangle 18"/>
          <p:cNvSpPr/>
          <p:nvPr/>
        </p:nvSpPr>
        <p:spPr>
          <a:xfrm>
            <a:off x="8851392"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28016" tIns="109728" rIns="128016" bIns="109728" rtlCol="0" anchor="t"/>
          <a:lstStyle/>
          <a:p>
            <a:pPr algn="r" rtl="1"/>
            <a:r>
              <a:rPr lang="ar-AE" altLang="en-US" sz="1400" b="1" i="0">
                <a:solidFill>
                  <a:srgbClr val="5B3B91"/>
                </a:solidFill>
                <a:latin typeface="Arial"/>
                <a:cs typeface="Arial"/>
              </a:rPr>
              <a:t>1. </a:t>
            </a:r>
            <a:r>
              <a:rPr lang="ar-AE" altLang="en-US" sz="1400" b="1" i="0">
                <a:solidFill>
                  <a:srgbClr val="102A43"/>
                </a:solidFill>
                <a:latin typeface="Arial"/>
                <a:cs typeface="Arial"/>
              </a:rPr>
              <a:t>يفسّر لماذا لا تستطيع معظم الكائنات الحية استخدام نيتروجين الهواء مباشرة، ويصف طرق تثبيت النيتروجين.</a:t>
            </a:r>
          </a:p>
        </p:txBody>
      </p:sp>
      <p:sp>
        <p:nvSpPr>
          <p:cNvPr id="20" name="Rounded Rectangle 19"/>
          <p:cNvSpPr/>
          <p:nvPr/>
        </p:nvSpPr>
        <p:spPr>
          <a:xfrm>
            <a:off x="8961119" y="5047488"/>
            <a:ext cx="1143000" cy="310896"/>
          </a:xfrm>
          <a:prstGeom prst="roundRect">
            <a:avLst>
              <a:gd name="adj" fmla="val 50000"/>
            </a:avLst>
          </a:prstGeom>
          <a:solidFill>
            <a:srgbClr val="3A86C8"/>
          </a:solidFill>
          <a:ln>
            <a:noFill/>
          </a:ln>
        </p:spPr>
        <p:txBody>
          <a:bodyPr wrap="square" lIns="0" tIns="0" rIns="0" bIns="0" rtlCol="0" anchor="ctr"/>
          <a:lstStyle/>
          <a:p>
            <a:pPr algn="ctr" rtl="1"/>
            <a:r>
              <a:rPr lang="ar-AE" altLang="en-US" sz="1200" b="1" i="0">
                <a:solidFill>
                  <a:srgbClr val="FFFFFF"/>
                </a:solidFill>
                <a:latin typeface="Arial"/>
                <a:cs typeface="Arial"/>
              </a:rPr>
              <a:t>فهم</a:t>
            </a:r>
          </a:p>
        </p:txBody>
      </p:sp>
      <p:sp>
        <p:nvSpPr>
          <p:cNvPr id="21" name="Rounded Rectangle 20"/>
          <p:cNvSpPr/>
          <p:nvPr/>
        </p:nvSpPr>
        <p:spPr>
          <a:xfrm>
            <a:off x="5769864"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28016" tIns="109728" rIns="128016" bIns="109728" rtlCol="0" anchor="t"/>
          <a:lstStyle/>
          <a:p>
            <a:pPr algn="r" rtl="1"/>
            <a:r>
              <a:rPr lang="ar-AE" altLang="en-US" sz="1400" b="1" i="0">
                <a:solidFill>
                  <a:srgbClr val="5B3B91"/>
                </a:solidFill>
                <a:latin typeface="Arial"/>
                <a:cs typeface="Arial"/>
              </a:rPr>
              <a:t>2. </a:t>
            </a:r>
            <a:r>
              <a:rPr lang="ar-AE" altLang="en-US" sz="1400" b="1" i="0">
                <a:solidFill>
                  <a:srgbClr val="102A43"/>
                </a:solidFill>
                <a:latin typeface="Arial"/>
                <a:cs typeface="Arial"/>
              </a:rPr>
              <a:t>يتتبّع انتقال النيتروجين عبر الشبكة الغذائية وعودته إلى التربة.</a:t>
            </a:r>
          </a:p>
        </p:txBody>
      </p:sp>
      <p:sp>
        <p:nvSpPr>
          <p:cNvPr id="22" name="Rounded Rectangle 21"/>
          <p:cNvSpPr/>
          <p:nvPr/>
        </p:nvSpPr>
        <p:spPr>
          <a:xfrm>
            <a:off x="5879592" y="5047488"/>
            <a:ext cx="1143000" cy="310896"/>
          </a:xfrm>
          <a:prstGeom prst="roundRect">
            <a:avLst>
              <a:gd name="adj" fmla="val 50000"/>
            </a:avLst>
          </a:prstGeom>
          <a:solidFill>
            <a:srgbClr val="5E9E47"/>
          </a:solidFill>
          <a:ln>
            <a:noFill/>
          </a:ln>
        </p:spPr>
        <p:txBody>
          <a:bodyPr wrap="square" lIns="0" tIns="0" rIns="0" bIns="0" rtlCol="0" anchor="ctr"/>
          <a:lstStyle/>
          <a:p>
            <a:pPr algn="ctr" rtl="1"/>
            <a:r>
              <a:rPr lang="ar-AE" altLang="en-US" sz="1200" b="1" i="0">
                <a:solidFill>
                  <a:srgbClr val="FFFFFF"/>
                </a:solidFill>
                <a:latin typeface="Arial"/>
                <a:cs typeface="Arial"/>
              </a:rPr>
              <a:t>تطبيق</a:t>
            </a:r>
          </a:p>
        </p:txBody>
      </p:sp>
      <p:sp>
        <p:nvSpPr>
          <p:cNvPr id="23" name="Rounded Rectangle 22"/>
          <p:cNvSpPr/>
          <p:nvPr/>
        </p:nvSpPr>
        <p:spPr>
          <a:xfrm>
            <a:off x="2688335"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28016" tIns="109728" rIns="128016" bIns="109728" rtlCol="0" anchor="t"/>
          <a:lstStyle/>
          <a:p>
            <a:pPr algn="r" rtl="1"/>
            <a:r>
              <a:rPr lang="ar-AE" altLang="en-US" sz="1400" b="1" i="0">
                <a:solidFill>
                  <a:srgbClr val="5B3B91"/>
                </a:solidFill>
                <a:latin typeface="Arial"/>
                <a:cs typeface="Arial"/>
              </a:rPr>
              <a:t>3. </a:t>
            </a:r>
            <a:r>
              <a:rPr lang="ar-AE" altLang="en-US" sz="1400" b="1" i="0">
                <a:solidFill>
                  <a:srgbClr val="102A43"/>
                </a:solidFill>
                <a:latin typeface="Arial"/>
                <a:cs typeface="Arial"/>
              </a:rPr>
              <a:t>يميّز بين تثبيت النيتروجين وإزالته، ويحلّل أثر الإفراط في استخدام الأسمدة.</a:t>
            </a:r>
          </a:p>
        </p:txBody>
      </p:sp>
      <p:sp>
        <p:nvSpPr>
          <p:cNvPr id="24" name="Rounded Rectangle 23"/>
          <p:cNvSpPr/>
          <p:nvPr/>
        </p:nvSpPr>
        <p:spPr>
          <a:xfrm>
            <a:off x="2798063" y="5047488"/>
            <a:ext cx="1143000" cy="310896"/>
          </a:xfrm>
          <a:prstGeom prst="roundRect">
            <a:avLst>
              <a:gd name="adj" fmla="val 50000"/>
            </a:avLst>
          </a:prstGeom>
          <a:solidFill>
            <a:srgbClr val="D9A21B"/>
          </a:solidFill>
          <a:ln>
            <a:noFill/>
          </a:ln>
        </p:spPr>
        <p:txBody>
          <a:bodyPr wrap="square" lIns="0" tIns="0" rIns="0" bIns="0" rtlCol="0" anchor="ctr"/>
          <a:lstStyle/>
          <a:p>
            <a:pPr algn="ctr" rtl="1"/>
            <a:r>
              <a:rPr lang="ar-AE" altLang="en-US" sz="1200" b="1" i="0">
                <a:solidFill>
                  <a:srgbClr val="FFFFFF"/>
                </a:solidFill>
                <a:latin typeface="Arial"/>
                <a:cs typeface="Arial"/>
              </a:rPr>
              <a:t>تحليل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low.png"/>
          <p:cNvPicPr>
            <a:picLocks noChangeAspect="1"/>
          </p:cNvPicPr>
          <p:nvPr/>
        </p:nvPicPr>
        <p:blipFill>
          <a:blip r:embed="rId3"/>
          <a:stretch>
            <a:fillRect/>
          </a:stretch>
        </p:blipFill>
        <p:spPr>
          <a:xfrm>
            <a:off x="0" y="0"/>
            <a:ext cx="12191695" cy="6858000"/>
          </a:xfrm>
          <a:prstGeom prst="rect">
            <a:avLst/>
          </a:prstGeom>
        </p:spPr>
      </p:pic>
      <p:pic>
        <p:nvPicPr>
          <p:cNvPr id="3" name="Picture 2" descr="bulb_w.png"/>
          <p:cNvPicPr>
            <a:picLocks noChangeAspect="1"/>
          </p:cNvPicPr>
          <p:nvPr/>
        </p:nvPicPr>
        <p:blipFill>
          <a:blip r:embed="rId4"/>
          <a:stretch>
            <a:fillRect/>
          </a:stretch>
        </p:blipFill>
        <p:spPr>
          <a:xfrm>
            <a:off x="9846564" y="2378964"/>
            <a:ext cx="347472" cy="347472"/>
          </a:xfrm>
          <a:prstGeom prst="rect">
            <a:avLst/>
          </a:prstGeom>
        </p:spPr>
      </p:pic>
      <p:sp>
        <p:nvSpPr>
          <p:cNvPr id="4" name="TextBox 3"/>
          <p:cNvSpPr txBox="1"/>
          <p:nvPr/>
        </p:nvSpPr>
        <p:spPr>
          <a:xfrm>
            <a:off x="9277350" y="3543300"/>
            <a:ext cx="1628775"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التهيئة والأهداف</a:t>
            </a:r>
          </a:p>
        </p:txBody>
      </p:sp>
      <p:sp>
        <p:nvSpPr>
          <p:cNvPr id="5" name="Rounded Rectangle 4"/>
          <p:cNvSpPr/>
          <p:nvPr/>
        </p:nvSpPr>
        <p:spPr>
          <a:xfrm>
            <a:off x="9467850" y="3914775"/>
            <a:ext cx="1247775" cy="285750"/>
          </a:xfrm>
          <a:prstGeom prst="roundRect">
            <a:avLst>
              <a:gd name="adj" fmla="val 48000"/>
            </a:avLst>
          </a:prstGeom>
          <a:solidFill>
            <a:srgbClr val="138955"/>
          </a:solidFill>
          <a:ln>
            <a:noFill/>
          </a:ln>
        </p:spPr>
        <p:txBody>
          <a:bodyPr wrap="square" lIns="0" tIns="0" rIns="0" bIns="0" rtlCol="0" anchor="ctr"/>
          <a:lstStyle/>
          <a:p>
            <a:pPr algn="ctr" rtl="1"/>
            <a:r>
              <a:rPr lang="ar-AE" altLang="en-US" sz="1250" b="1" i="0">
                <a:solidFill>
                  <a:srgbClr val="FFFFFF"/>
                </a:solidFill>
                <a:latin typeface="Arial"/>
                <a:cs typeface="Arial"/>
              </a:rPr>
              <a:t>7 دقائق</a:t>
            </a:r>
          </a:p>
        </p:txBody>
      </p:sp>
      <p:sp>
        <p:nvSpPr>
          <p:cNvPr id="6" name="TextBox 5"/>
          <p:cNvSpPr txBox="1"/>
          <p:nvPr/>
        </p:nvSpPr>
        <p:spPr>
          <a:xfrm>
            <a:off x="9296400" y="4267200"/>
            <a:ext cx="1590675"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لغز النيتروجين، التقويم القبلي، الهدف والمفردات</a:t>
            </a:r>
          </a:p>
        </p:txBody>
      </p:sp>
      <p:sp>
        <p:nvSpPr>
          <p:cNvPr id="7" name="TextBox 6"/>
          <p:cNvSpPr txBox="1"/>
          <p:nvPr/>
        </p:nvSpPr>
        <p:spPr>
          <a:xfrm>
            <a:off x="7936229" y="2278380"/>
            <a:ext cx="548640" cy="548640"/>
          </a:xfrm>
          <a:prstGeom prst="rect">
            <a:avLst/>
          </a:prstGeom>
          <a:noFill/>
        </p:spPr>
        <p:txBody>
          <a:bodyPr wrap="square" lIns="0" tIns="0" rIns="0" bIns="0" anchor="ctr"/>
          <a:lstStyle/>
          <a:p>
            <a:pPr algn="ctr" rtl="1"/>
            <a:r>
              <a:rPr lang="ar-AE" altLang="en-US" sz="2200" b="1" i="0">
                <a:solidFill>
                  <a:srgbClr val="FFFFFF"/>
                </a:solidFill>
                <a:latin typeface="Arial"/>
                <a:cs typeface="Arial"/>
              </a:rPr>
              <a:t>1</a:t>
            </a:r>
          </a:p>
        </p:txBody>
      </p:sp>
      <p:sp>
        <p:nvSpPr>
          <p:cNvPr id="8" name="TextBox 7"/>
          <p:cNvSpPr txBox="1"/>
          <p:nvPr/>
        </p:nvSpPr>
        <p:spPr>
          <a:xfrm>
            <a:off x="7467599" y="3543300"/>
            <a:ext cx="1619250"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الناتج الأول</a:t>
            </a:r>
          </a:p>
        </p:txBody>
      </p:sp>
      <p:sp>
        <p:nvSpPr>
          <p:cNvPr id="9" name="Rounded Rectangle 8"/>
          <p:cNvSpPr/>
          <p:nvPr/>
        </p:nvSpPr>
        <p:spPr>
          <a:xfrm>
            <a:off x="7658100" y="3914775"/>
            <a:ext cx="1238250" cy="285750"/>
          </a:xfrm>
          <a:prstGeom prst="roundRect">
            <a:avLst>
              <a:gd name="adj" fmla="val 48000"/>
            </a:avLst>
          </a:prstGeom>
          <a:solidFill>
            <a:srgbClr val="1C7B7D"/>
          </a:solidFill>
          <a:ln>
            <a:noFill/>
          </a:ln>
        </p:spPr>
        <p:txBody>
          <a:bodyPr wrap="square" lIns="0" tIns="0" rIns="0" bIns="0" rtlCol="0" anchor="ctr"/>
          <a:lstStyle/>
          <a:p>
            <a:pPr algn="ctr" rtl="1"/>
            <a:r>
              <a:rPr lang="ar-AE" altLang="en-US" sz="1250" b="1" i="0">
                <a:solidFill>
                  <a:srgbClr val="FFFFFF"/>
                </a:solidFill>
                <a:latin typeface="Arial"/>
                <a:cs typeface="Arial"/>
              </a:rPr>
              <a:t>12 دقيقة</a:t>
            </a:r>
          </a:p>
        </p:txBody>
      </p:sp>
      <p:sp>
        <p:nvSpPr>
          <p:cNvPr id="10" name="TextBox 9"/>
          <p:cNvSpPr txBox="1"/>
          <p:nvPr/>
        </p:nvSpPr>
        <p:spPr>
          <a:xfrm>
            <a:off x="7486650" y="4267200"/>
            <a:ext cx="1581150"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تثبيت النيتروجين ومختبر أصص التجربة</a:t>
            </a:r>
          </a:p>
        </p:txBody>
      </p:sp>
      <p:sp>
        <p:nvSpPr>
          <p:cNvPr id="11" name="TextBox 10"/>
          <p:cNvSpPr txBox="1"/>
          <p:nvPr/>
        </p:nvSpPr>
        <p:spPr>
          <a:xfrm>
            <a:off x="6136005" y="2278380"/>
            <a:ext cx="548640" cy="548640"/>
          </a:xfrm>
          <a:prstGeom prst="rect">
            <a:avLst/>
          </a:prstGeom>
          <a:noFill/>
        </p:spPr>
        <p:txBody>
          <a:bodyPr wrap="square" lIns="0" tIns="0" rIns="0" bIns="0" anchor="ctr"/>
          <a:lstStyle/>
          <a:p>
            <a:pPr algn="ctr" rtl="1"/>
            <a:r>
              <a:rPr lang="ar-AE" altLang="en-US" sz="2200" b="1" i="0">
                <a:solidFill>
                  <a:srgbClr val="FFFFFF"/>
                </a:solidFill>
                <a:latin typeface="Arial"/>
                <a:cs typeface="Arial"/>
              </a:rPr>
              <a:t>2</a:t>
            </a:r>
          </a:p>
        </p:txBody>
      </p:sp>
      <p:sp>
        <p:nvSpPr>
          <p:cNvPr id="12" name="TextBox 11"/>
          <p:cNvSpPr txBox="1"/>
          <p:nvPr/>
        </p:nvSpPr>
        <p:spPr>
          <a:xfrm>
            <a:off x="5667375" y="3543300"/>
            <a:ext cx="1609725"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الناتج الثاني</a:t>
            </a:r>
          </a:p>
        </p:txBody>
      </p:sp>
      <p:sp>
        <p:nvSpPr>
          <p:cNvPr id="13" name="Rounded Rectangle 12"/>
          <p:cNvSpPr/>
          <p:nvPr/>
        </p:nvSpPr>
        <p:spPr>
          <a:xfrm>
            <a:off x="5857875" y="3914775"/>
            <a:ext cx="1228725" cy="285750"/>
          </a:xfrm>
          <a:prstGeom prst="roundRect">
            <a:avLst>
              <a:gd name="adj" fmla="val 48000"/>
            </a:avLst>
          </a:prstGeom>
          <a:solidFill>
            <a:srgbClr val="2E5D7B"/>
          </a:solidFill>
          <a:ln>
            <a:noFill/>
          </a:ln>
        </p:spPr>
        <p:txBody>
          <a:bodyPr wrap="square" lIns="0" tIns="0" rIns="0" bIns="0" rtlCol="0" anchor="ctr"/>
          <a:lstStyle/>
          <a:p>
            <a:pPr algn="ctr" rtl="1"/>
            <a:r>
              <a:rPr lang="ar-AE" altLang="en-US" sz="1250" b="1" i="0">
                <a:solidFill>
                  <a:srgbClr val="FFFFFF"/>
                </a:solidFill>
                <a:latin typeface="Arial"/>
                <a:cs typeface="Arial"/>
              </a:rPr>
              <a:t>9 دقائق</a:t>
            </a:r>
          </a:p>
        </p:txBody>
      </p:sp>
      <p:sp>
        <p:nvSpPr>
          <p:cNvPr id="14" name="TextBox 13"/>
          <p:cNvSpPr txBox="1"/>
          <p:nvPr/>
        </p:nvSpPr>
        <p:spPr>
          <a:xfrm>
            <a:off x="5686425" y="4267200"/>
            <a:ext cx="1571625"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رحلة ذرة النيتروجين وتحدّي المختبر</a:t>
            </a:r>
          </a:p>
        </p:txBody>
      </p:sp>
      <p:sp>
        <p:nvSpPr>
          <p:cNvPr id="15" name="TextBox 14"/>
          <p:cNvSpPr txBox="1"/>
          <p:nvPr/>
        </p:nvSpPr>
        <p:spPr>
          <a:xfrm>
            <a:off x="4326255" y="2278380"/>
            <a:ext cx="548640" cy="548640"/>
          </a:xfrm>
          <a:prstGeom prst="rect">
            <a:avLst/>
          </a:prstGeom>
          <a:noFill/>
        </p:spPr>
        <p:txBody>
          <a:bodyPr wrap="square" lIns="0" tIns="0" rIns="0" bIns="0" anchor="ctr"/>
          <a:lstStyle/>
          <a:p>
            <a:pPr algn="ctr" rtl="1"/>
            <a:r>
              <a:rPr lang="ar-AE" altLang="en-US" sz="2200" b="1" i="0">
                <a:solidFill>
                  <a:srgbClr val="FFFFFF"/>
                </a:solidFill>
                <a:latin typeface="Arial"/>
                <a:cs typeface="Arial"/>
              </a:rPr>
              <a:t>3</a:t>
            </a:r>
          </a:p>
        </p:txBody>
      </p:sp>
      <p:sp>
        <p:nvSpPr>
          <p:cNvPr id="16" name="TextBox 15"/>
          <p:cNvSpPr txBox="1"/>
          <p:nvPr/>
        </p:nvSpPr>
        <p:spPr>
          <a:xfrm>
            <a:off x="3857625" y="3543300"/>
            <a:ext cx="1619250"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الناتج الثالث</a:t>
            </a:r>
          </a:p>
        </p:txBody>
      </p:sp>
      <p:sp>
        <p:nvSpPr>
          <p:cNvPr id="17" name="Rounded Rectangle 16"/>
          <p:cNvSpPr/>
          <p:nvPr/>
        </p:nvSpPr>
        <p:spPr>
          <a:xfrm>
            <a:off x="4048124" y="3914775"/>
            <a:ext cx="1238250" cy="285750"/>
          </a:xfrm>
          <a:prstGeom prst="roundRect">
            <a:avLst>
              <a:gd name="adj" fmla="val 48000"/>
            </a:avLst>
          </a:prstGeom>
          <a:solidFill>
            <a:srgbClr val="996B2F"/>
          </a:solidFill>
          <a:ln>
            <a:noFill/>
          </a:ln>
        </p:spPr>
        <p:txBody>
          <a:bodyPr wrap="square" lIns="0" tIns="0" rIns="0" bIns="0" rtlCol="0" anchor="ctr"/>
          <a:lstStyle/>
          <a:p>
            <a:pPr algn="ctr" rtl="1"/>
            <a:r>
              <a:rPr lang="ar-AE" altLang="en-US" sz="1250" b="1" i="0">
                <a:solidFill>
                  <a:srgbClr val="FFFFFF"/>
                </a:solidFill>
                <a:latin typeface="Arial"/>
                <a:cs typeface="Arial"/>
              </a:rPr>
              <a:t>11 دقيقة</a:t>
            </a:r>
          </a:p>
        </p:txBody>
      </p:sp>
      <p:sp>
        <p:nvSpPr>
          <p:cNvPr id="18" name="TextBox 17"/>
          <p:cNvSpPr txBox="1"/>
          <p:nvPr/>
        </p:nvSpPr>
        <p:spPr>
          <a:xfrm>
            <a:off x="3876674" y="4267200"/>
            <a:ext cx="1581150"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إزالة النيتروجين ومختبر المزرعة والبحيرة</a:t>
            </a:r>
          </a:p>
        </p:txBody>
      </p:sp>
      <p:pic>
        <p:nvPicPr>
          <p:cNvPr id="19" name="Picture 18" descr="ticket_w.png"/>
          <p:cNvPicPr>
            <a:picLocks noChangeAspect="1"/>
          </p:cNvPicPr>
          <p:nvPr/>
        </p:nvPicPr>
        <p:blipFill>
          <a:blip r:embed="rId5"/>
          <a:stretch>
            <a:fillRect/>
          </a:stretch>
        </p:blipFill>
        <p:spPr>
          <a:xfrm>
            <a:off x="2617089" y="2378964"/>
            <a:ext cx="347472" cy="347472"/>
          </a:xfrm>
          <a:prstGeom prst="rect">
            <a:avLst/>
          </a:prstGeom>
        </p:spPr>
      </p:pic>
      <p:sp>
        <p:nvSpPr>
          <p:cNvPr id="20" name="TextBox 19"/>
          <p:cNvSpPr txBox="1"/>
          <p:nvPr/>
        </p:nvSpPr>
        <p:spPr>
          <a:xfrm>
            <a:off x="1905000" y="3543300"/>
            <a:ext cx="1762125"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الختام</a:t>
            </a:r>
          </a:p>
        </p:txBody>
      </p:sp>
      <p:sp>
        <p:nvSpPr>
          <p:cNvPr id="21" name="Rounded Rectangle 20"/>
          <p:cNvSpPr/>
          <p:nvPr/>
        </p:nvSpPr>
        <p:spPr>
          <a:xfrm>
            <a:off x="2095499" y="3914775"/>
            <a:ext cx="1381125" cy="285750"/>
          </a:xfrm>
          <a:prstGeom prst="roundRect">
            <a:avLst>
              <a:gd name="adj" fmla="val 48000"/>
            </a:avLst>
          </a:prstGeom>
          <a:solidFill>
            <a:srgbClr val="C8102E"/>
          </a:solidFill>
          <a:ln>
            <a:noFill/>
          </a:ln>
        </p:spPr>
        <p:txBody>
          <a:bodyPr wrap="square" lIns="0" tIns="0" rIns="0" bIns="0" rtlCol="0" anchor="ctr"/>
          <a:lstStyle/>
          <a:p>
            <a:pPr algn="ctr" rtl="1"/>
            <a:r>
              <a:rPr lang="ar-AE" altLang="en-US" sz="1250" b="1" i="0">
                <a:solidFill>
                  <a:srgbClr val="FFFFFF"/>
                </a:solidFill>
                <a:latin typeface="Arial"/>
                <a:cs typeface="Arial"/>
              </a:rPr>
              <a:t>6 دقائق</a:t>
            </a:r>
          </a:p>
        </p:txBody>
      </p:sp>
      <p:sp>
        <p:nvSpPr>
          <p:cNvPr id="22" name="TextBox 21"/>
          <p:cNvSpPr txBox="1"/>
          <p:nvPr/>
        </p:nvSpPr>
        <p:spPr>
          <a:xfrm>
            <a:off x="1924049" y="4267200"/>
            <a:ext cx="1724025"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الخلاصة، التقويم الذاتي، بطاقة الخروج</a:t>
            </a:r>
          </a:p>
        </p:txBody>
      </p:sp>
      <p:pic>
        <p:nvPicPr>
          <p:cNvPr id="23" name="Picture 22" descr="stopwatch_n.png"/>
          <p:cNvPicPr>
            <a:picLocks noChangeAspect="1"/>
          </p:cNvPicPr>
          <p:nvPr/>
        </p:nvPicPr>
        <p:blipFill>
          <a:blip r:embed="rId6"/>
          <a:stretch>
            <a:fillRect/>
          </a:stretch>
        </p:blipFill>
        <p:spPr>
          <a:xfrm>
            <a:off x="640080" y="707136"/>
            <a:ext cx="365760" cy="365760"/>
          </a:xfrm>
          <a:prstGeom prst="rect">
            <a:avLst/>
          </a:prstGeom>
        </p:spPr>
      </p:pic>
      <p:sp>
        <p:nvSpPr>
          <p:cNvPr id="24" name="TextBox 23"/>
          <p:cNvSpPr txBox="1"/>
          <p:nvPr/>
        </p:nvSpPr>
        <p:spPr>
          <a:xfrm>
            <a:off x="1352550" y="533400"/>
            <a:ext cx="723900" cy="714375"/>
          </a:xfrm>
          <a:prstGeom prst="rect">
            <a:avLst/>
          </a:prstGeom>
          <a:noFill/>
        </p:spPr>
        <p:txBody>
          <a:bodyPr wrap="square" lIns="0" tIns="0" rIns="0" bIns="0" anchor="ctr"/>
          <a:lstStyle/>
          <a:p>
            <a:pPr algn="ctr" rtl="1"/>
            <a:r>
              <a:rPr lang="ar-AE" altLang="en-US" sz="2000" b="1" i="0">
                <a:solidFill>
                  <a:srgbClr val="102A43"/>
                </a:solidFill>
                <a:latin typeface="Arial"/>
                <a:cs typeface="Arial"/>
              </a:rPr>
              <a:t>45</a:t>
            </a:r>
          </a:p>
          <a:p>
            <a:pPr algn="ctr" rtl="1"/>
            <a:r>
              <a:rPr lang="ar-AE" altLang="en-US" sz="1100" b="1" i="0">
                <a:solidFill>
                  <a:srgbClr val="102A43"/>
                </a:solidFill>
                <a:latin typeface="Arial"/>
                <a:cs typeface="Arial"/>
              </a:rPr>
              <a:t>دقيقة</a:t>
            </a:r>
          </a:p>
        </p:txBody>
      </p:sp>
      <p:sp>
        <p:nvSpPr>
          <p:cNvPr id="25" name="TextBox 24"/>
          <p:cNvSpPr txBox="1"/>
          <p:nvPr/>
        </p:nvSpPr>
        <p:spPr>
          <a:xfrm>
            <a:off x="2476500" y="5476875"/>
            <a:ext cx="8381999" cy="381000"/>
          </a:xfrm>
          <a:prstGeom prst="rect">
            <a:avLst/>
          </a:prstGeom>
          <a:noFill/>
        </p:spPr>
        <p:txBody>
          <a:bodyPr wrap="square" lIns="73152" tIns="36576" rIns="73152" bIns="36576" anchor="ctr"/>
          <a:lstStyle/>
          <a:p>
            <a:pPr algn="ctr" rtl="1"/>
            <a:r>
              <a:rPr lang="ar-AE" altLang="en-US" sz="1500" b="1" i="0">
                <a:solidFill>
                  <a:srgbClr val="9A7B3F"/>
                </a:solidFill>
                <a:latin typeface="Arial"/>
                <a:cs typeface="Arial"/>
              </a:rPr>
              <a:t>لكل نشاط مؤقّت زمني… نلتزم بالوقت لنحقق نواتج التعلم</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219325" y="4748212"/>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433304" y="1344168"/>
            <a:ext cx="1426464"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مفردات الدرس</a:t>
            </a:r>
          </a:p>
        </p:txBody>
      </p:sp>
      <p:sp>
        <p:nvSpPr>
          <p:cNvPr id="21" name="TextBox 20"/>
          <p:cNvSpPr txBox="1"/>
          <p:nvPr/>
        </p:nvSpPr>
        <p:spPr>
          <a:xfrm>
            <a:off x="6213475" y="1280160"/>
            <a:ext cx="4110101"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المفردات الجديدة</a:t>
            </a:r>
          </a:p>
        </p:txBody>
      </p:sp>
      <p:pic>
        <p:nvPicPr>
          <p:cNvPr id="22" name="Picture 21" descr="badge_hessa.png"/>
          <p:cNvPicPr>
            <a:picLocks noChangeAspect="1"/>
          </p:cNvPicPr>
          <p:nvPr/>
        </p:nvPicPr>
        <p:blipFill>
          <a:blip r:embed="rId4"/>
          <a:stretch>
            <a:fillRect/>
          </a:stretch>
        </p:blipFill>
        <p:spPr>
          <a:xfrm>
            <a:off x="2560320" y="1222153"/>
            <a:ext cx="566928" cy="588358"/>
          </a:xfrm>
          <a:prstGeom prst="rect">
            <a:avLst/>
          </a:prstGeom>
        </p:spPr>
      </p:pic>
      <p:sp>
        <p:nvSpPr>
          <p:cNvPr id="23" name="Rounded Rectangular Callout 22"/>
          <p:cNvSpPr/>
          <p:nvPr/>
        </p:nvSpPr>
        <p:spPr>
          <a:xfrm>
            <a:off x="3209544" y="1307592"/>
            <a:ext cx="2875914" cy="420624"/>
          </a:xfrm>
          <a:prstGeom prst="wedgeRoundRectCallout">
            <a:avLst>
              <a:gd name="adj1" fmla="val -53815"/>
              <a:gd name="adj2" fmla="val 18000"/>
              <a:gd name="adj3" fmla="val 16667"/>
            </a:avLst>
          </a:prstGeom>
          <a:solidFill>
            <a:srgbClr val="FFFFFF"/>
          </a:solidFill>
          <a:ln w="19050">
            <a:solidFill>
              <a:srgbClr val="7D1F2E"/>
            </a:solidFill>
          </a:ln>
        </p:spPr>
        <p:txBody>
          <a:bodyPr lIns="54864" tIns="27432" rIns="54864" bIns="27432" rtlCol="0" anchor="ctr"/>
          <a:lstStyle/>
          <a:p>
            <a:pPr algn="ctr"/>
            <a:endParaRPr/>
          </a:p>
        </p:txBody>
      </p:sp>
      <p:sp>
        <p:nvSpPr>
          <p:cNvPr id="24" name="TextBox 23"/>
          <p:cNvSpPr txBox="1"/>
          <p:nvPr/>
        </p:nvSpPr>
        <p:spPr>
          <a:xfrm>
            <a:off x="3246120" y="1307592"/>
            <a:ext cx="2802762" cy="420624"/>
          </a:xfrm>
          <a:prstGeom prst="rect">
            <a:avLst/>
          </a:prstGeom>
          <a:noFill/>
        </p:spPr>
        <p:txBody>
          <a:bodyPr wrap="square" lIns="36576" tIns="0" rIns="36576" bIns="0" anchor="ctr"/>
          <a:lstStyle/>
          <a:p>
            <a:pPr algn="r" rtl="1"/>
            <a:r>
              <a:rPr lang="ar-AE" altLang="en-US" sz="1150" b="1" i="0">
                <a:solidFill>
                  <a:srgbClr val="7D1F2E"/>
                </a:solidFill>
                <a:latin typeface="Arial"/>
                <a:cs typeface="Arial"/>
              </a:rPr>
              <a:t>حصة: </a:t>
            </a:r>
            <a:r>
              <a:rPr lang="ar-AE" altLang="en-US" sz="1150" b="1" i="0">
                <a:solidFill>
                  <a:srgbClr val="102A43"/>
                </a:solidFill>
                <a:latin typeface="Arial"/>
                <a:cs typeface="Arial"/>
              </a:rPr>
              <a:t>توقّعوا المعنى قبل أن يظهر!</a:t>
            </a:r>
          </a:p>
        </p:txBody>
      </p:sp>
      <p:sp>
        <p:nvSpPr>
          <p:cNvPr id="25" name="Rounded Rectangle 24"/>
          <p:cNvSpPr/>
          <p:nvPr/>
        </p:nvSpPr>
        <p:spPr>
          <a:xfrm>
            <a:off x="731519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6" name="Rounded Rectangle 25"/>
          <p:cNvSpPr/>
          <p:nvPr/>
        </p:nvSpPr>
        <p:spPr>
          <a:xfrm>
            <a:off x="7406640" y="1993392"/>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a:solidFill>
                  <a:srgbClr val="5B3B91"/>
                </a:solidFill>
                <a:latin typeface="Arial"/>
                <a:cs typeface="Arial"/>
              </a:rPr>
              <a:t>تثبيت النيتروجين</a:t>
            </a:r>
            <a:r>
              <a:rPr lang="ar-AE" altLang="en-US" sz="1200" b="1" i="0">
                <a:solidFill>
                  <a:srgbClr val="7A8699"/>
                </a:solidFill>
                <a:latin typeface="Arial"/>
                <a:cs typeface="Arial"/>
              </a:rPr>
              <a:t>  Nitrogen fixation</a:t>
            </a:r>
          </a:p>
        </p:txBody>
      </p:sp>
      <p:sp>
        <p:nvSpPr>
          <p:cNvPr id="27" name="TextBox 26"/>
          <p:cNvSpPr txBox="1"/>
          <p:nvPr/>
        </p:nvSpPr>
        <p:spPr>
          <a:xfrm>
            <a:off x="7424927" y="2578608"/>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عملية الحصول على غاز النيتروجين من الهواء وتحويله إلى شكل يمكن للنباتات استخدامه.</a:t>
            </a:r>
          </a:p>
        </p:txBody>
      </p:sp>
      <p:sp>
        <p:nvSpPr>
          <p:cNvPr id="28" name="Rounded Rectangle 27"/>
          <p:cNvSpPr/>
          <p:nvPr/>
        </p:nvSpPr>
        <p:spPr>
          <a:xfrm>
            <a:off x="265175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9" name="Rounded Rectangle 28"/>
          <p:cNvSpPr/>
          <p:nvPr/>
        </p:nvSpPr>
        <p:spPr>
          <a:xfrm>
            <a:off x="2743199" y="1993392"/>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a:solidFill>
                  <a:srgbClr val="5B3B91"/>
                </a:solidFill>
                <a:latin typeface="Arial"/>
                <a:cs typeface="Arial"/>
              </a:rPr>
              <a:t>إزالة النيتروجين</a:t>
            </a:r>
            <a:r>
              <a:rPr lang="ar-AE" altLang="en-US" sz="1200" b="1" i="0">
                <a:solidFill>
                  <a:srgbClr val="7A8699"/>
                </a:solidFill>
                <a:latin typeface="Arial"/>
                <a:cs typeface="Arial"/>
              </a:rPr>
              <a:t>  Denitrification</a:t>
            </a:r>
          </a:p>
        </p:txBody>
      </p:sp>
      <p:sp>
        <p:nvSpPr>
          <p:cNvPr id="30" name="TextBox 29"/>
          <p:cNvSpPr txBox="1"/>
          <p:nvPr/>
        </p:nvSpPr>
        <p:spPr>
          <a:xfrm>
            <a:off x="2761487" y="2578608"/>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عملية تحوّل فيها بعض بكتيريا التربة مركّبات النيتروجين المثبّتة إلى غاز نيتروجين يعود إلى الغلاف الجوي.</a:t>
            </a:r>
          </a:p>
        </p:txBody>
      </p:sp>
      <p:sp>
        <p:nvSpPr>
          <p:cNvPr id="31" name="Rounded Rectangle 30"/>
          <p:cNvSpPr/>
          <p:nvPr/>
        </p:nvSpPr>
        <p:spPr>
          <a:xfrm>
            <a:off x="731519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2" name="Rounded Rectangle 31"/>
          <p:cNvSpPr/>
          <p:nvPr/>
        </p:nvSpPr>
        <p:spPr>
          <a:xfrm>
            <a:off x="7406640" y="3822191"/>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dirty="0">
                <a:solidFill>
                  <a:srgbClr val="5B3B91"/>
                </a:solidFill>
                <a:latin typeface="Arial"/>
                <a:cs typeface="Arial"/>
              </a:rPr>
              <a:t>الأمونيا والنترات</a:t>
            </a:r>
            <a:r>
              <a:rPr lang="ar-AE" altLang="en-US" sz="1200" b="1" i="0" dirty="0">
                <a:solidFill>
                  <a:srgbClr val="7A8699"/>
                </a:solidFill>
                <a:latin typeface="Arial"/>
                <a:cs typeface="Arial"/>
              </a:rPr>
              <a:t>  Ammonia &amp; Nitrate</a:t>
            </a:r>
          </a:p>
        </p:txBody>
      </p:sp>
      <p:sp>
        <p:nvSpPr>
          <p:cNvPr id="33" name="TextBox 32"/>
          <p:cNvSpPr txBox="1"/>
          <p:nvPr/>
        </p:nvSpPr>
        <p:spPr>
          <a:xfrm>
            <a:off x="7424927" y="4407407"/>
            <a:ext cx="4306824" cy="1005840"/>
          </a:xfrm>
          <a:prstGeom prst="rect">
            <a:avLst/>
          </a:prstGeom>
          <a:noFill/>
        </p:spPr>
        <p:txBody>
          <a:bodyPr wrap="square" lIns="54864" tIns="18288" rIns="54864" bIns="18288" anchor="ctr"/>
          <a:lstStyle/>
          <a:p>
            <a:pPr algn="r" rtl="1"/>
            <a:r>
              <a:rPr lang="ar-AE" altLang="en-US" sz="1400" b="1" i="0" dirty="0">
                <a:solidFill>
                  <a:srgbClr val="102A43"/>
                </a:solidFill>
                <a:latin typeface="Arial"/>
                <a:cs typeface="Arial"/>
              </a:rPr>
              <a:t>مركّبات نيتروجينية في التربة: الأمونيا </a:t>
            </a:r>
            <a:r>
              <a:rPr lang="ar-AE" altLang="en-US" sz="1400" b="1" i="0" baseline="-25000" dirty="0">
                <a:solidFill>
                  <a:srgbClr val="102A43"/>
                </a:solidFill>
                <a:latin typeface="Arial"/>
                <a:cs typeface="Arial"/>
              </a:rPr>
              <a:t>3</a:t>
            </a:r>
            <a:r>
              <a:rPr lang="ar-AE" altLang="en-US" sz="1400" b="1" dirty="0">
                <a:solidFill>
                  <a:srgbClr val="102A43"/>
                </a:solidFill>
                <a:latin typeface="Arial"/>
                <a:cs typeface="Arial"/>
              </a:rPr>
              <a:t>NH </a:t>
            </a:r>
            <a:r>
              <a:rPr lang="ar-AE" altLang="en-US" sz="1400" b="1" i="0" dirty="0">
                <a:solidFill>
                  <a:srgbClr val="102A43"/>
                </a:solidFill>
                <a:latin typeface="Arial"/>
                <a:cs typeface="Arial"/>
              </a:rPr>
              <a:t>تنتجها المحللات، والنترات </a:t>
            </a:r>
            <a:r>
              <a:rPr lang="ar-AE" altLang="en-US" sz="1400" b="1" i="0" baseline="-25000" dirty="0">
                <a:solidFill>
                  <a:srgbClr val="102A43"/>
                </a:solidFill>
                <a:latin typeface="Arial"/>
                <a:cs typeface="Arial"/>
              </a:rPr>
              <a:t>3</a:t>
            </a:r>
            <a:r>
              <a:rPr lang="ar-AE" altLang="en-US" sz="1400" b="1" i="0" baseline="30000" dirty="0">
                <a:solidFill>
                  <a:srgbClr val="102A43"/>
                </a:solidFill>
                <a:latin typeface="Arial"/>
                <a:cs typeface="Arial"/>
              </a:rPr>
              <a:t>-</a:t>
            </a:r>
            <a:r>
              <a:rPr lang="ar-AE" altLang="en-US" sz="1400" b="1" dirty="0">
                <a:solidFill>
                  <a:srgbClr val="102A43"/>
                </a:solidFill>
                <a:latin typeface="Arial"/>
                <a:cs typeface="Arial"/>
              </a:rPr>
              <a:t>NO </a:t>
            </a:r>
            <a:r>
              <a:rPr lang="ar-AE" altLang="en-US" sz="1400" b="1" i="0" dirty="0">
                <a:solidFill>
                  <a:srgbClr val="102A43"/>
                </a:solidFill>
                <a:latin typeface="Arial"/>
                <a:cs typeface="Arial"/>
              </a:rPr>
              <a:t>تمتصها النباتات بسهولة.</a:t>
            </a:r>
          </a:p>
        </p:txBody>
      </p:sp>
      <p:sp>
        <p:nvSpPr>
          <p:cNvPr id="34" name="Rounded Rectangle 33"/>
          <p:cNvSpPr/>
          <p:nvPr/>
        </p:nvSpPr>
        <p:spPr>
          <a:xfrm>
            <a:off x="265175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5" name="Rounded Rectangle 34"/>
          <p:cNvSpPr/>
          <p:nvPr/>
        </p:nvSpPr>
        <p:spPr>
          <a:xfrm>
            <a:off x="2743199" y="3822191"/>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dirty="0">
                <a:solidFill>
                  <a:srgbClr val="5B3B91"/>
                </a:solidFill>
                <a:latin typeface="Arial"/>
                <a:cs typeface="Arial"/>
              </a:rPr>
              <a:t>العُقد الجذرية</a:t>
            </a:r>
            <a:r>
              <a:rPr lang="ar-AE" altLang="en-US" sz="1200" b="1" i="0" dirty="0">
                <a:solidFill>
                  <a:srgbClr val="7A8699"/>
                </a:solidFill>
                <a:latin typeface="Arial"/>
                <a:cs typeface="Arial"/>
              </a:rPr>
              <a:t>  Root nodules</a:t>
            </a:r>
          </a:p>
        </p:txBody>
      </p:sp>
      <p:sp>
        <p:nvSpPr>
          <p:cNvPr id="36" name="TextBox 35"/>
          <p:cNvSpPr txBox="1"/>
          <p:nvPr/>
        </p:nvSpPr>
        <p:spPr>
          <a:xfrm>
            <a:off x="2761487" y="4407407"/>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انتفاخات على جذور البقوليات تعيش فيها بكتيريا مثبّتة للنيتروجين في علاقة تبادل منفعة.</a:t>
            </a:r>
          </a:p>
        </p:txBody>
      </p:sp>
      <p:pic>
        <p:nvPicPr>
          <p:cNvPr id="48" name="Picture 47">
            <a:extLst>
              <a:ext uri="{FF2B5EF4-FFF2-40B4-BE49-F238E27FC236}">
                <a16:creationId xmlns:a16="http://schemas.microsoft.com/office/drawing/2014/main" id="{4E98228F-7838-4D3D-9755-6E33EC02EC2A}"/>
              </a:ext>
            </a:extLst>
          </p:cNvPr>
          <p:cNvPicPr>
            <a:picLocks noChangeAspect="1"/>
          </p:cNvPicPr>
          <p:nvPr/>
        </p:nvPicPr>
        <p:blipFill>
          <a:blip r:embed="rId5"/>
          <a:stretch>
            <a:fillRect/>
          </a:stretch>
        </p:blipFill>
        <p:spPr>
          <a:xfrm>
            <a:off x="10117984" y="5223604"/>
            <a:ext cx="1576281" cy="1549719"/>
          </a:xfrm>
          <a:prstGeom prst="rect">
            <a:avLst/>
          </a:prstGeom>
        </p:spPr>
      </p:pic>
      <p:pic>
        <p:nvPicPr>
          <p:cNvPr id="50" name="Picture 49">
            <a:extLst>
              <a:ext uri="{FF2B5EF4-FFF2-40B4-BE49-F238E27FC236}">
                <a16:creationId xmlns:a16="http://schemas.microsoft.com/office/drawing/2014/main" id="{B27E467A-757E-488B-BCC0-AABE9EA79DD4}"/>
              </a:ext>
            </a:extLst>
          </p:cNvPr>
          <p:cNvPicPr>
            <a:picLocks noChangeAspect="1"/>
          </p:cNvPicPr>
          <p:nvPr/>
        </p:nvPicPr>
        <p:blipFill>
          <a:blip r:embed="rId6"/>
          <a:stretch>
            <a:fillRect/>
          </a:stretch>
        </p:blipFill>
        <p:spPr>
          <a:xfrm>
            <a:off x="7839073" y="5005197"/>
            <a:ext cx="1812798" cy="1812798"/>
          </a:xfrm>
          <a:prstGeom prst="rect">
            <a:avLst/>
          </a:prstGeom>
        </p:spPr>
      </p:pic>
      <p:pic>
        <p:nvPicPr>
          <p:cNvPr id="52" name="Picture 51">
            <a:extLst>
              <a:ext uri="{FF2B5EF4-FFF2-40B4-BE49-F238E27FC236}">
                <a16:creationId xmlns:a16="http://schemas.microsoft.com/office/drawing/2014/main" id="{CDEE6E50-574B-405E-A72F-16D6564530E2}"/>
              </a:ext>
            </a:extLst>
          </p:cNvPr>
          <p:cNvPicPr>
            <a:picLocks noChangeAspect="1"/>
          </p:cNvPicPr>
          <p:nvPr/>
        </p:nvPicPr>
        <p:blipFill>
          <a:blip r:embed="rId7"/>
          <a:stretch>
            <a:fillRect/>
          </a:stretch>
        </p:blipFill>
        <p:spPr>
          <a:xfrm>
            <a:off x="3148057" y="5066728"/>
            <a:ext cx="2647490" cy="1791271"/>
          </a:xfrm>
          <a:prstGeom prst="rect">
            <a:avLst/>
          </a:prstGeom>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5"/>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childTnLst>
              </p:cTn>
              <p:nextCondLst>
                <p:cond evt="onNext" delay="0">
                  <p:tgtEl>
                    <p:sldTgt/>
                  </p:tgtEl>
                </p:cond>
              </p:nextCondLst>
            </p:seq>
          </p:childTnLst>
        </p:cTn>
      </p:par>
    </p:tnLst>
    <p:bldLst>
      <p:bldP spid="27" grpId="0" animBg="1"/>
      <p:bldP spid="30" grpId="0" animBg="1"/>
      <p:bldP spid="33"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read.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5219700" y="1781175"/>
            <a:ext cx="6096000" cy="257175"/>
          </a:xfrm>
          <a:prstGeom prst="rect">
            <a:avLst/>
          </a:prstGeom>
          <a:noFill/>
        </p:spPr>
        <p:txBody>
          <a:bodyPr wrap="square" lIns="18288" tIns="0" rIns="18288" bIns="0" anchor="ctr"/>
          <a:lstStyle/>
          <a:p>
            <a:pPr algn="r" rtl="1"/>
            <a:r>
              <a:rPr lang="ar-AE" altLang="en-US" sz="1400" b="1" i="0">
                <a:solidFill>
                  <a:srgbClr val="2C8E99"/>
                </a:solidFill>
                <a:latin typeface="Arial"/>
                <a:cs typeface="Arial"/>
              </a:rPr>
              <a:t>تثبيت النيتروجين – من كتاب الطالب</a:t>
            </a:r>
          </a:p>
        </p:txBody>
      </p:sp>
      <p:sp>
        <p:nvSpPr>
          <p:cNvPr id="4" name="TextBox 3"/>
          <p:cNvSpPr txBox="1"/>
          <p:nvPr/>
        </p:nvSpPr>
        <p:spPr>
          <a:xfrm>
            <a:off x="5200650" y="2190750"/>
            <a:ext cx="6191250" cy="2619375"/>
          </a:xfrm>
          <a:prstGeom prst="rect">
            <a:avLst/>
          </a:prstGeom>
          <a:noFill/>
        </p:spPr>
        <p:txBody>
          <a:bodyPr wrap="square" lIns="45720" tIns="18288" rIns="45720" bIns="18288" anchor="t"/>
          <a:lstStyle/>
          <a:p>
            <a:pPr algn="r" rtl="1">
              <a:lnSpc>
                <a:spcPct val="112000"/>
              </a:lnSpc>
            </a:pPr>
            <a:r>
              <a:rPr lang="ar-AE" altLang="en-US" sz="1600" b="0" i="0">
                <a:solidFill>
                  <a:srgbClr val="1F2F46"/>
                </a:solidFill>
                <a:latin typeface="Arial"/>
                <a:cs typeface="Arial"/>
              </a:rPr>
              <a:t>النيتروجين عنصر موجود في البروتينات، وتركيزه الأكبر في الغلاف الجوي. لا تستطيع النباتات والحيوانات استخدام النيتروجين مباشرة من الغلاف الجوي؛ إذ تحصل أنواع من البكتيريا التي تعيش في الماء أو التربة أو تنمو على جذور بعض النباتات على غاز النيتروجين من الهواء. تُسمّى عملية الحصول على النيتروجين وتحويله إلى شكل يمكن للنباتات استخدامه تثبيت النيتروجين. كما يُثبَّت بعض النيتروجين أثناء العواصف عندما تحوّل طاقة البرق غاز النيتروجين إلى نترات، ويُضاف النيتروجين إلى التربة أيضًا مع الأسمدة الكيميائية.</a:t>
            </a:r>
          </a:p>
        </p:txBody>
      </p:sp>
      <p:sp>
        <p:nvSpPr>
          <p:cNvPr id="5" name="Oval 4"/>
          <p:cNvSpPr/>
          <p:nvPr/>
        </p:nvSpPr>
        <p:spPr>
          <a:xfrm>
            <a:off x="5200650" y="5410200"/>
            <a:ext cx="552450" cy="552450"/>
          </a:xfrm>
          <a:prstGeom prst="ellipse">
            <a:avLst/>
          </a:prstGeom>
          <a:solidFill>
            <a:srgbClr val="159A65"/>
          </a:solidFill>
          <a:ln>
            <a:noFill/>
          </a:ln>
        </p:spPr>
        <p:txBody>
          <a:bodyPr wrap="square" lIns="0" tIns="0" rIns="0" bIns="0" rtlCol="0" anchor="ctr"/>
          <a:lstStyle/>
          <a:p>
            <a:pPr algn="ctr" rtl="1"/>
            <a:r>
              <a:rPr lang="ar-AE" altLang="en-US" sz="1800" b="1" i="0">
                <a:solidFill>
                  <a:srgbClr val="FFFFFF"/>
                </a:solidFill>
                <a:latin typeface="Arial"/>
                <a:cs typeface="Arial"/>
              </a:rPr>
              <a:t>1</a:t>
            </a:r>
          </a:p>
        </p:txBody>
      </p:sp>
      <p:sp>
        <p:nvSpPr>
          <p:cNvPr id="6" name="TextBox 5"/>
          <p:cNvSpPr txBox="1"/>
          <p:nvPr/>
        </p:nvSpPr>
        <p:spPr>
          <a:xfrm>
            <a:off x="5829300" y="5267325"/>
            <a:ext cx="2247900" cy="876300"/>
          </a:xfrm>
          <a:prstGeom prst="rect">
            <a:avLst/>
          </a:prstGeom>
          <a:noFill/>
        </p:spPr>
        <p:txBody>
          <a:bodyPr wrap="square" lIns="36576" tIns="0" rIns="36576" bIns="0" anchor="ctr"/>
          <a:lstStyle/>
          <a:p>
            <a:pPr algn="r" rtl="1"/>
            <a:r>
              <a:rPr lang="ar-AE" altLang="en-US" sz="1250" b="1" i="0">
                <a:solidFill>
                  <a:srgbClr val="124D33"/>
                </a:solidFill>
                <a:latin typeface="Arial"/>
                <a:cs typeface="Arial"/>
              </a:rPr>
              <a:t>اذكر ثلاث طرق لتثبيت النيتروجين.</a:t>
            </a:r>
          </a:p>
        </p:txBody>
      </p:sp>
      <p:sp>
        <p:nvSpPr>
          <p:cNvPr id="7" name="Oval 6"/>
          <p:cNvSpPr/>
          <p:nvPr/>
        </p:nvSpPr>
        <p:spPr>
          <a:xfrm>
            <a:off x="8629650" y="5410200"/>
            <a:ext cx="552450" cy="552450"/>
          </a:xfrm>
          <a:prstGeom prst="ellipse">
            <a:avLst/>
          </a:prstGeom>
          <a:solidFill>
            <a:srgbClr val="E1A94C"/>
          </a:solidFill>
          <a:ln>
            <a:noFill/>
          </a:ln>
        </p:spPr>
        <p:txBody>
          <a:bodyPr wrap="square" lIns="0" tIns="0" rIns="0" bIns="0" rtlCol="0" anchor="ctr"/>
          <a:lstStyle/>
          <a:p>
            <a:pPr algn="ctr" rtl="1"/>
            <a:r>
              <a:rPr lang="ar-AE" altLang="en-US" sz="1800" b="1" i="0">
                <a:solidFill>
                  <a:srgbClr val="FFFFFF"/>
                </a:solidFill>
                <a:latin typeface="Arial"/>
                <a:cs typeface="Arial"/>
              </a:rPr>
              <a:t>2</a:t>
            </a:r>
          </a:p>
        </p:txBody>
      </p:sp>
      <p:sp>
        <p:nvSpPr>
          <p:cNvPr id="8" name="TextBox 7"/>
          <p:cNvSpPr txBox="1"/>
          <p:nvPr/>
        </p:nvSpPr>
        <p:spPr>
          <a:xfrm>
            <a:off x="9258300" y="5267325"/>
            <a:ext cx="2247900" cy="876300"/>
          </a:xfrm>
          <a:prstGeom prst="rect">
            <a:avLst/>
          </a:prstGeom>
          <a:noFill/>
        </p:spPr>
        <p:txBody>
          <a:bodyPr wrap="square" lIns="36576" tIns="0" rIns="36576" bIns="0" anchor="ctr"/>
          <a:lstStyle/>
          <a:p>
            <a:pPr algn="r" rtl="1"/>
            <a:r>
              <a:rPr lang="ar-AE" altLang="en-US" sz="1250" b="1" i="0">
                <a:solidFill>
                  <a:srgbClr val="6B4A10"/>
                </a:solidFill>
                <a:latin typeface="Arial"/>
                <a:cs typeface="Arial"/>
              </a:rPr>
              <a:t>كيف تحصل الحيوانات على النيتروجين؟</a:t>
            </a:r>
          </a:p>
        </p:txBody>
      </p:sp>
      <p:sp>
        <p:nvSpPr>
          <p:cNvPr id="9" name="Rounded Rectangle 8"/>
          <p:cNvSpPr/>
          <p:nvPr/>
        </p:nvSpPr>
        <p:spPr>
          <a:xfrm>
            <a:off x="5048250" y="5229225"/>
            <a:ext cx="3048000" cy="914400"/>
          </a:xfrm>
          <a:prstGeom prst="roundRect">
            <a:avLst>
              <a:gd name="adj" fmla="val 10000"/>
            </a:avLst>
          </a:prstGeom>
          <a:solidFill>
            <a:srgbClr val="DDF3E6"/>
          </a:solidFill>
          <a:ln w="19050">
            <a:solidFill>
              <a:srgbClr val="159A65"/>
            </a:solidFill>
          </a:ln>
        </p:spPr>
        <p:txBody>
          <a:bodyPr wrap="square" tIns="27432" bIns="27432" rtlCol="0" anchor="ctr"/>
          <a:lstStyle/>
          <a:p>
            <a:pPr algn="r" rtl="1"/>
            <a:r>
              <a:rPr lang="ar-AE" altLang="en-US" sz="1250" b="1" i="0">
                <a:solidFill>
                  <a:srgbClr val="124D33"/>
                </a:solidFill>
                <a:latin typeface="Arial"/>
                <a:cs typeface="Arial"/>
              </a:rPr>
              <a:t>البكتيريا المثبّتة للنيتروجين، والبرق، والأسمدة الكيميائية.</a:t>
            </a:r>
          </a:p>
        </p:txBody>
      </p:sp>
      <p:sp>
        <p:nvSpPr>
          <p:cNvPr id="10" name="Rounded Rectangle 9"/>
          <p:cNvSpPr/>
          <p:nvPr/>
        </p:nvSpPr>
        <p:spPr>
          <a:xfrm>
            <a:off x="8477250" y="5229225"/>
            <a:ext cx="3048000" cy="914400"/>
          </a:xfrm>
          <a:prstGeom prst="roundRect">
            <a:avLst>
              <a:gd name="adj" fmla="val 10000"/>
            </a:avLst>
          </a:prstGeom>
          <a:solidFill>
            <a:srgbClr val="FDF0D5"/>
          </a:solidFill>
          <a:ln w="19050">
            <a:solidFill>
              <a:srgbClr val="E1A94C"/>
            </a:solidFill>
          </a:ln>
        </p:spPr>
        <p:txBody>
          <a:bodyPr wrap="square" tIns="27432" bIns="27432" rtlCol="0" anchor="ctr"/>
          <a:lstStyle/>
          <a:p>
            <a:pPr algn="r" rtl="1"/>
            <a:r>
              <a:rPr lang="ar-AE" altLang="en-US" sz="1250" b="1" i="0">
                <a:solidFill>
                  <a:srgbClr val="6B4A10"/>
                </a:solidFill>
                <a:latin typeface="Arial"/>
                <a:cs typeface="Arial"/>
              </a:rPr>
              <a:t>بالتغذّي على النباتات أو على حيوانات أخرى تحتوي بروتيناتها على النيتروجين.</a:t>
            </a:r>
          </a:p>
        </p:txBody>
      </p:sp>
      <p:pic>
        <p:nvPicPr>
          <p:cNvPr id="11"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75488" y="502920"/>
            <a:ext cx="1207008" cy="1207008"/>
          </a:xfrm>
          <a:prstGeom prst="rect">
            <a:avLst/>
          </a:prstGeom>
        </p:spPr>
      </p:pic>
      <p:pic>
        <p:nvPicPr>
          <p:cNvPr id="12" name="Picture 11" descr="badge_hessa.png"/>
          <p:cNvPicPr>
            <a:picLocks noChangeAspect="1"/>
          </p:cNvPicPr>
          <p:nvPr/>
        </p:nvPicPr>
        <p:blipFill>
          <a:blip r:embed="rId7"/>
          <a:stretch>
            <a:fillRect/>
          </a:stretch>
        </p:blipFill>
        <p:spPr>
          <a:xfrm>
            <a:off x="1828800" y="545340"/>
            <a:ext cx="658368" cy="683254"/>
          </a:xfrm>
          <a:prstGeom prst="rect">
            <a:avLst/>
          </a:prstGeom>
        </p:spPr>
      </p:pic>
      <p:sp>
        <p:nvSpPr>
          <p:cNvPr id="13" name="Rounded Rectangular Callout 12"/>
          <p:cNvSpPr/>
          <p:nvPr/>
        </p:nvSpPr>
        <p:spPr>
          <a:xfrm>
            <a:off x="2596896" y="530352"/>
            <a:ext cx="4169664" cy="713232"/>
          </a:xfrm>
          <a:prstGeom prst="wedgeRoundRectCallout">
            <a:avLst>
              <a:gd name="adj1" fmla="val -53508"/>
              <a:gd name="adj2" fmla="val 12000"/>
              <a:gd name="adj3" fmla="val 16667"/>
            </a:avLst>
          </a:prstGeom>
          <a:solidFill>
            <a:srgbClr val="FFFFFF"/>
          </a:solidFill>
          <a:ln w="22225">
            <a:solidFill>
              <a:srgbClr val="7D1F2E"/>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4" name="TextBox 13"/>
          <p:cNvSpPr txBox="1"/>
          <p:nvPr/>
        </p:nvSpPr>
        <p:spPr>
          <a:xfrm>
            <a:off x="2651760" y="548640"/>
            <a:ext cx="4059936" cy="676656"/>
          </a:xfrm>
          <a:prstGeom prst="rect">
            <a:avLst/>
          </a:prstGeom>
          <a:noFill/>
        </p:spPr>
        <p:txBody>
          <a:bodyPr wrap="square" lIns="54864" tIns="27432" rIns="54864" bIns="27432" anchor="ctr"/>
          <a:lstStyle/>
          <a:p>
            <a:pPr algn="r" rtl="1"/>
            <a:r>
              <a:rPr lang="ar-AE" altLang="en-US" sz="1250" b="1" i="0">
                <a:solidFill>
                  <a:srgbClr val="7D1F2E"/>
                </a:solidFill>
                <a:latin typeface="Arial"/>
                <a:cs typeface="Arial"/>
              </a:rPr>
              <a:t>حصة: </a:t>
            </a:r>
            <a:r>
              <a:rPr lang="ar-AE" altLang="en-US" sz="1250" b="1" i="0">
                <a:solidFill>
                  <a:srgbClr val="102A43"/>
                </a:solidFill>
                <a:latin typeface="Arial"/>
                <a:cs typeface="Arial"/>
              </a:rPr>
              <a:t>اقرؤوا الفقرة في المجموعة، ثم أجيبوا عن السؤالين</a:t>
            </a:r>
          </a:p>
        </p:txBody>
      </p:sp>
      <p:pic>
        <p:nvPicPr>
          <p:cNvPr id="16" name="Picture 15">
            <a:extLst>
              <a:ext uri="{FF2B5EF4-FFF2-40B4-BE49-F238E27FC236}">
                <a16:creationId xmlns:a16="http://schemas.microsoft.com/office/drawing/2014/main" id="{301BDAAB-4E61-444D-B7E2-510C7169D314}"/>
              </a:ext>
            </a:extLst>
          </p:cNvPr>
          <p:cNvPicPr>
            <a:picLocks noChangeAspect="1"/>
          </p:cNvPicPr>
          <p:nvPr/>
        </p:nvPicPr>
        <p:blipFill>
          <a:blip r:embed="rId8"/>
          <a:stretch>
            <a:fillRect/>
          </a:stretch>
        </p:blipFill>
        <p:spPr>
          <a:xfrm>
            <a:off x="2885961" y="4256913"/>
            <a:ext cx="2086089" cy="2619375"/>
          </a:xfrm>
          <a:prstGeom prst="rect">
            <a:avLst/>
          </a:prstGeom>
        </p:spPr>
      </p:pic>
      <p:pic>
        <p:nvPicPr>
          <p:cNvPr id="18" name="Picture 17">
            <a:extLst>
              <a:ext uri="{FF2B5EF4-FFF2-40B4-BE49-F238E27FC236}">
                <a16:creationId xmlns:a16="http://schemas.microsoft.com/office/drawing/2014/main" id="{DEDB34C5-46F7-4533-A167-E5F5179D6960}"/>
              </a:ext>
            </a:extLst>
          </p:cNvPr>
          <p:cNvPicPr>
            <a:picLocks noChangeAspect="1"/>
          </p:cNvPicPr>
          <p:nvPr/>
        </p:nvPicPr>
        <p:blipFill>
          <a:blip r:embed="rId9"/>
          <a:stretch>
            <a:fillRect/>
          </a:stretch>
        </p:blipFill>
        <p:spPr>
          <a:xfrm>
            <a:off x="5706447" y="3926413"/>
            <a:ext cx="1731606" cy="1284524"/>
          </a:xfrm>
          <a:prstGeom prst="rect">
            <a:avLst/>
          </a:prstGeom>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1"/>
                                        </p:tgtEl>
                                      </p:cBhvr>
                                    </p:cmd>
                                  </p:childTnLst>
                                </p:cTn>
                              </p:par>
                            </p:childTnLst>
                          </p:cTn>
                        </p:par>
                      </p:childTnLst>
                    </p:cTn>
                  </p:par>
                </p:childTnLst>
              </p:cTn>
              <p:nextCondLst>
                <p:cond evt="onNext" delay="0">
                  <p:tgtEl>
                    <p:sldTgt/>
                  </p:tgtEl>
                </p:cond>
              </p:nextCondLst>
            </p:seq>
            <p:video>
              <p:cMediaNode vol="80000">
                <p:cTn id="19" fill="hold" display="0">
                  <p:stCondLst>
                    <p:cond delay="indefinite"/>
                  </p:stCondLst>
                </p:cTn>
                <p:tgtEl>
                  <p:spTgt spid="11"/>
                </p:tgtEl>
              </p:cMediaNode>
            </p:video>
          </p:childTnLst>
        </p:cTn>
      </p:par>
    </p:tnLst>
    <p:bldLst>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تثبيت النيتروجين</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433304" y="1344168"/>
            <a:ext cx="1426464"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الأول</a:t>
            </a:r>
          </a:p>
        </p:txBody>
      </p:sp>
      <p:sp>
        <p:nvSpPr>
          <p:cNvPr id="22" name="TextBox 21"/>
          <p:cNvSpPr txBox="1"/>
          <p:nvPr/>
        </p:nvSpPr>
        <p:spPr>
          <a:xfrm>
            <a:off x="5640260" y="1280160"/>
            <a:ext cx="4683316"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كيف يُثبَّت النيتروجين؟</a:t>
            </a:r>
          </a:p>
        </p:txBody>
      </p:sp>
      <p:pic>
        <p:nvPicPr>
          <p:cNvPr id="23" name="Picture 22" descr="badge_fahem.png"/>
          <p:cNvPicPr>
            <a:picLocks noChangeAspect="1"/>
          </p:cNvPicPr>
          <p:nvPr/>
        </p:nvPicPr>
        <p:blipFill>
          <a:blip r:embed="rId4"/>
          <a:stretch>
            <a:fillRect/>
          </a:stretch>
        </p:blipFill>
        <p:spPr>
          <a:xfrm>
            <a:off x="2560320" y="1185137"/>
            <a:ext cx="566928" cy="625374"/>
          </a:xfrm>
          <a:prstGeom prst="rect">
            <a:avLst/>
          </a:prstGeom>
        </p:spPr>
      </p:pic>
      <p:sp>
        <p:nvSpPr>
          <p:cNvPr id="24" name="Rounded Rectangular Callout 23"/>
          <p:cNvSpPr/>
          <p:nvPr/>
        </p:nvSpPr>
        <p:spPr>
          <a:xfrm>
            <a:off x="3209544" y="1307592"/>
            <a:ext cx="2302700" cy="420624"/>
          </a:xfrm>
          <a:prstGeom prst="wedgeRoundRectCallout">
            <a:avLst>
              <a:gd name="adj1" fmla="val -54765"/>
              <a:gd name="adj2" fmla="val 18000"/>
              <a:gd name="adj3" fmla="val 16667"/>
            </a:avLst>
          </a:prstGeom>
          <a:solidFill>
            <a:srgbClr val="FFFFFF"/>
          </a:solidFill>
          <a:ln w="19050">
            <a:solidFill>
              <a:srgbClr val="1E6B3A"/>
            </a:solidFill>
          </a:ln>
        </p:spPr>
        <p:txBody>
          <a:bodyPr lIns="54864" tIns="27432" rIns="54864" bIns="27432" rtlCol="0" anchor="ctr"/>
          <a:lstStyle/>
          <a:p>
            <a:pPr algn="ctr"/>
            <a:endParaRPr/>
          </a:p>
        </p:txBody>
      </p:sp>
      <p:sp>
        <p:nvSpPr>
          <p:cNvPr id="25" name="TextBox 24"/>
          <p:cNvSpPr txBox="1"/>
          <p:nvPr/>
        </p:nvSpPr>
        <p:spPr>
          <a:xfrm>
            <a:off x="3246120" y="1307592"/>
            <a:ext cx="2229548" cy="420624"/>
          </a:xfrm>
          <a:prstGeom prst="rect">
            <a:avLst/>
          </a:prstGeom>
          <a:noFill/>
        </p:spPr>
        <p:txBody>
          <a:bodyPr wrap="square" lIns="36576" tIns="0" rIns="36576" bIns="0" anchor="ctr"/>
          <a:lstStyle/>
          <a:p>
            <a:pPr algn="r" rtl="1"/>
            <a:r>
              <a:rPr lang="ar-AE" altLang="en-US" sz="1150" b="1" i="0">
                <a:solidFill>
                  <a:srgbClr val="1E6B3A"/>
                </a:solidFill>
                <a:latin typeface="Arial"/>
                <a:cs typeface="Arial"/>
              </a:rPr>
              <a:t>فاهم: </a:t>
            </a:r>
            <a:r>
              <a:rPr lang="ar-AE" altLang="en-US" sz="1150" b="1" i="0">
                <a:solidFill>
                  <a:srgbClr val="102A43"/>
                </a:solidFill>
                <a:latin typeface="Arial"/>
                <a:cs typeface="Arial"/>
              </a:rPr>
              <a:t>رابطة N≡N قوية جدًا!</a:t>
            </a:r>
          </a:p>
        </p:txBody>
      </p:sp>
      <p:sp>
        <p:nvSpPr>
          <p:cNvPr id="26" name="Rounded Rectangle 25"/>
          <p:cNvSpPr/>
          <p:nvPr/>
        </p:nvSpPr>
        <p:spPr>
          <a:xfrm>
            <a:off x="8851392" y="1901952"/>
            <a:ext cx="2990088" cy="2761488"/>
          </a:xfrm>
          <a:prstGeom prst="roundRect">
            <a:avLst>
              <a:gd name="adj" fmla="val 3973"/>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7" name="TextBox 26"/>
          <p:cNvSpPr txBox="1"/>
          <p:nvPr/>
        </p:nvSpPr>
        <p:spPr>
          <a:xfrm>
            <a:off x="8924544" y="1938528"/>
            <a:ext cx="2843784" cy="411480"/>
          </a:xfrm>
          <a:prstGeom prst="rect">
            <a:avLst/>
          </a:prstGeom>
          <a:noFill/>
        </p:spPr>
        <p:txBody>
          <a:bodyPr wrap="square" lIns="73152" tIns="36576" rIns="73152" bIns="36576" anchor="ctr"/>
          <a:lstStyle/>
          <a:p>
            <a:pPr algn="ctr" rtl="1"/>
            <a:r>
              <a:rPr lang="ar-AE" altLang="en-US" sz="1450" b="1" i="0">
                <a:solidFill>
                  <a:srgbClr val="5B3B91"/>
                </a:solidFill>
                <a:latin typeface="Arial"/>
                <a:cs typeface="Arial"/>
              </a:rPr>
              <a:t>1) البكتيريا المثبّتة للنيتروجين</a:t>
            </a:r>
          </a:p>
        </p:txBody>
      </p:sp>
      <p:pic>
        <p:nvPicPr>
          <p:cNvPr id="28" name="Picture 27" descr="n_fix_bact.png"/>
          <p:cNvPicPr>
            <a:picLocks noChangeAspect="1"/>
          </p:cNvPicPr>
          <p:nvPr/>
        </p:nvPicPr>
        <p:blipFill>
          <a:blip r:embed="rId5"/>
          <a:stretch>
            <a:fillRect/>
          </a:stretch>
        </p:blipFill>
        <p:spPr>
          <a:xfrm>
            <a:off x="9496417" y="2377440"/>
            <a:ext cx="1700037" cy="1481328"/>
          </a:xfrm>
          <a:prstGeom prst="rect">
            <a:avLst/>
          </a:prstGeom>
        </p:spPr>
      </p:pic>
      <p:sp>
        <p:nvSpPr>
          <p:cNvPr id="29" name="TextBox 28"/>
          <p:cNvSpPr txBox="1"/>
          <p:nvPr/>
        </p:nvSpPr>
        <p:spPr>
          <a:xfrm>
            <a:off x="8942832" y="3886200"/>
            <a:ext cx="2807208" cy="731520"/>
          </a:xfrm>
          <a:prstGeom prst="rect">
            <a:avLst/>
          </a:prstGeom>
          <a:noFill/>
        </p:spPr>
        <p:txBody>
          <a:bodyPr wrap="square" lIns="73152" tIns="36576" rIns="73152" bIns="36576" anchor="ctr"/>
          <a:lstStyle/>
          <a:p>
            <a:pPr algn="ctr" rtl="1"/>
            <a:r>
              <a:rPr lang="ar-AE" altLang="en-US" sz="1250" b="1" i="0">
                <a:solidFill>
                  <a:srgbClr val="102A43"/>
                </a:solidFill>
                <a:latin typeface="Arial"/>
                <a:cs typeface="Arial"/>
              </a:rPr>
              <a:t>تعيش حرّةً في التربة والماء، أو في عُقد جذور البقوليات.</a:t>
            </a:r>
          </a:p>
        </p:txBody>
      </p:sp>
      <p:sp>
        <p:nvSpPr>
          <p:cNvPr id="30" name="Rounded Rectangle 29"/>
          <p:cNvSpPr/>
          <p:nvPr/>
        </p:nvSpPr>
        <p:spPr>
          <a:xfrm>
            <a:off x="5769864" y="1901952"/>
            <a:ext cx="2990088" cy="2761488"/>
          </a:xfrm>
          <a:prstGeom prst="roundRect">
            <a:avLst>
              <a:gd name="adj" fmla="val 3973"/>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1" name="TextBox 30"/>
          <p:cNvSpPr txBox="1"/>
          <p:nvPr/>
        </p:nvSpPr>
        <p:spPr>
          <a:xfrm>
            <a:off x="5843016" y="1938528"/>
            <a:ext cx="2843784" cy="411480"/>
          </a:xfrm>
          <a:prstGeom prst="rect">
            <a:avLst/>
          </a:prstGeom>
          <a:noFill/>
        </p:spPr>
        <p:txBody>
          <a:bodyPr wrap="square" lIns="73152" tIns="36576" rIns="73152" bIns="36576" anchor="ctr"/>
          <a:lstStyle/>
          <a:p>
            <a:pPr algn="ctr" rtl="1"/>
            <a:r>
              <a:rPr lang="ar-AE" altLang="en-US" sz="1450" b="1" i="0">
                <a:solidFill>
                  <a:srgbClr val="D9A21B"/>
                </a:solidFill>
                <a:latin typeface="Arial"/>
                <a:cs typeface="Arial"/>
              </a:rPr>
              <a:t>2) البرق</a:t>
            </a:r>
          </a:p>
        </p:txBody>
      </p:sp>
      <p:pic>
        <p:nvPicPr>
          <p:cNvPr id="32" name="Picture 31" descr="n_fix_light.png"/>
          <p:cNvPicPr>
            <a:picLocks noChangeAspect="1"/>
          </p:cNvPicPr>
          <p:nvPr/>
        </p:nvPicPr>
        <p:blipFill>
          <a:blip r:embed="rId6"/>
          <a:stretch>
            <a:fillRect/>
          </a:stretch>
        </p:blipFill>
        <p:spPr>
          <a:xfrm>
            <a:off x="6285980" y="2377440"/>
            <a:ext cx="1957854" cy="1481328"/>
          </a:xfrm>
          <a:prstGeom prst="rect">
            <a:avLst/>
          </a:prstGeom>
        </p:spPr>
      </p:pic>
      <p:sp>
        <p:nvSpPr>
          <p:cNvPr id="33" name="TextBox 32"/>
          <p:cNvSpPr txBox="1"/>
          <p:nvPr/>
        </p:nvSpPr>
        <p:spPr>
          <a:xfrm>
            <a:off x="5861303" y="3886200"/>
            <a:ext cx="2807208" cy="731520"/>
          </a:xfrm>
          <a:prstGeom prst="rect">
            <a:avLst/>
          </a:prstGeom>
          <a:noFill/>
        </p:spPr>
        <p:txBody>
          <a:bodyPr wrap="square" lIns="73152" tIns="36576" rIns="73152" bIns="36576" anchor="ctr"/>
          <a:lstStyle/>
          <a:p>
            <a:pPr algn="ctr" rtl="1"/>
            <a:r>
              <a:rPr lang="ar-AE" altLang="en-US" sz="1250" b="1" i="0">
                <a:solidFill>
                  <a:srgbClr val="102A43"/>
                </a:solidFill>
                <a:latin typeface="Arial"/>
                <a:cs typeface="Arial"/>
              </a:rPr>
              <a:t>تحوّل طاقته غاز النيتروجين إلى نترات تسقط مع المطر.</a:t>
            </a:r>
          </a:p>
        </p:txBody>
      </p:sp>
      <p:sp>
        <p:nvSpPr>
          <p:cNvPr id="34" name="Rounded Rectangle 33"/>
          <p:cNvSpPr/>
          <p:nvPr/>
        </p:nvSpPr>
        <p:spPr>
          <a:xfrm>
            <a:off x="2688335" y="1901952"/>
            <a:ext cx="2990088" cy="2761488"/>
          </a:xfrm>
          <a:prstGeom prst="roundRect">
            <a:avLst>
              <a:gd name="adj" fmla="val 3973"/>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5" name="TextBox 34"/>
          <p:cNvSpPr txBox="1"/>
          <p:nvPr/>
        </p:nvSpPr>
        <p:spPr>
          <a:xfrm>
            <a:off x="2761487" y="1938528"/>
            <a:ext cx="2843784" cy="411480"/>
          </a:xfrm>
          <a:prstGeom prst="rect">
            <a:avLst/>
          </a:prstGeom>
          <a:noFill/>
        </p:spPr>
        <p:txBody>
          <a:bodyPr wrap="square" lIns="73152" tIns="36576" rIns="73152" bIns="36576" anchor="ctr"/>
          <a:lstStyle/>
          <a:p>
            <a:pPr algn="ctr" rtl="1"/>
            <a:r>
              <a:rPr lang="ar-AE" altLang="en-US" sz="1450" b="1" i="0">
                <a:solidFill>
                  <a:srgbClr val="2E7D32"/>
                </a:solidFill>
                <a:latin typeface="Arial"/>
                <a:cs typeface="Arial"/>
              </a:rPr>
              <a:t>3) الأسمدة الكيميائية</a:t>
            </a:r>
          </a:p>
        </p:txBody>
      </p:sp>
      <p:pic>
        <p:nvPicPr>
          <p:cNvPr id="36" name="Picture 35" descr="still_npk.png"/>
          <p:cNvPicPr>
            <a:picLocks noChangeAspect="1"/>
          </p:cNvPicPr>
          <p:nvPr/>
        </p:nvPicPr>
        <p:blipFill>
          <a:blip r:embed="rId7"/>
          <a:stretch>
            <a:fillRect/>
          </a:stretch>
        </p:blipFill>
        <p:spPr>
          <a:xfrm>
            <a:off x="3125288" y="2377440"/>
            <a:ext cx="2116182" cy="1481328"/>
          </a:xfrm>
          <a:prstGeom prst="rect">
            <a:avLst/>
          </a:prstGeom>
        </p:spPr>
      </p:pic>
      <p:sp>
        <p:nvSpPr>
          <p:cNvPr id="37" name="TextBox 36"/>
          <p:cNvSpPr txBox="1"/>
          <p:nvPr/>
        </p:nvSpPr>
        <p:spPr>
          <a:xfrm>
            <a:off x="2779775" y="3886200"/>
            <a:ext cx="2807208" cy="731520"/>
          </a:xfrm>
          <a:prstGeom prst="rect">
            <a:avLst/>
          </a:prstGeom>
          <a:noFill/>
        </p:spPr>
        <p:txBody>
          <a:bodyPr wrap="square" lIns="73152" tIns="36576" rIns="73152" bIns="36576" anchor="ctr"/>
          <a:lstStyle/>
          <a:p>
            <a:pPr algn="ctr" rtl="1"/>
            <a:r>
              <a:rPr lang="ar-AE" altLang="en-US" sz="1250" b="1" i="0">
                <a:solidFill>
                  <a:srgbClr val="102A43"/>
                </a:solidFill>
                <a:latin typeface="Arial"/>
                <a:cs typeface="Arial"/>
              </a:rPr>
              <a:t>يضيفها الإنسان إلى التربة لزيادة المحاصيل.</a:t>
            </a:r>
          </a:p>
        </p:txBody>
      </p:sp>
      <p:sp>
        <p:nvSpPr>
          <p:cNvPr id="38" name="Rounded Rectangle 37"/>
          <p:cNvSpPr/>
          <p:nvPr/>
        </p:nvSpPr>
        <p:spPr>
          <a:xfrm>
            <a:off x="2697480" y="4754880"/>
            <a:ext cx="4937760" cy="768096"/>
          </a:xfrm>
          <a:prstGeom prst="roundRect">
            <a:avLst>
              <a:gd name="adj" fmla="val 11904"/>
            </a:avLst>
          </a:prstGeom>
          <a:solidFill>
            <a:srgbClr val="F1ECF8"/>
          </a:solidFill>
          <a:ln w="12700">
            <a:solidFill>
              <a:srgbClr val="D5C7EA"/>
            </a:solidFill>
          </a:ln>
        </p:spPr>
        <p:txBody>
          <a:bodyPr wrap="square" lIns="73152" tIns="18288" rIns="73152" bIns="18288" rtlCol="0" anchor="ctr"/>
          <a:lstStyle/>
          <a:p>
            <a:pPr algn="ctr" rtl="1">
              <a:spcAft>
                <a:spcPts val="200"/>
              </a:spcAft>
            </a:pPr>
            <a:r>
              <a:rPr lang="ar-AE" altLang="en-US" sz="1350" b="1" i="0">
                <a:solidFill>
                  <a:srgbClr val="102A43"/>
                </a:solidFill>
                <a:latin typeface="Arial"/>
                <a:cs typeface="Arial"/>
              </a:rPr>
              <a:t>﴿هُوَ الَّذِي يُرِيكُمُ الْبَرْقَ خَوْفًا وَطَمَعًا وَيُنشِئُ السَّحَابَ الثِّقَالَ﴾</a:t>
            </a:r>
          </a:p>
          <a:p>
            <a:pPr algn="ctr" rtl="1"/>
            <a:r>
              <a:rPr lang="ar-AE" altLang="en-US" sz="1100" b="1" i="0">
                <a:solidFill>
                  <a:srgbClr val="5B3B91"/>
                </a:solidFill>
                <a:latin typeface="Arial"/>
                <a:cs typeface="Arial"/>
              </a:rPr>
              <a:t>ربط بالتربية الإسلامية – سورة الرعد، الآية 12</a:t>
            </a:r>
          </a:p>
        </p:txBody>
      </p:sp>
      <p:sp>
        <p:nvSpPr>
          <p:cNvPr id="39" name="Rounded Rectangle 38"/>
          <p:cNvSpPr/>
          <p:nvPr/>
        </p:nvSpPr>
        <p:spPr>
          <a:xfrm>
            <a:off x="7772400" y="4754880"/>
            <a:ext cx="4069080" cy="768096"/>
          </a:xfrm>
          <a:prstGeom prst="roundRect">
            <a:avLst>
              <a:gd name="adj" fmla="val 11904"/>
            </a:avLst>
          </a:prstGeom>
          <a:solidFill>
            <a:srgbClr val="FBF5E8"/>
          </a:solidFill>
          <a:ln w="12700">
            <a:solidFill>
              <a:srgbClr val="E6D5B0"/>
            </a:solidFill>
          </a:ln>
        </p:spPr>
        <p:txBody>
          <a:bodyPr wrap="square" tIns="18288" bIns="18288" rtlCol="0" anchor="ctr"/>
          <a:lstStyle/>
          <a:p>
            <a:pPr algn="r" rtl="1"/>
            <a:r>
              <a:rPr lang="ar-AE" altLang="en-US" sz="1300" b="1" i="0" dirty="0">
                <a:solidFill>
                  <a:srgbClr val="C9A96A"/>
                </a:solidFill>
                <a:latin typeface="Arial"/>
                <a:cs typeface="Arial"/>
              </a:rPr>
              <a:t>ربط بالكيمياء: </a:t>
            </a:r>
            <a:r>
              <a:rPr lang="ar-AE" altLang="en-US" sz="1250" b="1" i="0" dirty="0">
                <a:solidFill>
                  <a:srgbClr val="102A43"/>
                </a:solidFill>
                <a:latin typeface="Arial"/>
                <a:cs typeface="Arial"/>
              </a:rPr>
              <a:t>ذرّتا النيتروجين في </a:t>
            </a:r>
            <a:r>
              <a:rPr lang="ar-AE" altLang="en-US" sz="1250" b="1" i="0" baseline="-25000" dirty="0">
                <a:solidFill>
                  <a:srgbClr val="102A43"/>
                </a:solidFill>
                <a:latin typeface="Arial"/>
                <a:cs typeface="Arial"/>
              </a:rPr>
              <a:t>2</a:t>
            </a:r>
            <a:r>
              <a:rPr lang="ar-AE" altLang="en-US" sz="1250" b="1" dirty="0">
                <a:solidFill>
                  <a:srgbClr val="102A43"/>
                </a:solidFill>
                <a:latin typeface="Arial"/>
                <a:cs typeface="Arial"/>
              </a:rPr>
              <a:t>N </a:t>
            </a:r>
            <a:r>
              <a:rPr lang="ar-AE" altLang="en-US" sz="1250" b="1" i="0" dirty="0">
                <a:solidFill>
                  <a:srgbClr val="102A43"/>
                </a:solidFill>
                <a:latin typeface="Arial"/>
                <a:cs typeface="Arial"/>
              </a:rPr>
              <a:t>مرتبطتان برابطة ثلاثية يصعب كسرها.</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تثبيت النيتروجين</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581025" y="4152900"/>
            <a:ext cx="1333500" cy="266700"/>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10928" y="1344168"/>
            <a:ext cx="2148840" cy="365760"/>
          </a:xfrm>
          <a:prstGeom prst="roundRect">
            <a:avLst>
              <a:gd name="adj" fmla="val 50000"/>
            </a:avLst>
          </a:prstGeom>
          <a:solidFill>
            <a:srgbClr val="C8102E"/>
          </a:solidFill>
          <a:ln>
            <a:noFill/>
          </a:ln>
        </p:spPr>
        <p:txBody>
          <a:bodyPr wrap="square" lIns="36576" tIns="0" rIns="36576" bIns="0" rtlCol="0" anchor="ctr">
            <a:noAutofit/>
          </a:bodyPr>
          <a:lstStyle/>
          <a:p>
            <a:pPr algn="ctr" rtl="1"/>
            <a:r>
              <a:rPr lang="ar-AE" altLang="en-US" sz="1300" b="1" i="0" dirty="0">
                <a:solidFill>
                  <a:srgbClr val="FFFFFF"/>
                </a:solidFill>
                <a:latin typeface="Arial"/>
                <a:cs typeface="Arial"/>
              </a:rPr>
              <a:t>المختبر الافتراضي</a:t>
            </a:r>
          </a:p>
        </p:txBody>
      </p:sp>
      <p:sp>
        <p:nvSpPr>
          <p:cNvPr id="22" name="TextBox 21"/>
          <p:cNvSpPr txBox="1"/>
          <p:nvPr/>
        </p:nvSpPr>
        <p:spPr>
          <a:xfrm>
            <a:off x="2606040" y="1280160"/>
            <a:ext cx="6995160" cy="502920"/>
          </a:xfrm>
          <a:prstGeom prst="rect">
            <a:avLst/>
          </a:prstGeom>
          <a:noFill/>
        </p:spPr>
        <p:txBody>
          <a:bodyPr wrap="square" lIns="18288" tIns="0" rIns="18288" bIns="0" rtlCol="0" anchor="ctr">
            <a:noAutofit/>
          </a:bodyPr>
          <a:lstStyle/>
          <a:p>
            <a:pPr algn="r" rtl="1"/>
            <a:r>
              <a:rPr lang="ar-AE" altLang="en-US" sz="2200" b="1" i="0" dirty="0">
                <a:solidFill>
                  <a:srgbClr val="102A43"/>
                </a:solidFill>
                <a:latin typeface="Arial"/>
                <a:cs typeface="Arial"/>
              </a:rPr>
              <a:t>المحطة 1: أصص التجربة… لماذا تجوع النبتة؟</a:t>
            </a:r>
          </a:p>
        </p:txBody>
      </p:sp>
      <p:pic>
        <p:nvPicPr>
          <p:cNvPr id="40"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697480" y="1901952"/>
            <a:ext cx="1371600" cy="1371600"/>
          </a:xfrm>
          <a:prstGeom prst="rect">
            <a:avLst/>
          </a:prstGeom>
        </p:spPr>
      </p:pic>
      <p:pic>
        <p:nvPicPr>
          <p:cNvPr id="41" name="Picture 40" descr="qr_n1.png">
            <a:hlinkClick r:id="rId9"/>
          </p:cNvPr>
          <p:cNvPicPr>
            <a:picLocks noChangeAspect="1"/>
          </p:cNvPicPr>
          <p:nvPr/>
        </p:nvPicPr>
        <p:blipFill>
          <a:blip r:embed="rId4"/>
          <a:stretch>
            <a:fillRect/>
          </a:stretch>
        </p:blipFill>
        <p:spPr>
          <a:xfrm>
            <a:off x="2770632" y="3401568"/>
            <a:ext cx="1225296" cy="1225296"/>
          </a:xfrm>
          <a:prstGeom prst="rect">
            <a:avLst/>
          </a:prstGeom>
          <a:ln w="9525">
            <a:solidFill>
              <a:srgbClr val="D9E0E8"/>
            </a:solidFill>
          </a:ln>
        </p:spPr>
      </p:pic>
      <p:sp>
        <p:nvSpPr>
          <p:cNvPr id="42" name="TextBox 41"/>
          <p:cNvSpPr txBox="1"/>
          <p:nvPr/>
        </p:nvSpPr>
        <p:spPr>
          <a:xfrm>
            <a:off x="2560320" y="4645152"/>
            <a:ext cx="1645920" cy="329184"/>
          </a:xfrm>
          <a:prstGeom prst="rect">
            <a:avLst/>
          </a:prstGeom>
          <a:noFill/>
        </p:spPr>
        <p:txBody>
          <a:bodyPr wrap="square" lIns="36576" tIns="0" rIns="36576" bIns="0" rtlCol="0" anchor="ctr">
            <a:noAutofit/>
          </a:bodyPr>
          <a:lstStyle/>
          <a:p>
            <a:pPr algn="ctr" rtl="1"/>
            <a:r>
              <a:rPr lang="ar-AE" altLang="en-US" sz="1050" b="1" i="0" dirty="0">
                <a:solidFill>
                  <a:srgbClr val="5A687D"/>
                </a:solidFill>
                <a:latin typeface="Arial"/>
                <a:cs typeface="Arial"/>
              </a:rPr>
              <a:t>امسحوا الرمز للدخول</a:t>
            </a:r>
          </a:p>
        </p:txBody>
      </p:sp>
      <p:sp>
        <p:nvSpPr>
          <p:cNvPr id="43" name="Rounded Rectangle 42"/>
          <p:cNvSpPr/>
          <p:nvPr/>
        </p:nvSpPr>
        <p:spPr>
          <a:xfrm>
            <a:off x="4224528" y="1874519"/>
            <a:ext cx="1993392" cy="3090672"/>
          </a:xfrm>
          <a:prstGeom prst="roundRect">
            <a:avLst>
              <a:gd name="adj" fmla="val 8000"/>
            </a:avLst>
          </a:prstGeom>
          <a:solidFill>
            <a:srgbClr val="FBF5E8"/>
          </a:solidFill>
          <a:ln w="12700">
            <a:solidFill>
              <a:srgbClr val="E6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97680" y="1938528"/>
            <a:ext cx="1847088" cy="2057400"/>
          </a:xfrm>
          <a:prstGeom prst="rect">
            <a:avLst/>
          </a:prstGeom>
          <a:noFill/>
        </p:spPr>
        <p:txBody>
          <a:bodyPr wrap="square" lIns="36576" tIns="36576" rIns="36576" bIns="0" rtlCol="0" anchor="t">
            <a:noAutofit/>
          </a:bodyPr>
          <a:lstStyle/>
          <a:p>
            <a:pPr algn="r" rtl="1">
              <a:spcAft>
                <a:spcPts val="600"/>
              </a:spcAft>
            </a:pPr>
            <a:r>
              <a:rPr lang="ar-AE" altLang="en-US" sz="1400" b="1" i="0" dirty="0">
                <a:solidFill>
                  <a:srgbClr val="C8102E"/>
                </a:solidFill>
                <a:latin typeface="Arial"/>
                <a:cs typeface="Arial"/>
              </a:rPr>
              <a:t>مهمة المجموعة</a:t>
            </a:r>
          </a:p>
          <a:p>
            <a:pPr algn="r" rtl="1">
              <a:spcAft>
                <a:spcPts val="500"/>
              </a:spcAft>
            </a:pPr>
            <a:r>
              <a:rPr lang="ar-AE" altLang="en-US" sz="1120" b="1" i="0" dirty="0">
                <a:solidFill>
                  <a:srgbClr val="102A43"/>
                </a:solidFill>
                <a:latin typeface="Arial"/>
                <a:cs typeface="Arial"/>
              </a:rPr>
              <a:t>1) ابدؤوا بتجربة ضابطة: قمح دون أي إضافة.</a:t>
            </a:r>
          </a:p>
          <a:p>
            <a:pPr algn="r" rtl="1">
              <a:spcAft>
                <a:spcPts val="500"/>
              </a:spcAft>
            </a:pPr>
            <a:r>
              <a:rPr lang="ar-AE" altLang="en-US" sz="1120" b="1" i="0" dirty="0">
                <a:solidFill>
                  <a:srgbClr val="102A43"/>
                </a:solidFill>
                <a:latin typeface="Arial"/>
                <a:cs typeface="Arial"/>
              </a:rPr>
              <a:t>2) غيّروا عاملًا واحدًا فقط في كل تجربة.</a:t>
            </a:r>
          </a:p>
          <a:p>
            <a:pPr algn="r" rtl="1">
              <a:spcAft>
                <a:spcPts val="500"/>
              </a:spcAft>
            </a:pPr>
            <a:r>
              <a:rPr lang="ar-AE" altLang="en-US" sz="1120" b="1" i="0" dirty="0">
                <a:solidFill>
                  <a:srgbClr val="102A43"/>
                </a:solidFill>
                <a:latin typeface="Arial"/>
                <a:cs typeface="Arial"/>
              </a:rPr>
              <a:t>3) قارنوا الطول ولون الأوراق في السجل.</a:t>
            </a:r>
          </a:p>
        </p:txBody>
      </p:sp>
      <p:pic>
        <p:nvPicPr>
          <p:cNvPr id="45" name="Picture 44" descr="fahem_400.png"/>
          <p:cNvPicPr>
            <a:picLocks noChangeAspect="1"/>
          </p:cNvPicPr>
          <p:nvPr/>
        </p:nvPicPr>
        <p:blipFill>
          <a:blip r:embed="rId10"/>
          <a:stretch>
            <a:fillRect/>
          </a:stretch>
        </p:blipFill>
        <p:spPr>
          <a:xfrm>
            <a:off x="5596128" y="4133087"/>
            <a:ext cx="548640" cy="548640"/>
          </a:xfrm>
          <a:prstGeom prst="rect">
            <a:avLst/>
          </a:prstGeom>
        </p:spPr>
      </p:pic>
      <p:sp>
        <p:nvSpPr>
          <p:cNvPr id="46" name="Rounded Rectangular Callout 45"/>
          <p:cNvSpPr/>
          <p:nvPr/>
        </p:nvSpPr>
        <p:spPr>
          <a:xfrm>
            <a:off x="4297680" y="4078224"/>
            <a:ext cx="1243584" cy="749808"/>
          </a:xfrm>
          <a:prstGeom prst="wedgeRoundRectCallout">
            <a:avLst>
              <a:gd name="adj1" fmla="val 62000"/>
              <a:gd name="adj2" fmla="val -5000"/>
              <a:gd name="adj3" fmla="val 16667"/>
            </a:avLst>
          </a:prstGeom>
          <a:solidFill>
            <a:srgbClr val="FFFFFF"/>
          </a:solidFill>
          <a:ln w="19050">
            <a:solidFill>
              <a:srgbClr val="1E6B3A"/>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r" rtl="1"/>
            <a:r>
              <a:rPr lang="ar-AE" altLang="en-US" sz="1000" b="1" i="0" dirty="0">
                <a:solidFill>
                  <a:srgbClr val="1E6B3A"/>
                </a:solidFill>
                <a:latin typeface="Arial"/>
                <a:cs typeface="Arial"/>
              </a:rPr>
              <a:t>فاهم: </a:t>
            </a:r>
            <a:r>
              <a:rPr lang="ar-AE" altLang="en-US" sz="1000" b="1" i="0" dirty="0">
                <a:solidFill>
                  <a:srgbClr val="102A43"/>
                </a:solidFill>
                <a:latin typeface="Arial"/>
                <a:cs typeface="Arial"/>
              </a:rPr>
              <a:t>عاملٌ واحد في كل مرة!</a:t>
            </a:r>
          </a:p>
        </p:txBody>
      </p:sp>
      <p:sp>
        <p:nvSpPr>
          <p:cNvPr id="47" name="Rounded Rectangle 46"/>
          <p:cNvSpPr/>
          <p:nvPr/>
        </p:nvSpPr>
        <p:spPr>
          <a:xfrm>
            <a:off x="4224528" y="5074920"/>
            <a:ext cx="1993392" cy="393192"/>
          </a:xfrm>
          <a:prstGeom prst="roundRect">
            <a:avLst>
              <a:gd name="adj" fmla="val 50000"/>
            </a:avLst>
          </a:prstGeom>
          <a:solidFill>
            <a:srgbClr val="5B3B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150" b="1" i="0" dirty="0">
                <a:solidFill>
                  <a:srgbClr val="FFFFFF"/>
                </a:solidFill>
                <a:latin typeface="Arial"/>
                <a:cs typeface="Arial"/>
              </a:rPr>
              <a:t>ورقة العمل: القسم 1</a:t>
            </a:r>
          </a:p>
        </p:txBody>
      </p:sp>
      <p:pic>
        <p:nvPicPr>
          <p:cNvPr id="48" name="Picture 47" descr="crop_n1.jpg">
            <a:hlinkClick r:id="rId9"/>
          </p:cNvPr>
          <p:cNvPicPr>
            <a:picLocks noChangeAspect="1"/>
          </p:cNvPicPr>
          <p:nvPr/>
        </p:nvPicPr>
        <p:blipFill>
          <a:blip r:embed="rId11"/>
          <a:stretch>
            <a:fillRect/>
          </a:stretch>
        </p:blipFill>
        <p:spPr>
          <a:xfrm>
            <a:off x="6355080" y="1874519"/>
            <a:ext cx="5486400" cy="3086100"/>
          </a:xfrm>
          <a:prstGeom prst="rect">
            <a:avLst/>
          </a:prstGeom>
          <a:ln w="15875">
            <a:solidFill>
              <a:srgbClr val="102A43"/>
            </a:solidFill>
          </a:ln>
        </p:spPr>
      </p:pic>
      <p:sp>
        <p:nvSpPr>
          <p:cNvPr id="49" name="Rounded Rectangle 48">
            <a:hlinkClick r:id="rId9"/>
          </p:cNvPr>
          <p:cNvSpPr/>
          <p:nvPr/>
        </p:nvSpPr>
        <p:spPr>
          <a:xfrm>
            <a:off x="6355080" y="5074920"/>
            <a:ext cx="5486400" cy="393192"/>
          </a:xfrm>
          <a:prstGeom prst="roundRect">
            <a:avLst>
              <a:gd name="adj" fmla="val 50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300" b="1" i="0" dirty="0">
                <a:solidFill>
                  <a:srgbClr val="FFFFFF"/>
                </a:solidFill>
                <a:latin typeface="Arial"/>
                <a:cs typeface="Arial"/>
              </a:rPr>
              <a:t>◄ افتحوا المحطة 1 في مختبر النيتروجين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0"/>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40"/>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تثبيت النيتروجين</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433304" y="1344168"/>
            <a:ext cx="1426464"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الأول</a:t>
            </a:r>
          </a:p>
        </p:txBody>
      </p:sp>
      <p:sp>
        <p:nvSpPr>
          <p:cNvPr id="22" name="TextBox 21"/>
          <p:cNvSpPr txBox="1"/>
          <p:nvPr/>
        </p:nvSpPr>
        <p:spPr>
          <a:xfrm>
            <a:off x="6442011" y="1280160"/>
            <a:ext cx="3881565" cy="502920"/>
          </a:xfrm>
          <a:prstGeom prst="rect">
            <a:avLst/>
          </a:prstGeom>
          <a:noFill/>
        </p:spPr>
        <p:txBody>
          <a:bodyPr wrap="square" lIns="18288" tIns="0" rIns="18288" bIns="0" anchor="ctr"/>
          <a:lstStyle/>
          <a:p>
            <a:pPr algn="r" rtl="1"/>
            <a:r>
              <a:rPr lang="ar-AE" altLang="en-US" sz="1600" b="1" i="0">
                <a:solidFill>
                  <a:srgbClr val="102A43"/>
                </a:solidFill>
                <a:latin typeface="Arial"/>
                <a:cs typeface="Arial"/>
              </a:rPr>
              <a:t>من بيئتنا: شجرة الغاف… سماد طبيعي!</a:t>
            </a:r>
          </a:p>
        </p:txBody>
      </p:sp>
      <p:pic>
        <p:nvPicPr>
          <p:cNvPr id="23" name="Picture 22" descr="badge_maha.png"/>
          <p:cNvPicPr>
            <a:picLocks noChangeAspect="1"/>
          </p:cNvPicPr>
          <p:nvPr/>
        </p:nvPicPr>
        <p:blipFill>
          <a:blip r:embed="rId4"/>
          <a:stretch>
            <a:fillRect/>
          </a:stretch>
        </p:blipFill>
        <p:spPr>
          <a:xfrm>
            <a:off x="2560320" y="1159811"/>
            <a:ext cx="566928" cy="650700"/>
          </a:xfrm>
          <a:prstGeom prst="rect">
            <a:avLst/>
          </a:prstGeom>
        </p:spPr>
      </p:pic>
      <p:sp>
        <p:nvSpPr>
          <p:cNvPr id="24" name="Rounded Rectangular Callout 23"/>
          <p:cNvSpPr/>
          <p:nvPr/>
        </p:nvSpPr>
        <p:spPr>
          <a:xfrm>
            <a:off x="3209544" y="1307592"/>
            <a:ext cx="3104451" cy="420624"/>
          </a:xfrm>
          <a:prstGeom prst="wedgeRoundRectCallout">
            <a:avLst>
              <a:gd name="adj1" fmla="val -53534"/>
              <a:gd name="adj2" fmla="val 18000"/>
              <a:gd name="adj3" fmla="val 16667"/>
            </a:avLst>
          </a:prstGeom>
          <a:solidFill>
            <a:srgbClr val="FFFFFF"/>
          </a:solidFill>
          <a:ln w="19050">
            <a:solidFill>
              <a:srgbClr val="0F7C73"/>
            </a:solidFill>
          </a:ln>
        </p:spPr>
        <p:txBody>
          <a:bodyPr lIns="54864" tIns="27432" rIns="54864" bIns="27432" rtlCol="0" anchor="ctr"/>
          <a:lstStyle/>
          <a:p>
            <a:pPr algn="ctr"/>
            <a:endParaRPr/>
          </a:p>
        </p:txBody>
      </p:sp>
      <p:sp>
        <p:nvSpPr>
          <p:cNvPr id="25" name="TextBox 24"/>
          <p:cNvSpPr txBox="1"/>
          <p:nvPr/>
        </p:nvSpPr>
        <p:spPr>
          <a:xfrm>
            <a:off x="3246120" y="1307592"/>
            <a:ext cx="3031299" cy="420624"/>
          </a:xfrm>
          <a:prstGeom prst="rect">
            <a:avLst/>
          </a:prstGeom>
          <a:noFill/>
        </p:spPr>
        <p:txBody>
          <a:bodyPr wrap="square" lIns="36576" tIns="0" rIns="36576" bIns="0" anchor="ctr"/>
          <a:lstStyle/>
          <a:p>
            <a:pPr algn="r" rtl="1"/>
            <a:r>
              <a:rPr lang="ar-AE" altLang="en-US" sz="1150" b="1" i="0">
                <a:solidFill>
                  <a:srgbClr val="0F7C73"/>
                </a:solidFill>
                <a:latin typeface="Arial"/>
                <a:cs typeface="Arial"/>
              </a:rPr>
              <a:t>مها: </a:t>
            </a:r>
            <a:r>
              <a:rPr lang="ar-AE" altLang="en-US" sz="1150" b="1" i="0">
                <a:solidFill>
                  <a:srgbClr val="102A43"/>
                </a:solidFill>
                <a:latin typeface="Arial"/>
                <a:cs typeface="Arial"/>
              </a:rPr>
              <a:t>شجرتنا الوطنية تُخصب الصحراء!</a:t>
            </a:r>
          </a:p>
        </p:txBody>
      </p:sp>
      <p:pic>
        <p:nvPicPr>
          <p:cNvPr id="26" name="Picture 25" descr="still_ghaf_camel.png"/>
          <p:cNvPicPr>
            <a:picLocks noChangeAspect="1"/>
          </p:cNvPicPr>
          <p:nvPr/>
        </p:nvPicPr>
        <p:blipFill>
          <a:blip r:embed="rId5"/>
          <a:stretch>
            <a:fillRect/>
          </a:stretch>
        </p:blipFill>
        <p:spPr>
          <a:xfrm>
            <a:off x="2697480" y="1901952"/>
            <a:ext cx="4846320" cy="2726055"/>
          </a:xfrm>
          <a:prstGeom prst="rect">
            <a:avLst/>
          </a:prstGeom>
          <a:ln w="25400">
            <a:solidFill>
              <a:srgbClr val="C9A96A"/>
            </a:solidFill>
          </a:ln>
          <a:effectLst>
            <a:outerShdw blurRad="76200" dist="31750" dir="5400000" algn="t" rotWithShape="0">
              <a:srgbClr val="1E2B3C">
                <a:alpha val="22000"/>
              </a:srgbClr>
            </a:outerShdw>
          </a:effectLst>
        </p:spPr>
      </p:pic>
      <p:pic>
        <p:nvPicPr>
          <p:cNvPr id="27" name="Picture 26" descr="nodule_circle.png"/>
          <p:cNvPicPr>
            <a:picLocks noChangeAspect="1"/>
          </p:cNvPicPr>
          <p:nvPr/>
        </p:nvPicPr>
        <p:blipFill>
          <a:blip r:embed="rId6"/>
          <a:stretch>
            <a:fillRect/>
          </a:stretch>
        </p:blipFill>
        <p:spPr>
          <a:xfrm>
            <a:off x="6652259" y="3781044"/>
            <a:ext cx="960120" cy="960120"/>
          </a:xfrm>
          <a:prstGeom prst="rect">
            <a:avLst/>
          </a:prstGeom>
        </p:spPr>
      </p:pic>
      <p:sp>
        <p:nvSpPr>
          <p:cNvPr id="28" name="Oval 27"/>
          <p:cNvSpPr/>
          <p:nvPr/>
        </p:nvSpPr>
        <p:spPr>
          <a:xfrm>
            <a:off x="6652259" y="3781044"/>
            <a:ext cx="960120" cy="960120"/>
          </a:xfrm>
          <a:prstGeom prst="ellipse">
            <a:avLst/>
          </a:prstGeom>
          <a:noFill/>
          <a:ln w="3810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9" name="Rounded Rectangle 28"/>
          <p:cNvSpPr/>
          <p:nvPr/>
        </p:nvSpPr>
        <p:spPr>
          <a:xfrm>
            <a:off x="6419088" y="4796028"/>
            <a:ext cx="1280160" cy="274320"/>
          </a:xfrm>
          <a:prstGeom prst="roundRect">
            <a:avLst>
              <a:gd name="adj" fmla="val 50000"/>
            </a:avLst>
          </a:prstGeom>
          <a:solidFill>
            <a:srgbClr val="5B3B91"/>
          </a:solidFill>
          <a:ln>
            <a:noFill/>
          </a:ln>
        </p:spPr>
        <p:txBody>
          <a:bodyPr wrap="square" lIns="0" tIns="0" rIns="0" bIns="0" rtlCol="0" anchor="ctr"/>
          <a:lstStyle/>
          <a:p>
            <a:pPr algn="ctr" rtl="1"/>
            <a:r>
              <a:rPr lang="ar-AE" altLang="en-US" sz="1100" b="1" i="0">
                <a:solidFill>
                  <a:srgbClr val="FFFFFF"/>
                </a:solidFill>
                <a:latin typeface="Arial"/>
                <a:cs typeface="Arial"/>
              </a:rPr>
              <a:t>عُقد جذرية حقيقية</a:t>
            </a:r>
          </a:p>
        </p:txBody>
      </p:sp>
      <p:sp>
        <p:nvSpPr>
          <p:cNvPr id="30" name="Rounded Rectangle 29"/>
          <p:cNvSpPr/>
          <p:nvPr/>
        </p:nvSpPr>
        <p:spPr>
          <a:xfrm>
            <a:off x="2697480" y="4754880"/>
            <a:ext cx="3611880" cy="777240"/>
          </a:xfrm>
          <a:prstGeom prst="roundRect">
            <a:avLst>
              <a:gd name="adj" fmla="val 14117"/>
            </a:avLst>
          </a:prstGeom>
          <a:solidFill>
            <a:srgbClr val="F1ECF8"/>
          </a:solidFill>
          <a:ln w="12700">
            <a:solidFill>
              <a:srgbClr val="D5C7EA"/>
            </a:solidFill>
          </a:ln>
        </p:spPr>
        <p:txBody>
          <a:bodyPr lIns="54864" tIns="27432" rIns="54864" bIns="27432" rtlCol="0" anchor="ctr"/>
          <a:lstStyle/>
          <a:p>
            <a:pPr algn="ctr"/>
            <a:endParaRPr/>
          </a:p>
        </p:txBody>
      </p:sp>
      <p:sp>
        <p:nvSpPr>
          <p:cNvPr id="31" name="Oval 30"/>
          <p:cNvSpPr/>
          <p:nvPr/>
        </p:nvSpPr>
        <p:spPr>
          <a:xfrm>
            <a:off x="5788152" y="4910328"/>
            <a:ext cx="457200" cy="457200"/>
          </a:xfrm>
          <a:prstGeom prst="ellipse">
            <a:avLst/>
          </a:prstGeom>
          <a:solidFill>
            <a:srgbClr val="5B3B91"/>
          </a:solidFill>
          <a:ln>
            <a:noFill/>
          </a:ln>
        </p:spPr>
        <p:txBody>
          <a:bodyPr lIns="54864" tIns="27432" rIns="54864" bIns="27432" rtlCol="0" anchor="ctr"/>
          <a:lstStyle/>
          <a:p>
            <a:pPr algn="ctr"/>
            <a:endParaRPr/>
          </a:p>
        </p:txBody>
      </p:sp>
      <p:pic>
        <p:nvPicPr>
          <p:cNvPr id="32" name="Picture 31" descr="q_w.png"/>
          <p:cNvPicPr>
            <a:picLocks noChangeAspect="1"/>
          </p:cNvPicPr>
          <p:nvPr/>
        </p:nvPicPr>
        <p:blipFill>
          <a:blip r:embed="rId7"/>
          <a:stretch>
            <a:fillRect/>
          </a:stretch>
        </p:blipFill>
        <p:spPr>
          <a:xfrm>
            <a:off x="5888736" y="5010912"/>
            <a:ext cx="256032" cy="256032"/>
          </a:xfrm>
          <a:prstGeom prst="rect">
            <a:avLst/>
          </a:prstGeom>
        </p:spPr>
      </p:pic>
      <p:sp>
        <p:nvSpPr>
          <p:cNvPr id="33" name="TextBox 32"/>
          <p:cNvSpPr txBox="1"/>
          <p:nvPr/>
        </p:nvSpPr>
        <p:spPr>
          <a:xfrm>
            <a:off x="2761488" y="4754880"/>
            <a:ext cx="2971800" cy="777240"/>
          </a:xfrm>
          <a:prstGeom prst="rect">
            <a:avLst/>
          </a:prstGeom>
          <a:noFill/>
        </p:spPr>
        <p:txBody>
          <a:bodyPr wrap="square" lIns="73152" tIns="36576" rIns="73152" bIns="36576" anchor="ctr"/>
          <a:lstStyle/>
          <a:p>
            <a:pPr algn="r" rtl="1"/>
            <a:r>
              <a:rPr lang="ar-AE" altLang="en-US" sz="1300" b="1" i="0">
                <a:solidFill>
                  <a:srgbClr val="5B3B91"/>
                </a:solidFill>
                <a:latin typeface="Arial"/>
                <a:cs typeface="Arial"/>
              </a:rPr>
              <a:t>فكّروا: </a:t>
            </a:r>
            <a:r>
              <a:rPr lang="ar-AE" altLang="en-US" sz="1250" b="1" i="0">
                <a:solidFill>
                  <a:srgbClr val="102A43"/>
                </a:solidFill>
                <a:latin typeface="Arial"/>
                <a:cs typeface="Arial"/>
              </a:rPr>
              <a:t>لماذا تنمو الأعشاب حول شجرة الغاف أفضل من غيرها؟</a:t>
            </a:r>
          </a:p>
        </p:txBody>
      </p:sp>
      <p:sp>
        <p:nvSpPr>
          <p:cNvPr id="34" name="Rounded Rectangle 33"/>
          <p:cNvSpPr/>
          <p:nvPr/>
        </p:nvSpPr>
        <p:spPr>
          <a:xfrm>
            <a:off x="7726679" y="1901952"/>
            <a:ext cx="4114800" cy="2148840"/>
          </a:xfrm>
          <a:prstGeom prst="roundRect">
            <a:avLst>
              <a:gd name="adj" fmla="val 5106"/>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37160" tIns="54864" rIns="137160" bIns="54864" rtlCol="0" anchor="ctr"/>
          <a:lstStyle/>
          <a:p>
            <a:pPr algn="r" rtl="1">
              <a:spcAft>
                <a:spcPts val="600"/>
              </a:spcAft>
            </a:pPr>
            <a:r>
              <a:rPr lang="ar-AE" altLang="en-US" sz="1400" b="1" i="0">
                <a:solidFill>
                  <a:srgbClr val="5B3B91"/>
                </a:solidFill>
                <a:latin typeface="Arial"/>
                <a:cs typeface="Arial"/>
              </a:rPr>
              <a:t>الغاف </a:t>
            </a:r>
            <a:r>
              <a:rPr lang="ar-AE" altLang="en-US" sz="1400" b="1" i="0">
                <a:solidFill>
                  <a:srgbClr val="102A43"/>
                </a:solidFill>
                <a:latin typeface="Arial"/>
                <a:cs typeface="Arial"/>
              </a:rPr>
              <a:t>الشجرة الوطنية لدولة الإمارات، وهي من البقوليات.</a:t>
            </a:r>
          </a:p>
          <a:p>
            <a:pPr algn="r" rtl="1">
              <a:spcAft>
                <a:spcPts val="600"/>
              </a:spcAft>
            </a:pPr>
            <a:r>
              <a:rPr lang="ar-AE" altLang="en-US" sz="1400" b="1" i="0">
                <a:solidFill>
                  <a:srgbClr val="5B3B91"/>
                </a:solidFill>
                <a:latin typeface="Arial"/>
                <a:cs typeface="Arial"/>
              </a:rPr>
              <a:t>في عُقد جذورها </a:t>
            </a:r>
            <a:r>
              <a:rPr lang="ar-AE" altLang="en-US" sz="1400" b="1" i="0">
                <a:solidFill>
                  <a:srgbClr val="102A43"/>
                </a:solidFill>
                <a:latin typeface="Arial"/>
                <a:cs typeface="Arial"/>
              </a:rPr>
              <a:t>تعيش بكتيريا تثبّت نيتروجين الهواء، فتُخصب التربة الرملية الفقيرة.</a:t>
            </a:r>
          </a:p>
          <a:p>
            <a:pPr algn="r" rtl="1"/>
            <a:r>
              <a:rPr lang="ar-AE" altLang="en-US" sz="1400" b="1" i="0">
                <a:solidFill>
                  <a:srgbClr val="5B3B91"/>
                </a:solidFill>
                <a:latin typeface="Arial"/>
                <a:cs typeface="Arial"/>
              </a:rPr>
              <a:t>ومثلها البرسيم (الجت) </a:t>
            </a:r>
            <a:r>
              <a:rPr lang="ar-AE" altLang="en-US" sz="1400" b="1" i="0">
                <a:solidFill>
                  <a:srgbClr val="102A43"/>
                </a:solidFill>
                <a:latin typeface="Arial"/>
                <a:cs typeface="Arial"/>
              </a:rPr>
              <a:t>الذي يُزرع علفًا للحيوانات.</a:t>
            </a:r>
          </a:p>
        </p:txBody>
      </p:sp>
      <p:sp>
        <p:nvSpPr>
          <p:cNvPr id="35" name="Rounded Rectangle 34"/>
          <p:cNvSpPr/>
          <p:nvPr/>
        </p:nvSpPr>
        <p:spPr>
          <a:xfrm>
            <a:off x="7726679" y="4206240"/>
            <a:ext cx="4114800" cy="1325880"/>
          </a:xfrm>
          <a:prstGeom prst="roundRect">
            <a:avLst>
              <a:gd name="adj" fmla="val 8275"/>
            </a:avLst>
          </a:prstGeom>
          <a:solidFill>
            <a:srgbClr val="FBF5E8"/>
          </a:solidFill>
          <a:ln w="12700">
            <a:solidFill>
              <a:srgbClr val="E6D5B0"/>
            </a:solidFill>
          </a:ln>
        </p:spPr>
        <p:txBody>
          <a:bodyPr lIns="54864" tIns="27432" rIns="54864" bIns="27432" rtlCol="0" anchor="ctr"/>
          <a:lstStyle/>
          <a:p>
            <a:pPr algn="ctr"/>
            <a:endParaRPr/>
          </a:p>
        </p:txBody>
      </p:sp>
      <p:sp>
        <p:nvSpPr>
          <p:cNvPr id="36" name="TextBox 35"/>
          <p:cNvSpPr txBox="1"/>
          <p:nvPr/>
        </p:nvSpPr>
        <p:spPr>
          <a:xfrm>
            <a:off x="7772400" y="4224528"/>
            <a:ext cx="4023360" cy="566928"/>
          </a:xfrm>
          <a:prstGeom prst="rect">
            <a:avLst/>
          </a:prstGeom>
          <a:noFill/>
        </p:spPr>
        <p:txBody>
          <a:bodyPr wrap="square" tIns="18288" bIns="18288" anchor="ctr"/>
          <a:lstStyle/>
          <a:p>
            <a:pPr algn="r" rtl="1"/>
            <a:r>
              <a:rPr lang="ar-AE" altLang="en-US" sz="1350" b="1" i="0">
                <a:solidFill>
                  <a:srgbClr val="C9A96A"/>
                </a:solidFill>
                <a:latin typeface="Arial"/>
                <a:cs typeface="Arial"/>
              </a:rPr>
              <a:t>ربط بالقسم الأول: </a:t>
            </a:r>
            <a:r>
              <a:rPr lang="ar-AE" altLang="en-US" sz="1350" b="1" i="0">
                <a:solidFill>
                  <a:srgbClr val="102A43"/>
                </a:solidFill>
                <a:latin typeface="Arial"/>
                <a:cs typeface="Arial"/>
              </a:rPr>
              <a:t>ما نوع العلاقة بين البكتيريا وشجرة الغاف؟</a:t>
            </a:r>
          </a:p>
        </p:txBody>
      </p:sp>
      <p:sp>
        <p:nvSpPr>
          <p:cNvPr id="37" name="Rounded Rectangle 36"/>
          <p:cNvSpPr/>
          <p:nvPr/>
        </p:nvSpPr>
        <p:spPr>
          <a:xfrm>
            <a:off x="7863840" y="4800600"/>
            <a:ext cx="3840480" cy="658368"/>
          </a:xfrm>
          <a:prstGeom prst="roundRect">
            <a:avLst>
              <a:gd name="adj" fmla="val 13888"/>
            </a:avLst>
          </a:prstGeom>
          <a:solidFill>
            <a:srgbClr val="EAF7EE"/>
          </a:solidFill>
          <a:ln w="19050">
            <a:solidFill>
              <a:srgbClr val="2E9E5B"/>
            </a:solidFill>
          </a:ln>
        </p:spPr>
        <p:txBody>
          <a:bodyPr wrap="square" lIns="109728" tIns="54864" rIns="109728" bIns="54864" rtlCol="0" anchor="ctr"/>
          <a:lstStyle/>
          <a:p>
            <a:pPr algn="r" rtl="1"/>
            <a:r>
              <a:rPr lang="ar-AE" altLang="en-US" sz="1250" b="1" i="0">
                <a:solidFill>
                  <a:srgbClr val="1B4D2E"/>
                </a:solidFill>
                <a:latin typeface="Arial"/>
                <a:cs typeface="Arial"/>
              </a:rPr>
              <a:t>تبادل المنفعة (التقايض): </a:t>
            </a:r>
            <a:r>
              <a:rPr lang="ar-AE" altLang="en-US" sz="1200" b="1" i="0">
                <a:solidFill>
                  <a:srgbClr val="1B4D2E"/>
                </a:solidFill>
                <a:latin typeface="Arial"/>
                <a:cs typeface="Arial"/>
              </a:rPr>
              <a:t>البكتيريا تحصل على الغذاء والمأوى، والشجرة تحصل على النيتروجين.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تثبيت النيتروجين</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857232" y="1344168"/>
            <a:ext cx="2002536"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الناتج الأول</a:t>
            </a:r>
          </a:p>
        </p:txBody>
      </p:sp>
      <p:sp>
        <p:nvSpPr>
          <p:cNvPr id="22" name="TextBox 21"/>
          <p:cNvSpPr txBox="1"/>
          <p:nvPr/>
        </p:nvSpPr>
        <p:spPr>
          <a:xfrm>
            <a:off x="2606040" y="1280160"/>
            <a:ext cx="714146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تقويم الناتج الأول: فكّروا كالعلماء</a:t>
            </a:r>
          </a:p>
        </p:txBody>
      </p:sp>
      <p:sp>
        <p:nvSpPr>
          <p:cNvPr id="23" name="TextBox 22"/>
          <p:cNvSpPr txBox="1"/>
          <p:nvPr/>
        </p:nvSpPr>
        <p:spPr>
          <a:xfrm>
            <a:off x="11548872" y="1956816"/>
            <a:ext cx="274320" cy="274320"/>
          </a:xfrm>
          <a:prstGeom prst="rect">
            <a:avLst/>
          </a:prstGeom>
          <a:noFill/>
        </p:spPr>
        <p:txBody>
          <a:bodyPr wrap="square" lIns="0" tIns="0" rIns="0" bIns="0" anchor="ctr"/>
          <a:lstStyle/>
          <a:p>
            <a:pPr algn="ctr"/>
            <a:r>
              <a:rPr lang="ar-AE" altLang="en-US" sz="1500" b="1" i="0">
                <a:solidFill>
                  <a:srgbClr val="E0A21B"/>
                </a:solidFill>
                <a:latin typeface="Arial"/>
                <a:cs typeface="Arial"/>
              </a:rPr>
              <a:t>▲</a:t>
            </a:r>
          </a:p>
        </p:txBody>
      </p:sp>
      <p:sp>
        <p:nvSpPr>
          <p:cNvPr id="24" name="TextBox 23"/>
          <p:cNvSpPr txBox="1"/>
          <p:nvPr/>
        </p:nvSpPr>
        <p:spPr>
          <a:xfrm>
            <a:off x="4160520" y="1828800"/>
            <a:ext cx="7351776" cy="640080"/>
          </a:xfrm>
          <a:prstGeom prst="rect">
            <a:avLst/>
          </a:prstGeom>
          <a:noFill/>
        </p:spPr>
        <p:txBody>
          <a:bodyPr wrap="square" lIns="36576" tIns="0" rIns="36576" bIns="0" anchor="ctr"/>
          <a:lstStyle/>
          <a:p>
            <a:pPr algn="r" rtl="1"/>
            <a:r>
              <a:rPr lang="ar-AE" altLang="en-US" sz="1450" b="1" i="0">
                <a:solidFill>
                  <a:srgbClr val="C9A96A"/>
                </a:solidFill>
                <a:latin typeface="Arial"/>
                <a:cs typeface="Arial"/>
              </a:rPr>
              <a:t>سؤال بنمط TIMSS: </a:t>
            </a:r>
            <a:r>
              <a:rPr lang="ar-AE" altLang="en-US" sz="1450" b="1" i="0">
                <a:solidFill>
                  <a:srgbClr val="102A43"/>
                </a:solidFill>
                <a:latin typeface="Arial"/>
                <a:cs typeface="Arial"/>
              </a:rPr>
              <a:t>يزرع بعض المزارعين البرسيم في الحقل قبل زراعة القمح. ما السبب الأرجح؟</a:t>
            </a:r>
          </a:p>
        </p:txBody>
      </p:sp>
      <p:sp>
        <p:nvSpPr>
          <p:cNvPr id="25" name="Rounded Rectangle 24"/>
          <p:cNvSpPr/>
          <p:nvPr/>
        </p:nvSpPr>
        <p:spPr>
          <a:xfrm>
            <a:off x="8055863" y="2523744"/>
            <a:ext cx="3785616" cy="530352"/>
          </a:xfrm>
          <a:prstGeom prst="roundRect">
            <a:avLst>
              <a:gd name="adj" fmla="val 17241"/>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00" b="1" i="0">
                <a:solidFill>
                  <a:srgbClr val="5B3B91"/>
                </a:solidFill>
                <a:latin typeface="Arial"/>
                <a:cs typeface="Arial"/>
              </a:rPr>
              <a:t>أ) </a:t>
            </a:r>
            <a:r>
              <a:rPr lang="ar-AE" altLang="en-US" sz="1300" b="1" i="0">
                <a:solidFill>
                  <a:srgbClr val="102A43"/>
                </a:solidFill>
                <a:latin typeface="Arial"/>
                <a:cs typeface="Arial"/>
              </a:rPr>
              <a:t>يمتص البرسيم النترات الزائدة من التربة</a:t>
            </a:r>
          </a:p>
        </p:txBody>
      </p:sp>
      <p:sp>
        <p:nvSpPr>
          <p:cNvPr id="26" name="Oval 25"/>
          <p:cNvSpPr/>
          <p:nvPr/>
        </p:nvSpPr>
        <p:spPr>
          <a:xfrm>
            <a:off x="8129015" y="2624328"/>
            <a:ext cx="329184" cy="329184"/>
          </a:xfrm>
          <a:prstGeom prst="ellipse">
            <a:avLst/>
          </a:prstGeom>
          <a:solidFill>
            <a:srgbClr val="C8102E"/>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27" name="Rounded Rectangle 26"/>
          <p:cNvSpPr/>
          <p:nvPr/>
        </p:nvSpPr>
        <p:spPr>
          <a:xfrm>
            <a:off x="4160519" y="2523744"/>
            <a:ext cx="3785616" cy="530352"/>
          </a:xfrm>
          <a:prstGeom prst="roundRect">
            <a:avLst>
              <a:gd name="adj" fmla="val 17241"/>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00" b="1" i="0">
                <a:solidFill>
                  <a:srgbClr val="5B3B91"/>
                </a:solidFill>
                <a:latin typeface="Arial"/>
                <a:cs typeface="Arial"/>
              </a:rPr>
              <a:t>ب) </a:t>
            </a:r>
            <a:r>
              <a:rPr lang="ar-AE" altLang="en-US" sz="1300" b="1" i="0">
                <a:solidFill>
                  <a:srgbClr val="102A43"/>
                </a:solidFill>
                <a:latin typeface="Arial"/>
                <a:cs typeface="Arial"/>
              </a:rPr>
              <a:t>تثبّت البكتيريا في جذوره النيتروجين فتزيد خصوبة التربة</a:t>
            </a:r>
          </a:p>
        </p:txBody>
      </p:sp>
      <p:sp>
        <p:nvSpPr>
          <p:cNvPr id="28" name="Oval 27"/>
          <p:cNvSpPr/>
          <p:nvPr/>
        </p:nvSpPr>
        <p:spPr>
          <a:xfrm>
            <a:off x="4233671" y="2624328"/>
            <a:ext cx="329184" cy="329184"/>
          </a:xfrm>
          <a:prstGeom prst="ellipse">
            <a:avLst/>
          </a:prstGeom>
          <a:solidFill>
            <a:srgbClr val="2E9E5B"/>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29" name="Rounded Rectangle 28"/>
          <p:cNvSpPr/>
          <p:nvPr/>
        </p:nvSpPr>
        <p:spPr>
          <a:xfrm>
            <a:off x="8055863" y="3163824"/>
            <a:ext cx="3785616" cy="530352"/>
          </a:xfrm>
          <a:prstGeom prst="roundRect">
            <a:avLst>
              <a:gd name="adj" fmla="val 17241"/>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00" b="1" i="0">
                <a:solidFill>
                  <a:srgbClr val="5B3B91"/>
                </a:solidFill>
                <a:latin typeface="Arial"/>
                <a:cs typeface="Arial"/>
              </a:rPr>
              <a:t>ج) </a:t>
            </a:r>
            <a:r>
              <a:rPr lang="ar-AE" altLang="en-US" sz="1300" b="1" i="0">
                <a:solidFill>
                  <a:srgbClr val="102A43"/>
                </a:solidFill>
                <a:latin typeface="Arial"/>
                <a:cs typeface="Arial"/>
              </a:rPr>
              <a:t>يطلق البرسيم الأكسجين في التربة</a:t>
            </a:r>
          </a:p>
        </p:txBody>
      </p:sp>
      <p:sp>
        <p:nvSpPr>
          <p:cNvPr id="30" name="Oval 29"/>
          <p:cNvSpPr/>
          <p:nvPr/>
        </p:nvSpPr>
        <p:spPr>
          <a:xfrm>
            <a:off x="8129015" y="3264408"/>
            <a:ext cx="329184" cy="329184"/>
          </a:xfrm>
          <a:prstGeom prst="ellipse">
            <a:avLst/>
          </a:prstGeom>
          <a:solidFill>
            <a:srgbClr val="C8102E"/>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31" name="Rounded Rectangle 30"/>
          <p:cNvSpPr/>
          <p:nvPr/>
        </p:nvSpPr>
        <p:spPr>
          <a:xfrm>
            <a:off x="4160519" y="3163824"/>
            <a:ext cx="3785616" cy="530352"/>
          </a:xfrm>
          <a:prstGeom prst="roundRect">
            <a:avLst>
              <a:gd name="adj" fmla="val 17241"/>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00" b="1" i="0">
                <a:solidFill>
                  <a:srgbClr val="5B3B91"/>
                </a:solidFill>
                <a:latin typeface="Arial"/>
                <a:cs typeface="Arial"/>
              </a:rPr>
              <a:t>د) </a:t>
            </a:r>
            <a:r>
              <a:rPr lang="ar-AE" altLang="en-US" sz="1300" b="1" i="0">
                <a:solidFill>
                  <a:srgbClr val="102A43"/>
                </a:solidFill>
                <a:latin typeface="Arial"/>
                <a:cs typeface="Arial"/>
              </a:rPr>
              <a:t>يمنع البرسيم نمو البكتيريا في التربة</a:t>
            </a:r>
          </a:p>
        </p:txBody>
      </p:sp>
      <p:sp>
        <p:nvSpPr>
          <p:cNvPr id="32" name="Oval 31"/>
          <p:cNvSpPr/>
          <p:nvPr/>
        </p:nvSpPr>
        <p:spPr>
          <a:xfrm>
            <a:off x="4233671" y="3264408"/>
            <a:ext cx="329184" cy="329184"/>
          </a:xfrm>
          <a:prstGeom prst="ellipse">
            <a:avLst/>
          </a:prstGeom>
          <a:solidFill>
            <a:srgbClr val="C8102E"/>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33" name="Rounded Rectangle 32"/>
          <p:cNvSpPr/>
          <p:nvPr/>
        </p:nvSpPr>
        <p:spPr>
          <a:xfrm>
            <a:off x="4160520" y="3803904"/>
            <a:ext cx="7680960" cy="548640"/>
          </a:xfrm>
          <a:prstGeom prst="roundRect">
            <a:avLst>
              <a:gd name="adj" fmla="val 20000"/>
            </a:avLst>
          </a:prstGeom>
          <a:solidFill>
            <a:srgbClr val="FFFFFF"/>
          </a:solidFill>
          <a:ln w="12700">
            <a:solidFill>
              <a:srgbClr val="D5DDE8"/>
            </a:solidFill>
          </a:ln>
        </p:spPr>
        <p:txBody>
          <a:bodyPr lIns="54864" tIns="27432" rIns="54864" bIns="27432" rtlCol="0" anchor="ctr"/>
          <a:lstStyle/>
          <a:p>
            <a:pPr algn="ctr"/>
            <a:endParaRPr/>
          </a:p>
        </p:txBody>
      </p:sp>
      <p:sp>
        <p:nvSpPr>
          <p:cNvPr id="34" name="Oval 33"/>
          <p:cNvSpPr/>
          <p:nvPr/>
        </p:nvSpPr>
        <p:spPr>
          <a:xfrm>
            <a:off x="11365992" y="3895344"/>
            <a:ext cx="365760" cy="365760"/>
          </a:xfrm>
          <a:prstGeom prst="ellipse">
            <a:avLst/>
          </a:prstGeom>
          <a:solidFill>
            <a:srgbClr val="5B3B91"/>
          </a:solidFill>
          <a:ln>
            <a:noFill/>
          </a:ln>
        </p:spPr>
        <p:txBody>
          <a:bodyPr wrap="square" lIns="0" tIns="0" rIns="0" bIns="0" rtlCol="0" anchor="ctr"/>
          <a:lstStyle/>
          <a:p>
            <a:pPr algn="ctr" rtl="1"/>
            <a:r>
              <a:rPr lang="ar-AE" altLang="en-US" sz="1400" b="1" i="0">
                <a:solidFill>
                  <a:srgbClr val="FFFFFF"/>
                </a:solidFill>
                <a:latin typeface="Arial"/>
                <a:cs typeface="Arial"/>
              </a:rPr>
              <a:t>؟</a:t>
            </a:r>
          </a:p>
        </p:txBody>
      </p:sp>
      <p:sp>
        <p:nvSpPr>
          <p:cNvPr id="35" name="TextBox 34"/>
          <p:cNvSpPr txBox="1"/>
          <p:nvPr/>
        </p:nvSpPr>
        <p:spPr>
          <a:xfrm>
            <a:off x="5577840" y="3803904"/>
            <a:ext cx="5715000" cy="548640"/>
          </a:xfrm>
          <a:prstGeom prst="rect">
            <a:avLst/>
          </a:prstGeom>
          <a:noFill/>
        </p:spPr>
        <p:txBody>
          <a:bodyPr wrap="square" lIns="36576" tIns="0" rIns="36576" bIns="0" anchor="ctr"/>
          <a:lstStyle/>
          <a:p>
            <a:pPr algn="r" rtl="1"/>
            <a:r>
              <a:rPr lang="ar-AE" altLang="en-US" sz="1400" b="1" i="0">
                <a:solidFill>
                  <a:srgbClr val="102A43"/>
                </a:solidFill>
                <a:latin typeface="Arial"/>
                <a:cs typeface="Arial"/>
              </a:rPr>
              <a:t>تمتص الحيوانات النيتروجين من الهواء أثناء التنفس.</a:t>
            </a:r>
          </a:p>
        </p:txBody>
      </p:sp>
      <p:sp>
        <p:nvSpPr>
          <p:cNvPr id="36" name="Rounded Rectangle 35"/>
          <p:cNvSpPr/>
          <p:nvPr/>
        </p:nvSpPr>
        <p:spPr>
          <a:xfrm>
            <a:off x="4251959" y="3895344"/>
            <a:ext cx="1234440" cy="365760"/>
          </a:xfrm>
          <a:prstGeom prst="roundRect">
            <a:avLst>
              <a:gd name="adj" fmla="val 50000"/>
            </a:avLst>
          </a:prstGeom>
          <a:solidFill>
            <a:srgbClr val="C8102E"/>
          </a:solidFill>
          <a:ln>
            <a:noFill/>
          </a:ln>
        </p:spPr>
        <p:txBody>
          <a:bodyPr wrap="square" lIns="0" tIns="0" rIns="0" bIns="0" rtlCol="0" anchor="ctr"/>
          <a:lstStyle/>
          <a:p>
            <a:pPr algn="ctr" rtl="1"/>
            <a:r>
              <a:rPr lang="ar-AE" altLang="en-US" sz="1400" b="1" i="0">
                <a:solidFill>
                  <a:srgbClr val="FFFFFF"/>
                </a:solidFill>
                <a:latin typeface="Arial"/>
                <a:cs typeface="Arial"/>
              </a:rPr>
              <a:t>خطأ</a:t>
            </a:r>
          </a:p>
        </p:txBody>
      </p:sp>
      <p:sp>
        <p:nvSpPr>
          <p:cNvPr id="37" name="Rounded Rectangle 36"/>
          <p:cNvSpPr/>
          <p:nvPr/>
        </p:nvSpPr>
        <p:spPr>
          <a:xfrm>
            <a:off x="4160520" y="4462272"/>
            <a:ext cx="7680960" cy="1060704"/>
          </a:xfrm>
          <a:prstGeom prst="roundRect">
            <a:avLst>
              <a:gd name="adj" fmla="val 10344"/>
            </a:avLst>
          </a:prstGeom>
          <a:solidFill>
            <a:srgbClr val="FBF5E8"/>
          </a:solidFill>
          <a:ln w="12700">
            <a:solidFill>
              <a:srgbClr val="E6D5B0"/>
            </a:solidFill>
          </a:ln>
        </p:spPr>
        <p:txBody>
          <a:bodyPr lIns="54864" tIns="27432" rIns="54864" bIns="27432" rtlCol="0" anchor="ctr"/>
          <a:lstStyle/>
          <a:p>
            <a:pPr algn="ctr"/>
            <a:endParaRPr/>
          </a:p>
        </p:txBody>
      </p:sp>
      <p:pic>
        <p:nvPicPr>
          <p:cNvPr id="38" name="Picture 37" descr="badge_shaheen.png"/>
          <p:cNvPicPr>
            <a:picLocks noChangeAspect="1"/>
          </p:cNvPicPr>
          <p:nvPr/>
        </p:nvPicPr>
        <p:blipFill>
          <a:blip r:embed="rId6"/>
          <a:stretch>
            <a:fillRect/>
          </a:stretch>
        </p:blipFill>
        <p:spPr>
          <a:xfrm>
            <a:off x="11018520" y="4614294"/>
            <a:ext cx="731520" cy="756658"/>
          </a:xfrm>
          <a:prstGeom prst="rect">
            <a:avLst/>
          </a:prstGeom>
        </p:spPr>
      </p:pic>
      <p:sp>
        <p:nvSpPr>
          <p:cNvPr id="39" name="TextBox 38"/>
          <p:cNvSpPr txBox="1"/>
          <p:nvPr/>
        </p:nvSpPr>
        <p:spPr>
          <a:xfrm>
            <a:off x="4251960" y="4480560"/>
            <a:ext cx="6675120" cy="1024128"/>
          </a:xfrm>
          <a:prstGeom prst="rect">
            <a:avLst/>
          </a:prstGeom>
          <a:noFill/>
        </p:spPr>
        <p:txBody>
          <a:bodyPr wrap="square" lIns="73152" tIns="36576" rIns="73152" bIns="36576" anchor="ctr"/>
          <a:lstStyle/>
          <a:p>
            <a:pPr algn="r" rtl="1"/>
            <a:r>
              <a:rPr lang="ar-AE" altLang="en-US" sz="1400" b="1" i="0">
                <a:solidFill>
                  <a:srgbClr val="6B3F1D"/>
                </a:solidFill>
                <a:latin typeface="Arial"/>
                <a:cs typeface="Arial"/>
              </a:rPr>
              <a:t>تحدّي شاهين </a:t>
            </a:r>
            <a:r>
              <a:rPr lang="ar-AE" altLang="en-US" sz="1400" b="1" i="0">
                <a:solidFill>
                  <a:srgbClr val="C8102E"/>
                </a:solidFill>
                <a:latin typeface="Arial"/>
                <a:cs typeface="Arial"/>
              </a:rPr>
              <a:t>■</a:t>
            </a:r>
            <a:r>
              <a:rPr lang="ar-AE" altLang="en-US" sz="1400" b="1" i="0">
                <a:solidFill>
                  <a:srgbClr val="6B3F1D"/>
                </a:solidFill>
                <a:latin typeface="Arial"/>
                <a:cs typeface="Arial"/>
              </a:rPr>
              <a:t>: </a:t>
            </a:r>
            <a:r>
              <a:rPr lang="ar-AE" altLang="en-US" sz="1400" b="1" i="0">
                <a:solidFill>
                  <a:srgbClr val="102A43"/>
                </a:solidFill>
                <a:latin typeface="Arial"/>
                <a:cs typeface="Arial"/>
              </a:rPr>
              <a:t>لماذا يُعدّ النيتروجين عاملًا يحدّ من نمو المنتجات في النظام البيئي؟</a:t>
            </a:r>
          </a:p>
        </p:txBody>
      </p:sp>
      <p:pic>
        <p:nvPicPr>
          <p:cNvPr id="40"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697480" y="1920240"/>
            <a:ext cx="1371600" cy="1371600"/>
          </a:xfrm>
          <a:prstGeom prst="rect">
            <a:avLst/>
          </a:prstGeom>
        </p:spPr>
      </p:pic>
      <p:sp>
        <p:nvSpPr>
          <p:cNvPr id="41" name="Oval 40"/>
          <p:cNvSpPr/>
          <p:nvPr/>
        </p:nvSpPr>
        <p:spPr>
          <a:xfrm>
            <a:off x="3017520" y="3520440"/>
            <a:ext cx="731520" cy="731520"/>
          </a:xfrm>
          <a:prstGeom prst="ellipse">
            <a:avLst/>
          </a:prstGeom>
          <a:solidFill>
            <a:srgbClr val="5B3B91"/>
          </a:solidFill>
          <a:ln>
            <a:noFill/>
          </a:ln>
        </p:spPr>
        <p:txBody>
          <a:bodyPr lIns="54864" tIns="27432" rIns="54864" bIns="27432" rtlCol="0" anchor="ctr"/>
          <a:lstStyle/>
          <a:p>
            <a:pPr algn="ctr"/>
            <a:endParaRPr/>
          </a:p>
        </p:txBody>
      </p:sp>
      <p:pic>
        <p:nvPicPr>
          <p:cNvPr id="42" name="Picture 41" descr="users_w.png"/>
          <p:cNvPicPr>
            <a:picLocks noChangeAspect="1"/>
          </p:cNvPicPr>
          <p:nvPr/>
        </p:nvPicPr>
        <p:blipFill>
          <a:blip r:embed="rId8"/>
          <a:stretch>
            <a:fillRect/>
          </a:stretch>
        </p:blipFill>
        <p:spPr>
          <a:xfrm>
            <a:off x="3178454" y="3681374"/>
            <a:ext cx="409651" cy="409651"/>
          </a:xfrm>
          <a:prstGeom prst="rect">
            <a:avLst/>
          </a:prstGeom>
        </p:spPr>
      </p:pic>
      <p:sp>
        <p:nvSpPr>
          <p:cNvPr id="43" name="TextBox 42"/>
          <p:cNvSpPr txBox="1"/>
          <p:nvPr/>
        </p:nvSpPr>
        <p:spPr>
          <a:xfrm>
            <a:off x="2651760" y="4297680"/>
            <a:ext cx="1463040" cy="731520"/>
          </a:xfrm>
          <a:prstGeom prst="rect">
            <a:avLst/>
          </a:prstGeom>
          <a:noFill/>
        </p:spPr>
        <p:txBody>
          <a:bodyPr wrap="square" lIns="73152" tIns="36576" rIns="73152" bIns="36576" anchor="ctr"/>
          <a:lstStyle/>
          <a:p>
            <a:pPr algn="ctr" rtl="1"/>
            <a:r>
              <a:rPr lang="ar-AE" altLang="en-US" sz="1200" b="1" i="0">
                <a:solidFill>
                  <a:srgbClr val="5A687D"/>
                </a:solidFill>
                <a:latin typeface="Arial"/>
                <a:cs typeface="Arial"/>
              </a:rPr>
              <a:t>تشاوروا في المجموعة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29"/>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1"/>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34"/>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40"/>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40"/>
                                        </p:tgtEl>
                                      </p:cBhvr>
                                    </p:cmd>
                                  </p:childTnLst>
                                </p:cTn>
                              </p:par>
                            </p:childTnLst>
                          </p:cTn>
                        </p:par>
                      </p:childTnLst>
                    </p:cTn>
                  </p:par>
                </p:childTnLst>
              </p:cTn>
              <p:nextCondLst>
                <p:cond evt="onNext" delay="0">
                  <p:tgtEl>
                    <p:sldTgt/>
                  </p:tgtEl>
                </p:cond>
              </p:nextCondLst>
            </p:seq>
            <p:video>
              <p:cMediaNode vol="80000">
                <p:cTn id="37" fill="hold" display="0">
                  <p:stCondLst>
                    <p:cond delay="indefinite"/>
                  </p:stCondLst>
                </p:cTn>
                <p:tgtEl>
                  <p:spTgt spid="40"/>
                </p:tgtEl>
              </p:cMediaNode>
            </p:video>
          </p:childTnLst>
        </p:cTn>
      </p:par>
    </p:tnLst>
    <p:bldLst>
      <p:bldP spid="26" grpId="0" animBg="1"/>
      <p:bldP spid="28" grpId="0" animBg="1"/>
      <p:bldP spid="30" grpId="0" animBg="1"/>
      <p:bldP spid="32" grpId="0" animBg="1"/>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الثاني</a:t>
            </a:r>
          </a:p>
        </p:txBody>
      </p:sp>
      <p:sp>
        <p:nvSpPr>
          <p:cNvPr id="22" name="TextBox 21"/>
          <p:cNvSpPr txBox="1"/>
          <p:nvPr/>
        </p:nvSpPr>
        <p:spPr>
          <a:xfrm>
            <a:off x="2606040" y="1280160"/>
            <a:ext cx="762152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شاهد: رحلة ذرة النيتروجين</a:t>
            </a:r>
          </a:p>
        </p:txBody>
      </p:sp>
      <p:pic>
        <p:nvPicPr>
          <p:cNvPr id="23" name="nitrogen_journ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440679" y="1901952"/>
            <a:ext cx="6400800" cy="3600450"/>
          </a:xfrm>
          <a:prstGeom prst="rect">
            <a:avLst/>
          </a:prstGeom>
          <a:ln w="28575">
            <a:solidFill>
              <a:srgbClr val="C9A96A"/>
            </a:solidFill>
          </a:ln>
        </p:spPr>
      </p:pic>
      <p:sp>
        <p:nvSpPr>
          <p:cNvPr id="24" name="Rounded Rectangle 23"/>
          <p:cNvSpPr/>
          <p:nvPr/>
        </p:nvSpPr>
        <p:spPr>
          <a:xfrm>
            <a:off x="2697480" y="1901952"/>
            <a:ext cx="2606039" cy="3602736"/>
          </a:xfrm>
          <a:prstGeom prst="roundRect">
            <a:avLst>
              <a:gd name="adj" fmla="val 4210"/>
            </a:avLst>
          </a:prstGeom>
          <a:solidFill>
            <a:srgbClr val="F3F5F8"/>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5" name="Oval 24"/>
          <p:cNvSpPr/>
          <p:nvPr/>
        </p:nvSpPr>
        <p:spPr>
          <a:xfrm>
            <a:off x="3634740" y="2011680"/>
            <a:ext cx="731520" cy="731520"/>
          </a:xfrm>
          <a:prstGeom prst="ellipse">
            <a:avLst/>
          </a:prstGeom>
          <a:solidFill>
            <a:srgbClr val="5B3B91"/>
          </a:solidFill>
          <a:ln>
            <a:noFill/>
          </a:ln>
        </p:spPr>
        <p:txBody>
          <a:bodyPr lIns="54864" tIns="27432" rIns="54864" bIns="27432" rtlCol="0" anchor="ctr"/>
          <a:lstStyle/>
          <a:p>
            <a:pPr algn="ctr"/>
            <a:endParaRPr/>
          </a:p>
        </p:txBody>
      </p:sp>
      <p:pic>
        <p:nvPicPr>
          <p:cNvPr id="26" name="Picture 25" descr="eye_w.png"/>
          <p:cNvPicPr>
            <a:picLocks noChangeAspect="1"/>
          </p:cNvPicPr>
          <p:nvPr/>
        </p:nvPicPr>
        <p:blipFill>
          <a:blip r:embed="rId7"/>
          <a:stretch>
            <a:fillRect/>
          </a:stretch>
        </p:blipFill>
        <p:spPr>
          <a:xfrm>
            <a:off x="3795674" y="2172614"/>
            <a:ext cx="409651" cy="409651"/>
          </a:xfrm>
          <a:prstGeom prst="rect">
            <a:avLst/>
          </a:prstGeom>
        </p:spPr>
      </p:pic>
      <p:sp>
        <p:nvSpPr>
          <p:cNvPr id="27" name="TextBox 26"/>
          <p:cNvSpPr txBox="1"/>
          <p:nvPr/>
        </p:nvSpPr>
        <p:spPr>
          <a:xfrm>
            <a:off x="2761488" y="2816352"/>
            <a:ext cx="2478023" cy="411480"/>
          </a:xfrm>
          <a:prstGeom prst="rect">
            <a:avLst/>
          </a:prstGeom>
          <a:noFill/>
        </p:spPr>
        <p:txBody>
          <a:bodyPr wrap="square" lIns="73152" tIns="36576" rIns="73152" bIns="36576" anchor="ctr"/>
          <a:lstStyle/>
          <a:p>
            <a:pPr algn="ctr" rtl="1"/>
            <a:r>
              <a:rPr lang="ar-AE" altLang="en-US" sz="1500" b="1" i="0">
                <a:solidFill>
                  <a:srgbClr val="5B3B91"/>
                </a:solidFill>
                <a:latin typeface="Arial"/>
                <a:cs typeface="Arial"/>
              </a:rPr>
              <a:t>أثناء المشاهدة:</a:t>
            </a:r>
          </a:p>
        </p:txBody>
      </p:sp>
      <p:sp>
        <p:nvSpPr>
          <p:cNvPr id="28" name="TextBox 27"/>
          <p:cNvSpPr txBox="1"/>
          <p:nvPr/>
        </p:nvSpPr>
        <p:spPr>
          <a:xfrm>
            <a:off x="2788920" y="3246120"/>
            <a:ext cx="2423159" cy="2194560"/>
          </a:xfrm>
          <a:prstGeom prst="rect">
            <a:avLst/>
          </a:prstGeom>
          <a:noFill/>
        </p:spPr>
        <p:txBody>
          <a:bodyPr wrap="square" lIns="73152" tIns="36576" rIns="73152" bIns="36576" anchor="t"/>
          <a:lstStyle/>
          <a:p>
            <a:pPr algn="r" rtl="1">
              <a:spcAft>
                <a:spcPts val="600"/>
              </a:spcAft>
            </a:pPr>
            <a:r>
              <a:rPr lang="ar-AE" altLang="en-US" sz="1300" b="1" i="0">
                <a:solidFill>
                  <a:srgbClr val="102A43"/>
                </a:solidFill>
                <a:latin typeface="Arial"/>
                <a:cs typeface="Arial"/>
              </a:rPr>
              <a:t>1) كيف دخلت ذرة النيتروجين إلى التربة؟</a:t>
            </a:r>
          </a:p>
          <a:p>
            <a:pPr algn="r" rtl="1">
              <a:spcAft>
                <a:spcPts val="600"/>
              </a:spcAft>
            </a:pPr>
            <a:r>
              <a:rPr lang="ar-AE" altLang="en-US" sz="1300" b="1" i="0">
                <a:solidFill>
                  <a:srgbClr val="102A43"/>
                </a:solidFill>
                <a:latin typeface="Arial"/>
                <a:cs typeface="Arial"/>
              </a:rPr>
              <a:t>2) كيف وصلت إلى جسم الجمل؟</a:t>
            </a:r>
          </a:p>
          <a:p>
            <a:pPr algn="r" rtl="1">
              <a:spcAft>
                <a:spcPts val="600"/>
              </a:spcAft>
            </a:pPr>
            <a:r>
              <a:rPr lang="ar-AE" altLang="en-US" sz="1300" b="1" i="0">
                <a:solidFill>
                  <a:srgbClr val="102A43"/>
                </a:solidFill>
                <a:latin typeface="Arial"/>
                <a:cs typeface="Arial"/>
              </a:rPr>
              <a:t>3) كيف عادت إلى الهواء؟</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الثاني</a:t>
            </a:r>
          </a:p>
        </p:txBody>
      </p:sp>
      <p:sp>
        <p:nvSpPr>
          <p:cNvPr id="22" name="TextBox 21"/>
          <p:cNvSpPr txBox="1"/>
          <p:nvPr/>
        </p:nvSpPr>
        <p:spPr>
          <a:xfrm>
            <a:off x="2606040" y="1280160"/>
            <a:ext cx="762152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النيتروجين في الشبكة الغذائية… ثم العودة إلى التربة</a:t>
            </a:r>
          </a:p>
        </p:txBody>
      </p:sp>
      <p:sp>
        <p:nvSpPr>
          <p:cNvPr id="23" name="Rounded Rectangle 22"/>
          <p:cNvSpPr/>
          <p:nvPr/>
        </p:nvSpPr>
        <p:spPr>
          <a:xfrm>
            <a:off x="10030967" y="1920240"/>
            <a:ext cx="1810512" cy="868680"/>
          </a:xfrm>
          <a:prstGeom prst="roundRect">
            <a:avLst>
              <a:gd name="adj" fmla="val 15789"/>
            </a:avLst>
          </a:prstGeom>
          <a:solidFill>
            <a:srgbClr val="8A6440"/>
          </a:solidFill>
          <a:ln>
            <a:noFill/>
          </a:ln>
        </p:spPr>
        <p:txBody>
          <a:bodyPr wrap="square" lIns="36576" tIns="18288" rIns="36576" bIns="18288" rtlCol="0" anchor="ctr"/>
          <a:lstStyle/>
          <a:p>
            <a:pPr algn="ctr" rtl="1"/>
            <a:r>
              <a:rPr lang="ar-AE" altLang="en-US" sz="1300" b="1" i="0">
                <a:solidFill>
                  <a:srgbClr val="FFFFFF"/>
                </a:solidFill>
                <a:latin typeface="Arial"/>
                <a:cs typeface="Arial"/>
              </a:rPr>
              <a:t>نترات التربة</a:t>
            </a:r>
          </a:p>
        </p:txBody>
      </p:sp>
      <p:sp>
        <p:nvSpPr>
          <p:cNvPr id="24" name="Left Arrow 23"/>
          <p:cNvSpPr/>
          <p:nvPr/>
        </p:nvSpPr>
        <p:spPr>
          <a:xfrm>
            <a:off x="9756647" y="2240280"/>
            <a:ext cx="237744" cy="237744"/>
          </a:xfrm>
          <a:prstGeom prst="leftArrow">
            <a:avLst/>
          </a:prstGeom>
          <a:solidFill>
            <a:srgbClr val="8A9BB0"/>
          </a:solidFill>
          <a:ln>
            <a:noFill/>
          </a:ln>
        </p:spPr>
        <p:txBody>
          <a:bodyPr lIns="54864" tIns="27432" rIns="54864" bIns="27432" rtlCol="0" anchor="ctr"/>
          <a:lstStyle/>
          <a:p>
            <a:pPr algn="ctr"/>
            <a:endParaRPr/>
          </a:p>
        </p:txBody>
      </p:sp>
      <p:sp>
        <p:nvSpPr>
          <p:cNvPr id="25" name="Rounded Rectangle 24"/>
          <p:cNvSpPr/>
          <p:nvPr/>
        </p:nvSpPr>
        <p:spPr>
          <a:xfrm>
            <a:off x="7927847" y="1920240"/>
            <a:ext cx="1810512" cy="868680"/>
          </a:xfrm>
          <a:prstGeom prst="roundRect">
            <a:avLst>
              <a:gd name="adj" fmla="val 15789"/>
            </a:avLst>
          </a:prstGeom>
          <a:solidFill>
            <a:srgbClr val="2E7D32"/>
          </a:solidFill>
          <a:ln>
            <a:noFill/>
          </a:ln>
        </p:spPr>
        <p:txBody>
          <a:bodyPr wrap="square" lIns="36576" tIns="18288" rIns="36576" bIns="18288" rtlCol="0" anchor="ctr"/>
          <a:lstStyle/>
          <a:p>
            <a:pPr algn="ctr" rtl="1"/>
            <a:r>
              <a:rPr lang="ar-AE" altLang="en-US" sz="1300" b="1" i="0">
                <a:solidFill>
                  <a:srgbClr val="FFFFFF"/>
                </a:solidFill>
                <a:latin typeface="Arial"/>
                <a:cs typeface="Arial"/>
              </a:rPr>
              <a:t>النبات يصنع البروتينات</a:t>
            </a:r>
          </a:p>
        </p:txBody>
      </p:sp>
      <p:sp>
        <p:nvSpPr>
          <p:cNvPr id="26" name="Left Arrow 25"/>
          <p:cNvSpPr/>
          <p:nvPr/>
        </p:nvSpPr>
        <p:spPr>
          <a:xfrm>
            <a:off x="7653527" y="2240280"/>
            <a:ext cx="237744" cy="237744"/>
          </a:xfrm>
          <a:prstGeom prst="leftArrow">
            <a:avLst/>
          </a:prstGeom>
          <a:solidFill>
            <a:srgbClr val="8A9BB0"/>
          </a:solidFill>
          <a:ln>
            <a:noFill/>
          </a:ln>
        </p:spPr>
        <p:txBody>
          <a:bodyPr lIns="54864" tIns="27432" rIns="54864" bIns="27432" rtlCol="0" anchor="ctr"/>
          <a:lstStyle/>
          <a:p>
            <a:pPr algn="ctr"/>
            <a:endParaRPr/>
          </a:p>
        </p:txBody>
      </p:sp>
      <p:sp>
        <p:nvSpPr>
          <p:cNvPr id="27" name="Rounded Rectangle 26"/>
          <p:cNvSpPr/>
          <p:nvPr/>
        </p:nvSpPr>
        <p:spPr>
          <a:xfrm>
            <a:off x="5824728" y="1920240"/>
            <a:ext cx="1810512" cy="868680"/>
          </a:xfrm>
          <a:prstGeom prst="roundRect">
            <a:avLst>
              <a:gd name="adj" fmla="val 15789"/>
            </a:avLst>
          </a:prstGeom>
          <a:solidFill>
            <a:srgbClr val="996B2F"/>
          </a:solidFill>
          <a:ln>
            <a:noFill/>
          </a:ln>
        </p:spPr>
        <p:txBody>
          <a:bodyPr wrap="square" lIns="36576" tIns="18288" rIns="36576" bIns="18288" rtlCol="0" anchor="ctr"/>
          <a:lstStyle/>
          <a:p>
            <a:pPr algn="ctr" rtl="1"/>
            <a:r>
              <a:rPr lang="ar-AE" altLang="en-US" sz="1300" b="1" i="0">
                <a:solidFill>
                  <a:srgbClr val="FFFFFF"/>
                </a:solidFill>
                <a:latin typeface="Arial"/>
                <a:cs typeface="Arial"/>
              </a:rPr>
              <a:t>الحيوان يتغذّى ويبني بروتيناته</a:t>
            </a:r>
          </a:p>
        </p:txBody>
      </p:sp>
      <p:sp>
        <p:nvSpPr>
          <p:cNvPr id="28" name="Rounded Rectangle 27"/>
          <p:cNvSpPr/>
          <p:nvPr/>
        </p:nvSpPr>
        <p:spPr>
          <a:xfrm>
            <a:off x="5824728" y="3337560"/>
            <a:ext cx="1810512" cy="868680"/>
          </a:xfrm>
          <a:prstGeom prst="roundRect">
            <a:avLst>
              <a:gd name="adj" fmla="val 15789"/>
            </a:avLst>
          </a:prstGeom>
          <a:solidFill>
            <a:srgbClr val="5A687D"/>
          </a:solidFill>
          <a:ln>
            <a:noFill/>
          </a:ln>
        </p:spPr>
        <p:txBody>
          <a:bodyPr wrap="square" lIns="36576" tIns="18288" rIns="36576" bIns="18288" rtlCol="0" anchor="ctr"/>
          <a:lstStyle/>
          <a:p>
            <a:pPr algn="ctr" rtl="1"/>
            <a:r>
              <a:rPr lang="ar-AE" altLang="en-US" sz="1300" b="1" i="0">
                <a:solidFill>
                  <a:srgbClr val="FFFFFF"/>
                </a:solidFill>
                <a:latin typeface="Arial"/>
                <a:cs typeface="Arial"/>
              </a:rPr>
              <a:t>الفضلات والبقايا</a:t>
            </a:r>
          </a:p>
        </p:txBody>
      </p:sp>
      <p:sp>
        <p:nvSpPr>
          <p:cNvPr id="29" name="Right Arrow 28"/>
          <p:cNvSpPr/>
          <p:nvPr/>
        </p:nvSpPr>
        <p:spPr>
          <a:xfrm>
            <a:off x="7653528" y="3657600"/>
            <a:ext cx="256032" cy="237744"/>
          </a:xfrm>
          <a:prstGeom prst="rightArrow">
            <a:avLst/>
          </a:prstGeom>
          <a:solidFill>
            <a:srgbClr val="8A9BB0"/>
          </a:solidFill>
          <a:ln>
            <a:noFill/>
          </a:ln>
        </p:spPr>
        <p:txBody>
          <a:bodyPr lIns="54864" tIns="27432" rIns="54864" bIns="27432" rtlCol="0" anchor="ctr"/>
          <a:lstStyle/>
          <a:p>
            <a:pPr algn="ctr"/>
            <a:endParaRPr/>
          </a:p>
        </p:txBody>
      </p:sp>
      <p:sp>
        <p:nvSpPr>
          <p:cNvPr id="30" name="Rounded Rectangle 29"/>
          <p:cNvSpPr/>
          <p:nvPr/>
        </p:nvSpPr>
        <p:spPr>
          <a:xfrm>
            <a:off x="7927847" y="3337560"/>
            <a:ext cx="1810512" cy="868680"/>
          </a:xfrm>
          <a:prstGeom prst="roundRect">
            <a:avLst>
              <a:gd name="adj" fmla="val 15789"/>
            </a:avLst>
          </a:prstGeom>
          <a:solidFill>
            <a:srgbClr val="6E4E33"/>
          </a:solidFill>
          <a:ln>
            <a:noFill/>
          </a:ln>
        </p:spPr>
        <p:txBody>
          <a:bodyPr wrap="square" lIns="36576" tIns="18288" rIns="36576" bIns="18288" rtlCol="0" anchor="ctr"/>
          <a:lstStyle/>
          <a:p>
            <a:pPr algn="ctr" rtl="1"/>
            <a:r>
              <a:rPr lang="ar-AE" altLang="en-US" sz="1300" b="1" i="0">
                <a:solidFill>
                  <a:srgbClr val="FFFFFF"/>
                </a:solidFill>
                <a:latin typeface="Arial"/>
                <a:cs typeface="Arial"/>
              </a:rPr>
              <a:t>المحللات تنتج الأمونيا</a:t>
            </a:r>
          </a:p>
        </p:txBody>
      </p:sp>
      <p:sp>
        <p:nvSpPr>
          <p:cNvPr id="31" name="Right Arrow 30"/>
          <p:cNvSpPr/>
          <p:nvPr/>
        </p:nvSpPr>
        <p:spPr>
          <a:xfrm>
            <a:off x="9756647" y="3657600"/>
            <a:ext cx="256032" cy="237744"/>
          </a:xfrm>
          <a:prstGeom prst="rightArrow">
            <a:avLst/>
          </a:prstGeom>
          <a:solidFill>
            <a:srgbClr val="8A9BB0"/>
          </a:solidFill>
          <a:ln>
            <a:noFill/>
          </a:ln>
        </p:spPr>
        <p:txBody>
          <a:bodyPr lIns="54864" tIns="27432" rIns="54864" bIns="27432" rtlCol="0" anchor="ctr"/>
          <a:lstStyle/>
          <a:p>
            <a:pPr algn="ctr"/>
            <a:endParaRPr/>
          </a:p>
        </p:txBody>
      </p:sp>
      <p:sp>
        <p:nvSpPr>
          <p:cNvPr id="32" name="Rounded Rectangle 31"/>
          <p:cNvSpPr/>
          <p:nvPr/>
        </p:nvSpPr>
        <p:spPr>
          <a:xfrm>
            <a:off x="10030967" y="3337560"/>
            <a:ext cx="1810512" cy="868680"/>
          </a:xfrm>
          <a:prstGeom prst="roundRect">
            <a:avLst>
              <a:gd name="adj" fmla="val 15789"/>
            </a:avLst>
          </a:prstGeom>
          <a:solidFill>
            <a:srgbClr val="5B3B91"/>
          </a:solidFill>
          <a:ln>
            <a:noFill/>
          </a:ln>
        </p:spPr>
        <p:txBody>
          <a:bodyPr wrap="square" lIns="36576" tIns="18288" rIns="36576" bIns="18288" rtlCol="0" anchor="ctr"/>
          <a:lstStyle/>
          <a:p>
            <a:pPr algn="ctr" rtl="1"/>
            <a:r>
              <a:rPr lang="ar-AE" altLang="en-US" sz="1300" b="1" i="0">
                <a:solidFill>
                  <a:srgbClr val="FFFFFF"/>
                </a:solidFill>
                <a:latin typeface="Arial"/>
                <a:cs typeface="Arial"/>
              </a:rPr>
              <a:t>بكتيريا النترتة تنتج النترات</a:t>
            </a:r>
          </a:p>
        </p:txBody>
      </p:sp>
      <p:sp>
        <p:nvSpPr>
          <p:cNvPr id="33" name="Down Arrow 32"/>
          <p:cNvSpPr/>
          <p:nvPr/>
        </p:nvSpPr>
        <p:spPr>
          <a:xfrm>
            <a:off x="6556248" y="2834640"/>
            <a:ext cx="310896" cy="457200"/>
          </a:xfrm>
          <a:prstGeom prst="downArrow">
            <a:avLst/>
          </a:prstGeom>
          <a:solidFill>
            <a:srgbClr val="8A9BB0"/>
          </a:solidFill>
          <a:ln>
            <a:noFill/>
          </a:ln>
        </p:spPr>
        <p:txBody>
          <a:bodyPr lIns="54864" tIns="27432" rIns="54864" bIns="27432" rtlCol="0" anchor="ctr"/>
          <a:lstStyle/>
          <a:p>
            <a:pPr algn="ctr"/>
            <a:endParaRPr/>
          </a:p>
        </p:txBody>
      </p:sp>
      <p:sp>
        <p:nvSpPr>
          <p:cNvPr id="34" name="Up Arrow 33"/>
          <p:cNvSpPr/>
          <p:nvPr/>
        </p:nvSpPr>
        <p:spPr>
          <a:xfrm>
            <a:off x="10762488" y="2834640"/>
            <a:ext cx="310896" cy="457200"/>
          </a:xfrm>
          <a:prstGeom prst="upArrow">
            <a:avLst/>
          </a:prstGeom>
          <a:solidFill>
            <a:srgbClr val="5B3B91"/>
          </a:solidFill>
          <a:ln>
            <a:noFill/>
          </a:ln>
        </p:spPr>
        <p:txBody>
          <a:bodyPr lIns="54864" tIns="27432" rIns="54864" bIns="27432" rtlCol="0" anchor="ctr"/>
          <a:lstStyle/>
          <a:p>
            <a:pPr algn="ctr"/>
            <a:endParaRPr/>
          </a:p>
        </p:txBody>
      </p:sp>
      <p:sp>
        <p:nvSpPr>
          <p:cNvPr id="35" name="Rounded Rectangle 34"/>
          <p:cNvSpPr/>
          <p:nvPr/>
        </p:nvSpPr>
        <p:spPr>
          <a:xfrm>
            <a:off x="5669280" y="4315968"/>
            <a:ext cx="6172200" cy="1188720"/>
          </a:xfrm>
          <a:prstGeom prst="roundRect">
            <a:avLst>
              <a:gd name="adj" fmla="val 9230"/>
            </a:avLst>
          </a:prstGeom>
          <a:solidFill>
            <a:srgbClr val="F1ECF8"/>
          </a:solidFill>
          <a:ln w="12700">
            <a:solidFill>
              <a:srgbClr val="D5C7EA"/>
            </a:solidFill>
          </a:ln>
        </p:spPr>
        <p:txBody>
          <a:bodyPr wrap="square" lIns="137160" tIns="36576" rIns="137160" bIns="36576" rtlCol="0" anchor="ctr"/>
          <a:lstStyle/>
          <a:p>
            <a:pPr algn="r" rtl="1"/>
            <a:r>
              <a:rPr lang="ar-AE" altLang="en-US" sz="1350" b="1" i="0">
                <a:solidFill>
                  <a:srgbClr val="C9A96A"/>
                </a:solidFill>
                <a:latin typeface="Arial"/>
                <a:cs typeface="Arial"/>
              </a:rPr>
              <a:t>لاحظ: </a:t>
            </a:r>
            <a:r>
              <a:rPr lang="ar-AE" altLang="en-US" sz="1350" b="1" i="0">
                <a:solidFill>
                  <a:srgbClr val="102A43"/>
                </a:solidFill>
                <a:latin typeface="Arial"/>
                <a:cs typeface="Arial"/>
              </a:rPr>
              <a:t>تعود النترات إلى النباتات من جديد… ويُعدّ النيتروجين عادةً عاملًا يحدّ من نمو المنتجات، لأن كميته في الشبكة الغذائية تعتمد على الكمية المثبّتة منه.</a:t>
            </a:r>
          </a:p>
        </p:txBody>
      </p:sp>
      <p:pic>
        <p:nvPicPr>
          <p:cNvPr id="36" name="Picture 35" descr="n_nitrif.png"/>
          <p:cNvPicPr>
            <a:picLocks noChangeAspect="1"/>
          </p:cNvPicPr>
          <p:nvPr/>
        </p:nvPicPr>
        <p:blipFill>
          <a:blip r:embed="rId4"/>
          <a:stretch>
            <a:fillRect/>
          </a:stretch>
        </p:blipFill>
        <p:spPr>
          <a:xfrm>
            <a:off x="2697480" y="2888116"/>
            <a:ext cx="2788919" cy="1630407"/>
          </a:xfrm>
          <a:prstGeom prst="rect">
            <a:avLst/>
          </a:prstGeom>
          <a:ln w="12700">
            <a:solidFill>
              <a:srgbClr val="D5DDE8"/>
            </a:solidFill>
          </a:ln>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الناتج الثاني</a:t>
            </a:r>
          </a:p>
        </p:txBody>
      </p:sp>
      <p:sp>
        <p:nvSpPr>
          <p:cNvPr id="22" name="TextBox 21"/>
          <p:cNvSpPr txBox="1"/>
          <p:nvPr/>
        </p:nvSpPr>
        <p:spPr>
          <a:xfrm>
            <a:off x="2606040" y="1280160"/>
            <a:ext cx="7045452"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رتّبوا رحلة ذرة النيتروجين (ابدؤوا بالتثبيت)</a:t>
            </a:r>
          </a:p>
        </p:txBody>
      </p:sp>
      <p:sp>
        <p:nvSpPr>
          <p:cNvPr id="23" name="Rounded Rectangle 22"/>
          <p:cNvSpPr/>
          <p:nvPr/>
        </p:nvSpPr>
        <p:spPr>
          <a:xfrm>
            <a:off x="8092440" y="1901952"/>
            <a:ext cx="3749039" cy="621792"/>
          </a:xfrm>
          <a:prstGeom prst="roundRect">
            <a:avLst>
              <a:gd name="adj" fmla="val 14705"/>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4" name="TextBox 23"/>
          <p:cNvSpPr txBox="1"/>
          <p:nvPr/>
        </p:nvSpPr>
        <p:spPr>
          <a:xfrm>
            <a:off x="8165592" y="1901952"/>
            <a:ext cx="3072383" cy="621792"/>
          </a:xfrm>
          <a:prstGeom prst="rect">
            <a:avLst/>
          </a:prstGeom>
          <a:noFill/>
        </p:spPr>
        <p:txBody>
          <a:bodyPr wrap="square" lIns="36576" tIns="18288" rIns="36576" bIns="18288" anchor="ctr"/>
          <a:lstStyle/>
          <a:p>
            <a:pPr algn="r" rtl="1"/>
            <a:r>
              <a:rPr lang="ar-AE" altLang="en-US" sz="1350" b="1" i="0">
                <a:solidFill>
                  <a:srgbClr val="102A43"/>
                </a:solidFill>
                <a:latin typeface="Arial"/>
                <a:cs typeface="Arial"/>
              </a:rPr>
              <a:t>يتغذّى الجمل على أوراق الغاف ويبني بروتينات جسمه.</a:t>
            </a:r>
          </a:p>
        </p:txBody>
      </p:sp>
      <p:sp>
        <p:nvSpPr>
          <p:cNvPr id="25" name="Oval 24"/>
          <p:cNvSpPr/>
          <p:nvPr/>
        </p:nvSpPr>
        <p:spPr>
          <a:xfrm>
            <a:off x="11311128" y="2002536"/>
            <a:ext cx="420624" cy="420624"/>
          </a:xfrm>
          <a:prstGeom prst="ellipse">
            <a:avLst/>
          </a:prstGeom>
          <a:solidFill>
            <a:srgbClr val="5B3B91"/>
          </a:solidFill>
          <a:ln>
            <a:noFill/>
          </a:ln>
        </p:spPr>
        <p:txBody>
          <a:bodyPr wrap="square" lIns="36576" tIns="18288" rIns="36576" bIns="18288" rtlCol="0" anchor="ctr"/>
          <a:lstStyle/>
          <a:p>
            <a:pPr algn="ctr" rtl="1"/>
            <a:r>
              <a:rPr lang="ar-AE" altLang="en-US" sz="1400" b="1" i="0">
                <a:solidFill>
                  <a:srgbClr val="FFFFFF"/>
                </a:solidFill>
                <a:latin typeface="Arial"/>
                <a:cs typeface="Arial"/>
              </a:rPr>
              <a:t>أ</a:t>
            </a:r>
          </a:p>
        </p:txBody>
      </p:sp>
      <p:sp>
        <p:nvSpPr>
          <p:cNvPr id="26" name="Rounded Rectangle 25"/>
          <p:cNvSpPr/>
          <p:nvPr/>
        </p:nvSpPr>
        <p:spPr>
          <a:xfrm>
            <a:off x="4160520" y="1901952"/>
            <a:ext cx="3749039" cy="621792"/>
          </a:xfrm>
          <a:prstGeom prst="roundRect">
            <a:avLst>
              <a:gd name="adj" fmla="val 14705"/>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7" name="TextBox 26"/>
          <p:cNvSpPr txBox="1"/>
          <p:nvPr/>
        </p:nvSpPr>
        <p:spPr>
          <a:xfrm>
            <a:off x="4233672" y="1901952"/>
            <a:ext cx="3072383" cy="621792"/>
          </a:xfrm>
          <a:prstGeom prst="rect">
            <a:avLst/>
          </a:prstGeom>
          <a:noFill/>
        </p:spPr>
        <p:txBody>
          <a:bodyPr wrap="square" lIns="36576" tIns="18288" rIns="36576" bIns="18288" anchor="ctr"/>
          <a:lstStyle/>
          <a:p>
            <a:pPr algn="r" rtl="1"/>
            <a:r>
              <a:rPr lang="ar-AE" altLang="en-US" sz="1350" b="1" i="0">
                <a:solidFill>
                  <a:srgbClr val="102A43"/>
                </a:solidFill>
                <a:latin typeface="Arial"/>
                <a:cs typeface="Arial"/>
              </a:rPr>
              <a:t>تحوّل بكتيريا النترتة الأمونيا إلى نترات.</a:t>
            </a:r>
          </a:p>
        </p:txBody>
      </p:sp>
      <p:sp>
        <p:nvSpPr>
          <p:cNvPr id="28" name="Oval 27"/>
          <p:cNvSpPr/>
          <p:nvPr/>
        </p:nvSpPr>
        <p:spPr>
          <a:xfrm>
            <a:off x="7379207" y="2002536"/>
            <a:ext cx="420624" cy="420624"/>
          </a:xfrm>
          <a:prstGeom prst="ellipse">
            <a:avLst/>
          </a:prstGeom>
          <a:solidFill>
            <a:srgbClr val="5B3B91"/>
          </a:solidFill>
          <a:ln>
            <a:noFill/>
          </a:ln>
        </p:spPr>
        <p:txBody>
          <a:bodyPr wrap="square" lIns="36576" tIns="18288" rIns="36576" bIns="18288" rtlCol="0" anchor="ctr"/>
          <a:lstStyle/>
          <a:p>
            <a:pPr algn="ctr" rtl="1"/>
            <a:r>
              <a:rPr lang="ar-AE" altLang="en-US" sz="1400" b="1" i="0">
                <a:solidFill>
                  <a:srgbClr val="FFFFFF"/>
                </a:solidFill>
                <a:latin typeface="Arial"/>
                <a:cs typeface="Arial"/>
              </a:rPr>
              <a:t>ب</a:t>
            </a:r>
          </a:p>
        </p:txBody>
      </p:sp>
      <p:sp>
        <p:nvSpPr>
          <p:cNvPr id="29" name="Rounded Rectangle 28"/>
          <p:cNvSpPr/>
          <p:nvPr/>
        </p:nvSpPr>
        <p:spPr>
          <a:xfrm>
            <a:off x="8092440" y="2633472"/>
            <a:ext cx="3749039" cy="621792"/>
          </a:xfrm>
          <a:prstGeom prst="roundRect">
            <a:avLst>
              <a:gd name="adj" fmla="val 14705"/>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0" name="TextBox 29"/>
          <p:cNvSpPr txBox="1"/>
          <p:nvPr/>
        </p:nvSpPr>
        <p:spPr>
          <a:xfrm>
            <a:off x="8165592" y="2633472"/>
            <a:ext cx="3072383" cy="621792"/>
          </a:xfrm>
          <a:prstGeom prst="rect">
            <a:avLst/>
          </a:prstGeom>
          <a:noFill/>
        </p:spPr>
        <p:txBody>
          <a:bodyPr wrap="square" lIns="36576" tIns="18288" rIns="36576" bIns="18288" anchor="ctr"/>
          <a:lstStyle/>
          <a:p>
            <a:pPr algn="r" rtl="1"/>
            <a:r>
              <a:rPr lang="ar-AE" altLang="en-US" sz="1350" b="1" i="0">
                <a:solidFill>
                  <a:srgbClr val="102A43"/>
                </a:solidFill>
                <a:latin typeface="Arial"/>
                <a:cs typeface="Arial"/>
              </a:rPr>
              <a:t>تمتص جذور الغاف النترات وتصنع البروتينات.</a:t>
            </a:r>
          </a:p>
        </p:txBody>
      </p:sp>
      <p:sp>
        <p:nvSpPr>
          <p:cNvPr id="31" name="Oval 30"/>
          <p:cNvSpPr/>
          <p:nvPr/>
        </p:nvSpPr>
        <p:spPr>
          <a:xfrm>
            <a:off x="11311128" y="2734056"/>
            <a:ext cx="420624" cy="420624"/>
          </a:xfrm>
          <a:prstGeom prst="ellipse">
            <a:avLst/>
          </a:prstGeom>
          <a:solidFill>
            <a:srgbClr val="5B3B91"/>
          </a:solidFill>
          <a:ln>
            <a:noFill/>
          </a:ln>
        </p:spPr>
        <p:txBody>
          <a:bodyPr wrap="square" lIns="36576" tIns="18288" rIns="36576" bIns="18288" rtlCol="0" anchor="ctr"/>
          <a:lstStyle/>
          <a:p>
            <a:pPr algn="ctr" rtl="1"/>
            <a:r>
              <a:rPr lang="ar-AE" altLang="en-US" sz="1400" b="1" i="0">
                <a:solidFill>
                  <a:srgbClr val="FFFFFF"/>
                </a:solidFill>
                <a:latin typeface="Arial"/>
                <a:cs typeface="Arial"/>
              </a:rPr>
              <a:t>ج</a:t>
            </a:r>
          </a:p>
        </p:txBody>
      </p:sp>
      <p:sp>
        <p:nvSpPr>
          <p:cNvPr id="32" name="Rounded Rectangle 31"/>
          <p:cNvSpPr/>
          <p:nvPr/>
        </p:nvSpPr>
        <p:spPr>
          <a:xfrm>
            <a:off x="4160520" y="2633472"/>
            <a:ext cx="3749039" cy="621792"/>
          </a:xfrm>
          <a:prstGeom prst="roundRect">
            <a:avLst>
              <a:gd name="adj" fmla="val 14705"/>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3" name="TextBox 32"/>
          <p:cNvSpPr txBox="1"/>
          <p:nvPr/>
        </p:nvSpPr>
        <p:spPr>
          <a:xfrm>
            <a:off x="4233672" y="2633472"/>
            <a:ext cx="3072383" cy="621792"/>
          </a:xfrm>
          <a:prstGeom prst="rect">
            <a:avLst/>
          </a:prstGeom>
          <a:noFill/>
        </p:spPr>
        <p:txBody>
          <a:bodyPr wrap="square" lIns="36576" tIns="18288" rIns="36576" bIns="18288" anchor="ctr"/>
          <a:lstStyle/>
          <a:p>
            <a:pPr algn="r" rtl="1"/>
            <a:r>
              <a:rPr lang="ar-AE" altLang="en-US" sz="1350" b="1" i="0">
                <a:solidFill>
                  <a:srgbClr val="102A43"/>
                </a:solidFill>
                <a:latin typeface="Arial"/>
                <a:cs typeface="Arial"/>
              </a:rPr>
              <a:t>تحلّل المحللات فضلات الجمل وتنتج الأمونيا.</a:t>
            </a:r>
          </a:p>
        </p:txBody>
      </p:sp>
      <p:sp>
        <p:nvSpPr>
          <p:cNvPr id="34" name="Oval 33"/>
          <p:cNvSpPr/>
          <p:nvPr/>
        </p:nvSpPr>
        <p:spPr>
          <a:xfrm>
            <a:off x="7379207" y="2734056"/>
            <a:ext cx="420624" cy="420624"/>
          </a:xfrm>
          <a:prstGeom prst="ellipse">
            <a:avLst/>
          </a:prstGeom>
          <a:solidFill>
            <a:srgbClr val="5B3B91"/>
          </a:solidFill>
          <a:ln>
            <a:noFill/>
          </a:ln>
        </p:spPr>
        <p:txBody>
          <a:bodyPr wrap="square" lIns="36576" tIns="18288" rIns="36576" bIns="18288" rtlCol="0" anchor="ctr"/>
          <a:lstStyle/>
          <a:p>
            <a:pPr algn="ctr" rtl="1"/>
            <a:r>
              <a:rPr lang="ar-AE" altLang="en-US" sz="1400" b="1" i="0">
                <a:solidFill>
                  <a:srgbClr val="FFFFFF"/>
                </a:solidFill>
                <a:latin typeface="Arial"/>
                <a:cs typeface="Arial"/>
              </a:rPr>
              <a:t>د</a:t>
            </a:r>
          </a:p>
        </p:txBody>
      </p:sp>
      <p:sp>
        <p:nvSpPr>
          <p:cNvPr id="35" name="Rounded Rectangle 34"/>
          <p:cNvSpPr/>
          <p:nvPr/>
        </p:nvSpPr>
        <p:spPr>
          <a:xfrm>
            <a:off x="8092440" y="3364992"/>
            <a:ext cx="3749039" cy="621792"/>
          </a:xfrm>
          <a:prstGeom prst="roundRect">
            <a:avLst>
              <a:gd name="adj" fmla="val 14705"/>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6" name="TextBox 35"/>
          <p:cNvSpPr txBox="1"/>
          <p:nvPr/>
        </p:nvSpPr>
        <p:spPr>
          <a:xfrm>
            <a:off x="8165592" y="3364992"/>
            <a:ext cx="3072383" cy="621792"/>
          </a:xfrm>
          <a:prstGeom prst="rect">
            <a:avLst/>
          </a:prstGeom>
          <a:noFill/>
        </p:spPr>
        <p:txBody>
          <a:bodyPr wrap="square" lIns="36576" tIns="18288" rIns="36576" bIns="18288" anchor="ctr"/>
          <a:lstStyle/>
          <a:p>
            <a:pPr algn="r" rtl="1"/>
            <a:r>
              <a:rPr lang="ar-AE" altLang="en-US" sz="1350" b="1" i="0">
                <a:solidFill>
                  <a:srgbClr val="102A43"/>
                </a:solidFill>
                <a:latin typeface="Arial"/>
                <a:cs typeface="Arial"/>
              </a:rPr>
              <a:t>تعود فضلات الجمل إلى التربة.</a:t>
            </a:r>
          </a:p>
        </p:txBody>
      </p:sp>
      <p:sp>
        <p:nvSpPr>
          <p:cNvPr id="37" name="Oval 36"/>
          <p:cNvSpPr/>
          <p:nvPr/>
        </p:nvSpPr>
        <p:spPr>
          <a:xfrm>
            <a:off x="11311128" y="3465576"/>
            <a:ext cx="420624" cy="420624"/>
          </a:xfrm>
          <a:prstGeom prst="ellipse">
            <a:avLst/>
          </a:prstGeom>
          <a:solidFill>
            <a:srgbClr val="5B3B91"/>
          </a:solidFill>
          <a:ln>
            <a:noFill/>
          </a:ln>
        </p:spPr>
        <p:txBody>
          <a:bodyPr wrap="square" lIns="36576" tIns="18288" rIns="36576" bIns="18288" rtlCol="0" anchor="ctr"/>
          <a:lstStyle/>
          <a:p>
            <a:pPr algn="ctr" rtl="1"/>
            <a:r>
              <a:rPr lang="ar-AE" altLang="en-US" sz="1400" b="1" i="0">
                <a:solidFill>
                  <a:srgbClr val="FFFFFF"/>
                </a:solidFill>
                <a:latin typeface="Arial"/>
                <a:cs typeface="Arial"/>
              </a:rPr>
              <a:t>هـ</a:t>
            </a:r>
          </a:p>
        </p:txBody>
      </p:sp>
      <p:sp>
        <p:nvSpPr>
          <p:cNvPr id="38" name="Rounded Rectangle 37"/>
          <p:cNvSpPr/>
          <p:nvPr/>
        </p:nvSpPr>
        <p:spPr>
          <a:xfrm>
            <a:off x="4160520" y="3364992"/>
            <a:ext cx="3749039" cy="621792"/>
          </a:xfrm>
          <a:prstGeom prst="roundRect">
            <a:avLst>
              <a:gd name="adj" fmla="val 14705"/>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9" name="TextBox 38"/>
          <p:cNvSpPr txBox="1"/>
          <p:nvPr/>
        </p:nvSpPr>
        <p:spPr>
          <a:xfrm>
            <a:off x="4233672" y="3364992"/>
            <a:ext cx="3072383" cy="621792"/>
          </a:xfrm>
          <a:prstGeom prst="rect">
            <a:avLst/>
          </a:prstGeom>
          <a:noFill/>
        </p:spPr>
        <p:txBody>
          <a:bodyPr wrap="square" lIns="36576" tIns="18288" rIns="36576" bIns="18288" anchor="ctr"/>
          <a:lstStyle/>
          <a:p>
            <a:pPr algn="r" rtl="1"/>
            <a:r>
              <a:rPr lang="ar-AE" altLang="en-US" sz="1350" b="1" i="0">
                <a:solidFill>
                  <a:srgbClr val="102A43"/>
                </a:solidFill>
                <a:latin typeface="Arial"/>
                <a:cs typeface="Arial"/>
              </a:rPr>
              <a:t>تثبّت البكتيريا في عُقد الجذور نيتروجين الهواء.</a:t>
            </a:r>
          </a:p>
        </p:txBody>
      </p:sp>
      <p:sp>
        <p:nvSpPr>
          <p:cNvPr id="40" name="Oval 39"/>
          <p:cNvSpPr/>
          <p:nvPr/>
        </p:nvSpPr>
        <p:spPr>
          <a:xfrm>
            <a:off x="7379207" y="3465576"/>
            <a:ext cx="420624" cy="420624"/>
          </a:xfrm>
          <a:prstGeom prst="ellipse">
            <a:avLst/>
          </a:prstGeom>
          <a:solidFill>
            <a:srgbClr val="5B3B91"/>
          </a:solidFill>
          <a:ln>
            <a:noFill/>
          </a:ln>
        </p:spPr>
        <p:txBody>
          <a:bodyPr wrap="square" lIns="36576" tIns="18288" rIns="36576" bIns="18288" rtlCol="0" anchor="ctr"/>
          <a:lstStyle/>
          <a:p>
            <a:pPr algn="ctr" rtl="1"/>
            <a:r>
              <a:rPr lang="ar-AE" altLang="en-US" sz="1400" b="1" i="0">
                <a:solidFill>
                  <a:srgbClr val="FFFFFF"/>
                </a:solidFill>
                <a:latin typeface="Arial"/>
                <a:cs typeface="Arial"/>
              </a:rPr>
              <a:t>و</a:t>
            </a:r>
          </a:p>
        </p:txBody>
      </p:sp>
      <p:sp>
        <p:nvSpPr>
          <p:cNvPr id="41" name="Rounded Rectangle 40"/>
          <p:cNvSpPr/>
          <p:nvPr/>
        </p:nvSpPr>
        <p:spPr>
          <a:xfrm>
            <a:off x="3977639" y="4187952"/>
            <a:ext cx="7863840" cy="658368"/>
          </a:xfrm>
          <a:prstGeom prst="roundRect">
            <a:avLst>
              <a:gd name="adj" fmla="val 13888"/>
            </a:avLst>
          </a:prstGeom>
          <a:solidFill>
            <a:srgbClr val="EAF7EE"/>
          </a:solidFill>
          <a:ln w="19050">
            <a:solidFill>
              <a:srgbClr val="2E9E5B"/>
            </a:solidFill>
          </a:ln>
        </p:spPr>
        <p:txBody>
          <a:bodyPr wrap="square" lIns="109728" tIns="54864" rIns="109728" bIns="54864" rtlCol="0" anchor="ctr"/>
          <a:lstStyle/>
          <a:p>
            <a:pPr algn="r" rtl="1"/>
            <a:r>
              <a:rPr lang="ar-AE" altLang="en-US" sz="1500" b="1" i="0">
                <a:solidFill>
                  <a:srgbClr val="1B4D2E"/>
                </a:solidFill>
                <a:latin typeface="Arial"/>
                <a:cs typeface="Arial"/>
              </a:rPr>
              <a:t>الترتيب: و ← ج ← أ ← هـ ← د ← ب ← (ثم ج من جديد)</a:t>
            </a:r>
          </a:p>
        </p:txBody>
      </p:sp>
      <p:sp>
        <p:nvSpPr>
          <p:cNvPr id="42" name="Rounded Rectangle 41"/>
          <p:cNvSpPr/>
          <p:nvPr/>
        </p:nvSpPr>
        <p:spPr>
          <a:xfrm>
            <a:off x="10104120" y="4983480"/>
            <a:ext cx="173736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wrap="square" lIns="36576" tIns="0" rIns="36576" bIns="0" rtlCol="0" anchor="ctr"/>
          <a:lstStyle/>
          <a:p>
            <a:pPr algn="ctr" rtl="1"/>
            <a:r>
              <a:rPr lang="ar-AE" altLang="en-US" sz="1250" b="1" i="0">
                <a:solidFill>
                  <a:srgbClr val="102A43"/>
                </a:solidFill>
                <a:latin typeface="Arial"/>
                <a:cs typeface="Arial"/>
              </a:rPr>
              <a:t>◄ إظهار الإجابة</a:t>
            </a:r>
          </a:p>
        </p:txBody>
      </p:sp>
      <p:sp>
        <p:nvSpPr>
          <p:cNvPr id="43" name="TextBox 42"/>
          <p:cNvSpPr txBox="1"/>
          <p:nvPr/>
        </p:nvSpPr>
        <p:spPr>
          <a:xfrm>
            <a:off x="3977639" y="4937760"/>
            <a:ext cx="5989320" cy="566928"/>
          </a:xfrm>
          <a:prstGeom prst="rect">
            <a:avLst/>
          </a:prstGeom>
          <a:noFill/>
        </p:spPr>
        <p:txBody>
          <a:bodyPr wrap="square" lIns="73152" tIns="36576" rIns="73152" bIns="36576" anchor="ctr"/>
          <a:lstStyle/>
          <a:p>
            <a:pPr algn="r" rtl="1"/>
            <a:r>
              <a:rPr lang="ar-AE" altLang="en-US" sz="1250" b="1" i="0">
                <a:solidFill>
                  <a:srgbClr val="C9A96A"/>
                </a:solidFill>
                <a:latin typeface="Arial"/>
                <a:cs typeface="Arial"/>
              </a:rPr>
              <a:t>دعم: </a:t>
            </a:r>
            <a:r>
              <a:rPr lang="ar-AE" altLang="en-US" sz="1200" b="1" i="0">
                <a:solidFill>
                  <a:srgbClr val="102A43"/>
                </a:solidFill>
                <a:latin typeface="Arial"/>
                <a:cs typeface="Arial"/>
              </a:rPr>
              <a:t>ابدؤوا بالبطاقة التي تبدأ من الهواء، وانتهوا بالبطاقة التي تعيد النترات إلى النبات.</a:t>
            </a:r>
          </a:p>
        </p:txBody>
      </p:sp>
      <p:pic>
        <p:nvPicPr>
          <p:cNvPr id="44" name="مؤقت 4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20240"/>
            <a:ext cx="1234440" cy="1234440"/>
          </a:xfrm>
          <a:prstGeom prst="rect">
            <a:avLst/>
          </a:prstGeom>
        </p:spPr>
      </p:pic>
      <p:sp>
        <p:nvSpPr>
          <p:cNvPr id="45" name="Oval 44"/>
          <p:cNvSpPr/>
          <p:nvPr/>
        </p:nvSpPr>
        <p:spPr>
          <a:xfrm>
            <a:off x="2971800" y="3337560"/>
            <a:ext cx="685800" cy="685800"/>
          </a:xfrm>
          <a:prstGeom prst="ellipse">
            <a:avLst/>
          </a:prstGeom>
          <a:solidFill>
            <a:srgbClr val="5B3B91"/>
          </a:solidFill>
          <a:ln>
            <a:noFill/>
          </a:ln>
        </p:spPr>
        <p:txBody>
          <a:bodyPr lIns="54864" tIns="27432" rIns="54864" bIns="27432" rtlCol="0" anchor="ctr"/>
          <a:lstStyle/>
          <a:p>
            <a:pPr algn="ctr"/>
            <a:endParaRPr/>
          </a:p>
        </p:txBody>
      </p:sp>
      <p:pic>
        <p:nvPicPr>
          <p:cNvPr id="46" name="Picture 45" descr="puzzle_w.png"/>
          <p:cNvPicPr>
            <a:picLocks noChangeAspect="1"/>
          </p:cNvPicPr>
          <p:nvPr/>
        </p:nvPicPr>
        <p:blipFill>
          <a:blip r:embed="rId7"/>
          <a:stretch>
            <a:fillRect/>
          </a:stretch>
        </p:blipFill>
        <p:spPr>
          <a:xfrm>
            <a:off x="3122676" y="3488436"/>
            <a:ext cx="384048" cy="384048"/>
          </a:xfrm>
          <a:prstGeom prst="rect">
            <a:avLst/>
          </a:prstGeom>
        </p:spPr>
      </p:pic>
      <p:sp>
        <p:nvSpPr>
          <p:cNvPr id="47" name="TextBox 46"/>
          <p:cNvSpPr txBox="1"/>
          <p:nvPr/>
        </p:nvSpPr>
        <p:spPr>
          <a:xfrm>
            <a:off x="2651760" y="4069080"/>
            <a:ext cx="1325880" cy="1005840"/>
          </a:xfrm>
          <a:prstGeom prst="rect">
            <a:avLst/>
          </a:prstGeom>
          <a:noFill/>
        </p:spPr>
        <p:txBody>
          <a:bodyPr wrap="square" lIns="73152" tIns="36576" rIns="73152" bIns="36576" anchor="ctr"/>
          <a:lstStyle/>
          <a:p>
            <a:pPr algn="ctr" rtl="1"/>
            <a:r>
              <a:rPr lang="ar-AE" altLang="en-US" sz="1150" b="1" i="0">
                <a:solidFill>
                  <a:srgbClr val="5A687D"/>
                </a:solidFill>
                <a:latin typeface="Arial"/>
                <a:cs typeface="Arial"/>
              </a:rPr>
              <a:t>رتّبوا البطاقات المطبوعة على الطاولة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4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4"/>
                                        </p:tgtEl>
                                      </p:cBhvr>
                                    </p:cmd>
                                  </p:childTnLst>
                                </p:cTn>
                              </p:par>
                            </p:childTnLst>
                          </p:cTn>
                        </p:par>
                      </p:childTnLst>
                    </p:cTn>
                  </p:par>
                </p:childTnLst>
              </p:cTn>
              <p:nextCondLst>
                <p:cond evt="onNext" delay="0">
                  <p:tgtEl>
                    <p:sldTgt/>
                  </p:tgtEl>
                </p:cond>
              </p:nextCondLst>
            </p:seq>
            <p:video>
              <p:cMediaNode vol="80000">
                <p:cTn id="13" fill="hold" display="0">
                  <p:stCondLst>
                    <p:cond delay="indefinite"/>
                  </p:stCondLst>
                </p:cTn>
                <p:tgtEl>
                  <p:spTgt spid="44"/>
                </p:tgtEl>
              </p:cMediaNode>
            </p:video>
          </p:childTnLst>
        </p:cTn>
      </p:par>
    </p:tnLst>
    <p:bldLst>
      <p:bldP spid="4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النيتروجين في الشبكة الغذائية</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10928" y="1344168"/>
            <a:ext cx="2148840" cy="365760"/>
          </a:xfrm>
          <a:prstGeom prst="roundRect">
            <a:avLst>
              <a:gd name="adj" fmla="val 50000"/>
            </a:avLst>
          </a:prstGeom>
          <a:solidFill>
            <a:srgbClr val="C8102E"/>
          </a:solidFill>
          <a:ln>
            <a:noFill/>
          </a:ln>
        </p:spPr>
        <p:txBody>
          <a:bodyPr wrap="square" lIns="36576" tIns="0" rIns="36576" bIns="0" rtlCol="0" anchor="ctr">
            <a:noAutofit/>
          </a:bodyPr>
          <a:lstStyle/>
          <a:p>
            <a:pPr algn="ctr" rtl="1"/>
            <a:r>
              <a:rPr lang="ar-AE" altLang="en-US" sz="1300" b="1" i="0" dirty="0">
                <a:solidFill>
                  <a:srgbClr val="FFFFFF"/>
                </a:solidFill>
                <a:latin typeface="Arial"/>
                <a:cs typeface="Arial"/>
              </a:rPr>
              <a:t>المختبر الافتراضي</a:t>
            </a:r>
          </a:p>
        </p:txBody>
      </p:sp>
      <p:sp>
        <p:nvSpPr>
          <p:cNvPr id="22" name="TextBox 21"/>
          <p:cNvSpPr txBox="1"/>
          <p:nvPr/>
        </p:nvSpPr>
        <p:spPr>
          <a:xfrm>
            <a:off x="2606040" y="1280160"/>
            <a:ext cx="6995160" cy="502920"/>
          </a:xfrm>
          <a:prstGeom prst="rect">
            <a:avLst/>
          </a:prstGeom>
          <a:noFill/>
        </p:spPr>
        <p:txBody>
          <a:bodyPr wrap="square" lIns="18288" tIns="0" rIns="18288" bIns="0" rtlCol="0" anchor="ctr">
            <a:noAutofit/>
          </a:bodyPr>
          <a:lstStyle/>
          <a:p>
            <a:pPr algn="r" rtl="1"/>
            <a:r>
              <a:rPr lang="ar-AE" altLang="en-US" sz="2200" b="1" i="0" dirty="0">
                <a:solidFill>
                  <a:srgbClr val="102A43"/>
                </a:solidFill>
                <a:latin typeface="Arial"/>
                <a:cs typeface="Arial"/>
              </a:rPr>
              <a:t>المحطة 2: تحقّقوا من رحلة ذرة النيتروجين</a:t>
            </a:r>
          </a:p>
        </p:txBody>
      </p:sp>
      <p:pic>
        <p:nvPicPr>
          <p:cNvPr id="44" name="مؤقت 2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01952"/>
            <a:ext cx="1371600" cy="1371600"/>
          </a:xfrm>
          <a:prstGeom prst="rect">
            <a:avLst/>
          </a:prstGeom>
        </p:spPr>
      </p:pic>
      <p:pic>
        <p:nvPicPr>
          <p:cNvPr id="45" name="Picture 44" descr="qr_n2.png">
            <a:hlinkClick r:id="rId8"/>
          </p:cNvPr>
          <p:cNvPicPr>
            <a:picLocks noChangeAspect="1"/>
          </p:cNvPicPr>
          <p:nvPr/>
        </p:nvPicPr>
        <p:blipFill>
          <a:blip r:embed="rId4"/>
          <a:stretch>
            <a:fillRect/>
          </a:stretch>
        </p:blipFill>
        <p:spPr>
          <a:xfrm>
            <a:off x="2770632" y="3401568"/>
            <a:ext cx="1225296" cy="1225296"/>
          </a:xfrm>
          <a:prstGeom prst="rect">
            <a:avLst/>
          </a:prstGeom>
          <a:ln w="9525">
            <a:solidFill>
              <a:srgbClr val="D9E0E8"/>
            </a:solidFill>
          </a:ln>
        </p:spPr>
      </p:pic>
      <p:sp>
        <p:nvSpPr>
          <p:cNvPr id="46" name="TextBox 45"/>
          <p:cNvSpPr txBox="1"/>
          <p:nvPr/>
        </p:nvSpPr>
        <p:spPr>
          <a:xfrm>
            <a:off x="2560320" y="4645152"/>
            <a:ext cx="1645920" cy="329184"/>
          </a:xfrm>
          <a:prstGeom prst="rect">
            <a:avLst/>
          </a:prstGeom>
          <a:noFill/>
        </p:spPr>
        <p:txBody>
          <a:bodyPr wrap="square" lIns="36576" tIns="0" rIns="36576" bIns="0" rtlCol="0" anchor="ctr">
            <a:noAutofit/>
          </a:bodyPr>
          <a:lstStyle/>
          <a:p>
            <a:pPr algn="ctr" rtl="1"/>
            <a:r>
              <a:rPr lang="ar-AE" altLang="en-US" sz="1050" b="1" i="0" dirty="0">
                <a:solidFill>
                  <a:srgbClr val="5A687D"/>
                </a:solidFill>
                <a:latin typeface="Arial"/>
                <a:cs typeface="Arial"/>
              </a:rPr>
              <a:t>امسحوا الرمز للدخول</a:t>
            </a:r>
          </a:p>
        </p:txBody>
      </p:sp>
      <p:sp>
        <p:nvSpPr>
          <p:cNvPr id="47" name="Rounded Rectangle 46"/>
          <p:cNvSpPr/>
          <p:nvPr/>
        </p:nvSpPr>
        <p:spPr>
          <a:xfrm>
            <a:off x="4224528" y="1874519"/>
            <a:ext cx="1993392" cy="3090672"/>
          </a:xfrm>
          <a:prstGeom prst="roundRect">
            <a:avLst>
              <a:gd name="adj" fmla="val 8000"/>
            </a:avLst>
          </a:prstGeom>
          <a:solidFill>
            <a:srgbClr val="FBF5E8"/>
          </a:solidFill>
          <a:ln w="12700">
            <a:solidFill>
              <a:srgbClr val="E6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97680" y="1938528"/>
            <a:ext cx="1847088" cy="2057400"/>
          </a:xfrm>
          <a:prstGeom prst="rect">
            <a:avLst/>
          </a:prstGeom>
          <a:noFill/>
        </p:spPr>
        <p:txBody>
          <a:bodyPr wrap="square" lIns="36576" tIns="36576" rIns="36576" bIns="0" rtlCol="0" anchor="t">
            <a:noAutofit/>
          </a:bodyPr>
          <a:lstStyle/>
          <a:p>
            <a:pPr algn="r" rtl="1">
              <a:spcAft>
                <a:spcPts val="600"/>
              </a:spcAft>
            </a:pPr>
            <a:r>
              <a:rPr lang="ar-AE" altLang="en-US" sz="1400" b="1" i="0" dirty="0">
                <a:solidFill>
                  <a:srgbClr val="C8102E"/>
                </a:solidFill>
                <a:latin typeface="Arial"/>
                <a:cs typeface="Arial"/>
              </a:rPr>
              <a:t>مهمة المجموعة</a:t>
            </a:r>
          </a:p>
          <a:p>
            <a:pPr algn="r" rtl="1">
              <a:spcAft>
                <a:spcPts val="500"/>
              </a:spcAft>
            </a:pPr>
            <a:r>
              <a:rPr lang="ar-AE" altLang="en-US" sz="1120" b="1" i="0" dirty="0">
                <a:solidFill>
                  <a:srgbClr val="102A43"/>
                </a:solidFill>
                <a:latin typeface="Arial"/>
                <a:cs typeface="Arial"/>
              </a:rPr>
              <a:t>1) مجموعة واحدة تقود الذرة على السبورة.</a:t>
            </a:r>
          </a:p>
          <a:p>
            <a:pPr algn="r" rtl="1">
              <a:spcAft>
                <a:spcPts val="500"/>
              </a:spcAft>
            </a:pPr>
            <a:r>
              <a:rPr lang="ar-AE" altLang="en-US" sz="1120" b="1" i="0" dirty="0">
                <a:solidFill>
                  <a:srgbClr val="102A43"/>
                </a:solidFill>
                <a:latin typeface="Arial"/>
                <a:cs typeface="Arial"/>
              </a:rPr>
              <a:t>2) بقية المجموعات تقارن بترتيب بطاقاتها.</a:t>
            </a:r>
          </a:p>
          <a:p>
            <a:pPr algn="r" rtl="1">
              <a:spcAft>
                <a:spcPts val="500"/>
              </a:spcAft>
            </a:pPr>
            <a:r>
              <a:rPr lang="ar-AE" altLang="en-US" sz="1120" b="1" i="0" dirty="0">
                <a:solidFill>
                  <a:srgbClr val="102A43"/>
                </a:solidFill>
                <a:latin typeface="Arial"/>
                <a:cs typeface="Arial"/>
              </a:rPr>
              <a:t>3) الهدف: إنهاء الرحلة بأقل الأخطاء.</a:t>
            </a:r>
          </a:p>
        </p:txBody>
      </p:sp>
      <p:pic>
        <p:nvPicPr>
          <p:cNvPr id="49" name="Picture 48" descr="hessa_400.png"/>
          <p:cNvPicPr>
            <a:picLocks noChangeAspect="1"/>
          </p:cNvPicPr>
          <p:nvPr/>
        </p:nvPicPr>
        <p:blipFill>
          <a:blip r:embed="rId9"/>
          <a:stretch>
            <a:fillRect/>
          </a:stretch>
        </p:blipFill>
        <p:spPr>
          <a:xfrm>
            <a:off x="5596128" y="4133087"/>
            <a:ext cx="548640" cy="548640"/>
          </a:xfrm>
          <a:prstGeom prst="rect">
            <a:avLst/>
          </a:prstGeom>
        </p:spPr>
      </p:pic>
      <p:sp>
        <p:nvSpPr>
          <p:cNvPr id="50" name="Rounded Rectangular Callout 49"/>
          <p:cNvSpPr/>
          <p:nvPr/>
        </p:nvSpPr>
        <p:spPr>
          <a:xfrm>
            <a:off x="4297680" y="4078224"/>
            <a:ext cx="1243584" cy="749808"/>
          </a:xfrm>
          <a:prstGeom prst="wedgeRoundRectCallout">
            <a:avLst>
              <a:gd name="adj1" fmla="val 62000"/>
              <a:gd name="adj2" fmla="val -5000"/>
              <a:gd name="adj3" fmla="val 16667"/>
            </a:avLst>
          </a:prstGeom>
          <a:solidFill>
            <a:srgbClr val="FFFFFF"/>
          </a:solidFill>
          <a:ln w="19050">
            <a:solidFill>
              <a:srgbClr val="8C1D4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r" rtl="1"/>
            <a:r>
              <a:rPr lang="ar-AE" altLang="en-US" sz="1000" b="1" i="0" dirty="0">
                <a:solidFill>
                  <a:srgbClr val="8C1D40"/>
                </a:solidFill>
                <a:latin typeface="Arial"/>
                <a:cs typeface="Arial"/>
              </a:rPr>
              <a:t>حصة: </a:t>
            </a:r>
            <a:r>
              <a:rPr lang="ar-AE" altLang="en-US" sz="1000" b="1" i="0" dirty="0">
                <a:solidFill>
                  <a:srgbClr val="102A43"/>
                </a:solidFill>
                <a:latin typeface="Arial"/>
                <a:cs typeface="Arial"/>
              </a:rPr>
              <a:t>كل خطأ يكلّفكم نجمة!</a:t>
            </a:r>
          </a:p>
        </p:txBody>
      </p:sp>
      <p:sp>
        <p:nvSpPr>
          <p:cNvPr id="51" name="Rounded Rectangle 50"/>
          <p:cNvSpPr/>
          <p:nvPr/>
        </p:nvSpPr>
        <p:spPr>
          <a:xfrm>
            <a:off x="4224528" y="5074920"/>
            <a:ext cx="1993392" cy="393192"/>
          </a:xfrm>
          <a:prstGeom prst="roundRect">
            <a:avLst>
              <a:gd name="adj" fmla="val 50000"/>
            </a:avLst>
          </a:prstGeom>
          <a:solidFill>
            <a:srgbClr val="5B3B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150" b="1" i="0" dirty="0">
                <a:solidFill>
                  <a:srgbClr val="FFFFFF"/>
                </a:solidFill>
                <a:latin typeface="Arial"/>
                <a:cs typeface="Arial"/>
              </a:rPr>
              <a:t>ورقة العمل: القسم 2</a:t>
            </a:r>
          </a:p>
        </p:txBody>
      </p:sp>
      <p:pic>
        <p:nvPicPr>
          <p:cNvPr id="52" name="Picture 51" descr="crop_n2.jpg">
            <a:hlinkClick r:id="rId8"/>
          </p:cNvPr>
          <p:cNvPicPr>
            <a:picLocks noChangeAspect="1"/>
          </p:cNvPicPr>
          <p:nvPr/>
        </p:nvPicPr>
        <p:blipFill>
          <a:blip r:embed="rId10"/>
          <a:stretch>
            <a:fillRect/>
          </a:stretch>
        </p:blipFill>
        <p:spPr>
          <a:xfrm>
            <a:off x="6355080" y="1874519"/>
            <a:ext cx="5486400" cy="3086100"/>
          </a:xfrm>
          <a:prstGeom prst="rect">
            <a:avLst/>
          </a:prstGeom>
          <a:ln w="15875">
            <a:solidFill>
              <a:srgbClr val="102A43"/>
            </a:solidFill>
          </a:ln>
        </p:spPr>
      </p:pic>
      <p:sp>
        <p:nvSpPr>
          <p:cNvPr id="53" name="Rounded Rectangle 52">
            <a:hlinkClick r:id="rId8"/>
          </p:cNvPr>
          <p:cNvSpPr/>
          <p:nvPr/>
        </p:nvSpPr>
        <p:spPr>
          <a:xfrm>
            <a:off x="6355080" y="5074920"/>
            <a:ext cx="5486400" cy="393192"/>
          </a:xfrm>
          <a:prstGeom prst="roundRect">
            <a:avLst>
              <a:gd name="adj" fmla="val 50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300" b="1" i="0" dirty="0">
                <a:solidFill>
                  <a:srgbClr val="FFFFFF"/>
                </a:solidFill>
                <a:latin typeface="Arial"/>
                <a:cs typeface="Arial"/>
              </a:rPr>
              <a:t>◄ افتحوا المحطة 2 في مختبر النيتروجين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4"/>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44"/>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الثالث</a:t>
            </a:r>
          </a:p>
        </p:txBody>
      </p:sp>
      <p:sp>
        <p:nvSpPr>
          <p:cNvPr id="22" name="TextBox 21"/>
          <p:cNvSpPr txBox="1"/>
          <p:nvPr/>
        </p:nvSpPr>
        <p:spPr>
          <a:xfrm>
            <a:off x="2606040" y="1280160"/>
            <a:ext cx="762152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إزالة النيتروجين: العودة إلى الهواء</a:t>
            </a:r>
          </a:p>
        </p:txBody>
      </p:sp>
      <p:pic>
        <p:nvPicPr>
          <p:cNvPr id="23" name="Picture 22" descr="n_denit.png"/>
          <p:cNvPicPr>
            <a:picLocks noChangeAspect="1"/>
          </p:cNvPicPr>
          <p:nvPr/>
        </p:nvPicPr>
        <p:blipFill>
          <a:blip r:embed="rId4"/>
          <a:stretch>
            <a:fillRect/>
          </a:stretch>
        </p:blipFill>
        <p:spPr>
          <a:xfrm>
            <a:off x="2697480" y="1976558"/>
            <a:ext cx="3566160" cy="2045346"/>
          </a:xfrm>
          <a:prstGeom prst="rect">
            <a:avLst/>
          </a:prstGeom>
          <a:ln w="12700">
            <a:solidFill>
              <a:srgbClr val="D5DDE8"/>
            </a:solidFill>
          </a:ln>
        </p:spPr>
      </p:pic>
      <p:sp>
        <p:nvSpPr>
          <p:cNvPr id="24" name="Rounded Rectangle 23"/>
          <p:cNvSpPr/>
          <p:nvPr/>
        </p:nvSpPr>
        <p:spPr>
          <a:xfrm>
            <a:off x="2697480" y="4160520"/>
            <a:ext cx="3566160" cy="1353312"/>
          </a:xfrm>
          <a:prstGeom prst="roundRect">
            <a:avLst>
              <a:gd name="adj" fmla="val 8108"/>
            </a:avLst>
          </a:prstGeom>
          <a:solidFill>
            <a:srgbClr val="F1ECF8"/>
          </a:solidFill>
          <a:ln w="12700">
            <a:solidFill>
              <a:srgbClr val="D5C7EA"/>
            </a:solidFill>
          </a:ln>
        </p:spPr>
        <p:txBody>
          <a:bodyPr wrap="square" lIns="109728" tIns="36576" rIns="109728" bIns="36576" rtlCol="0" anchor="ctr"/>
          <a:lstStyle/>
          <a:p>
            <a:pPr algn="r" rtl="1"/>
            <a:r>
              <a:rPr lang="ar-AE" altLang="en-US" sz="1350" b="1" i="0">
                <a:solidFill>
                  <a:srgbClr val="5B3B91"/>
                </a:solidFill>
                <a:latin typeface="Arial"/>
                <a:cs typeface="Arial"/>
              </a:rPr>
              <a:t>إزالة النيتروجين: </a:t>
            </a:r>
            <a:r>
              <a:rPr lang="ar-AE" altLang="en-US" sz="1300" b="1" i="0">
                <a:solidFill>
                  <a:srgbClr val="102A43"/>
                </a:solidFill>
                <a:latin typeface="Arial"/>
                <a:cs typeface="Arial"/>
              </a:rPr>
              <a:t>تحوّل بعض بكتيريا التربة مركّبات النيتروجين المثبّتة مرة أخرى إلى غاز نيتروجين يعود إلى الغلاف الجوي.</a:t>
            </a:r>
          </a:p>
        </p:txBody>
      </p:sp>
      <p:sp>
        <p:nvSpPr>
          <p:cNvPr id="25" name="Rounded Rectangle 24"/>
          <p:cNvSpPr/>
          <p:nvPr/>
        </p:nvSpPr>
        <p:spPr>
          <a:xfrm>
            <a:off x="10561320" y="1901952"/>
            <a:ext cx="1280160" cy="475488"/>
          </a:xfrm>
          <a:prstGeom prst="roundRect">
            <a:avLst>
              <a:gd name="adj" fmla="val 15384"/>
            </a:avLst>
          </a:prstGeom>
          <a:solidFill>
            <a:srgbClr val="102A43"/>
          </a:solidFill>
          <a:ln>
            <a:noFill/>
          </a:ln>
        </p:spPr>
        <p:txBody>
          <a:bodyPr wrap="square" lIns="36576" tIns="0" rIns="36576" bIns="0" rtlCol="0" anchor="ctr"/>
          <a:lstStyle/>
          <a:p>
            <a:pPr algn="ctr" rtl="1"/>
            <a:r>
              <a:rPr lang="ar-AE" altLang="en-US" sz="1350" b="1" i="0">
                <a:solidFill>
                  <a:srgbClr val="FFFFFF"/>
                </a:solidFill>
                <a:latin typeface="Arial"/>
                <a:cs typeface="Arial"/>
              </a:rPr>
              <a:t>وجه المقارنة</a:t>
            </a:r>
          </a:p>
        </p:txBody>
      </p:sp>
      <p:sp>
        <p:nvSpPr>
          <p:cNvPr id="26" name="Rounded Rectangle 25"/>
          <p:cNvSpPr/>
          <p:nvPr/>
        </p:nvSpPr>
        <p:spPr>
          <a:xfrm>
            <a:off x="8412480" y="1901952"/>
            <a:ext cx="2103120" cy="475488"/>
          </a:xfrm>
          <a:prstGeom prst="roundRect">
            <a:avLst>
              <a:gd name="adj" fmla="val 15384"/>
            </a:avLst>
          </a:prstGeom>
          <a:solidFill>
            <a:srgbClr val="2E7D32"/>
          </a:solidFill>
          <a:ln>
            <a:noFill/>
          </a:ln>
        </p:spPr>
        <p:txBody>
          <a:bodyPr wrap="square" lIns="36576" tIns="0" rIns="36576" bIns="0" rtlCol="0" anchor="ctr"/>
          <a:lstStyle/>
          <a:p>
            <a:pPr algn="ctr" rtl="1"/>
            <a:r>
              <a:rPr lang="ar-AE" altLang="en-US" sz="1350" b="1" i="0">
                <a:solidFill>
                  <a:srgbClr val="FFFFFF"/>
                </a:solidFill>
                <a:latin typeface="Arial"/>
                <a:cs typeface="Arial"/>
              </a:rPr>
              <a:t>تثبيت النيتروجين</a:t>
            </a:r>
          </a:p>
        </p:txBody>
      </p:sp>
      <p:sp>
        <p:nvSpPr>
          <p:cNvPr id="27" name="Rounded Rectangle 26"/>
          <p:cNvSpPr/>
          <p:nvPr/>
        </p:nvSpPr>
        <p:spPr>
          <a:xfrm>
            <a:off x="6400800" y="1901952"/>
            <a:ext cx="1965960" cy="475488"/>
          </a:xfrm>
          <a:prstGeom prst="roundRect">
            <a:avLst>
              <a:gd name="adj" fmla="val 15384"/>
            </a:avLst>
          </a:prstGeom>
          <a:solidFill>
            <a:srgbClr val="5B3B91"/>
          </a:solidFill>
          <a:ln>
            <a:noFill/>
          </a:ln>
        </p:spPr>
        <p:txBody>
          <a:bodyPr wrap="square" lIns="36576" tIns="0" rIns="36576" bIns="0" rtlCol="0" anchor="ctr"/>
          <a:lstStyle/>
          <a:p>
            <a:pPr algn="ctr" rtl="1"/>
            <a:r>
              <a:rPr lang="ar-AE" altLang="en-US" sz="1350" b="1" i="0">
                <a:solidFill>
                  <a:srgbClr val="FFFFFF"/>
                </a:solidFill>
                <a:latin typeface="Arial"/>
                <a:cs typeface="Arial"/>
              </a:rPr>
              <a:t>إزالة النيتروجين</a:t>
            </a:r>
          </a:p>
        </p:txBody>
      </p:sp>
      <p:sp>
        <p:nvSpPr>
          <p:cNvPr id="28" name="Rounded Rectangle 27"/>
          <p:cNvSpPr/>
          <p:nvPr/>
        </p:nvSpPr>
        <p:spPr>
          <a:xfrm>
            <a:off x="10561320" y="2450592"/>
            <a:ext cx="1280160" cy="932688"/>
          </a:xfrm>
          <a:prstGeom prst="roundRect">
            <a:avLst>
              <a:gd name="adj" fmla="val 7843"/>
            </a:avLst>
          </a:prstGeom>
          <a:solidFill>
            <a:srgbClr val="5A687D"/>
          </a:solidFill>
          <a:ln>
            <a:noFill/>
          </a:ln>
        </p:spPr>
        <p:txBody>
          <a:bodyPr wrap="square" lIns="54864" tIns="18288" rIns="54864" bIns="18288" rtlCol="0" anchor="ctr"/>
          <a:lstStyle/>
          <a:p>
            <a:pPr algn="ctr" rtl="1"/>
            <a:r>
              <a:rPr lang="ar-AE" altLang="en-US" sz="1300" b="1" i="0">
                <a:solidFill>
                  <a:srgbClr val="FFFFFF"/>
                </a:solidFill>
                <a:latin typeface="Arial"/>
                <a:cs typeface="Arial"/>
              </a:rPr>
              <a:t>الاتجاه</a:t>
            </a:r>
          </a:p>
        </p:txBody>
      </p:sp>
      <p:sp>
        <p:nvSpPr>
          <p:cNvPr id="29" name="Rounded Rectangle 28"/>
          <p:cNvSpPr/>
          <p:nvPr/>
        </p:nvSpPr>
        <p:spPr>
          <a:xfrm>
            <a:off x="8412480" y="2450592"/>
            <a:ext cx="2103120" cy="932688"/>
          </a:xfrm>
          <a:prstGeom prst="roundRect">
            <a:avLst>
              <a:gd name="adj" fmla="val 7843"/>
            </a:avLst>
          </a:prstGeom>
          <a:solidFill>
            <a:srgbClr val="F3F5F8"/>
          </a:solidFill>
          <a:ln w="12700">
            <a:solidFill>
              <a:srgbClr val="D5DDE8"/>
            </a:solidFill>
          </a:ln>
        </p:spPr>
        <p:txBody>
          <a:bodyPr wrap="square" lIns="54864" tIns="18288" rIns="54864" bIns="18288" rtlCol="0" anchor="ctr"/>
          <a:lstStyle/>
          <a:p>
            <a:pPr algn="ctr" rtl="1"/>
            <a:r>
              <a:rPr lang="ar-AE" altLang="en-US" sz="1250" b="1" i="0" dirty="0">
                <a:solidFill>
                  <a:srgbClr val="102A43"/>
                </a:solidFill>
                <a:latin typeface="Arial"/>
                <a:cs typeface="Arial"/>
              </a:rPr>
              <a:t>من غاز </a:t>
            </a:r>
            <a:r>
              <a:rPr lang="ar-AE" altLang="en-US" sz="1250" b="1" i="0" baseline="-25000" dirty="0">
                <a:solidFill>
                  <a:srgbClr val="102A43"/>
                </a:solidFill>
                <a:latin typeface="Arial"/>
                <a:cs typeface="Arial"/>
              </a:rPr>
              <a:t>2</a:t>
            </a:r>
            <a:r>
              <a:rPr lang="ar-AE" altLang="en-US" sz="1250" b="1" dirty="0">
                <a:solidFill>
                  <a:srgbClr val="102A43"/>
                </a:solidFill>
                <a:latin typeface="Arial"/>
                <a:cs typeface="Arial"/>
              </a:rPr>
              <a:t> Nفي </a:t>
            </a:r>
            <a:r>
              <a:rPr lang="ar-AE" altLang="en-US" sz="1250" b="1" i="0" dirty="0">
                <a:solidFill>
                  <a:srgbClr val="102A43"/>
                </a:solidFill>
                <a:latin typeface="Arial"/>
                <a:cs typeface="Arial"/>
              </a:rPr>
              <a:t>الهواء ← إلى أمونيا ونترات</a:t>
            </a:r>
          </a:p>
        </p:txBody>
      </p:sp>
      <p:sp>
        <p:nvSpPr>
          <p:cNvPr id="30" name="Rounded Rectangle 29"/>
          <p:cNvSpPr/>
          <p:nvPr/>
        </p:nvSpPr>
        <p:spPr>
          <a:xfrm>
            <a:off x="6400800" y="2450592"/>
            <a:ext cx="1965960" cy="932688"/>
          </a:xfrm>
          <a:prstGeom prst="roundRect">
            <a:avLst>
              <a:gd name="adj" fmla="val 7843"/>
            </a:avLst>
          </a:prstGeom>
          <a:solidFill>
            <a:srgbClr val="F3F5F8"/>
          </a:solidFill>
          <a:ln w="12700">
            <a:solidFill>
              <a:srgbClr val="D5DDE8"/>
            </a:solidFill>
          </a:ln>
        </p:spPr>
        <p:txBody>
          <a:bodyPr wrap="square" lIns="54864" tIns="18288" rIns="54864" bIns="18288" rtlCol="0" anchor="ctr"/>
          <a:lstStyle/>
          <a:p>
            <a:pPr algn="ctr" rtl="1"/>
            <a:r>
              <a:rPr lang="ar-AE" altLang="en-US" sz="1250" b="1" i="0" dirty="0">
                <a:solidFill>
                  <a:srgbClr val="102A43"/>
                </a:solidFill>
                <a:latin typeface="Arial"/>
                <a:cs typeface="Arial"/>
              </a:rPr>
              <a:t>من النترات في التربة ← إلى غاز </a:t>
            </a:r>
            <a:r>
              <a:rPr lang="ar-AE" altLang="en-US" sz="1250" b="1" i="0" baseline="-25000" dirty="0">
                <a:solidFill>
                  <a:srgbClr val="102A43"/>
                </a:solidFill>
                <a:latin typeface="Arial"/>
                <a:cs typeface="Arial"/>
              </a:rPr>
              <a:t>2</a:t>
            </a:r>
            <a:r>
              <a:rPr lang="ar-AE" altLang="en-US" sz="1250" b="1" dirty="0">
                <a:solidFill>
                  <a:srgbClr val="102A43"/>
                </a:solidFill>
                <a:latin typeface="Arial"/>
                <a:cs typeface="Arial"/>
              </a:rPr>
              <a:t>N</a:t>
            </a:r>
            <a:endParaRPr lang="ar-AE" altLang="en-US" sz="1250" b="1" i="0" baseline="-25000" dirty="0">
              <a:solidFill>
                <a:srgbClr val="102A43"/>
              </a:solidFill>
              <a:latin typeface="Arial"/>
              <a:cs typeface="Arial"/>
            </a:endParaRPr>
          </a:p>
        </p:txBody>
      </p:sp>
      <p:sp>
        <p:nvSpPr>
          <p:cNvPr id="31" name="Rounded Rectangle 30"/>
          <p:cNvSpPr/>
          <p:nvPr/>
        </p:nvSpPr>
        <p:spPr>
          <a:xfrm>
            <a:off x="10561320" y="3474720"/>
            <a:ext cx="1280160" cy="932688"/>
          </a:xfrm>
          <a:prstGeom prst="roundRect">
            <a:avLst>
              <a:gd name="adj" fmla="val 7843"/>
            </a:avLst>
          </a:prstGeom>
          <a:solidFill>
            <a:srgbClr val="5A687D"/>
          </a:solidFill>
          <a:ln>
            <a:noFill/>
          </a:ln>
        </p:spPr>
        <p:txBody>
          <a:bodyPr wrap="square" lIns="54864" tIns="18288" rIns="54864" bIns="18288" rtlCol="0" anchor="ctr"/>
          <a:lstStyle/>
          <a:p>
            <a:pPr algn="ctr" rtl="1"/>
            <a:r>
              <a:rPr lang="ar-AE" altLang="en-US" sz="1300" b="1" i="0">
                <a:solidFill>
                  <a:srgbClr val="FFFFFF"/>
                </a:solidFill>
                <a:latin typeface="Arial"/>
                <a:cs typeface="Arial"/>
              </a:rPr>
              <a:t>من يقوم بها؟</a:t>
            </a:r>
          </a:p>
        </p:txBody>
      </p:sp>
      <p:sp>
        <p:nvSpPr>
          <p:cNvPr id="32" name="Rounded Rectangle 31"/>
          <p:cNvSpPr/>
          <p:nvPr/>
        </p:nvSpPr>
        <p:spPr>
          <a:xfrm>
            <a:off x="8412480" y="3474720"/>
            <a:ext cx="2103120" cy="932688"/>
          </a:xfrm>
          <a:prstGeom prst="roundRect">
            <a:avLst>
              <a:gd name="adj" fmla="val 7843"/>
            </a:avLst>
          </a:prstGeom>
          <a:solidFill>
            <a:srgbClr val="F3F5F8"/>
          </a:solidFill>
          <a:ln w="12700">
            <a:solidFill>
              <a:srgbClr val="D5DDE8"/>
            </a:solidFill>
          </a:ln>
        </p:spPr>
        <p:txBody>
          <a:bodyPr wrap="square" lIns="54864" tIns="18288" rIns="54864" bIns="18288" rtlCol="0" anchor="ctr"/>
          <a:lstStyle/>
          <a:p>
            <a:pPr algn="ctr" rtl="1"/>
            <a:r>
              <a:rPr lang="ar-AE" altLang="en-US" sz="1250" b="1" i="0" dirty="0">
                <a:solidFill>
                  <a:srgbClr val="102A43"/>
                </a:solidFill>
                <a:latin typeface="Arial"/>
                <a:cs typeface="Arial"/>
              </a:rPr>
              <a:t>البكتيريا المثبّتة، والبرق، والمصانع (الأسمدة)</a:t>
            </a:r>
          </a:p>
        </p:txBody>
      </p:sp>
      <p:sp>
        <p:nvSpPr>
          <p:cNvPr id="33" name="Rounded Rectangle 32"/>
          <p:cNvSpPr/>
          <p:nvPr/>
        </p:nvSpPr>
        <p:spPr>
          <a:xfrm>
            <a:off x="6400800" y="3474720"/>
            <a:ext cx="1965960" cy="932688"/>
          </a:xfrm>
          <a:prstGeom prst="roundRect">
            <a:avLst>
              <a:gd name="adj" fmla="val 7843"/>
            </a:avLst>
          </a:prstGeom>
          <a:solidFill>
            <a:srgbClr val="F3F5F8"/>
          </a:solidFill>
          <a:ln w="12700">
            <a:solidFill>
              <a:srgbClr val="D5DDE8"/>
            </a:solidFill>
          </a:ln>
        </p:spPr>
        <p:txBody>
          <a:bodyPr wrap="square" lIns="54864" tIns="18288" rIns="54864" bIns="18288" rtlCol="0" anchor="ctr"/>
          <a:lstStyle/>
          <a:p>
            <a:pPr algn="ctr" rtl="1"/>
            <a:r>
              <a:rPr lang="ar-AE" altLang="en-US" sz="1250" b="1" i="0">
                <a:solidFill>
                  <a:srgbClr val="102A43"/>
                </a:solidFill>
                <a:latin typeface="Arial"/>
                <a:cs typeface="Arial"/>
              </a:rPr>
              <a:t>بكتيريا إزالة النيتروجين</a:t>
            </a:r>
          </a:p>
        </p:txBody>
      </p:sp>
      <p:sp>
        <p:nvSpPr>
          <p:cNvPr id="34" name="Rounded Rectangle 33"/>
          <p:cNvSpPr/>
          <p:nvPr/>
        </p:nvSpPr>
        <p:spPr>
          <a:xfrm>
            <a:off x="10561320" y="4498848"/>
            <a:ext cx="1280160" cy="932688"/>
          </a:xfrm>
          <a:prstGeom prst="roundRect">
            <a:avLst>
              <a:gd name="adj" fmla="val 7843"/>
            </a:avLst>
          </a:prstGeom>
          <a:solidFill>
            <a:srgbClr val="5A687D"/>
          </a:solidFill>
          <a:ln>
            <a:noFill/>
          </a:ln>
        </p:spPr>
        <p:txBody>
          <a:bodyPr wrap="square" lIns="54864" tIns="18288" rIns="54864" bIns="18288" rtlCol="0" anchor="ctr"/>
          <a:lstStyle/>
          <a:p>
            <a:pPr algn="ctr" rtl="1"/>
            <a:r>
              <a:rPr lang="ar-AE" altLang="en-US" sz="1300" b="1" i="0">
                <a:solidFill>
                  <a:srgbClr val="FFFFFF"/>
                </a:solidFill>
                <a:latin typeface="Arial"/>
                <a:cs typeface="Arial"/>
              </a:rPr>
              <a:t>الأهمية</a:t>
            </a:r>
          </a:p>
        </p:txBody>
      </p:sp>
      <p:sp>
        <p:nvSpPr>
          <p:cNvPr id="35" name="Rounded Rectangle 34"/>
          <p:cNvSpPr/>
          <p:nvPr/>
        </p:nvSpPr>
        <p:spPr>
          <a:xfrm>
            <a:off x="8412480" y="4498848"/>
            <a:ext cx="2103120" cy="932688"/>
          </a:xfrm>
          <a:prstGeom prst="roundRect">
            <a:avLst>
              <a:gd name="adj" fmla="val 7843"/>
            </a:avLst>
          </a:prstGeom>
          <a:solidFill>
            <a:srgbClr val="F3F5F8"/>
          </a:solidFill>
          <a:ln w="12700">
            <a:solidFill>
              <a:srgbClr val="D5DDE8"/>
            </a:solidFill>
          </a:ln>
        </p:spPr>
        <p:txBody>
          <a:bodyPr wrap="square" lIns="54864" tIns="18288" rIns="54864" bIns="18288" rtlCol="0" anchor="ctr"/>
          <a:lstStyle/>
          <a:p>
            <a:pPr algn="ctr" rtl="1"/>
            <a:r>
              <a:rPr lang="ar-AE" altLang="en-US" sz="1250" b="1" i="0" dirty="0">
                <a:solidFill>
                  <a:srgbClr val="102A43"/>
                </a:solidFill>
                <a:latin typeface="Arial"/>
                <a:cs typeface="Arial"/>
              </a:rPr>
              <a:t>تجعل النيتروجين متاحًا للنباتات</a:t>
            </a:r>
          </a:p>
        </p:txBody>
      </p:sp>
      <p:sp>
        <p:nvSpPr>
          <p:cNvPr id="36" name="Rounded Rectangle 35"/>
          <p:cNvSpPr/>
          <p:nvPr/>
        </p:nvSpPr>
        <p:spPr>
          <a:xfrm>
            <a:off x="6400800" y="4498848"/>
            <a:ext cx="1965960" cy="932688"/>
          </a:xfrm>
          <a:prstGeom prst="roundRect">
            <a:avLst>
              <a:gd name="adj" fmla="val 7843"/>
            </a:avLst>
          </a:prstGeom>
          <a:solidFill>
            <a:srgbClr val="F3F5F8"/>
          </a:solidFill>
          <a:ln w="12700">
            <a:solidFill>
              <a:srgbClr val="D5DDE8"/>
            </a:solidFill>
          </a:ln>
        </p:spPr>
        <p:txBody>
          <a:bodyPr wrap="square" lIns="54864" tIns="18288" rIns="54864" bIns="18288" rtlCol="0" anchor="ctr"/>
          <a:lstStyle/>
          <a:p>
            <a:pPr algn="ctr" rtl="1"/>
            <a:r>
              <a:rPr lang="ar-AE" altLang="en-US" sz="1250" b="1" i="0" dirty="0">
                <a:solidFill>
                  <a:srgbClr val="102A43"/>
                </a:solidFill>
                <a:latin typeface="Arial"/>
                <a:cs typeface="Arial"/>
              </a:rPr>
              <a:t>تعيد النيتروجين إلى الغلاف الجوي وتوازن الدورة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fill="hold"/>
                                        <p:tgtEl>
                                          <p:spTgt spid="32"/>
                                        </p:tgtEl>
                                        <p:attrNameLst>
                                          <p:attrName>ppt_x</p:attrName>
                                        </p:attrNameLst>
                                      </p:cBhvr>
                                      <p:tavLst>
                                        <p:tav tm="0">
                                          <p:val>
                                            <p:strVal val="#ppt_x"/>
                                          </p:val>
                                        </p:tav>
                                        <p:tav tm="100000">
                                          <p:val>
                                            <p:strVal val="#ppt_x"/>
                                          </p:val>
                                        </p:tav>
                                      </p:tavLst>
                                    </p:anim>
                                    <p:anim calcmode="lin" valueType="num">
                                      <p:cBhvr additive="base">
                                        <p:cTn id="17"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1000"/>
                                        <p:tgtEl>
                                          <p:spTgt spid="33"/>
                                        </p:tgtEl>
                                      </p:cBhvr>
                                    </p:animEffect>
                                    <p:anim calcmode="lin" valueType="num">
                                      <p:cBhvr>
                                        <p:cTn id="23" dur="1000" fill="hold"/>
                                        <p:tgtEl>
                                          <p:spTgt spid="33"/>
                                        </p:tgtEl>
                                        <p:attrNameLst>
                                          <p:attrName>ppt_x</p:attrName>
                                        </p:attrNameLst>
                                      </p:cBhvr>
                                      <p:tavLst>
                                        <p:tav tm="0">
                                          <p:val>
                                            <p:strVal val="#ppt_x"/>
                                          </p:val>
                                        </p:tav>
                                        <p:tav tm="100000">
                                          <p:val>
                                            <p:strVal val="#ppt_x"/>
                                          </p:val>
                                        </p:tav>
                                      </p:tavLst>
                                    </p:anim>
                                    <p:anim calcmode="lin" valueType="num">
                                      <p:cBhvr>
                                        <p:cTn id="2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barn(inVertical)">
                                      <p:cBhvr>
                                        <p:cTn id="29" dur="500"/>
                                        <p:tgtEl>
                                          <p:spTgt spid="35"/>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randombar(horizontal)">
                                      <p:cBhvr>
                                        <p:cTn id="3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P spid="33" grpId="0" animBg="1"/>
      <p:bldP spid="35" grpId="0" animBg="1"/>
      <p:bldP spid="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10928" y="1344168"/>
            <a:ext cx="2148840" cy="365760"/>
          </a:xfrm>
          <a:prstGeom prst="roundRect">
            <a:avLst>
              <a:gd name="adj" fmla="val 50000"/>
            </a:avLst>
          </a:prstGeom>
          <a:solidFill>
            <a:srgbClr val="C8102E"/>
          </a:solidFill>
          <a:ln>
            <a:noFill/>
          </a:ln>
        </p:spPr>
        <p:txBody>
          <a:bodyPr wrap="square" lIns="36576" tIns="0" rIns="36576" bIns="0" rtlCol="0" anchor="ctr">
            <a:noAutofit/>
          </a:bodyPr>
          <a:lstStyle/>
          <a:p>
            <a:pPr algn="ctr" rtl="1"/>
            <a:r>
              <a:rPr lang="ar-AE" altLang="en-US" sz="1300" b="1" i="0" dirty="0">
                <a:solidFill>
                  <a:srgbClr val="FFFFFF"/>
                </a:solidFill>
                <a:latin typeface="Arial"/>
                <a:cs typeface="Arial"/>
              </a:rPr>
              <a:t>المختبر الافتراضي</a:t>
            </a:r>
          </a:p>
        </p:txBody>
      </p:sp>
      <p:sp>
        <p:nvSpPr>
          <p:cNvPr id="22" name="TextBox 21"/>
          <p:cNvSpPr txBox="1"/>
          <p:nvPr/>
        </p:nvSpPr>
        <p:spPr>
          <a:xfrm>
            <a:off x="2606040" y="1280160"/>
            <a:ext cx="6995160" cy="502920"/>
          </a:xfrm>
          <a:prstGeom prst="rect">
            <a:avLst/>
          </a:prstGeom>
          <a:noFill/>
        </p:spPr>
        <p:txBody>
          <a:bodyPr wrap="square" lIns="18288" tIns="0" rIns="18288" bIns="0" rtlCol="0" anchor="ctr">
            <a:noAutofit/>
          </a:bodyPr>
          <a:lstStyle/>
          <a:p>
            <a:pPr algn="r" rtl="1"/>
            <a:r>
              <a:rPr lang="ar-AE" altLang="en-US" sz="2200" b="1" i="0" dirty="0">
                <a:solidFill>
                  <a:srgbClr val="102A43"/>
                </a:solidFill>
                <a:latin typeface="Arial"/>
                <a:cs typeface="Arial"/>
              </a:rPr>
              <a:t>المحطة 3: المزرعة والبحيرة… أين يذهب السماد؟</a:t>
            </a:r>
          </a:p>
        </p:txBody>
      </p:sp>
      <p:pic>
        <p:nvPicPr>
          <p:cNvPr id="35"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01952"/>
            <a:ext cx="1371600" cy="1371600"/>
          </a:xfrm>
          <a:prstGeom prst="rect">
            <a:avLst/>
          </a:prstGeom>
        </p:spPr>
      </p:pic>
      <p:pic>
        <p:nvPicPr>
          <p:cNvPr id="36" name="Picture 35" descr="qr_n3.png">
            <a:hlinkClick r:id="rId8"/>
          </p:cNvPr>
          <p:cNvPicPr>
            <a:picLocks noChangeAspect="1"/>
          </p:cNvPicPr>
          <p:nvPr/>
        </p:nvPicPr>
        <p:blipFill>
          <a:blip r:embed="rId4"/>
          <a:stretch>
            <a:fillRect/>
          </a:stretch>
        </p:blipFill>
        <p:spPr>
          <a:xfrm>
            <a:off x="2770632" y="3401568"/>
            <a:ext cx="1225296" cy="1225296"/>
          </a:xfrm>
          <a:prstGeom prst="rect">
            <a:avLst/>
          </a:prstGeom>
          <a:ln w="9525">
            <a:solidFill>
              <a:srgbClr val="D9E0E8"/>
            </a:solidFill>
          </a:ln>
        </p:spPr>
      </p:pic>
      <p:sp>
        <p:nvSpPr>
          <p:cNvPr id="37" name="TextBox 36"/>
          <p:cNvSpPr txBox="1"/>
          <p:nvPr/>
        </p:nvSpPr>
        <p:spPr>
          <a:xfrm>
            <a:off x="2560320" y="4645152"/>
            <a:ext cx="1645920" cy="329184"/>
          </a:xfrm>
          <a:prstGeom prst="rect">
            <a:avLst/>
          </a:prstGeom>
          <a:noFill/>
        </p:spPr>
        <p:txBody>
          <a:bodyPr wrap="square" lIns="36576" tIns="0" rIns="36576" bIns="0" rtlCol="0" anchor="ctr">
            <a:noAutofit/>
          </a:bodyPr>
          <a:lstStyle/>
          <a:p>
            <a:pPr algn="ctr" rtl="1"/>
            <a:r>
              <a:rPr lang="ar-AE" altLang="en-US" sz="1050" b="1" i="0" dirty="0">
                <a:solidFill>
                  <a:srgbClr val="5A687D"/>
                </a:solidFill>
                <a:latin typeface="Arial"/>
                <a:cs typeface="Arial"/>
              </a:rPr>
              <a:t>امسحوا الرمز للدخول</a:t>
            </a:r>
          </a:p>
        </p:txBody>
      </p:sp>
      <p:sp>
        <p:nvSpPr>
          <p:cNvPr id="38" name="Rounded Rectangle 37"/>
          <p:cNvSpPr/>
          <p:nvPr/>
        </p:nvSpPr>
        <p:spPr>
          <a:xfrm>
            <a:off x="4224528" y="1874519"/>
            <a:ext cx="1993392" cy="3090672"/>
          </a:xfrm>
          <a:prstGeom prst="roundRect">
            <a:avLst>
              <a:gd name="adj" fmla="val 8000"/>
            </a:avLst>
          </a:prstGeom>
          <a:solidFill>
            <a:srgbClr val="FBF5E8"/>
          </a:solidFill>
          <a:ln w="12700">
            <a:solidFill>
              <a:srgbClr val="E6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0" y="1938528"/>
            <a:ext cx="1847088" cy="2057400"/>
          </a:xfrm>
          <a:prstGeom prst="rect">
            <a:avLst/>
          </a:prstGeom>
          <a:noFill/>
        </p:spPr>
        <p:txBody>
          <a:bodyPr wrap="square" lIns="36576" tIns="36576" rIns="36576" bIns="0" rtlCol="0" anchor="t">
            <a:noAutofit/>
          </a:bodyPr>
          <a:lstStyle/>
          <a:p>
            <a:pPr algn="r" rtl="1">
              <a:spcAft>
                <a:spcPts val="600"/>
              </a:spcAft>
            </a:pPr>
            <a:r>
              <a:rPr lang="ar-AE" altLang="en-US" sz="1400" b="1" i="0" dirty="0">
                <a:solidFill>
                  <a:srgbClr val="C8102E"/>
                </a:solidFill>
                <a:latin typeface="Arial"/>
                <a:cs typeface="Arial"/>
              </a:rPr>
              <a:t>مهمة المجموعة</a:t>
            </a:r>
          </a:p>
          <a:p>
            <a:pPr algn="r" rtl="1">
              <a:spcAft>
                <a:spcPts val="500"/>
              </a:spcAft>
            </a:pPr>
            <a:r>
              <a:rPr lang="ar-AE" altLang="en-US" sz="1120" b="1" i="0" dirty="0">
                <a:solidFill>
                  <a:srgbClr val="102A43"/>
                </a:solidFill>
                <a:latin typeface="Arial"/>
                <a:cs typeface="Arial"/>
              </a:rPr>
              <a:t>1) شغّلوا موسمًا: 10 أكياس دفعة واحدة قبل المطر.</a:t>
            </a:r>
          </a:p>
          <a:p>
            <a:pPr algn="r" rtl="1">
              <a:spcAft>
                <a:spcPts val="500"/>
              </a:spcAft>
            </a:pPr>
            <a:r>
              <a:rPr lang="ar-AE" altLang="en-US" sz="1120" b="1" i="0" dirty="0">
                <a:solidFill>
                  <a:srgbClr val="102A43"/>
                </a:solidFill>
                <a:latin typeface="Arial"/>
                <a:cs typeface="Arial"/>
              </a:rPr>
              <a:t>2) غيّروا قرارًا واحدًا وقارنوا الأسماك والطحالب.</a:t>
            </a:r>
          </a:p>
          <a:p>
            <a:pPr algn="r" rtl="1">
              <a:spcAft>
                <a:spcPts val="500"/>
              </a:spcAft>
            </a:pPr>
            <a:r>
              <a:rPr lang="ar-AE" altLang="en-US" sz="1120" b="1" i="0" dirty="0">
                <a:solidFill>
                  <a:srgbClr val="102A43"/>
                </a:solidFill>
                <a:latin typeface="Arial"/>
                <a:cs typeface="Arial"/>
              </a:rPr>
              <a:t>3) حاولوا إنجاز تحدّي شاهين.</a:t>
            </a:r>
          </a:p>
        </p:txBody>
      </p:sp>
      <p:pic>
        <p:nvPicPr>
          <p:cNvPr id="40" name="Picture 39" descr="maha_400.png"/>
          <p:cNvPicPr>
            <a:picLocks noChangeAspect="1"/>
          </p:cNvPicPr>
          <p:nvPr/>
        </p:nvPicPr>
        <p:blipFill>
          <a:blip r:embed="rId9"/>
          <a:stretch>
            <a:fillRect/>
          </a:stretch>
        </p:blipFill>
        <p:spPr>
          <a:xfrm>
            <a:off x="5596128" y="4133087"/>
            <a:ext cx="548640" cy="548640"/>
          </a:xfrm>
          <a:prstGeom prst="rect">
            <a:avLst/>
          </a:prstGeom>
        </p:spPr>
      </p:pic>
      <p:sp>
        <p:nvSpPr>
          <p:cNvPr id="41" name="Rounded Rectangular Callout 40"/>
          <p:cNvSpPr/>
          <p:nvPr/>
        </p:nvSpPr>
        <p:spPr>
          <a:xfrm>
            <a:off x="4297680" y="4078224"/>
            <a:ext cx="1243584" cy="749808"/>
          </a:xfrm>
          <a:prstGeom prst="wedgeRoundRectCallout">
            <a:avLst>
              <a:gd name="adj1" fmla="val 62000"/>
              <a:gd name="adj2" fmla="val -5000"/>
              <a:gd name="adj3" fmla="val 16667"/>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r" rtl="1"/>
            <a:r>
              <a:rPr lang="ar-AE" altLang="en-US" sz="1000" b="1" i="0" dirty="0">
                <a:solidFill>
                  <a:srgbClr val="0F766E"/>
                </a:solidFill>
                <a:latin typeface="Arial"/>
                <a:cs typeface="Arial"/>
              </a:rPr>
              <a:t>مها: </a:t>
            </a:r>
            <a:r>
              <a:rPr lang="ar-AE" altLang="en-US" sz="1000" b="1" i="0" dirty="0">
                <a:solidFill>
                  <a:srgbClr val="102A43"/>
                </a:solidFill>
                <a:latin typeface="Arial"/>
                <a:cs typeface="Arial"/>
              </a:rPr>
              <a:t>محصول وفير… وبحيرة سليمة!</a:t>
            </a:r>
          </a:p>
        </p:txBody>
      </p:sp>
      <p:sp>
        <p:nvSpPr>
          <p:cNvPr id="42" name="Rounded Rectangle 41"/>
          <p:cNvSpPr/>
          <p:nvPr/>
        </p:nvSpPr>
        <p:spPr>
          <a:xfrm>
            <a:off x="4224528" y="5074920"/>
            <a:ext cx="1993392" cy="393192"/>
          </a:xfrm>
          <a:prstGeom prst="roundRect">
            <a:avLst>
              <a:gd name="adj" fmla="val 50000"/>
            </a:avLst>
          </a:prstGeom>
          <a:solidFill>
            <a:srgbClr val="5B3B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150" b="1" i="0" dirty="0">
                <a:solidFill>
                  <a:srgbClr val="FFFFFF"/>
                </a:solidFill>
                <a:latin typeface="Arial"/>
                <a:cs typeface="Arial"/>
              </a:rPr>
              <a:t>ورقة العمل: القسم 3</a:t>
            </a:r>
          </a:p>
        </p:txBody>
      </p:sp>
      <p:pic>
        <p:nvPicPr>
          <p:cNvPr id="43" name="Picture 42" descr="crop_n3.jpg">
            <a:hlinkClick r:id="rId8"/>
          </p:cNvPr>
          <p:cNvPicPr>
            <a:picLocks noChangeAspect="1"/>
          </p:cNvPicPr>
          <p:nvPr/>
        </p:nvPicPr>
        <p:blipFill>
          <a:blip r:embed="rId10"/>
          <a:stretch>
            <a:fillRect/>
          </a:stretch>
        </p:blipFill>
        <p:spPr>
          <a:xfrm>
            <a:off x="6355080" y="1874519"/>
            <a:ext cx="5486400" cy="3086100"/>
          </a:xfrm>
          <a:prstGeom prst="rect">
            <a:avLst/>
          </a:prstGeom>
          <a:ln w="15875">
            <a:solidFill>
              <a:srgbClr val="102A43"/>
            </a:solidFill>
          </a:ln>
        </p:spPr>
      </p:pic>
      <p:sp>
        <p:nvSpPr>
          <p:cNvPr id="44" name="Rounded Rectangle 43">
            <a:hlinkClick r:id="rId8"/>
          </p:cNvPr>
          <p:cNvSpPr/>
          <p:nvPr/>
        </p:nvSpPr>
        <p:spPr>
          <a:xfrm>
            <a:off x="6355080" y="5074920"/>
            <a:ext cx="5486400" cy="393192"/>
          </a:xfrm>
          <a:prstGeom prst="roundRect">
            <a:avLst>
              <a:gd name="adj" fmla="val 50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300" b="1" i="0" dirty="0">
                <a:solidFill>
                  <a:srgbClr val="FFFFFF"/>
                </a:solidFill>
                <a:latin typeface="Arial"/>
                <a:cs typeface="Arial"/>
              </a:rPr>
              <a:t>◄ افتحوا المحطة 3 في مختبر النيتروجين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5"/>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35"/>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الثالث</a:t>
            </a:r>
          </a:p>
        </p:txBody>
      </p:sp>
      <p:sp>
        <p:nvSpPr>
          <p:cNvPr id="22" name="TextBox 21"/>
          <p:cNvSpPr txBox="1"/>
          <p:nvPr/>
        </p:nvSpPr>
        <p:spPr>
          <a:xfrm>
            <a:off x="6633083" y="1280160"/>
            <a:ext cx="3594481" cy="502920"/>
          </a:xfrm>
          <a:prstGeom prst="rect">
            <a:avLst/>
          </a:prstGeom>
          <a:noFill/>
        </p:spPr>
        <p:txBody>
          <a:bodyPr wrap="square" lIns="18288" tIns="0" rIns="18288" bIns="0" anchor="ctr"/>
          <a:lstStyle/>
          <a:p>
            <a:pPr algn="r" rtl="1"/>
            <a:r>
              <a:rPr lang="ar-AE" altLang="en-US" sz="2300" b="1" i="0">
                <a:solidFill>
                  <a:srgbClr val="102A43"/>
                </a:solidFill>
                <a:latin typeface="Arial"/>
                <a:cs typeface="Arial"/>
              </a:rPr>
              <a:t>حين نُسرف في الأسمدة…</a:t>
            </a:r>
          </a:p>
        </p:txBody>
      </p:sp>
      <p:pic>
        <p:nvPicPr>
          <p:cNvPr id="23" name="Picture 22" descr="badge_maha.png"/>
          <p:cNvPicPr>
            <a:picLocks noChangeAspect="1"/>
          </p:cNvPicPr>
          <p:nvPr/>
        </p:nvPicPr>
        <p:blipFill>
          <a:blip r:embed="rId4"/>
          <a:stretch>
            <a:fillRect/>
          </a:stretch>
        </p:blipFill>
        <p:spPr>
          <a:xfrm>
            <a:off x="2560320" y="1159811"/>
            <a:ext cx="566928" cy="650700"/>
          </a:xfrm>
          <a:prstGeom prst="rect">
            <a:avLst/>
          </a:prstGeom>
        </p:spPr>
      </p:pic>
      <p:sp>
        <p:nvSpPr>
          <p:cNvPr id="24" name="Rounded Rectangular Callout 23"/>
          <p:cNvSpPr/>
          <p:nvPr/>
        </p:nvSpPr>
        <p:spPr>
          <a:xfrm>
            <a:off x="3209544" y="1307592"/>
            <a:ext cx="3295523" cy="420624"/>
          </a:xfrm>
          <a:prstGeom prst="wedgeRoundRectCallout">
            <a:avLst>
              <a:gd name="adj1" fmla="val -53329"/>
              <a:gd name="adj2" fmla="val 18000"/>
              <a:gd name="adj3" fmla="val 16667"/>
            </a:avLst>
          </a:prstGeom>
          <a:solidFill>
            <a:srgbClr val="FFFFFF"/>
          </a:solidFill>
          <a:ln w="19050">
            <a:solidFill>
              <a:srgbClr val="0F7C73"/>
            </a:solidFill>
          </a:ln>
        </p:spPr>
        <p:txBody>
          <a:bodyPr lIns="54864" tIns="27432" rIns="54864" bIns="27432" rtlCol="0" anchor="ctr"/>
          <a:lstStyle/>
          <a:p>
            <a:pPr algn="ctr"/>
            <a:endParaRPr/>
          </a:p>
        </p:txBody>
      </p:sp>
      <p:sp>
        <p:nvSpPr>
          <p:cNvPr id="25" name="TextBox 24"/>
          <p:cNvSpPr txBox="1"/>
          <p:nvPr/>
        </p:nvSpPr>
        <p:spPr>
          <a:xfrm>
            <a:off x="3246120" y="1307592"/>
            <a:ext cx="3222371" cy="420624"/>
          </a:xfrm>
          <a:prstGeom prst="rect">
            <a:avLst/>
          </a:prstGeom>
          <a:noFill/>
        </p:spPr>
        <p:txBody>
          <a:bodyPr wrap="square" lIns="36576" tIns="0" rIns="36576" bIns="0" anchor="ctr"/>
          <a:lstStyle/>
          <a:p>
            <a:pPr algn="r" rtl="1"/>
            <a:r>
              <a:rPr lang="ar-AE" altLang="en-US" sz="1150" b="1" i="0">
                <a:solidFill>
                  <a:srgbClr val="0F7C73"/>
                </a:solidFill>
                <a:latin typeface="Arial"/>
                <a:cs typeface="Arial"/>
              </a:rPr>
              <a:t>مها: </a:t>
            </a:r>
            <a:r>
              <a:rPr lang="ar-AE" altLang="en-US" sz="1150" b="1" i="0">
                <a:solidFill>
                  <a:srgbClr val="102A43"/>
                </a:solidFill>
                <a:latin typeface="Arial"/>
                <a:cs typeface="Arial"/>
              </a:rPr>
              <a:t>السماد نعمة… إذا أحسنّا استخدامه!</a:t>
            </a:r>
          </a:p>
        </p:txBody>
      </p:sp>
      <p:pic>
        <p:nvPicPr>
          <p:cNvPr id="26" name="Picture 25" descr="still_npk.png"/>
          <p:cNvPicPr>
            <a:picLocks noChangeAspect="1"/>
          </p:cNvPicPr>
          <p:nvPr/>
        </p:nvPicPr>
        <p:blipFill>
          <a:blip r:embed="rId5"/>
          <a:stretch>
            <a:fillRect/>
          </a:stretch>
        </p:blipFill>
        <p:spPr>
          <a:xfrm>
            <a:off x="2697480" y="2071116"/>
            <a:ext cx="2651760" cy="1856231"/>
          </a:xfrm>
          <a:prstGeom prst="rect">
            <a:avLst/>
          </a:prstGeom>
        </p:spPr>
      </p:pic>
      <p:sp>
        <p:nvSpPr>
          <p:cNvPr id="27" name="Rounded Rectangle 26"/>
          <p:cNvSpPr/>
          <p:nvPr/>
        </p:nvSpPr>
        <p:spPr>
          <a:xfrm>
            <a:off x="2697480" y="4114800"/>
            <a:ext cx="2651760" cy="1389888"/>
          </a:xfrm>
          <a:prstGeom prst="roundRect">
            <a:avLst>
              <a:gd name="adj" fmla="val 7894"/>
            </a:avLst>
          </a:prstGeom>
          <a:solidFill>
            <a:srgbClr val="FBF5E8"/>
          </a:solidFill>
          <a:ln w="12700">
            <a:solidFill>
              <a:srgbClr val="E6D5B0"/>
            </a:solidFill>
          </a:ln>
        </p:spPr>
        <p:txBody>
          <a:bodyPr wrap="square" tIns="36576" bIns="36576" rtlCol="0" anchor="ctr"/>
          <a:lstStyle/>
          <a:p>
            <a:pPr algn="r" rtl="1"/>
            <a:r>
              <a:rPr lang="ar-AE" altLang="en-US" sz="1250" b="1" i="0">
                <a:solidFill>
                  <a:srgbClr val="C9A96A"/>
                </a:solidFill>
                <a:latin typeface="Arial"/>
                <a:cs typeface="Arial"/>
              </a:rPr>
              <a:t>عرض توضيحي: </a:t>
            </a:r>
            <a:r>
              <a:rPr lang="ar-AE" altLang="en-US" sz="1200" b="1" i="0">
                <a:solidFill>
                  <a:srgbClr val="102A43"/>
                </a:solidFill>
                <a:latin typeface="Arial"/>
                <a:cs typeface="Arial"/>
              </a:rPr>
              <a:t>نقرأ ملصق كيس السماد: N-P-K تعني نسب النيتروجين والفوسفور والبوتاسيوم.</a:t>
            </a:r>
          </a:p>
        </p:txBody>
      </p:sp>
      <p:sp>
        <p:nvSpPr>
          <p:cNvPr id="28" name="Rectangle 27"/>
          <p:cNvSpPr/>
          <p:nvPr/>
        </p:nvSpPr>
        <p:spPr>
          <a:xfrm>
            <a:off x="11553444" y="2167128"/>
            <a:ext cx="45720" cy="2267712"/>
          </a:xfrm>
          <a:prstGeom prst="rect">
            <a:avLst/>
          </a:prstGeom>
          <a:solidFill>
            <a:srgbClr val="C9D3DF"/>
          </a:solidFill>
          <a:ln>
            <a:noFill/>
          </a:ln>
        </p:spPr>
        <p:txBody>
          <a:bodyPr lIns="54864" tIns="27432" rIns="54864" bIns="27432" rtlCol="0" anchor="ctr"/>
          <a:lstStyle/>
          <a:p>
            <a:pPr algn="ctr"/>
            <a:endParaRPr/>
          </a:p>
        </p:txBody>
      </p:sp>
      <p:sp>
        <p:nvSpPr>
          <p:cNvPr id="29" name="Oval 28"/>
          <p:cNvSpPr/>
          <p:nvPr/>
        </p:nvSpPr>
        <p:spPr>
          <a:xfrm>
            <a:off x="11338560" y="1920240"/>
            <a:ext cx="475488" cy="475488"/>
          </a:xfrm>
          <a:prstGeom prst="ellipse">
            <a:avLst/>
          </a:prstGeom>
          <a:solidFill>
            <a:srgbClr val="2E7D32"/>
          </a:solidFill>
          <a:ln w="25400">
            <a:solidFill>
              <a:srgbClr val="FFFFFF"/>
            </a:solidFill>
          </a:ln>
        </p:spPr>
        <p:txBody>
          <a:bodyPr lIns="54864" tIns="27432" rIns="54864" bIns="27432" rtlCol="0" anchor="ctr"/>
          <a:lstStyle/>
          <a:p>
            <a:pPr algn="ctr"/>
            <a:endParaRPr/>
          </a:p>
        </p:txBody>
      </p:sp>
      <p:pic>
        <p:nvPicPr>
          <p:cNvPr id="30" name="Picture 29" descr="fert_w.png"/>
          <p:cNvPicPr>
            <a:picLocks noChangeAspect="1"/>
          </p:cNvPicPr>
          <p:nvPr/>
        </p:nvPicPr>
        <p:blipFill>
          <a:blip r:embed="rId6"/>
          <a:stretch>
            <a:fillRect/>
          </a:stretch>
        </p:blipFill>
        <p:spPr>
          <a:xfrm>
            <a:off x="11443167" y="2024847"/>
            <a:ext cx="266273" cy="266273"/>
          </a:xfrm>
          <a:prstGeom prst="rect">
            <a:avLst/>
          </a:prstGeom>
        </p:spPr>
      </p:pic>
      <p:sp>
        <p:nvSpPr>
          <p:cNvPr id="31" name="Rounded Rectangle 30"/>
          <p:cNvSpPr/>
          <p:nvPr/>
        </p:nvSpPr>
        <p:spPr>
          <a:xfrm>
            <a:off x="5532120" y="1901952"/>
            <a:ext cx="5715000" cy="493776"/>
          </a:xfrm>
          <a:prstGeom prst="roundRect">
            <a:avLst>
              <a:gd name="adj" fmla="val 18518"/>
            </a:avLst>
          </a:prstGeom>
          <a:solidFill>
            <a:srgbClr val="FFFFFF"/>
          </a:solidFill>
          <a:ln w="19050">
            <a:solidFill>
              <a:srgbClr val="2E7D32"/>
            </a:solidFill>
          </a:ln>
        </p:spPr>
        <p:txBody>
          <a:bodyPr wrap="square" lIns="109728" tIns="0" rIns="109728" bIns="0" rtlCol="0" anchor="ctr"/>
          <a:lstStyle/>
          <a:p>
            <a:pPr algn="r" rtl="1"/>
            <a:r>
              <a:rPr lang="ar-AE" altLang="en-US" sz="1400" b="1" i="0">
                <a:solidFill>
                  <a:srgbClr val="2E7D32"/>
                </a:solidFill>
                <a:latin typeface="Arial"/>
                <a:cs typeface="Arial"/>
              </a:rPr>
              <a:t>1. </a:t>
            </a:r>
            <a:r>
              <a:rPr lang="ar-AE" altLang="en-US" sz="1400" b="1" i="0">
                <a:solidFill>
                  <a:srgbClr val="102A43"/>
                </a:solidFill>
                <a:latin typeface="Arial"/>
                <a:cs typeface="Arial"/>
              </a:rPr>
              <a:t>سماد زائد عن الحاجة</a:t>
            </a:r>
          </a:p>
        </p:txBody>
      </p:sp>
      <p:sp>
        <p:nvSpPr>
          <p:cNvPr id="32" name="Oval 31"/>
          <p:cNvSpPr/>
          <p:nvPr/>
        </p:nvSpPr>
        <p:spPr>
          <a:xfrm>
            <a:off x="11338560" y="2487168"/>
            <a:ext cx="475488" cy="475488"/>
          </a:xfrm>
          <a:prstGeom prst="ellipse">
            <a:avLst/>
          </a:prstGeom>
          <a:solidFill>
            <a:srgbClr val="1E88C8"/>
          </a:solidFill>
          <a:ln w="25400">
            <a:solidFill>
              <a:srgbClr val="FFFFFF"/>
            </a:solidFill>
          </a:ln>
        </p:spPr>
        <p:txBody>
          <a:bodyPr lIns="54864" tIns="27432" rIns="54864" bIns="27432" rtlCol="0" anchor="ctr"/>
          <a:lstStyle/>
          <a:p>
            <a:pPr algn="ctr"/>
            <a:endParaRPr/>
          </a:p>
        </p:txBody>
      </p:sp>
      <p:pic>
        <p:nvPicPr>
          <p:cNvPr id="33" name="Picture 32" descr="cloudrain_w.png"/>
          <p:cNvPicPr>
            <a:picLocks noChangeAspect="1"/>
          </p:cNvPicPr>
          <p:nvPr/>
        </p:nvPicPr>
        <p:blipFill>
          <a:blip r:embed="rId7"/>
          <a:stretch>
            <a:fillRect/>
          </a:stretch>
        </p:blipFill>
        <p:spPr>
          <a:xfrm>
            <a:off x="11443167" y="2591775"/>
            <a:ext cx="266273" cy="266273"/>
          </a:xfrm>
          <a:prstGeom prst="rect">
            <a:avLst/>
          </a:prstGeom>
        </p:spPr>
      </p:pic>
      <p:sp>
        <p:nvSpPr>
          <p:cNvPr id="34" name="Rounded Rectangle 33"/>
          <p:cNvSpPr/>
          <p:nvPr/>
        </p:nvSpPr>
        <p:spPr>
          <a:xfrm>
            <a:off x="5532120" y="2468880"/>
            <a:ext cx="5715000" cy="493776"/>
          </a:xfrm>
          <a:prstGeom prst="roundRect">
            <a:avLst>
              <a:gd name="adj" fmla="val 18518"/>
            </a:avLst>
          </a:prstGeom>
          <a:solidFill>
            <a:srgbClr val="FFFFFF"/>
          </a:solidFill>
          <a:ln w="19050">
            <a:solidFill>
              <a:srgbClr val="1E88C8"/>
            </a:solidFill>
          </a:ln>
        </p:spPr>
        <p:txBody>
          <a:bodyPr wrap="square" lIns="109728" tIns="0" rIns="109728" bIns="0" rtlCol="0" anchor="ctr"/>
          <a:lstStyle/>
          <a:p>
            <a:pPr algn="r" rtl="1"/>
            <a:r>
              <a:rPr lang="ar-AE" altLang="en-US" sz="1400" b="1" i="0">
                <a:solidFill>
                  <a:srgbClr val="1E88C8"/>
                </a:solidFill>
                <a:latin typeface="Arial"/>
                <a:cs typeface="Arial"/>
              </a:rPr>
              <a:t>2. </a:t>
            </a:r>
            <a:r>
              <a:rPr lang="ar-AE" altLang="en-US" sz="1400" b="1" i="0">
                <a:solidFill>
                  <a:srgbClr val="102A43"/>
                </a:solidFill>
                <a:latin typeface="Arial"/>
                <a:cs typeface="Arial"/>
              </a:rPr>
              <a:t>المطر والجريان السطحي</a:t>
            </a:r>
          </a:p>
        </p:txBody>
      </p:sp>
      <p:sp>
        <p:nvSpPr>
          <p:cNvPr id="35" name="Oval 34"/>
          <p:cNvSpPr/>
          <p:nvPr/>
        </p:nvSpPr>
        <p:spPr>
          <a:xfrm>
            <a:off x="11338560" y="3054096"/>
            <a:ext cx="475488" cy="475488"/>
          </a:xfrm>
          <a:prstGeom prst="ellipse">
            <a:avLst/>
          </a:prstGeom>
          <a:solidFill>
            <a:srgbClr val="1B5E9B"/>
          </a:solidFill>
          <a:ln w="25400">
            <a:solidFill>
              <a:srgbClr val="FFFFFF"/>
            </a:solidFill>
          </a:ln>
        </p:spPr>
        <p:txBody>
          <a:bodyPr lIns="54864" tIns="27432" rIns="54864" bIns="27432" rtlCol="0" anchor="ctr"/>
          <a:lstStyle/>
          <a:p>
            <a:pPr algn="ctr"/>
            <a:endParaRPr/>
          </a:p>
        </p:txBody>
      </p:sp>
      <p:pic>
        <p:nvPicPr>
          <p:cNvPr id="36" name="Picture 35" descr="water_w.png"/>
          <p:cNvPicPr>
            <a:picLocks noChangeAspect="1"/>
          </p:cNvPicPr>
          <p:nvPr/>
        </p:nvPicPr>
        <p:blipFill>
          <a:blip r:embed="rId8"/>
          <a:stretch>
            <a:fillRect/>
          </a:stretch>
        </p:blipFill>
        <p:spPr>
          <a:xfrm>
            <a:off x="11443167" y="3158703"/>
            <a:ext cx="266273" cy="266273"/>
          </a:xfrm>
          <a:prstGeom prst="rect">
            <a:avLst/>
          </a:prstGeom>
        </p:spPr>
      </p:pic>
      <p:sp>
        <p:nvSpPr>
          <p:cNvPr id="37" name="Rounded Rectangle 36"/>
          <p:cNvSpPr/>
          <p:nvPr/>
        </p:nvSpPr>
        <p:spPr>
          <a:xfrm>
            <a:off x="5532120" y="3035808"/>
            <a:ext cx="5715000" cy="493776"/>
          </a:xfrm>
          <a:prstGeom prst="roundRect">
            <a:avLst>
              <a:gd name="adj" fmla="val 18518"/>
            </a:avLst>
          </a:prstGeom>
          <a:solidFill>
            <a:srgbClr val="FFFFFF"/>
          </a:solidFill>
          <a:ln w="19050">
            <a:solidFill>
              <a:srgbClr val="1B5E9B"/>
            </a:solidFill>
          </a:ln>
        </p:spPr>
        <p:txBody>
          <a:bodyPr wrap="square" lIns="109728" tIns="0" rIns="109728" bIns="0" rtlCol="0" anchor="ctr"/>
          <a:lstStyle/>
          <a:p>
            <a:pPr algn="r" rtl="1"/>
            <a:r>
              <a:rPr lang="ar-AE" altLang="en-US" sz="1400" b="1" i="0">
                <a:solidFill>
                  <a:srgbClr val="1B5E9B"/>
                </a:solidFill>
                <a:latin typeface="Arial"/>
                <a:cs typeface="Arial"/>
              </a:rPr>
              <a:t>3. </a:t>
            </a:r>
            <a:r>
              <a:rPr lang="ar-AE" altLang="en-US" sz="1400" b="1" i="0">
                <a:solidFill>
                  <a:srgbClr val="102A43"/>
                </a:solidFill>
                <a:latin typeface="Arial"/>
                <a:cs typeface="Arial"/>
              </a:rPr>
              <a:t>نترات في البحيرات والبحار</a:t>
            </a:r>
          </a:p>
        </p:txBody>
      </p:sp>
      <p:sp>
        <p:nvSpPr>
          <p:cNvPr id="38" name="Oval 37"/>
          <p:cNvSpPr/>
          <p:nvPr/>
        </p:nvSpPr>
        <p:spPr>
          <a:xfrm>
            <a:off x="11338560" y="3621024"/>
            <a:ext cx="475488" cy="475488"/>
          </a:xfrm>
          <a:prstGeom prst="ellipse">
            <a:avLst/>
          </a:prstGeom>
          <a:solidFill>
            <a:srgbClr val="6E8B3D"/>
          </a:solidFill>
          <a:ln w="25400">
            <a:solidFill>
              <a:srgbClr val="FFFFFF"/>
            </a:solidFill>
          </a:ln>
        </p:spPr>
        <p:txBody>
          <a:bodyPr lIns="54864" tIns="27432" rIns="54864" bIns="27432" rtlCol="0" anchor="ctr"/>
          <a:lstStyle/>
          <a:p>
            <a:pPr algn="ctr"/>
            <a:endParaRPr/>
          </a:p>
        </p:txBody>
      </p:sp>
      <p:pic>
        <p:nvPicPr>
          <p:cNvPr id="39" name="Picture 38" descr="leafs_w.png"/>
          <p:cNvPicPr>
            <a:picLocks noChangeAspect="1"/>
          </p:cNvPicPr>
          <p:nvPr/>
        </p:nvPicPr>
        <p:blipFill>
          <a:blip r:embed="rId9"/>
          <a:stretch>
            <a:fillRect/>
          </a:stretch>
        </p:blipFill>
        <p:spPr>
          <a:xfrm>
            <a:off x="11443167" y="3725631"/>
            <a:ext cx="266273" cy="266273"/>
          </a:xfrm>
          <a:prstGeom prst="rect">
            <a:avLst/>
          </a:prstGeom>
        </p:spPr>
      </p:pic>
      <p:sp>
        <p:nvSpPr>
          <p:cNvPr id="40" name="Rounded Rectangle 39"/>
          <p:cNvSpPr/>
          <p:nvPr/>
        </p:nvSpPr>
        <p:spPr>
          <a:xfrm>
            <a:off x="5532120" y="3602736"/>
            <a:ext cx="5715000" cy="493776"/>
          </a:xfrm>
          <a:prstGeom prst="roundRect">
            <a:avLst>
              <a:gd name="adj" fmla="val 18518"/>
            </a:avLst>
          </a:prstGeom>
          <a:solidFill>
            <a:srgbClr val="FFFFFF"/>
          </a:solidFill>
          <a:ln w="19050">
            <a:solidFill>
              <a:srgbClr val="6E8B3D"/>
            </a:solidFill>
          </a:ln>
        </p:spPr>
        <p:txBody>
          <a:bodyPr wrap="square" lIns="109728" tIns="0" rIns="109728" bIns="0" rtlCol="0" anchor="ctr"/>
          <a:lstStyle/>
          <a:p>
            <a:pPr algn="r" rtl="1"/>
            <a:r>
              <a:rPr lang="ar-AE" altLang="en-US" sz="1400" b="1" i="0">
                <a:solidFill>
                  <a:srgbClr val="6E8B3D"/>
                </a:solidFill>
                <a:latin typeface="Arial"/>
                <a:cs typeface="Arial"/>
              </a:rPr>
              <a:t>4. </a:t>
            </a:r>
            <a:r>
              <a:rPr lang="ar-AE" altLang="en-US" sz="1400" b="1" i="0">
                <a:solidFill>
                  <a:srgbClr val="102A43"/>
                </a:solidFill>
                <a:latin typeface="Arial"/>
                <a:cs typeface="Arial"/>
              </a:rPr>
              <a:t>تكاثر هائل للطحالب</a:t>
            </a:r>
          </a:p>
        </p:txBody>
      </p:sp>
      <p:sp>
        <p:nvSpPr>
          <p:cNvPr id="41" name="Oval 40"/>
          <p:cNvSpPr/>
          <p:nvPr/>
        </p:nvSpPr>
        <p:spPr>
          <a:xfrm>
            <a:off x="11338560" y="4187952"/>
            <a:ext cx="475488" cy="475488"/>
          </a:xfrm>
          <a:prstGeom prst="ellipse">
            <a:avLst/>
          </a:prstGeom>
          <a:solidFill>
            <a:srgbClr val="C8102E"/>
          </a:solidFill>
          <a:ln w="25400">
            <a:solidFill>
              <a:srgbClr val="FFFFFF"/>
            </a:solidFill>
          </a:ln>
        </p:spPr>
        <p:txBody>
          <a:bodyPr lIns="54864" tIns="27432" rIns="54864" bIns="27432" rtlCol="0" anchor="ctr"/>
          <a:lstStyle/>
          <a:p>
            <a:pPr algn="ctr"/>
            <a:endParaRPr/>
          </a:p>
        </p:txBody>
      </p:sp>
      <p:pic>
        <p:nvPicPr>
          <p:cNvPr id="42" name="Picture 41" descr="deadfish_w.png"/>
          <p:cNvPicPr>
            <a:picLocks noChangeAspect="1"/>
          </p:cNvPicPr>
          <p:nvPr/>
        </p:nvPicPr>
        <p:blipFill>
          <a:blip r:embed="rId10"/>
          <a:stretch>
            <a:fillRect/>
          </a:stretch>
        </p:blipFill>
        <p:spPr>
          <a:xfrm>
            <a:off x="11443167" y="4292559"/>
            <a:ext cx="266273" cy="266273"/>
          </a:xfrm>
          <a:prstGeom prst="rect">
            <a:avLst/>
          </a:prstGeom>
        </p:spPr>
      </p:pic>
      <p:sp>
        <p:nvSpPr>
          <p:cNvPr id="43" name="Rounded Rectangle 42"/>
          <p:cNvSpPr/>
          <p:nvPr/>
        </p:nvSpPr>
        <p:spPr>
          <a:xfrm>
            <a:off x="5532120" y="4169664"/>
            <a:ext cx="5715000" cy="493776"/>
          </a:xfrm>
          <a:prstGeom prst="roundRect">
            <a:avLst>
              <a:gd name="adj" fmla="val 18518"/>
            </a:avLst>
          </a:prstGeom>
          <a:solidFill>
            <a:srgbClr val="FFFFFF"/>
          </a:solidFill>
          <a:ln w="19050">
            <a:solidFill>
              <a:srgbClr val="C8102E"/>
            </a:solidFill>
          </a:ln>
        </p:spPr>
        <p:txBody>
          <a:bodyPr wrap="square" lIns="109728" tIns="0" rIns="109728" bIns="0" rtlCol="0" anchor="ctr"/>
          <a:lstStyle/>
          <a:p>
            <a:pPr algn="r" rtl="1"/>
            <a:r>
              <a:rPr lang="ar-AE" altLang="en-US" sz="1400" b="1" i="0">
                <a:solidFill>
                  <a:srgbClr val="C8102E"/>
                </a:solidFill>
                <a:latin typeface="Arial"/>
                <a:cs typeface="Arial"/>
              </a:rPr>
              <a:t>5. </a:t>
            </a:r>
            <a:r>
              <a:rPr lang="ar-AE" altLang="en-US" sz="1400" b="1" i="0">
                <a:solidFill>
                  <a:srgbClr val="102A43"/>
                </a:solidFill>
                <a:latin typeface="Arial"/>
                <a:cs typeface="Arial"/>
              </a:rPr>
              <a:t>نقص الأكسجين ونفوق الأسماك</a:t>
            </a:r>
          </a:p>
        </p:txBody>
      </p:sp>
      <p:sp>
        <p:nvSpPr>
          <p:cNvPr id="44" name="Rounded Rectangle 43"/>
          <p:cNvSpPr/>
          <p:nvPr/>
        </p:nvSpPr>
        <p:spPr>
          <a:xfrm>
            <a:off x="5532120" y="4800600"/>
            <a:ext cx="6309360" cy="713232"/>
          </a:xfrm>
          <a:prstGeom prst="roundRect">
            <a:avLst>
              <a:gd name="adj" fmla="val 15384"/>
            </a:avLst>
          </a:prstGeom>
          <a:solidFill>
            <a:srgbClr val="E8F5F4"/>
          </a:solidFill>
          <a:ln w="12700">
            <a:solidFill>
              <a:srgbClr val="B9DEDA"/>
            </a:solidFill>
          </a:ln>
        </p:spPr>
        <p:txBody>
          <a:bodyPr wrap="square" lIns="109728" tIns="27432" rIns="109728" bIns="27432" rtlCol="0" anchor="ctr"/>
          <a:lstStyle/>
          <a:p>
            <a:pPr algn="r" rtl="1"/>
            <a:r>
              <a:rPr lang="ar-AE" altLang="en-US" sz="1350" b="1" i="0">
                <a:solidFill>
                  <a:srgbClr val="0F7C73"/>
                </a:solidFill>
                <a:latin typeface="Arial"/>
                <a:cs typeface="Arial"/>
              </a:rPr>
              <a:t>من بيئتنا: </a:t>
            </a:r>
            <a:r>
              <a:rPr lang="ar-AE" altLang="en-US" sz="1300" b="1" i="0">
                <a:solidFill>
                  <a:srgbClr val="102A43"/>
                </a:solidFill>
                <a:latin typeface="Arial"/>
                <a:cs typeface="Arial"/>
              </a:rPr>
              <a:t>تعتمد مزارع في الإمارات على الري بالتنقيط والزراعة المائية لتقليل هدر الماء والأسمدة.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500"/>
                                        <p:tgtEl>
                                          <p:spTgt spid="41"/>
                                        </p:tgtEl>
                                      </p:cBhvr>
                                    </p:animEffect>
                                  </p:childTnLst>
                                </p:cTn>
                              </p:par>
                              <p:par>
                                <p:cTn id="41" presetID="10"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animBg="1"/>
      <p:bldP spid="35" grpId="0" animBg="1"/>
      <p:bldP spid="37" grpId="0" animBg="1"/>
      <p:bldP spid="38" grpId="0" animBg="1"/>
      <p:bldP spid="40" grpId="0" animBg="1"/>
      <p:bldP spid="41"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إزالة النيتروجين وأثر الأسمدة</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الناتج الثالث</a:t>
            </a:r>
          </a:p>
        </p:txBody>
      </p:sp>
      <p:sp>
        <p:nvSpPr>
          <p:cNvPr id="22" name="TextBox 21"/>
          <p:cNvSpPr txBox="1"/>
          <p:nvPr/>
        </p:nvSpPr>
        <p:spPr>
          <a:xfrm>
            <a:off x="2606040" y="1280160"/>
            <a:ext cx="7045452"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مجلس الخبراء: مزارعٌ ومطرٌ غزير</a:t>
            </a:r>
          </a:p>
        </p:txBody>
      </p:sp>
      <p:sp>
        <p:nvSpPr>
          <p:cNvPr id="23" name="Rounded Rectangle 22"/>
          <p:cNvSpPr/>
          <p:nvPr/>
        </p:nvSpPr>
        <p:spPr>
          <a:xfrm>
            <a:off x="4160520" y="1901952"/>
            <a:ext cx="7680960" cy="841248"/>
          </a:xfrm>
          <a:prstGeom prst="roundRect">
            <a:avLst>
              <a:gd name="adj" fmla="val 13043"/>
            </a:avLst>
          </a:prstGeom>
          <a:solidFill>
            <a:srgbClr val="FDECEC"/>
          </a:solidFill>
          <a:ln w="12700">
            <a:solidFill>
              <a:srgbClr val="F2B8B8"/>
            </a:solidFill>
          </a:ln>
        </p:spPr>
        <p:txBody>
          <a:bodyPr wrap="square" lIns="137160" rIns="137160" rtlCol="0" anchor="ctr"/>
          <a:lstStyle/>
          <a:p>
            <a:pPr algn="r" rtl="1"/>
            <a:r>
              <a:rPr lang="ar-AE" altLang="en-US" sz="1550" b="1" i="0">
                <a:solidFill>
                  <a:srgbClr val="C8102E"/>
                </a:solidFill>
                <a:latin typeface="Arial"/>
                <a:cs typeface="Arial"/>
              </a:rPr>
              <a:t>الموقف: </a:t>
            </a:r>
            <a:r>
              <a:rPr lang="ar-AE" altLang="en-US" sz="1550" b="1" i="0">
                <a:solidFill>
                  <a:srgbClr val="102A43"/>
                </a:solidFill>
                <a:latin typeface="Arial"/>
                <a:cs typeface="Arial"/>
              </a:rPr>
              <a:t>أضاف مزارع كمية كبيرة من السماد النيتروجيني إلى حقله قبل هطول مطر غزير بقليل.</a:t>
            </a:r>
          </a:p>
        </p:txBody>
      </p:sp>
      <p:sp>
        <p:nvSpPr>
          <p:cNvPr id="24" name="Rounded Rectangle 23"/>
          <p:cNvSpPr/>
          <p:nvPr/>
        </p:nvSpPr>
        <p:spPr>
          <a:xfrm>
            <a:off x="4160520" y="2852928"/>
            <a:ext cx="7680960" cy="493776"/>
          </a:xfrm>
          <a:prstGeom prst="roundRect">
            <a:avLst>
              <a:gd name="adj" fmla="val 22222"/>
            </a:avLst>
          </a:prstGeom>
          <a:solidFill>
            <a:srgbClr val="FFFFFF"/>
          </a:solidFill>
          <a:ln w="12700">
            <a:solidFill>
              <a:srgbClr val="D5DDE8"/>
            </a:solidFill>
          </a:ln>
        </p:spPr>
        <p:txBody>
          <a:bodyPr lIns="54864" tIns="27432" rIns="54864" bIns="27432" rtlCol="0" anchor="ctr"/>
          <a:lstStyle/>
          <a:p>
            <a:pPr algn="ctr"/>
            <a:endParaRPr/>
          </a:p>
        </p:txBody>
      </p:sp>
      <p:sp>
        <p:nvSpPr>
          <p:cNvPr id="25" name="TextBox 24"/>
          <p:cNvSpPr txBox="1"/>
          <p:nvPr/>
        </p:nvSpPr>
        <p:spPr>
          <a:xfrm>
            <a:off x="11475720" y="2962656"/>
            <a:ext cx="274320" cy="274320"/>
          </a:xfrm>
          <a:prstGeom prst="rect">
            <a:avLst/>
          </a:prstGeom>
          <a:noFill/>
        </p:spPr>
        <p:txBody>
          <a:bodyPr wrap="square" lIns="0" tIns="0" rIns="0" bIns="0" anchor="ctr"/>
          <a:lstStyle/>
          <a:p>
            <a:pPr algn="ctr"/>
            <a:r>
              <a:rPr lang="ar-AE" altLang="en-US" sz="1500" b="1" i="0">
                <a:solidFill>
                  <a:srgbClr val="2E9E5B"/>
                </a:solidFill>
                <a:latin typeface="Arial"/>
                <a:cs typeface="Arial"/>
              </a:rPr>
              <a:t>●</a:t>
            </a:r>
          </a:p>
        </p:txBody>
      </p:sp>
      <p:sp>
        <p:nvSpPr>
          <p:cNvPr id="26" name="TextBox 25"/>
          <p:cNvSpPr txBox="1"/>
          <p:nvPr/>
        </p:nvSpPr>
        <p:spPr>
          <a:xfrm>
            <a:off x="4251960" y="2852928"/>
            <a:ext cx="7132320" cy="493776"/>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ماذا سيحدث لجزء من السماد مع المطر؟</a:t>
            </a:r>
          </a:p>
        </p:txBody>
      </p:sp>
      <p:sp>
        <p:nvSpPr>
          <p:cNvPr id="27" name="Rounded Rectangle 26"/>
          <p:cNvSpPr/>
          <p:nvPr/>
        </p:nvSpPr>
        <p:spPr>
          <a:xfrm>
            <a:off x="4160520" y="3419856"/>
            <a:ext cx="7680960" cy="493776"/>
          </a:xfrm>
          <a:prstGeom prst="roundRect">
            <a:avLst>
              <a:gd name="adj" fmla="val 22222"/>
            </a:avLst>
          </a:prstGeom>
          <a:solidFill>
            <a:srgbClr val="FFFFFF"/>
          </a:solidFill>
          <a:ln w="12700">
            <a:solidFill>
              <a:srgbClr val="D5DDE8"/>
            </a:solidFill>
          </a:ln>
        </p:spPr>
        <p:txBody>
          <a:bodyPr lIns="54864" tIns="27432" rIns="54864" bIns="27432" rtlCol="0" anchor="ctr"/>
          <a:lstStyle/>
          <a:p>
            <a:pPr algn="ctr"/>
            <a:endParaRPr/>
          </a:p>
        </p:txBody>
      </p:sp>
      <p:sp>
        <p:nvSpPr>
          <p:cNvPr id="28" name="TextBox 27"/>
          <p:cNvSpPr txBox="1"/>
          <p:nvPr/>
        </p:nvSpPr>
        <p:spPr>
          <a:xfrm>
            <a:off x="11475720" y="3529584"/>
            <a:ext cx="274320" cy="274320"/>
          </a:xfrm>
          <a:prstGeom prst="rect">
            <a:avLst/>
          </a:prstGeom>
          <a:noFill/>
        </p:spPr>
        <p:txBody>
          <a:bodyPr wrap="square" lIns="0" tIns="0" rIns="0" bIns="0" anchor="ctr"/>
          <a:lstStyle/>
          <a:p>
            <a:pPr algn="ctr"/>
            <a:r>
              <a:rPr lang="ar-AE" altLang="en-US" sz="1500" b="1" i="0">
                <a:solidFill>
                  <a:srgbClr val="E0A21B"/>
                </a:solidFill>
                <a:latin typeface="Arial"/>
                <a:cs typeface="Arial"/>
              </a:rPr>
              <a:t>▲</a:t>
            </a:r>
          </a:p>
        </p:txBody>
      </p:sp>
      <p:sp>
        <p:nvSpPr>
          <p:cNvPr id="29" name="TextBox 28"/>
          <p:cNvSpPr txBox="1"/>
          <p:nvPr/>
        </p:nvSpPr>
        <p:spPr>
          <a:xfrm>
            <a:off x="4251960" y="3419856"/>
            <a:ext cx="7132320" cy="493776"/>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توقّعوا أثر ذلك في بحيرة قريبة، وفسّروا.</a:t>
            </a:r>
          </a:p>
        </p:txBody>
      </p:sp>
      <p:sp>
        <p:nvSpPr>
          <p:cNvPr id="30" name="Rounded Rectangle 29"/>
          <p:cNvSpPr/>
          <p:nvPr/>
        </p:nvSpPr>
        <p:spPr>
          <a:xfrm>
            <a:off x="4160520" y="3986784"/>
            <a:ext cx="7680960" cy="493776"/>
          </a:xfrm>
          <a:prstGeom prst="roundRect">
            <a:avLst>
              <a:gd name="adj" fmla="val 22222"/>
            </a:avLst>
          </a:prstGeom>
          <a:solidFill>
            <a:srgbClr val="FFFFFF"/>
          </a:solidFill>
          <a:ln w="12700">
            <a:solidFill>
              <a:srgbClr val="D5DDE8"/>
            </a:solidFill>
          </a:ln>
        </p:spPr>
        <p:txBody>
          <a:bodyPr lIns="54864" tIns="27432" rIns="54864" bIns="27432" rtlCol="0" anchor="ctr"/>
          <a:lstStyle/>
          <a:p>
            <a:pPr algn="ctr"/>
            <a:endParaRPr/>
          </a:p>
        </p:txBody>
      </p:sp>
      <p:sp>
        <p:nvSpPr>
          <p:cNvPr id="31" name="TextBox 30"/>
          <p:cNvSpPr txBox="1"/>
          <p:nvPr/>
        </p:nvSpPr>
        <p:spPr>
          <a:xfrm>
            <a:off x="11475720" y="4096512"/>
            <a:ext cx="274320" cy="274320"/>
          </a:xfrm>
          <a:prstGeom prst="rect">
            <a:avLst/>
          </a:prstGeom>
          <a:noFill/>
        </p:spPr>
        <p:txBody>
          <a:bodyPr wrap="square" lIns="0" tIns="0" rIns="0" bIns="0" anchor="ctr"/>
          <a:lstStyle/>
          <a:p>
            <a:pPr algn="ctr"/>
            <a:r>
              <a:rPr lang="ar-AE" altLang="en-US" sz="1500" b="1" i="0">
                <a:solidFill>
                  <a:srgbClr val="C8102E"/>
                </a:solidFill>
                <a:latin typeface="Arial"/>
                <a:cs typeface="Arial"/>
              </a:rPr>
              <a:t>■</a:t>
            </a:r>
          </a:p>
        </p:txBody>
      </p:sp>
      <p:sp>
        <p:nvSpPr>
          <p:cNvPr id="32" name="TextBox 31"/>
          <p:cNvSpPr txBox="1"/>
          <p:nvPr/>
        </p:nvSpPr>
        <p:spPr>
          <a:xfrm>
            <a:off x="4251960" y="3986784"/>
            <a:ext cx="7132320" cy="493776"/>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اقترحوا حلًّا يحقق فائدة المحصول ويحمي البحيرة معًا.</a:t>
            </a:r>
          </a:p>
        </p:txBody>
      </p:sp>
      <p:sp>
        <p:nvSpPr>
          <p:cNvPr id="33" name="Rounded Rectangle 32"/>
          <p:cNvSpPr/>
          <p:nvPr/>
        </p:nvSpPr>
        <p:spPr>
          <a:xfrm>
            <a:off x="4160520" y="4572000"/>
            <a:ext cx="7680960" cy="932688"/>
          </a:xfrm>
          <a:prstGeom prst="roundRect">
            <a:avLst>
              <a:gd name="adj" fmla="val 9803"/>
            </a:avLst>
          </a:prstGeom>
          <a:solidFill>
            <a:srgbClr val="EAF7EE"/>
          </a:solidFill>
          <a:ln w="19050">
            <a:solidFill>
              <a:srgbClr val="2E9E5B"/>
            </a:solidFill>
          </a:ln>
        </p:spPr>
        <p:txBody>
          <a:bodyPr wrap="square" lIns="109728" tIns="54864" rIns="109728" bIns="54864" rtlCol="0" anchor="ctr"/>
          <a:lstStyle/>
          <a:p>
            <a:pPr algn="r" rtl="1"/>
            <a:r>
              <a:rPr lang="ar-AE" altLang="en-US" sz="1300" b="1" i="0">
                <a:solidFill>
                  <a:srgbClr val="1B4D2E"/>
                </a:solidFill>
                <a:latin typeface="Arial"/>
                <a:cs typeface="Arial"/>
              </a:rPr>
              <a:t>إجابة نموذجية: </a:t>
            </a:r>
            <a:r>
              <a:rPr lang="ar-AE" altLang="en-US" sz="1250" b="1" i="0">
                <a:solidFill>
                  <a:srgbClr val="1B4D2E"/>
                </a:solidFill>
                <a:latin typeface="Arial"/>
                <a:cs typeface="Arial"/>
              </a:rPr>
              <a:t>تنجرف النترات مع الجريان السطحي إلى البحيرة، فتتكاثر الطحالب ويقلّ الأكسجين وقد تنفق الأسماك. الحل: إضافة السماد بكميات مدروسة وعلى دفعات، وتجنّب إضافته قبل المطر، والري بالتنقيط.</a:t>
            </a:r>
          </a:p>
        </p:txBody>
      </p:sp>
      <p:sp>
        <p:nvSpPr>
          <p:cNvPr id="34" name="Rounded Rectangle 33"/>
          <p:cNvSpPr/>
          <p:nvPr/>
        </p:nvSpPr>
        <p:spPr>
          <a:xfrm>
            <a:off x="2697480" y="5074920"/>
            <a:ext cx="137160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wrap="square" lIns="36576" tIns="0" rIns="36576" bIns="0" rtlCol="0" anchor="ctr"/>
          <a:lstStyle/>
          <a:p>
            <a:pPr algn="ctr" rtl="1"/>
            <a:r>
              <a:rPr lang="ar-AE" altLang="en-US" sz="1150" b="1" i="0">
                <a:solidFill>
                  <a:srgbClr val="102A43"/>
                </a:solidFill>
                <a:latin typeface="Arial"/>
                <a:cs typeface="Arial"/>
              </a:rPr>
              <a:t>◄ نموذج إجابة</a:t>
            </a:r>
          </a:p>
        </p:txBody>
      </p:sp>
      <p:pic>
        <p:nvPicPr>
          <p:cNvPr id="35"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715768" y="1920240"/>
            <a:ext cx="1325880" cy="1325880"/>
          </a:xfrm>
          <a:prstGeom prst="rect">
            <a:avLst/>
          </a:prstGeom>
        </p:spPr>
      </p:pic>
      <p:sp>
        <p:nvSpPr>
          <p:cNvPr id="36" name="Oval 35"/>
          <p:cNvSpPr/>
          <p:nvPr/>
        </p:nvSpPr>
        <p:spPr>
          <a:xfrm>
            <a:off x="3017520" y="3429000"/>
            <a:ext cx="731520" cy="731520"/>
          </a:xfrm>
          <a:prstGeom prst="ellipse">
            <a:avLst/>
          </a:prstGeom>
          <a:solidFill>
            <a:srgbClr val="5B3B91"/>
          </a:solidFill>
          <a:ln>
            <a:noFill/>
          </a:ln>
        </p:spPr>
        <p:txBody>
          <a:bodyPr lIns="54864" tIns="27432" rIns="54864" bIns="27432" rtlCol="0" anchor="ctr"/>
          <a:lstStyle/>
          <a:p>
            <a:pPr algn="ctr"/>
            <a:endParaRPr/>
          </a:p>
        </p:txBody>
      </p:sp>
      <p:pic>
        <p:nvPicPr>
          <p:cNvPr id="37" name="Picture 36" descr="comments_w.png"/>
          <p:cNvPicPr>
            <a:picLocks noChangeAspect="1"/>
          </p:cNvPicPr>
          <p:nvPr/>
        </p:nvPicPr>
        <p:blipFill>
          <a:blip r:embed="rId7"/>
          <a:stretch>
            <a:fillRect/>
          </a:stretch>
        </p:blipFill>
        <p:spPr>
          <a:xfrm>
            <a:off x="3178454" y="3589934"/>
            <a:ext cx="409651" cy="409651"/>
          </a:xfrm>
          <a:prstGeom prst="rect">
            <a:avLst/>
          </a:prstGeom>
        </p:spPr>
      </p:pic>
      <p:sp>
        <p:nvSpPr>
          <p:cNvPr id="38" name="TextBox 37"/>
          <p:cNvSpPr txBox="1"/>
          <p:nvPr/>
        </p:nvSpPr>
        <p:spPr>
          <a:xfrm>
            <a:off x="2651760" y="4206240"/>
            <a:ext cx="1463040" cy="731520"/>
          </a:xfrm>
          <a:prstGeom prst="rect">
            <a:avLst/>
          </a:prstGeom>
          <a:noFill/>
        </p:spPr>
        <p:txBody>
          <a:bodyPr wrap="square" lIns="73152" tIns="36576" rIns="73152" bIns="36576" anchor="ctr"/>
          <a:lstStyle/>
          <a:p>
            <a:pPr algn="ctr" rtl="1"/>
            <a:r>
              <a:rPr lang="ar-AE" altLang="en-US" sz="1150" b="1" i="0">
                <a:solidFill>
                  <a:srgbClr val="5A687D"/>
                </a:solidFill>
                <a:latin typeface="Arial"/>
                <a:cs typeface="Arial"/>
              </a:rPr>
              <a:t>تناقشوا… ثم نختار من يعرض</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5"/>
                                        </p:tgtEl>
                                      </p:cBhvr>
                                    </p:cmd>
                                  </p:childTnLst>
                                </p:cTn>
                              </p:par>
                            </p:childTnLst>
                          </p:cTn>
                        </p:par>
                      </p:childTnLst>
                    </p:cTn>
                  </p:par>
                </p:childTnLst>
              </p:cTn>
              <p:nextCondLst>
                <p:cond evt="onNext" delay="0">
                  <p:tgtEl>
                    <p:sldTgt/>
                  </p:tgtEl>
                </p:cond>
              </p:nextCondLst>
            </p:seq>
            <p:video>
              <p:cMediaNode vol="80000">
                <p:cTn id="13" fill="hold" display="0">
                  <p:stCondLst>
                    <p:cond delay="indefinite"/>
                  </p:stCondLst>
                </p:cTn>
                <p:tgtEl>
                  <p:spTgt spid="35"/>
                </p:tgtEl>
              </p:cMediaNode>
            </p:video>
          </p:childTnLst>
        </p:cTn>
      </p:par>
    </p:tnLst>
    <p:bldLst>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625328" y="1344168"/>
            <a:ext cx="1234440" cy="365760"/>
          </a:xfrm>
          <a:prstGeom prst="roundRect">
            <a:avLst>
              <a:gd name="adj" fmla="val 50000"/>
            </a:avLst>
          </a:prstGeom>
          <a:solidFill>
            <a:srgbClr val="5B3B91"/>
          </a:solidFill>
          <a:ln>
            <a:noFill/>
          </a:ln>
        </p:spPr>
        <p:txBody>
          <a:bodyPr wrap="square" lIns="36576" tIns="0" rIns="36576" bIns="0" rtlCol="0" anchor="ctr"/>
          <a:lstStyle/>
          <a:p>
            <a:pPr algn="ctr" rtl="1"/>
            <a:r>
              <a:rPr lang="ar-AE" altLang="en-US" sz="1300" b="1" i="0">
                <a:solidFill>
                  <a:srgbClr val="FFFFFF"/>
                </a:solidFill>
                <a:latin typeface="Arial"/>
                <a:cs typeface="Arial"/>
              </a:rPr>
              <a:t>الخلاصة</a:t>
            </a:r>
          </a:p>
        </p:txBody>
      </p:sp>
      <p:sp>
        <p:nvSpPr>
          <p:cNvPr id="21" name="TextBox 20"/>
          <p:cNvSpPr txBox="1"/>
          <p:nvPr/>
        </p:nvSpPr>
        <p:spPr>
          <a:xfrm>
            <a:off x="2606040" y="1280160"/>
            <a:ext cx="790956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خلاصة الحصة</a:t>
            </a:r>
          </a:p>
        </p:txBody>
      </p:sp>
      <p:pic>
        <p:nvPicPr>
          <p:cNvPr id="22" name="Picture 21" descr="n_cycle.png"/>
          <p:cNvPicPr>
            <a:picLocks noChangeAspect="1"/>
          </p:cNvPicPr>
          <p:nvPr/>
        </p:nvPicPr>
        <p:blipFill>
          <a:blip r:embed="rId4"/>
          <a:stretch>
            <a:fillRect/>
          </a:stretch>
        </p:blipFill>
        <p:spPr>
          <a:xfrm>
            <a:off x="2697480" y="2043942"/>
            <a:ext cx="3886200" cy="3291323"/>
          </a:xfrm>
          <a:prstGeom prst="rect">
            <a:avLst/>
          </a:prstGeom>
          <a:ln w="12700">
            <a:solidFill>
              <a:srgbClr val="C9A96A"/>
            </a:solidFill>
          </a:ln>
        </p:spPr>
      </p:pic>
      <p:sp>
        <p:nvSpPr>
          <p:cNvPr id="23" name="Rounded Rectangle 22"/>
          <p:cNvSpPr/>
          <p:nvPr/>
        </p:nvSpPr>
        <p:spPr>
          <a:xfrm>
            <a:off x="6766560" y="1920240"/>
            <a:ext cx="5074920" cy="822960"/>
          </a:xfrm>
          <a:prstGeom prst="roundRect">
            <a:avLst>
              <a:gd name="adj" fmla="val 13333"/>
            </a:avLst>
          </a:prstGeom>
          <a:solidFill>
            <a:srgbClr val="FFFFFF"/>
          </a:solidFill>
          <a:ln w="25400">
            <a:solidFill>
              <a:srgbClr val="5B3B91"/>
            </a:solidFill>
          </a:ln>
        </p:spPr>
        <p:txBody>
          <a:bodyPr wrap="square" lIns="137160" tIns="27432" rIns="137160" bIns="27432" rtlCol="0" anchor="ctr"/>
          <a:lstStyle/>
          <a:p>
            <a:pPr algn="r" rtl="1"/>
            <a:r>
              <a:rPr lang="ar-AE" altLang="en-US" sz="1350" b="1" i="0" dirty="0">
                <a:solidFill>
                  <a:srgbClr val="102A43"/>
                </a:solidFill>
                <a:latin typeface="Arial"/>
                <a:cs typeface="Arial"/>
              </a:rPr>
              <a:t>معظم الكائنات لا تستخدم غاز </a:t>
            </a:r>
            <a:r>
              <a:rPr lang="ar-AE" altLang="en-US" sz="1350" b="1" i="0" baseline="-25000" dirty="0">
                <a:solidFill>
                  <a:srgbClr val="102A43"/>
                </a:solidFill>
                <a:latin typeface="Arial"/>
                <a:cs typeface="Arial"/>
              </a:rPr>
              <a:t>2</a:t>
            </a:r>
            <a:r>
              <a:rPr lang="ar-AE" altLang="en-US" sz="1350" b="1" dirty="0">
                <a:solidFill>
                  <a:srgbClr val="102A43"/>
                </a:solidFill>
                <a:latin typeface="Arial"/>
                <a:cs typeface="Arial"/>
              </a:rPr>
              <a:t>N </a:t>
            </a:r>
            <a:r>
              <a:rPr lang="ar-AE" altLang="en-US" sz="1350" b="1" i="0" dirty="0">
                <a:solidFill>
                  <a:srgbClr val="102A43"/>
                </a:solidFill>
                <a:latin typeface="Arial"/>
                <a:cs typeface="Arial"/>
              </a:rPr>
              <a:t>مباشرة… فتثبّته البكتيريا والبرق والأسمدة.</a:t>
            </a:r>
          </a:p>
        </p:txBody>
      </p:sp>
      <p:sp>
        <p:nvSpPr>
          <p:cNvPr id="24" name="Rounded Rectangle 23"/>
          <p:cNvSpPr/>
          <p:nvPr/>
        </p:nvSpPr>
        <p:spPr>
          <a:xfrm>
            <a:off x="6766560" y="2852928"/>
            <a:ext cx="5074920" cy="822960"/>
          </a:xfrm>
          <a:prstGeom prst="roundRect">
            <a:avLst>
              <a:gd name="adj" fmla="val 13333"/>
            </a:avLst>
          </a:prstGeom>
          <a:solidFill>
            <a:srgbClr val="FFFFFF"/>
          </a:solidFill>
          <a:ln w="25400">
            <a:solidFill>
              <a:srgbClr val="2E7D32"/>
            </a:solidFill>
          </a:ln>
        </p:spPr>
        <p:txBody>
          <a:bodyPr wrap="square" lIns="137160" tIns="27432" rIns="137160" bIns="27432" rtlCol="0" anchor="ctr"/>
          <a:lstStyle/>
          <a:p>
            <a:pPr algn="r" rtl="1"/>
            <a:r>
              <a:rPr lang="ar-AE" altLang="en-US" sz="1350" b="1" i="0">
                <a:solidFill>
                  <a:srgbClr val="102A43"/>
                </a:solidFill>
                <a:latin typeface="Arial"/>
                <a:cs typeface="Arial"/>
              </a:rPr>
              <a:t>ينتقل النيتروجين من التربة إلى النباتات فالحيوانات، وتعيده المحللات وبكتيريا النترتة إلى التربة.</a:t>
            </a:r>
          </a:p>
        </p:txBody>
      </p:sp>
      <p:sp>
        <p:nvSpPr>
          <p:cNvPr id="25" name="Rounded Rectangle 24"/>
          <p:cNvSpPr/>
          <p:nvPr/>
        </p:nvSpPr>
        <p:spPr>
          <a:xfrm>
            <a:off x="6766560" y="3785616"/>
            <a:ext cx="5074920" cy="822960"/>
          </a:xfrm>
          <a:prstGeom prst="roundRect">
            <a:avLst>
              <a:gd name="adj" fmla="val 13333"/>
            </a:avLst>
          </a:prstGeom>
          <a:solidFill>
            <a:srgbClr val="FFFFFF"/>
          </a:solidFill>
          <a:ln w="25400">
            <a:solidFill>
              <a:srgbClr val="C8102E"/>
            </a:solidFill>
          </a:ln>
        </p:spPr>
        <p:txBody>
          <a:bodyPr wrap="square" lIns="137160" tIns="27432" rIns="137160" bIns="27432" rtlCol="0" anchor="ctr"/>
          <a:lstStyle/>
          <a:p>
            <a:pPr algn="r" rtl="1"/>
            <a:r>
              <a:rPr lang="ar-AE" altLang="en-US" sz="1350" b="1" i="0">
                <a:solidFill>
                  <a:srgbClr val="102A43"/>
                </a:solidFill>
                <a:latin typeface="Arial"/>
                <a:cs typeface="Arial"/>
              </a:rPr>
              <a:t>تعيد بكتيريا إزالة النيتروجين الغازَ إلى الهواء… والإسراف في الأسمدة يُخلّ بالتوازن.</a:t>
            </a:r>
          </a:p>
        </p:txBody>
      </p:sp>
      <p:sp>
        <p:nvSpPr>
          <p:cNvPr id="26" name="Rounded Rectangle 25"/>
          <p:cNvSpPr/>
          <p:nvPr/>
        </p:nvSpPr>
        <p:spPr>
          <a:xfrm>
            <a:off x="6766560" y="4754880"/>
            <a:ext cx="5074920" cy="749808"/>
          </a:xfrm>
          <a:prstGeom prst="roundRect">
            <a:avLst>
              <a:gd name="adj" fmla="val 14634"/>
            </a:avLst>
          </a:prstGeom>
          <a:solidFill>
            <a:srgbClr val="FBF5E8"/>
          </a:solidFill>
          <a:ln w="12700">
            <a:solidFill>
              <a:srgbClr val="E6D5B0"/>
            </a:solidFill>
          </a:ln>
        </p:spPr>
        <p:txBody>
          <a:bodyPr wrap="square" lIns="137160" tIns="27432" rIns="137160" bIns="27432" rtlCol="0" anchor="ctr"/>
          <a:lstStyle/>
          <a:p>
            <a:pPr algn="r" rtl="1"/>
            <a:r>
              <a:rPr lang="ar-AE" altLang="en-US" sz="1350" b="1" i="0">
                <a:solidFill>
                  <a:srgbClr val="C9A96A"/>
                </a:solidFill>
                <a:latin typeface="Arial"/>
                <a:cs typeface="Arial"/>
              </a:rPr>
              <a:t>غدًا: </a:t>
            </a:r>
            <a:r>
              <a:rPr lang="ar-AE" altLang="en-US" sz="1350" b="1" i="0">
                <a:solidFill>
                  <a:srgbClr val="102A43"/>
                </a:solidFill>
                <a:latin typeface="Arial"/>
                <a:cs typeface="Arial"/>
              </a:rPr>
              <a:t>الفوسفور… العنصر الذي لا يمرّ بالهواء! ونقارن بين الدورات كلها.</a:t>
            </a: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ounded Rectangle 12"/>
          <p:cNvSpPr/>
          <p:nvPr/>
        </p:nvSpPr>
        <p:spPr>
          <a:xfrm>
            <a:off x="10241280" y="1344168"/>
            <a:ext cx="1618488" cy="365760"/>
          </a:xfrm>
          <a:prstGeom prst="roundRect">
            <a:avLst>
              <a:gd name="adj" fmla="val 50000"/>
            </a:avLst>
          </a:prstGeom>
          <a:solidFill>
            <a:srgbClr val="1C7B7D"/>
          </a:solidFill>
          <a:ln>
            <a:noFill/>
          </a:ln>
        </p:spPr>
        <p:txBody>
          <a:bodyPr wrap="square" lIns="36576" tIns="0" rIns="36576" bIns="0" rtlCol="0" anchor="ctr"/>
          <a:lstStyle/>
          <a:p>
            <a:pPr algn="ctr" rtl="1"/>
            <a:r>
              <a:rPr lang="ar-AE" altLang="en-US" sz="1300" b="1" i="0">
                <a:solidFill>
                  <a:srgbClr val="FFFFFF"/>
                </a:solidFill>
                <a:latin typeface="Arial"/>
                <a:cs typeface="Arial"/>
              </a:rPr>
              <a:t>التقويم الذاتي</a:t>
            </a:r>
          </a:p>
        </p:txBody>
      </p:sp>
      <p:sp>
        <p:nvSpPr>
          <p:cNvPr id="14" name="TextBox 13"/>
          <p:cNvSpPr txBox="1"/>
          <p:nvPr/>
        </p:nvSpPr>
        <p:spPr>
          <a:xfrm>
            <a:off x="5996178" y="1280160"/>
            <a:ext cx="413537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أين أنا من نواتج التعلم؟</a:t>
            </a:r>
          </a:p>
        </p:txBody>
      </p:sp>
      <p:pic>
        <p:nvPicPr>
          <p:cNvPr id="15" name="Picture 14" descr="badge_ahmed.png"/>
          <p:cNvPicPr>
            <a:picLocks noChangeAspect="1"/>
          </p:cNvPicPr>
          <p:nvPr/>
        </p:nvPicPr>
        <p:blipFill>
          <a:blip r:embed="rId4"/>
          <a:stretch>
            <a:fillRect/>
          </a:stretch>
        </p:blipFill>
        <p:spPr>
          <a:xfrm>
            <a:off x="2560320" y="1210464"/>
            <a:ext cx="566928" cy="600047"/>
          </a:xfrm>
          <a:prstGeom prst="rect">
            <a:avLst/>
          </a:prstGeom>
        </p:spPr>
      </p:pic>
      <p:sp>
        <p:nvSpPr>
          <p:cNvPr id="16" name="Rounded Rectangular Callout 15"/>
          <p:cNvSpPr/>
          <p:nvPr/>
        </p:nvSpPr>
        <p:spPr>
          <a:xfrm>
            <a:off x="3209544" y="1307592"/>
            <a:ext cx="2658618" cy="420624"/>
          </a:xfrm>
          <a:prstGeom prst="wedgeRoundRectCallout">
            <a:avLst>
              <a:gd name="adj1" fmla="val -54127"/>
              <a:gd name="adj2" fmla="val 18000"/>
              <a:gd name="adj3" fmla="val 16667"/>
            </a:avLst>
          </a:prstGeom>
          <a:solidFill>
            <a:srgbClr val="FFFFFF"/>
          </a:solidFill>
          <a:ln w="19050">
            <a:solidFill>
              <a:srgbClr val="1C2F5E"/>
            </a:solidFill>
          </a:ln>
        </p:spPr>
        <p:txBody>
          <a:bodyPr lIns="54864" tIns="27432" rIns="54864" bIns="27432" rtlCol="0" anchor="ctr"/>
          <a:lstStyle/>
          <a:p>
            <a:pPr algn="ctr"/>
            <a:endParaRPr/>
          </a:p>
        </p:txBody>
      </p:sp>
      <p:sp>
        <p:nvSpPr>
          <p:cNvPr id="17" name="TextBox 16"/>
          <p:cNvSpPr txBox="1"/>
          <p:nvPr/>
        </p:nvSpPr>
        <p:spPr>
          <a:xfrm>
            <a:off x="3246120" y="1307592"/>
            <a:ext cx="2585465" cy="420624"/>
          </a:xfrm>
          <a:prstGeom prst="rect">
            <a:avLst/>
          </a:prstGeom>
          <a:noFill/>
        </p:spPr>
        <p:txBody>
          <a:bodyPr wrap="square" lIns="36576" tIns="0" rIns="36576" bIns="0" anchor="ctr"/>
          <a:lstStyle/>
          <a:p>
            <a:pPr algn="r" rtl="1"/>
            <a:r>
              <a:rPr lang="ar-AE" altLang="en-US" sz="1150" b="1" i="0">
                <a:solidFill>
                  <a:srgbClr val="1C2F5E"/>
                </a:solidFill>
                <a:latin typeface="Arial"/>
                <a:cs typeface="Arial"/>
              </a:rPr>
              <a:t>أحمد: </a:t>
            </a:r>
            <a:r>
              <a:rPr lang="ar-AE" altLang="en-US" sz="1150" b="1" i="0">
                <a:solidFill>
                  <a:srgbClr val="102A43"/>
                </a:solidFill>
                <a:latin typeface="Arial"/>
                <a:cs typeface="Arial"/>
              </a:rPr>
              <a:t>هل حقّقتُ أهدافي اليوم؟</a:t>
            </a:r>
          </a:p>
        </p:txBody>
      </p:sp>
      <p:sp>
        <p:nvSpPr>
          <p:cNvPr id="18" name="Oval 17"/>
          <p:cNvSpPr/>
          <p:nvPr/>
        </p:nvSpPr>
        <p:spPr>
          <a:xfrm>
            <a:off x="5824728" y="1938528"/>
            <a:ext cx="566928" cy="566928"/>
          </a:xfrm>
          <a:prstGeom prst="ellipse">
            <a:avLst/>
          </a:prstGeom>
          <a:solidFill>
            <a:srgbClr val="2E9E5B"/>
          </a:solidFill>
          <a:ln>
            <a:noFill/>
          </a:ln>
        </p:spPr>
        <p:txBody>
          <a:bodyPr lIns="54864" tIns="27432" rIns="54864" bIns="27432" rtlCol="0" anchor="ctr"/>
          <a:lstStyle/>
          <a:p>
            <a:pPr algn="ctr"/>
            <a:endParaRPr/>
          </a:p>
        </p:txBody>
      </p:sp>
      <p:pic>
        <p:nvPicPr>
          <p:cNvPr id="19" name="Picture 18" descr="smile_w.png"/>
          <p:cNvPicPr>
            <a:picLocks noChangeAspect="1"/>
          </p:cNvPicPr>
          <p:nvPr/>
        </p:nvPicPr>
        <p:blipFill>
          <a:blip r:embed="rId5"/>
          <a:stretch>
            <a:fillRect/>
          </a:stretch>
        </p:blipFill>
        <p:spPr>
          <a:xfrm>
            <a:off x="5949452" y="2063252"/>
            <a:ext cx="317479" cy="317479"/>
          </a:xfrm>
          <a:prstGeom prst="rect">
            <a:avLst/>
          </a:prstGeom>
        </p:spPr>
      </p:pic>
      <p:sp>
        <p:nvSpPr>
          <p:cNvPr id="20" name="TextBox 19"/>
          <p:cNvSpPr txBox="1"/>
          <p:nvPr/>
        </p:nvSpPr>
        <p:spPr>
          <a:xfrm>
            <a:off x="5440680" y="2542032"/>
            <a:ext cx="1325880" cy="365760"/>
          </a:xfrm>
          <a:prstGeom prst="rect">
            <a:avLst/>
          </a:prstGeom>
          <a:noFill/>
        </p:spPr>
        <p:txBody>
          <a:bodyPr wrap="square" lIns="0" tIns="0" rIns="0" bIns="0" anchor="ctr"/>
          <a:lstStyle/>
          <a:p>
            <a:pPr algn="ctr" rtl="1"/>
            <a:r>
              <a:rPr lang="ar-AE" altLang="en-US" sz="1250" b="1" i="0">
                <a:solidFill>
                  <a:srgbClr val="2E9E5B"/>
                </a:solidFill>
                <a:latin typeface="Arial"/>
                <a:cs typeface="Arial"/>
              </a:rPr>
              <a:t>أتقنتُه</a:t>
            </a:r>
          </a:p>
        </p:txBody>
      </p:sp>
      <p:sp>
        <p:nvSpPr>
          <p:cNvPr id="21" name="TextBox 20"/>
          <p:cNvSpPr txBox="1"/>
          <p:nvPr/>
        </p:nvSpPr>
        <p:spPr>
          <a:xfrm>
            <a:off x="5440680" y="2907792"/>
            <a:ext cx="1325880" cy="274320"/>
          </a:xfrm>
          <a:prstGeom prst="rect">
            <a:avLst/>
          </a:prstGeom>
          <a:noFill/>
        </p:spPr>
        <p:txBody>
          <a:bodyPr wrap="square" lIns="0" tIns="0" rIns="0" bIns="0" anchor="ctr"/>
          <a:lstStyle/>
          <a:p>
            <a:pPr algn="ctr" rtl="1"/>
            <a:r>
              <a:rPr lang="ar-AE" altLang="en-US" sz="1050" b="1" i="0">
                <a:solidFill>
                  <a:srgbClr val="5A687D"/>
                </a:solidFill>
                <a:latin typeface="Arial"/>
                <a:cs typeface="Arial"/>
              </a:rPr>
              <a:t>إصبع واحد</a:t>
            </a:r>
          </a:p>
        </p:txBody>
      </p:sp>
      <p:sp>
        <p:nvSpPr>
          <p:cNvPr id="22" name="Oval 21"/>
          <p:cNvSpPr/>
          <p:nvPr/>
        </p:nvSpPr>
        <p:spPr>
          <a:xfrm>
            <a:off x="4407408" y="1938528"/>
            <a:ext cx="566928" cy="566928"/>
          </a:xfrm>
          <a:prstGeom prst="ellipse">
            <a:avLst/>
          </a:prstGeom>
          <a:solidFill>
            <a:srgbClr val="D9A21B"/>
          </a:solidFill>
          <a:ln>
            <a:noFill/>
          </a:ln>
        </p:spPr>
        <p:txBody>
          <a:bodyPr lIns="54864" tIns="27432" rIns="54864" bIns="27432" rtlCol="0" anchor="ctr"/>
          <a:lstStyle/>
          <a:p>
            <a:pPr algn="ctr"/>
            <a:endParaRPr/>
          </a:p>
        </p:txBody>
      </p:sp>
      <p:pic>
        <p:nvPicPr>
          <p:cNvPr id="23" name="Picture 22" descr="meh_w.png"/>
          <p:cNvPicPr>
            <a:picLocks noChangeAspect="1"/>
          </p:cNvPicPr>
          <p:nvPr/>
        </p:nvPicPr>
        <p:blipFill>
          <a:blip r:embed="rId6"/>
          <a:stretch>
            <a:fillRect/>
          </a:stretch>
        </p:blipFill>
        <p:spPr>
          <a:xfrm>
            <a:off x="4532132" y="2063252"/>
            <a:ext cx="317479" cy="317479"/>
          </a:xfrm>
          <a:prstGeom prst="rect">
            <a:avLst/>
          </a:prstGeom>
        </p:spPr>
      </p:pic>
      <p:sp>
        <p:nvSpPr>
          <p:cNvPr id="24" name="TextBox 23"/>
          <p:cNvSpPr txBox="1"/>
          <p:nvPr/>
        </p:nvSpPr>
        <p:spPr>
          <a:xfrm>
            <a:off x="4023360" y="2542032"/>
            <a:ext cx="1325880" cy="365760"/>
          </a:xfrm>
          <a:prstGeom prst="rect">
            <a:avLst/>
          </a:prstGeom>
          <a:noFill/>
        </p:spPr>
        <p:txBody>
          <a:bodyPr wrap="square" lIns="0" tIns="0" rIns="0" bIns="0" anchor="ctr"/>
          <a:lstStyle/>
          <a:p>
            <a:pPr algn="ctr" rtl="1"/>
            <a:r>
              <a:rPr lang="ar-AE" altLang="en-US" sz="1250" b="1" i="0">
                <a:solidFill>
                  <a:srgbClr val="D9A21B"/>
                </a:solidFill>
                <a:latin typeface="Arial"/>
                <a:cs typeface="Arial"/>
              </a:rPr>
              <a:t>أحتاج إلى تدريب</a:t>
            </a:r>
          </a:p>
        </p:txBody>
      </p:sp>
      <p:sp>
        <p:nvSpPr>
          <p:cNvPr id="25" name="TextBox 24"/>
          <p:cNvSpPr txBox="1"/>
          <p:nvPr/>
        </p:nvSpPr>
        <p:spPr>
          <a:xfrm>
            <a:off x="4023360" y="2907792"/>
            <a:ext cx="1325880" cy="274320"/>
          </a:xfrm>
          <a:prstGeom prst="rect">
            <a:avLst/>
          </a:prstGeom>
          <a:noFill/>
        </p:spPr>
        <p:txBody>
          <a:bodyPr wrap="square" lIns="0" tIns="0" rIns="0" bIns="0" anchor="ctr"/>
          <a:lstStyle/>
          <a:p>
            <a:pPr algn="ctr" rtl="1"/>
            <a:r>
              <a:rPr lang="ar-AE" altLang="en-US" sz="1050" b="1" i="0">
                <a:solidFill>
                  <a:srgbClr val="5A687D"/>
                </a:solidFill>
                <a:latin typeface="Arial"/>
                <a:cs typeface="Arial"/>
              </a:rPr>
              <a:t>إصبعان</a:t>
            </a:r>
          </a:p>
        </p:txBody>
      </p:sp>
      <p:sp>
        <p:nvSpPr>
          <p:cNvPr id="26" name="Oval 25"/>
          <p:cNvSpPr/>
          <p:nvPr/>
        </p:nvSpPr>
        <p:spPr>
          <a:xfrm>
            <a:off x="2990088" y="1938528"/>
            <a:ext cx="566928" cy="566928"/>
          </a:xfrm>
          <a:prstGeom prst="ellipse">
            <a:avLst/>
          </a:prstGeom>
          <a:solidFill>
            <a:srgbClr val="C8102E"/>
          </a:solidFill>
          <a:ln>
            <a:noFill/>
          </a:ln>
        </p:spPr>
        <p:txBody>
          <a:bodyPr lIns="54864" tIns="27432" rIns="54864" bIns="27432" rtlCol="0" anchor="ctr"/>
          <a:lstStyle/>
          <a:p>
            <a:pPr algn="ctr"/>
            <a:endParaRPr/>
          </a:p>
        </p:txBody>
      </p:sp>
      <p:pic>
        <p:nvPicPr>
          <p:cNvPr id="27" name="Picture 26" descr="frown_w.png"/>
          <p:cNvPicPr>
            <a:picLocks noChangeAspect="1"/>
          </p:cNvPicPr>
          <p:nvPr/>
        </p:nvPicPr>
        <p:blipFill>
          <a:blip r:embed="rId7"/>
          <a:stretch>
            <a:fillRect/>
          </a:stretch>
        </p:blipFill>
        <p:spPr>
          <a:xfrm>
            <a:off x="3114812" y="2063252"/>
            <a:ext cx="317479" cy="317479"/>
          </a:xfrm>
          <a:prstGeom prst="rect">
            <a:avLst/>
          </a:prstGeom>
        </p:spPr>
      </p:pic>
      <p:sp>
        <p:nvSpPr>
          <p:cNvPr id="28" name="TextBox 27"/>
          <p:cNvSpPr txBox="1"/>
          <p:nvPr/>
        </p:nvSpPr>
        <p:spPr>
          <a:xfrm>
            <a:off x="2606040" y="2542032"/>
            <a:ext cx="1325880" cy="365760"/>
          </a:xfrm>
          <a:prstGeom prst="rect">
            <a:avLst/>
          </a:prstGeom>
          <a:noFill/>
        </p:spPr>
        <p:txBody>
          <a:bodyPr wrap="square" lIns="0" tIns="0" rIns="0" bIns="0" anchor="ctr"/>
          <a:lstStyle/>
          <a:p>
            <a:pPr algn="ctr" rtl="1"/>
            <a:r>
              <a:rPr lang="ar-AE" altLang="en-US" sz="1250" b="1" i="0">
                <a:solidFill>
                  <a:srgbClr val="C8102E"/>
                </a:solidFill>
                <a:latin typeface="Arial"/>
                <a:cs typeface="Arial"/>
              </a:rPr>
              <a:t>أحتاج إلى مساعدة</a:t>
            </a:r>
          </a:p>
        </p:txBody>
      </p:sp>
      <p:sp>
        <p:nvSpPr>
          <p:cNvPr id="29" name="TextBox 28"/>
          <p:cNvSpPr txBox="1"/>
          <p:nvPr/>
        </p:nvSpPr>
        <p:spPr>
          <a:xfrm>
            <a:off x="2606040" y="2907792"/>
            <a:ext cx="1325880" cy="274320"/>
          </a:xfrm>
          <a:prstGeom prst="rect">
            <a:avLst/>
          </a:prstGeom>
          <a:noFill/>
        </p:spPr>
        <p:txBody>
          <a:bodyPr wrap="square" lIns="0" tIns="0" rIns="0" bIns="0" anchor="ctr"/>
          <a:lstStyle/>
          <a:p>
            <a:pPr algn="ctr" rtl="1"/>
            <a:r>
              <a:rPr lang="ar-AE" altLang="en-US" sz="1050" b="1" i="0">
                <a:solidFill>
                  <a:srgbClr val="5A687D"/>
                </a:solidFill>
                <a:latin typeface="Arial"/>
                <a:cs typeface="Arial"/>
              </a:rPr>
              <a:t>ثلاثة أصابع</a:t>
            </a:r>
          </a:p>
        </p:txBody>
      </p:sp>
      <p:sp>
        <p:nvSpPr>
          <p:cNvPr id="30" name="Rounded Rectangle 29"/>
          <p:cNvSpPr/>
          <p:nvPr/>
        </p:nvSpPr>
        <p:spPr>
          <a:xfrm>
            <a:off x="6903720" y="3310128"/>
            <a:ext cx="4937760" cy="621792"/>
          </a:xfrm>
          <a:prstGeom prst="roundRect">
            <a:avLst>
              <a:gd name="adj" fmla="val 14705"/>
            </a:avLst>
          </a:prstGeom>
          <a:solidFill>
            <a:srgbClr val="FFFFFF"/>
          </a:solidFill>
          <a:ln w="12700">
            <a:solidFill>
              <a:srgbClr val="D5DDE8"/>
            </a:solidFill>
          </a:ln>
        </p:spPr>
        <p:txBody>
          <a:bodyPr wrap="square" tIns="18288" bIns="18288" rtlCol="0" anchor="ctr"/>
          <a:lstStyle/>
          <a:p>
            <a:pPr algn="r" rtl="1"/>
            <a:r>
              <a:rPr lang="ar-AE" altLang="en-US" sz="1300" b="1" i="0">
                <a:solidFill>
                  <a:srgbClr val="5B3B91"/>
                </a:solidFill>
                <a:latin typeface="Arial"/>
                <a:cs typeface="Arial"/>
              </a:rPr>
              <a:t>1. </a:t>
            </a:r>
            <a:r>
              <a:rPr lang="ar-AE" altLang="en-US" sz="1250" b="1" i="0">
                <a:solidFill>
                  <a:srgbClr val="102A43"/>
                </a:solidFill>
                <a:latin typeface="Arial"/>
                <a:cs typeface="Arial"/>
              </a:rPr>
              <a:t>يفسّر لماذا لا تستطيع معظم الكائنات الحية استخدام نيتروجين الهواء مباشرة، ويصف طرق تثبيت النيتروجين.</a:t>
            </a:r>
          </a:p>
        </p:txBody>
      </p:sp>
      <p:sp>
        <p:nvSpPr>
          <p:cNvPr id="31" name="Rounded Rectangle 30"/>
          <p:cNvSpPr/>
          <p:nvPr/>
        </p:nvSpPr>
        <p:spPr>
          <a:xfrm>
            <a:off x="5897880" y="343814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2" name="Rounded Rectangle 31"/>
          <p:cNvSpPr/>
          <p:nvPr/>
        </p:nvSpPr>
        <p:spPr>
          <a:xfrm>
            <a:off x="4480560" y="343814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3" name="Rounded Rectangle 32"/>
          <p:cNvSpPr/>
          <p:nvPr/>
        </p:nvSpPr>
        <p:spPr>
          <a:xfrm>
            <a:off x="3063240" y="343814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4" name="Rounded Rectangle 33"/>
          <p:cNvSpPr/>
          <p:nvPr/>
        </p:nvSpPr>
        <p:spPr>
          <a:xfrm>
            <a:off x="6903720" y="4041648"/>
            <a:ext cx="4937760" cy="621792"/>
          </a:xfrm>
          <a:prstGeom prst="roundRect">
            <a:avLst>
              <a:gd name="adj" fmla="val 14705"/>
            </a:avLst>
          </a:prstGeom>
          <a:solidFill>
            <a:srgbClr val="FFFFFF"/>
          </a:solidFill>
          <a:ln w="12700">
            <a:solidFill>
              <a:srgbClr val="D5DDE8"/>
            </a:solidFill>
          </a:ln>
        </p:spPr>
        <p:txBody>
          <a:bodyPr wrap="square" tIns="18288" bIns="18288" rtlCol="0" anchor="ctr"/>
          <a:lstStyle/>
          <a:p>
            <a:pPr algn="r" rtl="1"/>
            <a:r>
              <a:rPr lang="ar-AE" altLang="en-US" sz="1300" b="1" i="0">
                <a:solidFill>
                  <a:srgbClr val="5B3B91"/>
                </a:solidFill>
                <a:latin typeface="Arial"/>
                <a:cs typeface="Arial"/>
              </a:rPr>
              <a:t>2. </a:t>
            </a:r>
            <a:r>
              <a:rPr lang="ar-AE" altLang="en-US" sz="1250" b="1" i="0">
                <a:solidFill>
                  <a:srgbClr val="102A43"/>
                </a:solidFill>
                <a:latin typeface="Arial"/>
                <a:cs typeface="Arial"/>
              </a:rPr>
              <a:t>يتتبّع انتقال النيتروجين عبر الشبكة الغذائية وعودته إلى التربة.</a:t>
            </a:r>
          </a:p>
        </p:txBody>
      </p:sp>
      <p:sp>
        <p:nvSpPr>
          <p:cNvPr id="35" name="Rounded Rectangle 34"/>
          <p:cNvSpPr/>
          <p:nvPr/>
        </p:nvSpPr>
        <p:spPr>
          <a:xfrm>
            <a:off x="5897880" y="4169663"/>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6" name="Rounded Rectangle 35"/>
          <p:cNvSpPr/>
          <p:nvPr/>
        </p:nvSpPr>
        <p:spPr>
          <a:xfrm>
            <a:off x="4480560" y="4169663"/>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7" name="Rounded Rectangle 36"/>
          <p:cNvSpPr/>
          <p:nvPr/>
        </p:nvSpPr>
        <p:spPr>
          <a:xfrm>
            <a:off x="3063240" y="4169663"/>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8" name="Rounded Rectangle 37"/>
          <p:cNvSpPr/>
          <p:nvPr/>
        </p:nvSpPr>
        <p:spPr>
          <a:xfrm>
            <a:off x="6903720" y="4773168"/>
            <a:ext cx="4937760" cy="621792"/>
          </a:xfrm>
          <a:prstGeom prst="roundRect">
            <a:avLst>
              <a:gd name="adj" fmla="val 14705"/>
            </a:avLst>
          </a:prstGeom>
          <a:solidFill>
            <a:srgbClr val="FFFFFF"/>
          </a:solidFill>
          <a:ln w="12700">
            <a:solidFill>
              <a:srgbClr val="D5DDE8"/>
            </a:solidFill>
          </a:ln>
        </p:spPr>
        <p:txBody>
          <a:bodyPr wrap="square" tIns="18288" bIns="18288" rtlCol="0" anchor="ctr"/>
          <a:lstStyle/>
          <a:p>
            <a:pPr algn="r" rtl="1"/>
            <a:r>
              <a:rPr lang="ar-AE" altLang="en-US" sz="1300" b="1" i="0">
                <a:solidFill>
                  <a:srgbClr val="5B3B91"/>
                </a:solidFill>
                <a:latin typeface="Arial"/>
                <a:cs typeface="Arial"/>
              </a:rPr>
              <a:t>3. </a:t>
            </a:r>
            <a:r>
              <a:rPr lang="ar-AE" altLang="en-US" sz="1250" b="1" i="0">
                <a:solidFill>
                  <a:srgbClr val="102A43"/>
                </a:solidFill>
                <a:latin typeface="Arial"/>
                <a:cs typeface="Arial"/>
              </a:rPr>
              <a:t>يميّز بين تثبيت النيتروجين وإزالته، ويحلّل أثر الإفراط في استخدام الأسمدة.</a:t>
            </a:r>
          </a:p>
        </p:txBody>
      </p:sp>
      <p:sp>
        <p:nvSpPr>
          <p:cNvPr id="39" name="Rounded Rectangle 38"/>
          <p:cNvSpPr/>
          <p:nvPr/>
        </p:nvSpPr>
        <p:spPr>
          <a:xfrm>
            <a:off x="5897880" y="490118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40" name="Rounded Rectangle 39"/>
          <p:cNvSpPr/>
          <p:nvPr/>
        </p:nvSpPr>
        <p:spPr>
          <a:xfrm>
            <a:off x="4480560" y="490118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41" name="Rounded Rectangle 40"/>
          <p:cNvSpPr/>
          <p:nvPr/>
        </p:nvSpPr>
        <p:spPr>
          <a:xfrm>
            <a:off x="3063240" y="490118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581025" y="4152900"/>
            <a:ext cx="133350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145268" y="1344168"/>
            <a:ext cx="1714500"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التقويم الختامي</a:t>
            </a:r>
          </a:p>
        </p:txBody>
      </p:sp>
      <p:sp>
        <p:nvSpPr>
          <p:cNvPr id="21" name="TextBox 20"/>
          <p:cNvSpPr txBox="1"/>
          <p:nvPr/>
        </p:nvSpPr>
        <p:spPr>
          <a:xfrm>
            <a:off x="2606040" y="1280160"/>
            <a:ext cx="742950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بطاقة الخروج</a:t>
            </a:r>
          </a:p>
        </p:txBody>
      </p:sp>
      <p:sp>
        <p:nvSpPr>
          <p:cNvPr id="22" name="Rounded Rectangle 21"/>
          <p:cNvSpPr/>
          <p:nvPr/>
        </p:nvSpPr>
        <p:spPr>
          <a:xfrm>
            <a:off x="4160520" y="1920240"/>
            <a:ext cx="7680960" cy="822960"/>
          </a:xfrm>
          <a:prstGeom prst="roundRect">
            <a:avLst>
              <a:gd name="adj" fmla="val 13333"/>
            </a:avLst>
          </a:prstGeom>
          <a:solidFill>
            <a:srgbClr val="FFFFFF"/>
          </a:solidFill>
          <a:ln w="12700">
            <a:solidFill>
              <a:srgbClr val="D5DDE8"/>
            </a:solidFill>
          </a:ln>
        </p:spPr>
        <p:txBody>
          <a:bodyPr lIns="54864" tIns="27432" rIns="54864" bIns="27432" rtlCol="0" anchor="ctr"/>
          <a:lstStyle/>
          <a:p>
            <a:pPr algn="ctr"/>
            <a:endParaRPr/>
          </a:p>
        </p:txBody>
      </p:sp>
      <p:sp>
        <p:nvSpPr>
          <p:cNvPr id="23" name="TextBox 22"/>
          <p:cNvSpPr txBox="1"/>
          <p:nvPr/>
        </p:nvSpPr>
        <p:spPr>
          <a:xfrm>
            <a:off x="11430000" y="2194560"/>
            <a:ext cx="274320" cy="274320"/>
          </a:xfrm>
          <a:prstGeom prst="rect">
            <a:avLst/>
          </a:prstGeom>
          <a:noFill/>
        </p:spPr>
        <p:txBody>
          <a:bodyPr wrap="square" lIns="0" tIns="0" rIns="0" bIns="0" anchor="ctr"/>
          <a:lstStyle/>
          <a:p>
            <a:pPr algn="ctr"/>
            <a:r>
              <a:rPr lang="ar-AE" altLang="en-US" sz="1500" b="1" i="0">
                <a:solidFill>
                  <a:srgbClr val="2E9E5B"/>
                </a:solidFill>
                <a:latin typeface="Arial"/>
                <a:cs typeface="Arial"/>
              </a:rPr>
              <a:t>●</a:t>
            </a:r>
          </a:p>
        </p:txBody>
      </p:sp>
      <p:sp>
        <p:nvSpPr>
          <p:cNvPr id="24" name="TextBox 23"/>
          <p:cNvSpPr txBox="1"/>
          <p:nvPr/>
        </p:nvSpPr>
        <p:spPr>
          <a:xfrm>
            <a:off x="4251960" y="1920240"/>
            <a:ext cx="7132320" cy="822960"/>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تُسمّى عملية تحويل غاز النيتروجين إلى شكل تستخدمه النباتات: ………………</a:t>
            </a:r>
          </a:p>
        </p:txBody>
      </p:sp>
      <p:sp>
        <p:nvSpPr>
          <p:cNvPr id="25" name="Rounded Rectangle 24"/>
          <p:cNvSpPr/>
          <p:nvPr/>
        </p:nvSpPr>
        <p:spPr>
          <a:xfrm>
            <a:off x="4160520" y="2852928"/>
            <a:ext cx="7680960" cy="822960"/>
          </a:xfrm>
          <a:prstGeom prst="roundRect">
            <a:avLst>
              <a:gd name="adj" fmla="val 13333"/>
            </a:avLst>
          </a:prstGeom>
          <a:solidFill>
            <a:srgbClr val="FFFFFF"/>
          </a:solidFill>
          <a:ln w="12700">
            <a:solidFill>
              <a:srgbClr val="D5DDE8"/>
            </a:solidFill>
          </a:ln>
        </p:spPr>
        <p:txBody>
          <a:bodyPr lIns="54864" tIns="27432" rIns="54864" bIns="27432" rtlCol="0" anchor="ctr"/>
          <a:lstStyle/>
          <a:p>
            <a:pPr algn="ctr"/>
            <a:endParaRPr/>
          </a:p>
        </p:txBody>
      </p:sp>
      <p:sp>
        <p:nvSpPr>
          <p:cNvPr id="26" name="TextBox 25"/>
          <p:cNvSpPr txBox="1"/>
          <p:nvPr/>
        </p:nvSpPr>
        <p:spPr>
          <a:xfrm>
            <a:off x="11430000" y="3127248"/>
            <a:ext cx="274320" cy="274320"/>
          </a:xfrm>
          <a:prstGeom prst="rect">
            <a:avLst/>
          </a:prstGeom>
          <a:noFill/>
        </p:spPr>
        <p:txBody>
          <a:bodyPr wrap="square" lIns="0" tIns="0" rIns="0" bIns="0" anchor="ctr"/>
          <a:lstStyle/>
          <a:p>
            <a:pPr algn="ctr"/>
            <a:r>
              <a:rPr lang="ar-AE" altLang="en-US" sz="1500" b="1" i="0">
                <a:solidFill>
                  <a:srgbClr val="E0A21B"/>
                </a:solidFill>
                <a:latin typeface="Arial"/>
                <a:cs typeface="Arial"/>
              </a:rPr>
              <a:t>▲</a:t>
            </a:r>
          </a:p>
        </p:txBody>
      </p:sp>
      <p:sp>
        <p:nvSpPr>
          <p:cNvPr id="27" name="TextBox 26"/>
          <p:cNvSpPr txBox="1"/>
          <p:nvPr/>
        </p:nvSpPr>
        <p:spPr>
          <a:xfrm>
            <a:off x="4251960" y="2852928"/>
            <a:ext cx="7132320" cy="822960"/>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سؤال بنمط TIMSS: أيّ الكائنات الآتية تعيد النيتروجين إلى الغلاف الجوي؟</a:t>
            </a:r>
          </a:p>
          <a:p>
            <a:pPr algn="r" rtl="1"/>
            <a:r>
              <a:rPr lang="ar-AE" altLang="en-US" sz="1450" b="1" i="0">
                <a:solidFill>
                  <a:srgbClr val="3E5570"/>
                </a:solidFill>
                <a:latin typeface="Arial"/>
                <a:cs typeface="Arial"/>
              </a:rPr>
              <a:t>(أ) النباتات      (ب) بكتيريا إزالة النيتروجين      (ج) الحيوانات      (د) الطحالب</a:t>
            </a:r>
          </a:p>
        </p:txBody>
      </p:sp>
      <p:sp>
        <p:nvSpPr>
          <p:cNvPr id="28" name="Rounded Rectangle 27"/>
          <p:cNvSpPr/>
          <p:nvPr/>
        </p:nvSpPr>
        <p:spPr>
          <a:xfrm>
            <a:off x="4160520" y="3785616"/>
            <a:ext cx="7680960" cy="822960"/>
          </a:xfrm>
          <a:prstGeom prst="roundRect">
            <a:avLst>
              <a:gd name="adj" fmla="val 13333"/>
            </a:avLst>
          </a:prstGeom>
          <a:solidFill>
            <a:srgbClr val="FFFFFF"/>
          </a:solidFill>
          <a:ln w="12700">
            <a:solidFill>
              <a:srgbClr val="D5DDE8"/>
            </a:solidFill>
          </a:ln>
        </p:spPr>
        <p:txBody>
          <a:bodyPr lIns="54864" tIns="27432" rIns="54864" bIns="27432" rtlCol="0" anchor="ctr"/>
          <a:lstStyle/>
          <a:p>
            <a:pPr algn="ctr"/>
            <a:endParaRPr/>
          </a:p>
        </p:txBody>
      </p:sp>
      <p:sp>
        <p:nvSpPr>
          <p:cNvPr id="29" name="TextBox 28"/>
          <p:cNvSpPr txBox="1"/>
          <p:nvPr/>
        </p:nvSpPr>
        <p:spPr>
          <a:xfrm>
            <a:off x="11430000" y="4059936"/>
            <a:ext cx="274320" cy="274320"/>
          </a:xfrm>
          <a:prstGeom prst="rect">
            <a:avLst/>
          </a:prstGeom>
          <a:noFill/>
        </p:spPr>
        <p:txBody>
          <a:bodyPr wrap="square" lIns="0" tIns="0" rIns="0" bIns="0" anchor="ctr"/>
          <a:lstStyle/>
          <a:p>
            <a:pPr algn="ctr"/>
            <a:r>
              <a:rPr lang="ar-AE" altLang="en-US" sz="1500" b="1" i="0">
                <a:solidFill>
                  <a:srgbClr val="C8102E"/>
                </a:solidFill>
                <a:latin typeface="Arial"/>
                <a:cs typeface="Arial"/>
              </a:rPr>
              <a:t>■</a:t>
            </a:r>
          </a:p>
        </p:txBody>
      </p:sp>
      <p:sp>
        <p:nvSpPr>
          <p:cNvPr id="30" name="TextBox 29"/>
          <p:cNvSpPr txBox="1"/>
          <p:nvPr/>
        </p:nvSpPr>
        <p:spPr>
          <a:xfrm>
            <a:off x="4251960" y="3785616"/>
            <a:ext cx="7132320" cy="822960"/>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توقّع: ماذا يحدث لخصوبة التربة لو اختفت البكتيريا المثبّتة للنيتروجين؟ فسّر.</a:t>
            </a:r>
          </a:p>
        </p:txBody>
      </p:sp>
      <p:pic>
        <p:nvPicPr>
          <p:cNvPr id="31"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20240"/>
            <a:ext cx="1371600" cy="1371600"/>
          </a:xfrm>
          <a:prstGeom prst="rect">
            <a:avLst/>
          </a:prstGeom>
        </p:spPr>
      </p:pic>
      <p:sp>
        <p:nvSpPr>
          <p:cNvPr id="32" name="Oval 31"/>
          <p:cNvSpPr/>
          <p:nvPr/>
        </p:nvSpPr>
        <p:spPr>
          <a:xfrm>
            <a:off x="3017520" y="3520440"/>
            <a:ext cx="731520" cy="731520"/>
          </a:xfrm>
          <a:prstGeom prst="ellipse">
            <a:avLst/>
          </a:prstGeom>
          <a:solidFill>
            <a:srgbClr val="C8102E"/>
          </a:solidFill>
          <a:ln>
            <a:noFill/>
          </a:ln>
        </p:spPr>
        <p:txBody>
          <a:bodyPr lIns="54864" tIns="27432" rIns="54864" bIns="27432" rtlCol="0" anchor="ctr"/>
          <a:lstStyle/>
          <a:p>
            <a:pPr algn="ctr"/>
            <a:endParaRPr/>
          </a:p>
        </p:txBody>
      </p:sp>
      <p:pic>
        <p:nvPicPr>
          <p:cNvPr id="33" name="Picture 32" descr="ticket_w.png"/>
          <p:cNvPicPr>
            <a:picLocks noChangeAspect="1"/>
          </p:cNvPicPr>
          <p:nvPr/>
        </p:nvPicPr>
        <p:blipFill>
          <a:blip r:embed="rId7"/>
          <a:stretch>
            <a:fillRect/>
          </a:stretch>
        </p:blipFill>
        <p:spPr>
          <a:xfrm>
            <a:off x="3178454" y="3681374"/>
            <a:ext cx="409651" cy="409651"/>
          </a:xfrm>
          <a:prstGeom prst="rect">
            <a:avLst/>
          </a:prstGeom>
        </p:spPr>
      </p:pic>
      <p:sp>
        <p:nvSpPr>
          <p:cNvPr id="34" name="TextBox 33"/>
          <p:cNvSpPr txBox="1"/>
          <p:nvPr/>
        </p:nvSpPr>
        <p:spPr>
          <a:xfrm>
            <a:off x="2651760" y="4315968"/>
            <a:ext cx="1463040" cy="548640"/>
          </a:xfrm>
          <a:prstGeom prst="rect">
            <a:avLst/>
          </a:prstGeom>
          <a:noFill/>
        </p:spPr>
        <p:txBody>
          <a:bodyPr wrap="square" lIns="73152" tIns="36576" rIns="73152" bIns="36576" anchor="ctr"/>
          <a:lstStyle/>
          <a:p>
            <a:pPr algn="ctr" rtl="1"/>
            <a:r>
              <a:rPr lang="ar-AE" altLang="en-US" sz="1200" b="1" i="0">
                <a:solidFill>
                  <a:srgbClr val="5A687D"/>
                </a:solidFill>
                <a:latin typeface="Arial"/>
                <a:cs typeface="Arial"/>
              </a:rPr>
              <a:t>أجب بمفردك على الورقة</a:t>
            </a:r>
          </a:p>
        </p:txBody>
      </p:sp>
      <p:sp>
        <p:nvSpPr>
          <p:cNvPr id="35" name="Rounded Rectangle 34"/>
          <p:cNvSpPr/>
          <p:nvPr/>
        </p:nvSpPr>
        <p:spPr>
          <a:xfrm>
            <a:off x="4160520" y="4754880"/>
            <a:ext cx="7680960" cy="749808"/>
          </a:xfrm>
          <a:prstGeom prst="roundRect">
            <a:avLst>
              <a:gd name="adj" fmla="val 14634"/>
            </a:avLst>
          </a:prstGeom>
          <a:solidFill>
            <a:srgbClr val="FBF5E8"/>
          </a:solidFill>
          <a:ln w="12700">
            <a:solidFill>
              <a:srgbClr val="E6D5B0"/>
            </a:solidFill>
          </a:ln>
        </p:spPr>
        <p:txBody>
          <a:bodyPr lIns="54864" tIns="27432" rIns="54864" bIns="27432" rtlCol="0" anchor="ctr"/>
          <a:lstStyle/>
          <a:p>
            <a:pPr algn="ctr"/>
            <a:endParaRPr/>
          </a:p>
        </p:txBody>
      </p:sp>
      <p:sp>
        <p:nvSpPr>
          <p:cNvPr id="36" name="TextBox 35"/>
          <p:cNvSpPr txBox="1"/>
          <p:nvPr/>
        </p:nvSpPr>
        <p:spPr>
          <a:xfrm>
            <a:off x="4251960" y="4754880"/>
            <a:ext cx="7498079" cy="749808"/>
          </a:xfrm>
          <a:prstGeom prst="rect">
            <a:avLst/>
          </a:prstGeom>
          <a:noFill/>
        </p:spPr>
        <p:txBody>
          <a:bodyPr wrap="square" lIns="73152" tIns="36576" rIns="73152" bIns="36576" anchor="ctr"/>
          <a:lstStyle/>
          <a:p>
            <a:pPr algn="r" rtl="1"/>
            <a:r>
              <a:rPr lang="ar-AE" altLang="en-US" sz="1300" b="1" i="0">
                <a:solidFill>
                  <a:srgbClr val="2E9E5B"/>
                </a:solidFill>
                <a:latin typeface="Arial"/>
                <a:cs typeface="Arial"/>
              </a:rPr>
              <a:t>● </a:t>
            </a:r>
            <a:r>
              <a:rPr lang="ar-AE" altLang="en-US" sz="1300" b="1" i="0">
                <a:solidFill>
                  <a:srgbClr val="102A43"/>
                </a:solidFill>
                <a:latin typeface="Arial"/>
                <a:cs typeface="Arial"/>
              </a:rPr>
              <a:t>أساسي    </a:t>
            </a:r>
            <a:r>
              <a:rPr lang="ar-AE" altLang="en-US" sz="1300" b="1" i="0">
                <a:solidFill>
                  <a:srgbClr val="E0A21B"/>
                </a:solidFill>
                <a:latin typeface="Arial"/>
                <a:cs typeface="Arial"/>
              </a:rPr>
              <a:t>▲ </a:t>
            </a:r>
            <a:r>
              <a:rPr lang="ar-AE" altLang="en-US" sz="1300" b="1" i="0">
                <a:solidFill>
                  <a:srgbClr val="102A43"/>
                </a:solidFill>
                <a:latin typeface="Arial"/>
                <a:cs typeface="Arial"/>
              </a:rPr>
              <a:t>متوسط    </a:t>
            </a:r>
            <a:r>
              <a:rPr lang="ar-AE" altLang="en-US" sz="1300" b="1" i="0">
                <a:solidFill>
                  <a:srgbClr val="C8102E"/>
                </a:solidFill>
                <a:latin typeface="Arial"/>
                <a:cs typeface="Arial"/>
              </a:rPr>
              <a:t>■ </a:t>
            </a:r>
            <a:r>
              <a:rPr lang="ar-AE" altLang="en-US" sz="1300" b="1" i="0">
                <a:solidFill>
                  <a:srgbClr val="102A43"/>
                </a:solidFill>
                <a:latin typeface="Arial"/>
                <a:cs typeface="Arial"/>
              </a:rPr>
              <a:t>متقدّم     —  أجب عن الأسئلة الثلاثة، وابدأ بما تستطيع!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1"/>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3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الأربعاء</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23/9/2026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النيتروجين</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تثبيت النيتروجين</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النيتروجين في الشبكة الغذائية</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إزالة النيتروجين وأثر الأسمدة</a:t>
            </a:r>
          </a:p>
        </p:txBody>
      </p:sp>
      <p:sp>
        <p:nvSpPr>
          <p:cNvPr id="13" name="Rounded Rectangle 12"/>
          <p:cNvSpPr/>
          <p:nvPr/>
        </p:nvSpPr>
        <p:spPr>
          <a:xfrm>
            <a:off x="10625328" y="1344168"/>
            <a:ext cx="1234440" cy="365760"/>
          </a:xfrm>
          <a:prstGeom prst="roundRect">
            <a:avLst>
              <a:gd name="adj" fmla="val 50000"/>
            </a:avLst>
          </a:prstGeom>
          <a:solidFill>
            <a:srgbClr val="102A43"/>
          </a:solidFill>
          <a:ln>
            <a:noFill/>
          </a:ln>
        </p:spPr>
        <p:txBody>
          <a:bodyPr wrap="square" lIns="36576" tIns="0" rIns="36576" bIns="0" rtlCol="0" anchor="ctr"/>
          <a:lstStyle/>
          <a:p>
            <a:pPr algn="ctr" rtl="1"/>
            <a:r>
              <a:rPr lang="ar-AE" altLang="en-US" sz="1300" b="1" i="0">
                <a:solidFill>
                  <a:srgbClr val="FFFFFF"/>
                </a:solidFill>
                <a:latin typeface="Arial"/>
                <a:cs typeface="Arial"/>
              </a:rPr>
              <a:t>ختام الحصة</a:t>
            </a:r>
          </a:p>
        </p:txBody>
      </p:sp>
      <p:sp>
        <p:nvSpPr>
          <p:cNvPr id="14" name="TextBox 13"/>
          <p:cNvSpPr txBox="1"/>
          <p:nvPr/>
        </p:nvSpPr>
        <p:spPr>
          <a:xfrm>
            <a:off x="2606040" y="1280160"/>
            <a:ext cx="790956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أبطال اليوم… وإلى اللقاء!</a:t>
            </a:r>
          </a:p>
        </p:txBody>
      </p:sp>
      <p:pic>
        <p:nvPicPr>
          <p:cNvPr id="15" name="Picture 14" descr="badge_hessa.png"/>
          <p:cNvPicPr>
            <a:picLocks noChangeAspect="1"/>
          </p:cNvPicPr>
          <p:nvPr/>
        </p:nvPicPr>
        <p:blipFill>
          <a:blip r:embed="rId4"/>
          <a:stretch>
            <a:fillRect/>
          </a:stretch>
        </p:blipFill>
        <p:spPr>
          <a:xfrm>
            <a:off x="10543031" y="1874519"/>
            <a:ext cx="1097280" cy="1138757"/>
          </a:xfrm>
          <a:prstGeom prst="rect">
            <a:avLst/>
          </a:prstGeom>
        </p:spPr>
      </p:pic>
      <p:sp>
        <p:nvSpPr>
          <p:cNvPr id="16" name="TextBox 15"/>
          <p:cNvSpPr txBox="1"/>
          <p:nvPr/>
        </p:nvSpPr>
        <p:spPr>
          <a:xfrm>
            <a:off x="10360151" y="3063240"/>
            <a:ext cx="1463040" cy="310896"/>
          </a:xfrm>
          <a:prstGeom prst="rect">
            <a:avLst/>
          </a:prstGeom>
          <a:noFill/>
        </p:spPr>
        <p:txBody>
          <a:bodyPr wrap="square" lIns="0" tIns="0" rIns="0" bIns="0" anchor="ctr"/>
          <a:lstStyle/>
          <a:p>
            <a:pPr algn="ctr" rtl="1"/>
            <a:r>
              <a:rPr lang="ar-AE" altLang="en-US" sz="1200" b="1" i="0">
                <a:solidFill>
                  <a:srgbClr val="7D1F2E"/>
                </a:solidFill>
                <a:latin typeface="Arial"/>
                <a:cs typeface="Arial"/>
              </a:rPr>
              <a:t>وسام حصة</a:t>
            </a:r>
          </a:p>
        </p:txBody>
      </p:sp>
      <p:sp>
        <p:nvSpPr>
          <p:cNvPr id="17" name="TextBox 16"/>
          <p:cNvSpPr txBox="1"/>
          <p:nvPr/>
        </p:nvSpPr>
        <p:spPr>
          <a:xfrm>
            <a:off x="10497311"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18" name="Picture 17" descr="badge_ahmed.png"/>
          <p:cNvPicPr>
            <a:picLocks noChangeAspect="1"/>
          </p:cNvPicPr>
          <p:nvPr/>
        </p:nvPicPr>
        <p:blipFill>
          <a:blip r:embed="rId5"/>
          <a:stretch>
            <a:fillRect/>
          </a:stretch>
        </p:blipFill>
        <p:spPr>
          <a:xfrm>
            <a:off x="9061703" y="1874519"/>
            <a:ext cx="1097280" cy="1161382"/>
          </a:xfrm>
          <a:prstGeom prst="rect">
            <a:avLst/>
          </a:prstGeom>
        </p:spPr>
      </p:pic>
      <p:sp>
        <p:nvSpPr>
          <p:cNvPr id="19" name="TextBox 18"/>
          <p:cNvSpPr txBox="1"/>
          <p:nvPr/>
        </p:nvSpPr>
        <p:spPr>
          <a:xfrm>
            <a:off x="8878824" y="3063240"/>
            <a:ext cx="1463040" cy="310896"/>
          </a:xfrm>
          <a:prstGeom prst="rect">
            <a:avLst/>
          </a:prstGeom>
          <a:noFill/>
        </p:spPr>
        <p:txBody>
          <a:bodyPr wrap="square" lIns="0" tIns="0" rIns="0" bIns="0" anchor="ctr"/>
          <a:lstStyle/>
          <a:p>
            <a:pPr algn="ctr" rtl="1"/>
            <a:r>
              <a:rPr lang="ar-AE" altLang="en-US" sz="1200" b="1" i="0">
                <a:solidFill>
                  <a:srgbClr val="1C2F5E"/>
                </a:solidFill>
                <a:latin typeface="Arial"/>
                <a:cs typeface="Arial"/>
              </a:rPr>
              <a:t>وسام أحمد</a:t>
            </a:r>
          </a:p>
        </p:txBody>
      </p:sp>
      <p:sp>
        <p:nvSpPr>
          <p:cNvPr id="20" name="TextBox 19"/>
          <p:cNvSpPr txBox="1"/>
          <p:nvPr/>
        </p:nvSpPr>
        <p:spPr>
          <a:xfrm>
            <a:off x="9015984"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21" name="Picture 20" descr="badge_fahem.png"/>
          <p:cNvPicPr>
            <a:picLocks noChangeAspect="1"/>
          </p:cNvPicPr>
          <p:nvPr/>
        </p:nvPicPr>
        <p:blipFill>
          <a:blip r:embed="rId6"/>
          <a:stretch>
            <a:fillRect/>
          </a:stretch>
        </p:blipFill>
        <p:spPr>
          <a:xfrm>
            <a:off x="7580375" y="1874519"/>
            <a:ext cx="1097280" cy="1210401"/>
          </a:xfrm>
          <a:prstGeom prst="rect">
            <a:avLst/>
          </a:prstGeom>
        </p:spPr>
      </p:pic>
      <p:sp>
        <p:nvSpPr>
          <p:cNvPr id="22" name="TextBox 21"/>
          <p:cNvSpPr txBox="1"/>
          <p:nvPr/>
        </p:nvSpPr>
        <p:spPr>
          <a:xfrm>
            <a:off x="7397496" y="3063240"/>
            <a:ext cx="1463040" cy="310896"/>
          </a:xfrm>
          <a:prstGeom prst="rect">
            <a:avLst/>
          </a:prstGeom>
          <a:noFill/>
        </p:spPr>
        <p:txBody>
          <a:bodyPr wrap="square" lIns="0" tIns="0" rIns="0" bIns="0" anchor="ctr"/>
          <a:lstStyle/>
          <a:p>
            <a:pPr algn="ctr" rtl="1"/>
            <a:r>
              <a:rPr lang="ar-AE" altLang="en-US" sz="1200" b="1" i="0">
                <a:solidFill>
                  <a:srgbClr val="1E6B3A"/>
                </a:solidFill>
                <a:latin typeface="Arial"/>
                <a:cs typeface="Arial"/>
              </a:rPr>
              <a:t>وسام فاهم</a:t>
            </a:r>
          </a:p>
        </p:txBody>
      </p:sp>
      <p:sp>
        <p:nvSpPr>
          <p:cNvPr id="23" name="TextBox 22"/>
          <p:cNvSpPr txBox="1"/>
          <p:nvPr/>
        </p:nvSpPr>
        <p:spPr>
          <a:xfrm>
            <a:off x="7534656"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24" name="Picture 23" descr="badge_shaheen.png"/>
          <p:cNvPicPr>
            <a:picLocks noChangeAspect="1"/>
          </p:cNvPicPr>
          <p:nvPr/>
        </p:nvPicPr>
        <p:blipFill>
          <a:blip r:embed="rId7"/>
          <a:stretch>
            <a:fillRect/>
          </a:stretch>
        </p:blipFill>
        <p:spPr>
          <a:xfrm>
            <a:off x="6099047" y="1874519"/>
            <a:ext cx="1097280" cy="1134987"/>
          </a:xfrm>
          <a:prstGeom prst="rect">
            <a:avLst/>
          </a:prstGeom>
        </p:spPr>
      </p:pic>
      <p:sp>
        <p:nvSpPr>
          <p:cNvPr id="25" name="TextBox 24"/>
          <p:cNvSpPr txBox="1"/>
          <p:nvPr/>
        </p:nvSpPr>
        <p:spPr>
          <a:xfrm>
            <a:off x="5916167" y="3063240"/>
            <a:ext cx="1463040" cy="310896"/>
          </a:xfrm>
          <a:prstGeom prst="rect">
            <a:avLst/>
          </a:prstGeom>
          <a:noFill/>
        </p:spPr>
        <p:txBody>
          <a:bodyPr wrap="square" lIns="0" tIns="0" rIns="0" bIns="0" anchor="ctr"/>
          <a:lstStyle/>
          <a:p>
            <a:pPr algn="ctr" rtl="1"/>
            <a:r>
              <a:rPr lang="ar-AE" altLang="en-US" sz="1200" b="1" i="0">
                <a:solidFill>
                  <a:srgbClr val="6B3F1D"/>
                </a:solidFill>
                <a:latin typeface="Arial"/>
                <a:cs typeface="Arial"/>
              </a:rPr>
              <a:t>وسام شاهين</a:t>
            </a:r>
          </a:p>
        </p:txBody>
      </p:sp>
      <p:sp>
        <p:nvSpPr>
          <p:cNvPr id="26" name="TextBox 25"/>
          <p:cNvSpPr txBox="1"/>
          <p:nvPr/>
        </p:nvSpPr>
        <p:spPr>
          <a:xfrm>
            <a:off x="6053327"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27" name="Picture 26" descr="badge_maha.png"/>
          <p:cNvPicPr>
            <a:picLocks noChangeAspect="1"/>
          </p:cNvPicPr>
          <p:nvPr/>
        </p:nvPicPr>
        <p:blipFill>
          <a:blip r:embed="rId8"/>
          <a:stretch>
            <a:fillRect/>
          </a:stretch>
        </p:blipFill>
        <p:spPr>
          <a:xfrm>
            <a:off x="4617719" y="1874519"/>
            <a:ext cx="1097280" cy="1259421"/>
          </a:xfrm>
          <a:prstGeom prst="rect">
            <a:avLst/>
          </a:prstGeom>
        </p:spPr>
      </p:pic>
      <p:sp>
        <p:nvSpPr>
          <p:cNvPr id="28" name="TextBox 27"/>
          <p:cNvSpPr txBox="1"/>
          <p:nvPr/>
        </p:nvSpPr>
        <p:spPr>
          <a:xfrm>
            <a:off x="4434839" y="3063240"/>
            <a:ext cx="1463040" cy="310896"/>
          </a:xfrm>
          <a:prstGeom prst="rect">
            <a:avLst/>
          </a:prstGeom>
          <a:noFill/>
        </p:spPr>
        <p:txBody>
          <a:bodyPr wrap="square" lIns="0" tIns="0" rIns="0" bIns="0" anchor="ctr"/>
          <a:lstStyle/>
          <a:p>
            <a:pPr algn="ctr" rtl="1"/>
            <a:r>
              <a:rPr lang="ar-AE" altLang="en-US" sz="1200" b="1" i="0">
                <a:solidFill>
                  <a:srgbClr val="0F7C73"/>
                </a:solidFill>
                <a:latin typeface="Arial"/>
                <a:cs typeface="Arial"/>
              </a:rPr>
              <a:t>وسام مها</a:t>
            </a:r>
          </a:p>
        </p:txBody>
      </p:sp>
      <p:sp>
        <p:nvSpPr>
          <p:cNvPr id="29" name="TextBox 28"/>
          <p:cNvSpPr txBox="1"/>
          <p:nvPr/>
        </p:nvSpPr>
        <p:spPr>
          <a:xfrm>
            <a:off x="4571999"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sp>
        <p:nvSpPr>
          <p:cNvPr id="30" name="Rounded Rectangle 29"/>
          <p:cNvSpPr/>
          <p:nvPr/>
        </p:nvSpPr>
        <p:spPr>
          <a:xfrm>
            <a:off x="2697480" y="1874519"/>
            <a:ext cx="1572768" cy="1819656"/>
          </a:xfrm>
          <a:prstGeom prst="roundRect">
            <a:avLst>
              <a:gd name="adj" fmla="val 6976"/>
            </a:avLst>
          </a:prstGeom>
          <a:solidFill>
            <a:srgbClr val="FBF5E8"/>
          </a:solidFill>
          <a:ln w="12700">
            <a:solidFill>
              <a:srgbClr val="E6D5B0"/>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31" name="Picture 30" descr="trophy_g.png"/>
          <p:cNvPicPr>
            <a:picLocks noChangeAspect="1"/>
          </p:cNvPicPr>
          <p:nvPr/>
        </p:nvPicPr>
        <p:blipFill>
          <a:blip r:embed="rId9"/>
          <a:stretch>
            <a:fillRect/>
          </a:stretch>
        </p:blipFill>
        <p:spPr>
          <a:xfrm>
            <a:off x="3163824" y="2011680"/>
            <a:ext cx="640080" cy="640080"/>
          </a:xfrm>
          <a:prstGeom prst="rect">
            <a:avLst/>
          </a:prstGeom>
        </p:spPr>
      </p:pic>
      <p:sp>
        <p:nvSpPr>
          <p:cNvPr id="32" name="TextBox 31"/>
          <p:cNvSpPr txBox="1"/>
          <p:nvPr/>
        </p:nvSpPr>
        <p:spPr>
          <a:xfrm>
            <a:off x="2743200" y="2697480"/>
            <a:ext cx="1481328" cy="914400"/>
          </a:xfrm>
          <a:prstGeom prst="rect">
            <a:avLst/>
          </a:prstGeom>
          <a:noFill/>
        </p:spPr>
        <p:txBody>
          <a:bodyPr wrap="square" lIns="73152" tIns="36576" rIns="73152" bIns="36576" anchor="ctr"/>
          <a:lstStyle/>
          <a:p>
            <a:pPr algn="ctr" rtl="1"/>
            <a:r>
              <a:rPr lang="ar-AE" altLang="en-US" sz="1250" b="1" i="0">
                <a:solidFill>
                  <a:srgbClr val="102A43"/>
                </a:solidFill>
                <a:latin typeface="Arial"/>
                <a:cs typeface="Arial"/>
              </a:rPr>
              <a:t>نصفّق للمجموعات الفائزة!</a:t>
            </a:r>
          </a:p>
        </p:txBody>
      </p:sp>
      <p:sp>
        <p:nvSpPr>
          <p:cNvPr id="33" name="Rounded Rectangle 32"/>
          <p:cNvSpPr/>
          <p:nvPr/>
        </p:nvSpPr>
        <p:spPr>
          <a:xfrm>
            <a:off x="6492240" y="3931920"/>
            <a:ext cx="5349240" cy="1572768"/>
          </a:xfrm>
          <a:prstGeom prst="roundRect">
            <a:avLst>
              <a:gd name="adj" fmla="val 8139"/>
            </a:avLst>
          </a:prstGeom>
          <a:solidFill>
            <a:srgbClr val="102A43"/>
          </a:solidFill>
          <a:ln>
            <a:noFill/>
          </a:ln>
        </p:spPr>
        <p:txBody>
          <a:bodyPr wrap="square" lIns="182880" rIns="182880" rtlCol="0" anchor="ctr"/>
          <a:lstStyle/>
          <a:p>
            <a:pPr algn="r" rtl="1"/>
            <a:r>
              <a:rPr lang="ar-AE" altLang="en-US" sz="1500" b="1" i="0">
                <a:solidFill>
                  <a:srgbClr val="C9A96A"/>
                </a:solidFill>
                <a:latin typeface="Arial"/>
                <a:cs typeface="Arial"/>
              </a:rPr>
              <a:t>غدًا: </a:t>
            </a:r>
            <a:r>
              <a:rPr lang="ar-AE" altLang="en-US" sz="1500" b="1" i="0">
                <a:solidFill>
                  <a:srgbClr val="FFFFFF"/>
                </a:solidFill>
                <a:latin typeface="Arial"/>
                <a:cs typeface="Arial"/>
              </a:rPr>
              <a:t>الفوسفور… العنصر الذي لا يمرّ بالهواء! ونقارن بين الدورات الأربع.</a:t>
            </a:r>
          </a:p>
        </p:txBody>
      </p:sp>
      <p:sp>
        <p:nvSpPr>
          <p:cNvPr id="34" name="Rounded Rectangle 33"/>
          <p:cNvSpPr/>
          <p:nvPr/>
        </p:nvSpPr>
        <p:spPr>
          <a:xfrm>
            <a:off x="2697480" y="3931920"/>
            <a:ext cx="3657600" cy="1572768"/>
          </a:xfrm>
          <a:prstGeom prst="roundRect">
            <a:avLst>
              <a:gd name="adj" fmla="val 8139"/>
            </a:avLst>
          </a:prstGeom>
          <a:solidFill>
            <a:srgbClr val="F3F5F8"/>
          </a:solidFill>
          <a:ln w="12700">
            <a:solidFill>
              <a:srgbClr val="D5DDE8"/>
            </a:solidFill>
          </a:ln>
        </p:spPr>
        <p:txBody>
          <a:bodyPr wrap="square" lIns="137160" rIns="137160" rtlCol="0" anchor="ctr"/>
          <a:lstStyle/>
          <a:p>
            <a:pPr algn="r" rtl="1"/>
            <a:r>
              <a:rPr lang="ar-AE" altLang="en-US" sz="1400" b="1" i="0">
                <a:solidFill>
                  <a:srgbClr val="5B3B91"/>
                </a:solidFill>
                <a:latin typeface="Arial"/>
                <a:cs typeface="Arial"/>
              </a:rPr>
              <a:t>مهمتي على منصة ألف / البوابة الذكية:</a:t>
            </a:r>
          </a:p>
          <a:p>
            <a:pPr algn="r" rtl="1"/>
            <a:r>
              <a:rPr lang="ar-AE" altLang="en-US" sz="1300" b="1" i="0">
                <a:solidFill>
                  <a:srgbClr val="102A43"/>
                </a:solidFill>
                <a:latin typeface="Arial"/>
                <a:cs typeface="Arial"/>
              </a:rPr>
              <a:t>ابحث في مطبخ بيتك عن ثلاثة أطعمة غنية بالبروتين، واكتب: من أين حصلت على نيتروجينها؟</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2868</Words>
  <Application>Microsoft Office PowerPoint</Application>
  <PresentationFormat>Widescreen</PresentationFormat>
  <Paragraphs>458</Paragraphs>
  <Slides>23</Slides>
  <Notes>23</Notes>
  <HiddenSlides>0</HiddenSlides>
  <MMClips>9</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AHMED MOSTAFA SHEHATA MOHAMED</cp:lastModifiedBy>
  <cp:revision>7</cp:revision>
  <dcterms:created xsi:type="dcterms:W3CDTF">2013-01-27T09:14:16Z</dcterms:created>
  <dcterms:modified xsi:type="dcterms:W3CDTF">2026-09-27T12:12:21Z</dcterms:modified>
  <cp:category/>
</cp:coreProperties>
</file>