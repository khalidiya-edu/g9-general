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9" r:id="rId14"/>
    <p:sldId id="268" r:id="rId15"/>
    <p:sldId id="269" r:id="rId16"/>
    <p:sldId id="270" r:id="rId17"/>
    <p:sldId id="280" r:id="rId18"/>
    <p:sldId id="271" r:id="rId19"/>
    <p:sldId id="272" r:id="rId20"/>
    <p:sldId id="273" r:id="rId21"/>
    <p:sldId id="281" r:id="rId22"/>
    <p:sldId id="274" r:id="rId23"/>
    <p:sldId id="275" r:id="rId24"/>
    <p:sldId id="276" r:id="rId25"/>
    <p:sldId id="277"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3" d="100"/>
          <a:sy n="63" d="100"/>
        </p:scale>
        <p:origin x="99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30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رحّب بالطلاب. جهّز قبل الحصة: جدول المقارنة بين الدورات الأربع مطبوعًا (نسخة لكل مجموعة)، وورقة مخطط دورة الفوسفور بفراغاتها، وبطاقات الخروج.</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قيمتا اليوم: التنظيم الذاتي والانضباط (إنجاز جدول المقارنة في وقته)، والتعلم المستمر (ربط الدرس بغذائنا وبيئتنا).</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ذكّر بقوانين الصف بسرعة.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ذكّر بالأوسمة الخمسة، ونبّه إلى أن اليوم هو الحصة الأخيرة في الدرس: ستُعلن نتيجة المنافسة الأسبوعية.</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الإجابات: 1) صح  2) خطأ – بكتيريا إزالة النيتروجين هي التي تعيده إلى الغلاف الجوي  3) صح. اربط العبارة 3 بما سنتعلمه اليوم: الفوسفور أيضًا يسبب تكاثر الطحالب.</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قبلي بالتصويت (رفع الأيدي). لا تحسم الإجابة الآن. الإجابة الأدق: «أكلتُه» – يمتص النبات الفوسفات من التربة، ثم ينتقل إلى الحيوان فالإنسان عبر الغذاء (مثل الحليب ومشتقاته والأسماك والبقوليات). ماء الشرب قد يحتوي كميات قليلة جدًا من الفوسفات. سنتحقق من ذلك في الفيديو والقراءة.</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اسأل: «من خلال التهيئة، ماذا تتوقعون أن نتعلم اليوم؟» استمع لتوقعات 2–3 طلاب، ثم اضغط لإظهار الهدف، ثم اضغط مرة أخرى لإظهار النواتج. اقرأ كل ناتج واطلب من طالب أن يشرحه بلغته. تبقى النواتج ظاهرة في لوحة «نواتج التعلم» طوال الحصة، ويشير السهم الأحمر على هرم بلوم إلى مستوى كل نشاط.</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اعرض خط سير الحصة سريعًا.</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مفردات داعمة لفهم الدورة الفسفورية وأثر الإنسان. اطلب من المجموعات توقّع المعنى قبل الضغط على المصطلح. راجع سريعًا مصطلحات الدرس الرسمية: المادة، المادة المغذية، الدورة الجيوكيميائية الحيوية، تثبيت النيتروجين، إزالة النيتروجين.</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بداية الناتج الأول. استراتيجية القراءة: النمذجة (كتاب المعلم) – اقرأ جملة بصوت مرتفع ثم توقّف للتحقق من الفهم. اضغط على الرقم لإظهار الإجابة. عُد إلى لغز التهيئة: الفوسفور وصل إلى عظامنا عبر الغذاء (التربة ← المنتجات ← المستهلكات).</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فيديو مقتطع (1:43) بتعليق عربي. أوقفه عند الدقيقة 0:36 (نهاية الدورة القصيرة على اليابسة) واسأل: ماذا يحدث للفوسفور عندما يموت الكائن الحي؟ ثم أكمل. الإجابات: 1) بأكل النباتات أو حيوانات أخرى. 2) ينجرف مع جريان المياه إلى المحيط ويترسّب في القاع. 3) يتحوّل قاع المحيط إلى يابسة عبر ملايين السنين، ثم تتعرض الصخور للتجوية فيتحرّر الفوسفور.</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تتبّع مع الطلاب الأسهم في الشكل 21: على اليابسة (النباتات ← الحيوانات البرية ← الفضلات ← المحللات ← الفوسفات القابل للذوبان في التربة) وفي الماء (الفوسفات الذائب ← الطحالب والنباتات المائية ← الحيوانات البحرية ← الرواسب العميقة). أكّد أن الفوسفور لا يمرّ بالغلاف الجوي، وأن الصخور والرواسب مخزنه الرئيس. تمايز: اطلب من الطلاب فوق المستوى توقّع أثر زيادة التجوية في كمية الفوسفور المتاحة.</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المختبر الافتراضي – المحطة 1 (3 دقائق، تطبيق). الترتيب الصحيح: تجوية الصخرة وتعريتها (آلاف السنين) ← امتصاص الجذور للفوسفات الذائب (أيام) ← التغذّي: الغزال يأكل النبات (أيام) ← الموت والتحلّل (سنوات) ← [الدورة القصيرة: امتصاص النبات من جديد] ← الجريان إلى المحيط ← الترسيب في القاع (آلاف السنين) ← تكوّن صخر جديد (ملايين السنين) ← تكوّن الجبال. كل خيار يجعل الفوسفور يمرّ بالهواء يُرفض ويظهر شريط «الفوسفور لا يمرّ بالهواء!». اسأل: لماذا الدورة الطويلة أبطأ بكثير؟ هذا يمهّد لتقويم الناتج الأول (مخطط الدورة) ولسؤال بطاقة الخروج (رحلة ذرة من صخرة إلى عظام غزال).</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الأول (المخطط مقتبس من أسئلة تقويم الوحدة). اضغط على كل فراغ لإظهار إجابته: (1) المحللات (2) الرواسب (3) صخر جديد. تحدّي شاهين: تزداد كمية الفوسفات في تربة الوادي ومياهه، فيزداد نمو النباتات وترتفع إنتاجية الحيوانات التي تتغذى عليها. لأصحاب الهمم: ورقة مخطط مع بنك كلمات للفراغات الثلاثة.</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فيديو قصير (24 ثانية) بتعليق عربي. الإجابات: 1) دورتا الكربون والنيتروجين (ودورة الماء أيضًا ببخار الماء). 2) عبر التربة والماء وطبقات الصخور. 3) لأنه لا يمرّ بالهواء، فحركته بطيئة وكمياته المتاحة قليلة؛ لذا يختلّ توازنه بسهولة. بداية الناتج الثاني: المقارنة بين الدورات.</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نشاط تعاوني (5 دقائق): توزّع كل مجموعة الأدوار وتكمل جدولًا مطبوعًا بالأعمدة نفسها، مستعينة بالأشكال 17 و18 و20 و21 في كتاب الطالب (التقويم التكويني في كتاب المعلم). بعد انتهاء الوقت اضغط لإظهار الإجابات صفًّا صفًّا، واطلب من المجموعات تصحيح جداولها. السؤال المحوري: ما الذي تنفرد به دورة الفوسفور؟ (لا مرحلة غازية؛ مخزنها الرئيس الصخور). تمايز: جدول مكتمل جزئيًا لمن يحتاج إلى دعم.</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المختبر الافتراضي – المحطة 2 (3 دقائق، تحليل). 14 بطاقة تُصنّف في 5 صناديق: الماء (التبخّر، التكاثف، النتح)، الكربون والأكسجين (البناء الضوئي، التنفس الخلوي، احتراق الوقود الأحفوري)، النيتروجين (التثبيت، النترتة، الإزالة)، الفوسفور (تحرّر الفوسفات بالتجوية، امتصاص الجذور للفوسفات، بناء العظام والأسنان)، أكثر من دورة (التحلّل بالمحللات، تراكم الرواسب في قاع المحيط). عند اكتمال كل صندوق يظهر سطر «مرحلة غازية»، وتظهر «لا توجد!» للفوسفور فقط. بعدها سؤال TIMSS داخل المختبر، ثم شريحة تقويم الناتج الثاني.</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الثاني. اضغط على رقم العملية لإظهار دورتها. 7) الرواسب تحبس الكربون (الأصداف والصخور الكلسية) والفوسفور معًا. 8) التحلل يعيد الكربون (CO₂) والنيتروجين (الأمونيا) والفوسفور (الفوسفات) إلى البيئة. سؤال TIMSS: (د) دورة الفوسفور. تحدٍّ إضافي شفهي (مراجعة القسم): قارن وقابل بين دورتين من اختيارك.</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فيديو مقتطع (1:03) بتعليق عربي. الإجابات: 1) لأن المزارعين يضيفون فوسفورًا زائدًا ويُزال النبات كاملًا عند الحصاد، فتنجرف الكميات الزائدة مع المياه. 2) زيادة المغذيات في المياه، وتؤدي إلى إفراط نمو الطحالب (انتشار الطحالب) وبعضها سام. 3) تغيير الممارسات الزراعية، وإدارة المخلفات الزراعية والصرف الصحي، وإعادة تدوير الفوسفور سمادًا.</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السلسلة تظهر خطوة خطوة بالنقر: قبل كل نقرة اسأل «ماذا تتوقعون بعد ذلك؟». حقيقة علمية: المدّ الأحمر (2008–2009) سببته طحالب دقيقة من السوطيات الدوّارة (Cochlodinium polykrikoides)، ومن العوامل المحتملة لظهوره زيادة المغذيات في المياه الساحلية من المصادر المنزلية والصناعية (Richlen وآخرون، 2010، مجلة Harmful Algae). اربط بدرس الأمس: النيتروجين الزائد يسهم أيضًا في الإثراء الغذائي. التكامل: التربية الإسلامية (النهي عن الإفساد في الأرض)، والدراسات الاجتماعية (الثروة السمكية وتحلية المياه).</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المختبر الافتراضي – المحطة 3 (3 دقائق، تقويم). الوضع الحالي (سماد كبير، صرف دون معالجة، منظفات بفوسفات): مدّ أحمر 100%، صفر أسماك، مرجان ميت، محطة التحلية متوقفة. منع الأسمدة وحده: الإنتاج الزراعي 30% والمدّ الأحمر مستمر (44%) لأن مياه الصرف ما زالت تضيف الفوسفور. كميات مدروسة + معالجة الصرف + منظفات بلا فوسفات: حلّ فعّال بثلاث نجوم في المجالات الثلاثة. رشّ المواد الكيميائية: يختفي المدّ الأحمر لكن تموت الأسماك والمرجان. هذه النتائج هي أدلة المجموعات في شريحة «مجلس الخبراء: قيّموا الحلول» التالية.</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تقويم تعاوني للناتج الثالث (مستوى التقويم في هرم بلوم): اضغط على حرف كل حل لإظهار الحكم، واطلب التعليل. (أ) غير مناسب: يضر بالمحاصيل والأمن الغذائي؛ المطلوب الترشيد لا المنع. (ب) و(ج) فعّالان: يقللان وصول المغذيات إلى البحر. (د) غير مناسب: يدمّر النظام البيئي كله. تحدّي شاهين (مراجعة القسم – التفكير الناقد): نقسم الأرض إلى أجزاء متساوية، ونضيف كميات مختلفة من السماد مع ثبات بقية الظروف، ونقيس نمو العشب، ونختار أقل كمية تعطي أفضل نمو.</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راجع الدرس كاملًا: اطلب من كل مجموعة تلخيص دورة واحدة في جملة (استراتيجية دعم الكتابة: كتابة ملخص – كتاب المعلم). اربط بالفكرة الرئيسة للقسم ومن الحصة الأولى: المادة لا تفنى ولا تُستحدث، بل تُعاد دورتها.</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يرفع كل طالب عدد أصابع يعبّر عن مستواه في كل ناتج (1 أتقنته، 2 أحتاج إلى تدريب، 3 أحتاج إلى مساعدة). دوّن أسماء من يحتاجون إلى دعم للمتابعة في الحصة التالية وفي مهام منصة ألف.</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الإجابات: 1) دورات الماء والكربون (والأكسجين) والنيتروجين والفوسفور. 2) (أ) طمر المواد العضوية في قاع المحيطات. 3) تجوية الصخرة ← فوسفات في التربة ← يمتصه النبات ← يأكل الغزال النبات فيبني عظامه ← يموت فتحلله المحللات ← ينجرف الفوسفات إلى البحر ويترسّب ← تتكوّن صخور جديدة. لأصحاب الهمم: بطاقة بصور لترتيب رحلة الفوسفور.</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r" rtl="1"/>
            <a:r>
              <a:rPr lang="ar-AE">
                <a:cs typeface="Arial"/>
              </a:rPr>
              <a:t>أعلن المجموعات الفائزة بأوسمة الأسبوع، واشكر الطلاب على مشاركتهم. المهمة المنزلية تدعم مهارة الكتابة (كتابة ملخص). الحصة القادمة وفق دليل المعلم: علم الأحياء والمجتمع – أثر السدود في النظام البيئي، ثم تقويم الوحدة.</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1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notesSlide" Target="../notesSlides/notesSlide6.xml"/><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0.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9.png"/><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slideLayout" Target="../slideLayouts/slideLayout7.xml"/><Relationship Id="rId7" Type="http://schemas.openxmlformats.org/officeDocument/2006/relationships/hyperlink" Target="https://claude.ai/artifact/39Rk7eQDP9FgkN5aEGafsi#s1" TargetMode="Externa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10" Type="http://schemas.openxmlformats.org/officeDocument/2006/relationships/image" Target="../media/image36.jpg"/><Relationship Id="rId4" Type="http://schemas.openxmlformats.org/officeDocument/2006/relationships/notesSlide" Target="../notesSlides/notesSlide13.xml"/><Relationship Id="rId9"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7.xml"/><Relationship Id="rId7" Type="http://schemas.openxmlformats.org/officeDocument/2006/relationships/image" Target="../media/image3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7.xml"/><Relationship Id="rId7" Type="http://schemas.openxmlformats.org/officeDocument/2006/relationships/image" Target="../media/image38.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7.xml"/><Relationship Id="rId7" Type="http://schemas.openxmlformats.org/officeDocument/2006/relationships/image" Target="../media/image39.png"/><Relationship Id="rId12" Type="http://schemas.openxmlformats.org/officeDocument/2006/relationships/image" Target="../media/image3.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5.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41.png"/><Relationship Id="rId4" Type="http://schemas.openxmlformats.org/officeDocument/2006/relationships/notesSlide" Target="../notesSlides/notesSlide16.xml"/><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slideLayout" Target="../slideLayouts/slideLayout7.xml"/><Relationship Id="rId7" Type="http://schemas.openxmlformats.org/officeDocument/2006/relationships/hyperlink" Target="https://claude.ai/artifact/39Rk7eQDP9FgkN5aEGafsi#s2" TargetMode="Externa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10" Type="http://schemas.openxmlformats.org/officeDocument/2006/relationships/image" Target="../media/image44.jpg"/><Relationship Id="rId4" Type="http://schemas.openxmlformats.org/officeDocument/2006/relationships/notesSlide" Target="../notesSlides/notesSlide17.xml"/><Relationship Id="rId9"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2.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Layout" Target="../slideLayouts/slideLayout7.xml"/><Relationship Id="rId7" Type="http://schemas.openxmlformats.org/officeDocument/2006/relationships/image" Target="../media/image45.png"/><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image" Target="../media/image7.png"/><Relationship Id="rId5" Type="http://schemas.openxmlformats.org/officeDocument/2006/relationships/image" Target="../media/image17.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7.png"/><Relationship Id="rId7" Type="http://schemas.openxmlformats.org/officeDocument/2006/relationships/image" Target="../media/image4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7.png"/><Relationship Id="rId9" Type="http://schemas.openxmlformats.org/officeDocument/2006/relationships/image" Target="../media/image50.png"/></Relationships>
</file>

<file path=ppt/slides/_rels/slide2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slideLayout" Target="../slideLayouts/slideLayout7.xml"/><Relationship Id="rId7" Type="http://schemas.openxmlformats.org/officeDocument/2006/relationships/hyperlink" Target="https://claude.ai/artifact/39Rk7eQDP9FgkN5aEGafsi#s3" TargetMode="Externa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10" Type="http://schemas.openxmlformats.org/officeDocument/2006/relationships/image" Target="../media/image53.jpg"/><Relationship Id="rId4" Type="http://schemas.openxmlformats.org/officeDocument/2006/relationships/notesSlide" Target="../notesSlides/notesSlide21.xml"/><Relationship Id="rId9" Type="http://schemas.openxmlformats.org/officeDocument/2006/relationships/image" Target="../media/image52.png"/></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7.xml"/><Relationship Id="rId7" Type="http://schemas.openxmlformats.org/officeDocument/2006/relationships/image" Target="../media/image54.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5.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7.png"/><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5669280" y="502920"/>
            <a:ext cx="6035040" cy="365760"/>
          </a:xfrm>
          <a:prstGeom prst="rect">
            <a:avLst/>
          </a:prstGeom>
          <a:noFill/>
        </p:spPr>
        <p:txBody>
          <a:bodyPr wrap="square" lIns="73152" tIns="36576" rIns="73152" bIns="36576" anchor="t"/>
          <a:lstStyle/>
          <a:p>
            <a:pPr algn="r" rtl="1"/>
            <a:r>
              <a:rPr lang="ar-AE" altLang="en-US" sz="1400" b="1" i="0">
                <a:solidFill>
                  <a:srgbClr val="5A687D"/>
                </a:solidFill>
                <a:latin typeface="Arial"/>
                <a:cs typeface="Arial"/>
              </a:rPr>
              <a:t>مدرسة الخالدية – الحلقة الثالثة بنين – الشرقية</a:t>
            </a:r>
          </a:p>
        </p:txBody>
      </p:sp>
      <p:sp>
        <p:nvSpPr>
          <p:cNvPr id="4" name="Rounded Rectangle 3"/>
          <p:cNvSpPr/>
          <p:nvPr/>
        </p:nvSpPr>
        <p:spPr>
          <a:xfrm>
            <a:off x="8732520" y="960120"/>
            <a:ext cx="2971800" cy="420624"/>
          </a:xfrm>
          <a:prstGeom prst="roundRect">
            <a:avLst>
              <a:gd name="adj" fmla="val 43478"/>
            </a:avLst>
          </a:prstGeom>
          <a:solidFill>
            <a:srgbClr val="102A43"/>
          </a:solidFill>
          <a:ln>
            <a:noFill/>
          </a:ln>
        </p:spPr>
        <p:txBody>
          <a:bodyPr wrap="square" lIns="73152" tIns="36576" rIns="73152" bIns="36576" rtlCol="0" anchor="ctr"/>
          <a:lstStyle/>
          <a:p>
            <a:pPr algn="ctr" rtl="1"/>
            <a:r>
              <a:rPr lang="ar-AE" altLang="en-US" sz="1400" b="1" i="0">
                <a:solidFill>
                  <a:srgbClr val="FFFFFF"/>
                </a:solidFill>
                <a:latin typeface="Arial"/>
                <a:cs typeface="Arial"/>
              </a:rPr>
              <a:t>العلوم | الصف التاسع العام</a:t>
            </a:r>
          </a:p>
        </p:txBody>
      </p:sp>
      <p:sp>
        <p:nvSpPr>
          <p:cNvPr id="5" name="TextBox 4"/>
          <p:cNvSpPr txBox="1"/>
          <p:nvPr/>
        </p:nvSpPr>
        <p:spPr>
          <a:xfrm>
            <a:off x="5120640" y="1481328"/>
            <a:ext cx="6583680" cy="960120"/>
          </a:xfrm>
          <a:prstGeom prst="rect">
            <a:avLst/>
          </a:prstGeom>
          <a:noFill/>
        </p:spPr>
        <p:txBody>
          <a:bodyPr wrap="square" lIns="73152" tIns="36576" rIns="73152" bIns="36576" anchor="ctr"/>
          <a:lstStyle/>
          <a:p>
            <a:pPr algn="r" rtl="1"/>
            <a:r>
              <a:rPr lang="ar-AE" altLang="en-US" sz="6000" b="1" i="0">
                <a:solidFill>
                  <a:srgbClr val="102A43"/>
                </a:solidFill>
                <a:latin typeface="Arial"/>
                <a:cs typeface="Arial"/>
              </a:rPr>
              <a:t>تدوير المادة</a:t>
            </a:r>
          </a:p>
        </p:txBody>
      </p:sp>
      <p:sp>
        <p:nvSpPr>
          <p:cNvPr id="6" name="TextBox 5"/>
          <p:cNvSpPr txBox="1"/>
          <p:nvPr/>
        </p:nvSpPr>
        <p:spPr>
          <a:xfrm>
            <a:off x="5120640" y="2468880"/>
            <a:ext cx="6583680" cy="594360"/>
          </a:xfrm>
          <a:prstGeom prst="rect">
            <a:avLst/>
          </a:prstGeom>
          <a:noFill/>
        </p:spPr>
        <p:txBody>
          <a:bodyPr wrap="square" lIns="73152" tIns="36576" rIns="73152" bIns="36576" anchor="ctr"/>
          <a:lstStyle/>
          <a:p>
            <a:pPr algn="r" rtl="1"/>
            <a:r>
              <a:rPr lang="ar-AE" altLang="en-US" sz="2800" b="1" i="0">
                <a:solidFill>
                  <a:srgbClr val="D2691E"/>
                </a:solidFill>
                <a:latin typeface="Arial"/>
                <a:cs typeface="Arial"/>
              </a:rPr>
              <a:t>الحصة الرابعة: دورة الفوسفور</a:t>
            </a:r>
          </a:p>
        </p:txBody>
      </p:sp>
      <p:sp>
        <p:nvSpPr>
          <p:cNvPr id="7" name="TextBox 6"/>
          <p:cNvSpPr txBox="1"/>
          <p:nvPr/>
        </p:nvSpPr>
        <p:spPr>
          <a:xfrm>
            <a:off x="5120640" y="3072384"/>
            <a:ext cx="6583680" cy="411480"/>
          </a:xfrm>
          <a:prstGeom prst="rect">
            <a:avLst/>
          </a:prstGeom>
          <a:noFill/>
        </p:spPr>
        <p:txBody>
          <a:bodyPr wrap="square" lIns="73152" tIns="36576" rIns="73152" bIns="36576" anchor="ctr"/>
          <a:lstStyle/>
          <a:p>
            <a:pPr algn="r" rtl="1"/>
            <a:r>
              <a:rPr lang="ar-AE" altLang="en-US" sz="1700" b="1" i="0">
                <a:solidFill>
                  <a:srgbClr val="5A687D"/>
                </a:solidFill>
                <a:latin typeface="Arial"/>
                <a:cs typeface="Arial"/>
              </a:rPr>
              <a:t>الوحدة الأولى: مبادئ علم البيئة  |  القسم الثالث</a:t>
            </a:r>
          </a:p>
        </p:txBody>
      </p:sp>
      <p:sp>
        <p:nvSpPr>
          <p:cNvPr id="8" name="Rounded Rectangle 7"/>
          <p:cNvSpPr/>
          <p:nvPr/>
        </p:nvSpPr>
        <p:spPr>
          <a:xfrm>
            <a:off x="7086600" y="3675887"/>
            <a:ext cx="4617720" cy="512064"/>
          </a:xfrm>
          <a:prstGeom prst="roundRect">
            <a:avLst>
              <a:gd name="adj" fmla="val 50000"/>
            </a:avLst>
          </a:prstGeom>
          <a:solidFill>
            <a:srgbClr val="FFFFFF"/>
          </a:solidFill>
          <a:ln w="190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9" name="Picture 8" descr="clock_g.png"/>
          <p:cNvPicPr>
            <a:picLocks noChangeAspect="1"/>
          </p:cNvPicPr>
          <p:nvPr/>
        </p:nvPicPr>
        <p:blipFill>
          <a:blip r:embed="rId4"/>
          <a:stretch>
            <a:fillRect/>
          </a:stretch>
        </p:blipFill>
        <p:spPr>
          <a:xfrm>
            <a:off x="11265408" y="3767328"/>
            <a:ext cx="329184" cy="329184"/>
          </a:xfrm>
          <a:prstGeom prst="rect">
            <a:avLst/>
          </a:prstGeom>
        </p:spPr>
      </p:pic>
      <p:sp>
        <p:nvSpPr>
          <p:cNvPr id="10" name="TextBox 9"/>
          <p:cNvSpPr txBox="1"/>
          <p:nvPr/>
        </p:nvSpPr>
        <p:spPr>
          <a:xfrm>
            <a:off x="7132320" y="3675887"/>
            <a:ext cx="4069080" cy="512064"/>
          </a:xfrm>
          <a:prstGeom prst="rect">
            <a:avLst/>
          </a:prstGeom>
          <a:noFill/>
        </p:spPr>
        <p:txBody>
          <a:bodyPr wrap="none" lIns="73152" tIns="36576" rIns="73152" bIns="36576" anchor="ctr"/>
          <a:lstStyle/>
          <a:p>
            <a:pPr algn="ctr" rtl="1"/>
            <a:r>
              <a:rPr lang="ar-AE" altLang="en-US" sz="1500" b="1" i="0">
                <a:solidFill>
                  <a:srgbClr val="102A43"/>
                </a:solidFill>
                <a:latin typeface="Arial"/>
                <a:cs typeface="Arial"/>
              </a:rPr>
              <a:t>الحصة 4 من 4  •  </a:t>
            </a:r>
            <a:r>
              <a:rPr lang="ar-AE" altLang="en-US" sz="1500" b="1" i="0">
                <a:solidFill>
                  <a:srgbClr val="D2691E"/>
                </a:solidFill>
                <a:latin typeface="Arial"/>
                <a:cs typeface="Arial"/>
              </a:rPr>
              <a:t>الخميس  24/9/2026</a:t>
            </a:r>
          </a:p>
        </p:txBody>
      </p:sp>
      <p:sp>
        <p:nvSpPr>
          <p:cNvPr id="11" name="Rounded Rectangle 10"/>
          <p:cNvSpPr/>
          <p:nvPr/>
        </p:nvSpPr>
        <p:spPr>
          <a:xfrm>
            <a:off x="5120640" y="4370832"/>
            <a:ext cx="6583680" cy="822960"/>
          </a:xfrm>
          <a:prstGeom prst="roundRect">
            <a:avLst>
              <a:gd name="adj" fmla="val 16666"/>
            </a:avLst>
          </a:prstGeom>
          <a:solidFill>
            <a:srgbClr val="FBF5E8"/>
          </a:solidFill>
          <a:ln w="12700">
            <a:solidFill>
              <a:srgbClr val="E6D5B0"/>
            </a:solidFill>
          </a:ln>
        </p:spPr>
        <p:txBody>
          <a:bodyPr wrap="square" lIns="164592" rIns="164592" rtlCol="0" anchor="ctr"/>
          <a:lstStyle/>
          <a:p>
            <a:pPr algn="r" rtl="1"/>
            <a:r>
              <a:rPr lang="ar-AE" altLang="en-US" sz="1600" b="1" i="0">
                <a:solidFill>
                  <a:srgbClr val="102A43"/>
                </a:solidFill>
                <a:latin typeface="Arial"/>
                <a:cs typeface="Arial"/>
              </a:rPr>
              <a:t>لغز اليوم: عنصرٌ في عظامك وأسنانك وDNA… لا يمرّ بالهواء أبدًا! فكيف وصل إليك؟</a:t>
            </a:r>
          </a:p>
        </p:txBody>
      </p:sp>
      <p:sp>
        <p:nvSpPr>
          <p:cNvPr id="12" name="Oval 11"/>
          <p:cNvSpPr/>
          <p:nvPr/>
        </p:nvSpPr>
        <p:spPr>
          <a:xfrm>
            <a:off x="822960" y="1463039"/>
            <a:ext cx="3566160" cy="3566160"/>
          </a:xfrm>
          <a:prstGeom prst="ellipse">
            <a:avLst/>
          </a:prstGeom>
          <a:noFill/>
          <a:ln w="25400">
            <a:solidFill>
              <a:srgbClr val="D9C9A6"/>
            </a:solidFill>
          </a:ln>
        </p:spPr>
        <p:txBody>
          <a:bodyPr lIns="54864" tIns="27432" rIns="54864" bIns="27432" rtlCol="0" anchor="ctr"/>
          <a:lstStyle/>
          <a:p>
            <a:pPr algn="ctr"/>
            <a:endParaRPr/>
          </a:p>
        </p:txBody>
      </p:sp>
      <p:sp>
        <p:nvSpPr>
          <p:cNvPr id="13" name="Oval 12"/>
          <p:cNvSpPr/>
          <p:nvPr/>
        </p:nvSpPr>
        <p:spPr>
          <a:xfrm>
            <a:off x="1124712" y="1764791"/>
            <a:ext cx="2962656" cy="2962656"/>
          </a:xfrm>
          <a:prstGeom prst="ellipse">
            <a:avLst/>
          </a:prstGeom>
          <a:noFill/>
          <a:ln w="38100">
            <a:solidFill>
              <a:srgbClr val="D2691E"/>
            </a:solidFill>
          </a:ln>
        </p:spPr>
        <p:txBody>
          <a:bodyPr lIns="54864" tIns="27432" rIns="54864" bIns="27432" rtlCol="0" anchor="ctr"/>
          <a:lstStyle/>
          <a:p>
            <a:pPr algn="ctr"/>
            <a:endParaRPr/>
          </a:p>
        </p:txBody>
      </p:sp>
      <p:sp>
        <p:nvSpPr>
          <p:cNvPr id="14" name="Oval 13"/>
          <p:cNvSpPr/>
          <p:nvPr/>
        </p:nvSpPr>
        <p:spPr>
          <a:xfrm>
            <a:off x="1581912" y="2221991"/>
            <a:ext cx="2048256" cy="2048256"/>
          </a:xfrm>
          <a:prstGeom prst="ellipse">
            <a:avLst/>
          </a:prstGeom>
          <a:solidFill>
            <a:srgbClr val="D2691E"/>
          </a:solidFill>
          <a:ln>
            <a:no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5" name="Picture 14" descr="bone_w.png"/>
          <p:cNvPicPr>
            <a:picLocks noChangeAspect="1"/>
          </p:cNvPicPr>
          <p:nvPr/>
        </p:nvPicPr>
        <p:blipFill>
          <a:blip r:embed="rId5"/>
          <a:stretch>
            <a:fillRect/>
          </a:stretch>
        </p:blipFill>
        <p:spPr>
          <a:xfrm>
            <a:off x="2039112" y="2679191"/>
            <a:ext cx="1133856" cy="1133856"/>
          </a:xfrm>
          <a:prstGeom prst="rect">
            <a:avLst/>
          </a:prstGeom>
        </p:spPr>
      </p:pic>
      <p:pic>
        <p:nvPicPr>
          <p:cNvPr id="16" name="Picture 15" descr="badge_fahem.png"/>
          <p:cNvPicPr>
            <a:picLocks noChangeAspect="1"/>
          </p:cNvPicPr>
          <p:nvPr/>
        </p:nvPicPr>
        <p:blipFill>
          <a:blip r:embed="rId6"/>
          <a:stretch>
            <a:fillRect/>
          </a:stretch>
        </p:blipFill>
        <p:spPr>
          <a:xfrm>
            <a:off x="2139696" y="948619"/>
            <a:ext cx="932688" cy="1028841"/>
          </a:xfrm>
          <a:prstGeom prst="rect">
            <a:avLst/>
          </a:prstGeom>
        </p:spPr>
      </p:pic>
      <p:pic>
        <p:nvPicPr>
          <p:cNvPr id="17" name="Picture 16" descr="badge_hessa.png"/>
          <p:cNvPicPr>
            <a:picLocks noChangeAspect="1"/>
          </p:cNvPicPr>
          <p:nvPr/>
        </p:nvPicPr>
        <p:blipFill>
          <a:blip r:embed="rId7"/>
          <a:stretch>
            <a:fillRect/>
          </a:stretch>
        </p:blipFill>
        <p:spPr>
          <a:xfrm>
            <a:off x="3835505" y="2211145"/>
            <a:ext cx="932688" cy="967944"/>
          </a:xfrm>
          <a:prstGeom prst="rect">
            <a:avLst/>
          </a:prstGeom>
        </p:spPr>
      </p:pic>
      <p:pic>
        <p:nvPicPr>
          <p:cNvPr id="18" name="Picture 17" descr="badge_shaheen.png"/>
          <p:cNvPicPr>
            <a:picLocks noChangeAspect="1"/>
          </p:cNvPicPr>
          <p:nvPr/>
        </p:nvPicPr>
        <p:blipFill>
          <a:blip r:embed="rId8"/>
          <a:stretch>
            <a:fillRect/>
          </a:stretch>
        </p:blipFill>
        <p:spPr>
          <a:xfrm>
            <a:off x="3187764" y="4206292"/>
            <a:ext cx="932688" cy="964739"/>
          </a:xfrm>
          <a:prstGeom prst="rect">
            <a:avLst/>
          </a:prstGeom>
        </p:spPr>
      </p:pic>
      <p:pic>
        <p:nvPicPr>
          <p:cNvPr id="19" name="Picture 18" descr="badge_maha.png"/>
          <p:cNvPicPr>
            <a:picLocks noChangeAspect="1"/>
          </p:cNvPicPr>
          <p:nvPr/>
        </p:nvPicPr>
        <p:blipFill>
          <a:blip r:embed="rId9"/>
          <a:stretch>
            <a:fillRect/>
          </a:stretch>
        </p:blipFill>
        <p:spPr>
          <a:xfrm>
            <a:off x="1091627" y="4153408"/>
            <a:ext cx="932688" cy="1070507"/>
          </a:xfrm>
          <a:prstGeom prst="rect">
            <a:avLst/>
          </a:prstGeom>
        </p:spPr>
      </p:pic>
      <p:pic>
        <p:nvPicPr>
          <p:cNvPr id="20" name="Picture 19" descr="badge_ahmed.png"/>
          <p:cNvPicPr>
            <a:picLocks noChangeAspect="1"/>
          </p:cNvPicPr>
          <p:nvPr/>
        </p:nvPicPr>
        <p:blipFill>
          <a:blip r:embed="rId10"/>
          <a:stretch>
            <a:fillRect/>
          </a:stretch>
        </p:blipFill>
        <p:spPr>
          <a:xfrm>
            <a:off x="443886" y="2201530"/>
            <a:ext cx="932688" cy="987174"/>
          </a:xfrm>
          <a:prstGeom prst="rect">
            <a:avLst/>
          </a:prstGeom>
        </p:spPr>
      </p:pic>
      <p:sp>
        <p:nvSpPr>
          <p:cNvPr id="21" name="TextBox 20"/>
          <p:cNvSpPr txBox="1"/>
          <p:nvPr/>
        </p:nvSpPr>
        <p:spPr>
          <a:xfrm>
            <a:off x="365760" y="5742432"/>
            <a:ext cx="4480560" cy="384048"/>
          </a:xfrm>
          <a:prstGeom prst="rect">
            <a:avLst/>
          </a:prstGeom>
          <a:noFill/>
        </p:spPr>
        <p:txBody>
          <a:bodyPr wrap="square" lIns="73152" tIns="36576" rIns="73152" bIns="36576" anchor="ctr"/>
          <a:lstStyle/>
          <a:p>
            <a:pPr algn="ctr" rtl="1"/>
            <a:r>
              <a:rPr lang="ar-AE" altLang="en-US" sz="2000" b="1" i="0">
                <a:solidFill>
                  <a:srgbClr val="9A7B3F"/>
                </a:solidFill>
                <a:latin typeface="Arial"/>
                <a:cs typeface="Arial"/>
              </a:rPr>
              <a:t>بالميثاق نبلغ الآفاق</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lIns="54864" tIns="27432" rIns="54864" bIns="27432" rtlCol="0" anchor="ctr"/>
          <a:lstStyle/>
          <a:p>
            <a:pPr algn="ctr"/>
            <a:endParaRPr/>
          </a:p>
        </p:txBody>
      </p:sp>
      <p:sp>
        <p:nvSpPr>
          <p:cNvPr id="4" name="Rectangle 3"/>
          <p:cNvSpPr/>
          <p:nvPr/>
        </p:nvSpPr>
        <p:spPr>
          <a:xfrm>
            <a:off x="7762875" y="1219200"/>
            <a:ext cx="3314700" cy="38100"/>
          </a:xfrm>
          <a:prstGeom prst="rect">
            <a:avLst/>
          </a:prstGeom>
          <a:solidFill>
            <a:srgbClr val="C8B08A"/>
          </a:solidFill>
          <a:ln>
            <a:noFill/>
          </a:ln>
        </p:spPr>
        <p:txBody>
          <a:bodyPr lIns="54864" tIns="27432" rIns="54864" bIns="27432" rtlCol="0" anchor="ctr"/>
          <a:lstStyle/>
          <a:p>
            <a:pPr algn="ctr"/>
            <a:endParaRPr/>
          </a:p>
        </p:txBody>
      </p:sp>
      <p:sp>
        <p:nvSpPr>
          <p:cNvPr id="5" name="TextBox 4"/>
          <p:cNvSpPr txBox="1"/>
          <p:nvPr/>
        </p:nvSpPr>
        <p:spPr>
          <a:xfrm>
            <a:off x="7286625" y="438150"/>
            <a:ext cx="4267200" cy="781050"/>
          </a:xfrm>
          <a:prstGeom prst="rect">
            <a:avLst/>
          </a:prstGeom>
          <a:noFill/>
        </p:spPr>
        <p:txBody>
          <a:bodyPr wrap="square" lIns="45720" tIns="0" rIns="45720" bIns="0" anchor="ctr"/>
          <a:lstStyle/>
          <a:p>
            <a:pPr algn="ctr" rtl="1"/>
            <a:r>
              <a:rPr lang="ar-AE" altLang="en-US" sz="2600" b="0" i="0">
                <a:solidFill>
                  <a:srgbClr val="FFFFFF"/>
                </a:solidFill>
                <a:latin typeface="Arial"/>
                <a:cs typeface="Arial"/>
              </a:rPr>
              <a:t>الميثاق الوطني للتعليم</a:t>
            </a:r>
          </a:p>
        </p:txBody>
      </p:sp>
      <p:sp>
        <p:nvSpPr>
          <p:cNvPr id="6" name="TextBox 5"/>
          <p:cNvSpPr txBox="1"/>
          <p:nvPr/>
        </p:nvSpPr>
        <p:spPr>
          <a:xfrm>
            <a:off x="548640" y="566928"/>
            <a:ext cx="5943600" cy="457200"/>
          </a:xfrm>
          <a:prstGeom prst="rect">
            <a:avLst/>
          </a:prstGeom>
          <a:noFill/>
        </p:spPr>
        <p:txBody>
          <a:bodyPr wrap="square" lIns="73152" tIns="36576" rIns="73152" bIns="36576" anchor="ctr"/>
          <a:lstStyle/>
          <a:p>
            <a:pPr algn="r" rtl="1"/>
            <a:r>
              <a:rPr lang="ar-AE" altLang="en-US" sz="1800" b="1" i="0">
                <a:solidFill>
                  <a:srgbClr val="5A687D"/>
                </a:solidFill>
                <a:latin typeface="Arial"/>
                <a:cs typeface="Arial"/>
              </a:rPr>
              <a:t>قيمٌ نعيشها في حصتنا اليوم… بالميثاق نبلغ الآفاق</a:t>
            </a:r>
          </a:p>
        </p:txBody>
      </p:sp>
      <p:sp>
        <p:nvSpPr>
          <p:cNvPr id="7" name="Rounded Rectangle 6"/>
          <p:cNvSpPr/>
          <p:nvPr/>
        </p:nvSpPr>
        <p:spPr>
          <a:xfrm>
            <a:off x="7985455" y="1481328"/>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8" name="Oval 7"/>
          <p:cNvSpPr/>
          <p:nvPr/>
        </p:nvSpPr>
        <p:spPr>
          <a:xfrm>
            <a:off x="10545775" y="1682496"/>
            <a:ext cx="749808" cy="749808"/>
          </a:xfrm>
          <a:prstGeom prst="ellipse">
            <a:avLst/>
          </a:prstGeom>
          <a:solidFill>
            <a:srgbClr val="2E5D7B"/>
          </a:solidFill>
          <a:ln>
            <a:noFill/>
          </a:ln>
        </p:spPr>
        <p:txBody>
          <a:bodyPr lIns="54864" tIns="27432" rIns="54864" bIns="27432" rtlCol="0" anchor="ctr"/>
          <a:lstStyle/>
          <a:p>
            <a:pPr algn="ctr"/>
            <a:endParaRPr/>
          </a:p>
        </p:txBody>
      </p:sp>
      <p:pic>
        <p:nvPicPr>
          <p:cNvPr id="9" name="Picture 8" descr="clip_w.png"/>
          <p:cNvPicPr>
            <a:picLocks noChangeAspect="1"/>
          </p:cNvPicPr>
          <p:nvPr/>
        </p:nvPicPr>
        <p:blipFill>
          <a:blip r:embed="rId4"/>
          <a:stretch>
            <a:fillRect/>
          </a:stretch>
        </p:blipFill>
        <p:spPr>
          <a:xfrm>
            <a:off x="10710732" y="1847453"/>
            <a:ext cx="419892" cy="419892"/>
          </a:xfrm>
          <a:prstGeom prst="rect">
            <a:avLst/>
          </a:prstGeom>
        </p:spPr>
      </p:pic>
      <p:sp>
        <p:nvSpPr>
          <p:cNvPr id="10" name="TextBox 9"/>
          <p:cNvSpPr txBox="1"/>
          <p:nvPr/>
        </p:nvSpPr>
        <p:spPr>
          <a:xfrm>
            <a:off x="8122615"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التنظيم الذاتي والانضباط</a:t>
            </a:r>
          </a:p>
        </p:txBody>
      </p:sp>
      <p:sp>
        <p:nvSpPr>
          <p:cNvPr id="11" name="TextBox 10"/>
          <p:cNvSpPr txBox="1"/>
          <p:nvPr/>
        </p:nvSpPr>
        <p:spPr>
          <a:xfrm>
            <a:off x="8150047"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ننجز جدول المقارنة في الوقت المحدد بتوزيع الأدوار.</a:t>
            </a:r>
          </a:p>
        </p:txBody>
      </p:sp>
      <p:sp>
        <p:nvSpPr>
          <p:cNvPr id="12" name="Rounded Rectangle 11"/>
          <p:cNvSpPr/>
          <p:nvPr/>
        </p:nvSpPr>
        <p:spPr>
          <a:xfrm>
            <a:off x="8095183" y="1316736"/>
            <a:ext cx="1234440" cy="329184"/>
          </a:xfrm>
          <a:prstGeom prst="roundRect">
            <a:avLst>
              <a:gd name="adj" fmla="val 50000"/>
            </a:avLst>
          </a:prstGeom>
          <a:solidFill>
            <a:srgbClr val="C9A96A"/>
          </a:solidFill>
          <a:ln>
            <a:noFill/>
          </a:ln>
        </p:spPr>
        <p:txBody>
          <a:bodyPr wrap="square" lIns="18288" tIns="0" rIns="18288" bIns="0" rtlCol="0" anchor="ctr"/>
          <a:lstStyle/>
          <a:p>
            <a:pPr algn="ctr" rtl="1"/>
            <a:r>
              <a:rPr lang="ar-AE" altLang="en-US" sz="1150" b="1" i="0">
                <a:solidFill>
                  <a:srgbClr val="102A43"/>
                </a:solidFill>
                <a:latin typeface="Arial"/>
                <a:cs typeface="Arial"/>
              </a:rPr>
              <a:t>★ قيمة اليوم</a:t>
            </a:r>
          </a:p>
        </p:txBody>
      </p:sp>
      <p:sp>
        <p:nvSpPr>
          <p:cNvPr id="13" name="Rounded Rectangle 12"/>
          <p:cNvSpPr/>
          <p:nvPr/>
        </p:nvSpPr>
        <p:spPr>
          <a:xfrm>
            <a:off x="4208983"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4" name="Oval 13"/>
          <p:cNvSpPr/>
          <p:nvPr/>
        </p:nvSpPr>
        <p:spPr>
          <a:xfrm>
            <a:off x="6769303" y="1682496"/>
            <a:ext cx="749808" cy="749808"/>
          </a:xfrm>
          <a:prstGeom prst="ellipse">
            <a:avLst/>
          </a:prstGeom>
          <a:solidFill>
            <a:srgbClr val="D9A21B"/>
          </a:solidFill>
          <a:ln>
            <a:noFill/>
          </a:ln>
        </p:spPr>
        <p:txBody>
          <a:bodyPr lIns="54864" tIns="27432" rIns="54864" bIns="27432" rtlCol="0" anchor="ctr"/>
          <a:lstStyle/>
          <a:p>
            <a:pPr algn="ctr"/>
            <a:endParaRPr/>
          </a:p>
        </p:txBody>
      </p:sp>
      <p:pic>
        <p:nvPicPr>
          <p:cNvPr id="15" name="Picture 14" descr="bulb_w.png"/>
          <p:cNvPicPr>
            <a:picLocks noChangeAspect="1"/>
          </p:cNvPicPr>
          <p:nvPr/>
        </p:nvPicPr>
        <p:blipFill>
          <a:blip r:embed="rId5"/>
          <a:stretch>
            <a:fillRect/>
          </a:stretch>
        </p:blipFill>
        <p:spPr>
          <a:xfrm>
            <a:off x="6934260" y="1847453"/>
            <a:ext cx="419892" cy="419892"/>
          </a:xfrm>
          <a:prstGeom prst="rect">
            <a:avLst/>
          </a:prstGeom>
        </p:spPr>
      </p:pic>
      <p:sp>
        <p:nvSpPr>
          <p:cNvPr id="16" name="TextBox 15"/>
          <p:cNvSpPr txBox="1"/>
          <p:nvPr/>
        </p:nvSpPr>
        <p:spPr>
          <a:xfrm>
            <a:off x="4346143"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الإبداع</a:t>
            </a:r>
          </a:p>
        </p:txBody>
      </p:sp>
      <p:sp>
        <p:nvSpPr>
          <p:cNvPr id="17" name="TextBox 16"/>
          <p:cNvSpPr txBox="1"/>
          <p:nvPr/>
        </p:nvSpPr>
        <p:spPr>
          <a:xfrm>
            <a:off x="4373575"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نصمّم حلولًا مبتكرة تحمي بحارنا من المدّ الأحمر.</a:t>
            </a:r>
          </a:p>
        </p:txBody>
      </p:sp>
      <p:sp>
        <p:nvSpPr>
          <p:cNvPr id="18" name="Rounded Rectangle 17"/>
          <p:cNvSpPr/>
          <p:nvPr/>
        </p:nvSpPr>
        <p:spPr>
          <a:xfrm>
            <a:off x="432511" y="1481328"/>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9" name="Oval 18"/>
          <p:cNvSpPr/>
          <p:nvPr/>
        </p:nvSpPr>
        <p:spPr>
          <a:xfrm>
            <a:off x="2992831" y="1682496"/>
            <a:ext cx="749808" cy="749808"/>
          </a:xfrm>
          <a:prstGeom prst="ellipse">
            <a:avLst/>
          </a:prstGeom>
          <a:solidFill>
            <a:srgbClr val="C8102E"/>
          </a:solidFill>
          <a:ln>
            <a:noFill/>
          </a:ln>
        </p:spPr>
        <p:txBody>
          <a:bodyPr lIns="54864" tIns="27432" rIns="54864" bIns="27432" rtlCol="0" anchor="ctr"/>
          <a:lstStyle/>
          <a:p>
            <a:pPr algn="ctr"/>
            <a:endParaRPr/>
          </a:p>
        </p:txBody>
      </p:sp>
      <p:pic>
        <p:nvPicPr>
          <p:cNvPr id="20" name="Picture 19" descr="flag_w.png"/>
          <p:cNvPicPr>
            <a:picLocks noChangeAspect="1"/>
          </p:cNvPicPr>
          <p:nvPr/>
        </p:nvPicPr>
        <p:blipFill>
          <a:blip r:embed="rId6"/>
          <a:stretch>
            <a:fillRect/>
          </a:stretch>
        </p:blipFill>
        <p:spPr>
          <a:xfrm>
            <a:off x="3157788" y="1847453"/>
            <a:ext cx="419892" cy="419892"/>
          </a:xfrm>
          <a:prstGeom prst="rect">
            <a:avLst/>
          </a:prstGeom>
        </p:spPr>
      </p:pic>
      <p:sp>
        <p:nvSpPr>
          <p:cNvPr id="21" name="TextBox 20"/>
          <p:cNvSpPr txBox="1"/>
          <p:nvPr/>
        </p:nvSpPr>
        <p:spPr>
          <a:xfrm>
            <a:off x="569671" y="1645920"/>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روح المبادرة والمثابرة</a:t>
            </a:r>
          </a:p>
        </p:txBody>
      </p:sp>
      <p:sp>
        <p:nvSpPr>
          <p:cNvPr id="22" name="TextBox 21"/>
          <p:cNvSpPr txBox="1"/>
          <p:nvPr/>
        </p:nvSpPr>
        <p:spPr>
          <a:xfrm>
            <a:off x="597103" y="2414016"/>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نبادر بالسؤال: من أين جاء الفوسفور في عظامنا؟</a:t>
            </a:r>
          </a:p>
        </p:txBody>
      </p:sp>
      <p:sp>
        <p:nvSpPr>
          <p:cNvPr id="23" name="Rounded Rectangle 22"/>
          <p:cNvSpPr/>
          <p:nvPr/>
        </p:nvSpPr>
        <p:spPr>
          <a:xfrm>
            <a:off x="7985455"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4" name="Oval 23"/>
          <p:cNvSpPr/>
          <p:nvPr/>
        </p:nvSpPr>
        <p:spPr>
          <a:xfrm>
            <a:off x="10545775" y="3703320"/>
            <a:ext cx="749808" cy="749808"/>
          </a:xfrm>
          <a:prstGeom prst="ellipse">
            <a:avLst/>
          </a:prstGeom>
          <a:solidFill>
            <a:srgbClr val="138955"/>
          </a:solidFill>
          <a:ln>
            <a:noFill/>
          </a:ln>
        </p:spPr>
        <p:txBody>
          <a:bodyPr lIns="54864" tIns="27432" rIns="54864" bIns="27432" rtlCol="0" anchor="ctr"/>
          <a:lstStyle/>
          <a:p>
            <a:pPr algn="ctr"/>
            <a:endParaRPr/>
          </a:p>
        </p:txBody>
      </p:sp>
      <p:pic>
        <p:nvPicPr>
          <p:cNvPr id="25" name="Picture 24" descr="users_w.png"/>
          <p:cNvPicPr>
            <a:picLocks noChangeAspect="1"/>
          </p:cNvPicPr>
          <p:nvPr/>
        </p:nvPicPr>
        <p:blipFill>
          <a:blip r:embed="rId7"/>
          <a:stretch>
            <a:fillRect/>
          </a:stretch>
        </p:blipFill>
        <p:spPr>
          <a:xfrm>
            <a:off x="10710732" y="3868277"/>
            <a:ext cx="419892" cy="419892"/>
          </a:xfrm>
          <a:prstGeom prst="rect">
            <a:avLst/>
          </a:prstGeom>
        </p:spPr>
      </p:pic>
      <p:sp>
        <p:nvSpPr>
          <p:cNvPr id="26" name="TextBox 25"/>
          <p:cNvSpPr txBox="1"/>
          <p:nvPr/>
        </p:nvSpPr>
        <p:spPr>
          <a:xfrm>
            <a:off x="8122615"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العمل الجماعي</a:t>
            </a:r>
          </a:p>
        </p:txBody>
      </p:sp>
      <p:sp>
        <p:nvSpPr>
          <p:cNvPr id="27" name="TextBox 26"/>
          <p:cNvSpPr txBox="1"/>
          <p:nvPr/>
        </p:nvSpPr>
        <p:spPr>
          <a:xfrm>
            <a:off x="8150047"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نتعاون لنكمل الصورة الكاملة لدورات المادة.</a:t>
            </a:r>
          </a:p>
        </p:txBody>
      </p:sp>
      <p:sp>
        <p:nvSpPr>
          <p:cNvPr id="28" name="Rounded Rectangle 27"/>
          <p:cNvSpPr/>
          <p:nvPr/>
        </p:nvSpPr>
        <p:spPr>
          <a:xfrm>
            <a:off x="4208983" y="3502152"/>
            <a:ext cx="3520440" cy="1783080"/>
          </a:xfrm>
          <a:prstGeom prst="roundRect">
            <a:avLst>
              <a:gd name="adj" fmla="val 6153"/>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9" name="Oval 28"/>
          <p:cNvSpPr/>
          <p:nvPr/>
        </p:nvSpPr>
        <p:spPr>
          <a:xfrm>
            <a:off x="6769303" y="3703320"/>
            <a:ext cx="749808" cy="749808"/>
          </a:xfrm>
          <a:prstGeom prst="ellipse">
            <a:avLst/>
          </a:prstGeom>
          <a:solidFill>
            <a:srgbClr val="5B3B91"/>
          </a:solidFill>
          <a:ln>
            <a:noFill/>
          </a:ln>
        </p:spPr>
        <p:txBody>
          <a:bodyPr lIns="54864" tIns="27432" rIns="54864" bIns="27432" rtlCol="0" anchor="ctr"/>
          <a:lstStyle/>
          <a:p>
            <a:pPr algn="ctr"/>
            <a:endParaRPr/>
          </a:p>
        </p:txBody>
      </p:sp>
      <p:pic>
        <p:nvPicPr>
          <p:cNvPr id="30" name="Picture 29" descr="brain_w.png"/>
          <p:cNvPicPr>
            <a:picLocks noChangeAspect="1"/>
          </p:cNvPicPr>
          <p:nvPr/>
        </p:nvPicPr>
        <p:blipFill>
          <a:blip r:embed="rId8"/>
          <a:stretch>
            <a:fillRect/>
          </a:stretch>
        </p:blipFill>
        <p:spPr>
          <a:xfrm>
            <a:off x="6934260" y="3868277"/>
            <a:ext cx="419892" cy="419892"/>
          </a:xfrm>
          <a:prstGeom prst="rect">
            <a:avLst/>
          </a:prstGeom>
        </p:spPr>
      </p:pic>
      <p:sp>
        <p:nvSpPr>
          <p:cNvPr id="31" name="TextBox 30"/>
          <p:cNvSpPr txBox="1"/>
          <p:nvPr/>
        </p:nvSpPr>
        <p:spPr>
          <a:xfrm>
            <a:off x="4346143"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التفكير النقدي</a:t>
            </a:r>
          </a:p>
        </p:txBody>
      </p:sp>
      <p:sp>
        <p:nvSpPr>
          <p:cNvPr id="32" name="TextBox 31"/>
          <p:cNvSpPr txBox="1"/>
          <p:nvPr/>
        </p:nvSpPr>
        <p:spPr>
          <a:xfrm>
            <a:off x="4373575"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نقوّم الحلول بالأدلة قبل أن نختار أفضلها.</a:t>
            </a:r>
          </a:p>
        </p:txBody>
      </p:sp>
      <p:sp>
        <p:nvSpPr>
          <p:cNvPr id="33" name="Rounded Rectangle 32"/>
          <p:cNvSpPr/>
          <p:nvPr/>
        </p:nvSpPr>
        <p:spPr>
          <a:xfrm>
            <a:off x="432511" y="3502152"/>
            <a:ext cx="3520440" cy="1783080"/>
          </a:xfrm>
          <a:prstGeom prst="roundRect">
            <a:avLst>
              <a:gd name="adj" fmla="val 6153"/>
            </a:avLst>
          </a:prstGeom>
          <a:solidFill>
            <a:srgbClr val="FFFFFF"/>
          </a:solidFill>
          <a:ln w="31750">
            <a:solidFill>
              <a:srgbClr val="C9A96A"/>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4" name="Oval 33"/>
          <p:cNvSpPr/>
          <p:nvPr/>
        </p:nvSpPr>
        <p:spPr>
          <a:xfrm>
            <a:off x="2992831" y="3703320"/>
            <a:ext cx="749808" cy="749808"/>
          </a:xfrm>
          <a:prstGeom prst="ellipse">
            <a:avLst/>
          </a:prstGeom>
          <a:solidFill>
            <a:srgbClr val="996B2F"/>
          </a:solidFill>
          <a:ln>
            <a:noFill/>
          </a:ln>
        </p:spPr>
        <p:txBody>
          <a:bodyPr lIns="54864" tIns="27432" rIns="54864" bIns="27432" rtlCol="0" anchor="ctr"/>
          <a:lstStyle/>
          <a:p>
            <a:pPr algn="ctr"/>
            <a:endParaRPr/>
          </a:p>
        </p:txBody>
      </p:sp>
      <p:pic>
        <p:nvPicPr>
          <p:cNvPr id="35" name="Picture 34" descr="grad_w.png"/>
          <p:cNvPicPr>
            <a:picLocks noChangeAspect="1"/>
          </p:cNvPicPr>
          <p:nvPr/>
        </p:nvPicPr>
        <p:blipFill>
          <a:blip r:embed="rId9"/>
          <a:stretch>
            <a:fillRect/>
          </a:stretch>
        </p:blipFill>
        <p:spPr>
          <a:xfrm>
            <a:off x="3157788" y="3868277"/>
            <a:ext cx="419892" cy="419892"/>
          </a:xfrm>
          <a:prstGeom prst="rect">
            <a:avLst/>
          </a:prstGeom>
        </p:spPr>
      </p:pic>
      <p:sp>
        <p:nvSpPr>
          <p:cNvPr id="36" name="TextBox 35"/>
          <p:cNvSpPr txBox="1"/>
          <p:nvPr/>
        </p:nvSpPr>
        <p:spPr>
          <a:xfrm>
            <a:off x="569671" y="3666744"/>
            <a:ext cx="2331720" cy="804672"/>
          </a:xfrm>
          <a:prstGeom prst="rect">
            <a:avLst/>
          </a:prstGeom>
          <a:noFill/>
        </p:spPr>
        <p:txBody>
          <a:bodyPr wrap="square" lIns="73152" tIns="36576" rIns="73152" bIns="36576" anchor="ctr"/>
          <a:lstStyle/>
          <a:p>
            <a:pPr algn="r" rtl="1"/>
            <a:r>
              <a:rPr lang="ar-AE" altLang="en-US" sz="1800" b="1" i="0">
                <a:solidFill>
                  <a:srgbClr val="102A43"/>
                </a:solidFill>
                <a:latin typeface="Arial"/>
                <a:cs typeface="Arial"/>
              </a:rPr>
              <a:t>التعلم المستمر</a:t>
            </a:r>
          </a:p>
        </p:txBody>
      </p:sp>
      <p:sp>
        <p:nvSpPr>
          <p:cNvPr id="37" name="TextBox 36"/>
          <p:cNvSpPr txBox="1"/>
          <p:nvPr/>
        </p:nvSpPr>
        <p:spPr>
          <a:xfrm>
            <a:off x="597103" y="4434840"/>
            <a:ext cx="3191256" cy="777240"/>
          </a:xfrm>
          <a:prstGeom prst="rect">
            <a:avLst/>
          </a:prstGeom>
          <a:noFill/>
        </p:spPr>
        <p:txBody>
          <a:bodyPr wrap="square" lIns="73152" tIns="36576" rIns="73152" bIns="36576" anchor="t"/>
          <a:lstStyle/>
          <a:p>
            <a:pPr algn="r" rtl="1"/>
            <a:r>
              <a:rPr lang="ar-AE" altLang="en-US" sz="1300" b="1" i="0">
                <a:solidFill>
                  <a:srgbClr val="4A5A70"/>
                </a:solidFill>
                <a:latin typeface="Arial"/>
                <a:cs typeface="Arial"/>
              </a:rPr>
              <a:t>نربط ما تعلمناه بغذائنا وبحماية بحار الإمارات.</a:t>
            </a:r>
          </a:p>
        </p:txBody>
      </p:sp>
      <p:sp>
        <p:nvSpPr>
          <p:cNvPr id="38" name="Rounded Rectangle 37"/>
          <p:cNvSpPr/>
          <p:nvPr/>
        </p:nvSpPr>
        <p:spPr>
          <a:xfrm>
            <a:off x="542239" y="3337560"/>
            <a:ext cx="1234440" cy="329184"/>
          </a:xfrm>
          <a:prstGeom prst="roundRect">
            <a:avLst>
              <a:gd name="adj" fmla="val 50000"/>
            </a:avLst>
          </a:prstGeom>
          <a:solidFill>
            <a:srgbClr val="C9A96A"/>
          </a:solidFill>
          <a:ln>
            <a:noFill/>
          </a:ln>
        </p:spPr>
        <p:txBody>
          <a:bodyPr wrap="square" lIns="18288" tIns="0" rIns="18288" bIns="0" rtlCol="0" anchor="ctr"/>
          <a:lstStyle/>
          <a:p>
            <a:pPr algn="ctr" rtl="1"/>
            <a:r>
              <a:rPr lang="ar-AE" altLang="en-US" sz="1150" b="1" i="0">
                <a:solidFill>
                  <a:srgbClr val="102A43"/>
                </a:solidFill>
                <a:latin typeface="Arial"/>
                <a:cs typeface="Arial"/>
              </a:rPr>
              <a:t>★ قيمة اليوم</a:t>
            </a:r>
          </a:p>
        </p:txBody>
      </p:sp>
      <p:pic>
        <p:nvPicPr>
          <p:cNvPr id="39" name="Picture 38" descr="group_chars_cream.png"/>
          <p:cNvPicPr>
            <a:picLocks noChangeAspect="1"/>
          </p:cNvPicPr>
          <p:nvPr/>
        </p:nvPicPr>
        <p:blipFill>
          <a:blip r:embed="rId10"/>
          <a:stretch>
            <a:fillRect/>
          </a:stretch>
        </p:blipFill>
        <p:spPr>
          <a:xfrm>
            <a:off x="274320" y="5440680"/>
            <a:ext cx="1207008" cy="109728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rules.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rame.png"/>
          <p:cNvPicPr>
            <a:picLocks noChangeAspect="1"/>
          </p:cNvPicPr>
          <p:nvPr/>
        </p:nvPicPr>
        <p:blipFill>
          <a:blip r:embed="rId3"/>
          <a:stretch>
            <a:fillRect/>
          </a:stretch>
        </p:blipFill>
        <p:spPr>
          <a:xfrm>
            <a:off x="0" y="0"/>
            <a:ext cx="12191695" cy="6858000"/>
          </a:xfrm>
          <a:prstGeom prst="rect">
            <a:avLst/>
          </a:prstGeom>
        </p:spPr>
      </p:pic>
      <p:sp>
        <p:nvSpPr>
          <p:cNvPr id="3" name="Rounded Rectangle 2"/>
          <p:cNvSpPr/>
          <p:nvPr/>
        </p:nvSpPr>
        <p:spPr>
          <a:xfrm>
            <a:off x="7286625" y="438150"/>
            <a:ext cx="4267200" cy="781050"/>
          </a:xfrm>
          <a:prstGeom prst="roundRect">
            <a:avLst>
              <a:gd name="adj" fmla="val 11707"/>
            </a:avLst>
          </a:prstGeom>
          <a:solidFill>
            <a:srgbClr val="102A43"/>
          </a:solidFill>
          <a:ln>
            <a:noFill/>
          </a:ln>
        </p:spPr>
        <p:txBody>
          <a:bodyPr lIns="54864" tIns="27432" rIns="54864" bIns="27432" rtlCol="0" anchor="ctr"/>
          <a:lstStyle/>
          <a:p>
            <a:pPr algn="ctr"/>
            <a:endParaRPr/>
          </a:p>
        </p:txBody>
      </p:sp>
      <p:sp>
        <p:nvSpPr>
          <p:cNvPr id="4" name="Rectangle 3"/>
          <p:cNvSpPr/>
          <p:nvPr/>
        </p:nvSpPr>
        <p:spPr>
          <a:xfrm>
            <a:off x="7762875" y="1219200"/>
            <a:ext cx="3314700" cy="38100"/>
          </a:xfrm>
          <a:prstGeom prst="rect">
            <a:avLst/>
          </a:prstGeom>
          <a:solidFill>
            <a:srgbClr val="C8B08A"/>
          </a:solidFill>
          <a:ln>
            <a:noFill/>
          </a:ln>
        </p:spPr>
        <p:txBody>
          <a:bodyPr lIns="54864" tIns="27432" rIns="54864" bIns="27432" rtlCol="0" anchor="ctr"/>
          <a:lstStyle/>
          <a:p>
            <a:pPr algn="ctr"/>
            <a:endParaRPr/>
          </a:p>
        </p:txBody>
      </p:sp>
      <p:sp>
        <p:nvSpPr>
          <p:cNvPr id="5" name="TextBox 4"/>
          <p:cNvSpPr txBox="1"/>
          <p:nvPr/>
        </p:nvSpPr>
        <p:spPr>
          <a:xfrm>
            <a:off x="7286625" y="438150"/>
            <a:ext cx="4267200" cy="781050"/>
          </a:xfrm>
          <a:prstGeom prst="rect">
            <a:avLst/>
          </a:prstGeom>
          <a:noFill/>
        </p:spPr>
        <p:txBody>
          <a:bodyPr wrap="square" lIns="45720" tIns="0" rIns="45720" bIns="0" anchor="ctr"/>
          <a:lstStyle/>
          <a:p>
            <a:pPr algn="ctr" rtl="1"/>
            <a:r>
              <a:rPr lang="ar-AE" altLang="en-US" sz="2600" b="0" i="0">
                <a:solidFill>
                  <a:srgbClr val="FFFFFF"/>
                </a:solidFill>
                <a:latin typeface="Arial"/>
                <a:cs typeface="Arial"/>
              </a:rPr>
              <a:t>أوسمة أبطال الميثاق</a:t>
            </a:r>
          </a:p>
        </p:txBody>
      </p:sp>
      <p:sp>
        <p:nvSpPr>
          <p:cNvPr id="6" name="TextBox 5"/>
          <p:cNvSpPr txBox="1"/>
          <p:nvPr/>
        </p:nvSpPr>
        <p:spPr>
          <a:xfrm>
            <a:off x="548640" y="566928"/>
            <a:ext cx="6035040" cy="457200"/>
          </a:xfrm>
          <a:prstGeom prst="rect">
            <a:avLst/>
          </a:prstGeom>
          <a:noFill/>
        </p:spPr>
        <p:txBody>
          <a:bodyPr wrap="square" lIns="73152" tIns="36576" rIns="73152" bIns="36576" anchor="ctr"/>
          <a:lstStyle/>
          <a:p>
            <a:pPr algn="r" rtl="1"/>
            <a:r>
              <a:rPr lang="ar-AE" altLang="en-US" sz="1800" b="1" i="0">
                <a:solidFill>
                  <a:srgbClr val="5A687D"/>
                </a:solidFill>
                <a:latin typeface="Arial"/>
                <a:cs typeface="Arial"/>
              </a:rPr>
              <a:t>تتنافس المجموعات اليوم على خمسة أوسمة</a:t>
            </a:r>
          </a:p>
        </p:txBody>
      </p:sp>
      <p:sp>
        <p:nvSpPr>
          <p:cNvPr id="7" name="Rounded Rectangle 6"/>
          <p:cNvSpPr/>
          <p:nvPr/>
        </p:nvSpPr>
        <p:spPr>
          <a:xfrm>
            <a:off x="9579711"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8" name="Picture 7" descr="badge_hessa.png"/>
          <p:cNvPicPr>
            <a:picLocks noChangeAspect="1"/>
          </p:cNvPicPr>
          <p:nvPr/>
        </p:nvPicPr>
        <p:blipFill>
          <a:blip r:embed="rId4"/>
          <a:stretch>
            <a:fillRect/>
          </a:stretch>
        </p:blipFill>
        <p:spPr>
          <a:xfrm>
            <a:off x="9831171" y="1417320"/>
            <a:ext cx="1600200" cy="1660688"/>
          </a:xfrm>
          <a:prstGeom prst="rect">
            <a:avLst/>
          </a:prstGeom>
        </p:spPr>
      </p:pic>
      <p:sp>
        <p:nvSpPr>
          <p:cNvPr id="9" name="TextBox 8"/>
          <p:cNvSpPr txBox="1"/>
          <p:nvPr/>
        </p:nvSpPr>
        <p:spPr>
          <a:xfrm>
            <a:off x="9671151" y="3401568"/>
            <a:ext cx="1920239" cy="457200"/>
          </a:xfrm>
          <a:prstGeom prst="rect">
            <a:avLst/>
          </a:prstGeom>
          <a:noFill/>
        </p:spPr>
        <p:txBody>
          <a:bodyPr wrap="square" lIns="73152" tIns="36576" rIns="73152" bIns="36576" anchor="ctr"/>
          <a:lstStyle/>
          <a:p>
            <a:pPr algn="ctr" rtl="1"/>
            <a:r>
              <a:rPr lang="ar-AE" altLang="en-US" sz="1900" b="1" i="0">
                <a:solidFill>
                  <a:srgbClr val="7D1F2E"/>
                </a:solidFill>
                <a:latin typeface="Arial"/>
                <a:cs typeface="Arial"/>
              </a:rPr>
              <a:t>وسام حصة</a:t>
            </a:r>
          </a:p>
        </p:txBody>
      </p:sp>
      <p:sp>
        <p:nvSpPr>
          <p:cNvPr id="10" name="TextBox 9"/>
          <p:cNvSpPr txBox="1"/>
          <p:nvPr/>
        </p:nvSpPr>
        <p:spPr>
          <a:xfrm>
            <a:off x="9716871"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لأفضل تعاونٍ وعملٍ بروح الفريق</a:t>
            </a:r>
          </a:p>
        </p:txBody>
      </p:sp>
      <p:sp>
        <p:nvSpPr>
          <p:cNvPr id="11" name="Rounded Rectangle 10"/>
          <p:cNvSpPr/>
          <p:nvPr/>
        </p:nvSpPr>
        <p:spPr>
          <a:xfrm>
            <a:off x="7311999"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2" name="Picture 11" descr="badge_ahmed.png"/>
          <p:cNvPicPr>
            <a:picLocks noChangeAspect="1"/>
          </p:cNvPicPr>
          <p:nvPr/>
        </p:nvPicPr>
        <p:blipFill>
          <a:blip r:embed="rId5"/>
          <a:stretch>
            <a:fillRect/>
          </a:stretch>
        </p:blipFill>
        <p:spPr>
          <a:xfrm>
            <a:off x="7563459" y="1417320"/>
            <a:ext cx="1600200" cy="1693682"/>
          </a:xfrm>
          <a:prstGeom prst="rect">
            <a:avLst/>
          </a:prstGeom>
        </p:spPr>
      </p:pic>
      <p:sp>
        <p:nvSpPr>
          <p:cNvPr id="13" name="TextBox 12"/>
          <p:cNvSpPr txBox="1"/>
          <p:nvPr/>
        </p:nvSpPr>
        <p:spPr>
          <a:xfrm>
            <a:off x="7403439" y="3401568"/>
            <a:ext cx="1920239" cy="457200"/>
          </a:xfrm>
          <a:prstGeom prst="rect">
            <a:avLst/>
          </a:prstGeom>
          <a:noFill/>
        </p:spPr>
        <p:txBody>
          <a:bodyPr wrap="square" lIns="73152" tIns="36576" rIns="73152" bIns="36576" anchor="ctr"/>
          <a:lstStyle/>
          <a:p>
            <a:pPr algn="ctr" rtl="1"/>
            <a:r>
              <a:rPr lang="ar-AE" altLang="en-US" sz="1900" b="1" i="0">
                <a:solidFill>
                  <a:srgbClr val="1C2F5E"/>
                </a:solidFill>
                <a:latin typeface="Arial"/>
                <a:cs typeface="Arial"/>
              </a:rPr>
              <a:t>وسام أحمد</a:t>
            </a:r>
          </a:p>
        </p:txBody>
      </p:sp>
      <p:sp>
        <p:nvSpPr>
          <p:cNvPr id="14" name="TextBox 13"/>
          <p:cNvSpPr txBox="1"/>
          <p:nvPr/>
        </p:nvSpPr>
        <p:spPr>
          <a:xfrm>
            <a:off x="7449159"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للالتزام بالوقت والانضباط</a:t>
            </a:r>
          </a:p>
        </p:txBody>
      </p:sp>
      <p:sp>
        <p:nvSpPr>
          <p:cNvPr id="15" name="Rounded Rectangle 14"/>
          <p:cNvSpPr/>
          <p:nvPr/>
        </p:nvSpPr>
        <p:spPr>
          <a:xfrm>
            <a:off x="5044287"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16" name="Picture 15" descr="badge_fahem.png"/>
          <p:cNvPicPr>
            <a:picLocks noChangeAspect="1"/>
          </p:cNvPicPr>
          <p:nvPr/>
        </p:nvPicPr>
        <p:blipFill>
          <a:blip r:embed="rId6"/>
          <a:stretch>
            <a:fillRect/>
          </a:stretch>
        </p:blipFill>
        <p:spPr>
          <a:xfrm>
            <a:off x="5295747" y="1417320"/>
            <a:ext cx="1600200" cy="1765169"/>
          </a:xfrm>
          <a:prstGeom prst="rect">
            <a:avLst/>
          </a:prstGeom>
        </p:spPr>
      </p:pic>
      <p:sp>
        <p:nvSpPr>
          <p:cNvPr id="17" name="TextBox 16"/>
          <p:cNvSpPr txBox="1"/>
          <p:nvPr/>
        </p:nvSpPr>
        <p:spPr>
          <a:xfrm>
            <a:off x="5135727" y="3401568"/>
            <a:ext cx="1920239" cy="457200"/>
          </a:xfrm>
          <a:prstGeom prst="rect">
            <a:avLst/>
          </a:prstGeom>
          <a:noFill/>
        </p:spPr>
        <p:txBody>
          <a:bodyPr wrap="square" lIns="73152" tIns="36576" rIns="73152" bIns="36576" anchor="ctr"/>
          <a:lstStyle/>
          <a:p>
            <a:pPr algn="ctr" rtl="1"/>
            <a:r>
              <a:rPr lang="ar-AE" altLang="en-US" sz="1900" b="1" i="0">
                <a:solidFill>
                  <a:srgbClr val="1E6B3A"/>
                </a:solidFill>
                <a:latin typeface="Arial"/>
                <a:cs typeface="Arial"/>
              </a:rPr>
              <a:t>وسام فاهم</a:t>
            </a:r>
          </a:p>
        </p:txBody>
      </p:sp>
      <p:sp>
        <p:nvSpPr>
          <p:cNvPr id="18" name="TextBox 17"/>
          <p:cNvSpPr txBox="1"/>
          <p:nvPr/>
        </p:nvSpPr>
        <p:spPr>
          <a:xfrm>
            <a:off x="5181447"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للفكرة المبتكرة والسؤال الذكي</a:t>
            </a:r>
          </a:p>
        </p:txBody>
      </p:sp>
      <p:sp>
        <p:nvSpPr>
          <p:cNvPr id="19" name="Rounded Rectangle 18"/>
          <p:cNvSpPr/>
          <p:nvPr/>
        </p:nvSpPr>
        <p:spPr>
          <a:xfrm>
            <a:off x="2776575"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20" name="Picture 19" descr="badge_shaheen.png"/>
          <p:cNvPicPr>
            <a:picLocks noChangeAspect="1"/>
          </p:cNvPicPr>
          <p:nvPr/>
        </p:nvPicPr>
        <p:blipFill>
          <a:blip r:embed="rId7"/>
          <a:stretch>
            <a:fillRect/>
          </a:stretch>
        </p:blipFill>
        <p:spPr>
          <a:xfrm>
            <a:off x="3028035" y="1417320"/>
            <a:ext cx="1600200" cy="1655189"/>
          </a:xfrm>
          <a:prstGeom prst="rect">
            <a:avLst/>
          </a:prstGeom>
        </p:spPr>
      </p:pic>
      <p:sp>
        <p:nvSpPr>
          <p:cNvPr id="21" name="TextBox 20"/>
          <p:cNvSpPr txBox="1"/>
          <p:nvPr/>
        </p:nvSpPr>
        <p:spPr>
          <a:xfrm>
            <a:off x="2868015" y="3401568"/>
            <a:ext cx="1920239" cy="457200"/>
          </a:xfrm>
          <a:prstGeom prst="rect">
            <a:avLst/>
          </a:prstGeom>
          <a:noFill/>
        </p:spPr>
        <p:txBody>
          <a:bodyPr wrap="square" lIns="73152" tIns="36576" rIns="73152" bIns="36576" anchor="ctr"/>
          <a:lstStyle/>
          <a:p>
            <a:pPr algn="ctr" rtl="1"/>
            <a:r>
              <a:rPr lang="ar-AE" altLang="en-US" sz="1900" b="1" i="0">
                <a:solidFill>
                  <a:srgbClr val="6B3F1D"/>
                </a:solidFill>
                <a:latin typeface="Arial"/>
                <a:cs typeface="Arial"/>
              </a:rPr>
              <a:t>وسام شاهين</a:t>
            </a:r>
          </a:p>
        </p:txBody>
      </p:sp>
      <p:sp>
        <p:nvSpPr>
          <p:cNvPr id="22" name="TextBox 21"/>
          <p:cNvSpPr txBox="1"/>
          <p:nvPr/>
        </p:nvSpPr>
        <p:spPr>
          <a:xfrm>
            <a:off x="2913735"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لمن يتحدّى نفسه في سؤال التحدّي</a:t>
            </a:r>
          </a:p>
        </p:txBody>
      </p:sp>
      <p:sp>
        <p:nvSpPr>
          <p:cNvPr id="23" name="Rounded Rectangle 22"/>
          <p:cNvSpPr/>
          <p:nvPr/>
        </p:nvSpPr>
        <p:spPr>
          <a:xfrm>
            <a:off x="508863" y="2240280"/>
            <a:ext cx="2103120" cy="2514600"/>
          </a:xfrm>
          <a:prstGeom prst="roundRect">
            <a:avLst>
              <a:gd name="adj" fmla="val 5217"/>
            </a:avLst>
          </a:prstGeom>
          <a:solidFill>
            <a:srgbClr val="FFFFFF"/>
          </a:solidFill>
          <a:ln w="12700">
            <a:solidFill>
              <a:srgbClr val="E3DCCB"/>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24" name="Picture 23" descr="badge_maha.png"/>
          <p:cNvPicPr>
            <a:picLocks noChangeAspect="1"/>
          </p:cNvPicPr>
          <p:nvPr/>
        </p:nvPicPr>
        <p:blipFill>
          <a:blip r:embed="rId8"/>
          <a:stretch>
            <a:fillRect/>
          </a:stretch>
        </p:blipFill>
        <p:spPr>
          <a:xfrm>
            <a:off x="760323" y="1417320"/>
            <a:ext cx="1600200" cy="1836655"/>
          </a:xfrm>
          <a:prstGeom prst="rect">
            <a:avLst/>
          </a:prstGeom>
        </p:spPr>
      </p:pic>
      <p:sp>
        <p:nvSpPr>
          <p:cNvPr id="25" name="TextBox 24"/>
          <p:cNvSpPr txBox="1"/>
          <p:nvPr/>
        </p:nvSpPr>
        <p:spPr>
          <a:xfrm>
            <a:off x="600303" y="3401568"/>
            <a:ext cx="1920239" cy="457200"/>
          </a:xfrm>
          <a:prstGeom prst="rect">
            <a:avLst/>
          </a:prstGeom>
          <a:noFill/>
        </p:spPr>
        <p:txBody>
          <a:bodyPr wrap="square" lIns="73152" tIns="36576" rIns="73152" bIns="36576" anchor="ctr"/>
          <a:lstStyle/>
          <a:p>
            <a:pPr algn="ctr" rtl="1"/>
            <a:r>
              <a:rPr lang="ar-AE" altLang="en-US" sz="1900" b="1" i="0">
                <a:solidFill>
                  <a:srgbClr val="0F7C73"/>
                </a:solidFill>
                <a:latin typeface="Arial"/>
                <a:cs typeface="Arial"/>
              </a:rPr>
              <a:t>وسام مها</a:t>
            </a:r>
          </a:p>
        </p:txBody>
      </p:sp>
      <p:sp>
        <p:nvSpPr>
          <p:cNvPr id="26" name="TextBox 25"/>
          <p:cNvSpPr txBox="1"/>
          <p:nvPr/>
        </p:nvSpPr>
        <p:spPr>
          <a:xfrm>
            <a:off x="646023" y="3886200"/>
            <a:ext cx="1828799" cy="1371600"/>
          </a:xfrm>
          <a:prstGeom prst="rect">
            <a:avLst/>
          </a:prstGeom>
          <a:noFill/>
        </p:spPr>
        <p:txBody>
          <a:bodyPr wrap="square" lIns="73152" tIns="36576" rIns="73152" bIns="36576" anchor="t"/>
          <a:lstStyle/>
          <a:p>
            <a:pPr algn="ctr" rtl="1"/>
            <a:r>
              <a:rPr lang="ar-AE" altLang="en-US" sz="1450" b="1" i="0">
                <a:solidFill>
                  <a:srgbClr val="3E4C61"/>
                </a:solidFill>
                <a:latin typeface="Arial"/>
                <a:cs typeface="Arial"/>
              </a:rPr>
              <a:t>لأفضل حلٍّ بيئي مستدام</a:t>
            </a:r>
          </a:p>
        </p:txBody>
      </p:sp>
      <p:sp>
        <p:nvSpPr>
          <p:cNvPr id="27" name="TextBox 26"/>
          <p:cNvSpPr txBox="1"/>
          <p:nvPr/>
        </p:nvSpPr>
        <p:spPr>
          <a:xfrm>
            <a:off x="2011680" y="5074920"/>
            <a:ext cx="8138160" cy="457200"/>
          </a:xfrm>
          <a:prstGeom prst="rect">
            <a:avLst/>
          </a:prstGeom>
          <a:noFill/>
        </p:spPr>
        <p:txBody>
          <a:bodyPr wrap="square" lIns="73152" tIns="36576" rIns="73152" bIns="36576" anchor="ctr"/>
          <a:lstStyle/>
          <a:p>
            <a:pPr algn="ctr" rtl="1"/>
            <a:r>
              <a:rPr lang="ar-AE" altLang="en-US" sz="1700" b="1" i="0">
                <a:solidFill>
                  <a:srgbClr val="102A43"/>
                </a:solidFill>
                <a:latin typeface="Arial"/>
                <a:cs typeface="Arial"/>
              </a:rPr>
              <a:t>في نهاية الحصة نعلن المجموعات الفائزة بالأوسمة ★</a:t>
            </a:r>
          </a:p>
        </p:txBody>
      </p:sp>
      <p:pic>
        <p:nvPicPr>
          <p:cNvPr id="28" name="Picture 27" descr="group_chars_cream.png"/>
          <p:cNvPicPr>
            <a:picLocks noChangeAspect="1"/>
          </p:cNvPicPr>
          <p:nvPr/>
        </p:nvPicPr>
        <p:blipFill>
          <a:blip r:embed="rId9"/>
          <a:stretch>
            <a:fillRect/>
          </a:stretch>
        </p:blipFill>
        <p:spPr>
          <a:xfrm>
            <a:off x="274320" y="5440680"/>
            <a:ext cx="1207008" cy="109728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219325" y="4748212"/>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625328" y="1344168"/>
            <a:ext cx="1234440"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قبلي</a:t>
            </a:r>
          </a:p>
        </p:txBody>
      </p:sp>
      <p:sp>
        <p:nvSpPr>
          <p:cNvPr id="21" name="TextBox 20"/>
          <p:cNvSpPr txBox="1"/>
          <p:nvPr/>
        </p:nvSpPr>
        <p:spPr>
          <a:xfrm>
            <a:off x="5861303" y="1280160"/>
            <a:ext cx="4654297"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ماذا تتذكّر من حصة الأمس؟</a:t>
            </a:r>
          </a:p>
        </p:txBody>
      </p:sp>
      <p:pic>
        <p:nvPicPr>
          <p:cNvPr id="22" name="Picture 21" descr="badge_ahmed.png"/>
          <p:cNvPicPr>
            <a:picLocks noChangeAspect="1"/>
          </p:cNvPicPr>
          <p:nvPr/>
        </p:nvPicPr>
        <p:blipFill>
          <a:blip r:embed="rId6"/>
          <a:stretch>
            <a:fillRect/>
          </a:stretch>
        </p:blipFill>
        <p:spPr>
          <a:xfrm>
            <a:off x="2560320" y="1210464"/>
            <a:ext cx="566928" cy="600047"/>
          </a:xfrm>
          <a:prstGeom prst="rect">
            <a:avLst/>
          </a:prstGeom>
        </p:spPr>
      </p:pic>
      <p:sp>
        <p:nvSpPr>
          <p:cNvPr id="23" name="Rounded Rectangular Callout 22"/>
          <p:cNvSpPr/>
          <p:nvPr/>
        </p:nvSpPr>
        <p:spPr>
          <a:xfrm>
            <a:off x="3209544" y="1307592"/>
            <a:ext cx="2523744" cy="420624"/>
          </a:xfrm>
          <a:prstGeom prst="wedgeRoundRectCallout">
            <a:avLst>
              <a:gd name="adj1" fmla="val -54347"/>
              <a:gd name="adj2" fmla="val 18000"/>
              <a:gd name="adj3" fmla="val 16667"/>
            </a:avLst>
          </a:prstGeom>
          <a:solidFill>
            <a:srgbClr val="FFFFFF"/>
          </a:solidFill>
          <a:ln w="19050">
            <a:solidFill>
              <a:srgbClr val="1C2F5E"/>
            </a:solidFill>
          </a:ln>
        </p:spPr>
        <p:txBody>
          <a:bodyPr lIns="54864" tIns="27432" rIns="54864" bIns="27432" rtlCol="0" anchor="ctr"/>
          <a:lstStyle/>
          <a:p>
            <a:pPr algn="ctr"/>
            <a:endParaRPr/>
          </a:p>
        </p:txBody>
      </p:sp>
      <p:sp>
        <p:nvSpPr>
          <p:cNvPr id="24" name="TextBox 23"/>
          <p:cNvSpPr txBox="1"/>
          <p:nvPr/>
        </p:nvSpPr>
        <p:spPr>
          <a:xfrm>
            <a:off x="3246120" y="1307592"/>
            <a:ext cx="2450591" cy="420624"/>
          </a:xfrm>
          <a:prstGeom prst="rect">
            <a:avLst/>
          </a:prstGeom>
          <a:noFill/>
        </p:spPr>
        <p:txBody>
          <a:bodyPr wrap="square" lIns="36576" tIns="0" rIns="36576" bIns="0" anchor="ctr"/>
          <a:lstStyle/>
          <a:p>
            <a:pPr algn="r" rtl="1"/>
            <a:r>
              <a:rPr lang="ar-AE" altLang="en-US" sz="1150" b="1" i="0">
                <a:solidFill>
                  <a:srgbClr val="1C2F5E"/>
                </a:solidFill>
                <a:latin typeface="Arial"/>
                <a:cs typeface="Arial"/>
              </a:rPr>
              <a:t>أحمد: </a:t>
            </a:r>
            <a:r>
              <a:rPr lang="ar-AE" altLang="en-US" sz="1150" b="1" i="0">
                <a:solidFill>
                  <a:srgbClr val="102A43"/>
                </a:solidFill>
                <a:latin typeface="Arial"/>
                <a:cs typeface="Arial"/>
              </a:rPr>
              <a:t>تذكّروا رحلة النيتروجين!</a:t>
            </a:r>
          </a:p>
        </p:txBody>
      </p:sp>
      <p:sp>
        <p:nvSpPr>
          <p:cNvPr id="25" name="Rounded Rectangle 24"/>
          <p:cNvSpPr/>
          <p:nvPr/>
        </p:nvSpPr>
        <p:spPr>
          <a:xfrm>
            <a:off x="4160520" y="1965960"/>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26" name="Oval 25"/>
          <p:cNvSpPr/>
          <p:nvPr/>
        </p:nvSpPr>
        <p:spPr>
          <a:xfrm>
            <a:off x="11365992" y="2176272"/>
            <a:ext cx="365760" cy="365760"/>
          </a:xfrm>
          <a:prstGeom prst="ellipse">
            <a:avLst/>
          </a:prstGeom>
          <a:solidFill>
            <a:srgbClr val="D2691E"/>
          </a:solidFill>
          <a:ln>
            <a:noFill/>
          </a:ln>
        </p:spPr>
        <p:txBody>
          <a:bodyPr wrap="square" lIns="0" tIns="0" rIns="0" bIns="0" rtlCol="0" anchor="ctr"/>
          <a:lstStyle/>
          <a:p>
            <a:pPr algn="ctr" rtl="1"/>
            <a:r>
              <a:rPr lang="ar-AE" altLang="en-US" sz="1400" b="1" i="0">
                <a:solidFill>
                  <a:srgbClr val="FFFFFF"/>
                </a:solidFill>
                <a:latin typeface="Arial"/>
                <a:cs typeface="Arial"/>
              </a:rPr>
              <a:t>1</a:t>
            </a:r>
          </a:p>
        </p:txBody>
      </p:sp>
      <p:sp>
        <p:nvSpPr>
          <p:cNvPr id="27" name="TextBox 26"/>
          <p:cNvSpPr txBox="1"/>
          <p:nvPr/>
        </p:nvSpPr>
        <p:spPr>
          <a:xfrm>
            <a:off x="5577840" y="1965960"/>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لا تستطيع معظم الكائنات الحية استخدام غاز النيتروجين من الهواء مباشرة.</a:t>
            </a:r>
          </a:p>
        </p:txBody>
      </p:sp>
      <p:sp>
        <p:nvSpPr>
          <p:cNvPr id="28" name="Rounded Rectangle 27"/>
          <p:cNvSpPr/>
          <p:nvPr/>
        </p:nvSpPr>
        <p:spPr>
          <a:xfrm>
            <a:off x="4251959" y="2176272"/>
            <a:ext cx="1234440" cy="365760"/>
          </a:xfrm>
          <a:prstGeom prst="roundRect">
            <a:avLst>
              <a:gd name="adj" fmla="val 50000"/>
            </a:avLst>
          </a:prstGeom>
          <a:solidFill>
            <a:srgbClr val="2E9E5B"/>
          </a:solidFill>
          <a:ln>
            <a:noFill/>
          </a:ln>
        </p:spPr>
        <p:txBody>
          <a:bodyPr wrap="square" lIns="0" tIns="0" rIns="0" bIns="0" rtlCol="0" anchor="ctr"/>
          <a:lstStyle/>
          <a:p>
            <a:pPr algn="ctr" rtl="1"/>
            <a:r>
              <a:rPr lang="ar-AE" altLang="en-US" sz="1400" b="1" i="0">
                <a:solidFill>
                  <a:srgbClr val="FFFFFF"/>
                </a:solidFill>
                <a:latin typeface="Arial"/>
                <a:cs typeface="Arial"/>
              </a:rPr>
              <a:t>صح</a:t>
            </a:r>
          </a:p>
        </p:txBody>
      </p:sp>
      <p:sp>
        <p:nvSpPr>
          <p:cNvPr id="29" name="Rounded Rectangle 28"/>
          <p:cNvSpPr/>
          <p:nvPr/>
        </p:nvSpPr>
        <p:spPr>
          <a:xfrm>
            <a:off x="4160520" y="2898648"/>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30" name="Oval 29"/>
          <p:cNvSpPr/>
          <p:nvPr/>
        </p:nvSpPr>
        <p:spPr>
          <a:xfrm>
            <a:off x="11365992" y="3108960"/>
            <a:ext cx="365760" cy="365760"/>
          </a:xfrm>
          <a:prstGeom prst="ellipse">
            <a:avLst/>
          </a:prstGeom>
          <a:solidFill>
            <a:srgbClr val="D2691E"/>
          </a:solidFill>
          <a:ln>
            <a:noFill/>
          </a:ln>
        </p:spPr>
        <p:txBody>
          <a:bodyPr wrap="square" lIns="0" tIns="0" rIns="0" bIns="0" rtlCol="0" anchor="ctr"/>
          <a:lstStyle/>
          <a:p>
            <a:pPr algn="ctr" rtl="1"/>
            <a:r>
              <a:rPr lang="ar-AE" altLang="en-US" sz="1400" b="1" i="0">
                <a:solidFill>
                  <a:srgbClr val="FFFFFF"/>
                </a:solidFill>
                <a:latin typeface="Arial"/>
                <a:cs typeface="Arial"/>
              </a:rPr>
              <a:t>2</a:t>
            </a:r>
          </a:p>
        </p:txBody>
      </p:sp>
      <p:sp>
        <p:nvSpPr>
          <p:cNvPr id="31" name="TextBox 30"/>
          <p:cNvSpPr txBox="1"/>
          <p:nvPr/>
        </p:nvSpPr>
        <p:spPr>
          <a:xfrm>
            <a:off x="5577840" y="2898648"/>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تعيد البكتيريا المثبّتة للنيتروجين غاز النيتروجين إلى الغلاف الجوي.</a:t>
            </a:r>
          </a:p>
        </p:txBody>
      </p:sp>
      <p:sp>
        <p:nvSpPr>
          <p:cNvPr id="32" name="Rounded Rectangle 31"/>
          <p:cNvSpPr/>
          <p:nvPr/>
        </p:nvSpPr>
        <p:spPr>
          <a:xfrm>
            <a:off x="4251959" y="3108960"/>
            <a:ext cx="1234440" cy="365760"/>
          </a:xfrm>
          <a:prstGeom prst="roundRect">
            <a:avLst>
              <a:gd name="adj" fmla="val 50000"/>
            </a:avLst>
          </a:prstGeom>
          <a:solidFill>
            <a:srgbClr val="C8102E"/>
          </a:solidFill>
          <a:ln>
            <a:noFill/>
          </a:ln>
        </p:spPr>
        <p:txBody>
          <a:bodyPr wrap="square" lIns="0" tIns="0" rIns="0" bIns="0" rtlCol="0" anchor="ctr"/>
          <a:lstStyle/>
          <a:p>
            <a:pPr algn="ctr" rtl="1"/>
            <a:r>
              <a:rPr lang="ar-AE" altLang="en-US" sz="1400" b="1" i="0">
                <a:solidFill>
                  <a:srgbClr val="FFFFFF"/>
                </a:solidFill>
                <a:latin typeface="Arial"/>
                <a:cs typeface="Arial"/>
              </a:rPr>
              <a:t>خطأ</a:t>
            </a:r>
          </a:p>
        </p:txBody>
      </p:sp>
      <p:sp>
        <p:nvSpPr>
          <p:cNvPr id="33" name="Rounded Rectangle 32"/>
          <p:cNvSpPr/>
          <p:nvPr/>
        </p:nvSpPr>
        <p:spPr>
          <a:xfrm>
            <a:off x="4160520" y="3831335"/>
            <a:ext cx="7680960" cy="786384"/>
          </a:xfrm>
          <a:prstGeom prst="roundRect">
            <a:avLst>
              <a:gd name="adj" fmla="val 13953"/>
            </a:avLst>
          </a:prstGeom>
          <a:solidFill>
            <a:srgbClr val="FFFFFF"/>
          </a:solidFill>
          <a:ln w="12700">
            <a:solidFill>
              <a:srgbClr val="D5DDE8"/>
            </a:solidFill>
          </a:ln>
        </p:spPr>
        <p:txBody>
          <a:bodyPr lIns="54864" tIns="27432" rIns="54864" bIns="27432" rtlCol="0" anchor="ctr"/>
          <a:lstStyle/>
          <a:p>
            <a:pPr algn="ctr"/>
            <a:endParaRPr/>
          </a:p>
        </p:txBody>
      </p:sp>
      <p:sp>
        <p:nvSpPr>
          <p:cNvPr id="34" name="Oval 33"/>
          <p:cNvSpPr/>
          <p:nvPr/>
        </p:nvSpPr>
        <p:spPr>
          <a:xfrm>
            <a:off x="11365992" y="4041648"/>
            <a:ext cx="365760" cy="365760"/>
          </a:xfrm>
          <a:prstGeom prst="ellipse">
            <a:avLst/>
          </a:prstGeom>
          <a:solidFill>
            <a:srgbClr val="D2691E"/>
          </a:solidFill>
          <a:ln>
            <a:noFill/>
          </a:ln>
        </p:spPr>
        <p:txBody>
          <a:bodyPr wrap="square" lIns="0" tIns="0" rIns="0" bIns="0" rtlCol="0" anchor="ctr"/>
          <a:lstStyle/>
          <a:p>
            <a:pPr algn="ctr" rtl="1"/>
            <a:r>
              <a:rPr lang="ar-AE" altLang="en-US" sz="1400" b="1" i="0">
                <a:solidFill>
                  <a:srgbClr val="FFFFFF"/>
                </a:solidFill>
                <a:latin typeface="Arial"/>
                <a:cs typeface="Arial"/>
              </a:rPr>
              <a:t>3</a:t>
            </a:r>
          </a:p>
        </p:txBody>
      </p:sp>
      <p:sp>
        <p:nvSpPr>
          <p:cNvPr id="35" name="TextBox 34"/>
          <p:cNvSpPr txBox="1"/>
          <p:nvPr/>
        </p:nvSpPr>
        <p:spPr>
          <a:xfrm>
            <a:off x="5577840" y="3831335"/>
            <a:ext cx="5715000" cy="786384"/>
          </a:xfrm>
          <a:prstGeom prst="rect">
            <a:avLst/>
          </a:prstGeom>
          <a:noFill/>
        </p:spPr>
        <p:txBody>
          <a:bodyPr wrap="square" lIns="36576" tIns="0" rIns="36576" bIns="0" anchor="ctr"/>
          <a:lstStyle/>
          <a:p>
            <a:pPr algn="r" rtl="1"/>
            <a:r>
              <a:rPr lang="ar-AE" altLang="en-US" sz="1500" b="1" i="0">
                <a:solidFill>
                  <a:srgbClr val="102A43"/>
                </a:solidFill>
                <a:latin typeface="Arial"/>
                <a:cs typeface="Arial"/>
              </a:rPr>
              <a:t>يؤدي الإفراط في استخدام الأسمدة إلى تكاثر هائل للطحالب في المسطحات المائية.</a:t>
            </a:r>
          </a:p>
        </p:txBody>
      </p:sp>
      <p:sp>
        <p:nvSpPr>
          <p:cNvPr id="36" name="Rounded Rectangle 35"/>
          <p:cNvSpPr/>
          <p:nvPr/>
        </p:nvSpPr>
        <p:spPr>
          <a:xfrm>
            <a:off x="4251959" y="4041648"/>
            <a:ext cx="1234440" cy="365760"/>
          </a:xfrm>
          <a:prstGeom prst="roundRect">
            <a:avLst>
              <a:gd name="adj" fmla="val 50000"/>
            </a:avLst>
          </a:prstGeom>
          <a:solidFill>
            <a:srgbClr val="2E9E5B"/>
          </a:solidFill>
          <a:ln>
            <a:noFill/>
          </a:ln>
        </p:spPr>
        <p:txBody>
          <a:bodyPr wrap="square" lIns="0" tIns="0" rIns="0" bIns="0" rtlCol="0" anchor="ctr"/>
          <a:lstStyle/>
          <a:p>
            <a:pPr algn="ctr" rtl="1"/>
            <a:r>
              <a:rPr lang="ar-AE" altLang="en-US" sz="1400" b="1" i="0">
                <a:solidFill>
                  <a:srgbClr val="FFFFFF"/>
                </a:solidFill>
                <a:latin typeface="Arial"/>
                <a:cs typeface="Arial"/>
              </a:rPr>
              <a:t>صح</a:t>
            </a:r>
          </a:p>
        </p:txBody>
      </p:sp>
      <p:pic>
        <p:nvPicPr>
          <p:cNvPr id="37" name="مؤقت 1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2011680"/>
            <a:ext cx="1298448" cy="1298448"/>
          </a:xfrm>
          <a:prstGeom prst="rect">
            <a:avLst/>
          </a:prstGeom>
        </p:spPr>
      </p:pic>
      <p:sp>
        <p:nvSpPr>
          <p:cNvPr id="38" name="Oval 37"/>
          <p:cNvSpPr/>
          <p:nvPr/>
        </p:nvSpPr>
        <p:spPr>
          <a:xfrm>
            <a:off x="2971800" y="3977639"/>
            <a:ext cx="777240" cy="777240"/>
          </a:xfrm>
          <a:prstGeom prst="ellipse">
            <a:avLst/>
          </a:prstGeom>
          <a:solidFill>
            <a:srgbClr val="D2691E"/>
          </a:solidFill>
          <a:ln>
            <a:noFill/>
          </a:ln>
        </p:spPr>
        <p:txBody>
          <a:bodyPr lIns="54864" tIns="27432" rIns="54864" bIns="27432" rtlCol="0" anchor="ctr"/>
          <a:lstStyle/>
          <a:p>
            <a:pPr algn="ctr"/>
            <a:endParaRPr/>
          </a:p>
        </p:txBody>
      </p:sp>
      <p:pic>
        <p:nvPicPr>
          <p:cNvPr id="39" name="Picture 38" descr="q_w.png"/>
          <p:cNvPicPr>
            <a:picLocks noChangeAspect="1"/>
          </p:cNvPicPr>
          <p:nvPr/>
        </p:nvPicPr>
        <p:blipFill>
          <a:blip r:embed="rId8"/>
          <a:stretch>
            <a:fillRect/>
          </a:stretch>
        </p:blipFill>
        <p:spPr>
          <a:xfrm>
            <a:off x="3142792" y="4148632"/>
            <a:ext cx="435254" cy="435254"/>
          </a:xfrm>
          <a:prstGeom prst="rect">
            <a:avLst/>
          </a:prstGeom>
        </p:spPr>
      </p:pic>
      <p:sp>
        <p:nvSpPr>
          <p:cNvPr id="40" name="TextBox 39"/>
          <p:cNvSpPr txBox="1"/>
          <p:nvPr/>
        </p:nvSpPr>
        <p:spPr>
          <a:xfrm>
            <a:off x="2651760" y="4800600"/>
            <a:ext cx="1417320" cy="640080"/>
          </a:xfrm>
          <a:prstGeom prst="rect">
            <a:avLst/>
          </a:prstGeom>
          <a:noFill/>
        </p:spPr>
        <p:txBody>
          <a:bodyPr wrap="square" lIns="73152" tIns="36576" rIns="73152" bIns="36576" anchor="ctr"/>
          <a:lstStyle/>
          <a:p>
            <a:pPr algn="ctr" rtl="1"/>
            <a:r>
              <a:rPr lang="ar-AE" altLang="en-US" sz="1500" b="1" i="0">
                <a:solidFill>
                  <a:srgbClr val="D2691E"/>
                </a:solidFill>
                <a:latin typeface="Arial"/>
                <a:cs typeface="Arial"/>
              </a:rPr>
              <a:t>صح أم خطأ؟</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7"/>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37"/>
                                        </p:tgtEl>
                                      </p:cBhvr>
                                    </p:cmd>
                                  </p:childTnLst>
                                </p:cTn>
                              </p:par>
                            </p:childTnLst>
                          </p:cTn>
                        </p:par>
                      </p:childTnLst>
                    </p:cTn>
                  </p:par>
                </p:childTnLst>
              </p:cTn>
              <p:nextCondLst>
                <p:cond evt="onNext" delay="0">
                  <p:tgtEl>
                    <p:sldTgt/>
                  </p:tgtEl>
                </p:cond>
              </p:nextCondLst>
            </p:seq>
            <p:video>
              <p:cMediaNode vol="80000">
                <p:cTn id="25" fill="hold" display="0">
                  <p:stCondLst>
                    <p:cond delay="indefinite"/>
                  </p:stCondLst>
                </p:cTn>
                <p:tgtEl>
                  <p:spTgt spid="37"/>
                </p:tgtEl>
              </p:cMediaNode>
            </p:video>
          </p:childTnLst>
        </p:cTn>
      </p:par>
    </p:tnLst>
    <p:bldLst>
      <p:bldP spid="28" grpId="0" animBg="1"/>
      <p:bldP spid="32"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145268" y="1344168"/>
            <a:ext cx="1714500"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التهيئة الحافزة</a:t>
            </a:r>
          </a:p>
        </p:txBody>
      </p:sp>
      <p:sp>
        <p:nvSpPr>
          <p:cNvPr id="21" name="TextBox 20"/>
          <p:cNvSpPr txBox="1"/>
          <p:nvPr/>
        </p:nvSpPr>
        <p:spPr>
          <a:xfrm>
            <a:off x="5756402" y="1280160"/>
            <a:ext cx="4279138" cy="502920"/>
          </a:xfrm>
          <a:prstGeom prst="rect">
            <a:avLst/>
          </a:prstGeom>
          <a:noFill/>
        </p:spPr>
        <p:txBody>
          <a:bodyPr wrap="square" lIns="18288" tIns="0" rIns="18288" bIns="0" anchor="ctr"/>
          <a:lstStyle/>
          <a:p>
            <a:pPr algn="r" rtl="1"/>
            <a:r>
              <a:rPr lang="ar-AE" altLang="en-US" sz="1700" b="1" i="0">
                <a:solidFill>
                  <a:srgbClr val="102A43"/>
                </a:solidFill>
                <a:latin typeface="Arial"/>
                <a:cs typeface="Arial"/>
              </a:rPr>
              <a:t>لغز: الفوسفور في عظامك… فمن أين جاء؟</a:t>
            </a:r>
          </a:p>
        </p:txBody>
      </p:sp>
      <p:pic>
        <p:nvPicPr>
          <p:cNvPr id="22" name="Picture 21" descr="badge_fahem.png"/>
          <p:cNvPicPr>
            <a:picLocks noChangeAspect="1"/>
          </p:cNvPicPr>
          <p:nvPr/>
        </p:nvPicPr>
        <p:blipFill>
          <a:blip r:embed="rId6"/>
          <a:stretch>
            <a:fillRect/>
          </a:stretch>
        </p:blipFill>
        <p:spPr>
          <a:xfrm>
            <a:off x="2560320" y="1185137"/>
            <a:ext cx="566928" cy="625374"/>
          </a:xfrm>
          <a:prstGeom prst="rect">
            <a:avLst/>
          </a:prstGeom>
        </p:spPr>
      </p:pic>
      <p:sp>
        <p:nvSpPr>
          <p:cNvPr id="23" name="Rounded Rectangular Callout 22"/>
          <p:cNvSpPr/>
          <p:nvPr/>
        </p:nvSpPr>
        <p:spPr>
          <a:xfrm>
            <a:off x="3209544" y="1307592"/>
            <a:ext cx="2418841" cy="420624"/>
          </a:xfrm>
          <a:prstGeom prst="wedgeRoundRectCallout">
            <a:avLst>
              <a:gd name="adj1" fmla="val -54536"/>
              <a:gd name="adj2" fmla="val 18000"/>
              <a:gd name="adj3" fmla="val 16667"/>
            </a:avLst>
          </a:prstGeom>
          <a:solidFill>
            <a:srgbClr val="FFFFFF"/>
          </a:solidFill>
          <a:ln w="19050">
            <a:solidFill>
              <a:srgbClr val="1E6B3A"/>
            </a:solidFill>
          </a:ln>
        </p:spPr>
        <p:txBody>
          <a:bodyPr lIns="54864" tIns="27432" rIns="54864" bIns="27432" rtlCol="0" anchor="ctr"/>
          <a:lstStyle/>
          <a:p>
            <a:pPr algn="ctr"/>
            <a:endParaRPr/>
          </a:p>
        </p:txBody>
      </p:sp>
      <p:sp>
        <p:nvSpPr>
          <p:cNvPr id="24" name="TextBox 23"/>
          <p:cNvSpPr txBox="1"/>
          <p:nvPr/>
        </p:nvSpPr>
        <p:spPr>
          <a:xfrm>
            <a:off x="3246120" y="1307592"/>
            <a:ext cx="2345689" cy="420624"/>
          </a:xfrm>
          <a:prstGeom prst="rect">
            <a:avLst/>
          </a:prstGeom>
          <a:noFill/>
        </p:spPr>
        <p:txBody>
          <a:bodyPr wrap="square" lIns="36576" tIns="0" rIns="36576" bIns="0" anchor="ctr"/>
          <a:lstStyle/>
          <a:p>
            <a:pPr algn="r" rtl="1"/>
            <a:r>
              <a:rPr lang="ar-AE" altLang="en-US" sz="1150" b="1" i="0">
                <a:solidFill>
                  <a:srgbClr val="1E6B3A"/>
                </a:solidFill>
                <a:latin typeface="Arial"/>
                <a:cs typeface="Arial"/>
              </a:rPr>
              <a:t>فاهم: </a:t>
            </a:r>
            <a:r>
              <a:rPr lang="ar-AE" altLang="en-US" sz="1150" b="1" i="0">
                <a:solidFill>
                  <a:srgbClr val="102A43"/>
                </a:solidFill>
                <a:latin typeface="Arial"/>
                <a:cs typeface="Arial"/>
              </a:rPr>
              <a:t>لغز العظام… من يحلّه؟</a:t>
            </a:r>
          </a:p>
        </p:txBody>
      </p:sp>
      <p:pic>
        <p:nvPicPr>
          <p:cNvPr id="25" name="مؤقت 2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1901952"/>
            <a:ext cx="1188720" cy="1188720"/>
          </a:xfrm>
          <a:prstGeom prst="rect">
            <a:avLst/>
          </a:prstGeom>
        </p:spPr>
      </p:pic>
      <p:sp>
        <p:nvSpPr>
          <p:cNvPr id="26" name="Oval 25"/>
          <p:cNvSpPr/>
          <p:nvPr/>
        </p:nvSpPr>
        <p:spPr>
          <a:xfrm>
            <a:off x="4160520" y="2423160"/>
            <a:ext cx="2560320" cy="2560320"/>
          </a:xfrm>
          <a:prstGeom prst="ellipse">
            <a:avLst/>
          </a:prstGeom>
          <a:noFill/>
          <a:ln w="28575">
            <a:solidFill>
              <a:srgbClr val="C9A96A"/>
            </a:solidFill>
            <a:prstDash val="dash"/>
          </a:ln>
        </p:spPr>
        <p:txBody>
          <a:bodyPr lIns="54864" tIns="27432" rIns="54864" bIns="27432" rtlCol="0" anchor="ctr"/>
          <a:lstStyle/>
          <a:p>
            <a:pPr algn="ctr"/>
            <a:endParaRPr/>
          </a:p>
        </p:txBody>
      </p:sp>
      <p:sp>
        <p:nvSpPr>
          <p:cNvPr id="27" name="Oval 26"/>
          <p:cNvSpPr/>
          <p:nvPr/>
        </p:nvSpPr>
        <p:spPr>
          <a:xfrm>
            <a:off x="4873752" y="3136391"/>
            <a:ext cx="1133856" cy="1133856"/>
          </a:xfrm>
          <a:prstGeom prst="ellipse">
            <a:avLst/>
          </a:prstGeom>
          <a:solidFill>
            <a:srgbClr val="D2691E"/>
          </a:solidFill>
          <a:ln w="38100">
            <a:solidFill>
              <a:srgbClr val="FFFFFF"/>
            </a:solidFill>
          </a:ln>
          <a:effectLst>
            <a:outerShdw blurRad="76200" dist="31750" dir="5400000" algn="t" rotWithShape="0">
              <a:srgbClr val="1E2B3C">
                <a:alpha val="22000"/>
              </a:srgbClr>
            </a:outerShdw>
          </a:effectLst>
        </p:spPr>
        <p:txBody>
          <a:bodyPr wrap="square" lIns="0" tIns="0" rIns="0" bIns="0" rtlCol="0" anchor="ctr"/>
          <a:lstStyle/>
          <a:p>
            <a:pPr algn="ctr"/>
            <a:r>
              <a:rPr lang="ar-AE" altLang="en-US" sz="3800" b="1" i="0">
                <a:solidFill>
                  <a:srgbClr val="FFFFFF"/>
                </a:solidFill>
                <a:latin typeface="Arial"/>
                <a:cs typeface="Arial"/>
              </a:rPr>
              <a:t>P</a:t>
            </a:r>
          </a:p>
        </p:txBody>
      </p:sp>
      <p:sp>
        <p:nvSpPr>
          <p:cNvPr id="28" name="TextBox 27"/>
          <p:cNvSpPr txBox="1"/>
          <p:nvPr/>
        </p:nvSpPr>
        <p:spPr>
          <a:xfrm>
            <a:off x="4800600" y="4306824"/>
            <a:ext cx="1280160" cy="274320"/>
          </a:xfrm>
          <a:prstGeom prst="rect">
            <a:avLst/>
          </a:prstGeom>
          <a:noFill/>
        </p:spPr>
        <p:txBody>
          <a:bodyPr wrap="square" lIns="0" tIns="0" rIns="0" bIns="0" anchor="ctr"/>
          <a:lstStyle/>
          <a:p>
            <a:pPr algn="ctr" rtl="1"/>
            <a:r>
              <a:rPr lang="ar-AE" altLang="en-US" sz="1300" b="1" i="0">
                <a:solidFill>
                  <a:srgbClr val="D2691E"/>
                </a:solidFill>
                <a:latin typeface="Arial"/>
                <a:cs typeface="Arial"/>
              </a:rPr>
              <a:t>الفوسفور</a:t>
            </a:r>
          </a:p>
        </p:txBody>
      </p:sp>
      <p:sp>
        <p:nvSpPr>
          <p:cNvPr id="29" name="Oval 28"/>
          <p:cNvSpPr/>
          <p:nvPr/>
        </p:nvSpPr>
        <p:spPr>
          <a:xfrm>
            <a:off x="4169710" y="2432350"/>
            <a:ext cx="731520" cy="731520"/>
          </a:xfrm>
          <a:prstGeom prst="ellipse">
            <a:avLst/>
          </a:prstGeom>
          <a:solidFill>
            <a:srgbClr val="8B5A2B"/>
          </a:solidFill>
          <a:ln w="25400">
            <a:solidFill>
              <a:srgbClr val="FFFFFF"/>
            </a:solidFill>
          </a:ln>
        </p:spPr>
        <p:txBody>
          <a:bodyPr lIns="54864" tIns="27432" rIns="54864" bIns="27432" rtlCol="0" anchor="ctr"/>
          <a:lstStyle/>
          <a:p>
            <a:pPr algn="ctr"/>
            <a:endParaRPr/>
          </a:p>
        </p:txBody>
      </p:sp>
      <p:pic>
        <p:nvPicPr>
          <p:cNvPr id="30" name="Picture 29" descr="bone_w.png"/>
          <p:cNvPicPr>
            <a:picLocks noChangeAspect="1"/>
          </p:cNvPicPr>
          <p:nvPr/>
        </p:nvPicPr>
        <p:blipFill>
          <a:blip r:embed="rId8"/>
          <a:stretch>
            <a:fillRect/>
          </a:stretch>
        </p:blipFill>
        <p:spPr>
          <a:xfrm>
            <a:off x="4330644" y="2593284"/>
            <a:ext cx="409651" cy="409651"/>
          </a:xfrm>
          <a:prstGeom prst="rect">
            <a:avLst/>
          </a:prstGeom>
        </p:spPr>
      </p:pic>
      <p:sp>
        <p:nvSpPr>
          <p:cNvPr id="31" name="TextBox 30"/>
          <p:cNvSpPr txBox="1"/>
          <p:nvPr/>
        </p:nvSpPr>
        <p:spPr>
          <a:xfrm>
            <a:off x="3803950" y="2103166"/>
            <a:ext cx="1463040" cy="292608"/>
          </a:xfrm>
          <a:prstGeom prst="rect">
            <a:avLst/>
          </a:prstGeom>
          <a:noFill/>
        </p:spPr>
        <p:txBody>
          <a:bodyPr wrap="square" lIns="0" tIns="0" rIns="0" bIns="0" anchor="ctr"/>
          <a:lstStyle/>
          <a:p>
            <a:pPr algn="ctr" rtl="1"/>
            <a:r>
              <a:rPr lang="ar-AE" altLang="en-US" sz="1350" b="1" i="0">
                <a:solidFill>
                  <a:srgbClr val="102A43"/>
                </a:solidFill>
                <a:latin typeface="Arial"/>
                <a:cs typeface="Arial"/>
              </a:rPr>
              <a:t>العظام</a:t>
            </a:r>
          </a:p>
        </p:txBody>
      </p:sp>
      <p:sp>
        <p:nvSpPr>
          <p:cNvPr id="32" name="Oval 31"/>
          <p:cNvSpPr/>
          <p:nvPr/>
        </p:nvSpPr>
        <p:spPr>
          <a:xfrm>
            <a:off x="5980129" y="2432350"/>
            <a:ext cx="731520" cy="731520"/>
          </a:xfrm>
          <a:prstGeom prst="ellipse">
            <a:avLst/>
          </a:prstGeom>
          <a:solidFill>
            <a:srgbClr val="8B5A2B"/>
          </a:solidFill>
          <a:ln w="25400">
            <a:solidFill>
              <a:srgbClr val="FFFFFF"/>
            </a:solidFill>
          </a:ln>
        </p:spPr>
        <p:txBody>
          <a:bodyPr lIns="54864" tIns="27432" rIns="54864" bIns="27432" rtlCol="0" anchor="ctr"/>
          <a:lstStyle/>
          <a:p>
            <a:pPr algn="ctr"/>
            <a:endParaRPr/>
          </a:p>
        </p:txBody>
      </p:sp>
      <p:pic>
        <p:nvPicPr>
          <p:cNvPr id="33" name="Picture 32" descr="tooth_w.png"/>
          <p:cNvPicPr>
            <a:picLocks noChangeAspect="1"/>
          </p:cNvPicPr>
          <p:nvPr/>
        </p:nvPicPr>
        <p:blipFill>
          <a:blip r:embed="rId9"/>
          <a:stretch>
            <a:fillRect/>
          </a:stretch>
        </p:blipFill>
        <p:spPr>
          <a:xfrm>
            <a:off x="6141064" y="2593284"/>
            <a:ext cx="409651" cy="409651"/>
          </a:xfrm>
          <a:prstGeom prst="rect">
            <a:avLst/>
          </a:prstGeom>
        </p:spPr>
      </p:pic>
      <p:sp>
        <p:nvSpPr>
          <p:cNvPr id="34" name="TextBox 33"/>
          <p:cNvSpPr txBox="1"/>
          <p:nvPr/>
        </p:nvSpPr>
        <p:spPr>
          <a:xfrm>
            <a:off x="5614369" y="2103166"/>
            <a:ext cx="1463040" cy="292608"/>
          </a:xfrm>
          <a:prstGeom prst="rect">
            <a:avLst/>
          </a:prstGeom>
          <a:noFill/>
        </p:spPr>
        <p:txBody>
          <a:bodyPr wrap="square" lIns="0" tIns="0" rIns="0" bIns="0" anchor="ctr"/>
          <a:lstStyle/>
          <a:p>
            <a:pPr algn="ctr" rtl="1"/>
            <a:r>
              <a:rPr lang="ar-AE" altLang="en-US" sz="1350" b="1" i="0">
                <a:solidFill>
                  <a:srgbClr val="102A43"/>
                </a:solidFill>
                <a:latin typeface="Arial"/>
                <a:cs typeface="Arial"/>
              </a:rPr>
              <a:t>الأسنان</a:t>
            </a:r>
          </a:p>
        </p:txBody>
      </p:sp>
      <p:sp>
        <p:nvSpPr>
          <p:cNvPr id="35" name="Oval 34"/>
          <p:cNvSpPr/>
          <p:nvPr/>
        </p:nvSpPr>
        <p:spPr>
          <a:xfrm>
            <a:off x="4169710" y="4242769"/>
            <a:ext cx="731520" cy="731520"/>
          </a:xfrm>
          <a:prstGeom prst="ellipse">
            <a:avLst/>
          </a:prstGeom>
          <a:solidFill>
            <a:srgbClr val="9E4F17"/>
          </a:solidFill>
          <a:ln w="25400">
            <a:solidFill>
              <a:srgbClr val="FFFFFF"/>
            </a:solidFill>
          </a:ln>
        </p:spPr>
        <p:txBody>
          <a:bodyPr lIns="54864" tIns="27432" rIns="54864" bIns="27432" rtlCol="0" anchor="ctr"/>
          <a:lstStyle/>
          <a:p>
            <a:pPr algn="ctr"/>
            <a:endParaRPr/>
          </a:p>
        </p:txBody>
      </p:sp>
      <p:pic>
        <p:nvPicPr>
          <p:cNvPr id="36" name="Picture 35" descr="dna_w.png"/>
          <p:cNvPicPr>
            <a:picLocks noChangeAspect="1"/>
          </p:cNvPicPr>
          <p:nvPr/>
        </p:nvPicPr>
        <p:blipFill>
          <a:blip r:embed="rId10"/>
          <a:stretch>
            <a:fillRect/>
          </a:stretch>
        </p:blipFill>
        <p:spPr>
          <a:xfrm>
            <a:off x="4330644" y="4403704"/>
            <a:ext cx="409651" cy="409651"/>
          </a:xfrm>
          <a:prstGeom prst="rect">
            <a:avLst/>
          </a:prstGeom>
        </p:spPr>
      </p:pic>
      <p:sp>
        <p:nvSpPr>
          <p:cNvPr id="37" name="TextBox 36"/>
          <p:cNvSpPr txBox="1"/>
          <p:nvPr/>
        </p:nvSpPr>
        <p:spPr>
          <a:xfrm>
            <a:off x="3803950" y="4992577"/>
            <a:ext cx="1463040" cy="292608"/>
          </a:xfrm>
          <a:prstGeom prst="rect">
            <a:avLst/>
          </a:prstGeom>
          <a:noFill/>
        </p:spPr>
        <p:txBody>
          <a:bodyPr wrap="square" lIns="0" tIns="0" rIns="0" bIns="0" anchor="ctr"/>
          <a:lstStyle/>
          <a:p>
            <a:pPr algn="ctr" rtl="1"/>
            <a:r>
              <a:rPr lang="ar-AE" altLang="en-US" sz="1350" b="1" i="0">
                <a:solidFill>
                  <a:srgbClr val="102A43"/>
                </a:solidFill>
                <a:latin typeface="Arial"/>
                <a:cs typeface="Arial"/>
              </a:rPr>
              <a:t>DNA</a:t>
            </a:r>
          </a:p>
        </p:txBody>
      </p:sp>
      <p:sp>
        <p:nvSpPr>
          <p:cNvPr id="38" name="Oval 37"/>
          <p:cNvSpPr/>
          <p:nvPr/>
        </p:nvSpPr>
        <p:spPr>
          <a:xfrm>
            <a:off x="5980129" y="4242769"/>
            <a:ext cx="731520" cy="731520"/>
          </a:xfrm>
          <a:prstGeom prst="ellipse">
            <a:avLst/>
          </a:prstGeom>
          <a:solidFill>
            <a:srgbClr val="9E4F17"/>
          </a:solidFill>
          <a:ln w="25400">
            <a:solidFill>
              <a:srgbClr val="FFFFFF"/>
            </a:solidFill>
          </a:ln>
        </p:spPr>
        <p:txBody>
          <a:bodyPr lIns="54864" tIns="27432" rIns="54864" bIns="27432" rtlCol="0" anchor="ctr"/>
          <a:lstStyle/>
          <a:p>
            <a:pPr algn="ctr"/>
            <a:endParaRPr/>
          </a:p>
        </p:txBody>
      </p:sp>
      <p:pic>
        <p:nvPicPr>
          <p:cNvPr id="39" name="Picture 38" descr="bolt_w.png"/>
          <p:cNvPicPr>
            <a:picLocks noChangeAspect="1"/>
          </p:cNvPicPr>
          <p:nvPr/>
        </p:nvPicPr>
        <p:blipFill>
          <a:blip r:embed="rId11"/>
          <a:stretch>
            <a:fillRect/>
          </a:stretch>
        </p:blipFill>
        <p:spPr>
          <a:xfrm>
            <a:off x="6141064" y="4403704"/>
            <a:ext cx="409651" cy="409651"/>
          </a:xfrm>
          <a:prstGeom prst="rect">
            <a:avLst/>
          </a:prstGeom>
        </p:spPr>
      </p:pic>
      <p:sp>
        <p:nvSpPr>
          <p:cNvPr id="40" name="TextBox 39"/>
          <p:cNvSpPr txBox="1"/>
          <p:nvPr/>
        </p:nvSpPr>
        <p:spPr>
          <a:xfrm>
            <a:off x="5614369" y="4992577"/>
            <a:ext cx="1463040" cy="292608"/>
          </a:xfrm>
          <a:prstGeom prst="rect">
            <a:avLst/>
          </a:prstGeom>
          <a:noFill/>
        </p:spPr>
        <p:txBody>
          <a:bodyPr wrap="square" lIns="0" tIns="0" rIns="0" bIns="0" anchor="ctr"/>
          <a:lstStyle/>
          <a:p>
            <a:pPr algn="ctr" rtl="1"/>
            <a:r>
              <a:rPr lang="ar-AE" altLang="en-US" sz="1350" b="1" i="0">
                <a:solidFill>
                  <a:srgbClr val="102A43"/>
                </a:solidFill>
                <a:latin typeface="Arial"/>
                <a:cs typeface="Arial"/>
              </a:rPr>
              <a:t>جزيء الطاقة ATP</a:t>
            </a:r>
          </a:p>
        </p:txBody>
      </p:sp>
      <p:sp>
        <p:nvSpPr>
          <p:cNvPr id="41" name="Rounded Rectangle 40"/>
          <p:cNvSpPr/>
          <p:nvPr/>
        </p:nvSpPr>
        <p:spPr>
          <a:xfrm>
            <a:off x="7269480" y="1901952"/>
            <a:ext cx="4572000" cy="3602736"/>
          </a:xfrm>
          <a:prstGeom prst="roundRect">
            <a:avLst>
              <a:gd name="adj" fmla="val 3045"/>
            </a:avLst>
          </a:prstGeom>
          <a:solidFill>
            <a:srgbClr val="FDF1E6"/>
          </a:solidFill>
          <a:ln w="12700">
            <a:solidFill>
              <a:srgbClr val="F1CBA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42" name="TextBox 41"/>
          <p:cNvSpPr txBox="1"/>
          <p:nvPr/>
        </p:nvSpPr>
        <p:spPr>
          <a:xfrm>
            <a:off x="7406640" y="2011680"/>
            <a:ext cx="4297680" cy="1207008"/>
          </a:xfrm>
          <a:prstGeom prst="rect">
            <a:avLst/>
          </a:prstGeom>
          <a:noFill/>
        </p:spPr>
        <p:txBody>
          <a:bodyPr wrap="square" lIns="73152" tIns="36576" rIns="73152" bIns="36576" anchor="t"/>
          <a:lstStyle/>
          <a:p>
            <a:pPr algn="r" rtl="1">
              <a:spcAft>
                <a:spcPts val="400"/>
              </a:spcAft>
            </a:pPr>
            <a:r>
              <a:rPr lang="ar-AE" altLang="en-US" sz="1450" b="1" i="0">
                <a:solidFill>
                  <a:srgbClr val="21364F"/>
                </a:solidFill>
                <a:latin typeface="Arial"/>
                <a:cs typeface="Arial"/>
              </a:rPr>
              <a:t>يحتاج جسمك إلى الفوسفور ليبني العظام والأسنان وDNA وجزيء الطاقة ATP…</a:t>
            </a:r>
          </a:p>
          <a:p>
            <a:pPr algn="r" rtl="1"/>
            <a:r>
              <a:rPr lang="ar-AE" altLang="en-US" sz="1450" b="1" i="0">
                <a:solidFill>
                  <a:srgbClr val="C8102E"/>
                </a:solidFill>
                <a:latin typeface="Arial"/>
                <a:cs typeface="Arial"/>
              </a:rPr>
              <a:t>لكنّ الفوسفور لا يوجد غازًا في الهواء أبدًا!</a:t>
            </a:r>
          </a:p>
        </p:txBody>
      </p:sp>
      <p:sp>
        <p:nvSpPr>
          <p:cNvPr id="43" name="TextBox 42"/>
          <p:cNvSpPr txBox="1"/>
          <p:nvPr/>
        </p:nvSpPr>
        <p:spPr>
          <a:xfrm>
            <a:off x="7406640" y="3246120"/>
            <a:ext cx="4297680" cy="822960"/>
          </a:xfrm>
          <a:prstGeom prst="rect">
            <a:avLst/>
          </a:prstGeom>
          <a:noFill/>
        </p:spPr>
        <p:txBody>
          <a:bodyPr wrap="square" lIns="73152" tIns="36576" rIns="73152" bIns="36576" anchor="ctr"/>
          <a:lstStyle/>
          <a:p>
            <a:pPr algn="r" rtl="1"/>
            <a:r>
              <a:rPr lang="ar-AE" altLang="en-US" sz="1800" b="1" i="0">
                <a:solidFill>
                  <a:srgbClr val="D2691E"/>
                </a:solidFill>
                <a:latin typeface="Arial"/>
                <a:cs typeface="Arial"/>
              </a:rPr>
              <a:t>فمن أين جاء الفوسفور الموجود في عظامك؟</a:t>
            </a:r>
          </a:p>
        </p:txBody>
      </p:sp>
      <p:sp>
        <p:nvSpPr>
          <p:cNvPr id="44" name="Rounded Rectangle 43"/>
          <p:cNvSpPr/>
          <p:nvPr/>
        </p:nvSpPr>
        <p:spPr>
          <a:xfrm>
            <a:off x="10561320" y="4206240"/>
            <a:ext cx="1188720" cy="457200"/>
          </a:xfrm>
          <a:prstGeom prst="roundRect">
            <a:avLst>
              <a:gd name="adj" fmla="val 30000"/>
            </a:avLst>
          </a:prstGeom>
          <a:solidFill>
            <a:srgbClr val="5A687D"/>
          </a:solidFill>
          <a:ln>
            <a:noFill/>
          </a:ln>
        </p:spPr>
        <p:txBody>
          <a:bodyPr wrap="square" lIns="36576" tIns="18288" rIns="36576" bIns="18288" rtlCol="0" anchor="ctr"/>
          <a:lstStyle/>
          <a:p>
            <a:pPr algn="ctr" rtl="1"/>
            <a:r>
              <a:rPr lang="ar-AE" altLang="en-US" sz="1600" b="1" i="0">
                <a:solidFill>
                  <a:srgbClr val="FFFFFF"/>
                </a:solidFill>
                <a:latin typeface="Arial"/>
                <a:cs typeface="Arial"/>
              </a:rPr>
              <a:t>تنفّستُه</a:t>
            </a:r>
          </a:p>
        </p:txBody>
      </p:sp>
      <p:sp>
        <p:nvSpPr>
          <p:cNvPr id="45" name="Rounded Rectangle 44"/>
          <p:cNvSpPr/>
          <p:nvPr/>
        </p:nvSpPr>
        <p:spPr>
          <a:xfrm>
            <a:off x="9235440" y="4206240"/>
            <a:ext cx="1188720" cy="457200"/>
          </a:xfrm>
          <a:prstGeom prst="roundRect">
            <a:avLst>
              <a:gd name="adj" fmla="val 30000"/>
            </a:avLst>
          </a:prstGeom>
          <a:solidFill>
            <a:srgbClr val="2E9E5B"/>
          </a:solidFill>
          <a:ln>
            <a:noFill/>
          </a:ln>
        </p:spPr>
        <p:txBody>
          <a:bodyPr wrap="square" lIns="36576" tIns="18288" rIns="36576" bIns="18288" rtlCol="0" anchor="ctr"/>
          <a:lstStyle/>
          <a:p>
            <a:pPr algn="ctr" rtl="1"/>
            <a:r>
              <a:rPr lang="ar-AE" altLang="en-US" sz="1600" b="1" i="0">
                <a:solidFill>
                  <a:srgbClr val="FFFFFF"/>
                </a:solidFill>
                <a:latin typeface="Arial"/>
                <a:cs typeface="Arial"/>
              </a:rPr>
              <a:t>أكلتُه</a:t>
            </a:r>
          </a:p>
        </p:txBody>
      </p:sp>
      <p:sp>
        <p:nvSpPr>
          <p:cNvPr id="46" name="Rounded Rectangle 45"/>
          <p:cNvSpPr/>
          <p:nvPr/>
        </p:nvSpPr>
        <p:spPr>
          <a:xfrm>
            <a:off x="7909560" y="4206240"/>
            <a:ext cx="1188720" cy="457200"/>
          </a:xfrm>
          <a:prstGeom prst="roundRect">
            <a:avLst>
              <a:gd name="adj" fmla="val 30000"/>
            </a:avLst>
          </a:prstGeom>
          <a:solidFill>
            <a:srgbClr val="1E88C8"/>
          </a:solidFill>
          <a:ln>
            <a:noFill/>
          </a:ln>
        </p:spPr>
        <p:txBody>
          <a:bodyPr wrap="square" lIns="36576" tIns="18288" rIns="36576" bIns="18288" rtlCol="0" anchor="ctr"/>
          <a:lstStyle/>
          <a:p>
            <a:pPr algn="ctr" rtl="1"/>
            <a:r>
              <a:rPr lang="ar-AE" altLang="en-US" sz="1600" b="1" i="0">
                <a:solidFill>
                  <a:srgbClr val="FFFFFF"/>
                </a:solidFill>
                <a:latin typeface="Arial"/>
                <a:cs typeface="Arial"/>
              </a:rPr>
              <a:t>شربتُه</a:t>
            </a:r>
          </a:p>
        </p:txBody>
      </p:sp>
      <p:sp>
        <p:nvSpPr>
          <p:cNvPr id="47" name="TextBox 46"/>
          <p:cNvSpPr txBox="1"/>
          <p:nvPr/>
        </p:nvSpPr>
        <p:spPr>
          <a:xfrm>
            <a:off x="7406640" y="4800600"/>
            <a:ext cx="4297680" cy="594360"/>
          </a:xfrm>
          <a:prstGeom prst="rect">
            <a:avLst/>
          </a:prstGeom>
          <a:noFill/>
        </p:spPr>
        <p:txBody>
          <a:bodyPr wrap="square" lIns="73152" tIns="36576" rIns="73152" bIns="36576" anchor="ctr"/>
          <a:lstStyle/>
          <a:p>
            <a:pPr algn="r" rtl="1"/>
            <a:r>
              <a:rPr lang="ar-AE" altLang="en-US" sz="1300" b="1" i="0">
                <a:solidFill>
                  <a:srgbClr val="4A5A70"/>
                </a:solidFill>
                <a:latin typeface="Arial"/>
                <a:cs typeface="Arial"/>
              </a:rPr>
              <a:t>صوّتوا الآن… وسنكتشف الإجابة في الناتج الأول!</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5"/>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نكتشفه معًا…</a:t>
            </a:r>
          </a:p>
        </p:txBody>
      </p:sp>
      <p:sp>
        <p:nvSpPr>
          <p:cNvPr id="13" name="Rounded Rectangle 12"/>
          <p:cNvSpPr/>
          <p:nvPr/>
        </p:nvSpPr>
        <p:spPr>
          <a:xfrm>
            <a:off x="9665208" y="1344168"/>
            <a:ext cx="2194560"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هدف الحصة ونواتج التعلم</a:t>
            </a:r>
          </a:p>
        </p:txBody>
      </p:sp>
      <p:sp>
        <p:nvSpPr>
          <p:cNvPr id="14" name="TextBox 13"/>
          <p:cNvSpPr txBox="1"/>
          <p:nvPr/>
        </p:nvSpPr>
        <p:spPr>
          <a:xfrm>
            <a:off x="2606040" y="1280160"/>
            <a:ext cx="694944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ماذا تتوقعون أن نتعلم اليوم؟</a:t>
            </a:r>
          </a:p>
        </p:txBody>
      </p:sp>
      <p:pic>
        <p:nvPicPr>
          <p:cNvPr id="15" name="Picture 14" descr="badge_ahmed.png"/>
          <p:cNvPicPr>
            <a:picLocks noChangeAspect="1"/>
          </p:cNvPicPr>
          <p:nvPr/>
        </p:nvPicPr>
        <p:blipFill>
          <a:blip r:embed="rId4"/>
          <a:stretch>
            <a:fillRect/>
          </a:stretch>
        </p:blipFill>
        <p:spPr>
          <a:xfrm>
            <a:off x="2697480" y="1856891"/>
            <a:ext cx="603504" cy="638760"/>
          </a:xfrm>
          <a:prstGeom prst="rect">
            <a:avLst/>
          </a:prstGeom>
        </p:spPr>
      </p:pic>
      <p:sp>
        <p:nvSpPr>
          <p:cNvPr id="16" name="Rounded Rectangular Callout 15"/>
          <p:cNvSpPr/>
          <p:nvPr/>
        </p:nvSpPr>
        <p:spPr>
          <a:xfrm>
            <a:off x="3410712" y="1847088"/>
            <a:ext cx="4773168" cy="658368"/>
          </a:xfrm>
          <a:prstGeom prst="wedgeRoundRectCallout">
            <a:avLst>
              <a:gd name="adj1" fmla="val -53065"/>
              <a:gd name="adj2" fmla="val 12000"/>
              <a:gd name="adj3" fmla="val 16667"/>
            </a:avLst>
          </a:prstGeom>
          <a:solidFill>
            <a:srgbClr val="FFFFFF"/>
          </a:solidFill>
          <a:ln w="22225">
            <a:solidFill>
              <a:srgbClr val="1C2F5E"/>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7" name="TextBox 16"/>
          <p:cNvSpPr txBox="1"/>
          <p:nvPr/>
        </p:nvSpPr>
        <p:spPr>
          <a:xfrm>
            <a:off x="3465576" y="1865376"/>
            <a:ext cx="4663440" cy="621792"/>
          </a:xfrm>
          <a:prstGeom prst="rect">
            <a:avLst/>
          </a:prstGeom>
          <a:noFill/>
        </p:spPr>
        <p:txBody>
          <a:bodyPr wrap="square" lIns="54864" tIns="27432" rIns="54864" bIns="27432" anchor="ctr"/>
          <a:lstStyle/>
          <a:p>
            <a:pPr algn="r" rtl="1"/>
            <a:r>
              <a:rPr lang="ar-AE" altLang="en-US" sz="1300" b="1" i="0">
                <a:solidFill>
                  <a:srgbClr val="1C2F5E"/>
                </a:solidFill>
                <a:latin typeface="Arial"/>
                <a:cs typeface="Arial"/>
              </a:rPr>
              <a:t>أحمد: </a:t>
            </a:r>
            <a:r>
              <a:rPr lang="ar-AE" altLang="en-US" sz="1300" b="1" i="0">
                <a:solidFill>
                  <a:srgbClr val="102A43"/>
                </a:solidFill>
                <a:latin typeface="Arial"/>
                <a:cs typeface="Arial"/>
              </a:rPr>
              <a:t>من اللغز… استنتجوا هدفنا اليوم، ثم لنتحقق منه معًا!</a:t>
            </a:r>
          </a:p>
        </p:txBody>
      </p:sp>
      <p:sp>
        <p:nvSpPr>
          <p:cNvPr id="18" name="Rounded Rectangle 17"/>
          <p:cNvSpPr/>
          <p:nvPr/>
        </p:nvSpPr>
        <p:spPr>
          <a:xfrm>
            <a:off x="2697480" y="2651760"/>
            <a:ext cx="9144000" cy="868680"/>
          </a:xfrm>
          <a:prstGeom prst="roundRect">
            <a:avLst>
              <a:gd name="adj" fmla="val 14736"/>
            </a:avLst>
          </a:prstGeom>
          <a:solidFill>
            <a:srgbClr val="102A43"/>
          </a:solidFill>
          <a:ln>
            <a:noFill/>
          </a:ln>
        </p:spPr>
        <p:txBody>
          <a:bodyPr wrap="square" lIns="182880" rIns="182880" rtlCol="0" anchor="ctr"/>
          <a:lstStyle/>
          <a:p>
            <a:pPr algn="r" rtl="1"/>
            <a:r>
              <a:rPr lang="ar-AE" altLang="en-US" sz="1550" b="1" i="0">
                <a:solidFill>
                  <a:srgbClr val="C9A96A"/>
                </a:solidFill>
                <a:latin typeface="Arial"/>
                <a:cs typeface="Arial"/>
              </a:rPr>
              <a:t>هدف الحصة: </a:t>
            </a:r>
            <a:r>
              <a:rPr lang="ar-AE" altLang="en-US" sz="1550" b="1" i="0">
                <a:solidFill>
                  <a:srgbClr val="FFFFFF"/>
                </a:solidFill>
                <a:latin typeface="Arial"/>
                <a:cs typeface="Arial"/>
              </a:rPr>
              <a:t>يستكشف الطالب كيف ينتقل الفوسفور بين الصخور والتربة والماء والكائنات الحية، ويقارن بين دورات المادة، ويقوّم أثر الإنسان في توازنها.</a:t>
            </a:r>
          </a:p>
        </p:txBody>
      </p:sp>
      <p:sp>
        <p:nvSpPr>
          <p:cNvPr id="19" name="Rounded Rectangle 18"/>
          <p:cNvSpPr/>
          <p:nvPr/>
        </p:nvSpPr>
        <p:spPr>
          <a:xfrm>
            <a:off x="8851392"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D2691E"/>
                </a:solidFill>
                <a:latin typeface="Arial"/>
                <a:cs typeface="Arial"/>
              </a:rPr>
              <a:t>1. </a:t>
            </a:r>
            <a:r>
              <a:rPr lang="ar-AE" altLang="en-US" sz="1400" b="1" i="0">
                <a:solidFill>
                  <a:srgbClr val="102A43"/>
                </a:solidFill>
                <a:latin typeface="Arial"/>
                <a:cs typeface="Arial"/>
              </a:rPr>
              <a:t>يصف كيفية انتقال الفوسفور عبر الأجزاء الحيوية وغير الحيوية في دورتيه قصيرة المدى وطويلة المدى.</a:t>
            </a:r>
          </a:p>
        </p:txBody>
      </p:sp>
      <p:sp>
        <p:nvSpPr>
          <p:cNvPr id="20" name="Rounded Rectangle 19"/>
          <p:cNvSpPr/>
          <p:nvPr/>
        </p:nvSpPr>
        <p:spPr>
          <a:xfrm>
            <a:off x="8961119" y="5047488"/>
            <a:ext cx="1143000" cy="310896"/>
          </a:xfrm>
          <a:prstGeom prst="roundRect">
            <a:avLst>
              <a:gd name="adj" fmla="val 50000"/>
            </a:avLst>
          </a:prstGeom>
          <a:solidFill>
            <a:srgbClr val="3A86C8"/>
          </a:solidFill>
          <a:ln>
            <a:noFill/>
          </a:ln>
        </p:spPr>
        <p:txBody>
          <a:bodyPr wrap="square" lIns="0" tIns="0" rIns="0" bIns="0" rtlCol="0" anchor="ctr"/>
          <a:lstStyle/>
          <a:p>
            <a:pPr algn="ctr" rtl="1"/>
            <a:r>
              <a:rPr lang="ar-AE" altLang="en-US" sz="1200" b="1" i="0">
                <a:solidFill>
                  <a:srgbClr val="FFFFFF"/>
                </a:solidFill>
                <a:latin typeface="Arial"/>
                <a:cs typeface="Arial"/>
              </a:rPr>
              <a:t>فهم</a:t>
            </a:r>
          </a:p>
        </p:txBody>
      </p:sp>
      <p:sp>
        <p:nvSpPr>
          <p:cNvPr id="21" name="Rounded Rectangle 20"/>
          <p:cNvSpPr/>
          <p:nvPr/>
        </p:nvSpPr>
        <p:spPr>
          <a:xfrm>
            <a:off x="5769864"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D2691E"/>
                </a:solidFill>
                <a:latin typeface="Arial"/>
                <a:cs typeface="Arial"/>
              </a:rPr>
              <a:t>2. </a:t>
            </a:r>
            <a:r>
              <a:rPr lang="ar-AE" altLang="en-US" sz="1400" b="1" i="0">
                <a:solidFill>
                  <a:srgbClr val="102A43"/>
                </a:solidFill>
                <a:latin typeface="Arial"/>
                <a:cs typeface="Arial"/>
              </a:rPr>
              <a:t>يقارن بين دورات الماء والكربون والنيتروجين والفوسفور من حيث المخازن والعمليات ودور الكائنات الحية.</a:t>
            </a:r>
          </a:p>
        </p:txBody>
      </p:sp>
      <p:sp>
        <p:nvSpPr>
          <p:cNvPr id="22" name="Rounded Rectangle 21"/>
          <p:cNvSpPr/>
          <p:nvPr/>
        </p:nvSpPr>
        <p:spPr>
          <a:xfrm>
            <a:off x="5879592" y="5047488"/>
            <a:ext cx="1143000" cy="310896"/>
          </a:xfrm>
          <a:prstGeom prst="roundRect">
            <a:avLst>
              <a:gd name="adj" fmla="val 50000"/>
            </a:avLst>
          </a:prstGeom>
          <a:solidFill>
            <a:srgbClr val="D9A21B"/>
          </a:solidFill>
          <a:ln>
            <a:noFill/>
          </a:ln>
        </p:spPr>
        <p:txBody>
          <a:bodyPr wrap="square" lIns="0" tIns="0" rIns="0" bIns="0" rtlCol="0" anchor="ctr"/>
          <a:lstStyle/>
          <a:p>
            <a:pPr algn="ctr" rtl="1"/>
            <a:r>
              <a:rPr lang="ar-AE" altLang="en-US" sz="1200" b="1" i="0">
                <a:solidFill>
                  <a:srgbClr val="FFFFFF"/>
                </a:solidFill>
                <a:latin typeface="Arial"/>
                <a:cs typeface="Arial"/>
              </a:rPr>
              <a:t>تحليل</a:t>
            </a:r>
          </a:p>
        </p:txBody>
      </p:sp>
      <p:sp>
        <p:nvSpPr>
          <p:cNvPr id="23" name="Rounded Rectangle 22"/>
          <p:cNvSpPr/>
          <p:nvPr/>
        </p:nvSpPr>
        <p:spPr>
          <a:xfrm>
            <a:off x="2688335" y="3675887"/>
            <a:ext cx="2990088" cy="1810512"/>
          </a:xfrm>
          <a:prstGeom prst="roundRect">
            <a:avLst>
              <a:gd name="adj" fmla="val 6060"/>
            </a:avLst>
          </a:prstGeom>
          <a:solidFill>
            <a:srgbClr val="FFFFFF"/>
          </a:solidFill>
          <a:ln w="12700">
            <a:solidFill>
              <a:srgbClr val="D5DDE8"/>
            </a:solidFill>
          </a:ln>
          <a:effectLst>
            <a:outerShdw blurRad="76200" dist="31750" dir="5400000" algn="t" rotWithShape="0">
              <a:srgbClr val="1E2B3C">
                <a:alpha val="22000"/>
              </a:srgbClr>
            </a:outerShdw>
          </a:effectLst>
        </p:spPr>
        <p:txBody>
          <a:bodyPr wrap="square" lIns="128016" tIns="109728" rIns="128016" bIns="109728" rtlCol="0" anchor="t"/>
          <a:lstStyle/>
          <a:p>
            <a:pPr algn="r" rtl="1"/>
            <a:r>
              <a:rPr lang="ar-AE" altLang="en-US" sz="1400" b="1" i="0">
                <a:solidFill>
                  <a:srgbClr val="D2691E"/>
                </a:solidFill>
                <a:latin typeface="Arial"/>
                <a:cs typeface="Arial"/>
              </a:rPr>
              <a:t>3. </a:t>
            </a:r>
            <a:r>
              <a:rPr lang="ar-AE" altLang="en-US" sz="1400" b="1" i="0">
                <a:solidFill>
                  <a:srgbClr val="102A43"/>
                </a:solidFill>
                <a:latin typeface="Arial"/>
                <a:cs typeface="Arial"/>
              </a:rPr>
              <a:t>يقوّم أثر الأنشطة البشرية في دورات المادة (الإثراء الغذائي والمدّ الأحمر)، ويقترح حلولًا مناسبة.</a:t>
            </a:r>
          </a:p>
        </p:txBody>
      </p:sp>
      <p:sp>
        <p:nvSpPr>
          <p:cNvPr id="24" name="Rounded Rectangle 23"/>
          <p:cNvSpPr/>
          <p:nvPr/>
        </p:nvSpPr>
        <p:spPr>
          <a:xfrm>
            <a:off x="2798063" y="5047488"/>
            <a:ext cx="1143000" cy="310896"/>
          </a:xfrm>
          <a:prstGeom prst="roundRect">
            <a:avLst>
              <a:gd name="adj" fmla="val 50000"/>
            </a:avLst>
          </a:prstGeom>
          <a:solidFill>
            <a:srgbClr val="E07B27"/>
          </a:solidFill>
          <a:ln>
            <a:noFill/>
          </a:ln>
        </p:spPr>
        <p:txBody>
          <a:bodyPr wrap="square" lIns="0" tIns="0" rIns="0" bIns="0" rtlCol="0" anchor="ctr"/>
          <a:lstStyle/>
          <a:p>
            <a:pPr algn="ctr" rtl="1"/>
            <a:r>
              <a:rPr lang="ar-AE" altLang="en-US" sz="1200" b="1" i="0">
                <a:solidFill>
                  <a:srgbClr val="FFFFFF"/>
                </a:solidFill>
                <a:latin typeface="Arial"/>
                <a:cs typeface="Arial"/>
              </a:rPr>
              <a:t>تقويم</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low.png"/>
          <p:cNvPicPr>
            <a:picLocks noChangeAspect="1"/>
          </p:cNvPicPr>
          <p:nvPr/>
        </p:nvPicPr>
        <p:blipFill>
          <a:blip r:embed="rId3"/>
          <a:stretch>
            <a:fillRect/>
          </a:stretch>
        </p:blipFill>
        <p:spPr>
          <a:xfrm>
            <a:off x="0" y="0"/>
            <a:ext cx="12191695" cy="6858000"/>
          </a:xfrm>
          <a:prstGeom prst="rect">
            <a:avLst/>
          </a:prstGeom>
        </p:spPr>
      </p:pic>
      <p:pic>
        <p:nvPicPr>
          <p:cNvPr id="3" name="Picture 2" descr="bulb_w.png"/>
          <p:cNvPicPr>
            <a:picLocks noChangeAspect="1"/>
          </p:cNvPicPr>
          <p:nvPr/>
        </p:nvPicPr>
        <p:blipFill>
          <a:blip r:embed="rId4"/>
          <a:stretch>
            <a:fillRect/>
          </a:stretch>
        </p:blipFill>
        <p:spPr>
          <a:xfrm>
            <a:off x="9846564" y="2378964"/>
            <a:ext cx="347472" cy="347472"/>
          </a:xfrm>
          <a:prstGeom prst="rect">
            <a:avLst/>
          </a:prstGeom>
        </p:spPr>
      </p:pic>
      <p:sp>
        <p:nvSpPr>
          <p:cNvPr id="4" name="TextBox 3"/>
          <p:cNvSpPr txBox="1"/>
          <p:nvPr/>
        </p:nvSpPr>
        <p:spPr>
          <a:xfrm>
            <a:off x="9277350" y="3543300"/>
            <a:ext cx="162877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التهيئة والأهداف</a:t>
            </a:r>
          </a:p>
        </p:txBody>
      </p:sp>
      <p:sp>
        <p:nvSpPr>
          <p:cNvPr id="5" name="Rounded Rectangle 4"/>
          <p:cNvSpPr/>
          <p:nvPr/>
        </p:nvSpPr>
        <p:spPr>
          <a:xfrm>
            <a:off x="9467850" y="3914775"/>
            <a:ext cx="1247775" cy="285750"/>
          </a:xfrm>
          <a:prstGeom prst="roundRect">
            <a:avLst>
              <a:gd name="adj" fmla="val 48000"/>
            </a:avLst>
          </a:prstGeom>
          <a:solidFill>
            <a:srgbClr val="138955"/>
          </a:solidFill>
          <a:ln>
            <a:noFill/>
          </a:ln>
        </p:spPr>
        <p:txBody>
          <a:bodyPr wrap="square" lIns="0" tIns="0" rIns="0" bIns="0" rtlCol="0" anchor="ctr"/>
          <a:lstStyle/>
          <a:p>
            <a:pPr algn="ctr" rtl="1"/>
            <a:r>
              <a:rPr lang="ar-AE" altLang="en-US" sz="1250" b="1" i="0">
                <a:solidFill>
                  <a:srgbClr val="FFFFFF"/>
                </a:solidFill>
                <a:latin typeface="Arial"/>
                <a:cs typeface="Arial"/>
              </a:rPr>
              <a:t>7 دقائق</a:t>
            </a:r>
          </a:p>
        </p:txBody>
      </p:sp>
      <p:sp>
        <p:nvSpPr>
          <p:cNvPr id="6" name="TextBox 5"/>
          <p:cNvSpPr txBox="1"/>
          <p:nvPr/>
        </p:nvSpPr>
        <p:spPr>
          <a:xfrm>
            <a:off x="9296400" y="4267200"/>
            <a:ext cx="159067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لغز الفوسفور في أجسامنا، التقويم القبلي، الهدف والمفردات</a:t>
            </a:r>
          </a:p>
        </p:txBody>
      </p:sp>
      <p:sp>
        <p:nvSpPr>
          <p:cNvPr id="7" name="TextBox 6"/>
          <p:cNvSpPr txBox="1"/>
          <p:nvPr/>
        </p:nvSpPr>
        <p:spPr>
          <a:xfrm>
            <a:off x="7936229"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1</a:t>
            </a:r>
          </a:p>
        </p:txBody>
      </p:sp>
      <p:sp>
        <p:nvSpPr>
          <p:cNvPr id="8" name="TextBox 7"/>
          <p:cNvSpPr txBox="1"/>
          <p:nvPr/>
        </p:nvSpPr>
        <p:spPr>
          <a:xfrm>
            <a:off x="7467599" y="3543300"/>
            <a:ext cx="1619250"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الأول</a:t>
            </a:r>
          </a:p>
        </p:txBody>
      </p:sp>
      <p:sp>
        <p:nvSpPr>
          <p:cNvPr id="9" name="Rounded Rectangle 8"/>
          <p:cNvSpPr/>
          <p:nvPr/>
        </p:nvSpPr>
        <p:spPr>
          <a:xfrm>
            <a:off x="7658100" y="3914775"/>
            <a:ext cx="1238250" cy="285750"/>
          </a:xfrm>
          <a:prstGeom prst="roundRect">
            <a:avLst>
              <a:gd name="adj" fmla="val 48000"/>
            </a:avLst>
          </a:prstGeom>
          <a:solidFill>
            <a:srgbClr val="1C7B7D"/>
          </a:solidFill>
          <a:ln>
            <a:noFill/>
          </a:ln>
        </p:spPr>
        <p:txBody>
          <a:bodyPr wrap="square" lIns="0" tIns="0" rIns="0" bIns="0" rtlCol="0" anchor="ctr"/>
          <a:lstStyle/>
          <a:p>
            <a:pPr algn="ctr" rtl="1"/>
            <a:r>
              <a:rPr lang="ar-AE" altLang="en-US" sz="1250" b="1" i="0">
                <a:solidFill>
                  <a:srgbClr val="FFFFFF"/>
                </a:solidFill>
                <a:latin typeface="Arial"/>
                <a:cs typeface="Arial"/>
              </a:rPr>
              <a:t>12 دقيقة</a:t>
            </a:r>
          </a:p>
        </p:txBody>
      </p:sp>
      <p:sp>
        <p:nvSpPr>
          <p:cNvPr id="10" name="TextBox 9"/>
          <p:cNvSpPr txBox="1"/>
          <p:nvPr/>
        </p:nvSpPr>
        <p:spPr>
          <a:xfrm>
            <a:off x="7486650" y="4267200"/>
            <a:ext cx="1581150"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الدورة الفسفورية ومختبر آلة الزمن</a:t>
            </a:r>
          </a:p>
        </p:txBody>
      </p:sp>
      <p:sp>
        <p:nvSpPr>
          <p:cNvPr id="11" name="TextBox 10"/>
          <p:cNvSpPr txBox="1"/>
          <p:nvPr/>
        </p:nvSpPr>
        <p:spPr>
          <a:xfrm>
            <a:off x="6136005"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2</a:t>
            </a:r>
          </a:p>
        </p:txBody>
      </p:sp>
      <p:sp>
        <p:nvSpPr>
          <p:cNvPr id="12" name="TextBox 11"/>
          <p:cNvSpPr txBox="1"/>
          <p:nvPr/>
        </p:nvSpPr>
        <p:spPr>
          <a:xfrm>
            <a:off x="5667375" y="3543300"/>
            <a:ext cx="160972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الثاني</a:t>
            </a:r>
          </a:p>
        </p:txBody>
      </p:sp>
      <p:sp>
        <p:nvSpPr>
          <p:cNvPr id="13" name="Rounded Rectangle 12"/>
          <p:cNvSpPr/>
          <p:nvPr/>
        </p:nvSpPr>
        <p:spPr>
          <a:xfrm>
            <a:off x="5857875" y="3914775"/>
            <a:ext cx="1228725" cy="285750"/>
          </a:xfrm>
          <a:prstGeom prst="roundRect">
            <a:avLst>
              <a:gd name="adj" fmla="val 48000"/>
            </a:avLst>
          </a:prstGeom>
          <a:solidFill>
            <a:srgbClr val="2E5D7B"/>
          </a:solidFill>
          <a:ln>
            <a:noFill/>
          </a:ln>
        </p:spPr>
        <p:txBody>
          <a:bodyPr wrap="square" lIns="0" tIns="0" rIns="0" bIns="0" rtlCol="0" anchor="ctr"/>
          <a:lstStyle/>
          <a:p>
            <a:pPr algn="ctr" rtl="1"/>
            <a:r>
              <a:rPr lang="ar-AE" altLang="en-US" sz="1250" b="1" i="0">
                <a:solidFill>
                  <a:srgbClr val="FFFFFF"/>
                </a:solidFill>
                <a:latin typeface="Arial"/>
                <a:cs typeface="Arial"/>
              </a:rPr>
              <a:t>10 دقائق</a:t>
            </a:r>
          </a:p>
        </p:txBody>
      </p:sp>
      <p:sp>
        <p:nvSpPr>
          <p:cNvPr id="14" name="TextBox 13"/>
          <p:cNvSpPr txBox="1"/>
          <p:nvPr/>
        </p:nvSpPr>
        <p:spPr>
          <a:xfrm>
            <a:off x="5686425" y="4267200"/>
            <a:ext cx="157162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نقارن بين الدورات ونفرزها في المختبر</a:t>
            </a:r>
          </a:p>
        </p:txBody>
      </p:sp>
      <p:sp>
        <p:nvSpPr>
          <p:cNvPr id="15" name="TextBox 14"/>
          <p:cNvSpPr txBox="1"/>
          <p:nvPr/>
        </p:nvSpPr>
        <p:spPr>
          <a:xfrm>
            <a:off x="4326255" y="2278380"/>
            <a:ext cx="548640" cy="548640"/>
          </a:xfrm>
          <a:prstGeom prst="rect">
            <a:avLst/>
          </a:prstGeom>
          <a:noFill/>
        </p:spPr>
        <p:txBody>
          <a:bodyPr wrap="square" lIns="0" tIns="0" rIns="0" bIns="0" anchor="ctr"/>
          <a:lstStyle/>
          <a:p>
            <a:pPr algn="ctr" rtl="1"/>
            <a:r>
              <a:rPr lang="ar-AE" altLang="en-US" sz="2200" b="1" i="0">
                <a:solidFill>
                  <a:srgbClr val="FFFFFF"/>
                </a:solidFill>
                <a:latin typeface="Arial"/>
                <a:cs typeface="Arial"/>
              </a:rPr>
              <a:t>3</a:t>
            </a:r>
          </a:p>
        </p:txBody>
      </p:sp>
      <p:sp>
        <p:nvSpPr>
          <p:cNvPr id="16" name="TextBox 15"/>
          <p:cNvSpPr txBox="1"/>
          <p:nvPr/>
        </p:nvSpPr>
        <p:spPr>
          <a:xfrm>
            <a:off x="3857625" y="3543300"/>
            <a:ext cx="1619250"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الناتج الثالث</a:t>
            </a:r>
          </a:p>
        </p:txBody>
      </p:sp>
      <p:sp>
        <p:nvSpPr>
          <p:cNvPr id="17" name="Rounded Rectangle 16"/>
          <p:cNvSpPr/>
          <p:nvPr/>
        </p:nvSpPr>
        <p:spPr>
          <a:xfrm>
            <a:off x="4048124" y="3914775"/>
            <a:ext cx="1238250" cy="285750"/>
          </a:xfrm>
          <a:prstGeom prst="roundRect">
            <a:avLst>
              <a:gd name="adj" fmla="val 48000"/>
            </a:avLst>
          </a:prstGeom>
          <a:solidFill>
            <a:srgbClr val="996B2F"/>
          </a:solidFill>
          <a:ln>
            <a:noFill/>
          </a:ln>
        </p:spPr>
        <p:txBody>
          <a:bodyPr wrap="square" lIns="0" tIns="0" rIns="0" bIns="0" rtlCol="0" anchor="ctr"/>
          <a:lstStyle/>
          <a:p>
            <a:pPr algn="ctr" rtl="1"/>
            <a:r>
              <a:rPr lang="ar-AE" altLang="en-US" sz="1250" b="1" i="0">
                <a:solidFill>
                  <a:srgbClr val="FFFFFF"/>
                </a:solidFill>
                <a:latin typeface="Arial"/>
                <a:cs typeface="Arial"/>
              </a:rPr>
              <a:t>10 دقائق</a:t>
            </a:r>
          </a:p>
        </p:txBody>
      </p:sp>
      <p:sp>
        <p:nvSpPr>
          <p:cNvPr id="18" name="TextBox 17"/>
          <p:cNvSpPr txBox="1"/>
          <p:nvPr/>
        </p:nvSpPr>
        <p:spPr>
          <a:xfrm>
            <a:off x="3876674" y="4267200"/>
            <a:ext cx="1581150"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المدّ الأحمر: نجرّب الحلول في المختبر ونقوّمها</a:t>
            </a:r>
          </a:p>
        </p:txBody>
      </p:sp>
      <p:pic>
        <p:nvPicPr>
          <p:cNvPr id="19" name="Picture 18" descr="ticket_w.png"/>
          <p:cNvPicPr>
            <a:picLocks noChangeAspect="1"/>
          </p:cNvPicPr>
          <p:nvPr/>
        </p:nvPicPr>
        <p:blipFill>
          <a:blip r:embed="rId5"/>
          <a:stretch>
            <a:fillRect/>
          </a:stretch>
        </p:blipFill>
        <p:spPr>
          <a:xfrm>
            <a:off x="2617089" y="2378964"/>
            <a:ext cx="347472" cy="347472"/>
          </a:xfrm>
          <a:prstGeom prst="rect">
            <a:avLst/>
          </a:prstGeom>
        </p:spPr>
      </p:pic>
      <p:sp>
        <p:nvSpPr>
          <p:cNvPr id="20" name="TextBox 19"/>
          <p:cNvSpPr txBox="1"/>
          <p:nvPr/>
        </p:nvSpPr>
        <p:spPr>
          <a:xfrm>
            <a:off x="1905000" y="3543300"/>
            <a:ext cx="1762125" cy="342900"/>
          </a:xfrm>
          <a:prstGeom prst="rect">
            <a:avLst/>
          </a:prstGeom>
          <a:noFill/>
        </p:spPr>
        <p:txBody>
          <a:bodyPr wrap="square" lIns="18288" tIns="0" rIns="18288" bIns="0" anchor="ctr"/>
          <a:lstStyle/>
          <a:p>
            <a:pPr algn="ctr" rtl="1"/>
            <a:r>
              <a:rPr lang="ar-AE" altLang="en-US" sz="1350" b="1" i="0">
                <a:solidFill>
                  <a:srgbClr val="102A43"/>
                </a:solidFill>
                <a:latin typeface="Arial"/>
                <a:cs typeface="Arial"/>
              </a:rPr>
              <a:t>الختام</a:t>
            </a:r>
          </a:p>
        </p:txBody>
      </p:sp>
      <p:sp>
        <p:nvSpPr>
          <p:cNvPr id="21" name="Rounded Rectangle 20"/>
          <p:cNvSpPr/>
          <p:nvPr/>
        </p:nvSpPr>
        <p:spPr>
          <a:xfrm>
            <a:off x="2095499" y="3914775"/>
            <a:ext cx="1381125" cy="285750"/>
          </a:xfrm>
          <a:prstGeom prst="roundRect">
            <a:avLst>
              <a:gd name="adj" fmla="val 48000"/>
            </a:avLst>
          </a:prstGeom>
          <a:solidFill>
            <a:srgbClr val="C8102E"/>
          </a:solidFill>
          <a:ln>
            <a:noFill/>
          </a:ln>
        </p:spPr>
        <p:txBody>
          <a:bodyPr wrap="square" lIns="0" tIns="0" rIns="0" bIns="0" rtlCol="0" anchor="ctr"/>
          <a:lstStyle/>
          <a:p>
            <a:pPr algn="ctr" rtl="1"/>
            <a:r>
              <a:rPr lang="ar-AE" altLang="en-US" sz="1250" b="1" i="0">
                <a:solidFill>
                  <a:srgbClr val="FFFFFF"/>
                </a:solidFill>
                <a:latin typeface="Arial"/>
                <a:cs typeface="Arial"/>
              </a:rPr>
              <a:t>6 دقائق</a:t>
            </a:r>
          </a:p>
        </p:txBody>
      </p:sp>
      <p:sp>
        <p:nvSpPr>
          <p:cNvPr id="22" name="TextBox 21"/>
          <p:cNvSpPr txBox="1"/>
          <p:nvPr/>
        </p:nvSpPr>
        <p:spPr>
          <a:xfrm>
            <a:off x="1924049" y="4267200"/>
            <a:ext cx="1724025" cy="838200"/>
          </a:xfrm>
          <a:prstGeom prst="rect">
            <a:avLst/>
          </a:prstGeom>
          <a:noFill/>
        </p:spPr>
        <p:txBody>
          <a:bodyPr wrap="square" lIns="18288" tIns="0" rIns="18288" bIns="0" anchor="t"/>
          <a:lstStyle/>
          <a:p>
            <a:pPr algn="ctr" rtl="1"/>
            <a:r>
              <a:rPr lang="ar-AE" altLang="en-US" sz="1100" b="1" i="0">
                <a:solidFill>
                  <a:srgbClr val="4A5A70"/>
                </a:solidFill>
                <a:latin typeface="Arial"/>
                <a:cs typeface="Arial"/>
              </a:rPr>
              <a:t>الخلاصة، التقويم الذاتي، بطاقة الخروج</a:t>
            </a:r>
          </a:p>
        </p:txBody>
      </p:sp>
      <p:pic>
        <p:nvPicPr>
          <p:cNvPr id="23" name="Picture 22" descr="stopwatch_n.png"/>
          <p:cNvPicPr>
            <a:picLocks noChangeAspect="1"/>
          </p:cNvPicPr>
          <p:nvPr/>
        </p:nvPicPr>
        <p:blipFill>
          <a:blip r:embed="rId6"/>
          <a:stretch>
            <a:fillRect/>
          </a:stretch>
        </p:blipFill>
        <p:spPr>
          <a:xfrm>
            <a:off x="640080" y="707136"/>
            <a:ext cx="365760" cy="365760"/>
          </a:xfrm>
          <a:prstGeom prst="rect">
            <a:avLst/>
          </a:prstGeom>
        </p:spPr>
      </p:pic>
      <p:sp>
        <p:nvSpPr>
          <p:cNvPr id="24" name="TextBox 23"/>
          <p:cNvSpPr txBox="1"/>
          <p:nvPr/>
        </p:nvSpPr>
        <p:spPr>
          <a:xfrm>
            <a:off x="1352550" y="533400"/>
            <a:ext cx="723900" cy="714375"/>
          </a:xfrm>
          <a:prstGeom prst="rect">
            <a:avLst/>
          </a:prstGeom>
          <a:noFill/>
        </p:spPr>
        <p:txBody>
          <a:bodyPr wrap="square" lIns="0" tIns="0" rIns="0" bIns="0" anchor="ctr"/>
          <a:lstStyle/>
          <a:p>
            <a:pPr algn="ctr" rtl="1"/>
            <a:r>
              <a:rPr lang="ar-AE" altLang="en-US" sz="2000" b="1" i="0">
                <a:solidFill>
                  <a:srgbClr val="102A43"/>
                </a:solidFill>
                <a:latin typeface="Arial"/>
                <a:cs typeface="Arial"/>
              </a:rPr>
              <a:t>45</a:t>
            </a:r>
          </a:p>
          <a:p>
            <a:pPr algn="ctr" rtl="1"/>
            <a:r>
              <a:rPr lang="ar-AE" altLang="en-US" sz="1100" b="1" i="0">
                <a:solidFill>
                  <a:srgbClr val="102A43"/>
                </a:solidFill>
                <a:latin typeface="Arial"/>
                <a:cs typeface="Arial"/>
              </a:rPr>
              <a:t>دقيقة</a:t>
            </a:r>
          </a:p>
        </p:txBody>
      </p:sp>
      <p:sp>
        <p:nvSpPr>
          <p:cNvPr id="25" name="TextBox 24"/>
          <p:cNvSpPr txBox="1"/>
          <p:nvPr/>
        </p:nvSpPr>
        <p:spPr>
          <a:xfrm>
            <a:off x="2476500" y="5476875"/>
            <a:ext cx="8381999" cy="381000"/>
          </a:xfrm>
          <a:prstGeom prst="rect">
            <a:avLst/>
          </a:prstGeom>
          <a:noFill/>
        </p:spPr>
        <p:txBody>
          <a:bodyPr wrap="square" lIns="73152" tIns="36576" rIns="73152" bIns="36576" anchor="ctr"/>
          <a:lstStyle/>
          <a:p>
            <a:pPr algn="ctr" rtl="1"/>
            <a:r>
              <a:rPr lang="ar-AE" altLang="en-US" sz="1500" b="1" i="0">
                <a:solidFill>
                  <a:srgbClr val="9A7B3F"/>
                </a:solidFill>
                <a:latin typeface="Arial"/>
                <a:cs typeface="Arial"/>
              </a:rPr>
              <a:t>لكل نشاط مؤقّت زمني… نلتزم بالوقت لنحقق نواتج التعلم</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304800" y="4657725"/>
            <a:ext cx="1895474" cy="352425"/>
          </a:xfrm>
          <a:prstGeom prst="roundRect">
            <a:avLst>
              <a:gd name="adj" fmla="val 1297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219325" y="4748212"/>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433304" y="1344168"/>
            <a:ext cx="1426464"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مفردات الدرس</a:t>
            </a:r>
          </a:p>
        </p:txBody>
      </p:sp>
      <p:sp>
        <p:nvSpPr>
          <p:cNvPr id="21" name="TextBox 20"/>
          <p:cNvSpPr txBox="1"/>
          <p:nvPr/>
        </p:nvSpPr>
        <p:spPr>
          <a:xfrm>
            <a:off x="6213475" y="1280160"/>
            <a:ext cx="4110101"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مفردات الحصة</a:t>
            </a:r>
          </a:p>
        </p:txBody>
      </p:sp>
      <p:pic>
        <p:nvPicPr>
          <p:cNvPr id="22" name="Picture 21" descr="badge_hessa.png"/>
          <p:cNvPicPr>
            <a:picLocks noChangeAspect="1"/>
          </p:cNvPicPr>
          <p:nvPr/>
        </p:nvPicPr>
        <p:blipFill>
          <a:blip r:embed="rId4"/>
          <a:stretch>
            <a:fillRect/>
          </a:stretch>
        </p:blipFill>
        <p:spPr>
          <a:xfrm>
            <a:off x="2560320" y="1222153"/>
            <a:ext cx="566928" cy="588358"/>
          </a:xfrm>
          <a:prstGeom prst="rect">
            <a:avLst/>
          </a:prstGeom>
        </p:spPr>
      </p:pic>
      <p:sp>
        <p:nvSpPr>
          <p:cNvPr id="23" name="Rounded Rectangular Callout 22"/>
          <p:cNvSpPr/>
          <p:nvPr/>
        </p:nvSpPr>
        <p:spPr>
          <a:xfrm>
            <a:off x="3209544" y="1307592"/>
            <a:ext cx="2875914" cy="420624"/>
          </a:xfrm>
          <a:prstGeom prst="wedgeRoundRectCallout">
            <a:avLst>
              <a:gd name="adj1" fmla="val -53815"/>
              <a:gd name="adj2" fmla="val 18000"/>
              <a:gd name="adj3" fmla="val 16667"/>
            </a:avLst>
          </a:prstGeom>
          <a:solidFill>
            <a:srgbClr val="FFFFFF"/>
          </a:solidFill>
          <a:ln w="19050">
            <a:solidFill>
              <a:srgbClr val="7D1F2E"/>
            </a:solidFill>
          </a:ln>
        </p:spPr>
        <p:txBody>
          <a:bodyPr lIns="54864" tIns="27432" rIns="54864" bIns="27432" rtlCol="0" anchor="ctr"/>
          <a:lstStyle/>
          <a:p>
            <a:pPr algn="ctr"/>
            <a:endParaRPr/>
          </a:p>
        </p:txBody>
      </p:sp>
      <p:sp>
        <p:nvSpPr>
          <p:cNvPr id="24" name="TextBox 23"/>
          <p:cNvSpPr txBox="1"/>
          <p:nvPr/>
        </p:nvSpPr>
        <p:spPr>
          <a:xfrm>
            <a:off x="3246120" y="1307592"/>
            <a:ext cx="2802762" cy="420624"/>
          </a:xfrm>
          <a:prstGeom prst="rect">
            <a:avLst/>
          </a:prstGeom>
          <a:noFill/>
        </p:spPr>
        <p:txBody>
          <a:bodyPr wrap="square" lIns="36576" tIns="0" rIns="36576" bIns="0" anchor="ctr"/>
          <a:lstStyle/>
          <a:p>
            <a:pPr algn="r" rtl="1"/>
            <a:r>
              <a:rPr lang="ar-AE" altLang="en-US" sz="1150" b="1" i="0">
                <a:solidFill>
                  <a:srgbClr val="7D1F2E"/>
                </a:solidFill>
                <a:latin typeface="Arial"/>
                <a:cs typeface="Arial"/>
              </a:rPr>
              <a:t>حصة: </a:t>
            </a:r>
            <a:r>
              <a:rPr lang="ar-AE" altLang="en-US" sz="1150" b="1" i="0">
                <a:solidFill>
                  <a:srgbClr val="102A43"/>
                </a:solidFill>
                <a:latin typeface="Arial"/>
                <a:cs typeface="Arial"/>
              </a:rPr>
              <a:t>توقّعوا المعنى قبل أن يظهر!</a:t>
            </a:r>
          </a:p>
        </p:txBody>
      </p:sp>
      <p:sp>
        <p:nvSpPr>
          <p:cNvPr id="25" name="Rounded Rectangle 24"/>
          <p:cNvSpPr/>
          <p:nvPr/>
        </p:nvSpPr>
        <p:spPr>
          <a:xfrm>
            <a:off x="731519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6" name="Rounded Rectangle 25"/>
          <p:cNvSpPr/>
          <p:nvPr/>
        </p:nvSpPr>
        <p:spPr>
          <a:xfrm>
            <a:off x="7406640" y="1993392"/>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D2691E"/>
                </a:solidFill>
                <a:latin typeface="Arial"/>
                <a:cs typeface="Arial"/>
              </a:rPr>
              <a:t>الفوسفات</a:t>
            </a:r>
            <a:r>
              <a:rPr lang="ar-AE" altLang="en-US" sz="1200" b="1" i="0">
                <a:solidFill>
                  <a:srgbClr val="7A8699"/>
                </a:solidFill>
                <a:latin typeface="Arial"/>
                <a:cs typeface="Arial"/>
              </a:rPr>
              <a:t>  Phosphate</a:t>
            </a:r>
          </a:p>
        </p:txBody>
      </p:sp>
      <p:sp>
        <p:nvSpPr>
          <p:cNvPr id="27" name="TextBox 26"/>
          <p:cNvSpPr txBox="1"/>
          <p:nvPr/>
        </p:nvSpPr>
        <p:spPr>
          <a:xfrm>
            <a:off x="7424927" y="2578608"/>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الصورة التي يوجد عليها الفوسفور في الصخور والتربة والماء، وتمتصها النباتات ذائبةً في الماء.</a:t>
            </a:r>
          </a:p>
        </p:txBody>
      </p:sp>
      <p:sp>
        <p:nvSpPr>
          <p:cNvPr id="28" name="Rounded Rectangle 27"/>
          <p:cNvSpPr/>
          <p:nvPr/>
        </p:nvSpPr>
        <p:spPr>
          <a:xfrm>
            <a:off x="2651759" y="1920240"/>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9" name="Rounded Rectangle 28"/>
          <p:cNvSpPr/>
          <p:nvPr/>
        </p:nvSpPr>
        <p:spPr>
          <a:xfrm>
            <a:off x="2743199" y="1993392"/>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D2691E"/>
                </a:solidFill>
                <a:latin typeface="Arial"/>
                <a:cs typeface="Arial"/>
              </a:rPr>
              <a:t>التجوية والتعرية</a:t>
            </a:r>
            <a:r>
              <a:rPr lang="ar-AE" altLang="en-US" sz="1200" b="1" i="0">
                <a:solidFill>
                  <a:srgbClr val="7A8699"/>
                </a:solidFill>
                <a:latin typeface="Arial"/>
                <a:cs typeface="Arial"/>
              </a:rPr>
              <a:t>  Weathering &amp; Erosion</a:t>
            </a:r>
          </a:p>
        </p:txBody>
      </p:sp>
      <p:sp>
        <p:nvSpPr>
          <p:cNvPr id="30" name="TextBox 29"/>
          <p:cNvSpPr txBox="1"/>
          <p:nvPr/>
        </p:nvSpPr>
        <p:spPr>
          <a:xfrm>
            <a:off x="2761487" y="2578608"/>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تفتّت الصخور ونقل فتاتها بفعل الماء والرياح، فيتحرّر الفوسفور منها ببطء.</a:t>
            </a:r>
          </a:p>
        </p:txBody>
      </p:sp>
      <p:sp>
        <p:nvSpPr>
          <p:cNvPr id="31" name="Rounded Rectangle 30"/>
          <p:cNvSpPr/>
          <p:nvPr/>
        </p:nvSpPr>
        <p:spPr>
          <a:xfrm>
            <a:off x="731519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2" name="Rounded Rectangle 31"/>
          <p:cNvSpPr/>
          <p:nvPr/>
        </p:nvSpPr>
        <p:spPr>
          <a:xfrm>
            <a:off x="7406640" y="3822191"/>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D2691E"/>
                </a:solidFill>
                <a:latin typeface="Arial"/>
                <a:cs typeface="Arial"/>
              </a:rPr>
              <a:t>الرواسب</a:t>
            </a:r>
            <a:r>
              <a:rPr lang="ar-AE" altLang="en-US" sz="1200" b="1" i="0">
                <a:solidFill>
                  <a:srgbClr val="7A8699"/>
                </a:solidFill>
                <a:latin typeface="Arial"/>
                <a:cs typeface="Arial"/>
              </a:rPr>
              <a:t>  Sediments</a:t>
            </a:r>
          </a:p>
        </p:txBody>
      </p:sp>
      <p:sp>
        <p:nvSpPr>
          <p:cNvPr id="33" name="TextBox 32"/>
          <p:cNvSpPr txBox="1"/>
          <p:nvPr/>
        </p:nvSpPr>
        <p:spPr>
          <a:xfrm>
            <a:off x="7424927" y="4407407"/>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طبقات من الفتات والأصداف والبقايا تتراكم في قاع المسطحات المائية، وتتحوّل مع الزمن إلى صخور.</a:t>
            </a:r>
          </a:p>
        </p:txBody>
      </p:sp>
      <p:sp>
        <p:nvSpPr>
          <p:cNvPr id="34" name="Rounded Rectangle 33"/>
          <p:cNvSpPr/>
          <p:nvPr/>
        </p:nvSpPr>
        <p:spPr>
          <a:xfrm>
            <a:off x="2651759" y="3749039"/>
            <a:ext cx="4526280" cy="1700784"/>
          </a:xfrm>
          <a:prstGeom prst="roundRect">
            <a:avLst>
              <a:gd name="adj" fmla="val 6451"/>
            </a:avLst>
          </a:prstGeom>
          <a:solidFill>
            <a:srgbClr val="FFFFFF"/>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5" name="Rounded Rectangle 34"/>
          <p:cNvSpPr/>
          <p:nvPr/>
        </p:nvSpPr>
        <p:spPr>
          <a:xfrm>
            <a:off x="2743199" y="3822191"/>
            <a:ext cx="4343400" cy="530352"/>
          </a:xfrm>
          <a:prstGeom prst="roundRect">
            <a:avLst>
              <a:gd name="adj" fmla="val 17241"/>
            </a:avLst>
          </a:prstGeom>
          <a:solidFill>
            <a:srgbClr val="F3F5F8"/>
          </a:solidFill>
          <a:ln>
            <a:noFill/>
          </a:ln>
        </p:spPr>
        <p:txBody>
          <a:bodyPr wrap="square" lIns="109728" tIns="0" rIns="109728" bIns="0" rtlCol="0" anchor="ctr"/>
          <a:lstStyle/>
          <a:p>
            <a:pPr algn="r" rtl="1"/>
            <a:r>
              <a:rPr lang="ar-AE" altLang="en-US" sz="2000" b="1" i="0">
                <a:solidFill>
                  <a:srgbClr val="D2691E"/>
                </a:solidFill>
                <a:latin typeface="Arial"/>
                <a:cs typeface="Arial"/>
              </a:rPr>
              <a:t>الإثراء الغذائي</a:t>
            </a:r>
            <a:r>
              <a:rPr lang="ar-AE" altLang="en-US" sz="1200" b="1" i="0">
                <a:solidFill>
                  <a:srgbClr val="7A8699"/>
                </a:solidFill>
                <a:latin typeface="Arial"/>
                <a:cs typeface="Arial"/>
              </a:rPr>
              <a:t>  Eutrophication</a:t>
            </a:r>
          </a:p>
        </p:txBody>
      </p:sp>
      <p:sp>
        <p:nvSpPr>
          <p:cNvPr id="36" name="TextBox 35"/>
          <p:cNvSpPr txBox="1"/>
          <p:nvPr/>
        </p:nvSpPr>
        <p:spPr>
          <a:xfrm>
            <a:off x="2761487" y="4407407"/>
            <a:ext cx="4306824" cy="1005840"/>
          </a:xfrm>
          <a:prstGeom prst="rect">
            <a:avLst/>
          </a:prstGeom>
          <a:noFill/>
        </p:spPr>
        <p:txBody>
          <a:bodyPr wrap="square" lIns="54864" tIns="18288" rIns="54864" bIns="18288" anchor="ctr"/>
          <a:lstStyle/>
          <a:p>
            <a:pPr algn="r" rtl="1"/>
            <a:r>
              <a:rPr lang="ar-AE" altLang="en-US" sz="1400" b="1" i="0">
                <a:solidFill>
                  <a:srgbClr val="102A43"/>
                </a:solidFill>
                <a:latin typeface="Arial"/>
                <a:cs typeface="Arial"/>
              </a:rPr>
              <a:t>زيادة المواد المغذية (كالفوسفور والنيتروجين) في المسطح المائي، فتتكاثر الطحالب تكاثرًا هائلًا.</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29"/>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2"/>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35"/>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childTnLst>
                          </p:cTn>
                        </p:par>
                      </p:childTnLst>
                    </p:cTn>
                  </p:par>
                </p:childTnLst>
              </p:cTn>
              <p:nextCondLst>
                <p:cond evt="onNext" delay="0">
                  <p:tgtEl>
                    <p:sldTgt/>
                  </p:tgtEl>
                </p:cond>
              </p:nextCondLst>
            </p:seq>
          </p:childTnLst>
        </p:cTn>
      </p:par>
    </p:tnLst>
    <p:bldLst>
      <p:bldP spid="27" grpId="0" animBg="1"/>
      <p:bldP spid="30" grpId="0" animBg="1"/>
      <p:bldP spid="33" grpId="0" animBg="1"/>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read.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5219700" y="1781175"/>
            <a:ext cx="6096000" cy="257175"/>
          </a:xfrm>
          <a:prstGeom prst="rect">
            <a:avLst/>
          </a:prstGeom>
          <a:noFill/>
        </p:spPr>
        <p:txBody>
          <a:bodyPr wrap="square" lIns="18288" tIns="0" rIns="18288" bIns="0" anchor="ctr"/>
          <a:lstStyle/>
          <a:p>
            <a:pPr algn="r" rtl="1"/>
            <a:r>
              <a:rPr lang="ar-AE" altLang="en-US" sz="1400" b="1" i="0">
                <a:solidFill>
                  <a:srgbClr val="2C8E99"/>
                </a:solidFill>
                <a:latin typeface="Arial"/>
                <a:cs typeface="Arial"/>
              </a:rPr>
              <a:t>الدورة الفسفورية – من كتاب الطالب</a:t>
            </a:r>
          </a:p>
        </p:txBody>
      </p:sp>
      <p:sp>
        <p:nvSpPr>
          <p:cNvPr id="4" name="TextBox 3"/>
          <p:cNvSpPr txBox="1"/>
          <p:nvPr/>
        </p:nvSpPr>
        <p:spPr>
          <a:xfrm>
            <a:off x="5200650" y="2190750"/>
            <a:ext cx="6191250" cy="2619375"/>
          </a:xfrm>
          <a:prstGeom prst="rect">
            <a:avLst/>
          </a:prstGeom>
          <a:noFill/>
        </p:spPr>
        <p:txBody>
          <a:bodyPr wrap="square" lIns="45720" tIns="18288" rIns="45720" bIns="18288" anchor="t"/>
          <a:lstStyle/>
          <a:p>
            <a:pPr algn="r" rtl="1">
              <a:lnSpc>
                <a:spcPct val="112000"/>
              </a:lnSpc>
            </a:pPr>
            <a:r>
              <a:rPr lang="ar-AE" altLang="en-US" sz="1600" b="0" i="0">
                <a:solidFill>
                  <a:srgbClr val="1F2F46"/>
                </a:solidFill>
                <a:latin typeface="Arial"/>
                <a:cs typeface="Arial"/>
              </a:rPr>
              <a:t>الفوسفور عنصر ضروري لنمو الكائنات الحية وتطورها. في الدورة قصيرة المدى، ينتقل فوسفور الفوسفات الذائب في المياه من التربة إلى المنتجات، ومنها إلى المستهلكات. وعندما تموت الكائنات الحية أو تُخرج فضلاتها، تعيد المحللات الفوسفور إلى التربة حيث يمكن استخدامه مرة أخرى. وينتقل الفوسفور إلى الدورة طويلة المدى من خلال الهطول والترسيب لتكوين الصخور، ثم تضيفه تجوية الصخور أو تعريتها ببطء إلى الدورة. ولأن الفوسفات يوجد بكميات قليلة في التربة والمياه، يُعدّ الفوسفور عاملًا يحدّ من نمو المنتجات.</a:t>
            </a:r>
          </a:p>
        </p:txBody>
      </p:sp>
      <p:sp>
        <p:nvSpPr>
          <p:cNvPr id="5" name="Oval 4"/>
          <p:cNvSpPr/>
          <p:nvPr/>
        </p:nvSpPr>
        <p:spPr>
          <a:xfrm>
            <a:off x="5200650" y="5410200"/>
            <a:ext cx="552450" cy="552450"/>
          </a:xfrm>
          <a:prstGeom prst="ellipse">
            <a:avLst/>
          </a:prstGeom>
          <a:solidFill>
            <a:srgbClr val="159A65"/>
          </a:solidFill>
          <a:ln>
            <a:noFill/>
          </a:ln>
        </p:spPr>
        <p:txBody>
          <a:bodyPr wrap="square" lIns="0" tIns="0" rIns="0" bIns="0" rtlCol="0" anchor="ctr"/>
          <a:lstStyle/>
          <a:p>
            <a:pPr algn="ctr" rtl="1"/>
            <a:r>
              <a:rPr lang="ar-AE" altLang="en-US" sz="1800" b="1" i="0">
                <a:solidFill>
                  <a:srgbClr val="FFFFFF"/>
                </a:solidFill>
                <a:latin typeface="Arial"/>
                <a:cs typeface="Arial"/>
              </a:rPr>
              <a:t>1</a:t>
            </a:r>
          </a:p>
        </p:txBody>
      </p:sp>
      <p:sp>
        <p:nvSpPr>
          <p:cNvPr id="6" name="TextBox 5"/>
          <p:cNvSpPr txBox="1"/>
          <p:nvPr/>
        </p:nvSpPr>
        <p:spPr>
          <a:xfrm>
            <a:off x="5829300" y="5267325"/>
            <a:ext cx="2247900" cy="876300"/>
          </a:xfrm>
          <a:prstGeom prst="rect">
            <a:avLst/>
          </a:prstGeom>
          <a:noFill/>
        </p:spPr>
        <p:txBody>
          <a:bodyPr wrap="square" lIns="36576" tIns="0" rIns="36576" bIns="0" anchor="ctr"/>
          <a:lstStyle/>
          <a:p>
            <a:pPr algn="r" rtl="1"/>
            <a:r>
              <a:rPr lang="ar-AE" altLang="en-US" sz="1250" b="1" i="0">
                <a:solidFill>
                  <a:srgbClr val="124D33"/>
                </a:solidFill>
                <a:latin typeface="Arial"/>
                <a:cs typeface="Arial"/>
              </a:rPr>
              <a:t>ما دور المحللات في الدورة الفسفورية؟</a:t>
            </a:r>
          </a:p>
        </p:txBody>
      </p:sp>
      <p:sp>
        <p:nvSpPr>
          <p:cNvPr id="7" name="Oval 6"/>
          <p:cNvSpPr/>
          <p:nvPr/>
        </p:nvSpPr>
        <p:spPr>
          <a:xfrm>
            <a:off x="8629650" y="5410200"/>
            <a:ext cx="552450" cy="552450"/>
          </a:xfrm>
          <a:prstGeom prst="ellipse">
            <a:avLst/>
          </a:prstGeom>
          <a:solidFill>
            <a:srgbClr val="E1A94C"/>
          </a:solidFill>
          <a:ln>
            <a:noFill/>
          </a:ln>
        </p:spPr>
        <p:txBody>
          <a:bodyPr wrap="square" lIns="0" tIns="0" rIns="0" bIns="0" rtlCol="0" anchor="ctr"/>
          <a:lstStyle/>
          <a:p>
            <a:pPr algn="ctr" rtl="1"/>
            <a:r>
              <a:rPr lang="ar-AE" altLang="en-US" sz="1800" b="1" i="0">
                <a:solidFill>
                  <a:srgbClr val="FFFFFF"/>
                </a:solidFill>
                <a:latin typeface="Arial"/>
                <a:cs typeface="Arial"/>
              </a:rPr>
              <a:t>2</a:t>
            </a:r>
          </a:p>
        </p:txBody>
      </p:sp>
      <p:sp>
        <p:nvSpPr>
          <p:cNvPr id="8" name="TextBox 7"/>
          <p:cNvSpPr txBox="1"/>
          <p:nvPr/>
        </p:nvSpPr>
        <p:spPr>
          <a:xfrm>
            <a:off x="9258300" y="5267325"/>
            <a:ext cx="2247900" cy="876300"/>
          </a:xfrm>
          <a:prstGeom prst="rect">
            <a:avLst/>
          </a:prstGeom>
          <a:noFill/>
        </p:spPr>
        <p:txBody>
          <a:bodyPr wrap="square" lIns="36576" tIns="0" rIns="36576" bIns="0" anchor="ctr"/>
          <a:lstStyle/>
          <a:p>
            <a:pPr algn="r" rtl="1"/>
            <a:r>
              <a:rPr lang="ar-AE" altLang="en-US" sz="1250" b="1" i="0">
                <a:solidFill>
                  <a:srgbClr val="6B4A10"/>
                </a:solidFill>
                <a:latin typeface="Arial"/>
                <a:cs typeface="Arial"/>
              </a:rPr>
              <a:t>لماذا يُعدّ الفوسفور عاملًا يحدّ من نمو المنتجات؟</a:t>
            </a:r>
          </a:p>
        </p:txBody>
      </p:sp>
      <p:sp>
        <p:nvSpPr>
          <p:cNvPr id="9" name="Rounded Rectangle 8"/>
          <p:cNvSpPr/>
          <p:nvPr/>
        </p:nvSpPr>
        <p:spPr>
          <a:xfrm>
            <a:off x="5048250" y="5229225"/>
            <a:ext cx="3048000" cy="914400"/>
          </a:xfrm>
          <a:prstGeom prst="roundRect">
            <a:avLst>
              <a:gd name="adj" fmla="val 10000"/>
            </a:avLst>
          </a:prstGeom>
          <a:solidFill>
            <a:srgbClr val="DDF3E6"/>
          </a:solidFill>
          <a:ln w="19050">
            <a:solidFill>
              <a:srgbClr val="159A65"/>
            </a:solidFill>
          </a:ln>
        </p:spPr>
        <p:txBody>
          <a:bodyPr wrap="square" tIns="27432" bIns="27432" rtlCol="0" anchor="ctr"/>
          <a:lstStyle/>
          <a:p>
            <a:pPr algn="r" rtl="1"/>
            <a:r>
              <a:rPr lang="ar-AE" altLang="en-US" sz="1250" b="1" i="0">
                <a:solidFill>
                  <a:srgbClr val="124D33"/>
                </a:solidFill>
                <a:latin typeface="Arial"/>
                <a:cs typeface="Arial"/>
              </a:rPr>
              <a:t>تعيد الفوسفور من الكائنات الميتة والفضلات إلى التربة ليُستخدم من جديد.</a:t>
            </a:r>
          </a:p>
        </p:txBody>
      </p:sp>
      <p:sp>
        <p:nvSpPr>
          <p:cNvPr id="10" name="Rounded Rectangle 9"/>
          <p:cNvSpPr/>
          <p:nvPr/>
        </p:nvSpPr>
        <p:spPr>
          <a:xfrm>
            <a:off x="8477250" y="5229225"/>
            <a:ext cx="3048000" cy="914400"/>
          </a:xfrm>
          <a:prstGeom prst="roundRect">
            <a:avLst>
              <a:gd name="adj" fmla="val 10000"/>
            </a:avLst>
          </a:prstGeom>
          <a:solidFill>
            <a:srgbClr val="FDF0D5"/>
          </a:solidFill>
          <a:ln w="19050">
            <a:solidFill>
              <a:srgbClr val="E1A94C"/>
            </a:solidFill>
          </a:ln>
        </p:spPr>
        <p:txBody>
          <a:bodyPr wrap="square" tIns="27432" bIns="27432" rtlCol="0" anchor="ctr"/>
          <a:lstStyle/>
          <a:p>
            <a:pPr algn="r" rtl="1"/>
            <a:r>
              <a:rPr lang="ar-AE" altLang="en-US" sz="1250" b="1" i="0">
                <a:solidFill>
                  <a:srgbClr val="6B4A10"/>
                </a:solidFill>
                <a:latin typeface="Arial"/>
                <a:cs typeface="Arial"/>
              </a:rPr>
              <a:t>لأن الفوسفات يوجد بكميات قليلة في التربة والمياه.</a:t>
            </a:r>
          </a:p>
        </p:txBody>
      </p:sp>
      <p:pic>
        <p:nvPicPr>
          <p:cNvPr id="11"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75488" y="502920"/>
            <a:ext cx="1207008" cy="1207008"/>
          </a:xfrm>
          <a:prstGeom prst="rect">
            <a:avLst/>
          </a:prstGeom>
        </p:spPr>
      </p:pic>
      <p:pic>
        <p:nvPicPr>
          <p:cNvPr id="12" name="Picture 11" descr="badge_hessa.png"/>
          <p:cNvPicPr>
            <a:picLocks noChangeAspect="1"/>
          </p:cNvPicPr>
          <p:nvPr/>
        </p:nvPicPr>
        <p:blipFill>
          <a:blip r:embed="rId7"/>
          <a:stretch>
            <a:fillRect/>
          </a:stretch>
        </p:blipFill>
        <p:spPr>
          <a:xfrm>
            <a:off x="1828800" y="545340"/>
            <a:ext cx="658368" cy="683254"/>
          </a:xfrm>
          <a:prstGeom prst="rect">
            <a:avLst/>
          </a:prstGeom>
        </p:spPr>
      </p:pic>
      <p:sp>
        <p:nvSpPr>
          <p:cNvPr id="13" name="Rounded Rectangular Callout 12"/>
          <p:cNvSpPr/>
          <p:nvPr/>
        </p:nvSpPr>
        <p:spPr>
          <a:xfrm>
            <a:off x="2596896" y="530352"/>
            <a:ext cx="4169664" cy="713232"/>
          </a:xfrm>
          <a:prstGeom prst="wedgeRoundRectCallout">
            <a:avLst>
              <a:gd name="adj1" fmla="val -53508"/>
              <a:gd name="adj2" fmla="val 12000"/>
              <a:gd name="adj3" fmla="val 16667"/>
            </a:avLst>
          </a:prstGeom>
          <a:solidFill>
            <a:srgbClr val="FFFFFF"/>
          </a:solidFill>
          <a:ln w="22225">
            <a:solidFill>
              <a:srgbClr val="7D1F2E"/>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14" name="TextBox 13"/>
          <p:cNvSpPr txBox="1"/>
          <p:nvPr/>
        </p:nvSpPr>
        <p:spPr>
          <a:xfrm>
            <a:off x="2651760" y="548640"/>
            <a:ext cx="4059936" cy="676656"/>
          </a:xfrm>
          <a:prstGeom prst="rect">
            <a:avLst/>
          </a:prstGeom>
          <a:noFill/>
        </p:spPr>
        <p:txBody>
          <a:bodyPr wrap="square" lIns="54864" tIns="27432" rIns="54864" bIns="27432" anchor="ctr"/>
          <a:lstStyle/>
          <a:p>
            <a:pPr algn="r" rtl="1"/>
            <a:r>
              <a:rPr lang="ar-AE" altLang="en-US" sz="1250" b="1" i="0">
                <a:solidFill>
                  <a:srgbClr val="7D1F2E"/>
                </a:solidFill>
                <a:latin typeface="Arial"/>
                <a:cs typeface="Arial"/>
              </a:rPr>
              <a:t>حصة: </a:t>
            </a:r>
            <a:r>
              <a:rPr lang="ar-AE" altLang="en-US" sz="1250" b="1" i="0">
                <a:solidFill>
                  <a:srgbClr val="102A43"/>
                </a:solidFill>
                <a:latin typeface="Arial"/>
                <a:cs typeface="Arial"/>
              </a:rPr>
              <a:t>اقرؤوا الفقرة في المجموعة، ثم أجيبوا عن السؤالين</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11"/>
                                        </p:tgtEl>
                                      </p:cBhvr>
                                    </p:cmd>
                                  </p:childTnLst>
                                </p:cTn>
                              </p:par>
                            </p:childTnLst>
                          </p:cTn>
                        </p:par>
                      </p:childTnLst>
                    </p:cTn>
                  </p:par>
                </p:childTnLst>
              </p:cTn>
              <p:nextCondLst>
                <p:cond evt="onNext" delay="0">
                  <p:tgtEl>
                    <p:sldTgt/>
                  </p:tgtEl>
                </p:cond>
              </p:nextCondLst>
            </p:seq>
            <p:video>
              <p:cMediaNode vol="80000">
                <p:cTn id="19" fill="hold" display="0">
                  <p:stCondLst>
                    <p:cond delay="indefinite"/>
                  </p:stCondLst>
                </p:cTn>
                <p:tgtEl>
                  <p:spTgt spid="11"/>
                </p:tgtEl>
              </p:cMediaNode>
            </p:video>
          </p:childTnLst>
        </p:cTn>
      </p:par>
    </p:tnLst>
    <p:bldLst>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الدورة الفسفورية</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433304" y="1344168"/>
            <a:ext cx="1426464"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الأول</a:t>
            </a:r>
          </a:p>
        </p:txBody>
      </p:sp>
      <p:sp>
        <p:nvSpPr>
          <p:cNvPr id="22" name="TextBox 21"/>
          <p:cNvSpPr txBox="1"/>
          <p:nvPr/>
        </p:nvSpPr>
        <p:spPr>
          <a:xfrm>
            <a:off x="2606040" y="1280160"/>
            <a:ext cx="7717536"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شاهد: رحلة ذرة الفوسفور</a:t>
            </a:r>
          </a:p>
        </p:txBody>
      </p:sp>
      <p:pic>
        <p:nvPicPr>
          <p:cNvPr id="23" name="phos_cycl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440679" y="1901952"/>
            <a:ext cx="6400800" cy="3600450"/>
          </a:xfrm>
          <a:prstGeom prst="rect">
            <a:avLst/>
          </a:prstGeom>
          <a:ln w="28575">
            <a:solidFill>
              <a:srgbClr val="C9A96A"/>
            </a:solidFill>
          </a:ln>
        </p:spPr>
      </p:pic>
      <p:sp>
        <p:nvSpPr>
          <p:cNvPr id="24" name="Rounded Rectangle 23"/>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5" name="Oval 24"/>
          <p:cNvSpPr/>
          <p:nvPr/>
        </p:nvSpPr>
        <p:spPr>
          <a:xfrm>
            <a:off x="3634740" y="2011680"/>
            <a:ext cx="731520" cy="731520"/>
          </a:xfrm>
          <a:prstGeom prst="ellipse">
            <a:avLst/>
          </a:prstGeom>
          <a:solidFill>
            <a:srgbClr val="D2691E"/>
          </a:solidFill>
          <a:ln>
            <a:noFill/>
          </a:ln>
        </p:spPr>
        <p:txBody>
          <a:bodyPr lIns="54864" tIns="27432" rIns="54864" bIns="27432" rtlCol="0" anchor="ctr"/>
          <a:lstStyle/>
          <a:p>
            <a:pPr algn="ctr"/>
            <a:endParaRPr/>
          </a:p>
        </p:txBody>
      </p:sp>
      <p:pic>
        <p:nvPicPr>
          <p:cNvPr id="26" name="Picture 25" descr="eye_w.png"/>
          <p:cNvPicPr>
            <a:picLocks noChangeAspect="1"/>
          </p:cNvPicPr>
          <p:nvPr/>
        </p:nvPicPr>
        <p:blipFill>
          <a:blip r:embed="rId7"/>
          <a:stretch>
            <a:fillRect/>
          </a:stretch>
        </p:blipFill>
        <p:spPr>
          <a:xfrm>
            <a:off x="3795674" y="2172614"/>
            <a:ext cx="409651" cy="409651"/>
          </a:xfrm>
          <a:prstGeom prst="rect">
            <a:avLst/>
          </a:prstGeom>
        </p:spPr>
      </p:pic>
      <p:sp>
        <p:nvSpPr>
          <p:cNvPr id="27" name="TextBox 26"/>
          <p:cNvSpPr txBox="1"/>
          <p:nvPr/>
        </p:nvSpPr>
        <p:spPr>
          <a:xfrm>
            <a:off x="2761488" y="2816352"/>
            <a:ext cx="2478023" cy="411480"/>
          </a:xfrm>
          <a:prstGeom prst="rect">
            <a:avLst/>
          </a:prstGeom>
          <a:noFill/>
        </p:spPr>
        <p:txBody>
          <a:bodyPr wrap="square" lIns="73152" tIns="36576" rIns="73152" bIns="36576" anchor="ctr"/>
          <a:lstStyle/>
          <a:p>
            <a:pPr algn="ctr" rtl="1"/>
            <a:r>
              <a:rPr lang="ar-AE" altLang="en-US" sz="1500" b="1" i="0">
                <a:solidFill>
                  <a:srgbClr val="D2691E"/>
                </a:solidFill>
                <a:latin typeface="Arial"/>
                <a:cs typeface="Arial"/>
              </a:rPr>
              <a:t>أثناء المشاهدة:</a:t>
            </a:r>
          </a:p>
        </p:txBody>
      </p:sp>
      <p:sp>
        <p:nvSpPr>
          <p:cNvPr id="28" name="TextBox 27"/>
          <p:cNvSpPr txBox="1"/>
          <p:nvPr/>
        </p:nvSpPr>
        <p:spPr>
          <a:xfrm>
            <a:off x="2788920" y="3246120"/>
            <a:ext cx="2423159" cy="2194560"/>
          </a:xfrm>
          <a:prstGeom prst="rect">
            <a:avLst/>
          </a:prstGeom>
          <a:noFill/>
        </p:spPr>
        <p:txBody>
          <a:bodyPr wrap="square" lIns="73152" tIns="36576" rIns="73152" bIns="36576" anchor="t"/>
          <a:lstStyle/>
          <a:p>
            <a:pPr algn="r" rtl="1">
              <a:spcAft>
                <a:spcPts val="600"/>
              </a:spcAft>
            </a:pPr>
            <a:r>
              <a:rPr lang="ar-AE" altLang="en-US" sz="1300" b="1" i="0">
                <a:solidFill>
                  <a:srgbClr val="102A43"/>
                </a:solidFill>
                <a:latin typeface="Arial"/>
                <a:cs typeface="Arial"/>
              </a:rPr>
              <a:t>1) كيف يدخل الفوسفور إلى أجسام الحيوانات؟</a:t>
            </a:r>
          </a:p>
          <a:p>
            <a:pPr algn="r" rtl="1">
              <a:spcAft>
                <a:spcPts val="600"/>
              </a:spcAft>
            </a:pPr>
            <a:r>
              <a:rPr lang="ar-AE" altLang="en-US" sz="1300" b="1" i="0">
                <a:solidFill>
                  <a:srgbClr val="102A43"/>
                </a:solidFill>
                <a:latin typeface="Arial"/>
                <a:cs typeface="Arial"/>
              </a:rPr>
              <a:t>2) كيف يصل الفوسفور إلى قاع المحيط؟</a:t>
            </a:r>
          </a:p>
          <a:p>
            <a:pPr algn="r" rtl="1">
              <a:spcAft>
                <a:spcPts val="600"/>
              </a:spcAft>
            </a:pPr>
            <a:r>
              <a:rPr lang="ar-AE" altLang="en-US" sz="1300" b="1" i="0">
                <a:solidFill>
                  <a:srgbClr val="102A43"/>
                </a:solidFill>
                <a:latin typeface="Arial"/>
                <a:cs typeface="Arial"/>
              </a:rPr>
              <a:t>3) كيف يعود من الصخور إلى التربة؟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الدورة الفسفورية</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433304" y="1344168"/>
            <a:ext cx="1426464"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الأول</a:t>
            </a:r>
          </a:p>
        </p:txBody>
      </p:sp>
      <p:sp>
        <p:nvSpPr>
          <p:cNvPr id="22" name="TextBox 21"/>
          <p:cNvSpPr txBox="1"/>
          <p:nvPr/>
        </p:nvSpPr>
        <p:spPr>
          <a:xfrm>
            <a:off x="6205982" y="1280160"/>
            <a:ext cx="4117594" cy="502920"/>
          </a:xfrm>
          <a:prstGeom prst="rect">
            <a:avLst/>
          </a:prstGeom>
          <a:noFill/>
        </p:spPr>
        <p:txBody>
          <a:bodyPr wrap="square" lIns="18288" tIns="0" rIns="18288" bIns="0" anchor="ctr"/>
          <a:lstStyle/>
          <a:p>
            <a:pPr algn="r" rtl="1"/>
            <a:r>
              <a:rPr lang="ar-AE" altLang="en-US" sz="1700" b="1" i="0">
                <a:solidFill>
                  <a:srgbClr val="102A43"/>
                </a:solidFill>
                <a:latin typeface="Arial"/>
                <a:cs typeface="Arial"/>
              </a:rPr>
              <a:t>للفوسفور دورتان: قصيرة وطويلة المدى</a:t>
            </a:r>
          </a:p>
        </p:txBody>
      </p:sp>
      <p:pic>
        <p:nvPicPr>
          <p:cNvPr id="23" name="Picture 22" descr="badge_fahem.png"/>
          <p:cNvPicPr>
            <a:picLocks noChangeAspect="1"/>
          </p:cNvPicPr>
          <p:nvPr/>
        </p:nvPicPr>
        <p:blipFill>
          <a:blip r:embed="rId4"/>
          <a:stretch>
            <a:fillRect/>
          </a:stretch>
        </p:blipFill>
        <p:spPr>
          <a:xfrm>
            <a:off x="2560320" y="1185137"/>
            <a:ext cx="566928" cy="625374"/>
          </a:xfrm>
          <a:prstGeom prst="rect">
            <a:avLst/>
          </a:prstGeom>
        </p:spPr>
      </p:pic>
      <p:sp>
        <p:nvSpPr>
          <p:cNvPr id="24" name="Rounded Rectangular Callout 23"/>
          <p:cNvSpPr/>
          <p:nvPr/>
        </p:nvSpPr>
        <p:spPr>
          <a:xfrm>
            <a:off x="3209544" y="1307592"/>
            <a:ext cx="2868422" cy="420624"/>
          </a:xfrm>
          <a:prstGeom prst="wedgeRoundRectCallout">
            <a:avLst>
              <a:gd name="adj1" fmla="val -53825"/>
              <a:gd name="adj2" fmla="val 18000"/>
              <a:gd name="adj3" fmla="val 16667"/>
            </a:avLst>
          </a:prstGeom>
          <a:solidFill>
            <a:srgbClr val="FFFFFF"/>
          </a:solidFill>
          <a:ln w="19050">
            <a:solidFill>
              <a:srgbClr val="1E6B3A"/>
            </a:solidFill>
          </a:ln>
        </p:spPr>
        <p:txBody>
          <a:bodyPr lIns="54864" tIns="27432" rIns="54864" bIns="27432" rtlCol="0" anchor="ctr"/>
          <a:lstStyle/>
          <a:p>
            <a:pPr algn="ctr"/>
            <a:endParaRPr/>
          </a:p>
        </p:txBody>
      </p:sp>
      <p:sp>
        <p:nvSpPr>
          <p:cNvPr id="25" name="TextBox 24"/>
          <p:cNvSpPr txBox="1"/>
          <p:nvPr/>
        </p:nvSpPr>
        <p:spPr>
          <a:xfrm>
            <a:off x="3246120" y="1307592"/>
            <a:ext cx="2795270" cy="420624"/>
          </a:xfrm>
          <a:prstGeom prst="rect">
            <a:avLst/>
          </a:prstGeom>
          <a:noFill/>
        </p:spPr>
        <p:txBody>
          <a:bodyPr wrap="square" lIns="36576" tIns="0" rIns="36576" bIns="0" anchor="ctr"/>
          <a:lstStyle/>
          <a:p>
            <a:pPr algn="r" rtl="1"/>
            <a:r>
              <a:rPr lang="ar-AE" altLang="en-US" sz="1150" b="1" i="0">
                <a:solidFill>
                  <a:srgbClr val="1E6B3A"/>
                </a:solidFill>
                <a:latin typeface="Arial"/>
                <a:cs typeface="Arial"/>
              </a:rPr>
              <a:t>فاهم: </a:t>
            </a:r>
            <a:r>
              <a:rPr lang="ar-AE" altLang="en-US" sz="1150" b="1" i="0">
                <a:solidFill>
                  <a:srgbClr val="102A43"/>
                </a:solidFill>
                <a:latin typeface="Arial"/>
                <a:cs typeface="Arial"/>
              </a:rPr>
              <a:t>الصخور هي المخزن الرئيس!</a:t>
            </a:r>
          </a:p>
        </p:txBody>
      </p:sp>
      <p:pic>
        <p:nvPicPr>
          <p:cNvPr id="26" name="Picture 25" descr="fig21_phos.png"/>
          <p:cNvPicPr>
            <a:picLocks noChangeAspect="1"/>
          </p:cNvPicPr>
          <p:nvPr/>
        </p:nvPicPr>
        <p:blipFill>
          <a:blip r:embed="rId5"/>
          <a:stretch>
            <a:fillRect/>
          </a:stretch>
        </p:blipFill>
        <p:spPr>
          <a:xfrm>
            <a:off x="2697480" y="1901952"/>
            <a:ext cx="5394960" cy="2619825"/>
          </a:xfrm>
          <a:prstGeom prst="rect">
            <a:avLst/>
          </a:prstGeom>
          <a:ln w="25400">
            <a:solidFill>
              <a:srgbClr val="C9A96A"/>
            </a:solidFill>
          </a:ln>
          <a:effectLst>
            <a:outerShdw blurRad="76200" dist="31750" dir="5400000" algn="t" rotWithShape="0">
              <a:srgbClr val="1E2B3C">
                <a:alpha val="22000"/>
              </a:srgbClr>
            </a:outerShdw>
          </a:effectLst>
        </p:spPr>
      </p:pic>
      <p:sp>
        <p:nvSpPr>
          <p:cNvPr id="27" name="TextBox 26"/>
          <p:cNvSpPr txBox="1"/>
          <p:nvPr/>
        </p:nvSpPr>
        <p:spPr>
          <a:xfrm>
            <a:off x="2697480" y="4558353"/>
            <a:ext cx="5394960" cy="256032"/>
          </a:xfrm>
          <a:prstGeom prst="rect">
            <a:avLst/>
          </a:prstGeom>
          <a:noFill/>
        </p:spPr>
        <p:txBody>
          <a:bodyPr wrap="square" lIns="0" tIns="0" rIns="0" bIns="0" anchor="ctr"/>
          <a:lstStyle/>
          <a:p>
            <a:pPr algn="ctr" rtl="1"/>
            <a:r>
              <a:rPr lang="ar-AE" altLang="en-US" sz="1050" b="1" i="0">
                <a:solidFill>
                  <a:srgbClr val="5A687D"/>
                </a:solidFill>
                <a:latin typeface="Arial"/>
                <a:cs typeface="Arial"/>
              </a:rPr>
              <a:t>الشكل 21: للفوسفور دورة قصيرة المدى وأخرى طويلة المدى</a:t>
            </a:r>
          </a:p>
        </p:txBody>
      </p:sp>
      <p:sp>
        <p:nvSpPr>
          <p:cNvPr id="28" name="Rounded Rectangle 27"/>
          <p:cNvSpPr/>
          <p:nvPr/>
        </p:nvSpPr>
        <p:spPr>
          <a:xfrm>
            <a:off x="2697480" y="4864608"/>
            <a:ext cx="5394960" cy="640080"/>
          </a:xfrm>
          <a:prstGeom prst="roundRect">
            <a:avLst>
              <a:gd name="adj" fmla="val 14285"/>
            </a:avLst>
          </a:prstGeom>
          <a:solidFill>
            <a:srgbClr val="FBF5E8"/>
          </a:solidFill>
          <a:ln w="12700">
            <a:solidFill>
              <a:srgbClr val="E6D5B0"/>
            </a:solidFill>
          </a:ln>
        </p:spPr>
        <p:txBody>
          <a:bodyPr wrap="square" lIns="109728" tIns="27432" rIns="109728" bIns="27432" rtlCol="0" anchor="ctr"/>
          <a:lstStyle/>
          <a:p>
            <a:pPr algn="r" rtl="1"/>
            <a:r>
              <a:rPr lang="ar-AE" altLang="en-US" sz="1300" b="1" i="0">
                <a:solidFill>
                  <a:srgbClr val="8B5A2B"/>
                </a:solidFill>
                <a:latin typeface="Arial"/>
                <a:cs typeface="Arial"/>
              </a:rPr>
              <a:t>الرابط بين الدورتين: </a:t>
            </a:r>
            <a:r>
              <a:rPr lang="ar-AE" altLang="en-US" sz="1250" b="1" i="0">
                <a:solidFill>
                  <a:srgbClr val="102A43"/>
                </a:solidFill>
                <a:latin typeface="Arial"/>
                <a:cs typeface="Arial"/>
              </a:rPr>
              <a:t>ينتقل الفوسفور إلى الدورة طويلة المدى بالهطول والترسيب، ويعود إلى القصيرة بالتجوية والتعرية.</a:t>
            </a:r>
          </a:p>
        </p:txBody>
      </p:sp>
      <p:sp>
        <p:nvSpPr>
          <p:cNvPr id="29" name="Rounded Rectangle 28"/>
          <p:cNvSpPr/>
          <p:nvPr/>
        </p:nvSpPr>
        <p:spPr>
          <a:xfrm>
            <a:off x="8229600" y="1901952"/>
            <a:ext cx="3611880" cy="1737360"/>
          </a:xfrm>
          <a:prstGeom prst="roundRect">
            <a:avLst>
              <a:gd name="adj" fmla="val 6315"/>
            </a:avLst>
          </a:prstGeom>
          <a:solidFill>
            <a:srgbClr val="EDF7EE"/>
          </a:solidFill>
          <a:ln w="12700">
            <a:solidFill>
              <a:srgbClr val="BFE0C3"/>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0" name="Oval 29"/>
          <p:cNvSpPr/>
          <p:nvPr/>
        </p:nvSpPr>
        <p:spPr>
          <a:xfrm>
            <a:off x="11247120" y="2011680"/>
            <a:ext cx="475488" cy="475488"/>
          </a:xfrm>
          <a:prstGeom prst="ellipse">
            <a:avLst/>
          </a:prstGeom>
          <a:solidFill>
            <a:srgbClr val="2E9E5B"/>
          </a:solidFill>
          <a:ln>
            <a:noFill/>
          </a:ln>
        </p:spPr>
        <p:txBody>
          <a:bodyPr lIns="54864" tIns="27432" rIns="54864" bIns="27432" rtlCol="0" anchor="ctr"/>
          <a:lstStyle/>
          <a:p>
            <a:pPr algn="ctr"/>
            <a:endParaRPr/>
          </a:p>
        </p:txBody>
      </p:sp>
      <p:pic>
        <p:nvPicPr>
          <p:cNvPr id="31" name="Picture 30" descr="recycle_w.png"/>
          <p:cNvPicPr>
            <a:picLocks noChangeAspect="1"/>
          </p:cNvPicPr>
          <p:nvPr/>
        </p:nvPicPr>
        <p:blipFill>
          <a:blip r:embed="rId6"/>
          <a:stretch>
            <a:fillRect/>
          </a:stretch>
        </p:blipFill>
        <p:spPr>
          <a:xfrm>
            <a:off x="11351727" y="2116287"/>
            <a:ext cx="266273" cy="266273"/>
          </a:xfrm>
          <a:prstGeom prst="rect">
            <a:avLst/>
          </a:prstGeom>
        </p:spPr>
      </p:pic>
      <p:sp>
        <p:nvSpPr>
          <p:cNvPr id="32" name="TextBox 31"/>
          <p:cNvSpPr txBox="1"/>
          <p:nvPr/>
        </p:nvSpPr>
        <p:spPr>
          <a:xfrm>
            <a:off x="8321040" y="1975104"/>
            <a:ext cx="2880360" cy="411480"/>
          </a:xfrm>
          <a:prstGeom prst="rect">
            <a:avLst/>
          </a:prstGeom>
          <a:noFill/>
        </p:spPr>
        <p:txBody>
          <a:bodyPr wrap="square" lIns="73152" tIns="36576" rIns="73152" bIns="36576" anchor="ctr"/>
          <a:lstStyle/>
          <a:p>
            <a:pPr algn="r" rtl="1"/>
            <a:r>
              <a:rPr lang="ar-AE" altLang="en-US" sz="1500" b="1" i="0">
                <a:solidFill>
                  <a:srgbClr val="1E7A3C"/>
                </a:solidFill>
                <a:latin typeface="Arial"/>
                <a:cs typeface="Arial"/>
              </a:rPr>
              <a:t>الدورة قصيرة المدى</a:t>
            </a:r>
          </a:p>
        </p:txBody>
      </p:sp>
      <p:sp>
        <p:nvSpPr>
          <p:cNvPr id="33" name="TextBox 32"/>
          <p:cNvSpPr txBox="1"/>
          <p:nvPr/>
        </p:nvSpPr>
        <p:spPr>
          <a:xfrm>
            <a:off x="8321040" y="2450592"/>
            <a:ext cx="3429000" cy="1152144"/>
          </a:xfrm>
          <a:prstGeom prst="rect">
            <a:avLst/>
          </a:prstGeom>
          <a:noFill/>
        </p:spPr>
        <p:txBody>
          <a:bodyPr wrap="square" lIns="73152" tIns="36576" rIns="73152" bIns="36576" anchor="ctr"/>
          <a:lstStyle/>
          <a:p>
            <a:pPr algn="r" rtl="1">
              <a:lnSpc>
                <a:spcPct val="108000"/>
              </a:lnSpc>
              <a:spcAft>
                <a:spcPts val="400"/>
              </a:spcAft>
            </a:pPr>
            <a:r>
              <a:rPr lang="ar-AE" altLang="en-US" sz="1250" b="1" i="0">
                <a:solidFill>
                  <a:srgbClr val="102A43"/>
                </a:solidFill>
                <a:latin typeface="Arial"/>
                <a:cs typeface="Arial"/>
              </a:rPr>
              <a:t>التربة والماء ← المنتجات ← المستهلكات</a:t>
            </a:r>
          </a:p>
          <a:p>
            <a:pPr algn="r" rtl="1">
              <a:lnSpc>
                <a:spcPct val="108000"/>
              </a:lnSpc>
            </a:pPr>
            <a:r>
              <a:rPr lang="ar-AE" altLang="en-US" sz="1250" b="1" i="0">
                <a:solidFill>
                  <a:srgbClr val="102A43"/>
                </a:solidFill>
                <a:latin typeface="Arial"/>
                <a:cs typeface="Arial"/>
              </a:rPr>
              <a:t>← الموت والفضلات ← المحللات ← التربة</a:t>
            </a:r>
          </a:p>
        </p:txBody>
      </p:sp>
      <p:sp>
        <p:nvSpPr>
          <p:cNvPr id="34" name="Rounded Rectangle 33"/>
          <p:cNvSpPr/>
          <p:nvPr/>
        </p:nvSpPr>
        <p:spPr>
          <a:xfrm>
            <a:off x="8229600" y="3767328"/>
            <a:ext cx="3611880" cy="1737360"/>
          </a:xfrm>
          <a:prstGeom prst="roundRect">
            <a:avLst>
              <a:gd name="adj" fmla="val 6315"/>
            </a:avLst>
          </a:prstGeom>
          <a:solidFill>
            <a:srgbClr val="FDF1E6"/>
          </a:solidFill>
          <a:ln w="12700">
            <a:solidFill>
              <a:srgbClr val="F1CBA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5" name="Oval 34"/>
          <p:cNvSpPr/>
          <p:nvPr/>
        </p:nvSpPr>
        <p:spPr>
          <a:xfrm>
            <a:off x="11247120" y="3877056"/>
            <a:ext cx="475488" cy="475488"/>
          </a:xfrm>
          <a:prstGeom prst="ellipse">
            <a:avLst/>
          </a:prstGeom>
          <a:solidFill>
            <a:srgbClr val="8B5A2B"/>
          </a:solidFill>
          <a:ln>
            <a:noFill/>
          </a:ln>
        </p:spPr>
        <p:txBody>
          <a:bodyPr lIns="54864" tIns="27432" rIns="54864" bIns="27432" rtlCol="0" anchor="ctr"/>
          <a:lstStyle/>
          <a:p>
            <a:pPr algn="ctr"/>
            <a:endParaRPr/>
          </a:p>
        </p:txBody>
      </p:sp>
      <p:pic>
        <p:nvPicPr>
          <p:cNvPr id="36" name="Picture 35" descr="mountain_w.png"/>
          <p:cNvPicPr>
            <a:picLocks noChangeAspect="1"/>
          </p:cNvPicPr>
          <p:nvPr/>
        </p:nvPicPr>
        <p:blipFill>
          <a:blip r:embed="rId7"/>
          <a:stretch>
            <a:fillRect/>
          </a:stretch>
        </p:blipFill>
        <p:spPr>
          <a:xfrm>
            <a:off x="11351727" y="3981663"/>
            <a:ext cx="266273" cy="266273"/>
          </a:xfrm>
          <a:prstGeom prst="rect">
            <a:avLst/>
          </a:prstGeom>
        </p:spPr>
      </p:pic>
      <p:sp>
        <p:nvSpPr>
          <p:cNvPr id="37" name="TextBox 36"/>
          <p:cNvSpPr txBox="1"/>
          <p:nvPr/>
        </p:nvSpPr>
        <p:spPr>
          <a:xfrm>
            <a:off x="8321040" y="3840480"/>
            <a:ext cx="2880360" cy="411480"/>
          </a:xfrm>
          <a:prstGeom prst="rect">
            <a:avLst/>
          </a:prstGeom>
          <a:noFill/>
        </p:spPr>
        <p:txBody>
          <a:bodyPr wrap="square" lIns="73152" tIns="36576" rIns="73152" bIns="36576" anchor="ctr"/>
          <a:lstStyle/>
          <a:p>
            <a:pPr algn="r" rtl="1"/>
            <a:r>
              <a:rPr lang="ar-AE" altLang="en-US" sz="1500" b="1" i="0">
                <a:solidFill>
                  <a:srgbClr val="8B5A2B"/>
                </a:solidFill>
                <a:latin typeface="Arial"/>
                <a:cs typeface="Arial"/>
              </a:rPr>
              <a:t>الدورة طويلة المدى</a:t>
            </a:r>
          </a:p>
        </p:txBody>
      </p:sp>
      <p:sp>
        <p:nvSpPr>
          <p:cNvPr id="38" name="TextBox 37"/>
          <p:cNvSpPr txBox="1"/>
          <p:nvPr/>
        </p:nvSpPr>
        <p:spPr>
          <a:xfrm>
            <a:off x="8321040" y="4261104"/>
            <a:ext cx="3429000" cy="1207008"/>
          </a:xfrm>
          <a:prstGeom prst="rect">
            <a:avLst/>
          </a:prstGeom>
          <a:noFill/>
        </p:spPr>
        <p:txBody>
          <a:bodyPr wrap="square" lIns="73152" tIns="36576" rIns="73152" bIns="36576" anchor="ctr"/>
          <a:lstStyle/>
          <a:p>
            <a:pPr algn="r" rtl="1">
              <a:lnSpc>
                <a:spcPct val="108000"/>
              </a:lnSpc>
              <a:spcAft>
                <a:spcPts val="400"/>
              </a:spcAft>
            </a:pPr>
            <a:r>
              <a:rPr lang="ar-AE" altLang="en-US" sz="1250" b="1" i="0">
                <a:solidFill>
                  <a:srgbClr val="102A43"/>
                </a:solidFill>
                <a:latin typeface="Arial"/>
                <a:cs typeface="Arial"/>
              </a:rPr>
              <a:t>الترسيب في القاع ← صخور ← يابسة جديدة</a:t>
            </a:r>
          </a:p>
          <a:p>
            <a:pPr algn="r" rtl="1">
              <a:lnSpc>
                <a:spcPct val="108000"/>
              </a:lnSpc>
              <a:spcAft>
                <a:spcPts val="200"/>
              </a:spcAft>
            </a:pPr>
            <a:r>
              <a:rPr lang="ar-AE" altLang="en-US" sz="1250" b="1" i="0">
                <a:solidFill>
                  <a:srgbClr val="102A43"/>
                </a:solidFill>
                <a:latin typeface="Arial"/>
                <a:cs typeface="Arial"/>
              </a:rPr>
              <a:t>← التجوية والتعرية ← فوسفات في التربة</a:t>
            </a:r>
          </a:p>
          <a:p>
            <a:pPr algn="r" rtl="1">
              <a:lnSpc>
                <a:spcPct val="108000"/>
              </a:lnSpc>
            </a:pPr>
            <a:r>
              <a:rPr lang="ar-AE" altLang="en-US" sz="1250" b="1" i="0">
                <a:solidFill>
                  <a:srgbClr val="8B5A2B"/>
                </a:solidFill>
                <a:latin typeface="Arial"/>
                <a:cs typeface="Arial"/>
              </a:rPr>
              <a:t>(عبر ملايين السنين)</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الدورة الفسفورية</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581025" y="4152900"/>
            <a:ext cx="1333500" cy="266700"/>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1: آلة زمن الفوسفور</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01952"/>
            <a:ext cx="1371600" cy="1371600"/>
          </a:xfrm>
          <a:prstGeom prst="rect">
            <a:avLst/>
          </a:prstGeom>
        </p:spPr>
      </p:pic>
      <p:pic>
        <p:nvPicPr>
          <p:cNvPr id="24" name="Picture 23" descr="qr_p1.png">
            <a:hlinkClick r:id="rId7"/>
          </p:cNvPr>
          <p:cNvPicPr>
            <a:picLocks noChangeAspect="1"/>
          </p:cNvPicPr>
          <p:nvPr/>
        </p:nvPicPr>
        <p:blipFill>
          <a:blip r:embed="rId8"/>
          <a:stretch>
            <a:fillRect/>
          </a:stretch>
        </p:blipFill>
        <p:spPr>
          <a:xfrm>
            <a:off x="2770632" y="3401568"/>
            <a:ext cx="1225296" cy="1225296"/>
          </a:xfrm>
          <a:prstGeom prst="rect">
            <a:avLst/>
          </a:prstGeom>
          <a:ln w="9525">
            <a:solidFill>
              <a:srgbClr val="D9E0E8"/>
            </a:solidFill>
          </a:ln>
        </p:spPr>
      </p:pic>
      <p:sp>
        <p:nvSpPr>
          <p:cNvPr id="25" name="TextBox 24"/>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26" name="Rounded Rectangle 25"/>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حرّكوا الذرة من الصخرة خطوة خطوة.</a:t>
            </a:r>
          </a:p>
          <a:p>
            <a:pPr algn="r" rtl="1">
              <a:spcAft>
                <a:spcPts val="500"/>
              </a:spcAft>
            </a:pPr>
            <a:r>
              <a:rPr lang="ar-AE" altLang="en-US" sz="1120" b="1" i="0" dirty="0">
                <a:solidFill>
                  <a:srgbClr val="102A43"/>
                </a:solidFill>
                <a:latin typeface="Arial"/>
                <a:cs typeface="Arial"/>
              </a:rPr>
              <a:t>2) راقبوا آلة الزمن: أيام أم ملايين السنين؟</a:t>
            </a:r>
          </a:p>
          <a:p>
            <a:pPr algn="r" rtl="1">
              <a:spcAft>
                <a:spcPts val="500"/>
              </a:spcAft>
            </a:pPr>
            <a:r>
              <a:rPr lang="ar-AE" altLang="en-US" sz="1120" b="1" i="0" dirty="0">
                <a:solidFill>
                  <a:srgbClr val="102A43"/>
                </a:solidFill>
                <a:latin typeface="Arial"/>
                <a:cs typeface="Arial"/>
              </a:rPr>
              <a:t>3) احذروا فخّ الهواء!</a:t>
            </a:r>
          </a:p>
        </p:txBody>
      </p:sp>
      <p:pic>
        <p:nvPicPr>
          <p:cNvPr id="28" name="Picture 27" descr="fahem_400.png"/>
          <p:cNvPicPr>
            <a:picLocks noChangeAspect="1"/>
          </p:cNvPicPr>
          <p:nvPr/>
        </p:nvPicPr>
        <p:blipFill>
          <a:blip r:embed="rId9"/>
          <a:stretch>
            <a:fillRect/>
          </a:stretch>
        </p:blipFill>
        <p:spPr>
          <a:xfrm>
            <a:off x="5596128" y="4133087"/>
            <a:ext cx="548640" cy="548640"/>
          </a:xfrm>
          <a:prstGeom prst="rect">
            <a:avLst/>
          </a:prstGeom>
        </p:spPr>
      </p:pic>
      <p:sp>
        <p:nvSpPr>
          <p:cNvPr id="29" name="Rounded Rectangular Callout 28"/>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1E6B3A"/>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1E6B3A"/>
                </a:solidFill>
                <a:latin typeface="Arial"/>
                <a:cs typeface="Arial"/>
              </a:rPr>
              <a:t>فاهم: </a:t>
            </a:r>
            <a:r>
              <a:rPr lang="ar-AE" altLang="en-US" sz="1000" b="1" i="0" dirty="0">
                <a:solidFill>
                  <a:srgbClr val="102A43"/>
                </a:solidFill>
                <a:latin typeface="Arial"/>
                <a:cs typeface="Arial"/>
              </a:rPr>
              <a:t>هل يطير الفوسفور؟ جرّبوا!</a:t>
            </a:r>
          </a:p>
        </p:txBody>
      </p:sp>
      <p:sp>
        <p:nvSpPr>
          <p:cNvPr id="30" name="Rounded Rectangle 29"/>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1</a:t>
            </a:r>
          </a:p>
        </p:txBody>
      </p:sp>
      <p:pic>
        <p:nvPicPr>
          <p:cNvPr id="31" name="Picture 30" descr="crop_p1.jpg">
            <a:hlinkClick r:id="rId7"/>
          </p:cNvPr>
          <p:cNvPicPr>
            <a:picLocks noChangeAspect="1"/>
          </p:cNvPicPr>
          <p:nvPr/>
        </p:nvPicPr>
        <p:blipFill>
          <a:blip r:embed="rId10"/>
          <a:stretch>
            <a:fillRect/>
          </a:stretch>
        </p:blipFill>
        <p:spPr>
          <a:xfrm>
            <a:off x="6355080" y="1874519"/>
            <a:ext cx="5486400" cy="3086100"/>
          </a:xfrm>
          <a:prstGeom prst="rect">
            <a:avLst/>
          </a:prstGeom>
          <a:ln w="15875">
            <a:solidFill>
              <a:srgbClr val="102A43"/>
            </a:solidFill>
          </a:ln>
        </p:spPr>
      </p:pic>
      <p:sp>
        <p:nvSpPr>
          <p:cNvPr id="32" name="Rounded Rectangle 31">
            <a:hlinkClick r:id="rId7"/>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1 في مختبر الفوسفور</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Rounded Rectangle 6"/>
          <p:cNvSpPr/>
          <p:nvPr/>
        </p:nvSpPr>
        <p:spPr>
          <a:xfrm>
            <a:off x="274320" y="1741932"/>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8" name="Oval 7"/>
          <p:cNvSpPr/>
          <p:nvPr/>
        </p:nvSpPr>
        <p:spPr>
          <a:xfrm>
            <a:off x="2020824" y="1773936"/>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1</a:t>
            </a:r>
          </a:p>
        </p:txBody>
      </p:sp>
      <p:sp>
        <p:nvSpPr>
          <p:cNvPr id="9" name="TextBox 8"/>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الدورة الفسفورية</a:t>
            </a:r>
          </a:p>
        </p:txBody>
      </p:sp>
      <p:sp>
        <p:nvSpPr>
          <p:cNvPr id="10" name="Oval 9"/>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857232" y="1344168"/>
            <a:ext cx="2002536"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الأول</a:t>
            </a:r>
          </a:p>
        </p:txBody>
      </p:sp>
      <p:sp>
        <p:nvSpPr>
          <p:cNvPr id="22" name="TextBox 21"/>
          <p:cNvSpPr txBox="1"/>
          <p:nvPr/>
        </p:nvSpPr>
        <p:spPr>
          <a:xfrm>
            <a:off x="2606040" y="1280160"/>
            <a:ext cx="714146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تقويم الناتج الأول: أكملوا مخطط دورة الفوسفور</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234440" cy="1234440"/>
          </a:xfrm>
          <a:prstGeom prst="rect">
            <a:avLst/>
          </a:prstGeom>
        </p:spPr>
      </p:pic>
      <p:sp>
        <p:nvSpPr>
          <p:cNvPr id="24" name="Oval 23"/>
          <p:cNvSpPr/>
          <p:nvPr/>
        </p:nvSpPr>
        <p:spPr>
          <a:xfrm>
            <a:off x="2971800" y="3310128"/>
            <a:ext cx="685800" cy="685800"/>
          </a:xfrm>
          <a:prstGeom prst="ellipse">
            <a:avLst/>
          </a:prstGeom>
          <a:solidFill>
            <a:srgbClr val="D2691E"/>
          </a:solidFill>
          <a:ln>
            <a:noFill/>
          </a:ln>
        </p:spPr>
        <p:txBody>
          <a:bodyPr lIns="54864" tIns="27432" rIns="54864" bIns="27432" rtlCol="0" anchor="ctr"/>
          <a:lstStyle/>
          <a:p>
            <a:pPr algn="ctr"/>
            <a:endParaRPr/>
          </a:p>
        </p:txBody>
      </p:sp>
      <p:pic>
        <p:nvPicPr>
          <p:cNvPr id="25" name="Picture 24" descr="puzzle_w.png"/>
          <p:cNvPicPr>
            <a:picLocks noChangeAspect="1"/>
          </p:cNvPicPr>
          <p:nvPr/>
        </p:nvPicPr>
        <p:blipFill>
          <a:blip r:embed="rId7"/>
          <a:stretch>
            <a:fillRect/>
          </a:stretch>
        </p:blipFill>
        <p:spPr>
          <a:xfrm>
            <a:off x="3122676" y="3461004"/>
            <a:ext cx="384048" cy="384048"/>
          </a:xfrm>
          <a:prstGeom prst="rect">
            <a:avLst/>
          </a:prstGeom>
        </p:spPr>
      </p:pic>
      <p:sp>
        <p:nvSpPr>
          <p:cNvPr id="26" name="TextBox 25"/>
          <p:cNvSpPr txBox="1"/>
          <p:nvPr/>
        </p:nvSpPr>
        <p:spPr>
          <a:xfrm>
            <a:off x="2651760" y="4069080"/>
            <a:ext cx="1325880" cy="822960"/>
          </a:xfrm>
          <a:prstGeom prst="rect">
            <a:avLst/>
          </a:prstGeom>
          <a:noFill/>
        </p:spPr>
        <p:txBody>
          <a:bodyPr wrap="square" lIns="73152" tIns="36576" rIns="73152" bIns="36576" anchor="ctr"/>
          <a:lstStyle/>
          <a:p>
            <a:pPr algn="ctr" rtl="1"/>
            <a:r>
              <a:rPr lang="ar-AE" altLang="en-US" sz="1150" b="1" i="0">
                <a:solidFill>
                  <a:srgbClr val="5A687D"/>
                </a:solidFill>
                <a:latin typeface="Arial"/>
                <a:cs typeface="Arial"/>
              </a:rPr>
              <a:t>أكملوا الفراغات في ورقة العمل</a:t>
            </a:r>
          </a:p>
        </p:txBody>
      </p:sp>
      <p:sp>
        <p:nvSpPr>
          <p:cNvPr id="27" name="Rounded Rectangle 26"/>
          <p:cNvSpPr/>
          <p:nvPr/>
        </p:nvSpPr>
        <p:spPr>
          <a:xfrm>
            <a:off x="7726679" y="2825496"/>
            <a:ext cx="1645920" cy="566928"/>
          </a:xfrm>
          <a:prstGeom prst="roundRect">
            <a:avLst>
              <a:gd name="adj" fmla="val 16129"/>
            </a:avLst>
          </a:prstGeom>
          <a:solidFill>
            <a:srgbClr val="FFFFFF"/>
          </a:solidFill>
          <a:ln w="22225">
            <a:solidFill>
              <a:srgbClr val="102A43"/>
            </a:solidFill>
          </a:ln>
          <a:effectLst>
            <a:outerShdw blurRad="76200" dist="31750" dir="5400000" algn="t" rotWithShape="0">
              <a:srgbClr val="1E2B3C">
                <a:alpha val="22000"/>
              </a:srgbClr>
            </a:outerShdw>
          </a:effectLst>
        </p:spPr>
        <p:txBody>
          <a:bodyPr wrap="square" lIns="45720" tIns="18288" rIns="45720" bIns="18288" rtlCol="0" anchor="ctr"/>
          <a:lstStyle/>
          <a:p>
            <a:pPr algn="ctr" rtl="1"/>
            <a:r>
              <a:rPr lang="ar-AE" altLang="en-US" sz="1250" b="1" i="0">
                <a:solidFill>
                  <a:srgbClr val="102A43"/>
                </a:solidFill>
                <a:latin typeface="Arial"/>
                <a:cs typeface="Arial"/>
              </a:rPr>
              <a:t>التربة والمياه الجوفية</a:t>
            </a:r>
          </a:p>
        </p:txBody>
      </p:sp>
      <p:sp>
        <p:nvSpPr>
          <p:cNvPr id="28" name="Rounded Rectangle 27"/>
          <p:cNvSpPr/>
          <p:nvPr/>
        </p:nvSpPr>
        <p:spPr>
          <a:xfrm>
            <a:off x="10104119" y="1911095"/>
            <a:ext cx="1645920" cy="566928"/>
          </a:xfrm>
          <a:prstGeom prst="roundRect">
            <a:avLst>
              <a:gd name="adj" fmla="val 16129"/>
            </a:avLst>
          </a:prstGeom>
          <a:solidFill>
            <a:srgbClr val="FFFFFF"/>
          </a:solidFill>
          <a:ln w="22225">
            <a:solidFill>
              <a:srgbClr val="2E7D32"/>
            </a:solidFill>
          </a:ln>
          <a:effectLst>
            <a:outerShdw blurRad="76200" dist="31750" dir="5400000" algn="t" rotWithShape="0">
              <a:srgbClr val="1E2B3C">
                <a:alpha val="22000"/>
              </a:srgbClr>
            </a:outerShdw>
          </a:effectLst>
        </p:spPr>
        <p:txBody>
          <a:bodyPr wrap="square" lIns="45720" tIns="18288" rIns="45720" bIns="18288" rtlCol="0" anchor="ctr"/>
          <a:lstStyle/>
          <a:p>
            <a:pPr algn="ctr" rtl="1"/>
            <a:r>
              <a:rPr lang="ar-AE" altLang="en-US" sz="1250" b="1" i="0">
                <a:solidFill>
                  <a:srgbClr val="2E7D32"/>
                </a:solidFill>
                <a:latin typeface="Arial"/>
                <a:cs typeface="Arial"/>
              </a:rPr>
              <a:t>النباتات والحيوانات</a:t>
            </a:r>
          </a:p>
        </p:txBody>
      </p:sp>
      <p:sp>
        <p:nvSpPr>
          <p:cNvPr id="29" name="Rounded Rectangle 28"/>
          <p:cNvSpPr/>
          <p:nvPr/>
        </p:nvSpPr>
        <p:spPr>
          <a:xfrm>
            <a:off x="10104119" y="3739896"/>
            <a:ext cx="1645920" cy="566928"/>
          </a:xfrm>
          <a:prstGeom prst="roundRect">
            <a:avLst>
              <a:gd name="adj" fmla="val 16129"/>
            </a:avLst>
          </a:prstGeom>
          <a:solidFill>
            <a:srgbClr val="FFFDF8"/>
          </a:solidFill>
          <a:ln w="22225">
            <a:solidFill>
              <a:srgbClr val="2E7D32"/>
            </a:solidFill>
            <a:prstDash val="dash"/>
          </a:ln>
        </p:spPr>
        <p:txBody>
          <a:bodyPr wrap="square" lIns="45720" tIns="18288" rIns="45720" bIns="18288" rtlCol="0" anchor="ctr"/>
          <a:lstStyle/>
          <a:p>
            <a:pPr algn="ctr" rtl="1"/>
            <a:r>
              <a:rPr lang="ar-AE" altLang="en-US" sz="1500" b="1" i="0">
                <a:solidFill>
                  <a:srgbClr val="2E7D32"/>
                </a:solidFill>
                <a:latin typeface="Arial"/>
                <a:cs typeface="Arial"/>
              </a:rPr>
              <a:t>(1) ؟</a:t>
            </a:r>
          </a:p>
        </p:txBody>
      </p:sp>
      <p:sp>
        <p:nvSpPr>
          <p:cNvPr id="30" name="Rounded Rectangle 29"/>
          <p:cNvSpPr/>
          <p:nvPr/>
        </p:nvSpPr>
        <p:spPr>
          <a:xfrm>
            <a:off x="10104119" y="3739896"/>
            <a:ext cx="1645920" cy="566928"/>
          </a:xfrm>
          <a:prstGeom prst="roundRect">
            <a:avLst>
              <a:gd name="adj" fmla="val 16129"/>
            </a:avLst>
          </a:prstGeom>
          <a:solidFill>
            <a:srgbClr val="2E7D32"/>
          </a:solidFill>
          <a:ln w="22225">
            <a:solidFill>
              <a:srgbClr val="2E7D32"/>
            </a:solidFill>
          </a:ln>
        </p:spPr>
        <p:txBody>
          <a:bodyPr wrap="square" lIns="45720" tIns="18288" rIns="45720" bIns="18288" rtlCol="0" anchor="ctr"/>
          <a:lstStyle/>
          <a:p>
            <a:pPr algn="ctr" rtl="1"/>
            <a:r>
              <a:rPr lang="ar-AE" altLang="en-US" sz="1250" b="1" i="0">
                <a:solidFill>
                  <a:srgbClr val="FFFFFF"/>
                </a:solidFill>
                <a:latin typeface="Arial"/>
                <a:cs typeface="Arial"/>
              </a:rPr>
              <a:t>المحللات</a:t>
            </a:r>
          </a:p>
        </p:txBody>
      </p:sp>
      <p:sp>
        <p:nvSpPr>
          <p:cNvPr id="31" name="Rounded Rectangle 30"/>
          <p:cNvSpPr/>
          <p:nvPr/>
        </p:nvSpPr>
        <p:spPr>
          <a:xfrm>
            <a:off x="5920740" y="1911095"/>
            <a:ext cx="1600200" cy="566928"/>
          </a:xfrm>
          <a:prstGeom prst="roundRect">
            <a:avLst>
              <a:gd name="adj" fmla="val 16129"/>
            </a:avLst>
          </a:prstGeom>
          <a:solidFill>
            <a:srgbClr val="FFFFFF"/>
          </a:solidFill>
          <a:ln w="22225">
            <a:solidFill>
              <a:srgbClr val="1E6FA8"/>
            </a:solidFill>
          </a:ln>
          <a:effectLst>
            <a:outerShdw blurRad="76200" dist="31750" dir="5400000" algn="t" rotWithShape="0">
              <a:srgbClr val="1E2B3C">
                <a:alpha val="22000"/>
              </a:srgbClr>
            </a:outerShdw>
          </a:effectLst>
        </p:spPr>
        <p:txBody>
          <a:bodyPr wrap="square" lIns="45720" tIns="18288" rIns="45720" bIns="18288" rtlCol="0" anchor="ctr"/>
          <a:lstStyle/>
          <a:p>
            <a:pPr algn="ctr" rtl="1"/>
            <a:r>
              <a:rPr lang="ar-AE" altLang="en-US" sz="1250" b="1" i="0">
                <a:solidFill>
                  <a:srgbClr val="1E6FA8"/>
                </a:solidFill>
                <a:latin typeface="Arial"/>
                <a:cs typeface="Arial"/>
              </a:rPr>
              <a:t>المحيطات والبحيرات والأنهار</a:t>
            </a:r>
          </a:p>
        </p:txBody>
      </p:sp>
      <p:sp>
        <p:nvSpPr>
          <p:cNvPr id="32" name="Rounded Rectangle 31"/>
          <p:cNvSpPr/>
          <p:nvPr/>
        </p:nvSpPr>
        <p:spPr>
          <a:xfrm>
            <a:off x="4000500" y="1911095"/>
            <a:ext cx="1325880" cy="566928"/>
          </a:xfrm>
          <a:prstGeom prst="roundRect">
            <a:avLst>
              <a:gd name="adj" fmla="val 16129"/>
            </a:avLst>
          </a:prstGeom>
          <a:solidFill>
            <a:srgbClr val="FFFDF8"/>
          </a:solidFill>
          <a:ln w="22225">
            <a:solidFill>
              <a:srgbClr val="8B5A2B"/>
            </a:solidFill>
            <a:prstDash val="dash"/>
          </a:ln>
        </p:spPr>
        <p:txBody>
          <a:bodyPr wrap="square" lIns="45720" tIns="18288" rIns="45720" bIns="18288" rtlCol="0" anchor="ctr"/>
          <a:lstStyle/>
          <a:p>
            <a:pPr algn="ctr" rtl="1"/>
            <a:r>
              <a:rPr lang="ar-AE" altLang="en-US" sz="1500" b="1" i="0">
                <a:solidFill>
                  <a:srgbClr val="8B5A2B"/>
                </a:solidFill>
                <a:latin typeface="Arial"/>
                <a:cs typeface="Arial"/>
              </a:rPr>
              <a:t>(2) ؟</a:t>
            </a:r>
          </a:p>
        </p:txBody>
      </p:sp>
      <p:sp>
        <p:nvSpPr>
          <p:cNvPr id="33" name="Rounded Rectangle 32"/>
          <p:cNvSpPr/>
          <p:nvPr/>
        </p:nvSpPr>
        <p:spPr>
          <a:xfrm>
            <a:off x="4000500" y="1911095"/>
            <a:ext cx="1325880" cy="566928"/>
          </a:xfrm>
          <a:prstGeom prst="roundRect">
            <a:avLst>
              <a:gd name="adj" fmla="val 16129"/>
            </a:avLst>
          </a:prstGeom>
          <a:solidFill>
            <a:srgbClr val="8B5A2B"/>
          </a:solidFill>
          <a:ln w="22225">
            <a:solidFill>
              <a:srgbClr val="8B5A2B"/>
            </a:solidFill>
          </a:ln>
        </p:spPr>
        <p:txBody>
          <a:bodyPr wrap="square" lIns="45720" tIns="18288" rIns="45720" bIns="18288" rtlCol="0" anchor="ctr"/>
          <a:lstStyle/>
          <a:p>
            <a:pPr algn="ctr" rtl="1"/>
            <a:r>
              <a:rPr lang="ar-AE" altLang="en-US" sz="1250" b="1" i="0">
                <a:solidFill>
                  <a:srgbClr val="FFFFFF"/>
                </a:solidFill>
                <a:latin typeface="Arial"/>
                <a:cs typeface="Arial"/>
              </a:rPr>
              <a:t>الرواسب</a:t>
            </a:r>
          </a:p>
        </p:txBody>
      </p:sp>
      <p:sp>
        <p:nvSpPr>
          <p:cNvPr id="34" name="Rounded Rectangle 33"/>
          <p:cNvSpPr/>
          <p:nvPr/>
        </p:nvSpPr>
        <p:spPr>
          <a:xfrm>
            <a:off x="4000500" y="3739896"/>
            <a:ext cx="1325880" cy="566928"/>
          </a:xfrm>
          <a:prstGeom prst="roundRect">
            <a:avLst>
              <a:gd name="adj" fmla="val 16129"/>
            </a:avLst>
          </a:prstGeom>
          <a:solidFill>
            <a:srgbClr val="FFFDF8"/>
          </a:solidFill>
          <a:ln w="22225">
            <a:solidFill>
              <a:srgbClr val="8B5A2B"/>
            </a:solidFill>
            <a:prstDash val="dash"/>
          </a:ln>
        </p:spPr>
        <p:txBody>
          <a:bodyPr wrap="square" lIns="45720" tIns="18288" rIns="45720" bIns="18288" rtlCol="0" anchor="ctr"/>
          <a:lstStyle/>
          <a:p>
            <a:pPr algn="ctr" rtl="1"/>
            <a:r>
              <a:rPr lang="ar-AE" altLang="en-US" sz="1500" b="1" i="0">
                <a:solidFill>
                  <a:srgbClr val="8B5A2B"/>
                </a:solidFill>
                <a:latin typeface="Arial"/>
                <a:cs typeface="Arial"/>
              </a:rPr>
              <a:t>(3) ؟</a:t>
            </a:r>
          </a:p>
        </p:txBody>
      </p:sp>
      <p:sp>
        <p:nvSpPr>
          <p:cNvPr id="35" name="Rounded Rectangle 34"/>
          <p:cNvSpPr/>
          <p:nvPr/>
        </p:nvSpPr>
        <p:spPr>
          <a:xfrm>
            <a:off x="4000500" y="3739896"/>
            <a:ext cx="1325880" cy="566928"/>
          </a:xfrm>
          <a:prstGeom prst="roundRect">
            <a:avLst>
              <a:gd name="adj" fmla="val 16129"/>
            </a:avLst>
          </a:prstGeom>
          <a:solidFill>
            <a:srgbClr val="8B5A2B"/>
          </a:solidFill>
          <a:ln w="22225">
            <a:solidFill>
              <a:srgbClr val="8B5A2B"/>
            </a:solidFill>
          </a:ln>
        </p:spPr>
        <p:txBody>
          <a:bodyPr wrap="square" lIns="45720" tIns="18288" rIns="45720" bIns="18288" rtlCol="0" anchor="ctr"/>
          <a:lstStyle/>
          <a:p>
            <a:pPr algn="ctr" rtl="1"/>
            <a:r>
              <a:rPr lang="ar-AE" altLang="en-US" sz="1250" b="1" i="0">
                <a:solidFill>
                  <a:srgbClr val="FFFFFF"/>
                </a:solidFill>
                <a:latin typeface="Arial"/>
                <a:cs typeface="Arial"/>
              </a:rPr>
              <a:t>صخر جديد</a:t>
            </a:r>
          </a:p>
        </p:txBody>
      </p:sp>
      <p:sp>
        <p:nvSpPr>
          <p:cNvPr id="36" name="Rounded Rectangle 35"/>
          <p:cNvSpPr/>
          <p:nvPr/>
        </p:nvSpPr>
        <p:spPr>
          <a:xfrm>
            <a:off x="5920740" y="3739896"/>
            <a:ext cx="1600200" cy="566928"/>
          </a:xfrm>
          <a:prstGeom prst="roundRect">
            <a:avLst>
              <a:gd name="adj" fmla="val 16129"/>
            </a:avLst>
          </a:prstGeom>
          <a:solidFill>
            <a:srgbClr val="FFFFFF"/>
          </a:solidFill>
          <a:ln w="22225">
            <a:solidFill>
              <a:srgbClr val="8B5A2B"/>
            </a:solidFill>
          </a:ln>
          <a:effectLst>
            <a:outerShdw blurRad="76200" dist="31750" dir="5400000" algn="t" rotWithShape="0">
              <a:srgbClr val="1E2B3C">
                <a:alpha val="22000"/>
              </a:srgbClr>
            </a:outerShdw>
          </a:effectLst>
        </p:spPr>
        <p:txBody>
          <a:bodyPr wrap="square" lIns="45720" tIns="18288" rIns="45720" bIns="18288" rtlCol="0" anchor="ctr"/>
          <a:lstStyle/>
          <a:p>
            <a:pPr algn="ctr" rtl="1"/>
            <a:r>
              <a:rPr lang="ar-AE" altLang="en-US" sz="1250" b="1" i="0">
                <a:solidFill>
                  <a:srgbClr val="8B5A2B"/>
                </a:solidFill>
                <a:latin typeface="Arial"/>
                <a:cs typeface="Arial"/>
              </a:rPr>
              <a:t>تكوّن الجبال</a:t>
            </a:r>
          </a:p>
        </p:txBody>
      </p:sp>
      <p:cxnSp>
        <p:nvCxnSpPr>
          <p:cNvPr id="37" name="Connector 36"/>
          <p:cNvCxnSpPr/>
          <p:nvPr/>
        </p:nvCxnSpPr>
        <p:spPr>
          <a:xfrm flipV="1">
            <a:off x="9372600" y="2350008"/>
            <a:ext cx="731519" cy="585216"/>
          </a:xfrm>
          <a:prstGeom prst="line">
            <a:avLst/>
          </a:prstGeom>
          <a:ln w="28575">
            <a:solidFill>
              <a:srgbClr val="2E9E5B"/>
            </a:solidFill>
            <a:tailEnd type="triangle" w="med" len="med"/>
          </a:ln>
        </p:spPr>
      </p:cxnSp>
      <p:cxnSp>
        <p:nvCxnSpPr>
          <p:cNvPr id="38" name="Connector 37"/>
          <p:cNvCxnSpPr/>
          <p:nvPr/>
        </p:nvCxnSpPr>
        <p:spPr>
          <a:xfrm>
            <a:off x="10927080" y="2478024"/>
            <a:ext cx="0" cy="1261872"/>
          </a:xfrm>
          <a:prstGeom prst="line">
            <a:avLst/>
          </a:prstGeom>
          <a:ln w="28575">
            <a:solidFill>
              <a:srgbClr val="2E9E5B"/>
            </a:solidFill>
            <a:tailEnd type="triangle" w="med" len="med"/>
          </a:ln>
        </p:spPr>
      </p:cxnSp>
      <p:cxnSp>
        <p:nvCxnSpPr>
          <p:cNvPr id="39" name="Connector 38"/>
          <p:cNvCxnSpPr/>
          <p:nvPr/>
        </p:nvCxnSpPr>
        <p:spPr>
          <a:xfrm flipH="1" flipV="1">
            <a:off x="9372600" y="3282696"/>
            <a:ext cx="731519" cy="585215"/>
          </a:xfrm>
          <a:prstGeom prst="line">
            <a:avLst/>
          </a:prstGeom>
          <a:ln w="28575">
            <a:solidFill>
              <a:srgbClr val="2E9E5B"/>
            </a:solidFill>
            <a:tailEnd type="triangle" w="med" len="med"/>
          </a:ln>
        </p:spPr>
      </p:cxnSp>
      <p:cxnSp>
        <p:nvCxnSpPr>
          <p:cNvPr id="40" name="Connector 39"/>
          <p:cNvCxnSpPr/>
          <p:nvPr/>
        </p:nvCxnSpPr>
        <p:spPr>
          <a:xfrm flipH="1" flipV="1">
            <a:off x="7406640" y="2478024"/>
            <a:ext cx="457200" cy="347472"/>
          </a:xfrm>
          <a:prstGeom prst="line">
            <a:avLst/>
          </a:prstGeom>
          <a:ln w="28575">
            <a:solidFill>
              <a:srgbClr val="8B5A2B"/>
            </a:solidFill>
            <a:tailEnd type="triangle" w="med" len="med"/>
          </a:ln>
        </p:spPr>
      </p:cxnSp>
      <p:cxnSp>
        <p:nvCxnSpPr>
          <p:cNvPr id="41" name="Connector 40"/>
          <p:cNvCxnSpPr/>
          <p:nvPr/>
        </p:nvCxnSpPr>
        <p:spPr>
          <a:xfrm flipH="1">
            <a:off x="5326379" y="2194560"/>
            <a:ext cx="594361" cy="0"/>
          </a:xfrm>
          <a:prstGeom prst="line">
            <a:avLst/>
          </a:prstGeom>
          <a:ln w="28575">
            <a:solidFill>
              <a:srgbClr val="8B5A2B"/>
            </a:solidFill>
            <a:tailEnd type="triangle" w="med" len="med"/>
          </a:ln>
        </p:spPr>
      </p:cxnSp>
      <p:cxnSp>
        <p:nvCxnSpPr>
          <p:cNvPr id="42" name="Connector 41"/>
          <p:cNvCxnSpPr/>
          <p:nvPr/>
        </p:nvCxnSpPr>
        <p:spPr>
          <a:xfrm>
            <a:off x="4663440" y="2478024"/>
            <a:ext cx="0" cy="1261872"/>
          </a:xfrm>
          <a:prstGeom prst="line">
            <a:avLst/>
          </a:prstGeom>
          <a:ln w="28575">
            <a:solidFill>
              <a:srgbClr val="8B5A2B"/>
            </a:solidFill>
            <a:tailEnd type="triangle" w="med" len="med"/>
          </a:ln>
        </p:spPr>
      </p:cxnSp>
      <p:cxnSp>
        <p:nvCxnSpPr>
          <p:cNvPr id="43" name="Connector 42"/>
          <p:cNvCxnSpPr/>
          <p:nvPr/>
        </p:nvCxnSpPr>
        <p:spPr>
          <a:xfrm>
            <a:off x="5326379" y="4023359"/>
            <a:ext cx="594361" cy="0"/>
          </a:xfrm>
          <a:prstGeom prst="line">
            <a:avLst/>
          </a:prstGeom>
          <a:ln w="28575">
            <a:solidFill>
              <a:srgbClr val="8B5A2B"/>
            </a:solidFill>
            <a:tailEnd type="triangle" w="med" len="med"/>
          </a:ln>
        </p:spPr>
      </p:cxnSp>
      <p:cxnSp>
        <p:nvCxnSpPr>
          <p:cNvPr id="44" name="Connector 43"/>
          <p:cNvCxnSpPr/>
          <p:nvPr/>
        </p:nvCxnSpPr>
        <p:spPr>
          <a:xfrm flipV="1">
            <a:off x="7406640" y="3392424"/>
            <a:ext cx="594360" cy="347472"/>
          </a:xfrm>
          <a:prstGeom prst="line">
            <a:avLst/>
          </a:prstGeom>
          <a:ln w="28575">
            <a:solidFill>
              <a:srgbClr val="8B5A2B"/>
            </a:solidFill>
            <a:tailEnd type="triangle" w="med" len="med"/>
          </a:ln>
        </p:spPr>
      </p:cxnSp>
      <p:sp>
        <p:nvSpPr>
          <p:cNvPr id="45" name="TextBox 44"/>
          <p:cNvSpPr txBox="1"/>
          <p:nvPr/>
        </p:nvSpPr>
        <p:spPr>
          <a:xfrm>
            <a:off x="8869680" y="2304288"/>
            <a:ext cx="868680" cy="256032"/>
          </a:xfrm>
          <a:prstGeom prst="rect">
            <a:avLst/>
          </a:prstGeom>
          <a:noFill/>
        </p:spPr>
        <p:txBody>
          <a:bodyPr wrap="square" lIns="0" tIns="0" rIns="0" bIns="0" anchor="ctr"/>
          <a:lstStyle/>
          <a:p>
            <a:pPr algn="ctr" rtl="1"/>
            <a:r>
              <a:rPr lang="ar-AE" altLang="en-US" sz="1050" b="1" i="0">
                <a:solidFill>
                  <a:srgbClr val="1E7A3C"/>
                </a:solidFill>
                <a:latin typeface="Arial"/>
                <a:cs typeface="Arial"/>
              </a:rPr>
              <a:t>امتصاص</a:t>
            </a:r>
          </a:p>
        </p:txBody>
      </p:sp>
      <p:sp>
        <p:nvSpPr>
          <p:cNvPr id="46" name="TextBox 45"/>
          <p:cNvSpPr txBox="1"/>
          <p:nvPr/>
        </p:nvSpPr>
        <p:spPr>
          <a:xfrm>
            <a:off x="9921240" y="2980944"/>
            <a:ext cx="932688" cy="256032"/>
          </a:xfrm>
          <a:prstGeom prst="rect">
            <a:avLst/>
          </a:prstGeom>
          <a:noFill/>
        </p:spPr>
        <p:txBody>
          <a:bodyPr wrap="square" lIns="0" tIns="0" rIns="0" bIns="0" anchor="ctr"/>
          <a:lstStyle/>
          <a:p>
            <a:pPr algn="r" rtl="1"/>
            <a:r>
              <a:rPr lang="ar-AE" altLang="en-US" sz="1050" b="1" i="0">
                <a:solidFill>
                  <a:srgbClr val="1E7A3C"/>
                </a:solidFill>
                <a:latin typeface="Arial"/>
                <a:cs typeface="Arial"/>
              </a:rPr>
              <a:t>موت وفضلات</a:t>
            </a:r>
          </a:p>
        </p:txBody>
      </p:sp>
      <p:sp>
        <p:nvSpPr>
          <p:cNvPr id="47" name="TextBox 46"/>
          <p:cNvSpPr txBox="1"/>
          <p:nvPr/>
        </p:nvSpPr>
        <p:spPr>
          <a:xfrm>
            <a:off x="7790688" y="3456432"/>
            <a:ext cx="1188720" cy="256032"/>
          </a:xfrm>
          <a:prstGeom prst="rect">
            <a:avLst/>
          </a:prstGeom>
          <a:noFill/>
        </p:spPr>
        <p:txBody>
          <a:bodyPr wrap="square" lIns="0" tIns="0" rIns="0" bIns="0" anchor="ctr"/>
          <a:lstStyle/>
          <a:p>
            <a:pPr algn="ctr" rtl="1"/>
            <a:r>
              <a:rPr lang="ar-AE" altLang="en-US" sz="1050" b="1" i="0">
                <a:solidFill>
                  <a:srgbClr val="8B5A2B"/>
                </a:solidFill>
                <a:latin typeface="Arial"/>
                <a:cs typeface="Arial"/>
              </a:rPr>
              <a:t>تجوية وتعرية</a:t>
            </a:r>
          </a:p>
        </p:txBody>
      </p:sp>
      <p:sp>
        <p:nvSpPr>
          <p:cNvPr id="48" name="Rounded Rectangle 47"/>
          <p:cNvSpPr/>
          <p:nvPr/>
        </p:nvSpPr>
        <p:spPr>
          <a:xfrm>
            <a:off x="5074920" y="2971800"/>
            <a:ext cx="2011680" cy="329184"/>
          </a:xfrm>
          <a:prstGeom prst="roundRect">
            <a:avLst>
              <a:gd name="adj" fmla="val 50000"/>
            </a:avLst>
          </a:prstGeom>
          <a:solidFill>
            <a:srgbClr val="8B5A2B"/>
          </a:solidFill>
          <a:ln>
            <a:noFill/>
          </a:ln>
        </p:spPr>
        <p:txBody>
          <a:bodyPr wrap="square" lIns="0" tIns="0" rIns="0" bIns="0" rtlCol="0" anchor="ctr"/>
          <a:lstStyle/>
          <a:p>
            <a:pPr algn="ctr" rtl="1"/>
            <a:r>
              <a:rPr lang="ar-AE" altLang="en-US" sz="1250" b="1" i="0">
                <a:solidFill>
                  <a:srgbClr val="FFFFFF"/>
                </a:solidFill>
                <a:latin typeface="Arial"/>
                <a:cs typeface="Arial"/>
              </a:rPr>
              <a:t>الدورة طويلة المدى</a:t>
            </a:r>
          </a:p>
        </p:txBody>
      </p:sp>
      <p:sp>
        <p:nvSpPr>
          <p:cNvPr id="49" name="Rounded Rectangle 48"/>
          <p:cNvSpPr/>
          <p:nvPr/>
        </p:nvSpPr>
        <p:spPr>
          <a:xfrm>
            <a:off x="10149840" y="4370832"/>
            <a:ext cx="1554480" cy="274320"/>
          </a:xfrm>
          <a:prstGeom prst="roundRect">
            <a:avLst>
              <a:gd name="adj" fmla="val 50000"/>
            </a:avLst>
          </a:prstGeom>
          <a:solidFill>
            <a:srgbClr val="2E9E5B"/>
          </a:solidFill>
          <a:ln>
            <a:noFill/>
          </a:ln>
        </p:spPr>
        <p:txBody>
          <a:bodyPr wrap="square" lIns="0" tIns="0" rIns="0" bIns="0" rtlCol="0" anchor="ctr"/>
          <a:lstStyle/>
          <a:p>
            <a:pPr algn="ctr" rtl="1"/>
            <a:r>
              <a:rPr lang="ar-AE" altLang="en-US" sz="1150" b="1" i="0">
                <a:solidFill>
                  <a:srgbClr val="FFFFFF"/>
                </a:solidFill>
                <a:latin typeface="Arial"/>
                <a:cs typeface="Arial"/>
              </a:rPr>
              <a:t>الدورة قصيرة المدى</a:t>
            </a:r>
          </a:p>
        </p:txBody>
      </p:sp>
      <p:sp>
        <p:nvSpPr>
          <p:cNvPr id="50" name="Rounded Rectangle 49"/>
          <p:cNvSpPr/>
          <p:nvPr/>
        </p:nvSpPr>
        <p:spPr>
          <a:xfrm>
            <a:off x="4069080" y="4700016"/>
            <a:ext cx="7772400" cy="822960"/>
          </a:xfrm>
          <a:prstGeom prst="roundRect">
            <a:avLst>
              <a:gd name="adj" fmla="val 13333"/>
            </a:avLst>
          </a:prstGeom>
          <a:solidFill>
            <a:srgbClr val="FBF5E8"/>
          </a:solidFill>
          <a:ln w="12700">
            <a:solidFill>
              <a:srgbClr val="E6D5B0"/>
            </a:solidFill>
          </a:ln>
        </p:spPr>
        <p:txBody>
          <a:bodyPr lIns="54864" tIns="27432" rIns="54864" bIns="27432" rtlCol="0" anchor="ctr"/>
          <a:lstStyle/>
          <a:p>
            <a:pPr algn="ctr"/>
            <a:endParaRPr/>
          </a:p>
        </p:txBody>
      </p:sp>
      <p:pic>
        <p:nvPicPr>
          <p:cNvPr id="51" name="Picture 50" descr="badge_shaheen.png"/>
          <p:cNvPicPr>
            <a:picLocks noChangeAspect="1"/>
          </p:cNvPicPr>
          <p:nvPr/>
        </p:nvPicPr>
        <p:blipFill>
          <a:blip r:embed="rId8"/>
          <a:stretch>
            <a:fillRect/>
          </a:stretch>
        </p:blipFill>
        <p:spPr>
          <a:xfrm>
            <a:off x="11155680" y="4799374"/>
            <a:ext cx="603504" cy="624242"/>
          </a:xfrm>
          <a:prstGeom prst="rect">
            <a:avLst/>
          </a:prstGeom>
        </p:spPr>
      </p:pic>
      <p:sp>
        <p:nvSpPr>
          <p:cNvPr id="52" name="TextBox 51"/>
          <p:cNvSpPr txBox="1"/>
          <p:nvPr/>
        </p:nvSpPr>
        <p:spPr>
          <a:xfrm>
            <a:off x="4160520" y="4700016"/>
            <a:ext cx="6903720" cy="822960"/>
          </a:xfrm>
          <a:prstGeom prst="rect">
            <a:avLst/>
          </a:prstGeom>
          <a:noFill/>
        </p:spPr>
        <p:txBody>
          <a:bodyPr wrap="square" lIns="73152" tIns="36576" rIns="73152" bIns="36576" anchor="ctr"/>
          <a:lstStyle/>
          <a:p>
            <a:pPr algn="r" rtl="1"/>
            <a:r>
              <a:rPr lang="ar-AE" altLang="en-US" sz="1350" b="1" i="0">
                <a:solidFill>
                  <a:srgbClr val="6B3F1D"/>
                </a:solidFill>
                <a:latin typeface="Arial"/>
                <a:cs typeface="Arial"/>
              </a:rPr>
              <a:t>تحدّي شاهين </a:t>
            </a:r>
            <a:r>
              <a:rPr lang="ar-AE" altLang="en-US" sz="1350" b="1" i="0">
                <a:solidFill>
                  <a:srgbClr val="C8102E"/>
                </a:solidFill>
                <a:latin typeface="Arial"/>
                <a:cs typeface="Arial"/>
              </a:rPr>
              <a:t>■</a:t>
            </a:r>
            <a:r>
              <a:rPr lang="ar-AE" altLang="en-US" sz="1350" b="1" i="0">
                <a:solidFill>
                  <a:srgbClr val="6B3F1D"/>
                </a:solidFill>
                <a:latin typeface="Arial"/>
                <a:cs typeface="Arial"/>
              </a:rPr>
              <a:t>: </a:t>
            </a:r>
            <a:r>
              <a:rPr lang="ar-AE" altLang="en-US" sz="1300" b="1" i="0">
                <a:solidFill>
                  <a:srgbClr val="102A43"/>
                </a:solidFill>
                <a:latin typeface="Arial"/>
                <a:cs typeface="Arial"/>
              </a:rPr>
              <a:t>لو تعرّضت صخور غنية بالفوسفور في جبلٍ ما للتجوية، فماذا يحدث لكمية الفوسفور في الوادي المجاور؟ وما أثر ذلك في النباتات؟</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23"/>
                                        </p:tgtEl>
                                      </p:cBhvr>
                                    </p:cmd>
                                  </p:childTnLst>
                                </p:cTn>
                              </p:par>
                            </p:childTnLst>
                          </p:cTn>
                        </p:par>
                      </p:childTnLst>
                    </p:cTn>
                  </p:par>
                </p:childTnLst>
              </p:cTn>
              <p:nextCondLst>
                <p:cond evt="onNext" delay="0">
                  <p:tgtEl>
                    <p:sldTgt/>
                  </p:tgtEl>
                </p:cond>
              </p:nextCondLst>
            </p:seq>
            <p:video>
              <p:cMediaNode vol="80000">
                <p:cTn id="25" fill="hold" display="0">
                  <p:stCondLst>
                    <p:cond delay="indefinite"/>
                  </p:stCondLst>
                </p:cTn>
                <p:tgtEl>
                  <p:spTgt spid="23"/>
                </p:tgtEl>
              </p:cMediaNode>
            </p:video>
          </p:childTnLst>
        </p:cTn>
      </p:par>
    </p:tnLst>
    <p:bldLst>
      <p:bldP spid="30" grpId="0" animBg="1"/>
      <p:bldP spid="33" grpId="0" animBg="1"/>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الثاني</a:t>
            </a:r>
          </a:p>
        </p:txBody>
      </p:sp>
      <p:sp>
        <p:nvSpPr>
          <p:cNvPr id="22" name="TextBox 21"/>
          <p:cNvSpPr txBox="1"/>
          <p:nvPr/>
        </p:nvSpPr>
        <p:spPr>
          <a:xfrm>
            <a:off x="6584378" y="1280160"/>
            <a:ext cx="3643186" cy="502920"/>
          </a:xfrm>
          <a:prstGeom prst="rect">
            <a:avLst/>
          </a:prstGeom>
          <a:noFill/>
        </p:spPr>
        <p:txBody>
          <a:bodyPr wrap="square" lIns="18288" tIns="0" rIns="18288" bIns="0" anchor="ctr"/>
          <a:lstStyle/>
          <a:p>
            <a:pPr algn="r" rtl="1"/>
            <a:r>
              <a:rPr lang="ar-AE" altLang="en-US" sz="1700" b="1" i="0">
                <a:solidFill>
                  <a:srgbClr val="102A43"/>
                </a:solidFill>
                <a:latin typeface="Arial"/>
                <a:cs typeface="Arial"/>
              </a:rPr>
              <a:t>شاهد: ما الذي يميّز دورة الفوسفور؟</a:t>
            </a:r>
          </a:p>
        </p:txBody>
      </p:sp>
      <p:pic>
        <p:nvPicPr>
          <p:cNvPr id="23" name="Picture 22" descr="badge_fahem.png"/>
          <p:cNvPicPr>
            <a:picLocks noChangeAspect="1"/>
          </p:cNvPicPr>
          <p:nvPr/>
        </p:nvPicPr>
        <p:blipFill>
          <a:blip r:embed="rId6"/>
          <a:stretch>
            <a:fillRect/>
          </a:stretch>
        </p:blipFill>
        <p:spPr>
          <a:xfrm>
            <a:off x="2560320" y="1185137"/>
            <a:ext cx="566928" cy="625374"/>
          </a:xfrm>
          <a:prstGeom prst="rect">
            <a:avLst/>
          </a:prstGeom>
        </p:spPr>
      </p:pic>
      <p:sp>
        <p:nvSpPr>
          <p:cNvPr id="24" name="Rounded Rectangular Callout 23"/>
          <p:cNvSpPr/>
          <p:nvPr/>
        </p:nvSpPr>
        <p:spPr>
          <a:xfrm>
            <a:off x="3209544" y="1307592"/>
            <a:ext cx="3246818" cy="420624"/>
          </a:xfrm>
          <a:prstGeom prst="wedgeRoundRectCallout">
            <a:avLst>
              <a:gd name="adj1" fmla="val -53379"/>
              <a:gd name="adj2" fmla="val 18000"/>
              <a:gd name="adj3" fmla="val 16667"/>
            </a:avLst>
          </a:prstGeom>
          <a:solidFill>
            <a:srgbClr val="FFFFFF"/>
          </a:solidFill>
          <a:ln w="19050">
            <a:solidFill>
              <a:srgbClr val="1E6B3A"/>
            </a:solidFill>
          </a:ln>
        </p:spPr>
        <p:txBody>
          <a:bodyPr lIns="54864" tIns="27432" rIns="54864" bIns="27432" rtlCol="0" anchor="ctr"/>
          <a:lstStyle/>
          <a:p>
            <a:pPr algn="ctr"/>
            <a:endParaRPr/>
          </a:p>
        </p:txBody>
      </p:sp>
      <p:sp>
        <p:nvSpPr>
          <p:cNvPr id="25" name="TextBox 24"/>
          <p:cNvSpPr txBox="1"/>
          <p:nvPr/>
        </p:nvSpPr>
        <p:spPr>
          <a:xfrm>
            <a:off x="3246120" y="1307592"/>
            <a:ext cx="3173666" cy="420624"/>
          </a:xfrm>
          <a:prstGeom prst="rect">
            <a:avLst/>
          </a:prstGeom>
          <a:noFill/>
        </p:spPr>
        <p:txBody>
          <a:bodyPr wrap="square" lIns="36576" tIns="0" rIns="36576" bIns="0" anchor="ctr"/>
          <a:lstStyle/>
          <a:p>
            <a:pPr algn="r" rtl="1"/>
            <a:r>
              <a:rPr lang="ar-AE" altLang="en-US" sz="1150" b="1" i="0">
                <a:solidFill>
                  <a:srgbClr val="1E6B3A"/>
                </a:solidFill>
                <a:latin typeface="Arial"/>
                <a:cs typeface="Arial"/>
              </a:rPr>
              <a:t>فاهم: </a:t>
            </a:r>
            <a:r>
              <a:rPr lang="ar-AE" altLang="en-US" sz="1150" b="1" i="0">
                <a:solidFill>
                  <a:srgbClr val="102A43"/>
                </a:solidFill>
                <a:latin typeface="Arial"/>
                <a:cs typeface="Arial"/>
              </a:rPr>
              <a:t>الجواب في الصخور… لا في الهواء!</a:t>
            </a:r>
          </a:p>
        </p:txBody>
      </p:sp>
      <p:pic>
        <p:nvPicPr>
          <p:cNvPr id="26" name="phos_compar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40679" y="1901952"/>
            <a:ext cx="6400800" cy="3600450"/>
          </a:xfrm>
          <a:prstGeom prst="rect">
            <a:avLst/>
          </a:prstGeom>
          <a:ln w="28575">
            <a:solidFill>
              <a:srgbClr val="C9A96A"/>
            </a:solidFill>
          </a:ln>
        </p:spPr>
      </p:pic>
      <p:sp>
        <p:nvSpPr>
          <p:cNvPr id="27" name="Rounded Rectangle 26"/>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8" name="Oval 27"/>
          <p:cNvSpPr/>
          <p:nvPr/>
        </p:nvSpPr>
        <p:spPr>
          <a:xfrm>
            <a:off x="3634740" y="2011680"/>
            <a:ext cx="731520" cy="731520"/>
          </a:xfrm>
          <a:prstGeom prst="ellipse">
            <a:avLst/>
          </a:prstGeom>
          <a:solidFill>
            <a:srgbClr val="D2691E"/>
          </a:solidFill>
          <a:ln>
            <a:noFill/>
          </a:ln>
        </p:spPr>
        <p:txBody>
          <a:bodyPr lIns="54864" tIns="27432" rIns="54864" bIns="27432" rtlCol="0" anchor="ctr"/>
          <a:lstStyle/>
          <a:p>
            <a:pPr algn="ctr"/>
            <a:endParaRPr/>
          </a:p>
        </p:txBody>
      </p:sp>
      <p:pic>
        <p:nvPicPr>
          <p:cNvPr id="29" name="Picture 28" descr="eye_w.png"/>
          <p:cNvPicPr>
            <a:picLocks noChangeAspect="1"/>
          </p:cNvPicPr>
          <p:nvPr/>
        </p:nvPicPr>
        <p:blipFill>
          <a:blip r:embed="rId8"/>
          <a:stretch>
            <a:fillRect/>
          </a:stretch>
        </p:blipFill>
        <p:spPr>
          <a:xfrm>
            <a:off x="3795674" y="2172614"/>
            <a:ext cx="409651" cy="409651"/>
          </a:xfrm>
          <a:prstGeom prst="rect">
            <a:avLst/>
          </a:prstGeom>
        </p:spPr>
      </p:pic>
      <p:sp>
        <p:nvSpPr>
          <p:cNvPr id="30" name="TextBox 29"/>
          <p:cNvSpPr txBox="1"/>
          <p:nvPr/>
        </p:nvSpPr>
        <p:spPr>
          <a:xfrm>
            <a:off x="2761488" y="2816352"/>
            <a:ext cx="2478023" cy="411480"/>
          </a:xfrm>
          <a:prstGeom prst="rect">
            <a:avLst/>
          </a:prstGeom>
          <a:noFill/>
        </p:spPr>
        <p:txBody>
          <a:bodyPr wrap="square" lIns="73152" tIns="36576" rIns="73152" bIns="36576" anchor="ctr"/>
          <a:lstStyle/>
          <a:p>
            <a:pPr algn="ctr" rtl="1"/>
            <a:r>
              <a:rPr lang="ar-AE" altLang="en-US" sz="1500" b="1" i="0">
                <a:solidFill>
                  <a:srgbClr val="D2691E"/>
                </a:solidFill>
                <a:latin typeface="Arial"/>
                <a:cs typeface="Arial"/>
              </a:rPr>
              <a:t>أثناء المشاهدة:</a:t>
            </a:r>
          </a:p>
        </p:txBody>
      </p:sp>
      <p:sp>
        <p:nvSpPr>
          <p:cNvPr id="31" name="TextBox 30"/>
          <p:cNvSpPr txBox="1"/>
          <p:nvPr/>
        </p:nvSpPr>
        <p:spPr>
          <a:xfrm>
            <a:off x="2788920" y="3246120"/>
            <a:ext cx="2423159" cy="2194560"/>
          </a:xfrm>
          <a:prstGeom prst="rect">
            <a:avLst/>
          </a:prstGeom>
          <a:noFill/>
        </p:spPr>
        <p:txBody>
          <a:bodyPr wrap="square" lIns="73152" tIns="36576" rIns="73152" bIns="36576" anchor="t"/>
          <a:lstStyle/>
          <a:p>
            <a:pPr algn="r" rtl="1">
              <a:spcAft>
                <a:spcPts val="600"/>
              </a:spcAft>
            </a:pPr>
            <a:r>
              <a:rPr lang="ar-AE" altLang="en-US" sz="1300" b="1" i="0">
                <a:solidFill>
                  <a:srgbClr val="102A43"/>
                </a:solidFill>
                <a:latin typeface="Arial"/>
                <a:cs typeface="Arial"/>
              </a:rPr>
              <a:t>1) أيّ الدورات لها مرحلة في الهواء؟</a:t>
            </a:r>
          </a:p>
          <a:p>
            <a:pPr algn="r" rtl="1">
              <a:spcAft>
                <a:spcPts val="600"/>
              </a:spcAft>
            </a:pPr>
            <a:r>
              <a:rPr lang="ar-AE" altLang="en-US" sz="1300" b="1" i="0">
                <a:solidFill>
                  <a:srgbClr val="102A43"/>
                </a:solidFill>
                <a:latin typeface="Arial"/>
                <a:cs typeface="Arial"/>
              </a:rPr>
              <a:t>2) أين يتحرك الفوسفور بدلًا من الهواء؟</a:t>
            </a:r>
          </a:p>
          <a:p>
            <a:pPr algn="r" rtl="1">
              <a:spcAft>
                <a:spcPts val="600"/>
              </a:spcAft>
            </a:pPr>
            <a:r>
              <a:rPr lang="ar-AE" altLang="en-US" sz="1300" b="1" i="0">
                <a:solidFill>
                  <a:srgbClr val="102A43"/>
                </a:solidFill>
                <a:latin typeface="Arial"/>
                <a:cs typeface="Arial"/>
              </a:rPr>
              <a:t>3) لماذا يضطرب توازن دورة الفوسفور بسهولة؟</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6"/>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الثاني</a:t>
            </a:r>
          </a:p>
        </p:txBody>
      </p:sp>
      <p:sp>
        <p:nvSpPr>
          <p:cNvPr id="22" name="TextBox 21"/>
          <p:cNvSpPr txBox="1"/>
          <p:nvPr/>
        </p:nvSpPr>
        <p:spPr>
          <a:xfrm>
            <a:off x="6333363" y="1280160"/>
            <a:ext cx="3894201"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نقارن بين الدورات الأربع</a:t>
            </a:r>
          </a:p>
        </p:txBody>
      </p:sp>
      <p:pic>
        <p:nvPicPr>
          <p:cNvPr id="23" name="Picture 22" descr="badge_hessa.png"/>
          <p:cNvPicPr>
            <a:picLocks noChangeAspect="1"/>
          </p:cNvPicPr>
          <p:nvPr/>
        </p:nvPicPr>
        <p:blipFill>
          <a:blip r:embed="rId6"/>
          <a:stretch>
            <a:fillRect/>
          </a:stretch>
        </p:blipFill>
        <p:spPr>
          <a:xfrm>
            <a:off x="2560320" y="1222153"/>
            <a:ext cx="566928" cy="588358"/>
          </a:xfrm>
          <a:prstGeom prst="rect">
            <a:avLst/>
          </a:prstGeom>
        </p:spPr>
      </p:pic>
      <p:sp>
        <p:nvSpPr>
          <p:cNvPr id="24" name="Rounded Rectangular Callout 23"/>
          <p:cNvSpPr/>
          <p:nvPr/>
        </p:nvSpPr>
        <p:spPr>
          <a:xfrm>
            <a:off x="3209544" y="1307592"/>
            <a:ext cx="2995802" cy="420624"/>
          </a:xfrm>
          <a:prstGeom prst="wedgeRoundRectCallout">
            <a:avLst>
              <a:gd name="adj1" fmla="val -53662"/>
              <a:gd name="adj2" fmla="val 18000"/>
              <a:gd name="adj3" fmla="val 16667"/>
            </a:avLst>
          </a:prstGeom>
          <a:solidFill>
            <a:srgbClr val="FFFFFF"/>
          </a:solidFill>
          <a:ln w="19050">
            <a:solidFill>
              <a:srgbClr val="7D1F2E"/>
            </a:solidFill>
          </a:ln>
        </p:spPr>
        <p:txBody>
          <a:bodyPr lIns="54864" tIns="27432" rIns="54864" bIns="27432" rtlCol="0" anchor="ctr"/>
          <a:lstStyle/>
          <a:p>
            <a:pPr algn="ctr"/>
            <a:endParaRPr/>
          </a:p>
        </p:txBody>
      </p:sp>
      <p:sp>
        <p:nvSpPr>
          <p:cNvPr id="25" name="TextBox 24"/>
          <p:cNvSpPr txBox="1"/>
          <p:nvPr/>
        </p:nvSpPr>
        <p:spPr>
          <a:xfrm>
            <a:off x="3246120" y="1307592"/>
            <a:ext cx="2922650" cy="420624"/>
          </a:xfrm>
          <a:prstGeom prst="rect">
            <a:avLst/>
          </a:prstGeom>
          <a:noFill/>
        </p:spPr>
        <p:txBody>
          <a:bodyPr wrap="square" lIns="36576" tIns="0" rIns="36576" bIns="0" anchor="ctr"/>
          <a:lstStyle/>
          <a:p>
            <a:pPr algn="r" rtl="1"/>
            <a:r>
              <a:rPr lang="ar-AE" altLang="en-US" sz="1150" b="1" i="0">
                <a:solidFill>
                  <a:srgbClr val="7D1F2E"/>
                </a:solidFill>
                <a:latin typeface="Arial"/>
                <a:cs typeface="Arial"/>
              </a:rPr>
              <a:t>حصة: </a:t>
            </a:r>
            <a:r>
              <a:rPr lang="ar-AE" altLang="en-US" sz="1150" b="1" i="0">
                <a:solidFill>
                  <a:srgbClr val="102A43"/>
                </a:solidFill>
                <a:latin typeface="Arial"/>
                <a:cs typeface="Arial"/>
              </a:rPr>
              <a:t>وزّعوا الأدوار… وأكملوا الجدول!</a:t>
            </a:r>
          </a:p>
        </p:txBody>
      </p:sp>
      <p:pic>
        <p:nvPicPr>
          <p:cNvPr id="26" name="مؤقت 5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2697480" y="1920240"/>
            <a:ext cx="1234440" cy="1234440"/>
          </a:xfrm>
          <a:prstGeom prst="rect">
            <a:avLst/>
          </a:prstGeom>
        </p:spPr>
      </p:pic>
      <p:sp>
        <p:nvSpPr>
          <p:cNvPr id="27" name="Oval 26"/>
          <p:cNvSpPr/>
          <p:nvPr/>
        </p:nvSpPr>
        <p:spPr>
          <a:xfrm>
            <a:off x="2971800" y="3310128"/>
            <a:ext cx="685800" cy="685800"/>
          </a:xfrm>
          <a:prstGeom prst="ellipse">
            <a:avLst/>
          </a:prstGeom>
          <a:solidFill>
            <a:srgbClr val="D2691E"/>
          </a:solidFill>
          <a:ln>
            <a:noFill/>
          </a:ln>
        </p:spPr>
        <p:txBody>
          <a:bodyPr lIns="54864" tIns="27432" rIns="54864" bIns="27432" rtlCol="0" anchor="ctr"/>
          <a:lstStyle/>
          <a:p>
            <a:pPr algn="ctr"/>
            <a:endParaRPr/>
          </a:p>
        </p:txBody>
      </p:sp>
      <p:pic>
        <p:nvPicPr>
          <p:cNvPr id="28" name="Picture 27" descr="users_w.png"/>
          <p:cNvPicPr>
            <a:picLocks noChangeAspect="1"/>
          </p:cNvPicPr>
          <p:nvPr/>
        </p:nvPicPr>
        <p:blipFill>
          <a:blip r:embed="rId8"/>
          <a:stretch>
            <a:fillRect/>
          </a:stretch>
        </p:blipFill>
        <p:spPr>
          <a:xfrm>
            <a:off x="3122676" y="3461004"/>
            <a:ext cx="384048" cy="384048"/>
          </a:xfrm>
          <a:prstGeom prst="rect">
            <a:avLst/>
          </a:prstGeom>
        </p:spPr>
      </p:pic>
      <p:sp>
        <p:nvSpPr>
          <p:cNvPr id="29" name="TextBox 28"/>
          <p:cNvSpPr txBox="1"/>
          <p:nvPr/>
        </p:nvSpPr>
        <p:spPr>
          <a:xfrm>
            <a:off x="2651760" y="4069080"/>
            <a:ext cx="1325880" cy="822960"/>
          </a:xfrm>
          <a:prstGeom prst="rect">
            <a:avLst/>
          </a:prstGeom>
          <a:noFill/>
        </p:spPr>
        <p:txBody>
          <a:bodyPr wrap="square" lIns="73152" tIns="36576" rIns="73152" bIns="36576" anchor="ctr"/>
          <a:lstStyle/>
          <a:p>
            <a:pPr algn="ctr" rtl="1"/>
            <a:r>
              <a:rPr lang="ar-AE" altLang="en-US" sz="1150" b="1" i="0">
                <a:solidFill>
                  <a:srgbClr val="5A687D"/>
                </a:solidFill>
                <a:latin typeface="Arial"/>
                <a:cs typeface="Arial"/>
              </a:rPr>
              <a:t>أكملوا الجدول المطبوع في المجموعة</a:t>
            </a:r>
          </a:p>
        </p:txBody>
      </p:sp>
      <p:sp>
        <p:nvSpPr>
          <p:cNvPr id="30" name="Rounded Rectangle 29"/>
          <p:cNvSpPr/>
          <p:nvPr/>
        </p:nvSpPr>
        <p:spPr>
          <a:xfrm>
            <a:off x="10652759" y="1901952"/>
            <a:ext cx="1188720" cy="457200"/>
          </a:xfrm>
          <a:prstGeom prst="roundRect">
            <a:avLst>
              <a:gd name="adj" fmla="val 16000"/>
            </a:avLst>
          </a:prstGeom>
          <a:solidFill>
            <a:srgbClr val="102A43"/>
          </a:solidFill>
          <a:ln>
            <a:noFill/>
          </a:ln>
        </p:spPr>
        <p:txBody>
          <a:bodyPr wrap="square" lIns="27432" tIns="0" rIns="27432" bIns="0" rtlCol="0" anchor="ctr"/>
          <a:lstStyle/>
          <a:p>
            <a:pPr algn="ctr" rtl="1"/>
            <a:r>
              <a:rPr lang="ar-AE" altLang="en-US" sz="1250" b="1" i="0">
                <a:solidFill>
                  <a:srgbClr val="FFFFFF"/>
                </a:solidFill>
                <a:latin typeface="Arial"/>
                <a:cs typeface="Arial"/>
              </a:rPr>
              <a:t>الدورة</a:t>
            </a:r>
          </a:p>
        </p:txBody>
      </p:sp>
      <p:sp>
        <p:nvSpPr>
          <p:cNvPr id="31" name="Rounded Rectangle 30"/>
          <p:cNvSpPr/>
          <p:nvPr/>
        </p:nvSpPr>
        <p:spPr>
          <a:xfrm>
            <a:off x="9372600" y="1901952"/>
            <a:ext cx="1234440" cy="457200"/>
          </a:xfrm>
          <a:prstGeom prst="roundRect">
            <a:avLst>
              <a:gd name="adj" fmla="val 16000"/>
            </a:avLst>
          </a:prstGeom>
          <a:solidFill>
            <a:srgbClr val="102A43"/>
          </a:solidFill>
          <a:ln>
            <a:noFill/>
          </a:ln>
        </p:spPr>
        <p:txBody>
          <a:bodyPr wrap="square" lIns="27432" tIns="0" rIns="27432" bIns="0" rtlCol="0" anchor="ctr"/>
          <a:lstStyle/>
          <a:p>
            <a:pPr algn="ctr" rtl="1"/>
            <a:r>
              <a:rPr lang="ar-AE" altLang="en-US" sz="1250" b="1" i="0">
                <a:solidFill>
                  <a:srgbClr val="FFFFFF"/>
                </a:solidFill>
                <a:latin typeface="Arial"/>
                <a:cs typeface="Arial"/>
              </a:rPr>
              <a:t>مرحلة في الغلاف الجوي؟</a:t>
            </a:r>
          </a:p>
        </p:txBody>
      </p:sp>
      <p:sp>
        <p:nvSpPr>
          <p:cNvPr id="32" name="Rounded Rectangle 31"/>
          <p:cNvSpPr/>
          <p:nvPr/>
        </p:nvSpPr>
        <p:spPr>
          <a:xfrm>
            <a:off x="7635240" y="1901952"/>
            <a:ext cx="1691640" cy="457200"/>
          </a:xfrm>
          <a:prstGeom prst="roundRect">
            <a:avLst>
              <a:gd name="adj" fmla="val 16000"/>
            </a:avLst>
          </a:prstGeom>
          <a:solidFill>
            <a:srgbClr val="102A43"/>
          </a:solidFill>
          <a:ln>
            <a:noFill/>
          </a:ln>
        </p:spPr>
        <p:txBody>
          <a:bodyPr wrap="square" lIns="27432" tIns="0" rIns="27432" bIns="0" rtlCol="0" anchor="ctr"/>
          <a:lstStyle/>
          <a:p>
            <a:pPr algn="ctr" rtl="1"/>
            <a:r>
              <a:rPr lang="ar-AE" altLang="en-US" sz="1250" b="1" i="0">
                <a:solidFill>
                  <a:srgbClr val="FFFFFF"/>
                </a:solidFill>
                <a:latin typeface="Arial"/>
                <a:cs typeface="Arial"/>
              </a:rPr>
              <a:t>مخازن مهمة</a:t>
            </a:r>
          </a:p>
        </p:txBody>
      </p:sp>
      <p:sp>
        <p:nvSpPr>
          <p:cNvPr id="33" name="Rounded Rectangle 32"/>
          <p:cNvSpPr/>
          <p:nvPr/>
        </p:nvSpPr>
        <p:spPr>
          <a:xfrm>
            <a:off x="5806439" y="1901952"/>
            <a:ext cx="1783080" cy="457200"/>
          </a:xfrm>
          <a:prstGeom prst="roundRect">
            <a:avLst>
              <a:gd name="adj" fmla="val 16000"/>
            </a:avLst>
          </a:prstGeom>
          <a:solidFill>
            <a:srgbClr val="102A43"/>
          </a:solidFill>
          <a:ln>
            <a:noFill/>
          </a:ln>
        </p:spPr>
        <p:txBody>
          <a:bodyPr wrap="square" lIns="27432" tIns="0" rIns="27432" bIns="0" rtlCol="0" anchor="ctr"/>
          <a:lstStyle/>
          <a:p>
            <a:pPr algn="ctr" rtl="1"/>
            <a:r>
              <a:rPr lang="ar-AE" altLang="en-US" sz="1250" b="1" i="0">
                <a:solidFill>
                  <a:srgbClr val="FFFFFF"/>
                </a:solidFill>
                <a:latin typeface="Arial"/>
                <a:cs typeface="Arial"/>
              </a:rPr>
              <a:t>عمليات رئيسة</a:t>
            </a:r>
          </a:p>
        </p:txBody>
      </p:sp>
      <p:sp>
        <p:nvSpPr>
          <p:cNvPr id="34" name="Rounded Rectangle 33"/>
          <p:cNvSpPr/>
          <p:nvPr/>
        </p:nvSpPr>
        <p:spPr>
          <a:xfrm>
            <a:off x="4069079" y="1901952"/>
            <a:ext cx="1691640" cy="457200"/>
          </a:xfrm>
          <a:prstGeom prst="roundRect">
            <a:avLst>
              <a:gd name="adj" fmla="val 16000"/>
            </a:avLst>
          </a:prstGeom>
          <a:solidFill>
            <a:srgbClr val="102A43"/>
          </a:solidFill>
          <a:ln>
            <a:noFill/>
          </a:ln>
        </p:spPr>
        <p:txBody>
          <a:bodyPr wrap="square" lIns="27432" tIns="0" rIns="27432" bIns="0" rtlCol="0" anchor="ctr"/>
          <a:lstStyle/>
          <a:p>
            <a:pPr algn="ctr" rtl="1"/>
            <a:r>
              <a:rPr lang="ar-AE" altLang="en-US" sz="1250" b="1" i="0">
                <a:solidFill>
                  <a:srgbClr val="FFFFFF"/>
                </a:solidFill>
                <a:latin typeface="Arial"/>
                <a:cs typeface="Arial"/>
              </a:rPr>
              <a:t>دور الكائنات الحية</a:t>
            </a:r>
          </a:p>
        </p:txBody>
      </p:sp>
      <p:sp>
        <p:nvSpPr>
          <p:cNvPr id="35" name="Rounded Rectangle 34"/>
          <p:cNvSpPr/>
          <p:nvPr/>
        </p:nvSpPr>
        <p:spPr>
          <a:xfrm>
            <a:off x="10652759" y="2414016"/>
            <a:ext cx="1188720" cy="731520"/>
          </a:xfrm>
          <a:prstGeom prst="roundRect">
            <a:avLst>
              <a:gd name="adj" fmla="val 10000"/>
            </a:avLst>
          </a:prstGeom>
          <a:solidFill>
            <a:srgbClr val="1E88C8"/>
          </a:solidFill>
          <a:ln>
            <a:noFill/>
          </a:ln>
        </p:spPr>
        <p:txBody>
          <a:bodyPr lIns="54864" tIns="27432" rIns="54864" bIns="27432" rtlCol="0" anchor="ctr"/>
          <a:lstStyle/>
          <a:p>
            <a:pPr algn="ctr"/>
            <a:endParaRPr/>
          </a:p>
        </p:txBody>
      </p:sp>
      <p:pic>
        <p:nvPicPr>
          <p:cNvPr id="36" name="Picture 35" descr="drop_w.png"/>
          <p:cNvPicPr>
            <a:picLocks noChangeAspect="1"/>
          </p:cNvPicPr>
          <p:nvPr/>
        </p:nvPicPr>
        <p:blipFill>
          <a:blip r:embed="rId9"/>
          <a:stretch>
            <a:fillRect/>
          </a:stretch>
        </p:blipFill>
        <p:spPr>
          <a:xfrm>
            <a:off x="11119103" y="2468880"/>
            <a:ext cx="256032" cy="256032"/>
          </a:xfrm>
          <a:prstGeom prst="rect">
            <a:avLst/>
          </a:prstGeom>
        </p:spPr>
      </p:pic>
      <p:sp>
        <p:nvSpPr>
          <p:cNvPr id="37" name="TextBox 36"/>
          <p:cNvSpPr txBox="1"/>
          <p:nvPr/>
        </p:nvSpPr>
        <p:spPr>
          <a:xfrm>
            <a:off x="10680191" y="2724912"/>
            <a:ext cx="1133856" cy="402336"/>
          </a:xfrm>
          <a:prstGeom prst="rect">
            <a:avLst/>
          </a:prstGeom>
          <a:noFill/>
        </p:spPr>
        <p:txBody>
          <a:bodyPr wrap="square" lIns="18288" tIns="0" rIns="18288" bIns="0" anchor="ctr"/>
          <a:lstStyle/>
          <a:p>
            <a:pPr algn="ctr" rtl="1"/>
            <a:r>
              <a:rPr lang="ar-AE" altLang="en-US" sz="1150" b="1" i="0">
                <a:solidFill>
                  <a:srgbClr val="FFFFFF"/>
                </a:solidFill>
                <a:latin typeface="Arial"/>
                <a:cs typeface="Arial"/>
              </a:rPr>
              <a:t>الماء</a:t>
            </a:r>
          </a:p>
        </p:txBody>
      </p:sp>
      <p:sp>
        <p:nvSpPr>
          <p:cNvPr id="38" name="Rounded Rectangle 37"/>
          <p:cNvSpPr/>
          <p:nvPr/>
        </p:nvSpPr>
        <p:spPr>
          <a:xfrm>
            <a:off x="9372600" y="2414016"/>
            <a:ext cx="12344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نعم: بخار الماء</a:t>
            </a:r>
          </a:p>
        </p:txBody>
      </p:sp>
      <p:sp>
        <p:nvSpPr>
          <p:cNvPr id="39" name="Rounded Rectangle 38"/>
          <p:cNvSpPr/>
          <p:nvPr/>
        </p:nvSpPr>
        <p:spPr>
          <a:xfrm>
            <a:off x="7635240" y="2414016"/>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المحيطات، والجليد، والمياه الجوفية</a:t>
            </a:r>
          </a:p>
        </p:txBody>
      </p:sp>
      <p:sp>
        <p:nvSpPr>
          <p:cNvPr id="40" name="Rounded Rectangle 39"/>
          <p:cNvSpPr/>
          <p:nvPr/>
        </p:nvSpPr>
        <p:spPr>
          <a:xfrm>
            <a:off x="5806439" y="2414016"/>
            <a:ext cx="178308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التبخّر، والتكاثف، والهطول، والجريان</a:t>
            </a:r>
          </a:p>
        </p:txBody>
      </p:sp>
      <p:sp>
        <p:nvSpPr>
          <p:cNvPr id="41" name="Rounded Rectangle 40"/>
          <p:cNvSpPr/>
          <p:nvPr/>
        </p:nvSpPr>
        <p:spPr>
          <a:xfrm>
            <a:off x="4069079" y="2414016"/>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تطلق النباتات بخار الماء بالنتح</a:t>
            </a:r>
          </a:p>
        </p:txBody>
      </p:sp>
      <p:sp>
        <p:nvSpPr>
          <p:cNvPr id="42" name="Rounded Rectangle 41"/>
          <p:cNvSpPr/>
          <p:nvPr/>
        </p:nvSpPr>
        <p:spPr>
          <a:xfrm>
            <a:off x="10652759" y="3200400"/>
            <a:ext cx="1188720" cy="731520"/>
          </a:xfrm>
          <a:prstGeom prst="roundRect">
            <a:avLst>
              <a:gd name="adj" fmla="val 10000"/>
            </a:avLst>
          </a:prstGeom>
          <a:solidFill>
            <a:srgbClr val="2E7D32"/>
          </a:solidFill>
          <a:ln>
            <a:noFill/>
          </a:ln>
        </p:spPr>
        <p:txBody>
          <a:bodyPr lIns="54864" tIns="27432" rIns="54864" bIns="27432" rtlCol="0" anchor="ctr"/>
          <a:lstStyle/>
          <a:p>
            <a:pPr algn="ctr"/>
            <a:endParaRPr/>
          </a:p>
        </p:txBody>
      </p:sp>
      <p:pic>
        <p:nvPicPr>
          <p:cNvPr id="43" name="Picture 42" descr="leaf_w.png"/>
          <p:cNvPicPr>
            <a:picLocks noChangeAspect="1"/>
          </p:cNvPicPr>
          <p:nvPr/>
        </p:nvPicPr>
        <p:blipFill>
          <a:blip r:embed="rId10"/>
          <a:stretch>
            <a:fillRect/>
          </a:stretch>
        </p:blipFill>
        <p:spPr>
          <a:xfrm>
            <a:off x="11119103" y="3255264"/>
            <a:ext cx="256032" cy="256032"/>
          </a:xfrm>
          <a:prstGeom prst="rect">
            <a:avLst/>
          </a:prstGeom>
        </p:spPr>
      </p:pic>
      <p:sp>
        <p:nvSpPr>
          <p:cNvPr id="44" name="TextBox 43"/>
          <p:cNvSpPr txBox="1"/>
          <p:nvPr/>
        </p:nvSpPr>
        <p:spPr>
          <a:xfrm>
            <a:off x="10680191" y="3511296"/>
            <a:ext cx="1133856" cy="402336"/>
          </a:xfrm>
          <a:prstGeom prst="rect">
            <a:avLst/>
          </a:prstGeom>
          <a:noFill/>
        </p:spPr>
        <p:txBody>
          <a:bodyPr wrap="square" lIns="18288" tIns="0" rIns="18288" bIns="0" anchor="ctr"/>
          <a:lstStyle/>
          <a:p>
            <a:pPr algn="ctr" rtl="1"/>
            <a:r>
              <a:rPr lang="ar-AE" altLang="en-US" sz="1150" b="1" i="0">
                <a:solidFill>
                  <a:srgbClr val="FFFFFF"/>
                </a:solidFill>
                <a:latin typeface="Arial"/>
                <a:cs typeface="Arial"/>
              </a:rPr>
              <a:t>الكربون والأكسجين</a:t>
            </a:r>
          </a:p>
        </p:txBody>
      </p:sp>
      <p:sp>
        <p:nvSpPr>
          <p:cNvPr id="45" name="Rounded Rectangle 44"/>
          <p:cNvSpPr/>
          <p:nvPr/>
        </p:nvSpPr>
        <p:spPr>
          <a:xfrm>
            <a:off x="9372600" y="3200400"/>
            <a:ext cx="12344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dirty="0">
                <a:solidFill>
                  <a:srgbClr val="102A43"/>
                </a:solidFill>
                <a:latin typeface="Arial"/>
                <a:cs typeface="Arial"/>
              </a:rPr>
              <a:t>نعم: </a:t>
            </a:r>
            <a:r>
              <a:rPr lang="ar-AE" altLang="en-US" sz="1150" b="1" i="0" baseline="-25000" dirty="0">
                <a:solidFill>
                  <a:srgbClr val="102A43"/>
                </a:solidFill>
                <a:latin typeface="Arial"/>
                <a:cs typeface="Arial"/>
              </a:rPr>
              <a:t>2</a:t>
            </a:r>
            <a:r>
              <a:rPr lang="ar-AE" altLang="en-US" sz="1150" b="1" dirty="0">
                <a:solidFill>
                  <a:srgbClr val="102A43"/>
                </a:solidFill>
                <a:latin typeface="Arial"/>
                <a:cs typeface="Arial"/>
              </a:rPr>
              <a:t> COو</a:t>
            </a:r>
            <a:r>
              <a:rPr lang="ar-AE" altLang="en-US" sz="1150" b="1" i="0" baseline="-25000" dirty="0">
                <a:solidFill>
                  <a:srgbClr val="102A43"/>
                </a:solidFill>
                <a:latin typeface="Arial"/>
                <a:cs typeface="Arial"/>
              </a:rPr>
              <a:t>2</a:t>
            </a:r>
            <a:r>
              <a:rPr lang="ar-AE" altLang="en-US" sz="1150" b="1" dirty="0">
                <a:solidFill>
                  <a:srgbClr val="102A43"/>
                </a:solidFill>
                <a:latin typeface="Arial"/>
                <a:cs typeface="Arial"/>
              </a:rPr>
              <a:t>O</a:t>
            </a:r>
            <a:endParaRPr lang="ar-AE" altLang="en-US" sz="1150" b="1" i="0" baseline="-25000" dirty="0">
              <a:solidFill>
                <a:srgbClr val="102A43"/>
              </a:solidFill>
              <a:latin typeface="Arial"/>
              <a:cs typeface="Arial"/>
            </a:endParaRPr>
          </a:p>
        </p:txBody>
      </p:sp>
      <p:sp>
        <p:nvSpPr>
          <p:cNvPr id="46" name="Rounded Rectangle 45"/>
          <p:cNvSpPr/>
          <p:nvPr/>
        </p:nvSpPr>
        <p:spPr>
          <a:xfrm>
            <a:off x="7635240" y="3200400"/>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الغلاف الجوي، والمحيطات، والصخور الكلسية، والوقود الأحفوري</a:t>
            </a:r>
          </a:p>
        </p:txBody>
      </p:sp>
      <p:sp>
        <p:nvSpPr>
          <p:cNvPr id="47" name="Rounded Rectangle 46"/>
          <p:cNvSpPr/>
          <p:nvPr/>
        </p:nvSpPr>
        <p:spPr>
          <a:xfrm>
            <a:off x="5806439" y="3200400"/>
            <a:ext cx="178308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البناء الضوئي، والتنفس الخلوي، والاحتراق</a:t>
            </a:r>
          </a:p>
        </p:txBody>
      </p:sp>
      <p:sp>
        <p:nvSpPr>
          <p:cNvPr id="48" name="Rounded Rectangle 47"/>
          <p:cNvSpPr/>
          <p:nvPr/>
        </p:nvSpPr>
        <p:spPr>
          <a:xfrm>
            <a:off x="4069079" y="3200400"/>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dirty="0">
                <a:solidFill>
                  <a:srgbClr val="102A43"/>
                </a:solidFill>
                <a:latin typeface="Arial"/>
                <a:cs typeface="Arial"/>
              </a:rPr>
              <a:t>تمتص المنتجات </a:t>
            </a:r>
            <a:r>
              <a:rPr lang="ar-AE" altLang="en-US" sz="1150" b="1" i="0" baseline="-25000" dirty="0">
                <a:solidFill>
                  <a:srgbClr val="102A43"/>
                </a:solidFill>
                <a:latin typeface="Arial"/>
                <a:cs typeface="Arial"/>
              </a:rPr>
              <a:t>2</a:t>
            </a:r>
            <a:r>
              <a:rPr lang="ar-AE" altLang="en-US" sz="1150" b="1" dirty="0">
                <a:solidFill>
                  <a:srgbClr val="102A43"/>
                </a:solidFill>
                <a:latin typeface="Arial"/>
                <a:cs typeface="Arial"/>
              </a:rPr>
              <a:t>CO، </a:t>
            </a:r>
            <a:r>
              <a:rPr lang="ar-AE" altLang="en-US" sz="1150" b="1" i="0" dirty="0">
                <a:solidFill>
                  <a:srgbClr val="102A43"/>
                </a:solidFill>
                <a:latin typeface="Arial"/>
                <a:cs typeface="Arial"/>
              </a:rPr>
              <a:t>وتطلقه الكائنات بالتنفس</a:t>
            </a:r>
          </a:p>
        </p:txBody>
      </p:sp>
      <p:sp>
        <p:nvSpPr>
          <p:cNvPr id="49" name="Rounded Rectangle 48"/>
          <p:cNvSpPr/>
          <p:nvPr/>
        </p:nvSpPr>
        <p:spPr>
          <a:xfrm>
            <a:off x="10652759" y="3986784"/>
            <a:ext cx="1188720" cy="731520"/>
          </a:xfrm>
          <a:prstGeom prst="roundRect">
            <a:avLst>
              <a:gd name="adj" fmla="val 10000"/>
            </a:avLst>
          </a:prstGeom>
          <a:solidFill>
            <a:srgbClr val="5B3B91"/>
          </a:solidFill>
          <a:ln>
            <a:noFill/>
          </a:ln>
        </p:spPr>
        <p:txBody>
          <a:bodyPr lIns="54864" tIns="27432" rIns="54864" bIns="27432" rtlCol="0" anchor="ctr"/>
          <a:lstStyle/>
          <a:p>
            <a:pPr algn="ctr"/>
            <a:endParaRPr/>
          </a:p>
        </p:txBody>
      </p:sp>
      <p:pic>
        <p:nvPicPr>
          <p:cNvPr id="50" name="Picture 49" descr="bolt_w.png"/>
          <p:cNvPicPr>
            <a:picLocks noChangeAspect="1"/>
          </p:cNvPicPr>
          <p:nvPr/>
        </p:nvPicPr>
        <p:blipFill>
          <a:blip r:embed="rId11"/>
          <a:stretch>
            <a:fillRect/>
          </a:stretch>
        </p:blipFill>
        <p:spPr>
          <a:xfrm>
            <a:off x="11119103" y="4041648"/>
            <a:ext cx="256032" cy="256032"/>
          </a:xfrm>
          <a:prstGeom prst="rect">
            <a:avLst/>
          </a:prstGeom>
        </p:spPr>
      </p:pic>
      <p:sp>
        <p:nvSpPr>
          <p:cNvPr id="51" name="TextBox 50"/>
          <p:cNvSpPr txBox="1"/>
          <p:nvPr/>
        </p:nvSpPr>
        <p:spPr>
          <a:xfrm>
            <a:off x="10680191" y="4297680"/>
            <a:ext cx="1133856" cy="402336"/>
          </a:xfrm>
          <a:prstGeom prst="rect">
            <a:avLst/>
          </a:prstGeom>
          <a:noFill/>
        </p:spPr>
        <p:txBody>
          <a:bodyPr wrap="square" lIns="18288" tIns="0" rIns="18288" bIns="0" anchor="ctr"/>
          <a:lstStyle/>
          <a:p>
            <a:pPr algn="ctr" rtl="1"/>
            <a:r>
              <a:rPr lang="ar-AE" altLang="en-US" sz="1150" b="1" i="0">
                <a:solidFill>
                  <a:srgbClr val="FFFFFF"/>
                </a:solidFill>
                <a:latin typeface="Arial"/>
                <a:cs typeface="Arial"/>
              </a:rPr>
              <a:t>النيتروجين</a:t>
            </a:r>
          </a:p>
        </p:txBody>
      </p:sp>
      <p:sp>
        <p:nvSpPr>
          <p:cNvPr id="52" name="Rounded Rectangle 51"/>
          <p:cNvSpPr/>
          <p:nvPr/>
        </p:nvSpPr>
        <p:spPr>
          <a:xfrm>
            <a:off x="9372600" y="3986784"/>
            <a:ext cx="12344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dirty="0">
                <a:solidFill>
                  <a:srgbClr val="102A43"/>
                </a:solidFill>
                <a:latin typeface="Arial"/>
                <a:cs typeface="Arial"/>
              </a:rPr>
              <a:t>نعم: </a:t>
            </a:r>
            <a:r>
              <a:rPr lang="ar-AE" altLang="en-US" sz="1150" b="1" i="0">
                <a:solidFill>
                  <a:srgbClr val="102A43"/>
                </a:solidFill>
                <a:latin typeface="Arial"/>
                <a:cs typeface="Arial"/>
              </a:rPr>
              <a:t>غاز </a:t>
            </a:r>
            <a:r>
              <a:rPr lang="ar-AE" altLang="en-US" sz="1150" b="1" i="0" baseline="-25000">
                <a:solidFill>
                  <a:srgbClr val="102A43"/>
                </a:solidFill>
                <a:latin typeface="Arial"/>
                <a:cs typeface="Arial"/>
              </a:rPr>
              <a:t>2</a:t>
            </a:r>
            <a:r>
              <a:rPr lang="ar-AE" altLang="en-US" sz="1150" b="1">
                <a:solidFill>
                  <a:srgbClr val="102A43"/>
                </a:solidFill>
                <a:latin typeface="Arial"/>
                <a:cs typeface="Arial"/>
              </a:rPr>
              <a:t>N </a:t>
            </a:r>
            <a:r>
              <a:rPr lang="ar-AE" altLang="en-US" sz="1150" b="1" i="0" dirty="0">
                <a:solidFill>
                  <a:srgbClr val="102A43"/>
                </a:solidFill>
                <a:latin typeface="Arial"/>
                <a:cs typeface="Arial"/>
              </a:rPr>
              <a:t>(نحو 78% من الهواء)</a:t>
            </a:r>
          </a:p>
        </p:txBody>
      </p:sp>
      <p:sp>
        <p:nvSpPr>
          <p:cNvPr id="53" name="Rounded Rectangle 52"/>
          <p:cNvSpPr/>
          <p:nvPr/>
        </p:nvSpPr>
        <p:spPr>
          <a:xfrm>
            <a:off x="7635240" y="3986784"/>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الغلاف الجوي، والتربة</a:t>
            </a:r>
          </a:p>
        </p:txBody>
      </p:sp>
      <p:sp>
        <p:nvSpPr>
          <p:cNvPr id="54" name="Rounded Rectangle 53"/>
          <p:cNvSpPr/>
          <p:nvPr/>
        </p:nvSpPr>
        <p:spPr>
          <a:xfrm>
            <a:off x="5806439" y="3986784"/>
            <a:ext cx="178308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التثبيت، والنترتة، وإزالة النيتروجين</a:t>
            </a:r>
          </a:p>
        </p:txBody>
      </p:sp>
      <p:sp>
        <p:nvSpPr>
          <p:cNvPr id="55" name="Rounded Rectangle 54"/>
          <p:cNvSpPr/>
          <p:nvPr/>
        </p:nvSpPr>
        <p:spPr>
          <a:xfrm>
            <a:off x="4069079" y="3986784"/>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تثبّته البكتيريا من الهواء، وتعيده إليه</a:t>
            </a:r>
          </a:p>
        </p:txBody>
      </p:sp>
      <p:sp>
        <p:nvSpPr>
          <p:cNvPr id="56" name="Rounded Rectangle 55"/>
          <p:cNvSpPr/>
          <p:nvPr/>
        </p:nvSpPr>
        <p:spPr>
          <a:xfrm>
            <a:off x="10652759" y="4773168"/>
            <a:ext cx="1188720" cy="731520"/>
          </a:xfrm>
          <a:prstGeom prst="roundRect">
            <a:avLst>
              <a:gd name="adj" fmla="val 10000"/>
            </a:avLst>
          </a:prstGeom>
          <a:solidFill>
            <a:srgbClr val="D2691E"/>
          </a:solidFill>
          <a:ln>
            <a:noFill/>
          </a:ln>
        </p:spPr>
        <p:txBody>
          <a:bodyPr lIns="54864" tIns="27432" rIns="54864" bIns="27432" rtlCol="0" anchor="ctr"/>
          <a:lstStyle/>
          <a:p>
            <a:pPr algn="ctr"/>
            <a:endParaRPr/>
          </a:p>
        </p:txBody>
      </p:sp>
      <p:pic>
        <p:nvPicPr>
          <p:cNvPr id="57" name="Picture 56" descr="bone_w.png"/>
          <p:cNvPicPr>
            <a:picLocks noChangeAspect="1"/>
          </p:cNvPicPr>
          <p:nvPr/>
        </p:nvPicPr>
        <p:blipFill>
          <a:blip r:embed="rId12"/>
          <a:stretch>
            <a:fillRect/>
          </a:stretch>
        </p:blipFill>
        <p:spPr>
          <a:xfrm>
            <a:off x="11119103" y="4828032"/>
            <a:ext cx="256032" cy="256032"/>
          </a:xfrm>
          <a:prstGeom prst="rect">
            <a:avLst/>
          </a:prstGeom>
        </p:spPr>
      </p:pic>
      <p:sp>
        <p:nvSpPr>
          <p:cNvPr id="58" name="TextBox 57"/>
          <p:cNvSpPr txBox="1"/>
          <p:nvPr/>
        </p:nvSpPr>
        <p:spPr>
          <a:xfrm>
            <a:off x="10680191" y="5084064"/>
            <a:ext cx="1133856" cy="402336"/>
          </a:xfrm>
          <a:prstGeom prst="rect">
            <a:avLst/>
          </a:prstGeom>
          <a:noFill/>
        </p:spPr>
        <p:txBody>
          <a:bodyPr wrap="square" lIns="18288" tIns="0" rIns="18288" bIns="0" anchor="ctr"/>
          <a:lstStyle/>
          <a:p>
            <a:pPr algn="ctr" rtl="1"/>
            <a:r>
              <a:rPr lang="ar-AE" altLang="en-US" sz="1150" b="1" i="0">
                <a:solidFill>
                  <a:srgbClr val="FFFFFF"/>
                </a:solidFill>
                <a:latin typeface="Arial"/>
                <a:cs typeface="Arial"/>
              </a:rPr>
              <a:t>الفوسفور</a:t>
            </a:r>
          </a:p>
        </p:txBody>
      </p:sp>
      <p:sp>
        <p:nvSpPr>
          <p:cNvPr id="59" name="Rounded Rectangle 58"/>
          <p:cNvSpPr/>
          <p:nvPr/>
        </p:nvSpPr>
        <p:spPr>
          <a:xfrm>
            <a:off x="9372600" y="4773168"/>
            <a:ext cx="1234440" cy="731520"/>
          </a:xfrm>
          <a:prstGeom prst="roundRect">
            <a:avLst>
              <a:gd name="adj" fmla="val 10000"/>
            </a:avLst>
          </a:prstGeom>
          <a:solidFill>
            <a:srgbClr val="FCEBEE"/>
          </a:solidFill>
          <a:ln w="12700">
            <a:solidFill>
              <a:srgbClr val="F2B8B8"/>
            </a:solidFill>
          </a:ln>
        </p:spPr>
        <p:txBody>
          <a:bodyPr wrap="square" lIns="45720" tIns="18288" rIns="45720" bIns="18288" rtlCol="0" anchor="ctr"/>
          <a:lstStyle/>
          <a:p>
            <a:pPr algn="ctr" rtl="1"/>
            <a:r>
              <a:rPr lang="ar-AE" altLang="en-US" sz="1700" b="1" i="0">
                <a:solidFill>
                  <a:srgbClr val="C8102E"/>
                </a:solidFill>
                <a:latin typeface="Arial"/>
                <a:cs typeface="Arial"/>
              </a:rPr>
              <a:t>لا</a:t>
            </a:r>
          </a:p>
        </p:txBody>
      </p:sp>
      <p:sp>
        <p:nvSpPr>
          <p:cNvPr id="60" name="Rounded Rectangle 59"/>
          <p:cNvSpPr/>
          <p:nvPr/>
        </p:nvSpPr>
        <p:spPr>
          <a:xfrm>
            <a:off x="7635240" y="4773168"/>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الصخور، والرواسب</a:t>
            </a:r>
          </a:p>
        </p:txBody>
      </p:sp>
      <p:sp>
        <p:nvSpPr>
          <p:cNvPr id="61" name="Rounded Rectangle 60"/>
          <p:cNvSpPr/>
          <p:nvPr/>
        </p:nvSpPr>
        <p:spPr>
          <a:xfrm>
            <a:off x="5806439" y="4773168"/>
            <a:ext cx="178308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التجوية، والامتصاص، والتحلل، والترسيب</a:t>
            </a:r>
          </a:p>
        </p:txBody>
      </p:sp>
      <p:sp>
        <p:nvSpPr>
          <p:cNvPr id="62" name="Rounded Rectangle 61"/>
          <p:cNvSpPr/>
          <p:nvPr/>
        </p:nvSpPr>
        <p:spPr>
          <a:xfrm>
            <a:off x="4069079" y="4773168"/>
            <a:ext cx="1691640" cy="731520"/>
          </a:xfrm>
          <a:prstGeom prst="roundRect">
            <a:avLst>
              <a:gd name="adj" fmla="val 10000"/>
            </a:avLst>
          </a:prstGeom>
          <a:solidFill>
            <a:srgbClr val="F6F8FB"/>
          </a:solidFill>
          <a:ln w="12700">
            <a:solidFill>
              <a:srgbClr val="D5DDE8"/>
            </a:solidFill>
          </a:ln>
        </p:spPr>
        <p:txBody>
          <a:bodyPr wrap="square" lIns="45720" tIns="18288" rIns="45720" bIns="18288" rtlCol="0" anchor="ctr"/>
          <a:lstStyle/>
          <a:p>
            <a:pPr algn="ctr" rtl="1"/>
            <a:r>
              <a:rPr lang="ar-AE" altLang="en-US" sz="1150" b="1" i="0">
                <a:solidFill>
                  <a:srgbClr val="102A43"/>
                </a:solidFill>
                <a:latin typeface="Arial"/>
                <a:cs typeface="Arial"/>
              </a:rPr>
              <a:t>تمتص المنتجات الفوسفات، وتعيده المحللات إلى التربة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500"/>
                                        <p:tgtEl>
                                          <p:spTgt spid="4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500"/>
                                        <p:tgtEl>
                                          <p:spTgt spid="4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fade">
                                      <p:cBhvr>
                                        <p:cTn id="30" dur="500"/>
                                        <p:tgtEl>
                                          <p:spTgt spid="4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fade">
                                      <p:cBhvr>
                                        <p:cTn id="52" dur="500"/>
                                        <p:tgtEl>
                                          <p:spTgt spid="6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fade">
                                      <p:cBhvr>
                                        <p:cTn id="55" dur="500"/>
                                        <p:tgtEl>
                                          <p:spTgt spid="6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fade">
                                      <p:cBhvr>
                                        <p:cTn id="5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9" restart="whenNotActive" fill="hold" evtFilter="cancelBubble" nodeType="interactiveSeq">
                <p:stCondLst>
                  <p:cond evt="onClick" delay="0">
                    <p:tgtEl>
                      <p:spTgt spid="26"/>
                    </p:tgtEl>
                  </p:cond>
                </p:stCondLst>
                <p:endSync evt="end" delay="0">
                  <p:rtn val="all"/>
                </p:endSync>
                <p:childTnLst>
                  <p:par>
                    <p:cTn id="60" fill="hold">
                      <p:stCondLst>
                        <p:cond delay="0"/>
                      </p:stCondLst>
                      <p:childTnLst>
                        <p:par>
                          <p:cTn id="61" fill="hold">
                            <p:stCondLst>
                              <p:cond delay="0"/>
                            </p:stCondLst>
                            <p:childTnLst>
                              <p:par>
                                <p:cTn id="62" presetID="2" presetClass="mediacall" presetSubtype="0" fill="hold" nodeType="clickEffect">
                                  <p:stCondLst>
                                    <p:cond delay="0"/>
                                  </p:stCondLst>
                                  <p:childTnLst>
                                    <p:cmd type="call" cmd="togglePause">
                                      <p:cBhvr>
                                        <p:cTn id="63" dur="1" fill="hold"/>
                                        <p:tgtEl>
                                          <p:spTgt spid="26"/>
                                        </p:tgtEl>
                                      </p:cBhvr>
                                    </p:cmd>
                                  </p:childTnLst>
                                </p:cTn>
                              </p:par>
                            </p:childTnLst>
                          </p:cTn>
                        </p:par>
                      </p:childTnLst>
                    </p:cTn>
                  </p:par>
                </p:childTnLst>
              </p:cTn>
              <p:nextCondLst>
                <p:cond evt="onNext" delay="0">
                  <p:tgtEl>
                    <p:sldTgt/>
                  </p:tgtEl>
                </p:cond>
              </p:nextCondLst>
            </p:seq>
            <p:video>
              <p:cMediaNode vol="80000">
                <p:cTn id="64" fill="hold" display="0">
                  <p:stCondLst>
                    <p:cond delay="indefinite"/>
                  </p:stCondLst>
                </p:cTn>
                <p:tgtEl>
                  <p:spTgt spid="26"/>
                </p:tgtEl>
              </p:cMediaNode>
            </p:video>
          </p:childTnLst>
        </p:cTn>
      </p:par>
    </p:tnLst>
    <p:bldLst>
      <p:bldP spid="38" grpId="0" animBg="1"/>
      <p:bldP spid="39" grpId="0" animBg="1"/>
      <p:bldP spid="40" grpId="0" animBg="1"/>
      <p:bldP spid="41" grpId="0" animBg="1"/>
      <p:bldP spid="45" grpId="0" animBg="1"/>
      <p:bldP spid="46" grpId="0" animBg="1"/>
      <p:bldP spid="47" grpId="0" animBg="1"/>
      <p:bldP spid="48" grpId="0" animBg="1"/>
      <p:bldP spid="52" grpId="0" animBg="1"/>
      <p:bldP spid="53" grpId="0" animBg="1"/>
      <p:bldP spid="54" grpId="0" animBg="1"/>
      <p:bldP spid="55" grpId="0" animBg="1"/>
      <p:bldP spid="59" grpId="0" animBg="1"/>
      <p:bldP spid="60" grpId="0" animBg="1"/>
      <p:bldP spid="61" grpId="0" animBg="1"/>
      <p:bldP spid="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2: فرز الدورات… سباق المجموعات</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01952"/>
            <a:ext cx="1371600" cy="1371600"/>
          </a:xfrm>
          <a:prstGeom prst="rect">
            <a:avLst/>
          </a:prstGeom>
        </p:spPr>
      </p:pic>
      <p:pic>
        <p:nvPicPr>
          <p:cNvPr id="24" name="Picture 23" descr="qr_p2.png">
            <a:hlinkClick r:id="rId7"/>
          </p:cNvPr>
          <p:cNvPicPr>
            <a:picLocks noChangeAspect="1"/>
          </p:cNvPicPr>
          <p:nvPr/>
        </p:nvPicPr>
        <p:blipFill>
          <a:blip r:embed="rId8"/>
          <a:stretch>
            <a:fillRect/>
          </a:stretch>
        </p:blipFill>
        <p:spPr>
          <a:xfrm>
            <a:off x="2770632" y="3401568"/>
            <a:ext cx="1225296" cy="1225296"/>
          </a:xfrm>
          <a:prstGeom prst="rect">
            <a:avLst/>
          </a:prstGeom>
          <a:ln w="9525">
            <a:solidFill>
              <a:srgbClr val="D9E0E8"/>
            </a:solidFill>
          </a:ln>
        </p:spPr>
      </p:pic>
      <p:sp>
        <p:nvSpPr>
          <p:cNvPr id="25" name="TextBox 24"/>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26" name="Rounded Rectangle 25"/>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تتناوب المجموعات: كل مجموعة تصنّف بطاقتين.</a:t>
            </a:r>
          </a:p>
          <a:p>
            <a:pPr algn="r" rtl="1">
              <a:spcAft>
                <a:spcPts val="500"/>
              </a:spcAft>
            </a:pPr>
            <a:r>
              <a:rPr lang="ar-AE" altLang="en-US" sz="1120" b="1" i="0" dirty="0">
                <a:solidFill>
                  <a:srgbClr val="102A43"/>
                </a:solidFill>
                <a:latin typeface="Arial"/>
                <a:cs typeface="Arial"/>
              </a:rPr>
              <a:t>2) عند اكتمال كل دورة يظهر: هل لها مرحلة غازية؟</a:t>
            </a:r>
          </a:p>
          <a:p>
            <a:pPr algn="r" rtl="1">
              <a:spcAft>
                <a:spcPts val="500"/>
              </a:spcAft>
            </a:pPr>
            <a:r>
              <a:rPr lang="ar-AE" altLang="en-US" sz="1120" b="1" i="0" dirty="0">
                <a:solidFill>
                  <a:srgbClr val="102A43"/>
                </a:solidFill>
                <a:latin typeface="Arial"/>
                <a:cs typeface="Arial"/>
              </a:rPr>
              <a:t>3) أيّ دورة تنفرد بلا مرحلة غازية؟</a:t>
            </a:r>
          </a:p>
        </p:txBody>
      </p:sp>
      <p:pic>
        <p:nvPicPr>
          <p:cNvPr id="28" name="Picture 27" descr="hessa_400.png"/>
          <p:cNvPicPr>
            <a:picLocks noChangeAspect="1"/>
          </p:cNvPicPr>
          <p:nvPr/>
        </p:nvPicPr>
        <p:blipFill>
          <a:blip r:embed="rId9"/>
          <a:stretch>
            <a:fillRect/>
          </a:stretch>
        </p:blipFill>
        <p:spPr>
          <a:xfrm>
            <a:off x="5596128" y="4133087"/>
            <a:ext cx="548640" cy="548640"/>
          </a:xfrm>
          <a:prstGeom prst="rect">
            <a:avLst/>
          </a:prstGeom>
        </p:spPr>
      </p:pic>
      <p:sp>
        <p:nvSpPr>
          <p:cNvPr id="29" name="Rounded Rectangular Callout 28"/>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8C1D4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8C1D40"/>
                </a:solidFill>
                <a:latin typeface="Arial"/>
                <a:cs typeface="Arial"/>
              </a:rPr>
              <a:t>حصة: </a:t>
            </a:r>
            <a:r>
              <a:rPr lang="ar-AE" altLang="en-US" sz="1000" b="1" i="0" dirty="0">
                <a:solidFill>
                  <a:srgbClr val="102A43"/>
                </a:solidFill>
                <a:latin typeface="Arial"/>
                <a:cs typeface="Arial"/>
              </a:rPr>
              <a:t>بعض العمليات لأكثر من دورة!</a:t>
            </a:r>
          </a:p>
        </p:txBody>
      </p:sp>
      <p:sp>
        <p:nvSpPr>
          <p:cNvPr id="30" name="Rounded Rectangle 29"/>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2</a:t>
            </a:r>
          </a:p>
        </p:txBody>
      </p:sp>
      <p:pic>
        <p:nvPicPr>
          <p:cNvPr id="31" name="Picture 30" descr="crop_p2.jpg">
            <a:hlinkClick r:id="rId7"/>
          </p:cNvPr>
          <p:cNvPicPr>
            <a:picLocks noChangeAspect="1"/>
          </p:cNvPicPr>
          <p:nvPr/>
        </p:nvPicPr>
        <p:blipFill>
          <a:blip r:embed="rId10"/>
          <a:stretch>
            <a:fillRect/>
          </a:stretch>
        </p:blipFill>
        <p:spPr>
          <a:xfrm>
            <a:off x="6355080" y="1874519"/>
            <a:ext cx="5486400" cy="3086100"/>
          </a:xfrm>
          <a:prstGeom prst="rect">
            <a:avLst/>
          </a:prstGeom>
          <a:ln w="15875">
            <a:solidFill>
              <a:srgbClr val="102A43"/>
            </a:solidFill>
          </a:ln>
        </p:spPr>
      </p:pic>
      <p:sp>
        <p:nvSpPr>
          <p:cNvPr id="32" name="Rounded Rectangle 31">
            <a:hlinkClick r:id="rId7"/>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2 في مختبر الفوسفور</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Rounded Rectangle 8"/>
          <p:cNvSpPr/>
          <p:nvPr/>
        </p:nvSpPr>
        <p:spPr>
          <a:xfrm>
            <a:off x="274320" y="2029968"/>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0" name="Oval 9"/>
          <p:cNvSpPr/>
          <p:nvPr/>
        </p:nvSpPr>
        <p:spPr>
          <a:xfrm>
            <a:off x="2020824" y="2061972"/>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2</a:t>
            </a:r>
          </a:p>
        </p:txBody>
      </p:sp>
      <p:sp>
        <p:nvSpPr>
          <p:cNvPr id="11" name="TextBox 10"/>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المقارنة بين الدورات</a:t>
            </a:r>
          </a:p>
        </p:txBody>
      </p:sp>
      <p:sp>
        <p:nvSpPr>
          <p:cNvPr id="12" name="Oval 11"/>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الثاني</a:t>
            </a:r>
          </a:p>
        </p:txBody>
      </p:sp>
      <p:sp>
        <p:nvSpPr>
          <p:cNvPr id="22" name="TextBox 21"/>
          <p:cNvSpPr txBox="1"/>
          <p:nvPr/>
        </p:nvSpPr>
        <p:spPr>
          <a:xfrm>
            <a:off x="2606040" y="1280160"/>
            <a:ext cx="7045452"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تقويم الناتج الثاني: إلى أيّ دورة تنتمي العملية؟</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234440" cy="1234440"/>
          </a:xfrm>
          <a:prstGeom prst="rect">
            <a:avLst/>
          </a:prstGeom>
        </p:spPr>
      </p:pic>
      <p:sp>
        <p:nvSpPr>
          <p:cNvPr id="24" name="Oval 23"/>
          <p:cNvSpPr/>
          <p:nvPr/>
        </p:nvSpPr>
        <p:spPr>
          <a:xfrm>
            <a:off x="2971800" y="3310128"/>
            <a:ext cx="685800" cy="685800"/>
          </a:xfrm>
          <a:prstGeom prst="ellipse">
            <a:avLst/>
          </a:prstGeom>
          <a:solidFill>
            <a:srgbClr val="D2691E"/>
          </a:solidFill>
          <a:ln>
            <a:noFill/>
          </a:ln>
        </p:spPr>
        <p:txBody>
          <a:bodyPr lIns="54864" tIns="27432" rIns="54864" bIns="27432" rtlCol="0" anchor="ctr"/>
          <a:lstStyle/>
          <a:p>
            <a:pPr algn="ctr"/>
            <a:endParaRPr/>
          </a:p>
        </p:txBody>
      </p:sp>
      <p:pic>
        <p:nvPicPr>
          <p:cNvPr id="25" name="Picture 24" descr="users_w.png"/>
          <p:cNvPicPr>
            <a:picLocks noChangeAspect="1"/>
          </p:cNvPicPr>
          <p:nvPr/>
        </p:nvPicPr>
        <p:blipFill>
          <a:blip r:embed="rId7"/>
          <a:stretch>
            <a:fillRect/>
          </a:stretch>
        </p:blipFill>
        <p:spPr>
          <a:xfrm>
            <a:off x="3122676" y="3461004"/>
            <a:ext cx="384048" cy="384048"/>
          </a:xfrm>
          <a:prstGeom prst="rect">
            <a:avLst/>
          </a:prstGeom>
        </p:spPr>
      </p:pic>
      <p:sp>
        <p:nvSpPr>
          <p:cNvPr id="26" name="TextBox 25"/>
          <p:cNvSpPr txBox="1"/>
          <p:nvPr/>
        </p:nvSpPr>
        <p:spPr>
          <a:xfrm>
            <a:off x="2651760" y="4069080"/>
            <a:ext cx="1325880" cy="640080"/>
          </a:xfrm>
          <a:prstGeom prst="rect">
            <a:avLst/>
          </a:prstGeom>
          <a:noFill/>
        </p:spPr>
        <p:txBody>
          <a:bodyPr wrap="square" lIns="73152" tIns="36576" rIns="73152" bIns="36576" anchor="ctr"/>
          <a:lstStyle/>
          <a:p>
            <a:pPr algn="ctr" rtl="1"/>
            <a:r>
              <a:rPr lang="ar-AE" altLang="en-US" sz="1200" b="1" i="0">
                <a:solidFill>
                  <a:srgbClr val="5A687D"/>
                </a:solidFill>
                <a:latin typeface="Arial"/>
                <a:cs typeface="Arial"/>
              </a:rPr>
              <a:t>تشاوروا في المجموعة</a:t>
            </a:r>
          </a:p>
        </p:txBody>
      </p:sp>
      <p:sp>
        <p:nvSpPr>
          <p:cNvPr id="27" name="Rounded Rectangle 26"/>
          <p:cNvSpPr/>
          <p:nvPr/>
        </p:nvSpPr>
        <p:spPr>
          <a:xfrm>
            <a:off x="8019288" y="1901952"/>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28" name="Oval 27"/>
          <p:cNvSpPr/>
          <p:nvPr/>
        </p:nvSpPr>
        <p:spPr>
          <a:xfrm>
            <a:off x="11420855" y="1993392"/>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1</a:t>
            </a:r>
          </a:p>
        </p:txBody>
      </p:sp>
      <p:sp>
        <p:nvSpPr>
          <p:cNvPr id="29" name="TextBox 28"/>
          <p:cNvSpPr txBox="1"/>
          <p:nvPr/>
        </p:nvSpPr>
        <p:spPr>
          <a:xfrm>
            <a:off x="9564624" y="1901952"/>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النتح</a:t>
            </a:r>
          </a:p>
        </p:txBody>
      </p:sp>
      <p:sp>
        <p:nvSpPr>
          <p:cNvPr id="30" name="Rounded Rectangle 29"/>
          <p:cNvSpPr/>
          <p:nvPr/>
        </p:nvSpPr>
        <p:spPr>
          <a:xfrm>
            <a:off x="8092440" y="1993392"/>
            <a:ext cx="1417320" cy="329184"/>
          </a:xfrm>
          <a:prstGeom prst="roundRect">
            <a:avLst>
              <a:gd name="adj" fmla="val 50000"/>
            </a:avLst>
          </a:prstGeom>
          <a:solidFill>
            <a:srgbClr val="1E88C8"/>
          </a:solidFill>
          <a:ln>
            <a:noFill/>
          </a:ln>
        </p:spPr>
        <p:txBody>
          <a:bodyPr wrap="square" lIns="0" tIns="0" rIns="0" bIns="0" rtlCol="0" anchor="ctr"/>
          <a:lstStyle/>
          <a:p>
            <a:pPr algn="ctr" rtl="1"/>
            <a:r>
              <a:rPr lang="ar-AE" altLang="en-US" sz="1250" b="1" i="0">
                <a:solidFill>
                  <a:srgbClr val="FFFFFF"/>
                </a:solidFill>
                <a:latin typeface="Arial"/>
                <a:cs typeface="Arial"/>
              </a:rPr>
              <a:t>الماء</a:t>
            </a:r>
          </a:p>
        </p:txBody>
      </p:sp>
      <p:sp>
        <p:nvSpPr>
          <p:cNvPr id="31" name="Rounded Rectangle 30"/>
          <p:cNvSpPr/>
          <p:nvPr/>
        </p:nvSpPr>
        <p:spPr>
          <a:xfrm>
            <a:off x="4069080" y="1901952"/>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32" name="Oval 31"/>
          <p:cNvSpPr/>
          <p:nvPr/>
        </p:nvSpPr>
        <p:spPr>
          <a:xfrm>
            <a:off x="7470647" y="1993392"/>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2</a:t>
            </a:r>
          </a:p>
        </p:txBody>
      </p:sp>
      <p:sp>
        <p:nvSpPr>
          <p:cNvPr id="33" name="TextBox 32"/>
          <p:cNvSpPr txBox="1"/>
          <p:nvPr/>
        </p:nvSpPr>
        <p:spPr>
          <a:xfrm>
            <a:off x="5614416" y="1901952"/>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تثبيت النيتروجين</a:t>
            </a:r>
          </a:p>
        </p:txBody>
      </p:sp>
      <p:sp>
        <p:nvSpPr>
          <p:cNvPr id="34" name="Rounded Rectangle 33"/>
          <p:cNvSpPr/>
          <p:nvPr/>
        </p:nvSpPr>
        <p:spPr>
          <a:xfrm>
            <a:off x="4142232" y="1993392"/>
            <a:ext cx="1417320" cy="329184"/>
          </a:xfrm>
          <a:prstGeom prst="roundRect">
            <a:avLst>
              <a:gd name="adj" fmla="val 50000"/>
            </a:avLst>
          </a:prstGeom>
          <a:solidFill>
            <a:srgbClr val="5B3B91"/>
          </a:solidFill>
          <a:ln>
            <a:noFill/>
          </a:ln>
        </p:spPr>
        <p:txBody>
          <a:bodyPr wrap="square" lIns="0" tIns="0" rIns="0" bIns="0" rtlCol="0" anchor="ctr"/>
          <a:lstStyle/>
          <a:p>
            <a:pPr algn="ctr" rtl="1"/>
            <a:r>
              <a:rPr lang="ar-AE" altLang="en-US" sz="1250" b="1" i="0">
                <a:solidFill>
                  <a:srgbClr val="FFFFFF"/>
                </a:solidFill>
                <a:latin typeface="Arial"/>
                <a:cs typeface="Arial"/>
              </a:rPr>
              <a:t>النيتروجين</a:t>
            </a:r>
          </a:p>
        </p:txBody>
      </p:sp>
      <p:sp>
        <p:nvSpPr>
          <p:cNvPr id="35" name="Rounded Rectangle 34"/>
          <p:cNvSpPr/>
          <p:nvPr/>
        </p:nvSpPr>
        <p:spPr>
          <a:xfrm>
            <a:off x="8019288" y="2487168"/>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36" name="Oval 35"/>
          <p:cNvSpPr/>
          <p:nvPr/>
        </p:nvSpPr>
        <p:spPr>
          <a:xfrm>
            <a:off x="11420855" y="2578608"/>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3</a:t>
            </a:r>
          </a:p>
        </p:txBody>
      </p:sp>
      <p:sp>
        <p:nvSpPr>
          <p:cNvPr id="37" name="TextBox 36"/>
          <p:cNvSpPr txBox="1"/>
          <p:nvPr/>
        </p:nvSpPr>
        <p:spPr>
          <a:xfrm>
            <a:off x="9564624" y="2487168"/>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تحرّر الفوسفات من الصخور بالتجوية</a:t>
            </a:r>
          </a:p>
        </p:txBody>
      </p:sp>
      <p:sp>
        <p:nvSpPr>
          <p:cNvPr id="38" name="Rounded Rectangle 37"/>
          <p:cNvSpPr/>
          <p:nvPr/>
        </p:nvSpPr>
        <p:spPr>
          <a:xfrm>
            <a:off x="8092440" y="2578608"/>
            <a:ext cx="1417320" cy="329184"/>
          </a:xfrm>
          <a:prstGeom prst="roundRect">
            <a:avLst>
              <a:gd name="adj" fmla="val 50000"/>
            </a:avLst>
          </a:prstGeom>
          <a:solidFill>
            <a:srgbClr val="D2691E"/>
          </a:solidFill>
          <a:ln>
            <a:noFill/>
          </a:ln>
        </p:spPr>
        <p:txBody>
          <a:bodyPr wrap="square" lIns="0" tIns="0" rIns="0" bIns="0" rtlCol="0" anchor="ctr"/>
          <a:lstStyle/>
          <a:p>
            <a:pPr algn="ctr" rtl="1"/>
            <a:r>
              <a:rPr lang="ar-AE" altLang="en-US" sz="1250" b="1" i="0">
                <a:solidFill>
                  <a:srgbClr val="FFFFFF"/>
                </a:solidFill>
                <a:latin typeface="Arial"/>
                <a:cs typeface="Arial"/>
              </a:rPr>
              <a:t>الفوسفور</a:t>
            </a:r>
          </a:p>
        </p:txBody>
      </p:sp>
      <p:sp>
        <p:nvSpPr>
          <p:cNvPr id="39" name="Rounded Rectangle 38"/>
          <p:cNvSpPr/>
          <p:nvPr/>
        </p:nvSpPr>
        <p:spPr>
          <a:xfrm>
            <a:off x="4069080" y="2487168"/>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40" name="Oval 39"/>
          <p:cNvSpPr/>
          <p:nvPr/>
        </p:nvSpPr>
        <p:spPr>
          <a:xfrm>
            <a:off x="7470647" y="2578608"/>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4</a:t>
            </a:r>
          </a:p>
        </p:txBody>
      </p:sp>
      <p:sp>
        <p:nvSpPr>
          <p:cNvPr id="41" name="TextBox 40"/>
          <p:cNvSpPr txBox="1"/>
          <p:nvPr/>
        </p:nvSpPr>
        <p:spPr>
          <a:xfrm>
            <a:off x="5614416" y="2487168"/>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البناء الضوئي</a:t>
            </a:r>
          </a:p>
        </p:txBody>
      </p:sp>
      <p:sp>
        <p:nvSpPr>
          <p:cNvPr id="42" name="Rounded Rectangle 41"/>
          <p:cNvSpPr/>
          <p:nvPr/>
        </p:nvSpPr>
        <p:spPr>
          <a:xfrm>
            <a:off x="4142232" y="2578608"/>
            <a:ext cx="1417320" cy="329184"/>
          </a:xfrm>
          <a:prstGeom prst="roundRect">
            <a:avLst>
              <a:gd name="adj" fmla="val 50000"/>
            </a:avLst>
          </a:prstGeom>
          <a:solidFill>
            <a:srgbClr val="2E7D32"/>
          </a:solidFill>
          <a:ln>
            <a:noFill/>
          </a:ln>
        </p:spPr>
        <p:txBody>
          <a:bodyPr wrap="square" lIns="0" tIns="0" rIns="0" bIns="0" rtlCol="0" anchor="ctr"/>
          <a:lstStyle/>
          <a:p>
            <a:pPr algn="ctr" rtl="1"/>
            <a:r>
              <a:rPr lang="ar-AE" altLang="en-US" sz="1250" b="1" i="0">
                <a:solidFill>
                  <a:srgbClr val="FFFFFF"/>
                </a:solidFill>
                <a:latin typeface="Arial"/>
                <a:cs typeface="Arial"/>
              </a:rPr>
              <a:t>الكربون والأكسجين</a:t>
            </a:r>
          </a:p>
        </p:txBody>
      </p:sp>
      <p:sp>
        <p:nvSpPr>
          <p:cNvPr id="43" name="Rounded Rectangle 42"/>
          <p:cNvSpPr/>
          <p:nvPr/>
        </p:nvSpPr>
        <p:spPr>
          <a:xfrm>
            <a:off x="8019288" y="3072384"/>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44" name="Oval 43"/>
          <p:cNvSpPr/>
          <p:nvPr/>
        </p:nvSpPr>
        <p:spPr>
          <a:xfrm>
            <a:off x="11420855" y="3163824"/>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5</a:t>
            </a:r>
          </a:p>
        </p:txBody>
      </p:sp>
      <p:sp>
        <p:nvSpPr>
          <p:cNvPr id="45" name="TextBox 44"/>
          <p:cNvSpPr txBox="1"/>
          <p:nvPr/>
        </p:nvSpPr>
        <p:spPr>
          <a:xfrm>
            <a:off x="9564624" y="3072384"/>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إزالة النيتروجين</a:t>
            </a:r>
          </a:p>
        </p:txBody>
      </p:sp>
      <p:sp>
        <p:nvSpPr>
          <p:cNvPr id="46" name="Rounded Rectangle 45"/>
          <p:cNvSpPr/>
          <p:nvPr/>
        </p:nvSpPr>
        <p:spPr>
          <a:xfrm>
            <a:off x="8092440" y="3163824"/>
            <a:ext cx="1417320" cy="329184"/>
          </a:xfrm>
          <a:prstGeom prst="roundRect">
            <a:avLst>
              <a:gd name="adj" fmla="val 50000"/>
            </a:avLst>
          </a:prstGeom>
          <a:solidFill>
            <a:srgbClr val="5B3B91"/>
          </a:solidFill>
          <a:ln>
            <a:noFill/>
          </a:ln>
        </p:spPr>
        <p:txBody>
          <a:bodyPr wrap="square" lIns="0" tIns="0" rIns="0" bIns="0" rtlCol="0" anchor="ctr"/>
          <a:lstStyle/>
          <a:p>
            <a:pPr algn="ctr" rtl="1"/>
            <a:r>
              <a:rPr lang="ar-AE" altLang="en-US" sz="1250" b="1" i="0">
                <a:solidFill>
                  <a:srgbClr val="FFFFFF"/>
                </a:solidFill>
                <a:latin typeface="Arial"/>
                <a:cs typeface="Arial"/>
              </a:rPr>
              <a:t>النيتروجين</a:t>
            </a:r>
          </a:p>
        </p:txBody>
      </p:sp>
      <p:sp>
        <p:nvSpPr>
          <p:cNvPr id="47" name="Rounded Rectangle 46"/>
          <p:cNvSpPr/>
          <p:nvPr/>
        </p:nvSpPr>
        <p:spPr>
          <a:xfrm>
            <a:off x="4069080" y="3072384"/>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48" name="Oval 47"/>
          <p:cNvSpPr/>
          <p:nvPr/>
        </p:nvSpPr>
        <p:spPr>
          <a:xfrm>
            <a:off x="7470647" y="3163824"/>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6</a:t>
            </a:r>
          </a:p>
        </p:txBody>
      </p:sp>
      <p:sp>
        <p:nvSpPr>
          <p:cNvPr id="49" name="TextBox 48"/>
          <p:cNvSpPr txBox="1"/>
          <p:nvPr/>
        </p:nvSpPr>
        <p:spPr>
          <a:xfrm>
            <a:off x="5614416" y="3072384"/>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التكاثف</a:t>
            </a:r>
          </a:p>
        </p:txBody>
      </p:sp>
      <p:sp>
        <p:nvSpPr>
          <p:cNvPr id="50" name="Rounded Rectangle 49"/>
          <p:cNvSpPr/>
          <p:nvPr/>
        </p:nvSpPr>
        <p:spPr>
          <a:xfrm>
            <a:off x="4142232" y="3163824"/>
            <a:ext cx="1417320" cy="329184"/>
          </a:xfrm>
          <a:prstGeom prst="roundRect">
            <a:avLst>
              <a:gd name="adj" fmla="val 50000"/>
            </a:avLst>
          </a:prstGeom>
          <a:solidFill>
            <a:srgbClr val="1E88C8"/>
          </a:solidFill>
          <a:ln>
            <a:noFill/>
          </a:ln>
        </p:spPr>
        <p:txBody>
          <a:bodyPr wrap="square" lIns="0" tIns="0" rIns="0" bIns="0" rtlCol="0" anchor="ctr"/>
          <a:lstStyle/>
          <a:p>
            <a:pPr algn="ctr" rtl="1"/>
            <a:r>
              <a:rPr lang="ar-AE" altLang="en-US" sz="1250" b="1" i="0">
                <a:solidFill>
                  <a:srgbClr val="FFFFFF"/>
                </a:solidFill>
                <a:latin typeface="Arial"/>
                <a:cs typeface="Arial"/>
              </a:rPr>
              <a:t>الماء</a:t>
            </a:r>
          </a:p>
        </p:txBody>
      </p:sp>
      <p:sp>
        <p:nvSpPr>
          <p:cNvPr id="51" name="Rounded Rectangle 50"/>
          <p:cNvSpPr/>
          <p:nvPr/>
        </p:nvSpPr>
        <p:spPr>
          <a:xfrm>
            <a:off x="8019288" y="3657600"/>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52" name="Oval 51"/>
          <p:cNvSpPr/>
          <p:nvPr/>
        </p:nvSpPr>
        <p:spPr>
          <a:xfrm>
            <a:off x="11420855" y="3749039"/>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7</a:t>
            </a:r>
          </a:p>
        </p:txBody>
      </p:sp>
      <p:sp>
        <p:nvSpPr>
          <p:cNvPr id="53" name="TextBox 52"/>
          <p:cNvSpPr txBox="1"/>
          <p:nvPr/>
        </p:nvSpPr>
        <p:spPr>
          <a:xfrm>
            <a:off x="9564624" y="3657600"/>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تراكم الرواسب في قاع المحيط</a:t>
            </a:r>
          </a:p>
        </p:txBody>
      </p:sp>
      <p:sp>
        <p:nvSpPr>
          <p:cNvPr id="54" name="Rounded Rectangle 53"/>
          <p:cNvSpPr/>
          <p:nvPr/>
        </p:nvSpPr>
        <p:spPr>
          <a:xfrm>
            <a:off x="8092440" y="3749039"/>
            <a:ext cx="1417320" cy="329184"/>
          </a:xfrm>
          <a:prstGeom prst="roundRect">
            <a:avLst>
              <a:gd name="adj" fmla="val 50000"/>
            </a:avLst>
          </a:prstGeom>
          <a:solidFill>
            <a:srgbClr val="996B2F"/>
          </a:solidFill>
          <a:ln>
            <a:noFill/>
          </a:ln>
        </p:spPr>
        <p:txBody>
          <a:bodyPr wrap="square" lIns="0" tIns="0" rIns="0" bIns="0" rtlCol="0" anchor="ctr"/>
          <a:lstStyle/>
          <a:p>
            <a:pPr algn="ctr" rtl="1"/>
            <a:r>
              <a:rPr lang="ar-AE" altLang="en-US" sz="1250" b="1" i="0">
                <a:solidFill>
                  <a:srgbClr val="FFFFFF"/>
                </a:solidFill>
                <a:latin typeface="Arial"/>
                <a:cs typeface="Arial"/>
              </a:rPr>
              <a:t>الكربون والفوسفور</a:t>
            </a:r>
          </a:p>
        </p:txBody>
      </p:sp>
      <p:sp>
        <p:nvSpPr>
          <p:cNvPr id="55" name="Rounded Rectangle 54"/>
          <p:cNvSpPr/>
          <p:nvPr/>
        </p:nvSpPr>
        <p:spPr>
          <a:xfrm>
            <a:off x="4069080" y="3657600"/>
            <a:ext cx="3822191" cy="512064"/>
          </a:xfrm>
          <a:prstGeom prst="roundRect">
            <a:avLst>
              <a:gd name="adj" fmla="val 21428"/>
            </a:avLst>
          </a:prstGeom>
          <a:solidFill>
            <a:srgbClr val="FFFFFF"/>
          </a:solidFill>
          <a:ln w="12700">
            <a:solidFill>
              <a:srgbClr val="D5DDE8"/>
            </a:solidFill>
          </a:ln>
        </p:spPr>
        <p:txBody>
          <a:bodyPr lIns="54864" tIns="27432" rIns="54864" bIns="27432" rtlCol="0" anchor="ctr"/>
          <a:lstStyle/>
          <a:p>
            <a:pPr algn="ctr"/>
            <a:endParaRPr/>
          </a:p>
        </p:txBody>
      </p:sp>
      <p:sp>
        <p:nvSpPr>
          <p:cNvPr id="56" name="Oval 55"/>
          <p:cNvSpPr/>
          <p:nvPr/>
        </p:nvSpPr>
        <p:spPr>
          <a:xfrm>
            <a:off x="7470647" y="3749039"/>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8</a:t>
            </a:r>
          </a:p>
        </p:txBody>
      </p:sp>
      <p:sp>
        <p:nvSpPr>
          <p:cNvPr id="57" name="TextBox 56"/>
          <p:cNvSpPr txBox="1"/>
          <p:nvPr/>
        </p:nvSpPr>
        <p:spPr>
          <a:xfrm>
            <a:off x="5614416" y="3657600"/>
            <a:ext cx="1819655" cy="512064"/>
          </a:xfrm>
          <a:prstGeom prst="rect">
            <a:avLst/>
          </a:prstGeom>
          <a:noFill/>
        </p:spPr>
        <p:txBody>
          <a:bodyPr wrap="square" lIns="27432" tIns="0" rIns="27432" bIns="0" anchor="ctr"/>
          <a:lstStyle/>
          <a:p>
            <a:pPr algn="r" rtl="1"/>
            <a:r>
              <a:rPr lang="ar-AE" altLang="en-US" sz="1250" b="1" i="0">
                <a:solidFill>
                  <a:srgbClr val="102A43"/>
                </a:solidFill>
                <a:latin typeface="Arial"/>
                <a:cs typeface="Arial"/>
              </a:rPr>
              <a:t>تحلّل الكائنات الميتة بفعل المحللات</a:t>
            </a:r>
          </a:p>
        </p:txBody>
      </p:sp>
      <p:sp>
        <p:nvSpPr>
          <p:cNvPr id="58" name="Rounded Rectangle 57"/>
          <p:cNvSpPr/>
          <p:nvPr/>
        </p:nvSpPr>
        <p:spPr>
          <a:xfrm>
            <a:off x="4142232" y="3749039"/>
            <a:ext cx="1417320" cy="329184"/>
          </a:xfrm>
          <a:prstGeom prst="roundRect">
            <a:avLst>
              <a:gd name="adj" fmla="val 50000"/>
            </a:avLst>
          </a:prstGeom>
          <a:solidFill>
            <a:srgbClr val="B8860B"/>
          </a:solidFill>
          <a:ln>
            <a:noFill/>
          </a:ln>
        </p:spPr>
        <p:txBody>
          <a:bodyPr wrap="square" lIns="0" tIns="0" rIns="0" bIns="0" rtlCol="0" anchor="ctr"/>
          <a:lstStyle/>
          <a:p>
            <a:pPr algn="ctr" rtl="1"/>
            <a:r>
              <a:rPr lang="ar-AE" altLang="en-US" sz="1250" b="1" i="0">
                <a:solidFill>
                  <a:srgbClr val="FFFFFF"/>
                </a:solidFill>
                <a:latin typeface="Arial"/>
                <a:cs typeface="Arial"/>
              </a:rPr>
              <a:t>أكثر من دورة</a:t>
            </a:r>
          </a:p>
        </p:txBody>
      </p:sp>
      <p:sp>
        <p:nvSpPr>
          <p:cNvPr id="59" name="TextBox 58"/>
          <p:cNvSpPr txBox="1"/>
          <p:nvPr/>
        </p:nvSpPr>
        <p:spPr>
          <a:xfrm>
            <a:off x="11548872" y="4443983"/>
            <a:ext cx="274320" cy="274320"/>
          </a:xfrm>
          <a:prstGeom prst="rect">
            <a:avLst/>
          </a:prstGeom>
          <a:noFill/>
        </p:spPr>
        <p:txBody>
          <a:bodyPr wrap="square" lIns="0" tIns="0" rIns="0" bIns="0" anchor="ctr"/>
          <a:lstStyle/>
          <a:p>
            <a:pPr algn="ctr"/>
            <a:r>
              <a:rPr lang="ar-AE" altLang="en-US" sz="1500" b="1" i="0">
                <a:solidFill>
                  <a:srgbClr val="E0A21B"/>
                </a:solidFill>
                <a:latin typeface="Arial"/>
                <a:cs typeface="Arial"/>
              </a:rPr>
              <a:t>▲</a:t>
            </a:r>
          </a:p>
        </p:txBody>
      </p:sp>
      <p:sp>
        <p:nvSpPr>
          <p:cNvPr id="60" name="TextBox 59"/>
          <p:cNvSpPr txBox="1"/>
          <p:nvPr/>
        </p:nvSpPr>
        <p:spPr>
          <a:xfrm>
            <a:off x="4069080" y="4315968"/>
            <a:ext cx="7443216" cy="457200"/>
          </a:xfrm>
          <a:prstGeom prst="rect">
            <a:avLst/>
          </a:prstGeom>
          <a:noFill/>
        </p:spPr>
        <p:txBody>
          <a:bodyPr wrap="square" lIns="36576" tIns="0" rIns="36576" bIns="0" anchor="ctr"/>
          <a:lstStyle/>
          <a:p>
            <a:pPr algn="r" rtl="1"/>
            <a:r>
              <a:rPr lang="ar-AE" altLang="en-US" sz="1400" b="1" i="0">
                <a:solidFill>
                  <a:srgbClr val="C9A96A"/>
                </a:solidFill>
                <a:latin typeface="Arial"/>
                <a:cs typeface="Arial"/>
              </a:rPr>
              <a:t>سؤال بنمط TIMSS: </a:t>
            </a:r>
            <a:r>
              <a:rPr lang="ar-AE" altLang="en-US" sz="1400" b="1" i="0">
                <a:solidFill>
                  <a:srgbClr val="102A43"/>
                </a:solidFill>
                <a:latin typeface="Arial"/>
                <a:cs typeface="Arial"/>
              </a:rPr>
              <a:t>أيّ الدورات الآتية لا تتضمن مرحلة غازية في الغلاف الجوي؟</a:t>
            </a:r>
          </a:p>
        </p:txBody>
      </p:sp>
      <p:sp>
        <p:nvSpPr>
          <p:cNvPr id="61" name="Rounded Rectangle 60"/>
          <p:cNvSpPr/>
          <p:nvPr/>
        </p:nvSpPr>
        <p:spPr>
          <a:xfrm>
            <a:off x="9966959" y="4828031"/>
            <a:ext cx="1874519" cy="457200"/>
          </a:xfrm>
          <a:prstGeom prst="roundRect">
            <a:avLst>
              <a:gd name="adj" fmla="val 2000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50" b="1" i="0">
                <a:solidFill>
                  <a:srgbClr val="D2691E"/>
                </a:solidFill>
                <a:latin typeface="Arial"/>
                <a:cs typeface="Arial"/>
              </a:rPr>
              <a:t>أ) </a:t>
            </a:r>
            <a:r>
              <a:rPr lang="ar-AE" altLang="en-US" sz="1350" b="1" i="0">
                <a:solidFill>
                  <a:srgbClr val="102A43"/>
                </a:solidFill>
                <a:latin typeface="Arial"/>
                <a:cs typeface="Arial"/>
              </a:rPr>
              <a:t>دورة الماء</a:t>
            </a:r>
          </a:p>
        </p:txBody>
      </p:sp>
      <p:sp>
        <p:nvSpPr>
          <p:cNvPr id="62" name="Oval 61"/>
          <p:cNvSpPr/>
          <p:nvPr/>
        </p:nvSpPr>
        <p:spPr>
          <a:xfrm>
            <a:off x="10040111" y="4892040"/>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63" name="Rounded Rectangle 62"/>
          <p:cNvSpPr/>
          <p:nvPr/>
        </p:nvSpPr>
        <p:spPr>
          <a:xfrm>
            <a:off x="8001000" y="4828031"/>
            <a:ext cx="1874519" cy="457200"/>
          </a:xfrm>
          <a:prstGeom prst="roundRect">
            <a:avLst>
              <a:gd name="adj" fmla="val 2000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50" b="1" i="0">
                <a:solidFill>
                  <a:srgbClr val="D2691E"/>
                </a:solidFill>
                <a:latin typeface="Arial"/>
                <a:cs typeface="Arial"/>
              </a:rPr>
              <a:t>ب) </a:t>
            </a:r>
            <a:r>
              <a:rPr lang="ar-AE" altLang="en-US" sz="1350" b="1" i="0">
                <a:solidFill>
                  <a:srgbClr val="102A43"/>
                </a:solidFill>
                <a:latin typeface="Arial"/>
                <a:cs typeface="Arial"/>
              </a:rPr>
              <a:t>دورة الكربون</a:t>
            </a:r>
          </a:p>
        </p:txBody>
      </p:sp>
      <p:sp>
        <p:nvSpPr>
          <p:cNvPr id="64" name="Oval 63"/>
          <p:cNvSpPr/>
          <p:nvPr/>
        </p:nvSpPr>
        <p:spPr>
          <a:xfrm>
            <a:off x="8074152" y="4892040"/>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65" name="Rounded Rectangle 64"/>
          <p:cNvSpPr/>
          <p:nvPr/>
        </p:nvSpPr>
        <p:spPr>
          <a:xfrm>
            <a:off x="6035040" y="4828031"/>
            <a:ext cx="1874519" cy="457200"/>
          </a:xfrm>
          <a:prstGeom prst="roundRect">
            <a:avLst>
              <a:gd name="adj" fmla="val 2000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50" b="1" i="0">
                <a:solidFill>
                  <a:srgbClr val="D2691E"/>
                </a:solidFill>
                <a:latin typeface="Arial"/>
                <a:cs typeface="Arial"/>
              </a:rPr>
              <a:t>ج) </a:t>
            </a:r>
            <a:r>
              <a:rPr lang="ar-AE" altLang="en-US" sz="1350" b="1" i="0">
                <a:solidFill>
                  <a:srgbClr val="102A43"/>
                </a:solidFill>
                <a:latin typeface="Arial"/>
                <a:cs typeface="Arial"/>
              </a:rPr>
              <a:t>دورة النيتروجين</a:t>
            </a:r>
          </a:p>
        </p:txBody>
      </p:sp>
      <p:sp>
        <p:nvSpPr>
          <p:cNvPr id="66" name="Oval 65"/>
          <p:cNvSpPr/>
          <p:nvPr/>
        </p:nvSpPr>
        <p:spPr>
          <a:xfrm>
            <a:off x="6108192" y="4892040"/>
            <a:ext cx="329184" cy="329184"/>
          </a:xfrm>
          <a:prstGeom prst="ellipse">
            <a:avLst/>
          </a:prstGeom>
          <a:solidFill>
            <a:srgbClr val="C8102E"/>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
        <p:nvSpPr>
          <p:cNvPr id="67" name="Rounded Rectangle 66"/>
          <p:cNvSpPr/>
          <p:nvPr/>
        </p:nvSpPr>
        <p:spPr>
          <a:xfrm>
            <a:off x="4069080" y="4828031"/>
            <a:ext cx="1874519" cy="457200"/>
          </a:xfrm>
          <a:prstGeom prst="roundRect">
            <a:avLst>
              <a:gd name="adj" fmla="val 20000"/>
            </a:avLst>
          </a:prstGeom>
          <a:solidFill>
            <a:srgbClr val="FFFFFF"/>
          </a:solidFill>
          <a:ln w="15875">
            <a:solidFill>
              <a:srgbClr val="D5DDE8"/>
            </a:solidFill>
          </a:ln>
          <a:effectLst>
            <a:outerShdw blurRad="76200" dist="31750" dir="5400000" algn="t" rotWithShape="0">
              <a:srgbClr val="1E2B3C">
                <a:alpha val="22000"/>
              </a:srgbClr>
            </a:outerShdw>
          </a:effectLst>
        </p:spPr>
        <p:txBody>
          <a:bodyPr wrap="square" lIns="109728" tIns="18288" rIns="109728" bIns="18288" rtlCol="0" anchor="ctr"/>
          <a:lstStyle/>
          <a:p>
            <a:pPr algn="r" rtl="1"/>
            <a:r>
              <a:rPr lang="ar-AE" altLang="en-US" sz="1350" b="1" i="0">
                <a:solidFill>
                  <a:srgbClr val="D2691E"/>
                </a:solidFill>
                <a:latin typeface="Arial"/>
                <a:cs typeface="Arial"/>
              </a:rPr>
              <a:t>د) </a:t>
            </a:r>
            <a:r>
              <a:rPr lang="ar-AE" altLang="en-US" sz="1350" b="1" i="0">
                <a:solidFill>
                  <a:srgbClr val="102A43"/>
                </a:solidFill>
                <a:latin typeface="Arial"/>
                <a:cs typeface="Arial"/>
              </a:rPr>
              <a:t>دورة الفوسفور</a:t>
            </a:r>
          </a:p>
        </p:txBody>
      </p:sp>
      <p:sp>
        <p:nvSpPr>
          <p:cNvPr id="68" name="Oval 67"/>
          <p:cNvSpPr/>
          <p:nvPr/>
        </p:nvSpPr>
        <p:spPr>
          <a:xfrm>
            <a:off x="4142232" y="4892040"/>
            <a:ext cx="329184" cy="329184"/>
          </a:xfrm>
          <a:prstGeom prst="ellipse">
            <a:avLst/>
          </a:prstGeom>
          <a:solidFill>
            <a:srgbClr val="2E9E5B"/>
          </a:solidFill>
          <a:ln>
            <a:noFill/>
          </a:ln>
        </p:spPr>
        <p:txBody>
          <a:bodyPr wrap="square" lIns="0" tIns="0" rIns="0" bIns="0" rtlCol="0" anchor="ctr"/>
          <a:lstStyle/>
          <a:p>
            <a:pPr algn="ctr"/>
            <a:r>
              <a:rPr lang="ar-AE" altLang="en-US" sz="1500" b="1" i="0">
                <a:solidFill>
                  <a:srgbClr val="FFFFFF"/>
                </a:solidFill>
                <a:latin typeface="Arial"/>
                <a:cs typeface="Arial"/>
              </a:rPr>
              <a:t>✓</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6"/>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fade">
                                      <p:cBhvr>
                                        <p:cTn id="19" dur="500"/>
                                        <p:tgtEl>
                                          <p:spTgt spid="38"/>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40"/>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500"/>
                                        <p:tgtEl>
                                          <p:spTgt spid="42"/>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44"/>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48"/>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500"/>
                                        <p:tgtEl>
                                          <p:spTgt spid="50"/>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52"/>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56"/>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500"/>
                                        <p:tgtEl>
                                          <p:spTgt spid="5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61"/>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fade">
                                      <p:cBhvr>
                                        <p:cTn id="55" dur="500"/>
                                        <p:tgtEl>
                                          <p:spTgt spid="62"/>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63"/>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fade">
                                      <p:cBhvr>
                                        <p:cTn id="61" dur="500"/>
                                        <p:tgtEl>
                                          <p:spTgt spid="64"/>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65"/>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6"/>
                                        </p:tgtEl>
                                        <p:attrNameLst>
                                          <p:attrName>style.visibility</p:attrName>
                                        </p:attrNameLst>
                                      </p:cBhvr>
                                      <p:to>
                                        <p:strVal val="visible"/>
                                      </p:to>
                                    </p:set>
                                    <p:animEffect transition="in" filter="fade">
                                      <p:cBhvr>
                                        <p:cTn id="67" dur="500"/>
                                        <p:tgtEl>
                                          <p:spTgt spid="66"/>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67"/>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fade">
                                      <p:cBhvr>
                                        <p:cTn id="73" dur="500"/>
                                        <p:tgtEl>
                                          <p:spTgt spid="68"/>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23"/>
                    </p:tgtEl>
                  </p:cond>
                </p:stCondLst>
                <p:endSync evt="end" delay="0">
                  <p:rtn val="all"/>
                </p:endSync>
                <p:childTnLst>
                  <p:par>
                    <p:cTn id="75" fill="hold">
                      <p:stCondLst>
                        <p:cond delay="0"/>
                      </p:stCondLst>
                      <p:childTnLst>
                        <p:par>
                          <p:cTn id="76" fill="hold">
                            <p:stCondLst>
                              <p:cond delay="0"/>
                            </p:stCondLst>
                            <p:childTnLst>
                              <p:par>
                                <p:cTn id="77" presetID="2" presetClass="mediacall" presetSubtype="0" fill="hold" nodeType="clickEffect">
                                  <p:stCondLst>
                                    <p:cond delay="0"/>
                                  </p:stCondLst>
                                  <p:childTnLst>
                                    <p:cmd type="call" cmd="togglePause">
                                      <p:cBhvr>
                                        <p:cTn id="78" dur="1" fill="hold"/>
                                        <p:tgtEl>
                                          <p:spTgt spid="23"/>
                                        </p:tgtEl>
                                      </p:cBhvr>
                                    </p:cmd>
                                  </p:childTnLst>
                                </p:cTn>
                              </p:par>
                            </p:childTnLst>
                          </p:cTn>
                        </p:par>
                      </p:childTnLst>
                    </p:cTn>
                  </p:par>
                </p:childTnLst>
              </p:cTn>
              <p:nextCondLst>
                <p:cond evt="onNext" delay="0">
                  <p:tgtEl>
                    <p:sldTgt/>
                  </p:tgtEl>
                </p:cond>
              </p:nextCondLst>
            </p:seq>
            <p:video>
              <p:cMediaNode vol="80000">
                <p:cTn id="79" fill="hold" display="0">
                  <p:stCondLst>
                    <p:cond delay="indefinite"/>
                  </p:stCondLst>
                </p:cTn>
                <p:tgtEl>
                  <p:spTgt spid="23"/>
                </p:tgtEl>
              </p:cMediaNode>
            </p:video>
          </p:childTnLst>
        </p:cTn>
      </p:par>
    </p:tnLst>
    <p:bldLst>
      <p:bldP spid="30" grpId="0" animBg="1"/>
      <p:bldP spid="34" grpId="0" animBg="1"/>
      <p:bldP spid="38" grpId="0" animBg="1"/>
      <p:bldP spid="42" grpId="0" animBg="1"/>
      <p:bldP spid="46" grpId="0" animBg="1"/>
      <p:bldP spid="50" grpId="0" animBg="1"/>
      <p:bldP spid="54" grpId="0" animBg="1"/>
      <p:bldP spid="58" grpId="0" animBg="1"/>
      <p:bldP spid="62" grpId="0" animBg="1"/>
      <p:bldP spid="64" grpId="0" animBg="1"/>
      <p:bldP spid="66" grpId="0" animBg="1"/>
      <p:bldP spid="6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الثالث</a:t>
            </a:r>
          </a:p>
        </p:txBody>
      </p:sp>
      <p:sp>
        <p:nvSpPr>
          <p:cNvPr id="22" name="TextBox 21"/>
          <p:cNvSpPr txBox="1"/>
          <p:nvPr/>
        </p:nvSpPr>
        <p:spPr>
          <a:xfrm>
            <a:off x="5430456" y="1280160"/>
            <a:ext cx="4797108"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شاهد: حين يزيد الغذاء عن حدّه</a:t>
            </a:r>
          </a:p>
        </p:txBody>
      </p:sp>
      <p:pic>
        <p:nvPicPr>
          <p:cNvPr id="23" name="Picture 22" descr="badge_maha.png"/>
          <p:cNvPicPr>
            <a:picLocks noChangeAspect="1"/>
          </p:cNvPicPr>
          <p:nvPr/>
        </p:nvPicPr>
        <p:blipFill>
          <a:blip r:embed="rId6"/>
          <a:stretch>
            <a:fillRect/>
          </a:stretch>
        </p:blipFill>
        <p:spPr>
          <a:xfrm>
            <a:off x="2560320" y="1159811"/>
            <a:ext cx="566928" cy="650700"/>
          </a:xfrm>
          <a:prstGeom prst="rect">
            <a:avLst/>
          </a:prstGeom>
        </p:spPr>
      </p:pic>
      <p:sp>
        <p:nvSpPr>
          <p:cNvPr id="24" name="Rounded Rectangular Callout 23"/>
          <p:cNvSpPr/>
          <p:nvPr/>
        </p:nvSpPr>
        <p:spPr>
          <a:xfrm>
            <a:off x="3209544" y="1307592"/>
            <a:ext cx="2092896" cy="420624"/>
          </a:xfrm>
          <a:prstGeom prst="wedgeRoundRectCallout">
            <a:avLst>
              <a:gd name="adj1" fmla="val -55242"/>
              <a:gd name="adj2" fmla="val 18000"/>
              <a:gd name="adj3" fmla="val 16667"/>
            </a:avLst>
          </a:prstGeom>
          <a:solidFill>
            <a:srgbClr val="FFFFFF"/>
          </a:solidFill>
          <a:ln w="19050">
            <a:solidFill>
              <a:srgbClr val="0F7C73"/>
            </a:solidFill>
          </a:ln>
        </p:spPr>
        <p:txBody>
          <a:bodyPr lIns="54864" tIns="27432" rIns="54864" bIns="27432" rtlCol="0" anchor="ctr"/>
          <a:lstStyle/>
          <a:p>
            <a:pPr algn="ctr"/>
            <a:endParaRPr/>
          </a:p>
        </p:txBody>
      </p:sp>
      <p:sp>
        <p:nvSpPr>
          <p:cNvPr id="25" name="TextBox 24"/>
          <p:cNvSpPr txBox="1"/>
          <p:nvPr/>
        </p:nvSpPr>
        <p:spPr>
          <a:xfrm>
            <a:off x="3246120" y="1307592"/>
            <a:ext cx="2019744" cy="420624"/>
          </a:xfrm>
          <a:prstGeom prst="rect">
            <a:avLst/>
          </a:prstGeom>
          <a:noFill/>
        </p:spPr>
        <p:txBody>
          <a:bodyPr wrap="square" lIns="36576" tIns="0" rIns="36576" bIns="0" anchor="ctr"/>
          <a:lstStyle/>
          <a:p>
            <a:pPr algn="r" rtl="1"/>
            <a:r>
              <a:rPr lang="ar-AE" altLang="en-US" sz="1150" b="1" i="0">
                <a:solidFill>
                  <a:srgbClr val="0F7C73"/>
                </a:solidFill>
                <a:latin typeface="Arial"/>
                <a:cs typeface="Arial"/>
              </a:rPr>
              <a:t>مها: </a:t>
            </a:r>
            <a:r>
              <a:rPr lang="ar-AE" altLang="en-US" sz="1150" b="1" i="0">
                <a:solidFill>
                  <a:srgbClr val="102A43"/>
                </a:solidFill>
                <a:latin typeface="Arial"/>
                <a:cs typeface="Arial"/>
              </a:rPr>
              <a:t>ماذا يحدث لبحارنا؟</a:t>
            </a:r>
          </a:p>
        </p:txBody>
      </p:sp>
      <p:pic>
        <p:nvPicPr>
          <p:cNvPr id="26" name="phos_human.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40679" y="1901952"/>
            <a:ext cx="6400800" cy="3600450"/>
          </a:xfrm>
          <a:prstGeom prst="rect">
            <a:avLst/>
          </a:prstGeom>
          <a:ln w="28575">
            <a:solidFill>
              <a:srgbClr val="C9A96A"/>
            </a:solidFill>
          </a:ln>
        </p:spPr>
      </p:pic>
      <p:sp>
        <p:nvSpPr>
          <p:cNvPr id="27" name="Rounded Rectangle 26"/>
          <p:cNvSpPr/>
          <p:nvPr/>
        </p:nvSpPr>
        <p:spPr>
          <a:xfrm>
            <a:off x="2697480" y="1901952"/>
            <a:ext cx="2606039" cy="3602736"/>
          </a:xfrm>
          <a:prstGeom prst="roundRect">
            <a:avLst>
              <a:gd name="adj" fmla="val 4210"/>
            </a:avLst>
          </a:prstGeom>
          <a:solidFill>
            <a:srgbClr val="F3F5F8"/>
          </a:solidFill>
          <a:ln w="12700">
            <a:solidFill>
              <a:srgbClr val="D5DDE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8" name="Oval 27"/>
          <p:cNvSpPr/>
          <p:nvPr/>
        </p:nvSpPr>
        <p:spPr>
          <a:xfrm>
            <a:off x="3634740" y="2011680"/>
            <a:ext cx="731520" cy="731520"/>
          </a:xfrm>
          <a:prstGeom prst="ellipse">
            <a:avLst/>
          </a:prstGeom>
          <a:solidFill>
            <a:srgbClr val="D2691E"/>
          </a:solidFill>
          <a:ln>
            <a:noFill/>
          </a:ln>
        </p:spPr>
        <p:txBody>
          <a:bodyPr lIns="54864" tIns="27432" rIns="54864" bIns="27432" rtlCol="0" anchor="ctr"/>
          <a:lstStyle/>
          <a:p>
            <a:pPr algn="ctr"/>
            <a:endParaRPr/>
          </a:p>
        </p:txBody>
      </p:sp>
      <p:pic>
        <p:nvPicPr>
          <p:cNvPr id="29" name="Picture 28" descr="eye_w.png"/>
          <p:cNvPicPr>
            <a:picLocks noChangeAspect="1"/>
          </p:cNvPicPr>
          <p:nvPr/>
        </p:nvPicPr>
        <p:blipFill>
          <a:blip r:embed="rId8"/>
          <a:stretch>
            <a:fillRect/>
          </a:stretch>
        </p:blipFill>
        <p:spPr>
          <a:xfrm>
            <a:off x="3795674" y="2172614"/>
            <a:ext cx="409651" cy="409651"/>
          </a:xfrm>
          <a:prstGeom prst="rect">
            <a:avLst/>
          </a:prstGeom>
        </p:spPr>
      </p:pic>
      <p:sp>
        <p:nvSpPr>
          <p:cNvPr id="30" name="TextBox 29"/>
          <p:cNvSpPr txBox="1"/>
          <p:nvPr/>
        </p:nvSpPr>
        <p:spPr>
          <a:xfrm>
            <a:off x="2761488" y="2816352"/>
            <a:ext cx="2478023" cy="411480"/>
          </a:xfrm>
          <a:prstGeom prst="rect">
            <a:avLst/>
          </a:prstGeom>
          <a:noFill/>
        </p:spPr>
        <p:txBody>
          <a:bodyPr wrap="square" lIns="73152" tIns="36576" rIns="73152" bIns="36576" anchor="ctr"/>
          <a:lstStyle/>
          <a:p>
            <a:pPr algn="ctr" rtl="1"/>
            <a:r>
              <a:rPr lang="ar-AE" altLang="en-US" sz="1500" b="1" i="0">
                <a:solidFill>
                  <a:srgbClr val="D2691E"/>
                </a:solidFill>
                <a:latin typeface="Arial"/>
                <a:cs typeface="Arial"/>
              </a:rPr>
              <a:t>أثناء المشاهدة:</a:t>
            </a:r>
          </a:p>
        </p:txBody>
      </p:sp>
      <p:sp>
        <p:nvSpPr>
          <p:cNvPr id="31" name="TextBox 30"/>
          <p:cNvSpPr txBox="1"/>
          <p:nvPr/>
        </p:nvSpPr>
        <p:spPr>
          <a:xfrm>
            <a:off x="2788920" y="3246120"/>
            <a:ext cx="2423159" cy="2194560"/>
          </a:xfrm>
          <a:prstGeom prst="rect">
            <a:avLst/>
          </a:prstGeom>
          <a:noFill/>
        </p:spPr>
        <p:txBody>
          <a:bodyPr wrap="square" lIns="73152" tIns="36576" rIns="73152" bIns="36576" anchor="t"/>
          <a:lstStyle/>
          <a:p>
            <a:pPr algn="r" rtl="1">
              <a:spcAft>
                <a:spcPts val="600"/>
              </a:spcAft>
            </a:pPr>
            <a:r>
              <a:rPr lang="ar-AE" altLang="en-US" sz="1300" b="1" i="0">
                <a:solidFill>
                  <a:srgbClr val="102A43"/>
                </a:solidFill>
                <a:latin typeface="Arial"/>
                <a:cs typeface="Arial"/>
              </a:rPr>
              <a:t>1) لماذا ينجرف الفوسفور من الحقول إلى المياه؟</a:t>
            </a:r>
          </a:p>
          <a:p>
            <a:pPr algn="r" rtl="1">
              <a:spcAft>
                <a:spcPts val="600"/>
              </a:spcAft>
            </a:pPr>
            <a:r>
              <a:rPr lang="ar-AE" altLang="en-US" sz="1300" b="1" i="0">
                <a:solidFill>
                  <a:srgbClr val="102A43"/>
                </a:solidFill>
                <a:latin typeface="Arial"/>
                <a:cs typeface="Arial"/>
              </a:rPr>
              <a:t>2) ما الإثراء الغذائي؟ وإلامَ يؤدي؟</a:t>
            </a:r>
          </a:p>
          <a:p>
            <a:pPr algn="r" rtl="1">
              <a:spcAft>
                <a:spcPts val="600"/>
              </a:spcAft>
            </a:pPr>
            <a:r>
              <a:rPr lang="ar-AE" altLang="en-US" sz="1300" b="1" i="0">
                <a:solidFill>
                  <a:srgbClr val="102A43"/>
                </a:solidFill>
                <a:latin typeface="Arial"/>
                <a:cs typeface="Arial"/>
              </a:rPr>
              <a:t>3) ما الحلول التي يقترحها الفيديو؟</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6"/>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704850" y="3905249"/>
            <a:ext cx="108585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809750" y="395287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10337292" y="1344168"/>
            <a:ext cx="1522476"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الناتج الثالث</a:t>
            </a:r>
          </a:p>
        </p:txBody>
      </p:sp>
      <p:sp>
        <p:nvSpPr>
          <p:cNvPr id="22" name="TextBox 21"/>
          <p:cNvSpPr txBox="1"/>
          <p:nvPr/>
        </p:nvSpPr>
        <p:spPr>
          <a:xfrm>
            <a:off x="5629021" y="1280160"/>
            <a:ext cx="4598543" cy="502920"/>
          </a:xfrm>
          <a:prstGeom prst="rect">
            <a:avLst/>
          </a:prstGeom>
          <a:noFill/>
        </p:spPr>
        <p:txBody>
          <a:bodyPr wrap="square" lIns="18288" tIns="0" rIns="18288" bIns="0" anchor="ctr"/>
          <a:lstStyle/>
          <a:p>
            <a:pPr algn="r" rtl="1"/>
            <a:r>
              <a:rPr lang="ar-AE" altLang="en-US" sz="2000" b="1" i="0">
                <a:solidFill>
                  <a:srgbClr val="102A43"/>
                </a:solidFill>
                <a:latin typeface="Arial"/>
                <a:cs typeface="Arial"/>
              </a:rPr>
              <a:t>من بيئتنا: المدّ الأحمر في مياه الإمارات</a:t>
            </a:r>
          </a:p>
        </p:txBody>
      </p:sp>
      <p:pic>
        <p:nvPicPr>
          <p:cNvPr id="23" name="Picture 22" descr="badge_maha.png"/>
          <p:cNvPicPr>
            <a:picLocks noChangeAspect="1"/>
          </p:cNvPicPr>
          <p:nvPr/>
        </p:nvPicPr>
        <p:blipFill>
          <a:blip r:embed="rId4"/>
          <a:stretch>
            <a:fillRect/>
          </a:stretch>
        </p:blipFill>
        <p:spPr>
          <a:xfrm>
            <a:off x="2560320" y="1159811"/>
            <a:ext cx="566928" cy="650700"/>
          </a:xfrm>
          <a:prstGeom prst="rect">
            <a:avLst/>
          </a:prstGeom>
        </p:spPr>
      </p:pic>
      <p:sp>
        <p:nvSpPr>
          <p:cNvPr id="24" name="Rounded Rectangular Callout 23"/>
          <p:cNvSpPr/>
          <p:nvPr/>
        </p:nvSpPr>
        <p:spPr>
          <a:xfrm>
            <a:off x="3209544" y="1307592"/>
            <a:ext cx="2291461" cy="420624"/>
          </a:xfrm>
          <a:prstGeom prst="wedgeRoundRectCallout">
            <a:avLst>
              <a:gd name="adj1" fmla="val -54788"/>
              <a:gd name="adj2" fmla="val 18000"/>
              <a:gd name="adj3" fmla="val 16667"/>
            </a:avLst>
          </a:prstGeom>
          <a:solidFill>
            <a:srgbClr val="FFFFFF"/>
          </a:solidFill>
          <a:ln w="19050">
            <a:solidFill>
              <a:srgbClr val="0F7C73"/>
            </a:solidFill>
          </a:ln>
        </p:spPr>
        <p:txBody>
          <a:bodyPr lIns="54864" tIns="27432" rIns="54864" bIns="27432" rtlCol="0" anchor="ctr"/>
          <a:lstStyle/>
          <a:p>
            <a:pPr algn="ctr"/>
            <a:endParaRPr/>
          </a:p>
        </p:txBody>
      </p:sp>
      <p:sp>
        <p:nvSpPr>
          <p:cNvPr id="25" name="TextBox 24"/>
          <p:cNvSpPr txBox="1"/>
          <p:nvPr/>
        </p:nvSpPr>
        <p:spPr>
          <a:xfrm>
            <a:off x="3246120" y="1307592"/>
            <a:ext cx="2218309" cy="420624"/>
          </a:xfrm>
          <a:prstGeom prst="rect">
            <a:avLst/>
          </a:prstGeom>
          <a:noFill/>
        </p:spPr>
        <p:txBody>
          <a:bodyPr wrap="square" lIns="36576" tIns="0" rIns="36576" bIns="0" anchor="ctr"/>
          <a:lstStyle/>
          <a:p>
            <a:pPr algn="r" rtl="1"/>
            <a:r>
              <a:rPr lang="ar-AE" altLang="en-US" sz="1150" b="1" i="0">
                <a:solidFill>
                  <a:srgbClr val="0F7C73"/>
                </a:solidFill>
                <a:latin typeface="Arial"/>
                <a:cs typeface="Arial"/>
              </a:rPr>
              <a:t>مها: </a:t>
            </a:r>
            <a:r>
              <a:rPr lang="ar-AE" altLang="en-US" sz="1150" b="1" i="0">
                <a:solidFill>
                  <a:srgbClr val="102A43"/>
                </a:solidFill>
                <a:latin typeface="Arial"/>
                <a:cs typeface="Arial"/>
              </a:rPr>
              <a:t>بحارنا أمانة… فلنحمها!</a:t>
            </a:r>
          </a:p>
        </p:txBody>
      </p:sp>
      <p:pic>
        <p:nvPicPr>
          <p:cNvPr id="26" name="Picture 25" descr="still_redtide.png"/>
          <p:cNvPicPr>
            <a:picLocks noChangeAspect="1"/>
          </p:cNvPicPr>
          <p:nvPr/>
        </p:nvPicPr>
        <p:blipFill>
          <a:blip r:embed="rId5"/>
          <a:stretch>
            <a:fillRect/>
          </a:stretch>
        </p:blipFill>
        <p:spPr>
          <a:xfrm>
            <a:off x="2697480" y="1901952"/>
            <a:ext cx="3840480" cy="2688336"/>
          </a:xfrm>
          <a:prstGeom prst="rect">
            <a:avLst/>
          </a:prstGeom>
          <a:ln w="25400">
            <a:solidFill>
              <a:srgbClr val="C9A96A"/>
            </a:solidFill>
          </a:ln>
          <a:effectLst>
            <a:outerShdw blurRad="76200" dist="31750" dir="5400000" algn="t" rotWithShape="0">
              <a:srgbClr val="1E2B3C">
                <a:alpha val="22000"/>
              </a:srgbClr>
            </a:outerShdw>
          </a:effectLst>
        </p:spPr>
      </p:pic>
      <p:sp>
        <p:nvSpPr>
          <p:cNvPr id="27" name="Rounded Rectangle 26"/>
          <p:cNvSpPr/>
          <p:nvPr/>
        </p:nvSpPr>
        <p:spPr>
          <a:xfrm>
            <a:off x="2697480" y="4700016"/>
            <a:ext cx="3840480" cy="822960"/>
          </a:xfrm>
          <a:prstGeom prst="roundRect">
            <a:avLst>
              <a:gd name="adj" fmla="val 11111"/>
            </a:avLst>
          </a:prstGeom>
          <a:solidFill>
            <a:srgbClr val="F1ECF8"/>
          </a:solidFill>
          <a:ln w="12700">
            <a:solidFill>
              <a:srgbClr val="D5C7EA"/>
            </a:solidFill>
          </a:ln>
        </p:spPr>
        <p:txBody>
          <a:bodyPr wrap="square" lIns="73152" tIns="18288" rIns="73152" bIns="18288" rtlCol="0" anchor="ctr"/>
          <a:lstStyle/>
          <a:p>
            <a:pPr algn="ctr" rtl="1">
              <a:spcAft>
                <a:spcPts val="100"/>
              </a:spcAft>
            </a:pPr>
            <a:r>
              <a:rPr lang="ar-AE" altLang="en-US" sz="1400" b="1" i="0">
                <a:solidFill>
                  <a:srgbClr val="102A43"/>
                </a:solidFill>
                <a:latin typeface="Arial"/>
                <a:cs typeface="Arial"/>
              </a:rPr>
              <a:t>﴿وَلَا تُفْسِدُوا فِي الْأَرْضِ بَعْدَ إِصْلَاحِهَا﴾</a:t>
            </a:r>
          </a:p>
          <a:p>
            <a:pPr algn="ctr" rtl="1"/>
            <a:r>
              <a:rPr lang="ar-AE" altLang="en-US" sz="1050" b="1" i="0">
                <a:solidFill>
                  <a:srgbClr val="5B3B91"/>
                </a:solidFill>
                <a:latin typeface="Arial"/>
                <a:cs typeface="Arial"/>
              </a:rPr>
              <a:t>ربط بالتربية الإسلامية – سورة الأعراف، الآية 56</a:t>
            </a:r>
          </a:p>
        </p:txBody>
      </p:sp>
      <p:sp>
        <p:nvSpPr>
          <p:cNvPr id="28" name="Rectangle 27"/>
          <p:cNvSpPr/>
          <p:nvPr/>
        </p:nvSpPr>
        <p:spPr>
          <a:xfrm>
            <a:off x="11553444" y="2167128"/>
            <a:ext cx="45720" cy="1810512"/>
          </a:xfrm>
          <a:prstGeom prst="rect">
            <a:avLst/>
          </a:prstGeom>
          <a:solidFill>
            <a:srgbClr val="C9D3DF"/>
          </a:solidFill>
          <a:ln>
            <a:noFill/>
          </a:ln>
        </p:spPr>
        <p:txBody>
          <a:bodyPr lIns="54864" tIns="27432" rIns="54864" bIns="27432" rtlCol="0" anchor="ctr"/>
          <a:lstStyle/>
          <a:p>
            <a:pPr algn="ctr"/>
            <a:endParaRPr/>
          </a:p>
        </p:txBody>
      </p:sp>
      <p:sp>
        <p:nvSpPr>
          <p:cNvPr id="29" name="Oval 28"/>
          <p:cNvSpPr/>
          <p:nvPr/>
        </p:nvSpPr>
        <p:spPr>
          <a:xfrm>
            <a:off x="11338560" y="1920240"/>
            <a:ext cx="475488" cy="475488"/>
          </a:xfrm>
          <a:prstGeom prst="ellipse">
            <a:avLst/>
          </a:prstGeom>
          <a:solidFill>
            <a:srgbClr val="2E7D32"/>
          </a:solidFill>
          <a:ln w="25400">
            <a:solidFill>
              <a:srgbClr val="FFFFFF"/>
            </a:solidFill>
          </a:ln>
        </p:spPr>
        <p:txBody>
          <a:bodyPr lIns="54864" tIns="27432" rIns="54864" bIns="27432" rtlCol="0" anchor="ctr"/>
          <a:lstStyle/>
          <a:p>
            <a:pPr algn="ctr"/>
            <a:endParaRPr/>
          </a:p>
        </p:txBody>
      </p:sp>
      <p:pic>
        <p:nvPicPr>
          <p:cNvPr id="30" name="Picture 29" descr="fert_w.png"/>
          <p:cNvPicPr>
            <a:picLocks noChangeAspect="1"/>
          </p:cNvPicPr>
          <p:nvPr/>
        </p:nvPicPr>
        <p:blipFill>
          <a:blip r:embed="rId6"/>
          <a:stretch>
            <a:fillRect/>
          </a:stretch>
        </p:blipFill>
        <p:spPr>
          <a:xfrm>
            <a:off x="11443167" y="2024847"/>
            <a:ext cx="266273" cy="266273"/>
          </a:xfrm>
          <a:prstGeom prst="rect">
            <a:avLst/>
          </a:prstGeom>
        </p:spPr>
      </p:pic>
      <p:sp>
        <p:nvSpPr>
          <p:cNvPr id="31" name="Rounded Rectangle 30"/>
          <p:cNvSpPr/>
          <p:nvPr/>
        </p:nvSpPr>
        <p:spPr>
          <a:xfrm>
            <a:off x="6720840" y="1901952"/>
            <a:ext cx="4526280" cy="512064"/>
          </a:xfrm>
          <a:prstGeom prst="roundRect">
            <a:avLst>
              <a:gd name="adj" fmla="val 17857"/>
            </a:avLst>
          </a:prstGeom>
          <a:solidFill>
            <a:srgbClr val="FFFFFF"/>
          </a:solidFill>
          <a:ln w="19050">
            <a:solidFill>
              <a:srgbClr val="2E7D32"/>
            </a:solidFill>
          </a:ln>
        </p:spPr>
        <p:txBody>
          <a:bodyPr wrap="square" tIns="0" bIns="0" rtlCol="0" anchor="ctr"/>
          <a:lstStyle/>
          <a:p>
            <a:pPr algn="r" rtl="1"/>
            <a:r>
              <a:rPr lang="ar-AE" altLang="en-US" sz="1300" b="1" i="0">
                <a:solidFill>
                  <a:srgbClr val="2E7D32"/>
                </a:solidFill>
                <a:latin typeface="Arial"/>
                <a:cs typeface="Arial"/>
              </a:rPr>
              <a:t>1. </a:t>
            </a:r>
            <a:r>
              <a:rPr lang="ar-AE" altLang="en-US" sz="1300" b="1" i="0">
                <a:solidFill>
                  <a:srgbClr val="102A43"/>
                </a:solidFill>
                <a:latin typeface="Arial"/>
                <a:cs typeface="Arial"/>
              </a:rPr>
              <a:t>أسمدة ومياه صرف غنية بالفوسفور والنيتروجين تصل إلى البحر</a:t>
            </a:r>
          </a:p>
        </p:txBody>
      </p:sp>
      <p:sp>
        <p:nvSpPr>
          <p:cNvPr id="32" name="Oval 31"/>
          <p:cNvSpPr/>
          <p:nvPr/>
        </p:nvSpPr>
        <p:spPr>
          <a:xfrm>
            <a:off x="11338560" y="2523744"/>
            <a:ext cx="475488" cy="475488"/>
          </a:xfrm>
          <a:prstGeom prst="ellipse">
            <a:avLst/>
          </a:prstGeom>
          <a:solidFill>
            <a:srgbClr val="1E88C8"/>
          </a:solidFill>
          <a:ln w="25400">
            <a:solidFill>
              <a:srgbClr val="FFFFFF"/>
            </a:solidFill>
          </a:ln>
        </p:spPr>
        <p:txBody>
          <a:bodyPr lIns="54864" tIns="27432" rIns="54864" bIns="27432" rtlCol="0" anchor="ctr"/>
          <a:lstStyle/>
          <a:p>
            <a:pPr algn="ctr"/>
            <a:endParaRPr/>
          </a:p>
        </p:txBody>
      </p:sp>
      <p:pic>
        <p:nvPicPr>
          <p:cNvPr id="33" name="Picture 32" descr="waves_w.png"/>
          <p:cNvPicPr>
            <a:picLocks noChangeAspect="1"/>
          </p:cNvPicPr>
          <p:nvPr/>
        </p:nvPicPr>
        <p:blipFill>
          <a:blip r:embed="rId7"/>
          <a:stretch>
            <a:fillRect/>
          </a:stretch>
        </p:blipFill>
        <p:spPr>
          <a:xfrm>
            <a:off x="11443167" y="2628351"/>
            <a:ext cx="266273" cy="266273"/>
          </a:xfrm>
          <a:prstGeom prst="rect">
            <a:avLst/>
          </a:prstGeom>
        </p:spPr>
      </p:pic>
      <p:sp>
        <p:nvSpPr>
          <p:cNvPr id="34" name="Rounded Rectangle 33"/>
          <p:cNvSpPr/>
          <p:nvPr/>
        </p:nvSpPr>
        <p:spPr>
          <a:xfrm>
            <a:off x="6720840" y="2505456"/>
            <a:ext cx="4526280" cy="512064"/>
          </a:xfrm>
          <a:prstGeom prst="roundRect">
            <a:avLst>
              <a:gd name="adj" fmla="val 17857"/>
            </a:avLst>
          </a:prstGeom>
          <a:solidFill>
            <a:srgbClr val="FFFFFF"/>
          </a:solidFill>
          <a:ln w="19050">
            <a:solidFill>
              <a:srgbClr val="1E88C8"/>
            </a:solidFill>
          </a:ln>
        </p:spPr>
        <p:txBody>
          <a:bodyPr wrap="square" tIns="0" bIns="0" rtlCol="0" anchor="ctr"/>
          <a:lstStyle/>
          <a:p>
            <a:pPr algn="r" rtl="1"/>
            <a:r>
              <a:rPr lang="ar-AE" altLang="en-US" sz="1300" b="1" i="0">
                <a:solidFill>
                  <a:srgbClr val="1E88C8"/>
                </a:solidFill>
                <a:latin typeface="Arial"/>
                <a:cs typeface="Arial"/>
              </a:rPr>
              <a:t>2. </a:t>
            </a:r>
            <a:r>
              <a:rPr lang="ar-AE" altLang="en-US" sz="1300" b="1" i="0">
                <a:solidFill>
                  <a:srgbClr val="102A43"/>
                </a:solidFill>
                <a:latin typeface="Arial"/>
                <a:cs typeface="Arial"/>
              </a:rPr>
              <a:t>إثراء غذائي: زيادة المغذيات في المياه الساحلية</a:t>
            </a:r>
          </a:p>
        </p:txBody>
      </p:sp>
      <p:sp>
        <p:nvSpPr>
          <p:cNvPr id="35" name="Oval 34"/>
          <p:cNvSpPr/>
          <p:nvPr/>
        </p:nvSpPr>
        <p:spPr>
          <a:xfrm>
            <a:off x="11338560" y="3127248"/>
            <a:ext cx="475488" cy="475488"/>
          </a:xfrm>
          <a:prstGeom prst="ellipse">
            <a:avLst/>
          </a:prstGeom>
          <a:solidFill>
            <a:srgbClr val="B03A2E"/>
          </a:solidFill>
          <a:ln w="25400">
            <a:solidFill>
              <a:srgbClr val="FFFFFF"/>
            </a:solidFill>
          </a:ln>
        </p:spPr>
        <p:txBody>
          <a:bodyPr lIns="54864" tIns="27432" rIns="54864" bIns="27432" rtlCol="0" anchor="ctr"/>
          <a:lstStyle/>
          <a:p>
            <a:pPr algn="ctr"/>
            <a:endParaRPr/>
          </a:p>
        </p:txBody>
      </p:sp>
      <p:pic>
        <p:nvPicPr>
          <p:cNvPr id="36" name="Picture 35" descr="leafs_w.png"/>
          <p:cNvPicPr>
            <a:picLocks noChangeAspect="1"/>
          </p:cNvPicPr>
          <p:nvPr/>
        </p:nvPicPr>
        <p:blipFill>
          <a:blip r:embed="rId8"/>
          <a:stretch>
            <a:fillRect/>
          </a:stretch>
        </p:blipFill>
        <p:spPr>
          <a:xfrm>
            <a:off x="11443167" y="3231855"/>
            <a:ext cx="266273" cy="266273"/>
          </a:xfrm>
          <a:prstGeom prst="rect">
            <a:avLst/>
          </a:prstGeom>
        </p:spPr>
      </p:pic>
      <p:sp>
        <p:nvSpPr>
          <p:cNvPr id="37" name="Rounded Rectangle 36"/>
          <p:cNvSpPr/>
          <p:nvPr/>
        </p:nvSpPr>
        <p:spPr>
          <a:xfrm>
            <a:off x="6720840" y="3108960"/>
            <a:ext cx="4526280" cy="512064"/>
          </a:xfrm>
          <a:prstGeom prst="roundRect">
            <a:avLst>
              <a:gd name="adj" fmla="val 17857"/>
            </a:avLst>
          </a:prstGeom>
          <a:solidFill>
            <a:srgbClr val="FFFFFF"/>
          </a:solidFill>
          <a:ln w="19050">
            <a:solidFill>
              <a:srgbClr val="B03A2E"/>
            </a:solidFill>
          </a:ln>
        </p:spPr>
        <p:txBody>
          <a:bodyPr wrap="square" tIns="0" bIns="0" rtlCol="0" anchor="ctr"/>
          <a:lstStyle/>
          <a:p>
            <a:pPr algn="r" rtl="1"/>
            <a:r>
              <a:rPr lang="ar-AE" altLang="en-US" sz="1300" b="1" i="0">
                <a:solidFill>
                  <a:srgbClr val="B03A2E"/>
                </a:solidFill>
                <a:latin typeface="Arial"/>
                <a:cs typeface="Arial"/>
              </a:rPr>
              <a:t>3. </a:t>
            </a:r>
            <a:r>
              <a:rPr lang="ar-AE" altLang="en-US" sz="1300" b="1" i="0">
                <a:solidFill>
                  <a:srgbClr val="102A43"/>
                </a:solidFill>
                <a:latin typeface="Arial"/>
                <a:cs typeface="Arial"/>
              </a:rPr>
              <a:t>تكاثر هائل لطحالب دقيقة تلوّن الماء: المدّ الأحمر</a:t>
            </a:r>
          </a:p>
        </p:txBody>
      </p:sp>
      <p:sp>
        <p:nvSpPr>
          <p:cNvPr id="38" name="Oval 37"/>
          <p:cNvSpPr/>
          <p:nvPr/>
        </p:nvSpPr>
        <p:spPr>
          <a:xfrm>
            <a:off x="11338560" y="3730752"/>
            <a:ext cx="475488" cy="475488"/>
          </a:xfrm>
          <a:prstGeom prst="ellipse">
            <a:avLst/>
          </a:prstGeom>
          <a:solidFill>
            <a:srgbClr val="C8102E"/>
          </a:solidFill>
          <a:ln w="25400">
            <a:solidFill>
              <a:srgbClr val="FFFFFF"/>
            </a:solidFill>
          </a:ln>
        </p:spPr>
        <p:txBody>
          <a:bodyPr lIns="54864" tIns="27432" rIns="54864" bIns="27432" rtlCol="0" anchor="ctr"/>
          <a:lstStyle/>
          <a:p>
            <a:pPr algn="ctr"/>
            <a:endParaRPr/>
          </a:p>
        </p:txBody>
      </p:sp>
      <p:pic>
        <p:nvPicPr>
          <p:cNvPr id="39" name="Picture 38" descr="deadfish_w.png"/>
          <p:cNvPicPr>
            <a:picLocks noChangeAspect="1"/>
          </p:cNvPicPr>
          <p:nvPr/>
        </p:nvPicPr>
        <p:blipFill>
          <a:blip r:embed="rId9"/>
          <a:stretch>
            <a:fillRect/>
          </a:stretch>
        </p:blipFill>
        <p:spPr>
          <a:xfrm>
            <a:off x="11443167" y="3835359"/>
            <a:ext cx="266273" cy="266273"/>
          </a:xfrm>
          <a:prstGeom prst="rect">
            <a:avLst/>
          </a:prstGeom>
        </p:spPr>
      </p:pic>
      <p:sp>
        <p:nvSpPr>
          <p:cNvPr id="40" name="Rounded Rectangle 39"/>
          <p:cNvSpPr/>
          <p:nvPr/>
        </p:nvSpPr>
        <p:spPr>
          <a:xfrm>
            <a:off x="6720840" y="3712464"/>
            <a:ext cx="4526280" cy="512064"/>
          </a:xfrm>
          <a:prstGeom prst="roundRect">
            <a:avLst>
              <a:gd name="adj" fmla="val 17857"/>
            </a:avLst>
          </a:prstGeom>
          <a:solidFill>
            <a:srgbClr val="FFFFFF"/>
          </a:solidFill>
          <a:ln w="19050">
            <a:solidFill>
              <a:srgbClr val="C8102E"/>
            </a:solidFill>
          </a:ln>
        </p:spPr>
        <p:txBody>
          <a:bodyPr wrap="square" tIns="0" bIns="0" rtlCol="0" anchor="ctr"/>
          <a:lstStyle/>
          <a:p>
            <a:pPr algn="r" rtl="1"/>
            <a:r>
              <a:rPr lang="ar-AE" altLang="en-US" sz="1300" b="1" i="0">
                <a:solidFill>
                  <a:srgbClr val="C8102E"/>
                </a:solidFill>
                <a:latin typeface="Arial"/>
                <a:cs typeface="Arial"/>
              </a:rPr>
              <a:t>4. </a:t>
            </a:r>
            <a:r>
              <a:rPr lang="ar-AE" altLang="en-US" sz="1300" b="1" i="0">
                <a:solidFill>
                  <a:srgbClr val="102A43"/>
                </a:solidFill>
                <a:latin typeface="Arial"/>
                <a:cs typeface="Arial"/>
              </a:rPr>
              <a:t>نفوق الأسماك، وتضرّر الشعاب المرجانية ومحطات التحلية</a:t>
            </a:r>
          </a:p>
        </p:txBody>
      </p:sp>
      <p:sp>
        <p:nvSpPr>
          <p:cNvPr id="41" name="Rounded Rectangle 40"/>
          <p:cNvSpPr/>
          <p:nvPr/>
        </p:nvSpPr>
        <p:spPr>
          <a:xfrm>
            <a:off x="6720840" y="4407408"/>
            <a:ext cx="5120640" cy="1115568"/>
          </a:xfrm>
          <a:prstGeom prst="roundRect">
            <a:avLst>
              <a:gd name="adj" fmla="val 9836"/>
            </a:avLst>
          </a:prstGeom>
          <a:solidFill>
            <a:srgbClr val="E8F5F4"/>
          </a:solidFill>
          <a:ln w="12700">
            <a:solidFill>
              <a:srgbClr val="B9DEDA"/>
            </a:solidFill>
          </a:ln>
        </p:spPr>
        <p:txBody>
          <a:bodyPr wrap="square" lIns="109728" tIns="36576" rIns="109728" bIns="36576" rtlCol="0" anchor="ctr"/>
          <a:lstStyle/>
          <a:p>
            <a:pPr algn="r" rtl="1"/>
            <a:r>
              <a:rPr lang="ar-AE" altLang="en-US" sz="1300" b="1" i="0">
                <a:solidFill>
                  <a:srgbClr val="0F7C73"/>
                </a:solidFill>
                <a:latin typeface="Arial"/>
                <a:cs typeface="Arial"/>
              </a:rPr>
              <a:t>حدث في الإمارات: </a:t>
            </a:r>
            <a:r>
              <a:rPr lang="ar-AE" altLang="en-US" sz="1250" b="1" i="0">
                <a:solidFill>
                  <a:srgbClr val="102A43"/>
                </a:solidFill>
                <a:latin typeface="Arial"/>
                <a:cs typeface="Arial"/>
              </a:rPr>
              <a:t>من أغسطس 2008 إلى مايو 2009 امتدّ مدٌّ أحمر من ساحل دبا إلى مياه الخليج العربي؛ فنفقت آلاف الأطنان من الأسماك، واضطرت محطات تحلية إلى إيقاف عملها أو تعديله.</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par>
                                <p:cTn id="19" presetID="10"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fade">
                                      <p:cBhvr>
                                        <p:cTn id="21" dur="500"/>
                                        <p:tgtEl>
                                          <p:spTgt spid="3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fade">
                                      <p:cBhvr>
                                        <p:cTn id="29" dur="500"/>
                                        <p:tgtEl>
                                          <p:spTgt spid="38"/>
                                        </p:tgtEl>
                                      </p:cBhvr>
                                    </p:animEffect>
                                  </p:childTnLst>
                                </p:cTn>
                              </p:par>
                              <p:par>
                                <p:cTn id="30" presetID="10" presetClass="entr" presetSubtype="0" fill="hold"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7" grpId="0" animBg="1"/>
      <p:bldP spid="38" grpId="0" animBg="1"/>
      <p:bldP spid="4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866775" y="3657600"/>
            <a:ext cx="790575"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676400" y="3705224"/>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10928" y="1344168"/>
            <a:ext cx="2148840" cy="365760"/>
          </a:xfrm>
          <a:prstGeom prst="roundRect">
            <a:avLst>
              <a:gd name="adj" fmla="val 50000"/>
            </a:avLst>
          </a:prstGeom>
          <a:solidFill>
            <a:srgbClr val="C8102E"/>
          </a:solidFill>
          <a:ln>
            <a:noFill/>
          </a:ln>
        </p:spPr>
        <p:txBody>
          <a:bodyPr wrap="square" lIns="36576" tIns="0" rIns="36576" bIns="0" rtlCol="0" anchor="ctr">
            <a:noAutofit/>
          </a:bodyPr>
          <a:lstStyle/>
          <a:p>
            <a:pPr algn="ctr" rtl="1"/>
            <a:r>
              <a:rPr lang="ar-AE" altLang="en-US" sz="1300" b="1" i="0" dirty="0">
                <a:solidFill>
                  <a:srgbClr val="FFFFFF"/>
                </a:solidFill>
                <a:latin typeface="Arial"/>
                <a:cs typeface="Arial"/>
              </a:rPr>
              <a:t>المختبر الافتراضي</a:t>
            </a:r>
          </a:p>
        </p:txBody>
      </p:sp>
      <p:sp>
        <p:nvSpPr>
          <p:cNvPr id="22" name="TextBox 21"/>
          <p:cNvSpPr txBox="1"/>
          <p:nvPr/>
        </p:nvSpPr>
        <p:spPr>
          <a:xfrm>
            <a:off x="2606040" y="1280160"/>
            <a:ext cx="6995160" cy="502920"/>
          </a:xfrm>
          <a:prstGeom prst="rect">
            <a:avLst/>
          </a:prstGeom>
          <a:noFill/>
        </p:spPr>
        <p:txBody>
          <a:bodyPr wrap="square" lIns="18288" tIns="0" rIns="18288" bIns="0" rtlCol="0" anchor="ctr">
            <a:noAutofit/>
          </a:bodyPr>
          <a:lstStyle/>
          <a:p>
            <a:pPr algn="r" rtl="1"/>
            <a:r>
              <a:rPr lang="ar-AE" altLang="en-US" sz="2200" b="1" i="0" dirty="0">
                <a:solidFill>
                  <a:srgbClr val="102A43"/>
                </a:solidFill>
                <a:latin typeface="Arial"/>
                <a:cs typeface="Arial"/>
              </a:rPr>
              <a:t>المحطة 3: خليج المدّ الأحمر… جرّبوا ثم احكموا</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01952"/>
            <a:ext cx="1371600" cy="1371600"/>
          </a:xfrm>
          <a:prstGeom prst="rect">
            <a:avLst/>
          </a:prstGeom>
        </p:spPr>
      </p:pic>
      <p:pic>
        <p:nvPicPr>
          <p:cNvPr id="24" name="Picture 23" descr="qr_p3.png">
            <a:hlinkClick r:id="rId7"/>
          </p:cNvPr>
          <p:cNvPicPr>
            <a:picLocks noChangeAspect="1"/>
          </p:cNvPicPr>
          <p:nvPr/>
        </p:nvPicPr>
        <p:blipFill>
          <a:blip r:embed="rId8"/>
          <a:stretch>
            <a:fillRect/>
          </a:stretch>
        </p:blipFill>
        <p:spPr>
          <a:xfrm>
            <a:off x="2770632" y="3401568"/>
            <a:ext cx="1225296" cy="1225296"/>
          </a:xfrm>
          <a:prstGeom prst="rect">
            <a:avLst/>
          </a:prstGeom>
          <a:ln w="9525">
            <a:solidFill>
              <a:srgbClr val="D9E0E8"/>
            </a:solidFill>
          </a:ln>
        </p:spPr>
      </p:pic>
      <p:sp>
        <p:nvSpPr>
          <p:cNvPr id="25" name="TextBox 24"/>
          <p:cNvSpPr txBox="1"/>
          <p:nvPr/>
        </p:nvSpPr>
        <p:spPr>
          <a:xfrm>
            <a:off x="2560320" y="4645152"/>
            <a:ext cx="1645920" cy="329184"/>
          </a:xfrm>
          <a:prstGeom prst="rect">
            <a:avLst/>
          </a:prstGeom>
          <a:noFill/>
        </p:spPr>
        <p:txBody>
          <a:bodyPr wrap="square" lIns="36576" tIns="0" rIns="36576" bIns="0" rtlCol="0" anchor="ctr">
            <a:noAutofit/>
          </a:bodyPr>
          <a:lstStyle/>
          <a:p>
            <a:pPr algn="ctr" rtl="1"/>
            <a:r>
              <a:rPr lang="ar-AE" altLang="en-US" sz="1050" b="1" i="0" dirty="0">
                <a:solidFill>
                  <a:srgbClr val="5A687D"/>
                </a:solidFill>
                <a:latin typeface="Arial"/>
                <a:cs typeface="Arial"/>
              </a:rPr>
              <a:t>امسحوا الرمز للدخول</a:t>
            </a:r>
          </a:p>
        </p:txBody>
      </p:sp>
      <p:sp>
        <p:nvSpPr>
          <p:cNvPr id="26" name="Rounded Rectangle 25"/>
          <p:cNvSpPr/>
          <p:nvPr/>
        </p:nvSpPr>
        <p:spPr>
          <a:xfrm>
            <a:off x="4224528" y="1874519"/>
            <a:ext cx="1993392" cy="3090672"/>
          </a:xfrm>
          <a:prstGeom prst="roundRect">
            <a:avLst>
              <a:gd name="adj" fmla="val 8000"/>
            </a:avLst>
          </a:prstGeom>
          <a:solidFill>
            <a:srgbClr val="FBF5E8"/>
          </a:solidFill>
          <a:ln w="12700">
            <a:solidFill>
              <a:srgbClr val="E6D5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297680" y="1938528"/>
            <a:ext cx="1847088" cy="2057400"/>
          </a:xfrm>
          <a:prstGeom prst="rect">
            <a:avLst/>
          </a:prstGeom>
          <a:noFill/>
        </p:spPr>
        <p:txBody>
          <a:bodyPr wrap="square" lIns="36576" tIns="36576" rIns="36576" bIns="0" rtlCol="0" anchor="t">
            <a:noAutofit/>
          </a:bodyPr>
          <a:lstStyle/>
          <a:p>
            <a:pPr algn="r" rtl="1">
              <a:spcAft>
                <a:spcPts val="600"/>
              </a:spcAft>
            </a:pPr>
            <a:r>
              <a:rPr lang="ar-AE" altLang="en-US" sz="1400" b="1" i="0" dirty="0">
                <a:solidFill>
                  <a:srgbClr val="C8102E"/>
                </a:solidFill>
                <a:latin typeface="Arial"/>
                <a:cs typeface="Arial"/>
              </a:rPr>
              <a:t>مهمة المجموعة</a:t>
            </a:r>
          </a:p>
          <a:p>
            <a:pPr algn="r" rtl="1">
              <a:spcAft>
                <a:spcPts val="500"/>
              </a:spcAft>
            </a:pPr>
            <a:r>
              <a:rPr lang="ar-AE" altLang="en-US" sz="1120" b="1" i="0" dirty="0">
                <a:solidFill>
                  <a:srgbClr val="102A43"/>
                </a:solidFill>
                <a:latin typeface="Arial"/>
                <a:cs typeface="Arial"/>
              </a:rPr>
              <a:t>1) شغّلوا الوضع الحالي أولًا.</a:t>
            </a:r>
          </a:p>
          <a:p>
            <a:pPr algn="r" rtl="1">
              <a:spcAft>
                <a:spcPts val="500"/>
              </a:spcAft>
            </a:pPr>
            <a:r>
              <a:rPr lang="ar-AE" altLang="en-US" sz="1120" b="1" i="0" dirty="0">
                <a:solidFill>
                  <a:srgbClr val="102A43"/>
                </a:solidFill>
                <a:latin typeface="Arial"/>
                <a:cs typeface="Arial"/>
              </a:rPr>
              <a:t>2) جرّبوا حلول مجلس الخبراء واحدًا واحدًا.</a:t>
            </a:r>
          </a:p>
          <a:p>
            <a:pPr algn="r" rtl="1">
              <a:spcAft>
                <a:spcPts val="500"/>
              </a:spcAft>
            </a:pPr>
            <a:r>
              <a:rPr lang="ar-AE" altLang="en-US" sz="1120" b="1" i="0" dirty="0">
                <a:solidFill>
                  <a:srgbClr val="102A43"/>
                </a:solidFill>
                <a:latin typeface="Arial"/>
                <a:cs typeface="Arial"/>
              </a:rPr>
              <a:t>3) قيّموا: البحر، الغذاء، مياه الشرب.</a:t>
            </a:r>
          </a:p>
        </p:txBody>
      </p:sp>
      <p:pic>
        <p:nvPicPr>
          <p:cNvPr id="28" name="Picture 27" descr="maha_400.png"/>
          <p:cNvPicPr>
            <a:picLocks noChangeAspect="1"/>
          </p:cNvPicPr>
          <p:nvPr/>
        </p:nvPicPr>
        <p:blipFill>
          <a:blip r:embed="rId9"/>
          <a:stretch>
            <a:fillRect/>
          </a:stretch>
        </p:blipFill>
        <p:spPr>
          <a:xfrm>
            <a:off x="5596128" y="4133087"/>
            <a:ext cx="548640" cy="548640"/>
          </a:xfrm>
          <a:prstGeom prst="rect">
            <a:avLst/>
          </a:prstGeom>
        </p:spPr>
      </p:pic>
      <p:sp>
        <p:nvSpPr>
          <p:cNvPr id="29" name="Rounded Rectangular Callout 28"/>
          <p:cNvSpPr/>
          <p:nvPr/>
        </p:nvSpPr>
        <p:spPr>
          <a:xfrm>
            <a:off x="4297680" y="4078224"/>
            <a:ext cx="1243584" cy="749808"/>
          </a:xfrm>
          <a:prstGeom prst="wedgeRoundRectCallout">
            <a:avLst>
              <a:gd name="adj1" fmla="val 62000"/>
              <a:gd name="adj2" fmla="val -5000"/>
              <a:gd name="adj3" fmla="val 16667"/>
            </a:avLst>
          </a:prstGeom>
          <a:solidFill>
            <a:srgbClr val="FFFFF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noAutofit/>
          </a:bodyPr>
          <a:lstStyle/>
          <a:p>
            <a:pPr algn="r" rtl="1"/>
            <a:r>
              <a:rPr lang="ar-AE" altLang="en-US" sz="1000" b="1" i="0" dirty="0">
                <a:solidFill>
                  <a:srgbClr val="0F766E"/>
                </a:solidFill>
                <a:latin typeface="Arial"/>
                <a:cs typeface="Arial"/>
              </a:rPr>
              <a:t>مها: </a:t>
            </a:r>
            <a:r>
              <a:rPr lang="ar-AE" altLang="en-US" sz="1000" b="1" i="0" dirty="0">
                <a:solidFill>
                  <a:srgbClr val="102A43"/>
                </a:solidFill>
                <a:latin typeface="Arial"/>
                <a:cs typeface="Arial"/>
              </a:rPr>
              <a:t>الحل الجيد يحمي البحر والناس معًا.</a:t>
            </a:r>
          </a:p>
        </p:txBody>
      </p:sp>
      <p:sp>
        <p:nvSpPr>
          <p:cNvPr id="30" name="Rounded Rectangle 29"/>
          <p:cNvSpPr/>
          <p:nvPr/>
        </p:nvSpPr>
        <p:spPr>
          <a:xfrm>
            <a:off x="4224528" y="5074920"/>
            <a:ext cx="1993392" cy="393192"/>
          </a:xfrm>
          <a:prstGeom prst="roundRect">
            <a:avLst>
              <a:gd name="adj" fmla="val 50000"/>
            </a:avLst>
          </a:prstGeom>
          <a:solidFill>
            <a:srgbClr val="5B3B9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150" b="1" i="0" dirty="0">
                <a:solidFill>
                  <a:srgbClr val="FFFFFF"/>
                </a:solidFill>
                <a:latin typeface="Arial"/>
                <a:cs typeface="Arial"/>
              </a:rPr>
              <a:t>ورقة العمل: القسم 3</a:t>
            </a:r>
          </a:p>
        </p:txBody>
      </p:sp>
      <p:pic>
        <p:nvPicPr>
          <p:cNvPr id="31" name="Picture 30" descr="crop_p3.jpg">
            <a:hlinkClick r:id="rId7"/>
          </p:cNvPr>
          <p:cNvPicPr>
            <a:picLocks noChangeAspect="1"/>
          </p:cNvPicPr>
          <p:nvPr/>
        </p:nvPicPr>
        <p:blipFill>
          <a:blip r:embed="rId10"/>
          <a:stretch>
            <a:fillRect/>
          </a:stretch>
        </p:blipFill>
        <p:spPr>
          <a:xfrm>
            <a:off x="6355080" y="1874519"/>
            <a:ext cx="5486400" cy="3086100"/>
          </a:xfrm>
          <a:prstGeom prst="rect">
            <a:avLst/>
          </a:prstGeom>
          <a:ln w="15875">
            <a:solidFill>
              <a:srgbClr val="102A43"/>
            </a:solidFill>
          </a:ln>
        </p:spPr>
      </p:pic>
      <p:sp>
        <p:nvSpPr>
          <p:cNvPr id="32" name="Rounded Rectangle 31">
            <a:hlinkClick r:id="rId7"/>
          </p:cNvPr>
          <p:cNvSpPr/>
          <p:nvPr/>
        </p:nvSpPr>
        <p:spPr>
          <a:xfrm>
            <a:off x="6355080" y="5074920"/>
            <a:ext cx="5486400" cy="393192"/>
          </a:xfrm>
          <a:prstGeom prst="roundRect">
            <a:avLst>
              <a:gd name="adj" fmla="val 50000"/>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0" rIns="36576" bIns="0" rtlCol="0" anchor="ctr">
            <a:noAutofit/>
          </a:bodyPr>
          <a:lstStyle/>
          <a:p>
            <a:pPr algn="ctr" rtl="1"/>
            <a:r>
              <a:rPr lang="ar-AE" altLang="en-US" sz="1300" b="1" i="0" dirty="0">
                <a:solidFill>
                  <a:srgbClr val="FFFFFF"/>
                </a:solidFill>
                <a:latin typeface="Arial"/>
                <a:cs typeface="Arial"/>
              </a:rPr>
              <a:t>◄ افتحوا المحطة 3 في مختبر الفوسفور</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3"/>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2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Rounded Rectangle 10"/>
          <p:cNvSpPr/>
          <p:nvPr/>
        </p:nvSpPr>
        <p:spPr>
          <a:xfrm>
            <a:off x="274320" y="2318004"/>
            <a:ext cx="2002536" cy="265176"/>
          </a:xfrm>
          <a:prstGeom prst="roundRect">
            <a:avLst>
              <a:gd name="adj" fmla="val 27586"/>
            </a:avLst>
          </a:prstGeom>
          <a:solidFill>
            <a:srgbClr val="102A43"/>
          </a:solidFill>
          <a:ln>
            <a:noFill/>
          </a:ln>
        </p:spPr>
        <p:txBody>
          <a:bodyPr lIns="54864" tIns="27432" rIns="54864" bIns="27432" rtlCol="0" anchor="ctr"/>
          <a:lstStyle/>
          <a:p>
            <a:pPr algn="ctr"/>
            <a:endParaRPr/>
          </a:p>
        </p:txBody>
      </p:sp>
      <p:sp>
        <p:nvSpPr>
          <p:cNvPr id="12" name="Oval 11"/>
          <p:cNvSpPr/>
          <p:nvPr/>
        </p:nvSpPr>
        <p:spPr>
          <a:xfrm>
            <a:off x="2020824" y="2350008"/>
            <a:ext cx="201168" cy="201168"/>
          </a:xfrm>
          <a:prstGeom prst="ellipse">
            <a:avLst/>
          </a:prstGeom>
          <a:solidFill>
            <a:srgbClr val="C9A96A"/>
          </a:solidFill>
          <a:ln>
            <a:noFill/>
          </a:ln>
        </p:spPr>
        <p:txBody>
          <a:bodyPr wrap="square" lIns="0" tIns="0" rIns="0" bIns="0" rtlCol="0" anchor="ctr"/>
          <a:lstStyle/>
          <a:p>
            <a:pPr algn="ctr" rtl="1"/>
            <a:r>
              <a:rPr lang="ar-AE" altLang="en-US" sz="900" b="1" i="0">
                <a:solidFill>
                  <a:srgbClr val="102A43"/>
                </a:solidFill>
                <a:latin typeface="Arial"/>
                <a:cs typeface="Arial"/>
              </a:rPr>
              <a:t>3</a:t>
            </a:r>
          </a:p>
        </p:txBody>
      </p:sp>
      <p:sp>
        <p:nvSpPr>
          <p:cNvPr id="13" name="TextBox 12"/>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FFFFFF"/>
                </a:solidFill>
                <a:latin typeface="Arial"/>
                <a:cs typeface="Arial"/>
              </a:rPr>
              <a:t>أثر الإنسان والحلول</a:t>
            </a:r>
          </a:p>
        </p:txBody>
      </p:sp>
      <p:sp>
        <p:nvSpPr>
          <p:cNvPr id="14" name="Rectangle 13"/>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ectangle 17"/>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9" name="Rounded Rectangle 18"/>
          <p:cNvSpPr/>
          <p:nvPr/>
        </p:nvSpPr>
        <p:spPr>
          <a:xfrm>
            <a:off x="866775" y="3657600"/>
            <a:ext cx="790575"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20" name="Left Arrow 19"/>
          <p:cNvSpPr/>
          <p:nvPr/>
        </p:nvSpPr>
        <p:spPr>
          <a:xfrm>
            <a:off x="1676400" y="3705224"/>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1" name="Rounded Rectangle 20"/>
          <p:cNvSpPr/>
          <p:nvPr/>
        </p:nvSpPr>
        <p:spPr>
          <a:xfrm>
            <a:off x="9761220" y="1344168"/>
            <a:ext cx="2098548"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تقويم الناتج الثالث</a:t>
            </a:r>
          </a:p>
        </p:txBody>
      </p:sp>
      <p:sp>
        <p:nvSpPr>
          <p:cNvPr id="22" name="TextBox 21"/>
          <p:cNvSpPr txBox="1"/>
          <p:nvPr/>
        </p:nvSpPr>
        <p:spPr>
          <a:xfrm>
            <a:off x="2606040" y="1280160"/>
            <a:ext cx="7045452"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مجلس الخبراء: قيّموا الحلول</a:t>
            </a:r>
          </a:p>
        </p:txBody>
      </p:sp>
      <p:pic>
        <p:nvPicPr>
          <p:cNvPr id="23"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234440" cy="1234440"/>
          </a:xfrm>
          <a:prstGeom prst="rect">
            <a:avLst/>
          </a:prstGeom>
        </p:spPr>
      </p:pic>
      <p:sp>
        <p:nvSpPr>
          <p:cNvPr id="24" name="Oval 23"/>
          <p:cNvSpPr/>
          <p:nvPr/>
        </p:nvSpPr>
        <p:spPr>
          <a:xfrm>
            <a:off x="2971800" y="3310128"/>
            <a:ext cx="685800" cy="685800"/>
          </a:xfrm>
          <a:prstGeom prst="ellipse">
            <a:avLst/>
          </a:prstGeom>
          <a:solidFill>
            <a:srgbClr val="D2691E"/>
          </a:solidFill>
          <a:ln>
            <a:noFill/>
          </a:ln>
        </p:spPr>
        <p:txBody>
          <a:bodyPr lIns="54864" tIns="27432" rIns="54864" bIns="27432" rtlCol="0" anchor="ctr"/>
          <a:lstStyle/>
          <a:p>
            <a:pPr algn="ctr"/>
            <a:endParaRPr/>
          </a:p>
        </p:txBody>
      </p:sp>
      <p:pic>
        <p:nvPicPr>
          <p:cNvPr id="25" name="Picture 24" descr="comments_w.png"/>
          <p:cNvPicPr>
            <a:picLocks noChangeAspect="1"/>
          </p:cNvPicPr>
          <p:nvPr/>
        </p:nvPicPr>
        <p:blipFill>
          <a:blip r:embed="rId7"/>
          <a:stretch>
            <a:fillRect/>
          </a:stretch>
        </p:blipFill>
        <p:spPr>
          <a:xfrm>
            <a:off x="3122676" y="3461004"/>
            <a:ext cx="384048" cy="384048"/>
          </a:xfrm>
          <a:prstGeom prst="rect">
            <a:avLst/>
          </a:prstGeom>
        </p:spPr>
      </p:pic>
      <p:sp>
        <p:nvSpPr>
          <p:cNvPr id="26" name="TextBox 25"/>
          <p:cNvSpPr txBox="1"/>
          <p:nvPr/>
        </p:nvSpPr>
        <p:spPr>
          <a:xfrm>
            <a:off x="2651760" y="4069080"/>
            <a:ext cx="1325880" cy="822960"/>
          </a:xfrm>
          <a:prstGeom prst="rect">
            <a:avLst/>
          </a:prstGeom>
          <a:noFill/>
        </p:spPr>
        <p:txBody>
          <a:bodyPr wrap="square" lIns="73152" tIns="36576" rIns="73152" bIns="36576" anchor="ctr"/>
          <a:lstStyle/>
          <a:p>
            <a:pPr algn="ctr" rtl="1"/>
            <a:r>
              <a:rPr lang="ar-AE" altLang="en-US" sz="1150" b="1" i="0">
                <a:solidFill>
                  <a:srgbClr val="5A687D"/>
                </a:solidFill>
                <a:latin typeface="Arial"/>
                <a:cs typeface="Arial"/>
              </a:rPr>
              <a:t>تناقشوا… ثم نختار من يعرض</a:t>
            </a:r>
          </a:p>
        </p:txBody>
      </p:sp>
      <p:sp>
        <p:nvSpPr>
          <p:cNvPr id="27" name="Rounded Rectangle 26"/>
          <p:cNvSpPr/>
          <p:nvPr/>
        </p:nvSpPr>
        <p:spPr>
          <a:xfrm>
            <a:off x="4069080" y="1901952"/>
            <a:ext cx="7772400" cy="786384"/>
          </a:xfrm>
          <a:prstGeom prst="roundRect">
            <a:avLst>
              <a:gd name="adj" fmla="val 13953"/>
            </a:avLst>
          </a:prstGeom>
          <a:solidFill>
            <a:srgbClr val="FDECEC"/>
          </a:solidFill>
          <a:ln w="12700">
            <a:solidFill>
              <a:srgbClr val="F2B8B8"/>
            </a:solidFill>
          </a:ln>
        </p:spPr>
        <p:txBody>
          <a:bodyPr wrap="square" lIns="137160" tIns="36576" rIns="137160" bIns="36576" rtlCol="0" anchor="ctr"/>
          <a:lstStyle/>
          <a:p>
            <a:pPr algn="r" rtl="1"/>
            <a:r>
              <a:rPr lang="ar-AE" altLang="en-US" sz="1450" b="1" i="0">
                <a:solidFill>
                  <a:srgbClr val="C8102E"/>
                </a:solidFill>
                <a:latin typeface="Arial"/>
                <a:cs typeface="Arial"/>
              </a:rPr>
              <a:t>الموقف: </a:t>
            </a:r>
            <a:r>
              <a:rPr lang="ar-AE" altLang="en-US" sz="1350" b="1" i="0">
                <a:solidFill>
                  <a:srgbClr val="102A43"/>
                </a:solidFill>
                <a:latin typeface="Arial"/>
                <a:cs typeface="Arial"/>
              </a:rPr>
              <a:t>ظهر مدٌّ أحمر قرب ساحل مدينة، ويرجّح العلماء أن من أسبابه أسمدة ومياه صرف غنية بالفوسفور والنيتروجين. قيّموا كل حلّ: فعّال أم غير مناسب؟ ولماذا؟</a:t>
            </a:r>
          </a:p>
        </p:txBody>
      </p:sp>
      <p:sp>
        <p:nvSpPr>
          <p:cNvPr id="28" name="Rounded Rectangle 27"/>
          <p:cNvSpPr/>
          <p:nvPr/>
        </p:nvSpPr>
        <p:spPr>
          <a:xfrm>
            <a:off x="4069080" y="2779776"/>
            <a:ext cx="7772400" cy="438912"/>
          </a:xfrm>
          <a:prstGeom prst="roundRect">
            <a:avLst>
              <a:gd name="adj" fmla="val 25000"/>
            </a:avLst>
          </a:prstGeom>
          <a:solidFill>
            <a:srgbClr val="FFFFFF"/>
          </a:solidFill>
          <a:ln w="12700">
            <a:solidFill>
              <a:srgbClr val="D5DDE8"/>
            </a:solidFill>
          </a:ln>
        </p:spPr>
        <p:txBody>
          <a:bodyPr lIns="54864" tIns="27432" rIns="54864" bIns="27432" rtlCol="0" anchor="ctr"/>
          <a:lstStyle/>
          <a:p>
            <a:pPr algn="ctr"/>
            <a:endParaRPr/>
          </a:p>
        </p:txBody>
      </p:sp>
      <p:sp>
        <p:nvSpPr>
          <p:cNvPr id="29" name="Oval 28"/>
          <p:cNvSpPr/>
          <p:nvPr/>
        </p:nvSpPr>
        <p:spPr>
          <a:xfrm>
            <a:off x="11420855" y="2834640"/>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أ</a:t>
            </a:r>
          </a:p>
        </p:txBody>
      </p:sp>
      <p:sp>
        <p:nvSpPr>
          <p:cNvPr id="30" name="TextBox 29"/>
          <p:cNvSpPr txBox="1"/>
          <p:nvPr/>
        </p:nvSpPr>
        <p:spPr>
          <a:xfrm>
            <a:off x="5431536" y="2779776"/>
            <a:ext cx="5952744" cy="438912"/>
          </a:xfrm>
          <a:prstGeom prst="rect">
            <a:avLst/>
          </a:prstGeom>
          <a:noFill/>
        </p:spPr>
        <p:txBody>
          <a:bodyPr wrap="square" lIns="27432" tIns="0" rIns="27432" bIns="0" anchor="ctr"/>
          <a:lstStyle/>
          <a:p>
            <a:pPr algn="r" rtl="1"/>
            <a:r>
              <a:rPr lang="ar-AE" altLang="en-US" sz="1350" b="1" i="0">
                <a:solidFill>
                  <a:srgbClr val="102A43"/>
                </a:solidFill>
                <a:latin typeface="Arial"/>
                <a:cs typeface="Arial"/>
              </a:rPr>
              <a:t>منع استخدام الأسمدة نهائيًّا في جميع المزارع</a:t>
            </a:r>
          </a:p>
        </p:txBody>
      </p:sp>
      <p:sp>
        <p:nvSpPr>
          <p:cNvPr id="31" name="Rounded Rectangle 30"/>
          <p:cNvSpPr/>
          <p:nvPr/>
        </p:nvSpPr>
        <p:spPr>
          <a:xfrm>
            <a:off x="4142232" y="2834640"/>
            <a:ext cx="1234440" cy="329184"/>
          </a:xfrm>
          <a:prstGeom prst="roundRect">
            <a:avLst>
              <a:gd name="adj" fmla="val 50000"/>
            </a:avLst>
          </a:prstGeom>
          <a:solidFill>
            <a:srgbClr val="C8102E"/>
          </a:solidFill>
          <a:ln>
            <a:noFill/>
          </a:ln>
        </p:spPr>
        <p:txBody>
          <a:bodyPr wrap="square" lIns="0" tIns="0" rIns="0" bIns="0" rtlCol="0" anchor="ctr"/>
          <a:lstStyle/>
          <a:p>
            <a:pPr algn="ctr" rtl="1"/>
            <a:r>
              <a:rPr lang="ar-AE" altLang="en-US" sz="1250" b="1" i="0">
                <a:solidFill>
                  <a:srgbClr val="FFFFFF"/>
                </a:solidFill>
                <a:latin typeface="Arial"/>
                <a:cs typeface="Arial"/>
              </a:rPr>
              <a:t>غير مناسب</a:t>
            </a:r>
          </a:p>
        </p:txBody>
      </p:sp>
      <p:sp>
        <p:nvSpPr>
          <p:cNvPr id="32" name="Rounded Rectangle 31"/>
          <p:cNvSpPr/>
          <p:nvPr/>
        </p:nvSpPr>
        <p:spPr>
          <a:xfrm>
            <a:off x="4069080" y="3273552"/>
            <a:ext cx="7772400" cy="438912"/>
          </a:xfrm>
          <a:prstGeom prst="roundRect">
            <a:avLst>
              <a:gd name="adj" fmla="val 25000"/>
            </a:avLst>
          </a:prstGeom>
          <a:solidFill>
            <a:srgbClr val="FFFFFF"/>
          </a:solidFill>
          <a:ln w="12700">
            <a:solidFill>
              <a:srgbClr val="D5DDE8"/>
            </a:solidFill>
          </a:ln>
        </p:spPr>
        <p:txBody>
          <a:bodyPr lIns="54864" tIns="27432" rIns="54864" bIns="27432" rtlCol="0" anchor="ctr"/>
          <a:lstStyle/>
          <a:p>
            <a:pPr algn="ctr"/>
            <a:endParaRPr/>
          </a:p>
        </p:txBody>
      </p:sp>
      <p:sp>
        <p:nvSpPr>
          <p:cNvPr id="33" name="Oval 32"/>
          <p:cNvSpPr/>
          <p:nvPr/>
        </p:nvSpPr>
        <p:spPr>
          <a:xfrm>
            <a:off x="11420855" y="3328416"/>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ب</a:t>
            </a:r>
          </a:p>
        </p:txBody>
      </p:sp>
      <p:sp>
        <p:nvSpPr>
          <p:cNvPr id="34" name="TextBox 33"/>
          <p:cNvSpPr txBox="1"/>
          <p:nvPr/>
        </p:nvSpPr>
        <p:spPr>
          <a:xfrm>
            <a:off x="5431536" y="3273552"/>
            <a:ext cx="5952744" cy="438912"/>
          </a:xfrm>
          <a:prstGeom prst="rect">
            <a:avLst/>
          </a:prstGeom>
          <a:noFill/>
        </p:spPr>
        <p:txBody>
          <a:bodyPr wrap="square" lIns="27432" tIns="0" rIns="27432" bIns="0" anchor="ctr"/>
          <a:lstStyle/>
          <a:p>
            <a:pPr algn="r" rtl="1"/>
            <a:r>
              <a:rPr lang="ar-AE" altLang="en-US" sz="1350" b="1" i="0">
                <a:solidFill>
                  <a:srgbClr val="102A43"/>
                </a:solidFill>
                <a:latin typeface="Arial"/>
                <a:cs typeface="Arial"/>
              </a:rPr>
              <a:t>إضافة السماد بكميات مدروسة وفق تحليل التربة وعلى دفعات</a:t>
            </a:r>
          </a:p>
        </p:txBody>
      </p:sp>
      <p:sp>
        <p:nvSpPr>
          <p:cNvPr id="35" name="Rounded Rectangle 34"/>
          <p:cNvSpPr/>
          <p:nvPr/>
        </p:nvSpPr>
        <p:spPr>
          <a:xfrm>
            <a:off x="4142232" y="3328416"/>
            <a:ext cx="1234440" cy="329184"/>
          </a:xfrm>
          <a:prstGeom prst="roundRect">
            <a:avLst>
              <a:gd name="adj" fmla="val 50000"/>
            </a:avLst>
          </a:prstGeom>
          <a:solidFill>
            <a:srgbClr val="2E9E5B"/>
          </a:solidFill>
          <a:ln>
            <a:noFill/>
          </a:ln>
        </p:spPr>
        <p:txBody>
          <a:bodyPr wrap="square" lIns="0" tIns="0" rIns="0" bIns="0" rtlCol="0" anchor="ctr"/>
          <a:lstStyle/>
          <a:p>
            <a:pPr algn="ctr" rtl="1"/>
            <a:r>
              <a:rPr lang="ar-AE" altLang="en-US" sz="1250" b="1" i="0">
                <a:solidFill>
                  <a:srgbClr val="FFFFFF"/>
                </a:solidFill>
                <a:latin typeface="Arial"/>
                <a:cs typeface="Arial"/>
              </a:rPr>
              <a:t>فعّال</a:t>
            </a:r>
          </a:p>
        </p:txBody>
      </p:sp>
      <p:sp>
        <p:nvSpPr>
          <p:cNvPr id="36" name="Rounded Rectangle 35"/>
          <p:cNvSpPr/>
          <p:nvPr/>
        </p:nvSpPr>
        <p:spPr>
          <a:xfrm>
            <a:off x="4069080" y="3767328"/>
            <a:ext cx="7772400" cy="438912"/>
          </a:xfrm>
          <a:prstGeom prst="roundRect">
            <a:avLst>
              <a:gd name="adj" fmla="val 25000"/>
            </a:avLst>
          </a:prstGeom>
          <a:solidFill>
            <a:srgbClr val="FFFFFF"/>
          </a:solidFill>
          <a:ln w="12700">
            <a:solidFill>
              <a:srgbClr val="D5DDE8"/>
            </a:solidFill>
          </a:ln>
        </p:spPr>
        <p:txBody>
          <a:bodyPr lIns="54864" tIns="27432" rIns="54864" bIns="27432" rtlCol="0" anchor="ctr"/>
          <a:lstStyle/>
          <a:p>
            <a:pPr algn="ctr"/>
            <a:endParaRPr/>
          </a:p>
        </p:txBody>
      </p:sp>
      <p:sp>
        <p:nvSpPr>
          <p:cNvPr id="37" name="Oval 36"/>
          <p:cNvSpPr/>
          <p:nvPr/>
        </p:nvSpPr>
        <p:spPr>
          <a:xfrm>
            <a:off x="11420855" y="3822191"/>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ج</a:t>
            </a:r>
          </a:p>
        </p:txBody>
      </p:sp>
      <p:sp>
        <p:nvSpPr>
          <p:cNvPr id="38" name="TextBox 37"/>
          <p:cNvSpPr txBox="1"/>
          <p:nvPr/>
        </p:nvSpPr>
        <p:spPr>
          <a:xfrm>
            <a:off x="5431536" y="3767328"/>
            <a:ext cx="5952744" cy="438912"/>
          </a:xfrm>
          <a:prstGeom prst="rect">
            <a:avLst/>
          </a:prstGeom>
          <a:noFill/>
        </p:spPr>
        <p:txBody>
          <a:bodyPr wrap="square" lIns="27432" tIns="0" rIns="27432" bIns="0" anchor="ctr"/>
          <a:lstStyle/>
          <a:p>
            <a:pPr algn="r" rtl="1"/>
            <a:r>
              <a:rPr lang="ar-AE" altLang="en-US" sz="1350" b="1" i="0">
                <a:solidFill>
                  <a:srgbClr val="102A43"/>
                </a:solidFill>
                <a:latin typeface="Arial"/>
                <a:cs typeface="Arial"/>
              </a:rPr>
              <a:t>معالجة مياه الصرف الصحي قبل تصريفها في البحر</a:t>
            </a:r>
          </a:p>
        </p:txBody>
      </p:sp>
      <p:sp>
        <p:nvSpPr>
          <p:cNvPr id="39" name="Rounded Rectangle 38"/>
          <p:cNvSpPr/>
          <p:nvPr/>
        </p:nvSpPr>
        <p:spPr>
          <a:xfrm>
            <a:off x="4142232" y="3822191"/>
            <a:ext cx="1234440" cy="329184"/>
          </a:xfrm>
          <a:prstGeom prst="roundRect">
            <a:avLst>
              <a:gd name="adj" fmla="val 50000"/>
            </a:avLst>
          </a:prstGeom>
          <a:solidFill>
            <a:srgbClr val="2E9E5B"/>
          </a:solidFill>
          <a:ln>
            <a:noFill/>
          </a:ln>
        </p:spPr>
        <p:txBody>
          <a:bodyPr wrap="square" lIns="0" tIns="0" rIns="0" bIns="0" rtlCol="0" anchor="ctr"/>
          <a:lstStyle/>
          <a:p>
            <a:pPr algn="ctr" rtl="1"/>
            <a:r>
              <a:rPr lang="ar-AE" altLang="en-US" sz="1250" b="1" i="0">
                <a:solidFill>
                  <a:srgbClr val="FFFFFF"/>
                </a:solidFill>
                <a:latin typeface="Arial"/>
                <a:cs typeface="Arial"/>
              </a:rPr>
              <a:t>فعّال</a:t>
            </a:r>
          </a:p>
        </p:txBody>
      </p:sp>
      <p:sp>
        <p:nvSpPr>
          <p:cNvPr id="40" name="Rounded Rectangle 39"/>
          <p:cNvSpPr/>
          <p:nvPr/>
        </p:nvSpPr>
        <p:spPr>
          <a:xfrm>
            <a:off x="4069080" y="4261104"/>
            <a:ext cx="7772400" cy="438912"/>
          </a:xfrm>
          <a:prstGeom prst="roundRect">
            <a:avLst>
              <a:gd name="adj" fmla="val 25000"/>
            </a:avLst>
          </a:prstGeom>
          <a:solidFill>
            <a:srgbClr val="FFFFFF"/>
          </a:solidFill>
          <a:ln w="12700">
            <a:solidFill>
              <a:srgbClr val="D5DDE8"/>
            </a:solidFill>
          </a:ln>
        </p:spPr>
        <p:txBody>
          <a:bodyPr lIns="54864" tIns="27432" rIns="54864" bIns="27432" rtlCol="0" anchor="ctr"/>
          <a:lstStyle/>
          <a:p>
            <a:pPr algn="ctr"/>
            <a:endParaRPr/>
          </a:p>
        </p:txBody>
      </p:sp>
      <p:sp>
        <p:nvSpPr>
          <p:cNvPr id="41" name="Oval 40"/>
          <p:cNvSpPr/>
          <p:nvPr/>
        </p:nvSpPr>
        <p:spPr>
          <a:xfrm>
            <a:off x="11420855" y="4315968"/>
            <a:ext cx="329184" cy="329184"/>
          </a:xfrm>
          <a:prstGeom prst="ellipse">
            <a:avLst/>
          </a:prstGeom>
          <a:solidFill>
            <a:srgbClr val="D2691E"/>
          </a:solidFill>
          <a:ln>
            <a:noFill/>
          </a:ln>
        </p:spPr>
        <p:txBody>
          <a:bodyPr wrap="square" lIns="0" tIns="0" rIns="0" bIns="0" rtlCol="0" anchor="ctr"/>
          <a:lstStyle/>
          <a:p>
            <a:pPr algn="ctr" rtl="1"/>
            <a:r>
              <a:rPr lang="ar-AE" altLang="en-US" sz="1300" b="1" i="0">
                <a:solidFill>
                  <a:srgbClr val="FFFFFF"/>
                </a:solidFill>
                <a:latin typeface="Arial"/>
                <a:cs typeface="Arial"/>
              </a:rPr>
              <a:t>د</a:t>
            </a:r>
          </a:p>
        </p:txBody>
      </p:sp>
      <p:sp>
        <p:nvSpPr>
          <p:cNvPr id="42" name="TextBox 41"/>
          <p:cNvSpPr txBox="1"/>
          <p:nvPr/>
        </p:nvSpPr>
        <p:spPr>
          <a:xfrm>
            <a:off x="5431536" y="4261104"/>
            <a:ext cx="5952744" cy="438912"/>
          </a:xfrm>
          <a:prstGeom prst="rect">
            <a:avLst/>
          </a:prstGeom>
          <a:noFill/>
        </p:spPr>
        <p:txBody>
          <a:bodyPr wrap="square" lIns="27432" tIns="0" rIns="27432" bIns="0" anchor="ctr"/>
          <a:lstStyle/>
          <a:p>
            <a:pPr algn="r" rtl="1"/>
            <a:r>
              <a:rPr lang="ar-AE" altLang="en-US" sz="1350" b="1" i="0">
                <a:solidFill>
                  <a:srgbClr val="102A43"/>
                </a:solidFill>
                <a:latin typeface="Arial"/>
                <a:cs typeface="Arial"/>
              </a:rPr>
              <a:t>رشّ مواد كيميائية تقتل جميع الكائنات في المنطقة</a:t>
            </a:r>
          </a:p>
        </p:txBody>
      </p:sp>
      <p:sp>
        <p:nvSpPr>
          <p:cNvPr id="43" name="Rounded Rectangle 42"/>
          <p:cNvSpPr/>
          <p:nvPr/>
        </p:nvSpPr>
        <p:spPr>
          <a:xfrm>
            <a:off x="4142232" y="4315968"/>
            <a:ext cx="1234440" cy="329184"/>
          </a:xfrm>
          <a:prstGeom prst="roundRect">
            <a:avLst>
              <a:gd name="adj" fmla="val 50000"/>
            </a:avLst>
          </a:prstGeom>
          <a:solidFill>
            <a:srgbClr val="C8102E"/>
          </a:solidFill>
          <a:ln>
            <a:noFill/>
          </a:ln>
        </p:spPr>
        <p:txBody>
          <a:bodyPr wrap="square" lIns="0" tIns="0" rIns="0" bIns="0" rtlCol="0" anchor="ctr"/>
          <a:lstStyle/>
          <a:p>
            <a:pPr algn="ctr" rtl="1"/>
            <a:r>
              <a:rPr lang="ar-AE" altLang="en-US" sz="1250" b="1" i="0">
                <a:solidFill>
                  <a:srgbClr val="FFFFFF"/>
                </a:solidFill>
                <a:latin typeface="Arial"/>
                <a:cs typeface="Arial"/>
              </a:rPr>
              <a:t>غير مناسب</a:t>
            </a:r>
          </a:p>
        </p:txBody>
      </p:sp>
      <p:sp>
        <p:nvSpPr>
          <p:cNvPr id="44" name="Rounded Rectangle 43"/>
          <p:cNvSpPr/>
          <p:nvPr/>
        </p:nvSpPr>
        <p:spPr>
          <a:xfrm>
            <a:off x="4069080" y="4791456"/>
            <a:ext cx="7772400" cy="731520"/>
          </a:xfrm>
          <a:prstGeom prst="roundRect">
            <a:avLst>
              <a:gd name="adj" fmla="val 15000"/>
            </a:avLst>
          </a:prstGeom>
          <a:solidFill>
            <a:srgbClr val="FBF5E8"/>
          </a:solidFill>
          <a:ln w="12700">
            <a:solidFill>
              <a:srgbClr val="E6D5B0"/>
            </a:solidFill>
          </a:ln>
        </p:spPr>
        <p:txBody>
          <a:bodyPr lIns="54864" tIns="27432" rIns="54864" bIns="27432" rtlCol="0" anchor="ctr"/>
          <a:lstStyle/>
          <a:p>
            <a:pPr algn="ctr"/>
            <a:endParaRPr/>
          </a:p>
        </p:txBody>
      </p:sp>
      <p:pic>
        <p:nvPicPr>
          <p:cNvPr id="45" name="Picture 44" descr="badge_shaheen.png"/>
          <p:cNvPicPr>
            <a:picLocks noChangeAspect="1"/>
          </p:cNvPicPr>
          <p:nvPr/>
        </p:nvPicPr>
        <p:blipFill>
          <a:blip r:embed="rId8"/>
          <a:stretch>
            <a:fillRect/>
          </a:stretch>
        </p:blipFill>
        <p:spPr>
          <a:xfrm>
            <a:off x="11201400" y="4864010"/>
            <a:ext cx="566928" cy="586410"/>
          </a:xfrm>
          <a:prstGeom prst="rect">
            <a:avLst/>
          </a:prstGeom>
        </p:spPr>
      </p:pic>
      <p:sp>
        <p:nvSpPr>
          <p:cNvPr id="46" name="TextBox 45"/>
          <p:cNvSpPr txBox="1"/>
          <p:nvPr/>
        </p:nvSpPr>
        <p:spPr>
          <a:xfrm>
            <a:off x="4160520" y="4791456"/>
            <a:ext cx="6949440" cy="731520"/>
          </a:xfrm>
          <a:prstGeom prst="rect">
            <a:avLst/>
          </a:prstGeom>
          <a:noFill/>
        </p:spPr>
        <p:txBody>
          <a:bodyPr wrap="square" lIns="73152" tIns="36576" rIns="73152" bIns="36576" anchor="ctr"/>
          <a:lstStyle/>
          <a:p>
            <a:pPr algn="r" rtl="1"/>
            <a:r>
              <a:rPr lang="ar-AE" altLang="en-US" sz="1350" b="1" i="0">
                <a:solidFill>
                  <a:srgbClr val="6B3F1D"/>
                </a:solidFill>
                <a:latin typeface="Arial"/>
                <a:cs typeface="Arial"/>
              </a:rPr>
              <a:t>تحدّي شاهين </a:t>
            </a:r>
            <a:r>
              <a:rPr lang="ar-AE" altLang="en-US" sz="1350" b="1" i="0">
                <a:solidFill>
                  <a:srgbClr val="C8102E"/>
                </a:solidFill>
                <a:latin typeface="Arial"/>
                <a:cs typeface="Arial"/>
              </a:rPr>
              <a:t>■</a:t>
            </a:r>
            <a:r>
              <a:rPr lang="ar-AE" altLang="en-US" sz="1350" b="1" i="0">
                <a:solidFill>
                  <a:srgbClr val="6B3F1D"/>
                </a:solidFill>
                <a:latin typeface="Arial"/>
                <a:cs typeface="Arial"/>
              </a:rPr>
              <a:t>: </a:t>
            </a:r>
            <a:r>
              <a:rPr lang="ar-AE" altLang="en-US" sz="1300" b="1" i="0">
                <a:solidFill>
                  <a:srgbClr val="102A43"/>
                </a:solidFill>
                <a:latin typeface="Arial"/>
                <a:cs typeface="Arial"/>
              </a:rPr>
              <a:t>صمّموا تجربة تحدّد كمية السماد المناسبة لقطعة أرض مزروعة بالعشب.</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29"/>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33"/>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37"/>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500"/>
                                        <p:tgtEl>
                                          <p:spTgt spid="39"/>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41"/>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23"/>
                    </p:tgtEl>
                  </p:cond>
                </p:stCondLst>
                <p:endSync evt="end" delay="0">
                  <p:rtn val="all"/>
                </p:endSync>
                <p:childTnLst>
                  <p:par>
                    <p:cTn id="27" fill="hold">
                      <p:stCondLst>
                        <p:cond delay="0"/>
                      </p:stCondLst>
                      <p:childTnLst>
                        <p:par>
                          <p:cTn id="28" fill="hold">
                            <p:stCondLst>
                              <p:cond delay="0"/>
                            </p:stCondLst>
                            <p:childTnLst>
                              <p:par>
                                <p:cTn id="29" presetID="2" presetClass="mediacall" presetSubtype="0" fill="hold" nodeType="clickEffect">
                                  <p:stCondLst>
                                    <p:cond delay="0"/>
                                  </p:stCondLst>
                                  <p:childTnLst>
                                    <p:cmd type="call" cmd="togglePause">
                                      <p:cBhvr>
                                        <p:cTn id="30" dur="1" fill="hold"/>
                                        <p:tgtEl>
                                          <p:spTgt spid="23"/>
                                        </p:tgtEl>
                                      </p:cBhvr>
                                    </p:cmd>
                                  </p:childTnLst>
                                </p:cTn>
                              </p:par>
                            </p:childTnLst>
                          </p:cTn>
                        </p:par>
                      </p:childTnLst>
                    </p:cTn>
                  </p:par>
                </p:childTnLst>
              </p:cTn>
              <p:nextCondLst>
                <p:cond evt="onNext" delay="0">
                  <p:tgtEl>
                    <p:sldTgt/>
                  </p:tgtEl>
                </p:cond>
              </p:nextCondLst>
            </p:seq>
            <p:video>
              <p:cMediaNode vol="80000">
                <p:cTn id="31" fill="hold" display="0">
                  <p:stCondLst>
                    <p:cond delay="indefinite"/>
                  </p:stCondLst>
                </p:cTn>
                <p:tgtEl>
                  <p:spTgt spid="23"/>
                </p:tgtEl>
              </p:cMediaNode>
            </p:video>
          </p:childTnLst>
        </p:cTn>
      </p:par>
    </p:tnLst>
    <p:bldLst>
      <p:bldP spid="31" grpId="0" animBg="1"/>
      <p:bldP spid="35" grpId="0" animBg="1"/>
      <p:bldP spid="39" grpId="0" animBg="1"/>
      <p:bldP spid="4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619125" y="4171950"/>
            <a:ext cx="125730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438150" y="4400550"/>
            <a:ext cx="1590675" cy="276225"/>
          </a:xfrm>
          <a:prstGeom prst="roundRect">
            <a:avLst>
              <a:gd name="adj" fmla="val 16551"/>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2047875" y="4452937"/>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625328" y="1344168"/>
            <a:ext cx="1234440" cy="365760"/>
          </a:xfrm>
          <a:prstGeom prst="roundRect">
            <a:avLst>
              <a:gd name="adj" fmla="val 50000"/>
            </a:avLst>
          </a:prstGeom>
          <a:solidFill>
            <a:srgbClr val="D2691E"/>
          </a:solidFill>
          <a:ln>
            <a:noFill/>
          </a:ln>
        </p:spPr>
        <p:txBody>
          <a:bodyPr wrap="square" lIns="36576" tIns="0" rIns="36576" bIns="0" rtlCol="0" anchor="ctr"/>
          <a:lstStyle/>
          <a:p>
            <a:pPr algn="ctr" rtl="1"/>
            <a:r>
              <a:rPr lang="ar-AE" altLang="en-US" sz="1300" b="1" i="0">
                <a:solidFill>
                  <a:srgbClr val="FFFFFF"/>
                </a:solidFill>
                <a:latin typeface="Arial"/>
                <a:cs typeface="Arial"/>
              </a:rPr>
              <a:t>الخلاصة</a:t>
            </a:r>
          </a:p>
        </p:txBody>
      </p:sp>
      <p:sp>
        <p:nvSpPr>
          <p:cNvPr id="21" name="TextBox 20"/>
          <p:cNvSpPr txBox="1"/>
          <p:nvPr/>
        </p:nvSpPr>
        <p:spPr>
          <a:xfrm>
            <a:off x="2606040" y="1280160"/>
            <a:ext cx="790956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الصورة الكاملة: أربع دورات… ومادةٌ لا تفنى</a:t>
            </a:r>
          </a:p>
        </p:txBody>
      </p:sp>
      <p:sp>
        <p:nvSpPr>
          <p:cNvPr id="22" name="Rounded Rectangle 21"/>
          <p:cNvSpPr/>
          <p:nvPr/>
        </p:nvSpPr>
        <p:spPr>
          <a:xfrm>
            <a:off x="7333488" y="1901952"/>
            <a:ext cx="4507992" cy="1353312"/>
          </a:xfrm>
          <a:prstGeom prst="roundRect">
            <a:avLst>
              <a:gd name="adj" fmla="val 8108"/>
            </a:avLst>
          </a:prstGeom>
          <a:solidFill>
            <a:srgbClr val="FFFFFF"/>
          </a:solidFill>
          <a:ln w="25400">
            <a:solidFill>
              <a:srgbClr val="1E88C8"/>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3" name="Oval 22"/>
          <p:cNvSpPr/>
          <p:nvPr/>
        </p:nvSpPr>
        <p:spPr>
          <a:xfrm>
            <a:off x="11128248" y="2066544"/>
            <a:ext cx="566928" cy="566928"/>
          </a:xfrm>
          <a:prstGeom prst="ellipse">
            <a:avLst/>
          </a:prstGeom>
          <a:solidFill>
            <a:srgbClr val="1E88C8"/>
          </a:solidFill>
          <a:ln>
            <a:noFill/>
          </a:ln>
        </p:spPr>
        <p:txBody>
          <a:bodyPr lIns="54864" tIns="27432" rIns="54864" bIns="27432" rtlCol="0" anchor="ctr"/>
          <a:lstStyle/>
          <a:p>
            <a:pPr algn="ctr"/>
            <a:endParaRPr/>
          </a:p>
        </p:txBody>
      </p:sp>
      <p:pic>
        <p:nvPicPr>
          <p:cNvPr id="24" name="Picture 23" descr="drop_w.png"/>
          <p:cNvPicPr>
            <a:picLocks noChangeAspect="1"/>
          </p:cNvPicPr>
          <p:nvPr/>
        </p:nvPicPr>
        <p:blipFill>
          <a:blip r:embed="rId4"/>
          <a:stretch>
            <a:fillRect/>
          </a:stretch>
        </p:blipFill>
        <p:spPr>
          <a:xfrm>
            <a:off x="11252972" y="2191268"/>
            <a:ext cx="317479" cy="317479"/>
          </a:xfrm>
          <a:prstGeom prst="rect">
            <a:avLst/>
          </a:prstGeom>
        </p:spPr>
      </p:pic>
      <p:sp>
        <p:nvSpPr>
          <p:cNvPr id="25" name="TextBox 24"/>
          <p:cNvSpPr txBox="1"/>
          <p:nvPr/>
        </p:nvSpPr>
        <p:spPr>
          <a:xfrm>
            <a:off x="7443215" y="1993392"/>
            <a:ext cx="3657600" cy="411480"/>
          </a:xfrm>
          <a:prstGeom prst="rect">
            <a:avLst/>
          </a:prstGeom>
          <a:noFill/>
        </p:spPr>
        <p:txBody>
          <a:bodyPr wrap="square" lIns="73152" tIns="36576" rIns="73152" bIns="36576" anchor="ctr"/>
          <a:lstStyle/>
          <a:p>
            <a:pPr algn="r" rtl="1"/>
            <a:r>
              <a:rPr lang="ar-AE" altLang="en-US" sz="1600" b="1" i="0">
                <a:solidFill>
                  <a:srgbClr val="1E88C8"/>
                </a:solidFill>
                <a:latin typeface="Arial"/>
                <a:cs typeface="Arial"/>
              </a:rPr>
              <a:t>دورة الماء</a:t>
            </a:r>
          </a:p>
        </p:txBody>
      </p:sp>
      <p:sp>
        <p:nvSpPr>
          <p:cNvPr id="26" name="TextBox 25"/>
          <p:cNvSpPr txBox="1"/>
          <p:nvPr/>
        </p:nvSpPr>
        <p:spPr>
          <a:xfrm>
            <a:off x="7443215" y="2414016"/>
            <a:ext cx="4261104" cy="786384"/>
          </a:xfrm>
          <a:prstGeom prst="rect">
            <a:avLst/>
          </a:prstGeom>
          <a:noFill/>
        </p:spPr>
        <p:txBody>
          <a:bodyPr wrap="square" lIns="73152" tIns="36576" rIns="73152" bIns="36576" anchor="ctr"/>
          <a:lstStyle/>
          <a:p>
            <a:pPr algn="r" rtl="1"/>
            <a:r>
              <a:rPr lang="ar-AE" altLang="en-US" sz="1350" b="1" i="0">
                <a:solidFill>
                  <a:srgbClr val="102A43"/>
                </a:solidFill>
                <a:latin typeface="Arial"/>
                <a:cs typeface="Arial"/>
              </a:rPr>
              <a:t>يدور الماء بين المحيطات والغلاف الجوي واليابسة بالتبخّر والتكاثف والهطول.</a:t>
            </a:r>
          </a:p>
        </p:txBody>
      </p:sp>
      <p:sp>
        <p:nvSpPr>
          <p:cNvPr id="27" name="Rounded Rectangle 26"/>
          <p:cNvSpPr/>
          <p:nvPr/>
        </p:nvSpPr>
        <p:spPr>
          <a:xfrm>
            <a:off x="2697479" y="1901952"/>
            <a:ext cx="4507992" cy="1353312"/>
          </a:xfrm>
          <a:prstGeom prst="roundRect">
            <a:avLst>
              <a:gd name="adj" fmla="val 8108"/>
            </a:avLst>
          </a:prstGeom>
          <a:solidFill>
            <a:srgbClr val="FFFFFF"/>
          </a:solidFill>
          <a:ln w="25400">
            <a:solidFill>
              <a:srgbClr val="2E7D32"/>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28" name="Oval 27"/>
          <p:cNvSpPr/>
          <p:nvPr/>
        </p:nvSpPr>
        <p:spPr>
          <a:xfrm>
            <a:off x="6492239" y="2066544"/>
            <a:ext cx="566928" cy="566928"/>
          </a:xfrm>
          <a:prstGeom prst="ellipse">
            <a:avLst/>
          </a:prstGeom>
          <a:solidFill>
            <a:srgbClr val="2E7D32"/>
          </a:solidFill>
          <a:ln>
            <a:noFill/>
          </a:ln>
        </p:spPr>
        <p:txBody>
          <a:bodyPr lIns="54864" tIns="27432" rIns="54864" bIns="27432" rtlCol="0" anchor="ctr"/>
          <a:lstStyle/>
          <a:p>
            <a:pPr algn="ctr"/>
            <a:endParaRPr/>
          </a:p>
        </p:txBody>
      </p:sp>
      <p:pic>
        <p:nvPicPr>
          <p:cNvPr id="29" name="Picture 28" descr="leaf_w.png"/>
          <p:cNvPicPr>
            <a:picLocks noChangeAspect="1"/>
          </p:cNvPicPr>
          <p:nvPr/>
        </p:nvPicPr>
        <p:blipFill>
          <a:blip r:embed="rId5"/>
          <a:stretch>
            <a:fillRect/>
          </a:stretch>
        </p:blipFill>
        <p:spPr>
          <a:xfrm>
            <a:off x="6616964" y="2191268"/>
            <a:ext cx="317479" cy="317479"/>
          </a:xfrm>
          <a:prstGeom prst="rect">
            <a:avLst/>
          </a:prstGeom>
        </p:spPr>
      </p:pic>
      <p:sp>
        <p:nvSpPr>
          <p:cNvPr id="30" name="TextBox 29"/>
          <p:cNvSpPr txBox="1"/>
          <p:nvPr/>
        </p:nvSpPr>
        <p:spPr>
          <a:xfrm>
            <a:off x="2807208" y="1993392"/>
            <a:ext cx="3657600" cy="411480"/>
          </a:xfrm>
          <a:prstGeom prst="rect">
            <a:avLst/>
          </a:prstGeom>
          <a:noFill/>
        </p:spPr>
        <p:txBody>
          <a:bodyPr wrap="square" lIns="73152" tIns="36576" rIns="73152" bIns="36576" anchor="ctr"/>
          <a:lstStyle/>
          <a:p>
            <a:pPr algn="r" rtl="1"/>
            <a:r>
              <a:rPr lang="ar-AE" altLang="en-US" sz="1600" b="1" i="0">
                <a:solidFill>
                  <a:srgbClr val="2E7D32"/>
                </a:solidFill>
                <a:latin typeface="Arial"/>
                <a:cs typeface="Arial"/>
              </a:rPr>
              <a:t>دورتا الكربون والأكسجين</a:t>
            </a:r>
          </a:p>
        </p:txBody>
      </p:sp>
      <p:sp>
        <p:nvSpPr>
          <p:cNvPr id="31" name="TextBox 30"/>
          <p:cNvSpPr txBox="1"/>
          <p:nvPr/>
        </p:nvSpPr>
        <p:spPr>
          <a:xfrm>
            <a:off x="2807208" y="2414016"/>
            <a:ext cx="4261104" cy="786384"/>
          </a:xfrm>
          <a:prstGeom prst="rect">
            <a:avLst/>
          </a:prstGeom>
          <a:noFill/>
        </p:spPr>
        <p:txBody>
          <a:bodyPr wrap="square" lIns="73152" tIns="36576" rIns="73152" bIns="36576" anchor="ctr"/>
          <a:lstStyle/>
          <a:p>
            <a:pPr algn="r" rtl="1"/>
            <a:r>
              <a:rPr lang="ar-AE" altLang="en-US" sz="1350" b="1" i="0">
                <a:solidFill>
                  <a:srgbClr val="102A43"/>
                </a:solidFill>
                <a:latin typeface="Arial"/>
                <a:cs typeface="Arial"/>
              </a:rPr>
              <a:t>البناء الضوئي والتنفس الخلوي عمليتان متعاكستان تربطان الدورتين.</a:t>
            </a:r>
          </a:p>
        </p:txBody>
      </p:sp>
      <p:sp>
        <p:nvSpPr>
          <p:cNvPr id="32" name="Rounded Rectangle 31"/>
          <p:cNvSpPr/>
          <p:nvPr/>
        </p:nvSpPr>
        <p:spPr>
          <a:xfrm>
            <a:off x="7333488" y="3364992"/>
            <a:ext cx="4507992" cy="1353312"/>
          </a:xfrm>
          <a:prstGeom prst="roundRect">
            <a:avLst>
              <a:gd name="adj" fmla="val 8108"/>
            </a:avLst>
          </a:prstGeom>
          <a:solidFill>
            <a:srgbClr val="FFFFFF"/>
          </a:solidFill>
          <a:ln w="25400">
            <a:solidFill>
              <a:srgbClr val="5B3B91"/>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3" name="Oval 32"/>
          <p:cNvSpPr/>
          <p:nvPr/>
        </p:nvSpPr>
        <p:spPr>
          <a:xfrm>
            <a:off x="11128248" y="3529584"/>
            <a:ext cx="566928" cy="566928"/>
          </a:xfrm>
          <a:prstGeom prst="ellipse">
            <a:avLst/>
          </a:prstGeom>
          <a:solidFill>
            <a:srgbClr val="5B3B91"/>
          </a:solidFill>
          <a:ln>
            <a:noFill/>
          </a:ln>
        </p:spPr>
        <p:txBody>
          <a:bodyPr lIns="54864" tIns="27432" rIns="54864" bIns="27432" rtlCol="0" anchor="ctr"/>
          <a:lstStyle/>
          <a:p>
            <a:pPr algn="ctr"/>
            <a:endParaRPr/>
          </a:p>
        </p:txBody>
      </p:sp>
      <p:pic>
        <p:nvPicPr>
          <p:cNvPr id="34" name="Picture 33" descr="bolt_w.png"/>
          <p:cNvPicPr>
            <a:picLocks noChangeAspect="1"/>
          </p:cNvPicPr>
          <p:nvPr/>
        </p:nvPicPr>
        <p:blipFill>
          <a:blip r:embed="rId6"/>
          <a:stretch>
            <a:fillRect/>
          </a:stretch>
        </p:blipFill>
        <p:spPr>
          <a:xfrm>
            <a:off x="11252972" y="3654308"/>
            <a:ext cx="317479" cy="317479"/>
          </a:xfrm>
          <a:prstGeom prst="rect">
            <a:avLst/>
          </a:prstGeom>
        </p:spPr>
      </p:pic>
      <p:sp>
        <p:nvSpPr>
          <p:cNvPr id="35" name="TextBox 34"/>
          <p:cNvSpPr txBox="1"/>
          <p:nvPr/>
        </p:nvSpPr>
        <p:spPr>
          <a:xfrm>
            <a:off x="7443215" y="3456432"/>
            <a:ext cx="3657600" cy="411480"/>
          </a:xfrm>
          <a:prstGeom prst="rect">
            <a:avLst/>
          </a:prstGeom>
          <a:noFill/>
        </p:spPr>
        <p:txBody>
          <a:bodyPr wrap="square" lIns="73152" tIns="36576" rIns="73152" bIns="36576" anchor="ctr"/>
          <a:lstStyle/>
          <a:p>
            <a:pPr algn="r" rtl="1"/>
            <a:r>
              <a:rPr lang="ar-AE" altLang="en-US" sz="1600" b="1" i="0">
                <a:solidFill>
                  <a:srgbClr val="5B3B91"/>
                </a:solidFill>
                <a:latin typeface="Arial"/>
                <a:cs typeface="Arial"/>
              </a:rPr>
              <a:t>دورة النيتروجين</a:t>
            </a:r>
          </a:p>
        </p:txBody>
      </p:sp>
      <p:sp>
        <p:nvSpPr>
          <p:cNvPr id="36" name="TextBox 35"/>
          <p:cNvSpPr txBox="1"/>
          <p:nvPr/>
        </p:nvSpPr>
        <p:spPr>
          <a:xfrm>
            <a:off x="7443215" y="3877056"/>
            <a:ext cx="4261104" cy="786384"/>
          </a:xfrm>
          <a:prstGeom prst="rect">
            <a:avLst/>
          </a:prstGeom>
          <a:noFill/>
        </p:spPr>
        <p:txBody>
          <a:bodyPr wrap="square" lIns="73152" tIns="36576" rIns="73152" bIns="36576" anchor="ctr"/>
          <a:lstStyle/>
          <a:p>
            <a:pPr algn="r" rtl="1"/>
            <a:r>
              <a:rPr lang="ar-AE" altLang="en-US" sz="1350" b="1" i="0">
                <a:solidFill>
                  <a:srgbClr val="102A43"/>
                </a:solidFill>
                <a:latin typeface="Arial"/>
                <a:cs typeface="Arial"/>
              </a:rPr>
              <a:t>تثبّت البكتيريا نيتروجين الهواء، وتعيده بكتيريا أخرى إليه.</a:t>
            </a:r>
          </a:p>
        </p:txBody>
      </p:sp>
      <p:sp>
        <p:nvSpPr>
          <p:cNvPr id="37" name="Rounded Rectangle 36"/>
          <p:cNvSpPr/>
          <p:nvPr/>
        </p:nvSpPr>
        <p:spPr>
          <a:xfrm>
            <a:off x="2697479" y="3364992"/>
            <a:ext cx="4507992" cy="1353312"/>
          </a:xfrm>
          <a:prstGeom prst="roundRect">
            <a:avLst>
              <a:gd name="adj" fmla="val 8108"/>
            </a:avLst>
          </a:prstGeom>
          <a:solidFill>
            <a:srgbClr val="FFFFFF"/>
          </a:solidFill>
          <a:ln w="25400">
            <a:solidFill>
              <a:srgbClr val="D2691E"/>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sp>
        <p:nvSpPr>
          <p:cNvPr id="38" name="Oval 37"/>
          <p:cNvSpPr/>
          <p:nvPr/>
        </p:nvSpPr>
        <p:spPr>
          <a:xfrm>
            <a:off x="6492239" y="3529584"/>
            <a:ext cx="566928" cy="566928"/>
          </a:xfrm>
          <a:prstGeom prst="ellipse">
            <a:avLst/>
          </a:prstGeom>
          <a:solidFill>
            <a:srgbClr val="D2691E"/>
          </a:solidFill>
          <a:ln>
            <a:noFill/>
          </a:ln>
        </p:spPr>
        <p:txBody>
          <a:bodyPr lIns="54864" tIns="27432" rIns="54864" bIns="27432" rtlCol="0" anchor="ctr"/>
          <a:lstStyle/>
          <a:p>
            <a:pPr algn="ctr"/>
            <a:endParaRPr/>
          </a:p>
        </p:txBody>
      </p:sp>
      <p:pic>
        <p:nvPicPr>
          <p:cNvPr id="39" name="Picture 38" descr="bone_w.png"/>
          <p:cNvPicPr>
            <a:picLocks noChangeAspect="1"/>
          </p:cNvPicPr>
          <p:nvPr/>
        </p:nvPicPr>
        <p:blipFill>
          <a:blip r:embed="rId7"/>
          <a:stretch>
            <a:fillRect/>
          </a:stretch>
        </p:blipFill>
        <p:spPr>
          <a:xfrm>
            <a:off x="6616964" y="3654308"/>
            <a:ext cx="317479" cy="317479"/>
          </a:xfrm>
          <a:prstGeom prst="rect">
            <a:avLst/>
          </a:prstGeom>
        </p:spPr>
      </p:pic>
      <p:sp>
        <p:nvSpPr>
          <p:cNvPr id="40" name="TextBox 39"/>
          <p:cNvSpPr txBox="1"/>
          <p:nvPr/>
        </p:nvSpPr>
        <p:spPr>
          <a:xfrm>
            <a:off x="2807208" y="3456432"/>
            <a:ext cx="3657600" cy="411480"/>
          </a:xfrm>
          <a:prstGeom prst="rect">
            <a:avLst/>
          </a:prstGeom>
          <a:noFill/>
        </p:spPr>
        <p:txBody>
          <a:bodyPr wrap="square" lIns="73152" tIns="36576" rIns="73152" bIns="36576" anchor="ctr"/>
          <a:lstStyle/>
          <a:p>
            <a:pPr algn="r" rtl="1"/>
            <a:r>
              <a:rPr lang="ar-AE" altLang="en-US" sz="1600" b="1" i="0">
                <a:solidFill>
                  <a:srgbClr val="D2691E"/>
                </a:solidFill>
                <a:latin typeface="Arial"/>
                <a:cs typeface="Arial"/>
              </a:rPr>
              <a:t>دورة الفوسفور</a:t>
            </a:r>
          </a:p>
        </p:txBody>
      </p:sp>
      <p:sp>
        <p:nvSpPr>
          <p:cNvPr id="41" name="TextBox 40"/>
          <p:cNvSpPr txBox="1"/>
          <p:nvPr/>
        </p:nvSpPr>
        <p:spPr>
          <a:xfrm>
            <a:off x="2807208" y="3877056"/>
            <a:ext cx="4261104" cy="786384"/>
          </a:xfrm>
          <a:prstGeom prst="rect">
            <a:avLst/>
          </a:prstGeom>
          <a:noFill/>
        </p:spPr>
        <p:txBody>
          <a:bodyPr wrap="square" lIns="73152" tIns="36576" rIns="73152" bIns="36576" anchor="ctr"/>
          <a:lstStyle/>
          <a:p>
            <a:pPr algn="r" rtl="1"/>
            <a:r>
              <a:rPr lang="ar-AE" altLang="en-US" sz="1350" b="1" i="0">
                <a:solidFill>
                  <a:srgbClr val="102A43"/>
                </a:solidFill>
                <a:latin typeface="Arial"/>
                <a:cs typeface="Arial"/>
              </a:rPr>
              <a:t>لا تمرّ بالهواء؛ ينتقل الفوسفور بين الصخور والتربة والماء والكائنات الحية.</a:t>
            </a:r>
          </a:p>
        </p:txBody>
      </p:sp>
      <p:sp>
        <p:nvSpPr>
          <p:cNvPr id="42" name="Rounded Rectangle 41"/>
          <p:cNvSpPr/>
          <p:nvPr/>
        </p:nvSpPr>
        <p:spPr>
          <a:xfrm>
            <a:off x="2743200" y="4901184"/>
            <a:ext cx="9098280" cy="603504"/>
          </a:xfrm>
          <a:prstGeom prst="roundRect">
            <a:avLst>
              <a:gd name="adj" fmla="val 21212"/>
            </a:avLst>
          </a:prstGeom>
          <a:solidFill>
            <a:srgbClr val="102A43"/>
          </a:solidFill>
          <a:ln>
            <a:noFill/>
          </a:ln>
        </p:spPr>
        <p:txBody>
          <a:bodyPr wrap="square" lIns="182880" tIns="27432" rIns="182880" bIns="27432" rtlCol="0" anchor="ctr"/>
          <a:lstStyle/>
          <a:p>
            <a:pPr algn="r" rtl="1"/>
            <a:r>
              <a:rPr lang="ar-AE" altLang="en-US" sz="1500" b="1" i="0">
                <a:solidFill>
                  <a:srgbClr val="C9A96A"/>
                </a:solidFill>
                <a:latin typeface="Arial"/>
                <a:cs typeface="Arial"/>
              </a:rPr>
              <a:t>الفكرة الرئيسة: </a:t>
            </a:r>
            <a:r>
              <a:rPr lang="ar-AE" altLang="en-US" sz="1500" b="1" i="0">
                <a:solidFill>
                  <a:srgbClr val="FFFFFF"/>
                </a:solidFill>
                <a:latin typeface="Arial"/>
                <a:cs typeface="Arial"/>
              </a:rPr>
              <a:t>يجري تدوير المواد المغذية الأساسية من خلال العمليات الجيوكيميائية الحيوية.</a:t>
            </a:r>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ounded Rectangle 12"/>
          <p:cNvSpPr/>
          <p:nvPr/>
        </p:nvSpPr>
        <p:spPr>
          <a:xfrm>
            <a:off x="10241280" y="1344168"/>
            <a:ext cx="1618488" cy="365760"/>
          </a:xfrm>
          <a:prstGeom prst="roundRect">
            <a:avLst>
              <a:gd name="adj" fmla="val 50000"/>
            </a:avLst>
          </a:prstGeom>
          <a:solidFill>
            <a:srgbClr val="1C7B7D"/>
          </a:solidFill>
          <a:ln>
            <a:noFill/>
          </a:ln>
        </p:spPr>
        <p:txBody>
          <a:bodyPr wrap="square" lIns="36576" tIns="0" rIns="36576" bIns="0" rtlCol="0" anchor="ctr"/>
          <a:lstStyle/>
          <a:p>
            <a:pPr algn="ctr" rtl="1"/>
            <a:r>
              <a:rPr lang="ar-AE" altLang="en-US" sz="1300" b="1" i="0">
                <a:solidFill>
                  <a:srgbClr val="FFFFFF"/>
                </a:solidFill>
                <a:latin typeface="Arial"/>
                <a:cs typeface="Arial"/>
              </a:rPr>
              <a:t>التقويم الذاتي</a:t>
            </a:r>
          </a:p>
        </p:txBody>
      </p:sp>
      <p:sp>
        <p:nvSpPr>
          <p:cNvPr id="14" name="TextBox 13"/>
          <p:cNvSpPr txBox="1"/>
          <p:nvPr/>
        </p:nvSpPr>
        <p:spPr>
          <a:xfrm>
            <a:off x="5996178" y="1280160"/>
            <a:ext cx="4135374"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أين أنا من نواتج التعلم؟</a:t>
            </a:r>
          </a:p>
        </p:txBody>
      </p:sp>
      <p:pic>
        <p:nvPicPr>
          <p:cNvPr id="15" name="Picture 14" descr="badge_ahmed.png"/>
          <p:cNvPicPr>
            <a:picLocks noChangeAspect="1"/>
          </p:cNvPicPr>
          <p:nvPr/>
        </p:nvPicPr>
        <p:blipFill>
          <a:blip r:embed="rId4"/>
          <a:stretch>
            <a:fillRect/>
          </a:stretch>
        </p:blipFill>
        <p:spPr>
          <a:xfrm>
            <a:off x="2560320" y="1210464"/>
            <a:ext cx="566928" cy="600047"/>
          </a:xfrm>
          <a:prstGeom prst="rect">
            <a:avLst/>
          </a:prstGeom>
        </p:spPr>
      </p:pic>
      <p:sp>
        <p:nvSpPr>
          <p:cNvPr id="16" name="Rounded Rectangular Callout 15"/>
          <p:cNvSpPr/>
          <p:nvPr/>
        </p:nvSpPr>
        <p:spPr>
          <a:xfrm>
            <a:off x="3209544" y="1307592"/>
            <a:ext cx="2658618" cy="420624"/>
          </a:xfrm>
          <a:prstGeom prst="wedgeRoundRectCallout">
            <a:avLst>
              <a:gd name="adj1" fmla="val -54127"/>
              <a:gd name="adj2" fmla="val 18000"/>
              <a:gd name="adj3" fmla="val 16667"/>
            </a:avLst>
          </a:prstGeom>
          <a:solidFill>
            <a:srgbClr val="FFFFFF"/>
          </a:solidFill>
          <a:ln w="19050">
            <a:solidFill>
              <a:srgbClr val="1C2F5E"/>
            </a:solidFill>
          </a:ln>
        </p:spPr>
        <p:txBody>
          <a:bodyPr lIns="54864" tIns="27432" rIns="54864" bIns="27432" rtlCol="0" anchor="ctr"/>
          <a:lstStyle/>
          <a:p>
            <a:pPr algn="ctr"/>
            <a:endParaRPr/>
          </a:p>
        </p:txBody>
      </p:sp>
      <p:sp>
        <p:nvSpPr>
          <p:cNvPr id="17" name="TextBox 16"/>
          <p:cNvSpPr txBox="1"/>
          <p:nvPr/>
        </p:nvSpPr>
        <p:spPr>
          <a:xfrm>
            <a:off x="3246120" y="1307592"/>
            <a:ext cx="2585465" cy="420624"/>
          </a:xfrm>
          <a:prstGeom prst="rect">
            <a:avLst/>
          </a:prstGeom>
          <a:noFill/>
        </p:spPr>
        <p:txBody>
          <a:bodyPr wrap="square" lIns="36576" tIns="0" rIns="36576" bIns="0" anchor="ctr"/>
          <a:lstStyle/>
          <a:p>
            <a:pPr algn="r" rtl="1"/>
            <a:r>
              <a:rPr lang="ar-AE" altLang="en-US" sz="1150" b="1" i="0">
                <a:solidFill>
                  <a:srgbClr val="1C2F5E"/>
                </a:solidFill>
                <a:latin typeface="Arial"/>
                <a:cs typeface="Arial"/>
              </a:rPr>
              <a:t>أحمد: </a:t>
            </a:r>
            <a:r>
              <a:rPr lang="ar-AE" altLang="en-US" sz="1150" b="1" i="0">
                <a:solidFill>
                  <a:srgbClr val="102A43"/>
                </a:solidFill>
                <a:latin typeface="Arial"/>
                <a:cs typeface="Arial"/>
              </a:rPr>
              <a:t>هل حقّقتُ أهدافي اليوم؟</a:t>
            </a:r>
          </a:p>
        </p:txBody>
      </p:sp>
      <p:sp>
        <p:nvSpPr>
          <p:cNvPr id="18" name="Oval 17"/>
          <p:cNvSpPr/>
          <p:nvPr/>
        </p:nvSpPr>
        <p:spPr>
          <a:xfrm>
            <a:off x="5824728" y="1938528"/>
            <a:ext cx="566928" cy="566928"/>
          </a:xfrm>
          <a:prstGeom prst="ellipse">
            <a:avLst/>
          </a:prstGeom>
          <a:solidFill>
            <a:srgbClr val="2E9E5B"/>
          </a:solidFill>
          <a:ln>
            <a:noFill/>
          </a:ln>
        </p:spPr>
        <p:txBody>
          <a:bodyPr lIns="54864" tIns="27432" rIns="54864" bIns="27432" rtlCol="0" anchor="ctr"/>
          <a:lstStyle/>
          <a:p>
            <a:pPr algn="ctr"/>
            <a:endParaRPr/>
          </a:p>
        </p:txBody>
      </p:sp>
      <p:pic>
        <p:nvPicPr>
          <p:cNvPr id="19" name="Picture 18" descr="smile_w.png"/>
          <p:cNvPicPr>
            <a:picLocks noChangeAspect="1"/>
          </p:cNvPicPr>
          <p:nvPr/>
        </p:nvPicPr>
        <p:blipFill>
          <a:blip r:embed="rId5"/>
          <a:stretch>
            <a:fillRect/>
          </a:stretch>
        </p:blipFill>
        <p:spPr>
          <a:xfrm>
            <a:off x="5949452" y="2063252"/>
            <a:ext cx="317479" cy="317479"/>
          </a:xfrm>
          <a:prstGeom prst="rect">
            <a:avLst/>
          </a:prstGeom>
        </p:spPr>
      </p:pic>
      <p:sp>
        <p:nvSpPr>
          <p:cNvPr id="20" name="TextBox 19"/>
          <p:cNvSpPr txBox="1"/>
          <p:nvPr/>
        </p:nvSpPr>
        <p:spPr>
          <a:xfrm>
            <a:off x="5440680" y="2542032"/>
            <a:ext cx="1325880" cy="365760"/>
          </a:xfrm>
          <a:prstGeom prst="rect">
            <a:avLst/>
          </a:prstGeom>
          <a:noFill/>
        </p:spPr>
        <p:txBody>
          <a:bodyPr wrap="square" lIns="0" tIns="0" rIns="0" bIns="0" anchor="ctr"/>
          <a:lstStyle/>
          <a:p>
            <a:pPr algn="ctr" rtl="1"/>
            <a:r>
              <a:rPr lang="ar-AE" altLang="en-US" sz="1250" b="1" i="0">
                <a:solidFill>
                  <a:srgbClr val="2E9E5B"/>
                </a:solidFill>
                <a:latin typeface="Arial"/>
                <a:cs typeface="Arial"/>
              </a:rPr>
              <a:t>أتقنتُه</a:t>
            </a:r>
          </a:p>
        </p:txBody>
      </p:sp>
      <p:sp>
        <p:nvSpPr>
          <p:cNvPr id="21" name="TextBox 20"/>
          <p:cNvSpPr txBox="1"/>
          <p:nvPr/>
        </p:nvSpPr>
        <p:spPr>
          <a:xfrm>
            <a:off x="544068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إصبع واحد</a:t>
            </a:r>
          </a:p>
        </p:txBody>
      </p:sp>
      <p:sp>
        <p:nvSpPr>
          <p:cNvPr id="22" name="Oval 21"/>
          <p:cNvSpPr/>
          <p:nvPr/>
        </p:nvSpPr>
        <p:spPr>
          <a:xfrm>
            <a:off x="4407408" y="1938528"/>
            <a:ext cx="566928" cy="566928"/>
          </a:xfrm>
          <a:prstGeom prst="ellipse">
            <a:avLst/>
          </a:prstGeom>
          <a:solidFill>
            <a:srgbClr val="D9A21B"/>
          </a:solidFill>
          <a:ln>
            <a:noFill/>
          </a:ln>
        </p:spPr>
        <p:txBody>
          <a:bodyPr lIns="54864" tIns="27432" rIns="54864" bIns="27432" rtlCol="0" anchor="ctr"/>
          <a:lstStyle/>
          <a:p>
            <a:pPr algn="ctr"/>
            <a:endParaRPr/>
          </a:p>
        </p:txBody>
      </p:sp>
      <p:pic>
        <p:nvPicPr>
          <p:cNvPr id="23" name="Picture 22" descr="meh_w.png"/>
          <p:cNvPicPr>
            <a:picLocks noChangeAspect="1"/>
          </p:cNvPicPr>
          <p:nvPr/>
        </p:nvPicPr>
        <p:blipFill>
          <a:blip r:embed="rId6"/>
          <a:stretch>
            <a:fillRect/>
          </a:stretch>
        </p:blipFill>
        <p:spPr>
          <a:xfrm>
            <a:off x="4532132" y="2063252"/>
            <a:ext cx="317479" cy="317479"/>
          </a:xfrm>
          <a:prstGeom prst="rect">
            <a:avLst/>
          </a:prstGeom>
        </p:spPr>
      </p:pic>
      <p:sp>
        <p:nvSpPr>
          <p:cNvPr id="24" name="TextBox 23"/>
          <p:cNvSpPr txBox="1"/>
          <p:nvPr/>
        </p:nvSpPr>
        <p:spPr>
          <a:xfrm>
            <a:off x="4023360" y="2542032"/>
            <a:ext cx="1325880" cy="365760"/>
          </a:xfrm>
          <a:prstGeom prst="rect">
            <a:avLst/>
          </a:prstGeom>
          <a:noFill/>
        </p:spPr>
        <p:txBody>
          <a:bodyPr wrap="square" lIns="0" tIns="0" rIns="0" bIns="0" anchor="ctr"/>
          <a:lstStyle/>
          <a:p>
            <a:pPr algn="ctr" rtl="1"/>
            <a:r>
              <a:rPr lang="ar-AE" altLang="en-US" sz="1250" b="1" i="0">
                <a:solidFill>
                  <a:srgbClr val="D9A21B"/>
                </a:solidFill>
                <a:latin typeface="Arial"/>
                <a:cs typeface="Arial"/>
              </a:rPr>
              <a:t>أحتاج إلى تدريب</a:t>
            </a:r>
          </a:p>
        </p:txBody>
      </p:sp>
      <p:sp>
        <p:nvSpPr>
          <p:cNvPr id="25" name="TextBox 24"/>
          <p:cNvSpPr txBox="1"/>
          <p:nvPr/>
        </p:nvSpPr>
        <p:spPr>
          <a:xfrm>
            <a:off x="402336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إصبعان</a:t>
            </a:r>
          </a:p>
        </p:txBody>
      </p:sp>
      <p:sp>
        <p:nvSpPr>
          <p:cNvPr id="26" name="Oval 25"/>
          <p:cNvSpPr/>
          <p:nvPr/>
        </p:nvSpPr>
        <p:spPr>
          <a:xfrm>
            <a:off x="2990088" y="1938528"/>
            <a:ext cx="566928" cy="566928"/>
          </a:xfrm>
          <a:prstGeom prst="ellipse">
            <a:avLst/>
          </a:prstGeom>
          <a:solidFill>
            <a:srgbClr val="C8102E"/>
          </a:solidFill>
          <a:ln>
            <a:noFill/>
          </a:ln>
        </p:spPr>
        <p:txBody>
          <a:bodyPr lIns="54864" tIns="27432" rIns="54864" bIns="27432" rtlCol="0" anchor="ctr"/>
          <a:lstStyle/>
          <a:p>
            <a:pPr algn="ctr"/>
            <a:endParaRPr/>
          </a:p>
        </p:txBody>
      </p:sp>
      <p:pic>
        <p:nvPicPr>
          <p:cNvPr id="27" name="Picture 26" descr="frown_w.png"/>
          <p:cNvPicPr>
            <a:picLocks noChangeAspect="1"/>
          </p:cNvPicPr>
          <p:nvPr/>
        </p:nvPicPr>
        <p:blipFill>
          <a:blip r:embed="rId7"/>
          <a:stretch>
            <a:fillRect/>
          </a:stretch>
        </p:blipFill>
        <p:spPr>
          <a:xfrm>
            <a:off x="3114812" y="2063252"/>
            <a:ext cx="317479" cy="317479"/>
          </a:xfrm>
          <a:prstGeom prst="rect">
            <a:avLst/>
          </a:prstGeom>
        </p:spPr>
      </p:pic>
      <p:sp>
        <p:nvSpPr>
          <p:cNvPr id="28" name="TextBox 27"/>
          <p:cNvSpPr txBox="1"/>
          <p:nvPr/>
        </p:nvSpPr>
        <p:spPr>
          <a:xfrm>
            <a:off x="2606040" y="2542032"/>
            <a:ext cx="1325880" cy="365760"/>
          </a:xfrm>
          <a:prstGeom prst="rect">
            <a:avLst/>
          </a:prstGeom>
          <a:noFill/>
        </p:spPr>
        <p:txBody>
          <a:bodyPr wrap="square" lIns="0" tIns="0" rIns="0" bIns="0" anchor="ctr"/>
          <a:lstStyle/>
          <a:p>
            <a:pPr algn="ctr" rtl="1"/>
            <a:r>
              <a:rPr lang="ar-AE" altLang="en-US" sz="1250" b="1" i="0">
                <a:solidFill>
                  <a:srgbClr val="C8102E"/>
                </a:solidFill>
                <a:latin typeface="Arial"/>
                <a:cs typeface="Arial"/>
              </a:rPr>
              <a:t>أحتاج إلى مساعدة</a:t>
            </a:r>
          </a:p>
        </p:txBody>
      </p:sp>
      <p:sp>
        <p:nvSpPr>
          <p:cNvPr id="29" name="TextBox 28"/>
          <p:cNvSpPr txBox="1"/>
          <p:nvPr/>
        </p:nvSpPr>
        <p:spPr>
          <a:xfrm>
            <a:off x="2606040" y="2907792"/>
            <a:ext cx="1325880" cy="274320"/>
          </a:xfrm>
          <a:prstGeom prst="rect">
            <a:avLst/>
          </a:prstGeom>
          <a:noFill/>
        </p:spPr>
        <p:txBody>
          <a:bodyPr wrap="square" lIns="0" tIns="0" rIns="0" bIns="0" anchor="ctr"/>
          <a:lstStyle/>
          <a:p>
            <a:pPr algn="ctr" rtl="1"/>
            <a:r>
              <a:rPr lang="ar-AE" altLang="en-US" sz="1050" b="1" i="0">
                <a:solidFill>
                  <a:srgbClr val="5A687D"/>
                </a:solidFill>
                <a:latin typeface="Arial"/>
                <a:cs typeface="Arial"/>
              </a:rPr>
              <a:t>ثلاثة أصابع</a:t>
            </a:r>
          </a:p>
        </p:txBody>
      </p:sp>
      <p:sp>
        <p:nvSpPr>
          <p:cNvPr id="30" name="Rounded Rectangle 29"/>
          <p:cNvSpPr/>
          <p:nvPr/>
        </p:nvSpPr>
        <p:spPr>
          <a:xfrm>
            <a:off x="6903720" y="331012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D2691E"/>
                </a:solidFill>
                <a:latin typeface="Arial"/>
                <a:cs typeface="Arial"/>
              </a:rPr>
              <a:t>1. </a:t>
            </a:r>
            <a:r>
              <a:rPr lang="ar-AE" altLang="en-US" sz="1250" b="1" i="0">
                <a:solidFill>
                  <a:srgbClr val="102A43"/>
                </a:solidFill>
                <a:latin typeface="Arial"/>
                <a:cs typeface="Arial"/>
              </a:rPr>
              <a:t>يصف كيفية انتقال الفوسفور عبر الأجزاء الحيوية وغير الحيوية في دورتيه قصيرة المدى وطويلة المدى.</a:t>
            </a:r>
          </a:p>
        </p:txBody>
      </p:sp>
      <p:sp>
        <p:nvSpPr>
          <p:cNvPr id="31" name="Rounded Rectangle 30"/>
          <p:cNvSpPr/>
          <p:nvPr/>
        </p:nvSpPr>
        <p:spPr>
          <a:xfrm>
            <a:off x="589788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2" name="Rounded Rectangle 31"/>
          <p:cNvSpPr/>
          <p:nvPr/>
        </p:nvSpPr>
        <p:spPr>
          <a:xfrm>
            <a:off x="448056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3" name="Rounded Rectangle 32"/>
          <p:cNvSpPr/>
          <p:nvPr/>
        </p:nvSpPr>
        <p:spPr>
          <a:xfrm>
            <a:off x="3063240" y="343814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4" name="Rounded Rectangle 33"/>
          <p:cNvSpPr/>
          <p:nvPr/>
        </p:nvSpPr>
        <p:spPr>
          <a:xfrm>
            <a:off x="6903720" y="404164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D2691E"/>
                </a:solidFill>
                <a:latin typeface="Arial"/>
                <a:cs typeface="Arial"/>
              </a:rPr>
              <a:t>2. </a:t>
            </a:r>
            <a:r>
              <a:rPr lang="ar-AE" altLang="en-US" sz="1250" b="1" i="0">
                <a:solidFill>
                  <a:srgbClr val="102A43"/>
                </a:solidFill>
                <a:latin typeface="Arial"/>
                <a:cs typeface="Arial"/>
              </a:rPr>
              <a:t>يقارن بين دورات الماء والكربون والنيتروجين والفوسفور من حيث المخازن والعمليات ودور الكائنات الحية.</a:t>
            </a:r>
          </a:p>
        </p:txBody>
      </p:sp>
      <p:sp>
        <p:nvSpPr>
          <p:cNvPr id="35" name="Rounded Rectangle 34"/>
          <p:cNvSpPr/>
          <p:nvPr/>
        </p:nvSpPr>
        <p:spPr>
          <a:xfrm>
            <a:off x="589788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6" name="Rounded Rectangle 35"/>
          <p:cNvSpPr/>
          <p:nvPr/>
        </p:nvSpPr>
        <p:spPr>
          <a:xfrm>
            <a:off x="448056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7" name="Rounded Rectangle 36"/>
          <p:cNvSpPr/>
          <p:nvPr/>
        </p:nvSpPr>
        <p:spPr>
          <a:xfrm>
            <a:off x="3063240" y="4169663"/>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38" name="Rounded Rectangle 37"/>
          <p:cNvSpPr/>
          <p:nvPr/>
        </p:nvSpPr>
        <p:spPr>
          <a:xfrm>
            <a:off x="6903720" y="4773168"/>
            <a:ext cx="4937760" cy="621792"/>
          </a:xfrm>
          <a:prstGeom prst="roundRect">
            <a:avLst>
              <a:gd name="adj" fmla="val 14705"/>
            </a:avLst>
          </a:prstGeom>
          <a:solidFill>
            <a:srgbClr val="FFFFFF"/>
          </a:solidFill>
          <a:ln w="12700">
            <a:solidFill>
              <a:srgbClr val="D5DDE8"/>
            </a:solidFill>
          </a:ln>
        </p:spPr>
        <p:txBody>
          <a:bodyPr wrap="square" tIns="18288" bIns="18288" rtlCol="0" anchor="ctr"/>
          <a:lstStyle/>
          <a:p>
            <a:pPr algn="r" rtl="1"/>
            <a:r>
              <a:rPr lang="ar-AE" altLang="en-US" sz="1300" b="1" i="0">
                <a:solidFill>
                  <a:srgbClr val="D2691E"/>
                </a:solidFill>
                <a:latin typeface="Arial"/>
                <a:cs typeface="Arial"/>
              </a:rPr>
              <a:t>3. </a:t>
            </a:r>
            <a:r>
              <a:rPr lang="ar-AE" altLang="en-US" sz="1250" b="1" i="0">
                <a:solidFill>
                  <a:srgbClr val="102A43"/>
                </a:solidFill>
                <a:latin typeface="Arial"/>
                <a:cs typeface="Arial"/>
              </a:rPr>
              <a:t>يقوّم أثر الأنشطة البشرية في دورات المادة (الإثراء الغذائي والمدّ الأحمر)، ويقترح حلولًا مناسبة.</a:t>
            </a:r>
          </a:p>
        </p:txBody>
      </p:sp>
      <p:sp>
        <p:nvSpPr>
          <p:cNvPr id="39" name="Rounded Rectangle 38"/>
          <p:cNvSpPr/>
          <p:nvPr/>
        </p:nvSpPr>
        <p:spPr>
          <a:xfrm>
            <a:off x="589788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40" name="Rounded Rectangle 39"/>
          <p:cNvSpPr/>
          <p:nvPr/>
        </p:nvSpPr>
        <p:spPr>
          <a:xfrm>
            <a:off x="448056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
        <p:nvSpPr>
          <p:cNvPr id="41" name="Rounded Rectangle 40"/>
          <p:cNvSpPr/>
          <p:nvPr/>
        </p:nvSpPr>
        <p:spPr>
          <a:xfrm>
            <a:off x="3063240" y="4901184"/>
            <a:ext cx="384048" cy="384048"/>
          </a:xfrm>
          <a:prstGeom prst="roundRect">
            <a:avLst>
              <a:gd name="adj" fmla="val 14285"/>
            </a:avLst>
          </a:prstGeom>
          <a:solidFill>
            <a:srgbClr val="FFFFFF"/>
          </a:solidFill>
          <a:ln w="19050">
            <a:solidFill>
              <a:srgbClr val="9AA8BA"/>
            </a:solidFill>
          </a:ln>
        </p:spPr>
        <p:txBody>
          <a:bodyPr lIns="54864" tIns="27432" rIns="54864" bIns="27432" rtlCol="0" anchor="ctr"/>
          <a:lstStyle/>
          <a:p>
            <a:pPr algn="ctr"/>
            <a:endParaRPr/>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ectangle 12"/>
          <p:cNvSpPr/>
          <p:nvPr/>
        </p:nvSpPr>
        <p:spPr>
          <a:xfrm>
            <a:off x="1028700" y="3314700"/>
            <a:ext cx="438150" cy="3429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4" name="Rectangle 13"/>
          <p:cNvSpPr/>
          <p:nvPr/>
        </p:nvSpPr>
        <p:spPr>
          <a:xfrm>
            <a:off x="904875" y="3676649"/>
            <a:ext cx="714375"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5" name="Rectangle 14"/>
          <p:cNvSpPr/>
          <p:nvPr/>
        </p:nvSpPr>
        <p:spPr>
          <a:xfrm>
            <a:off x="742950" y="3924300"/>
            <a:ext cx="1009650" cy="228600"/>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6" name="Rectangle 15"/>
          <p:cNvSpPr/>
          <p:nvPr/>
        </p:nvSpPr>
        <p:spPr>
          <a:xfrm>
            <a:off x="476250" y="4419600"/>
            <a:ext cx="1514475" cy="2381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7" name="Rectangle 16"/>
          <p:cNvSpPr/>
          <p:nvPr/>
        </p:nvSpPr>
        <p:spPr>
          <a:xfrm>
            <a:off x="342900" y="4676775"/>
            <a:ext cx="1819275" cy="314325"/>
          </a:xfrm>
          <a:prstGeom prst="rect">
            <a:avLst/>
          </a:prstGeom>
          <a:solidFill>
            <a:srgbClr val="FFFFFF">
              <a:alpha val="58000"/>
            </a:srgbClr>
          </a:solidFill>
          <a:ln>
            <a:noFill/>
          </a:ln>
        </p:spPr>
        <p:txBody>
          <a:bodyPr lIns="54864" tIns="27432" rIns="54864" bIns="27432" rtlCol="0" anchor="ctr"/>
          <a:lstStyle/>
          <a:p>
            <a:pPr algn="ctr"/>
            <a:endParaRPr/>
          </a:p>
        </p:txBody>
      </p:sp>
      <p:sp>
        <p:nvSpPr>
          <p:cNvPr id="18" name="Rounded Rectangle 17"/>
          <p:cNvSpPr/>
          <p:nvPr/>
        </p:nvSpPr>
        <p:spPr>
          <a:xfrm>
            <a:off x="581025" y="4152900"/>
            <a:ext cx="1333500" cy="266700"/>
          </a:xfrm>
          <a:prstGeom prst="roundRect">
            <a:avLst>
              <a:gd name="adj" fmla="val 17142"/>
            </a:avLst>
          </a:prstGeom>
          <a:noFill/>
          <a:ln w="28575">
            <a:solidFill>
              <a:srgbClr val="C8102E"/>
            </a:solidFill>
          </a:ln>
        </p:spPr>
        <p:txBody>
          <a:bodyPr lIns="54864" tIns="27432" rIns="54864" bIns="27432" rtlCol="0" anchor="ctr"/>
          <a:lstStyle/>
          <a:p>
            <a:pPr algn="ctr"/>
            <a:endParaRPr/>
          </a:p>
        </p:txBody>
      </p:sp>
      <p:sp>
        <p:nvSpPr>
          <p:cNvPr id="19" name="Left Arrow 18"/>
          <p:cNvSpPr/>
          <p:nvPr/>
        </p:nvSpPr>
        <p:spPr>
          <a:xfrm>
            <a:off x="1933575" y="4200525"/>
            <a:ext cx="247649" cy="171450"/>
          </a:xfrm>
          <a:prstGeom prst="leftArrow">
            <a:avLst/>
          </a:prstGeom>
          <a:solidFill>
            <a:srgbClr val="C8102E"/>
          </a:solidFill>
          <a:ln>
            <a:noFill/>
          </a:ln>
        </p:spPr>
        <p:txBody>
          <a:bodyPr lIns="54864" tIns="27432" rIns="54864" bIns="27432" rtlCol="0" anchor="ctr"/>
          <a:lstStyle/>
          <a:p>
            <a:pPr algn="ctr"/>
            <a:endParaRPr/>
          </a:p>
        </p:txBody>
      </p:sp>
      <p:sp>
        <p:nvSpPr>
          <p:cNvPr id="20" name="Rounded Rectangle 19"/>
          <p:cNvSpPr/>
          <p:nvPr/>
        </p:nvSpPr>
        <p:spPr>
          <a:xfrm>
            <a:off x="10145268" y="1344168"/>
            <a:ext cx="1714500" cy="365760"/>
          </a:xfrm>
          <a:prstGeom prst="roundRect">
            <a:avLst>
              <a:gd name="adj" fmla="val 50000"/>
            </a:avLst>
          </a:prstGeom>
          <a:solidFill>
            <a:srgbClr val="C8102E"/>
          </a:solidFill>
          <a:ln>
            <a:noFill/>
          </a:ln>
        </p:spPr>
        <p:txBody>
          <a:bodyPr wrap="square" lIns="36576" tIns="0" rIns="36576" bIns="0" rtlCol="0" anchor="ctr"/>
          <a:lstStyle/>
          <a:p>
            <a:pPr algn="ctr" rtl="1"/>
            <a:r>
              <a:rPr lang="ar-AE" altLang="en-US" sz="1300" b="1" i="0">
                <a:solidFill>
                  <a:srgbClr val="FFFFFF"/>
                </a:solidFill>
                <a:latin typeface="Arial"/>
                <a:cs typeface="Arial"/>
              </a:rPr>
              <a:t>التقويم الختامي</a:t>
            </a:r>
          </a:p>
        </p:txBody>
      </p:sp>
      <p:sp>
        <p:nvSpPr>
          <p:cNvPr id="21" name="TextBox 20"/>
          <p:cNvSpPr txBox="1"/>
          <p:nvPr/>
        </p:nvSpPr>
        <p:spPr>
          <a:xfrm>
            <a:off x="2606040" y="1280160"/>
            <a:ext cx="742950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بطاقة الخروج</a:t>
            </a:r>
          </a:p>
        </p:txBody>
      </p:sp>
      <p:sp>
        <p:nvSpPr>
          <p:cNvPr id="22" name="Rounded Rectangle 21"/>
          <p:cNvSpPr/>
          <p:nvPr/>
        </p:nvSpPr>
        <p:spPr>
          <a:xfrm>
            <a:off x="4160520" y="1920240"/>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3" name="TextBox 22"/>
          <p:cNvSpPr txBox="1"/>
          <p:nvPr/>
        </p:nvSpPr>
        <p:spPr>
          <a:xfrm>
            <a:off x="11430000" y="2194560"/>
            <a:ext cx="274320" cy="274320"/>
          </a:xfrm>
          <a:prstGeom prst="rect">
            <a:avLst/>
          </a:prstGeom>
          <a:noFill/>
        </p:spPr>
        <p:txBody>
          <a:bodyPr wrap="square" lIns="0" tIns="0" rIns="0" bIns="0" anchor="ctr"/>
          <a:lstStyle/>
          <a:p>
            <a:pPr algn="ctr"/>
            <a:r>
              <a:rPr lang="ar-AE" altLang="en-US" sz="1500" b="1" i="0">
                <a:solidFill>
                  <a:srgbClr val="2E9E5B"/>
                </a:solidFill>
                <a:latin typeface="Arial"/>
                <a:cs typeface="Arial"/>
              </a:rPr>
              <a:t>●</a:t>
            </a:r>
          </a:p>
        </p:txBody>
      </p:sp>
      <p:sp>
        <p:nvSpPr>
          <p:cNvPr id="24" name="TextBox 23"/>
          <p:cNvSpPr txBox="1"/>
          <p:nvPr/>
        </p:nvSpPr>
        <p:spPr>
          <a:xfrm>
            <a:off x="4251960" y="1920240"/>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اذكر أربع دورات جيوكيميائية حيوية يتم من خلالها تدوير المواد المغذية.</a:t>
            </a:r>
          </a:p>
        </p:txBody>
      </p:sp>
      <p:sp>
        <p:nvSpPr>
          <p:cNvPr id="25" name="Rounded Rectangle 24"/>
          <p:cNvSpPr/>
          <p:nvPr/>
        </p:nvSpPr>
        <p:spPr>
          <a:xfrm>
            <a:off x="4160520" y="2852928"/>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6" name="TextBox 25"/>
          <p:cNvSpPr txBox="1"/>
          <p:nvPr/>
        </p:nvSpPr>
        <p:spPr>
          <a:xfrm>
            <a:off x="11430000" y="3127248"/>
            <a:ext cx="274320" cy="274320"/>
          </a:xfrm>
          <a:prstGeom prst="rect">
            <a:avLst/>
          </a:prstGeom>
          <a:noFill/>
        </p:spPr>
        <p:txBody>
          <a:bodyPr wrap="square" lIns="0" tIns="0" rIns="0" bIns="0" anchor="ctr"/>
          <a:lstStyle/>
          <a:p>
            <a:pPr algn="ctr"/>
            <a:r>
              <a:rPr lang="ar-AE" altLang="en-US" sz="1500" b="1" i="0">
                <a:solidFill>
                  <a:srgbClr val="E0A21B"/>
                </a:solidFill>
                <a:latin typeface="Arial"/>
                <a:cs typeface="Arial"/>
              </a:rPr>
              <a:t>▲</a:t>
            </a:r>
          </a:p>
        </p:txBody>
      </p:sp>
      <p:sp>
        <p:nvSpPr>
          <p:cNvPr id="27" name="TextBox 26"/>
          <p:cNvSpPr txBox="1"/>
          <p:nvPr/>
        </p:nvSpPr>
        <p:spPr>
          <a:xfrm>
            <a:off x="4251960" y="2852928"/>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سؤال بنمط TIMSS: ما العملية التي تحبس الفوسفور في دورة طويلة المدى؟</a:t>
            </a:r>
          </a:p>
          <a:p>
            <a:pPr algn="r" rtl="1"/>
            <a:r>
              <a:rPr lang="ar-AE" altLang="en-US" sz="1200" b="1" i="0">
                <a:solidFill>
                  <a:srgbClr val="3E5570"/>
                </a:solidFill>
                <a:latin typeface="Arial"/>
                <a:cs typeface="Arial"/>
              </a:rPr>
              <a:t>(أ) طمر المواد العضوية في قاع المحيطات      (ب) انتقال الفوسفات إلى التربة</a:t>
            </a:r>
          </a:p>
          <a:p>
            <a:pPr algn="r" rtl="1"/>
            <a:r>
              <a:rPr lang="ar-AE" altLang="en-US" sz="1200" b="1" i="0">
                <a:solidFill>
                  <a:srgbClr val="3E5570"/>
                </a:solidFill>
                <a:latin typeface="Arial"/>
                <a:cs typeface="Arial"/>
              </a:rPr>
              <a:t>(ج) طرح الكائنات الحية لفضلاتها      (د) تعرية الجبال بالأمطار</a:t>
            </a:r>
          </a:p>
        </p:txBody>
      </p:sp>
      <p:sp>
        <p:nvSpPr>
          <p:cNvPr id="28" name="Rounded Rectangle 27"/>
          <p:cNvSpPr/>
          <p:nvPr/>
        </p:nvSpPr>
        <p:spPr>
          <a:xfrm>
            <a:off x="4160520" y="3785616"/>
            <a:ext cx="7680960" cy="822960"/>
          </a:xfrm>
          <a:prstGeom prst="roundRect">
            <a:avLst>
              <a:gd name="adj" fmla="val 13333"/>
            </a:avLst>
          </a:prstGeom>
          <a:solidFill>
            <a:srgbClr val="FFFFFF"/>
          </a:solidFill>
          <a:ln w="12700">
            <a:solidFill>
              <a:srgbClr val="D5DDE8"/>
            </a:solidFill>
          </a:ln>
        </p:spPr>
        <p:txBody>
          <a:bodyPr lIns="54864" tIns="27432" rIns="54864" bIns="27432" rtlCol="0" anchor="ctr"/>
          <a:lstStyle/>
          <a:p>
            <a:pPr algn="ctr"/>
            <a:endParaRPr/>
          </a:p>
        </p:txBody>
      </p:sp>
      <p:sp>
        <p:nvSpPr>
          <p:cNvPr id="29" name="TextBox 28"/>
          <p:cNvSpPr txBox="1"/>
          <p:nvPr/>
        </p:nvSpPr>
        <p:spPr>
          <a:xfrm>
            <a:off x="11430000" y="4059936"/>
            <a:ext cx="274320" cy="274320"/>
          </a:xfrm>
          <a:prstGeom prst="rect">
            <a:avLst/>
          </a:prstGeom>
          <a:noFill/>
        </p:spPr>
        <p:txBody>
          <a:bodyPr wrap="square" lIns="0" tIns="0" rIns="0" bIns="0" anchor="ctr"/>
          <a:lstStyle/>
          <a:p>
            <a:pPr algn="ctr"/>
            <a:r>
              <a:rPr lang="ar-AE" altLang="en-US" sz="1500" b="1" i="0">
                <a:solidFill>
                  <a:srgbClr val="C8102E"/>
                </a:solidFill>
                <a:latin typeface="Arial"/>
                <a:cs typeface="Arial"/>
              </a:rPr>
              <a:t>■</a:t>
            </a:r>
          </a:p>
        </p:txBody>
      </p:sp>
      <p:sp>
        <p:nvSpPr>
          <p:cNvPr id="30" name="TextBox 29"/>
          <p:cNvSpPr txBox="1"/>
          <p:nvPr/>
        </p:nvSpPr>
        <p:spPr>
          <a:xfrm>
            <a:off x="4251960" y="3785616"/>
            <a:ext cx="7132320" cy="822960"/>
          </a:xfrm>
          <a:prstGeom prst="rect">
            <a:avLst/>
          </a:prstGeom>
          <a:noFill/>
        </p:spPr>
        <p:txBody>
          <a:bodyPr wrap="square" lIns="73152" tIns="36576" rIns="73152" bIns="36576" anchor="ctr"/>
          <a:lstStyle/>
          <a:p>
            <a:pPr algn="r" rtl="1"/>
            <a:r>
              <a:rPr lang="ar-AE" altLang="en-US" sz="1450" b="1" i="0">
                <a:solidFill>
                  <a:srgbClr val="102A43"/>
                </a:solidFill>
                <a:latin typeface="Arial"/>
                <a:cs typeface="Arial"/>
              </a:rPr>
              <a:t>صِف رحلة ذرة فوسفور من صخرة في جبل إلى عظام غزال، ثم عودتها إلى الصخور.</a:t>
            </a:r>
          </a:p>
        </p:txBody>
      </p:sp>
      <p:pic>
        <p:nvPicPr>
          <p:cNvPr id="31" name="مؤقت 3 دقائق">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697480" y="1920240"/>
            <a:ext cx="1371600" cy="1371600"/>
          </a:xfrm>
          <a:prstGeom prst="rect">
            <a:avLst/>
          </a:prstGeom>
        </p:spPr>
      </p:pic>
      <p:sp>
        <p:nvSpPr>
          <p:cNvPr id="32" name="Oval 31"/>
          <p:cNvSpPr/>
          <p:nvPr/>
        </p:nvSpPr>
        <p:spPr>
          <a:xfrm>
            <a:off x="3017520" y="3520440"/>
            <a:ext cx="731520" cy="731520"/>
          </a:xfrm>
          <a:prstGeom prst="ellipse">
            <a:avLst/>
          </a:prstGeom>
          <a:solidFill>
            <a:srgbClr val="C8102E"/>
          </a:solidFill>
          <a:ln>
            <a:noFill/>
          </a:ln>
        </p:spPr>
        <p:txBody>
          <a:bodyPr lIns="54864" tIns="27432" rIns="54864" bIns="27432" rtlCol="0" anchor="ctr"/>
          <a:lstStyle/>
          <a:p>
            <a:pPr algn="ctr"/>
            <a:endParaRPr/>
          </a:p>
        </p:txBody>
      </p:sp>
      <p:pic>
        <p:nvPicPr>
          <p:cNvPr id="33" name="Picture 32" descr="ticket_w.png"/>
          <p:cNvPicPr>
            <a:picLocks noChangeAspect="1"/>
          </p:cNvPicPr>
          <p:nvPr/>
        </p:nvPicPr>
        <p:blipFill>
          <a:blip r:embed="rId7"/>
          <a:stretch>
            <a:fillRect/>
          </a:stretch>
        </p:blipFill>
        <p:spPr>
          <a:xfrm>
            <a:off x="3178454" y="3681374"/>
            <a:ext cx="409651" cy="409651"/>
          </a:xfrm>
          <a:prstGeom prst="rect">
            <a:avLst/>
          </a:prstGeom>
        </p:spPr>
      </p:pic>
      <p:sp>
        <p:nvSpPr>
          <p:cNvPr id="34" name="TextBox 33"/>
          <p:cNvSpPr txBox="1"/>
          <p:nvPr/>
        </p:nvSpPr>
        <p:spPr>
          <a:xfrm>
            <a:off x="2651760" y="4315968"/>
            <a:ext cx="1463040" cy="548640"/>
          </a:xfrm>
          <a:prstGeom prst="rect">
            <a:avLst/>
          </a:prstGeom>
          <a:noFill/>
        </p:spPr>
        <p:txBody>
          <a:bodyPr wrap="square" lIns="73152" tIns="36576" rIns="73152" bIns="36576" anchor="ctr"/>
          <a:lstStyle/>
          <a:p>
            <a:pPr algn="ctr" rtl="1"/>
            <a:r>
              <a:rPr lang="ar-AE" altLang="en-US" sz="1200" b="1" i="0">
                <a:solidFill>
                  <a:srgbClr val="5A687D"/>
                </a:solidFill>
                <a:latin typeface="Arial"/>
                <a:cs typeface="Arial"/>
              </a:rPr>
              <a:t>أجب بمفردك على الورقة</a:t>
            </a:r>
          </a:p>
        </p:txBody>
      </p:sp>
      <p:sp>
        <p:nvSpPr>
          <p:cNvPr id="35" name="Rounded Rectangle 34"/>
          <p:cNvSpPr/>
          <p:nvPr/>
        </p:nvSpPr>
        <p:spPr>
          <a:xfrm>
            <a:off x="4160520" y="4754880"/>
            <a:ext cx="7680960" cy="749808"/>
          </a:xfrm>
          <a:prstGeom prst="roundRect">
            <a:avLst>
              <a:gd name="adj" fmla="val 14634"/>
            </a:avLst>
          </a:prstGeom>
          <a:solidFill>
            <a:srgbClr val="FBF5E8"/>
          </a:solidFill>
          <a:ln w="12700">
            <a:solidFill>
              <a:srgbClr val="E6D5B0"/>
            </a:solidFill>
          </a:ln>
        </p:spPr>
        <p:txBody>
          <a:bodyPr lIns="54864" tIns="27432" rIns="54864" bIns="27432" rtlCol="0" anchor="ctr"/>
          <a:lstStyle/>
          <a:p>
            <a:pPr algn="ctr"/>
            <a:endParaRPr/>
          </a:p>
        </p:txBody>
      </p:sp>
      <p:sp>
        <p:nvSpPr>
          <p:cNvPr id="36" name="TextBox 35"/>
          <p:cNvSpPr txBox="1"/>
          <p:nvPr/>
        </p:nvSpPr>
        <p:spPr>
          <a:xfrm>
            <a:off x="4251960" y="4754880"/>
            <a:ext cx="7498079" cy="749808"/>
          </a:xfrm>
          <a:prstGeom prst="rect">
            <a:avLst/>
          </a:prstGeom>
          <a:noFill/>
        </p:spPr>
        <p:txBody>
          <a:bodyPr wrap="square" lIns="73152" tIns="36576" rIns="73152" bIns="36576" anchor="ctr"/>
          <a:lstStyle/>
          <a:p>
            <a:pPr algn="r" rtl="1"/>
            <a:r>
              <a:rPr lang="ar-AE" altLang="en-US" sz="1300" b="1" i="0">
                <a:solidFill>
                  <a:srgbClr val="2E9E5B"/>
                </a:solidFill>
                <a:latin typeface="Arial"/>
                <a:cs typeface="Arial"/>
              </a:rPr>
              <a:t>● </a:t>
            </a:r>
            <a:r>
              <a:rPr lang="ar-AE" altLang="en-US" sz="1300" b="1" i="0">
                <a:solidFill>
                  <a:srgbClr val="102A43"/>
                </a:solidFill>
                <a:latin typeface="Arial"/>
                <a:cs typeface="Arial"/>
              </a:rPr>
              <a:t>أساسي    </a:t>
            </a:r>
            <a:r>
              <a:rPr lang="ar-AE" altLang="en-US" sz="1300" b="1" i="0">
                <a:solidFill>
                  <a:srgbClr val="E0A21B"/>
                </a:solidFill>
                <a:latin typeface="Arial"/>
                <a:cs typeface="Arial"/>
              </a:rPr>
              <a:t>▲ </a:t>
            </a:r>
            <a:r>
              <a:rPr lang="ar-AE" altLang="en-US" sz="1300" b="1" i="0">
                <a:solidFill>
                  <a:srgbClr val="102A43"/>
                </a:solidFill>
                <a:latin typeface="Arial"/>
                <a:cs typeface="Arial"/>
              </a:rPr>
              <a:t>متوسط    </a:t>
            </a:r>
            <a:r>
              <a:rPr lang="ar-AE" altLang="en-US" sz="1300" b="1" i="0">
                <a:solidFill>
                  <a:srgbClr val="C8102E"/>
                </a:solidFill>
                <a:latin typeface="Arial"/>
                <a:cs typeface="Arial"/>
              </a:rPr>
              <a:t>■ </a:t>
            </a:r>
            <a:r>
              <a:rPr lang="ar-AE" altLang="en-US" sz="1300" b="1" i="0">
                <a:solidFill>
                  <a:srgbClr val="102A43"/>
                </a:solidFill>
                <a:latin typeface="Arial"/>
                <a:cs typeface="Arial"/>
              </a:rPr>
              <a:t>متقدّم     —  أجب عن الأسئلة الثلاثة، وابدأ بما تستطيع!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31"/>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1"/>
                                        </p:tgtEl>
                                      </p:cBhvr>
                                    </p:cmd>
                                  </p:childTnLst>
                                </p:cTn>
                              </p:par>
                            </p:childTnLst>
                          </p:cTn>
                        </p:par>
                      </p:childTnLst>
                    </p:cTn>
                  </p:par>
                </p:childTnLst>
              </p:cTn>
              <p:nextCondLst>
                <p:cond evt="onNext" delay="0">
                  <p:tgtEl>
                    <p:sldTgt/>
                  </p:tgtEl>
                </p:cond>
              </p:nextCondLst>
            </p:seq>
            <p:video>
              <p:cMediaNode vol="80000">
                <p:cTn id="7" fill="hold" display="0">
                  <p:stCondLst>
                    <p:cond delay="indefinite"/>
                  </p:stCondLst>
                </p:cTn>
                <p:tgtEl>
                  <p:spTgt spid="31"/>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ontent.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9906000" y="676275"/>
            <a:ext cx="20002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الخميس</a:t>
            </a:r>
          </a:p>
        </p:txBody>
      </p:sp>
      <p:sp>
        <p:nvSpPr>
          <p:cNvPr id="4" name="TextBox 3"/>
          <p:cNvSpPr txBox="1"/>
          <p:nvPr/>
        </p:nvSpPr>
        <p:spPr>
          <a:xfrm>
            <a:off x="7505700" y="676275"/>
            <a:ext cx="2114550" cy="304800"/>
          </a:xfrm>
          <a:prstGeom prst="rect">
            <a:avLst/>
          </a:prstGeom>
          <a:noFill/>
        </p:spPr>
        <p:txBody>
          <a:bodyPr wrap="square" lIns="18288" tIns="0" rIns="18288" bIns="0" anchor="ctr"/>
          <a:lstStyle/>
          <a:p>
            <a:pPr algn="ctr" rtl="1"/>
            <a:r>
              <a:rPr lang="ar-AE" altLang="en-US" sz="1250" b="1" i="0">
                <a:solidFill>
                  <a:srgbClr val="102A43"/>
                </a:solidFill>
                <a:latin typeface="Arial"/>
                <a:cs typeface="Arial"/>
              </a:rPr>
              <a:t>24/9/2026</a:t>
            </a:r>
          </a:p>
        </p:txBody>
      </p:sp>
      <p:sp>
        <p:nvSpPr>
          <p:cNvPr id="5" name="TextBox 4"/>
          <p:cNvSpPr txBox="1"/>
          <p:nvPr/>
        </p:nvSpPr>
        <p:spPr>
          <a:xfrm>
            <a:off x="3448050" y="676275"/>
            <a:ext cx="3771900" cy="304800"/>
          </a:xfrm>
          <a:prstGeom prst="rect">
            <a:avLst/>
          </a:prstGeom>
          <a:noFill/>
        </p:spPr>
        <p:txBody>
          <a:bodyPr wrap="square" lIns="18288" tIns="0" rIns="18288" bIns="0" anchor="ctr"/>
          <a:lstStyle/>
          <a:p>
            <a:pPr algn="ctr" rtl="1"/>
            <a:r>
              <a:rPr lang="ar-AE" altLang="en-US" sz="1200" b="1" i="0">
                <a:solidFill>
                  <a:srgbClr val="102A43"/>
                </a:solidFill>
                <a:latin typeface="Arial"/>
                <a:cs typeface="Arial"/>
              </a:rPr>
              <a:t>تدوير المادة – دورة الفوسفور</a:t>
            </a:r>
          </a:p>
        </p:txBody>
      </p:sp>
      <p:sp>
        <p:nvSpPr>
          <p:cNvPr id="6" name="TextBox 5"/>
          <p:cNvSpPr txBox="1"/>
          <p:nvPr/>
        </p:nvSpPr>
        <p:spPr>
          <a:xfrm>
            <a:off x="1143000" y="676275"/>
            <a:ext cx="2019300" cy="304800"/>
          </a:xfrm>
          <a:prstGeom prst="rect">
            <a:avLst/>
          </a:prstGeom>
          <a:noFill/>
        </p:spPr>
        <p:txBody>
          <a:bodyPr wrap="square" lIns="18288" tIns="0" rIns="18288" bIns="0" anchor="ctr"/>
          <a:lstStyle/>
          <a:p>
            <a:pPr algn="ctr" rtl="1"/>
            <a:r>
              <a:rPr lang="ar-AE" altLang="en-US" sz="1050" b="1" i="0">
                <a:solidFill>
                  <a:srgbClr val="102A43"/>
                </a:solidFill>
                <a:latin typeface="Arial"/>
                <a:cs typeface="Arial"/>
              </a:rPr>
              <a:t>الأولى: مبادئ علم البيئة</a:t>
            </a:r>
          </a:p>
        </p:txBody>
      </p:sp>
      <p:sp>
        <p:nvSpPr>
          <p:cNvPr id="7" name="Oval 6"/>
          <p:cNvSpPr/>
          <p:nvPr/>
        </p:nvSpPr>
        <p:spPr>
          <a:xfrm>
            <a:off x="2020824" y="1773936"/>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1</a:t>
            </a:r>
          </a:p>
        </p:txBody>
      </p:sp>
      <p:sp>
        <p:nvSpPr>
          <p:cNvPr id="8" name="TextBox 7"/>
          <p:cNvSpPr txBox="1"/>
          <p:nvPr/>
        </p:nvSpPr>
        <p:spPr>
          <a:xfrm>
            <a:off x="292608" y="1746504"/>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الدورة الفسفورية</a:t>
            </a:r>
          </a:p>
        </p:txBody>
      </p:sp>
      <p:sp>
        <p:nvSpPr>
          <p:cNvPr id="9" name="Oval 8"/>
          <p:cNvSpPr/>
          <p:nvPr/>
        </p:nvSpPr>
        <p:spPr>
          <a:xfrm>
            <a:off x="2020824" y="2061972"/>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2</a:t>
            </a:r>
          </a:p>
        </p:txBody>
      </p:sp>
      <p:sp>
        <p:nvSpPr>
          <p:cNvPr id="10" name="TextBox 9"/>
          <p:cNvSpPr txBox="1"/>
          <p:nvPr/>
        </p:nvSpPr>
        <p:spPr>
          <a:xfrm>
            <a:off x="292608" y="2034540"/>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المقارنة بين الدورات</a:t>
            </a:r>
          </a:p>
        </p:txBody>
      </p:sp>
      <p:sp>
        <p:nvSpPr>
          <p:cNvPr id="11" name="Oval 10"/>
          <p:cNvSpPr/>
          <p:nvPr/>
        </p:nvSpPr>
        <p:spPr>
          <a:xfrm>
            <a:off x="2020824" y="2350008"/>
            <a:ext cx="201168" cy="201168"/>
          </a:xfrm>
          <a:prstGeom prst="ellipse">
            <a:avLst/>
          </a:prstGeom>
          <a:solidFill>
            <a:srgbClr val="8A9BB0"/>
          </a:solidFill>
          <a:ln>
            <a:noFill/>
          </a:ln>
        </p:spPr>
        <p:txBody>
          <a:bodyPr wrap="square" lIns="0" tIns="0" rIns="0" bIns="0" rtlCol="0" anchor="ctr"/>
          <a:lstStyle/>
          <a:p>
            <a:pPr algn="ctr" rtl="1"/>
            <a:r>
              <a:rPr lang="ar-AE" altLang="en-US" sz="900" b="1" i="0">
                <a:solidFill>
                  <a:srgbClr val="FFFFFF"/>
                </a:solidFill>
                <a:latin typeface="Arial"/>
                <a:cs typeface="Arial"/>
              </a:rPr>
              <a:t>3</a:t>
            </a:r>
          </a:p>
        </p:txBody>
      </p:sp>
      <p:sp>
        <p:nvSpPr>
          <p:cNvPr id="12" name="TextBox 11"/>
          <p:cNvSpPr txBox="1"/>
          <p:nvPr/>
        </p:nvSpPr>
        <p:spPr>
          <a:xfrm>
            <a:off x="292608" y="2322576"/>
            <a:ext cx="1719072" cy="246888"/>
          </a:xfrm>
          <a:prstGeom prst="rect">
            <a:avLst/>
          </a:prstGeom>
          <a:noFill/>
        </p:spPr>
        <p:txBody>
          <a:bodyPr wrap="square" lIns="27432" tIns="0" rIns="27432" bIns="0" anchor="ctr"/>
          <a:lstStyle/>
          <a:p>
            <a:pPr algn="r" rtl="1"/>
            <a:r>
              <a:rPr lang="ar-AE" altLang="en-US" sz="850" b="1" i="0">
                <a:solidFill>
                  <a:srgbClr val="44536A"/>
                </a:solidFill>
                <a:latin typeface="Arial"/>
                <a:cs typeface="Arial"/>
              </a:rPr>
              <a:t>أثر الإنسان والحلول</a:t>
            </a:r>
          </a:p>
        </p:txBody>
      </p:sp>
      <p:sp>
        <p:nvSpPr>
          <p:cNvPr id="13" name="Rounded Rectangle 12"/>
          <p:cNvSpPr/>
          <p:nvPr/>
        </p:nvSpPr>
        <p:spPr>
          <a:xfrm>
            <a:off x="10625328" y="1344168"/>
            <a:ext cx="1234440" cy="365760"/>
          </a:xfrm>
          <a:prstGeom prst="roundRect">
            <a:avLst>
              <a:gd name="adj" fmla="val 50000"/>
            </a:avLst>
          </a:prstGeom>
          <a:solidFill>
            <a:srgbClr val="102A43"/>
          </a:solidFill>
          <a:ln>
            <a:noFill/>
          </a:ln>
        </p:spPr>
        <p:txBody>
          <a:bodyPr wrap="square" lIns="36576" tIns="0" rIns="36576" bIns="0" rtlCol="0" anchor="ctr"/>
          <a:lstStyle/>
          <a:p>
            <a:pPr algn="ctr" rtl="1"/>
            <a:r>
              <a:rPr lang="ar-AE" altLang="en-US" sz="1300" b="1" i="0">
                <a:solidFill>
                  <a:srgbClr val="FFFFFF"/>
                </a:solidFill>
                <a:latin typeface="Arial"/>
                <a:cs typeface="Arial"/>
              </a:rPr>
              <a:t>ختام الحصة</a:t>
            </a:r>
          </a:p>
        </p:txBody>
      </p:sp>
      <p:sp>
        <p:nvSpPr>
          <p:cNvPr id="14" name="TextBox 13"/>
          <p:cNvSpPr txBox="1"/>
          <p:nvPr/>
        </p:nvSpPr>
        <p:spPr>
          <a:xfrm>
            <a:off x="2606040" y="1280160"/>
            <a:ext cx="7909560" cy="502920"/>
          </a:xfrm>
          <a:prstGeom prst="rect">
            <a:avLst/>
          </a:prstGeom>
          <a:noFill/>
        </p:spPr>
        <p:txBody>
          <a:bodyPr wrap="square" lIns="18288" tIns="0" rIns="18288" bIns="0" anchor="ctr"/>
          <a:lstStyle/>
          <a:p>
            <a:pPr algn="r" rtl="1"/>
            <a:r>
              <a:rPr lang="ar-AE" altLang="en-US" sz="2400" b="1" i="0">
                <a:solidFill>
                  <a:srgbClr val="102A43"/>
                </a:solidFill>
                <a:latin typeface="Arial"/>
                <a:cs typeface="Arial"/>
              </a:rPr>
              <a:t>أبطال اليوم… وإلى اللقاء!</a:t>
            </a:r>
          </a:p>
        </p:txBody>
      </p:sp>
      <p:pic>
        <p:nvPicPr>
          <p:cNvPr id="15" name="Picture 14" descr="badge_hessa.png"/>
          <p:cNvPicPr>
            <a:picLocks noChangeAspect="1"/>
          </p:cNvPicPr>
          <p:nvPr/>
        </p:nvPicPr>
        <p:blipFill>
          <a:blip r:embed="rId4"/>
          <a:stretch>
            <a:fillRect/>
          </a:stretch>
        </p:blipFill>
        <p:spPr>
          <a:xfrm>
            <a:off x="10543031" y="1874519"/>
            <a:ext cx="1097280" cy="1138757"/>
          </a:xfrm>
          <a:prstGeom prst="rect">
            <a:avLst/>
          </a:prstGeom>
        </p:spPr>
      </p:pic>
      <p:sp>
        <p:nvSpPr>
          <p:cNvPr id="16" name="TextBox 15"/>
          <p:cNvSpPr txBox="1"/>
          <p:nvPr/>
        </p:nvSpPr>
        <p:spPr>
          <a:xfrm>
            <a:off x="10360151" y="3063240"/>
            <a:ext cx="1463040" cy="310896"/>
          </a:xfrm>
          <a:prstGeom prst="rect">
            <a:avLst/>
          </a:prstGeom>
          <a:noFill/>
        </p:spPr>
        <p:txBody>
          <a:bodyPr wrap="square" lIns="0" tIns="0" rIns="0" bIns="0" anchor="ctr"/>
          <a:lstStyle/>
          <a:p>
            <a:pPr algn="ctr" rtl="1"/>
            <a:r>
              <a:rPr lang="ar-AE" altLang="en-US" sz="1200" b="1" i="0">
                <a:solidFill>
                  <a:srgbClr val="7D1F2E"/>
                </a:solidFill>
                <a:latin typeface="Arial"/>
                <a:cs typeface="Arial"/>
              </a:rPr>
              <a:t>وسام حصة</a:t>
            </a:r>
          </a:p>
        </p:txBody>
      </p:sp>
      <p:sp>
        <p:nvSpPr>
          <p:cNvPr id="17" name="TextBox 16"/>
          <p:cNvSpPr txBox="1"/>
          <p:nvPr/>
        </p:nvSpPr>
        <p:spPr>
          <a:xfrm>
            <a:off x="10497311"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18" name="Picture 17" descr="badge_ahmed.png"/>
          <p:cNvPicPr>
            <a:picLocks noChangeAspect="1"/>
          </p:cNvPicPr>
          <p:nvPr/>
        </p:nvPicPr>
        <p:blipFill>
          <a:blip r:embed="rId5"/>
          <a:stretch>
            <a:fillRect/>
          </a:stretch>
        </p:blipFill>
        <p:spPr>
          <a:xfrm>
            <a:off x="9061703" y="1874519"/>
            <a:ext cx="1097280" cy="1161382"/>
          </a:xfrm>
          <a:prstGeom prst="rect">
            <a:avLst/>
          </a:prstGeom>
        </p:spPr>
      </p:pic>
      <p:sp>
        <p:nvSpPr>
          <p:cNvPr id="19" name="TextBox 18"/>
          <p:cNvSpPr txBox="1"/>
          <p:nvPr/>
        </p:nvSpPr>
        <p:spPr>
          <a:xfrm>
            <a:off x="8878824" y="3063240"/>
            <a:ext cx="1463040" cy="310896"/>
          </a:xfrm>
          <a:prstGeom prst="rect">
            <a:avLst/>
          </a:prstGeom>
          <a:noFill/>
        </p:spPr>
        <p:txBody>
          <a:bodyPr wrap="square" lIns="0" tIns="0" rIns="0" bIns="0" anchor="ctr"/>
          <a:lstStyle/>
          <a:p>
            <a:pPr algn="ctr" rtl="1"/>
            <a:r>
              <a:rPr lang="ar-AE" altLang="en-US" sz="1200" b="1" i="0">
                <a:solidFill>
                  <a:srgbClr val="1C2F5E"/>
                </a:solidFill>
                <a:latin typeface="Arial"/>
                <a:cs typeface="Arial"/>
              </a:rPr>
              <a:t>وسام أحمد</a:t>
            </a:r>
          </a:p>
        </p:txBody>
      </p:sp>
      <p:sp>
        <p:nvSpPr>
          <p:cNvPr id="20" name="TextBox 19"/>
          <p:cNvSpPr txBox="1"/>
          <p:nvPr/>
        </p:nvSpPr>
        <p:spPr>
          <a:xfrm>
            <a:off x="9015984"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1" name="Picture 20" descr="badge_fahem.png"/>
          <p:cNvPicPr>
            <a:picLocks noChangeAspect="1"/>
          </p:cNvPicPr>
          <p:nvPr/>
        </p:nvPicPr>
        <p:blipFill>
          <a:blip r:embed="rId6"/>
          <a:stretch>
            <a:fillRect/>
          </a:stretch>
        </p:blipFill>
        <p:spPr>
          <a:xfrm>
            <a:off x="7580375" y="1874519"/>
            <a:ext cx="1097280" cy="1210401"/>
          </a:xfrm>
          <a:prstGeom prst="rect">
            <a:avLst/>
          </a:prstGeom>
        </p:spPr>
      </p:pic>
      <p:sp>
        <p:nvSpPr>
          <p:cNvPr id="22" name="TextBox 21"/>
          <p:cNvSpPr txBox="1"/>
          <p:nvPr/>
        </p:nvSpPr>
        <p:spPr>
          <a:xfrm>
            <a:off x="7397496" y="3063240"/>
            <a:ext cx="1463040" cy="310896"/>
          </a:xfrm>
          <a:prstGeom prst="rect">
            <a:avLst/>
          </a:prstGeom>
          <a:noFill/>
        </p:spPr>
        <p:txBody>
          <a:bodyPr wrap="square" lIns="0" tIns="0" rIns="0" bIns="0" anchor="ctr"/>
          <a:lstStyle/>
          <a:p>
            <a:pPr algn="ctr" rtl="1"/>
            <a:r>
              <a:rPr lang="ar-AE" altLang="en-US" sz="1200" b="1" i="0">
                <a:solidFill>
                  <a:srgbClr val="1E6B3A"/>
                </a:solidFill>
                <a:latin typeface="Arial"/>
                <a:cs typeface="Arial"/>
              </a:rPr>
              <a:t>وسام فاهم</a:t>
            </a:r>
          </a:p>
        </p:txBody>
      </p:sp>
      <p:sp>
        <p:nvSpPr>
          <p:cNvPr id="23" name="TextBox 22"/>
          <p:cNvSpPr txBox="1"/>
          <p:nvPr/>
        </p:nvSpPr>
        <p:spPr>
          <a:xfrm>
            <a:off x="7534656"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4" name="Picture 23" descr="badge_shaheen.png"/>
          <p:cNvPicPr>
            <a:picLocks noChangeAspect="1"/>
          </p:cNvPicPr>
          <p:nvPr/>
        </p:nvPicPr>
        <p:blipFill>
          <a:blip r:embed="rId7"/>
          <a:stretch>
            <a:fillRect/>
          </a:stretch>
        </p:blipFill>
        <p:spPr>
          <a:xfrm>
            <a:off x="6099047" y="1874519"/>
            <a:ext cx="1097280" cy="1134987"/>
          </a:xfrm>
          <a:prstGeom prst="rect">
            <a:avLst/>
          </a:prstGeom>
        </p:spPr>
      </p:pic>
      <p:sp>
        <p:nvSpPr>
          <p:cNvPr id="25" name="TextBox 24"/>
          <p:cNvSpPr txBox="1"/>
          <p:nvPr/>
        </p:nvSpPr>
        <p:spPr>
          <a:xfrm>
            <a:off x="5916167" y="3063240"/>
            <a:ext cx="1463040" cy="310896"/>
          </a:xfrm>
          <a:prstGeom prst="rect">
            <a:avLst/>
          </a:prstGeom>
          <a:noFill/>
        </p:spPr>
        <p:txBody>
          <a:bodyPr wrap="square" lIns="0" tIns="0" rIns="0" bIns="0" anchor="ctr"/>
          <a:lstStyle/>
          <a:p>
            <a:pPr algn="ctr" rtl="1"/>
            <a:r>
              <a:rPr lang="ar-AE" altLang="en-US" sz="1200" b="1" i="0">
                <a:solidFill>
                  <a:srgbClr val="6B3F1D"/>
                </a:solidFill>
                <a:latin typeface="Arial"/>
                <a:cs typeface="Arial"/>
              </a:rPr>
              <a:t>وسام شاهين</a:t>
            </a:r>
          </a:p>
        </p:txBody>
      </p:sp>
      <p:sp>
        <p:nvSpPr>
          <p:cNvPr id="26" name="TextBox 25"/>
          <p:cNvSpPr txBox="1"/>
          <p:nvPr/>
        </p:nvSpPr>
        <p:spPr>
          <a:xfrm>
            <a:off x="6053327"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pic>
        <p:nvPicPr>
          <p:cNvPr id="27" name="Picture 26" descr="badge_maha.png"/>
          <p:cNvPicPr>
            <a:picLocks noChangeAspect="1"/>
          </p:cNvPicPr>
          <p:nvPr/>
        </p:nvPicPr>
        <p:blipFill>
          <a:blip r:embed="rId8"/>
          <a:stretch>
            <a:fillRect/>
          </a:stretch>
        </p:blipFill>
        <p:spPr>
          <a:xfrm>
            <a:off x="4617719" y="1874519"/>
            <a:ext cx="1097280" cy="1259421"/>
          </a:xfrm>
          <a:prstGeom prst="rect">
            <a:avLst/>
          </a:prstGeom>
        </p:spPr>
      </p:pic>
      <p:sp>
        <p:nvSpPr>
          <p:cNvPr id="28" name="TextBox 27"/>
          <p:cNvSpPr txBox="1"/>
          <p:nvPr/>
        </p:nvSpPr>
        <p:spPr>
          <a:xfrm>
            <a:off x="4434839" y="3063240"/>
            <a:ext cx="1463040" cy="310896"/>
          </a:xfrm>
          <a:prstGeom prst="rect">
            <a:avLst/>
          </a:prstGeom>
          <a:noFill/>
        </p:spPr>
        <p:txBody>
          <a:bodyPr wrap="square" lIns="0" tIns="0" rIns="0" bIns="0" anchor="ctr"/>
          <a:lstStyle/>
          <a:p>
            <a:pPr algn="ctr" rtl="1"/>
            <a:r>
              <a:rPr lang="ar-AE" altLang="en-US" sz="1200" b="1" i="0">
                <a:solidFill>
                  <a:srgbClr val="0F7C73"/>
                </a:solidFill>
                <a:latin typeface="Arial"/>
                <a:cs typeface="Arial"/>
              </a:rPr>
              <a:t>وسام مها</a:t>
            </a:r>
          </a:p>
        </p:txBody>
      </p:sp>
      <p:sp>
        <p:nvSpPr>
          <p:cNvPr id="29" name="TextBox 28"/>
          <p:cNvSpPr txBox="1"/>
          <p:nvPr/>
        </p:nvSpPr>
        <p:spPr>
          <a:xfrm>
            <a:off x="4571999" y="3383280"/>
            <a:ext cx="1188720" cy="310896"/>
          </a:xfrm>
          <a:prstGeom prst="rect">
            <a:avLst/>
          </a:prstGeom>
          <a:noFill/>
        </p:spPr>
        <p:txBody>
          <a:bodyPr wrap="square" lIns="0" tIns="0" rIns="0" bIns="0" anchor="ctr"/>
          <a:lstStyle/>
          <a:p>
            <a:pPr algn="ctr" rtl="1"/>
            <a:r>
              <a:rPr lang="ar-AE" altLang="en-US" sz="1100" b="1" i="0">
                <a:solidFill>
                  <a:srgbClr val="5A687D"/>
                </a:solidFill>
                <a:latin typeface="Arial"/>
                <a:cs typeface="Arial"/>
              </a:rPr>
              <a:t>المجموعة: ……</a:t>
            </a:r>
          </a:p>
        </p:txBody>
      </p:sp>
      <p:sp>
        <p:nvSpPr>
          <p:cNvPr id="30" name="Rounded Rectangle 29"/>
          <p:cNvSpPr/>
          <p:nvPr/>
        </p:nvSpPr>
        <p:spPr>
          <a:xfrm>
            <a:off x="2697480" y="1874519"/>
            <a:ext cx="1572768" cy="1819656"/>
          </a:xfrm>
          <a:prstGeom prst="roundRect">
            <a:avLst>
              <a:gd name="adj" fmla="val 6976"/>
            </a:avLst>
          </a:prstGeom>
          <a:solidFill>
            <a:srgbClr val="FBF5E8"/>
          </a:solidFill>
          <a:ln w="12700">
            <a:solidFill>
              <a:srgbClr val="E6D5B0"/>
            </a:solidFill>
          </a:ln>
          <a:effectLst>
            <a:outerShdw blurRad="76200" dist="31750" dir="5400000" algn="t" rotWithShape="0">
              <a:srgbClr val="1E2B3C">
                <a:alpha val="22000"/>
              </a:srgbClr>
            </a:outerShdw>
          </a:effectLst>
        </p:spPr>
        <p:txBody>
          <a:bodyPr lIns="54864" tIns="27432" rIns="54864" bIns="27432" rtlCol="0" anchor="ctr"/>
          <a:lstStyle/>
          <a:p>
            <a:pPr algn="ctr"/>
            <a:endParaRPr/>
          </a:p>
        </p:txBody>
      </p:sp>
      <p:pic>
        <p:nvPicPr>
          <p:cNvPr id="31" name="Picture 30" descr="trophy_g.png"/>
          <p:cNvPicPr>
            <a:picLocks noChangeAspect="1"/>
          </p:cNvPicPr>
          <p:nvPr/>
        </p:nvPicPr>
        <p:blipFill>
          <a:blip r:embed="rId9"/>
          <a:stretch>
            <a:fillRect/>
          </a:stretch>
        </p:blipFill>
        <p:spPr>
          <a:xfrm>
            <a:off x="3163824" y="2011680"/>
            <a:ext cx="640080" cy="640080"/>
          </a:xfrm>
          <a:prstGeom prst="rect">
            <a:avLst/>
          </a:prstGeom>
        </p:spPr>
      </p:pic>
      <p:sp>
        <p:nvSpPr>
          <p:cNvPr id="32" name="TextBox 31"/>
          <p:cNvSpPr txBox="1"/>
          <p:nvPr/>
        </p:nvSpPr>
        <p:spPr>
          <a:xfrm>
            <a:off x="2743200" y="2697480"/>
            <a:ext cx="1481328" cy="914400"/>
          </a:xfrm>
          <a:prstGeom prst="rect">
            <a:avLst/>
          </a:prstGeom>
          <a:noFill/>
        </p:spPr>
        <p:txBody>
          <a:bodyPr wrap="square" lIns="73152" tIns="36576" rIns="73152" bIns="36576" anchor="ctr"/>
          <a:lstStyle/>
          <a:p>
            <a:pPr algn="ctr" rtl="1"/>
            <a:r>
              <a:rPr lang="ar-AE" altLang="en-US" sz="1250" b="1" i="0">
                <a:solidFill>
                  <a:srgbClr val="102A43"/>
                </a:solidFill>
                <a:latin typeface="Arial"/>
                <a:cs typeface="Arial"/>
              </a:rPr>
              <a:t>نصفّق للمجموعات الفائزة!</a:t>
            </a:r>
          </a:p>
        </p:txBody>
      </p:sp>
      <p:sp>
        <p:nvSpPr>
          <p:cNvPr id="33" name="Rounded Rectangle 32"/>
          <p:cNvSpPr/>
          <p:nvPr/>
        </p:nvSpPr>
        <p:spPr>
          <a:xfrm>
            <a:off x="6492240" y="3931920"/>
            <a:ext cx="5349240" cy="1572768"/>
          </a:xfrm>
          <a:prstGeom prst="roundRect">
            <a:avLst>
              <a:gd name="adj" fmla="val 8139"/>
            </a:avLst>
          </a:prstGeom>
          <a:solidFill>
            <a:srgbClr val="102A43"/>
          </a:solidFill>
          <a:ln>
            <a:noFill/>
          </a:ln>
        </p:spPr>
        <p:txBody>
          <a:bodyPr wrap="square" lIns="182880" rIns="182880" rtlCol="0" anchor="ctr"/>
          <a:lstStyle/>
          <a:p>
            <a:pPr algn="r" rtl="1"/>
            <a:r>
              <a:rPr lang="ar-AE" altLang="en-US" sz="1500" b="1" i="0">
                <a:solidFill>
                  <a:srgbClr val="C9A96A"/>
                </a:solidFill>
                <a:latin typeface="Arial"/>
                <a:cs typeface="Arial"/>
              </a:rPr>
              <a:t>المرة القادمة: </a:t>
            </a:r>
            <a:r>
              <a:rPr lang="ar-AE" altLang="en-US" sz="1500" b="1" i="0">
                <a:solidFill>
                  <a:srgbClr val="FFFFFF"/>
                </a:solidFill>
                <a:latin typeface="Arial"/>
                <a:cs typeface="Arial"/>
              </a:rPr>
              <a:t>علم الأحياء والمجتمع – أثر السدود في النظام البيئي… ثم نستعد معًا لتقويم الوحدة!</a:t>
            </a:r>
          </a:p>
        </p:txBody>
      </p:sp>
      <p:sp>
        <p:nvSpPr>
          <p:cNvPr id="34" name="Rounded Rectangle 33"/>
          <p:cNvSpPr/>
          <p:nvPr/>
        </p:nvSpPr>
        <p:spPr>
          <a:xfrm>
            <a:off x="2697480" y="3931920"/>
            <a:ext cx="3657600" cy="1572768"/>
          </a:xfrm>
          <a:prstGeom prst="roundRect">
            <a:avLst>
              <a:gd name="adj" fmla="val 8139"/>
            </a:avLst>
          </a:prstGeom>
          <a:solidFill>
            <a:srgbClr val="F3F5F8"/>
          </a:solidFill>
          <a:ln w="12700">
            <a:solidFill>
              <a:srgbClr val="D5DDE8"/>
            </a:solidFill>
          </a:ln>
        </p:spPr>
        <p:txBody>
          <a:bodyPr wrap="square" lIns="137160" rIns="137160" rtlCol="0" anchor="ctr"/>
          <a:lstStyle/>
          <a:p>
            <a:pPr algn="r" rtl="1"/>
            <a:r>
              <a:rPr lang="ar-AE" altLang="en-US" sz="1400" b="1" i="0">
                <a:solidFill>
                  <a:srgbClr val="D2691E"/>
                </a:solidFill>
                <a:latin typeface="Arial"/>
                <a:cs typeface="Arial"/>
              </a:rPr>
              <a:t>مهمتي على منصة ألف / البوابة الذكية:</a:t>
            </a:r>
          </a:p>
          <a:p>
            <a:pPr algn="r" rtl="1"/>
            <a:r>
              <a:rPr lang="ar-AE" altLang="en-US" sz="1300" b="1" i="0">
                <a:solidFill>
                  <a:srgbClr val="102A43"/>
                </a:solidFill>
                <a:latin typeface="Arial"/>
                <a:cs typeface="Arial"/>
              </a:rPr>
              <a:t>اكتب ملخصًا (5–6 أسطر) تقارن فيه بين دورات المادة الأربع مستخدمًا المصطلحات العلمية.</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3951</Words>
  <Application>Microsoft Office PowerPoint</Application>
  <PresentationFormat>Widescreen</PresentationFormat>
  <Paragraphs>568</Paragraphs>
  <Slides>26</Slides>
  <Notes>26</Notes>
  <HiddenSlides>0</HiddenSlides>
  <MMClips>14</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Ahmed Mustafa</cp:lastModifiedBy>
  <cp:revision>3</cp:revision>
  <dcterms:created xsi:type="dcterms:W3CDTF">2013-01-27T09:14:16Z</dcterms:created>
  <dcterms:modified xsi:type="dcterms:W3CDTF">2026-09-29T20:10:41Z</dcterms:modified>
  <cp:category/>
</cp:coreProperties>
</file>