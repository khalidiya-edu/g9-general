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solidFill>
                  <a:srgbClr val="102A43"/>
                </a:solidFill>
                <a:latin typeface="Arial"/>
              </a:rPr>
              <a:t>مياه الأرض</a:t>
            </a:r>
          </a:p>
        </c:rich>
      </c:tx>
      <c:layout/>
      <c:overlay val="0"/>
    </c:title>
    <c:autoTitleDeleted val="0"/>
    <c:plotArea>
      <c:layout>
        <c:manualLayout>
          <c:layoutTarget val="inner"/>
          <c:xMode val="edge"/>
          <c:yMode val="edge"/>
          <c:x val="0.225"/>
          <c:y val="0.1878"/>
          <c:w val="0.5499"/>
          <c:h val="0.5612"/>
        </c:manualLayout>
      </c:layout>
      <c:doughnutChart>
        <c:varyColors val="1"/>
        <c:ser>
          <c:idx val="0"/>
          <c:order val="0"/>
          <c:tx>
            <c:strRef>
              <c:f>Sheet1!$B$1</c:f>
              <c:strCache>
                <c:ptCount val="1"/>
                <c:pt idx="0">
                  <c:v>مياه الأرض</c:v>
                </c:pt>
              </c:strCache>
            </c:strRef>
          </c:tx>
          <c:dPt>
            <c:idx val="0"/>
            <c:spPr>
              <a:solidFill>
                <a:srgbClr val="1B5E9B"/>
              </a:solidFill>
            </c:spPr>
          </c:dPt>
          <c:dPt>
            <c:idx val="1"/>
            <c:spPr>
              <a:solidFill>
                <a:srgbClr val="7CC6EE"/>
              </a:solidFill>
            </c:spPr>
          </c:dPt>
          <c:cat>
            <c:strRef>
              <c:f>Sheet1!$A$2:$A$3</c:f>
              <c:strCache>
                <c:ptCount val="2"/>
                <c:pt idx="0">
                  <c:v>مالحة 97%</c:v>
                </c:pt>
                <c:pt idx="1">
                  <c:v>عذبة 3%</c:v>
                </c:pt>
              </c:strCache>
            </c:strRef>
          </c:cat>
          <c:val>
            <c:numRef>
              <c:f>Sheet1!$B$2:$B$3</c:f>
              <c:numCache>
                <c:formatCode>General</c:formatCode>
                <c:ptCount val="2"/>
                <c:pt idx="0">
                  <c:v>97</c:v>
                </c:pt>
                <c:pt idx="1">
                  <c:v>3</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solidFill>
                  <a:srgbClr val="102A43"/>
                </a:solidFill>
                <a:latin typeface="Arial"/>
              </a:rPr>
              <a:t>المياه العذبة</a:t>
            </a:r>
          </a:p>
        </c:rich>
      </c:tx>
      <c:layout/>
      <c:overlay val="0"/>
    </c:title>
    <c:autoTitleDeleted val="0"/>
    <c:plotArea>
      <c:layout>
        <c:manualLayout>
          <c:layoutTarget val="inner"/>
          <c:xMode val="edge"/>
          <c:yMode val="edge"/>
          <c:x val="0.225"/>
          <c:y val="0.1878"/>
          <c:w val="0.5499"/>
          <c:h val="0.5612"/>
        </c:manualLayout>
      </c:layout>
      <c:doughnutChart>
        <c:varyColors val="1"/>
        <c:ser>
          <c:idx val="0"/>
          <c:order val="0"/>
          <c:tx>
            <c:strRef>
              <c:f>Sheet1!$B$1</c:f>
              <c:strCache>
                <c:ptCount val="1"/>
                <c:pt idx="0">
                  <c:v>المياه العذبة</c:v>
                </c:pt>
              </c:strCache>
            </c:strRef>
          </c:tx>
          <c:dPt>
            <c:idx val="0"/>
            <c:spPr>
              <a:solidFill>
                <a:srgbClr val="9FC5DC"/>
              </a:solidFill>
            </c:spPr>
          </c:dPt>
          <c:dPt>
            <c:idx val="1"/>
            <c:spPr>
              <a:solidFill>
                <a:srgbClr val="2E9E5B"/>
              </a:solidFill>
            </c:spPr>
          </c:dPt>
          <c:cat>
            <c:strRef>
              <c:f>Sheet1!$A$2:$A$3</c:f>
              <c:strCache>
                <c:ptCount val="2"/>
                <c:pt idx="0">
                  <c:v>متجمدة 69%</c:v>
                </c:pt>
                <c:pt idx="1">
                  <c:v>متاحة 31%</c:v>
                </c:pt>
              </c:strCache>
            </c:strRef>
          </c:cat>
          <c:val>
            <c:numRef>
              <c:f>Sheet1!$B$2:$B$3</c:f>
              <c:numCache>
                <c:formatCode>General</c:formatCode>
                <c:ptCount val="2"/>
                <c:pt idx="0">
                  <c:v>69</c:v>
                </c:pt>
                <c:pt idx="1">
                  <c:v>31</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رحّب بالطلاب بأسمائهم، وتأكد من جلوسهم في مجموعاتهم وجاهزية الأدوات. اسأل عن حالهم سريعًا (تهيئة نفسية).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اقرأ مع الطلاب قيمتي اليوم (العمل الجماعي والتفكير النقدي)، واربطهما بما سيحدث في الحصة.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ذكّر بقوانين الصف بسرعة (30 ثانية) واطلب من طالب قراءة القانونين 7 و 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وضّح أن المجموعات ستجمع الأوسمة خلال الحصة، وأن النتيجة تُعلن في الختام.</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قبلي بصري: يصوّت الطلاب برفع الأيدي أو البطاقات. لا تُعطِ الإجابة الآن؛ ستُحسم في شريحة «نصحّح مفهومًا».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الإجابات: 1) صح  2) خطأ – تعيد المحللات المادة إلى البيئة  3) صح. اربط الإجابة 1 بالقسم السابق (انتقال الطاقة).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اسأل: «من خلال اللغز، ماذا تتوقعون أن نتعلم؟» استمع لتوقعات 2–3 طلاب، ثم اضغط لإظهار الهدف، ثم اضغط مرة أخرى لإظهار النواتج. اقرأ كل ناتج واطلب من طالب شرحه بلغته. النواتج تبقى ظاهرة في لوحة نواتج التعلم طوال الحصة.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اعرض خط سير الحصة سريعًا (20 ثانية) ليعرف الطلاب ما سيحدث ومتى.</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اطلب من كل مجموعة توقّع معنى المصطلح قبل إظهار التعريف (اضغط على المصطلح). نبّه إلى تحليل كلمة «جيو–كيميائية–حيوية».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إجابة سؤال فاهم: ستنضب المواد المغذية في النهاية وتتوقف الحياة. التكامل مع الكيمياء: قانون حفظ المادة. أكّد الفرق: الطاقة لا تُعاد دورتها لأنها تُفقد حرارةً، أما المادة فتُعاد دورتها.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الأول. اضغط على رقم العبارة لإظهار تصنيفها بعد إجابة المجموعة. إجابة تحدي شاهين: لأن الطاقة تُفقد على شكل حرارة عند كل مستوى ولا تُعاد دورتها، أما المادة فتُعاد دورتها باستمرار.</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اسأل (الثقافة المرئية): «اشرح كيف يستمر تدوير المواد المغذية في الشكل 16». الإجابة: تحصل الأعشاب على المواد من الهواء والتربة والماء، وتنتقل إلى البقرة ثم إلى المستهلك التالي، وتعيد المحللات المواد إلى الدورة عند كل مستوى. اربط بالكيمياء: تحوّل النباتات العناصر إلى جزيئات عضوية.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الثاني (تطبيق في سياق محلي). بعد انتهاء الوقت اضغط «إظهار الإجابة». معلومة: شجرة الغاف هي الشجرة الوطنية لدولة الإمارات، وأوراقها غذاء مهم للإبل.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استراتيجية القراءة (النمذجة): اقرأ الجملة الأولى بصوت واضح، ثم يكمل الطلاب. اضغط على الرقم 1 أو 2 لإظهار الإجابة. هذه الشريحة ضمن الناتج الثالث.</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اضغط على الفيديو لتشغيله (49 ثانية). الترتيب الصحيح: التبخّر ← التكاثف ← الهطول ← الجريان إلى الأنهار والمياه الجوفية.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ناقش: أين يوجد أكبر مستودع للمياه على الأرض؟ (المحيطات). اربط بعلوم الأرض: الطاقة الشمسية محرّك دورة الماء.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المياه العذبة نحو 3% فقط من مياه الأرض، و69% منها متجمدة في القمم والجبال الجليدية. التكامل مع الرياضيات: النسبة المئوية. الربط بالواقع: التحلية والاستمطار في الإمارات، وترشيد الاستهلاك.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الثالث: تحدد كل مجموعة اسم العملية لكل رقم (1 التبخّر، 2 التكاثف، 3 الهطول، 4 الجريان السطحي، 5 النتح). اضغط «الإجابات» للتصحيح، واضغط على خيار سؤال TIMSS لإظهار ✓/✗ (الإجابة: النتح). تحدي شاهين: الماء العذب قليل (3%)، والإمارات تعتمد على التحلية والاستمطار والمياه الجوفية.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اسأل: كم مرة يمكن لجزيء ماء سليم أن ينتقل في الأجزاء غير الحيوية؟ (إلى ما لا نهاية). وفي الأجزاء الحيوية؟ (لا ينتقل سليمًا غالبًا؛ يحلّل البناء الضوئي والتنفس جزيئات الماء ويكوّنان جزيئات جديدة). اضغط لإظهار البطاقتين بالتتابع.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لخّص مع الطلاب بسؤالهم: «ما الفكرة الأهم اليوم؟». ثم اعرض الخريطة واطلب من طالب شرح فرع منها.</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يرفع كل طالب عدد أصابع يعبّر عن مستواه في كل ناتج (1 أتقنته، 2 أحتاج إلى تدريب، 3 أحتاج إلى مساعدة). دوّن أسماء من يحتاجون إلى دعم للمتابعة غدًا.</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إجابات بطاقة الخروج: 1) (ج) الطاقة. 2) التبخّر ← التكاثف ← الهطول ← الجريان السطحي. 3) لأن نحو 69% من المياه العذبة متجمدة في القمم والجبال الجليدية، والمياه العذبة أصلًا نحو 3% فقط من مياه الأرض. لأصحاب الهمم: اقرأ السؤال شفهيًا واقبل الإجابة بالإشارة أو الرسم.</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أعلن المجموعات الفائزة بالأوسمة، واشكر الطلاب. ذكّر بالمهمة المنزلية على المنصة. أغلق الحصة في الوقت المحدد.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5.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19.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20.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0.png"/><Relationship Id="rId6" Type="http://schemas.openxmlformats.org/officeDocument/2006/relationships/image" Target="../media/image6.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image" Target="../media/image32.pn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30.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0.png"/><Relationship Id="rId6" Type="http://schemas.openxmlformats.org/officeDocument/2006/relationships/image" Target="../media/image5.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7.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0.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0.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0.png"/><Relationship Id="rId6" Type="http://schemas.openxmlformats.org/officeDocument/2006/relationships/image" Target="../media/image23.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46.png"/><Relationship Id="rId9"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0" y="502920"/>
            <a:ext cx="6035040" cy="365760"/>
          </a:xfrm>
          <a:prstGeom prst="rect">
            <a:avLst/>
          </a:prstGeom>
          <a:noFill/>
        </p:spPr>
        <p:txBody>
          <a:bodyPr wrap="square" lIns="73152" rIns="73152" tIns="36576" bIns="36576" anchor="t"/>
          <a:lstStyle/>
          <a:p>
            <a:pPr algn="r" rtl="1"/>
            <a:r>
              <a:rPr sz="1400" b="1" i="0" lang="ar-AE" altLang="en-US">
                <a:solidFill>
                  <a:srgbClr val="5A687D"/>
                </a:solidFill>
                <a:latin typeface="Arial"/>
                <a:cs typeface="Arial"/>
              </a:rPr>
              <a:t>مدرسة الخالدية – الحلقة الثالثة بنين – الشرقية</a:t>
            </a:r>
          </a:p>
        </p:txBody>
      </p:sp>
      <p:sp>
        <p:nvSpPr>
          <p:cNvPr id="4" name="Rounded Rectangle 3"/>
          <p:cNvSpPr/>
          <p:nvPr/>
        </p:nvSpPr>
        <p:spPr>
          <a:xfrm>
            <a:off x="8732520" y="960120"/>
            <a:ext cx="2971800" cy="420624"/>
          </a:xfrm>
          <a:prstGeom prst="roundRect">
            <a:avLst>
              <a:gd name="adj" fmla="val 43478"/>
            </a:avLst>
          </a:prstGeom>
          <a:solidFill>
            <a:srgbClr val="102A43"/>
          </a:solidFill>
          <a:ln>
            <a:noFill/>
          </a:ln>
        </p:spPr>
        <p:txBody>
          <a:bodyPr rtlCol="0" anchor="ctr" lIns="73152" rIns="73152" tIns="36576" bIns="36576" wrap="square"/>
          <a:lstStyle/>
          <a:p>
            <a:pPr algn="ctr" rtl="1"/>
            <a:r>
              <a:rPr sz="1400" b="1" i="0" lang="ar-AE" altLang="en-US">
                <a:solidFill>
                  <a:srgbClr val="FFFFFF"/>
                </a:solidFill>
                <a:latin typeface="Arial"/>
                <a:cs typeface="Arial"/>
              </a:rPr>
              <a:t>العلوم | الصف التاسع العام</a:t>
            </a:r>
          </a:p>
        </p:txBody>
      </p:sp>
      <p:sp>
        <p:nvSpPr>
          <p:cNvPr id="5" name="TextBox 4"/>
          <p:cNvSpPr txBox="1"/>
          <p:nvPr/>
        </p:nvSpPr>
        <p:spPr>
          <a:xfrm>
            <a:off x="5120640" y="1481328"/>
            <a:ext cx="6583680" cy="960120"/>
          </a:xfrm>
          <a:prstGeom prst="rect">
            <a:avLst/>
          </a:prstGeom>
          <a:noFill/>
        </p:spPr>
        <p:txBody>
          <a:bodyPr wrap="square" lIns="73152" rIns="73152" tIns="36576" bIns="36576" anchor="ctr"/>
          <a:lstStyle/>
          <a:p>
            <a:pPr algn="r" rtl="1"/>
            <a:r>
              <a:rPr sz="6000" b="1" i="0" lang="ar-AE" altLang="en-US">
                <a:solidFill>
                  <a:srgbClr val="102A43"/>
                </a:solidFill>
                <a:latin typeface="Arial"/>
                <a:cs typeface="Arial"/>
              </a:rPr>
              <a:t>تدوير المادة</a:t>
            </a:r>
          </a:p>
        </p:txBody>
      </p:sp>
      <p:sp>
        <p:nvSpPr>
          <p:cNvPr id="6" name="TextBox 5"/>
          <p:cNvSpPr txBox="1"/>
          <p:nvPr/>
        </p:nvSpPr>
        <p:spPr>
          <a:xfrm>
            <a:off x="5120640" y="2468880"/>
            <a:ext cx="6583680" cy="594360"/>
          </a:xfrm>
          <a:prstGeom prst="rect">
            <a:avLst/>
          </a:prstGeom>
          <a:noFill/>
        </p:spPr>
        <p:txBody>
          <a:bodyPr wrap="square" lIns="73152" rIns="73152" tIns="36576" bIns="36576" anchor="ctr"/>
          <a:lstStyle/>
          <a:p>
            <a:pPr algn="r" rtl="1"/>
            <a:r>
              <a:rPr sz="2800" b="1" i="0" lang="ar-AE" altLang="en-US">
                <a:solidFill>
                  <a:srgbClr val="1E88C8"/>
                </a:solidFill>
                <a:latin typeface="Arial"/>
                <a:cs typeface="Arial"/>
              </a:rPr>
              <a:t>الحصة الأولى: المادة ودورة الماء</a:t>
            </a:r>
          </a:p>
        </p:txBody>
      </p:sp>
      <p:sp>
        <p:nvSpPr>
          <p:cNvPr id="7" name="TextBox 6"/>
          <p:cNvSpPr txBox="1"/>
          <p:nvPr/>
        </p:nvSpPr>
        <p:spPr>
          <a:xfrm>
            <a:off x="5120640" y="3072384"/>
            <a:ext cx="6583680" cy="411480"/>
          </a:xfrm>
          <a:prstGeom prst="rect">
            <a:avLst/>
          </a:prstGeom>
          <a:noFill/>
        </p:spPr>
        <p:txBody>
          <a:bodyPr wrap="square" lIns="73152" rIns="73152" tIns="36576" bIns="36576" anchor="ctr"/>
          <a:lstStyle/>
          <a:p>
            <a:pPr algn="r" rtl="1"/>
            <a:r>
              <a:rPr sz="1700" b="1" i="0" lang="ar-AE" altLang="en-US">
                <a:solidFill>
                  <a:srgbClr val="5A687D"/>
                </a:solidFill>
                <a:latin typeface="Arial"/>
                <a:cs typeface="Arial"/>
              </a:rPr>
              <a:t>الوحدة الأولى: مبادئ علم البيئة  |  القسم الثالث</a:t>
            </a:r>
          </a:p>
        </p:txBody>
      </p:sp>
      <p:sp>
        <p:nvSpPr>
          <p:cNvPr id="8" name="Rounded Rectangle 7"/>
          <p:cNvSpPr/>
          <p:nvPr/>
        </p:nvSpPr>
        <p:spPr>
          <a:xfrm>
            <a:off x="7086600" y="3675887"/>
            <a:ext cx="4617720" cy="512064"/>
          </a:xfrm>
          <a:prstGeom prst="roundRect">
            <a:avLst>
              <a:gd name="adj" fmla="val 50000"/>
            </a:avLst>
          </a:prstGeom>
          <a:solidFill>
            <a:srgbClr val="FFFFFF"/>
          </a:solidFill>
          <a:ln w="190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9" name="Picture 8" descr="clock_g.png"/>
          <p:cNvPicPr>
            <a:picLocks noChangeAspect="1"/>
          </p:cNvPicPr>
          <p:nvPr/>
        </p:nvPicPr>
        <p:blipFill>
          <a:blip r:embed="rId3"/>
          <a:stretch>
            <a:fillRect/>
          </a:stretch>
        </p:blipFill>
        <p:spPr>
          <a:xfrm>
            <a:off x="11265408" y="3767328"/>
            <a:ext cx="329184" cy="329184"/>
          </a:xfrm>
          <a:prstGeom prst="rect">
            <a:avLst/>
          </a:prstGeom>
        </p:spPr>
      </p:pic>
      <p:sp>
        <p:nvSpPr>
          <p:cNvPr id="10" name="TextBox 9"/>
          <p:cNvSpPr txBox="1"/>
          <p:nvPr/>
        </p:nvSpPr>
        <p:spPr>
          <a:xfrm>
            <a:off x="7132320" y="3675887"/>
            <a:ext cx="4069080" cy="512064"/>
          </a:xfrm>
          <a:prstGeom prst="rect">
            <a:avLst/>
          </a:prstGeom>
          <a:noFill/>
        </p:spPr>
        <p:txBody>
          <a:bodyPr wrap="none" lIns="73152" rIns="73152" tIns="36576" bIns="36576" anchor="ctr"/>
          <a:lstStyle/>
          <a:p>
            <a:pPr algn="ctr" rtl="1"/>
            <a:r>
              <a:rPr sz="1500" b="1" i="0" lang="ar-AE" altLang="en-US">
                <a:solidFill>
                  <a:srgbClr val="102A43"/>
                </a:solidFill>
                <a:latin typeface="Arial"/>
                <a:cs typeface="Arial"/>
              </a:rPr>
              <a:t>الحصة 1 من 4  •  </a:t>
            </a:r>
            <a:r>
              <a:rPr sz="1500" b="1" i="0" lang="ar-AE" altLang="en-US">
                <a:solidFill>
                  <a:srgbClr val="1E88C8"/>
                </a:solidFill>
                <a:latin typeface="Arial"/>
                <a:cs typeface="Arial"/>
              </a:rPr>
              <a:t>الاثنين  21/9/2026</a:t>
            </a:r>
          </a:p>
        </p:txBody>
      </p:sp>
      <p:sp>
        <p:nvSpPr>
          <p:cNvPr id="11" name="Rounded Rectangle 10"/>
          <p:cNvSpPr/>
          <p:nvPr/>
        </p:nvSpPr>
        <p:spPr>
          <a:xfrm>
            <a:off x="5120640" y="4370832"/>
            <a:ext cx="6583680" cy="822960"/>
          </a:xfrm>
          <a:prstGeom prst="roundRect">
            <a:avLst>
              <a:gd name="adj" fmla="val 16666"/>
            </a:avLst>
          </a:prstGeom>
          <a:solidFill>
            <a:srgbClr val="FBF5E8"/>
          </a:solidFill>
          <a:ln w="12700">
            <a:solidFill>
              <a:srgbClr val="E6D5B0"/>
            </a:solidFill>
          </a:ln>
        </p:spPr>
        <p:txBody>
          <a:bodyPr rtlCol="0" anchor="ctr" lIns="164592" rIns="164592" wrap="square"/>
          <a:lstStyle/>
          <a:p>
            <a:pPr algn="r" rtl="1"/>
            <a:r>
              <a:rPr sz="1600" b="1" i="0" lang="ar-AE" altLang="en-US">
                <a:solidFill>
                  <a:srgbClr val="102A43"/>
                </a:solidFill>
                <a:latin typeface="Arial"/>
                <a:cs typeface="Arial"/>
              </a:rPr>
              <a:t>لغز اليوم: هل يمكن أن تكون قد شربتَ ماءً شربه ديناصور قبل ملايين السنين؟</a:t>
            </a:r>
          </a:p>
        </p:txBody>
      </p:sp>
      <p:sp>
        <p:nvSpPr>
          <p:cNvPr id="12" name="Oval 11"/>
          <p:cNvSpPr/>
          <p:nvPr/>
        </p:nvSpPr>
        <p:spPr>
          <a:xfrm>
            <a:off x="822960" y="1463039"/>
            <a:ext cx="3566160" cy="3566160"/>
          </a:xfrm>
          <a:prstGeom prst="ellipse">
            <a:avLst/>
          </a:prstGeom>
          <a:noFill/>
          <a:ln w="25400">
            <a:solidFill>
              <a:srgbClr val="D9C9A6"/>
            </a:solidFill>
          </a:ln>
        </p:spPr>
        <p:txBody>
          <a:bodyPr rtlCol="0" anchor="ctr" lIns="54864" rIns="54864" tIns="27432" bIns="27432"/>
          <a:lstStyle/>
          <a:p>
            <a:pPr algn="ctr"/>
          </a:p>
        </p:txBody>
      </p:sp>
      <p:sp>
        <p:nvSpPr>
          <p:cNvPr id="13" name="Oval 12"/>
          <p:cNvSpPr/>
          <p:nvPr/>
        </p:nvSpPr>
        <p:spPr>
          <a:xfrm>
            <a:off x="1124712" y="1764791"/>
            <a:ext cx="2962656" cy="2962656"/>
          </a:xfrm>
          <a:prstGeom prst="ellipse">
            <a:avLst/>
          </a:prstGeom>
          <a:noFill/>
          <a:ln w="38100">
            <a:solidFill>
              <a:srgbClr val="1E88C8"/>
            </a:solidFill>
          </a:ln>
        </p:spPr>
        <p:txBody>
          <a:bodyPr rtlCol="0" anchor="ctr" lIns="54864" rIns="54864" tIns="27432" bIns="27432"/>
          <a:lstStyle/>
          <a:p>
            <a:pPr algn="ctr"/>
          </a:p>
        </p:txBody>
      </p:sp>
      <p:sp>
        <p:nvSpPr>
          <p:cNvPr id="14" name="Oval 13"/>
          <p:cNvSpPr/>
          <p:nvPr/>
        </p:nvSpPr>
        <p:spPr>
          <a:xfrm>
            <a:off x="1581912" y="2221991"/>
            <a:ext cx="2048256" cy="2048256"/>
          </a:xfrm>
          <a:prstGeom prst="ellipse">
            <a:avLst/>
          </a:prstGeom>
          <a:solidFill>
            <a:srgbClr val="1E88C8"/>
          </a:solidFill>
          <a:ln>
            <a:no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5" name="Picture 14" descr="drop_w.png"/>
          <p:cNvPicPr>
            <a:picLocks noChangeAspect="1"/>
          </p:cNvPicPr>
          <p:nvPr/>
        </p:nvPicPr>
        <p:blipFill>
          <a:blip r:embed="rId4"/>
          <a:stretch>
            <a:fillRect/>
          </a:stretch>
        </p:blipFill>
        <p:spPr>
          <a:xfrm>
            <a:off x="2039112" y="2679191"/>
            <a:ext cx="1133856" cy="1133856"/>
          </a:xfrm>
          <a:prstGeom prst="rect">
            <a:avLst/>
          </a:prstGeom>
        </p:spPr>
      </p:pic>
      <p:pic>
        <p:nvPicPr>
          <p:cNvPr id="16" name="Picture 15" descr="badge_fahem.png"/>
          <p:cNvPicPr>
            <a:picLocks noChangeAspect="1"/>
          </p:cNvPicPr>
          <p:nvPr/>
        </p:nvPicPr>
        <p:blipFill>
          <a:blip r:embed="rId5"/>
          <a:stretch>
            <a:fillRect/>
          </a:stretch>
        </p:blipFill>
        <p:spPr>
          <a:xfrm>
            <a:off x="2139696" y="948619"/>
            <a:ext cx="932688" cy="1028841"/>
          </a:xfrm>
          <a:prstGeom prst="rect">
            <a:avLst/>
          </a:prstGeom>
        </p:spPr>
      </p:pic>
      <p:pic>
        <p:nvPicPr>
          <p:cNvPr id="17" name="Picture 16" descr="badge_hessa.png"/>
          <p:cNvPicPr>
            <a:picLocks noChangeAspect="1"/>
          </p:cNvPicPr>
          <p:nvPr/>
        </p:nvPicPr>
        <p:blipFill>
          <a:blip r:embed="rId6"/>
          <a:stretch>
            <a:fillRect/>
          </a:stretch>
        </p:blipFill>
        <p:spPr>
          <a:xfrm>
            <a:off x="3835505" y="2211145"/>
            <a:ext cx="932688" cy="967944"/>
          </a:xfrm>
          <a:prstGeom prst="rect">
            <a:avLst/>
          </a:prstGeom>
        </p:spPr>
      </p:pic>
      <p:pic>
        <p:nvPicPr>
          <p:cNvPr id="18" name="Picture 17" descr="badge_shaheen.png"/>
          <p:cNvPicPr>
            <a:picLocks noChangeAspect="1"/>
          </p:cNvPicPr>
          <p:nvPr/>
        </p:nvPicPr>
        <p:blipFill>
          <a:blip r:embed="rId7"/>
          <a:stretch>
            <a:fillRect/>
          </a:stretch>
        </p:blipFill>
        <p:spPr>
          <a:xfrm>
            <a:off x="3187764" y="4206292"/>
            <a:ext cx="932688" cy="964739"/>
          </a:xfrm>
          <a:prstGeom prst="rect">
            <a:avLst/>
          </a:prstGeom>
        </p:spPr>
      </p:pic>
      <p:pic>
        <p:nvPicPr>
          <p:cNvPr id="19" name="Picture 18" descr="badge_maha.png"/>
          <p:cNvPicPr>
            <a:picLocks noChangeAspect="1"/>
          </p:cNvPicPr>
          <p:nvPr/>
        </p:nvPicPr>
        <p:blipFill>
          <a:blip r:embed="rId8"/>
          <a:stretch>
            <a:fillRect/>
          </a:stretch>
        </p:blipFill>
        <p:spPr>
          <a:xfrm>
            <a:off x="1091627" y="4153408"/>
            <a:ext cx="932688" cy="1070507"/>
          </a:xfrm>
          <a:prstGeom prst="rect">
            <a:avLst/>
          </a:prstGeom>
        </p:spPr>
      </p:pic>
      <p:pic>
        <p:nvPicPr>
          <p:cNvPr id="20" name="Picture 19" descr="badge_ahmed.png"/>
          <p:cNvPicPr>
            <a:picLocks noChangeAspect="1"/>
          </p:cNvPicPr>
          <p:nvPr/>
        </p:nvPicPr>
        <p:blipFill>
          <a:blip r:embed="rId9"/>
          <a:stretch>
            <a:fillRect/>
          </a:stretch>
        </p:blipFill>
        <p:spPr>
          <a:xfrm>
            <a:off x="443886" y="2201530"/>
            <a:ext cx="932688" cy="987174"/>
          </a:xfrm>
          <a:prstGeom prst="rect">
            <a:avLst/>
          </a:prstGeom>
        </p:spPr>
      </p:pic>
      <p:sp>
        <p:nvSpPr>
          <p:cNvPr id="21" name="TextBox 20"/>
          <p:cNvSpPr txBox="1"/>
          <p:nvPr/>
        </p:nvSpPr>
        <p:spPr>
          <a:xfrm>
            <a:off x="365760" y="5742432"/>
            <a:ext cx="4480560" cy="384048"/>
          </a:xfrm>
          <a:prstGeom prst="rect">
            <a:avLst/>
          </a:prstGeom>
          <a:noFill/>
        </p:spPr>
        <p:txBody>
          <a:bodyPr wrap="square" lIns="73152" rIns="73152" tIns="36576" bIns="36576" anchor="ctr"/>
          <a:lstStyle/>
          <a:p>
            <a:pPr algn="ctr" rtl="1"/>
            <a:r>
              <a:rPr sz="2000" b="1" i="0" lang="ar-AE" altLang="en-US">
                <a:solidFill>
                  <a:srgbClr val="9A7B3F"/>
                </a:solidFill>
                <a:latin typeface="Arial"/>
                <a:cs typeface="Arial"/>
              </a:rPr>
              <a:t>بالميثاق نبلغ الآفاق</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rtlCol="0" anchor="ctr" lIns="54864" rIns="54864" tIns="27432" bIns="27432"/>
          <a:lstStyle/>
          <a:p>
            <a:pPr algn="ctr"/>
          </a:p>
        </p:txBody>
      </p:sp>
      <p:sp>
        <p:nvSpPr>
          <p:cNvPr id="4" name="Rectangle 3"/>
          <p:cNvSpPr/>
          <p:nvPr/>
        </p:nvSpPr>
        <p:spPr>
          <a:xfrm>
            <a:off x="7762875" y="1219200"/>
            <a:ext cx="3314700" cy="38100"/>
          </a:xfrm>
          <a:prstGeom prst="rect">
            <a:avLst/>
          </a:prstGeom>
          <a:solidFill>
            <a:srgbClr val="C8B08A"/>
          </a:solidFill>
          <a:ln>
            <a:noFill/>
          </a:ln>
        </p:spPr>
        <p:txBody>
          <a:bodyPr rtlCol="0" anchor="ctr" lIns="54864" rIns="54864" tIns="27432" bIns="27432"/>
          <a:lstStyle/>
          <a:p>
            <a:pPr algn="ctr"/>
          </a:p>
        </p:txBody>
      </p:sp>
      <p:sp>
        <p:nvSpPr>
          <p:cNvPr id="5" name="TextBox 4"/>
          <p:cNvSpPr txBox="1"/>
          <p:nvPr/>
        </p:nvSpPr>
        <p:spPr>
          <a:xfrm>
            <a:off x="7286625" y="438150"/>
            <a:ext cx="4267200" cy="781050"/>
          </a:xfrm>
          <a:prstGeom prst="rect">
            <a:avLst/>
          </a:prstGeom>
          <a:noFill/>
        </p:spPr>
        <p:txBody>
          <a:bodyPr wrap="square" lIns="45720" rIns="45720" tIns="0" bIns="0" anchor="ctr"/>
          <a:lstStyle/>
          <a:p>
            <a:pPr algn="ctr" rtl="1"/>
            <a:r>
              <a:rPr sz="2600" b="0" i="0" lang="ar-AE" altLang="en-US">
                <a:solidFill>
                  <a:srgbClr val="FFFFFF"/>
                </a:solidFill>
                <a:latin typeface="Arial"/>
                <a:cs typeface="Arial"/>
              </a:rPr>
              <a:t>الميثاق الوطني للتعليم</a:t>
            </a:r>
          </a:p>
        </p:txBody>
      </p:sp>
      <p:sp>
        <p:nvSpPr>
          <p:cNvPr id="6" name="TextBox 5"/>
          <p:cNvSpPr txBox="1"/>
          <p:nvPr/>
        </p:nvSpPr>
        <p:spPr>
          <a:xfrm>
            <a:off x="548640" y="566928"/>
            <a:ext cx="5943600" cy="457200"/>
          </a:xfrm>
          <a:prstGeom prst="rect">
            <a:avLst/>
          </a:prstGeom>
          <a:noFill/>
        </p:spPr>
        <p:txBody>
          <a:bodyPr wrap="square" lIns="73152" rIns="73152" tIns="36576" bIns="36576" anchor="ctr"/>
          <a:lstStyle/>
          <a:p>
            <a:pPr algn="r" rtl="1"/>
            <a:r>
              <a:rPr sz="1800" b="1" i="0" lang="ar-AE" altLang="en-US">
                <a:solidFill>
                  <a:srgbClr val="5A687D"/>
                </a:solidFill>
                <a:latin typeface="Arial"/>
                <a:cs typeface="Arial"/>
              </a:rPr>
              <a:t>قيمٌ نعيشها في حصتنا اليوم… بالميثاق نبلغ الآفاق</a:t>
            </a:r>
          </a:p>
        </p:txBody>
      </p:sp>
      <p:sp>
        <p:nvSpPr>
          <p:cNvPr id="7" name="Rounded Rectangle 6"/>
          <p:cNvSpPr/>
          <p:nvPr/>
        </p:nvSpPr>
        <p:spPr>
          <a:xfrm>
            <a:off x="7985455"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8" name="Oval 7"/>
          <p:cNvSpPr/>
          <p:nvPr/>
        </p:nvSpPr>
        <p:spPr>
          <a:xfrm>
            <a:off x="10545775" y="1682496"/>
            <a:ext cx="749808" cy="749808"/>
          </a:xfrm>
          <a:prstGeom prst="ellipse">
            <a:avLst/>
          </a:prstGeom>
          <a:solidFill>
            <a:srgbClr val="2E5D7B"/>
          </a:solidFill>
          <a:ln>
            <a:noFill/>
          </a:ln>
        </p:spPr>
        <p:txBody>
          <a:bodyPr rtlCol="0" anchor="ctr" lIns="54864" rIns="54864" tIns="27432" bIns="27432"/>
          <a:lstStyle/>
          <a:p>
            <a:pPr algn="ctr"/>
          </a:p>
        </p:txBody>
      </p:sp>
      <p:pic>
        <p:nvPicPr>
          <p:cNvPr id="9" name="Picture 8" descr="clip_w.png"/>
          <p:cNvPicPr>
            <a:picLocks noChangeAspect="1"/>
          </p:cNvPicPr>
          <p:nvPr/>
        </p:nvPicPr>
        <p:blipFill>
          <a:blip r:embed="rId3"/>
          <a:stretch>
            <a:fillRect/>
          </a:stretch>
        </p:blipFill>
        <p:spPr>
          <a:xfrm>
            <a:off x="10710732" y="1847453"/>
            <a:ext cx="419892" cy="419892"/>
          </a:xfrm>
          <a:prstGeom prst="rect">
            <a:avLst/>
          </a:prstGeom>
        </p:spPr>
      </p:pic>
      <p:sp>
        <p:nvSpPr>
          <p:cNvPr id="10" name="TextBox 9"/>
          <p:cNvSpPr txBox="1"/>
          <p:nvPr/>
        </p:nvSpPr>
        <p:spPr>
          <a:xfrm>
            <a:off x="8122615"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التنظيم الذاتي والانضباط</a:t>
            </a:r>
          </a:p>
        </p:txBody>
      </p:sp>
      <p:sp>
        <p:nvSpPr>
          <p:cNvPr id="11" name="TextBox 10"/>
          <p:cNvSpPr txBox="1"/>
          <p:nvPr/>
        </p:nvSpPr>
        <p:spPr>
          <a:xfrm>
            <a:off x="8150047"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نلتزم بالوقت المحدد لكل نشاط ونحافظ على هدوء المجموعة.</a:t>
            </a:r>
          </a:p>
        </p:txBody>
      </p:sp>
      <p:sp>
        <p:nvSpPr>
          <p:cNvPr id="12" name="Rounded Rectangle 11"/>
          <p:cNvSpPr/>
          <p:nvPr/>
        </p:nvSpPr>
        <p:spPr>
          <a:xfrm>
            <a:off x="4208983"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3" name="Oval 12"/>
          <p:cNvSpPr/>
          <p:nvPr/>
        </p:nvSpPr>
        <p:spPr>
          <a:xfrm>
            <a:off x="6769303" y="1682496"/>
            <a:ext cx="749808" cy="749808"/>
          </a:xfrm>
          <a:prstGeom prst="ellipse">
            <a:avLst/>
          </a:prstGeom>
          <a:solidFill>
            <a:srgbClr val="D9A21B"/>
          </a:solidFill>
          <a:ln>
            <a:noFill/>
          </a:ln>
        </p:spPr>
        <p:txBody>
          <a:bodyPr rtlCol="0" anchor="ctr" lIns="54864" rIns="54864" tIns="27432" bIns="27432"/>
          <a:lstStyle/>
          <a:p>
            <a:pPr algn="ctr"/>
          </a:p>
        </p:txBody>
      </p:sp>
      <p:pic>
        <p:nvPicPr>
          <p:cNvPr id="14" name="Picture 13" descr="bulb_w.png"/>
          <p:cNvPicPr>
            <a:picLocks noChangeAspect="1"/>
          </p:cNvPicPr>
          <p:nvPr/>
        </p:nvPicPr>
        <p:blipFill>
          <a:blip r:embed="rId4"/>
          <a:stretch>
            <a:fillRect/>
          </a:stretch>
        </p:blipFill>
        <p:spPr>
          <a:xfrm>
            <a:off x="6934260" y="1847453"/>
            <a:ext cx="419892" cy="419892"/>
          </a:xfrm>
          <a:prstGeom prst="rect">
            <a:avLst/>
          </a:prstGeom>
        </p:spPr>
      </p:pic>
      <p:sp>
        <p:nvSpPr>
          <p:cNvPr id="15" name="TextBox 14"/>
          <p:cNvSpPr txBox="1"/>
          <p:nvPr/>
        </p:nvSpPr>
        <p:spPr>
          <a:xfrm>
            <a:off x="4346143"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الإبداع</a:t>
            </a:r>
          </a:p>
        </p:txBody>
      </p:sp>
      <p:sp>
        <p:nvSpPr>
          <p:cNvPr id="16" name="TextBox 15"/>
          <p:cNvSpPr txBox="1"/>
          <p:nvPr/>
        </p:nvSpPr>
        <p:spPr>
          <a:xfrm>
            <a:off x="4373575"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نقترح أفكارًا مبتكرة لترشيد استهلاك الماء في البيت والمدرسة.</a:t>
            </a:r>
          </a:p>
        </p:txBody>
      </p:sp>
      <p:sp>
        <p:nvSpPr>
          <p:cNvPr id="17" name="Rounded Rectangle 16"/>
          <p:cNvSpPr/>
          <p:nvPr/>
        </p:nvSpPr>
        <p:spPr>
          <a:xfrm>
            <a:off x="432511"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8" name="Oval 17"/>
          <p:cNvSpPr/>
          <p:nvPr/>
        </p:nvSpPr>
        <p:spPr>
          <a:xfrm>
            <a:off x="2992831" y="1682496"/>
            <a:ext cx="749808" cy="749808"/>
          </a:xfrm>
          <a:prstGeom prst="ellipse">
            <a:avLst/>
          </a:prstGeom>
          <a:solidFill>
            <a:srgbClr val="C8102E"/>
          </a:solidFill>
          <a:ln>
            <a:noFill/>
          </a:ln>
        </p:spPr>
        <p:txBody>
          <a:bodyPr rtlCol="0" anchor="ctr" lIns="54864" rIns="54864" tIns="27432" bIns="27432"/>
          <a:lstStyle/>
          <a:p>
            <a:pPr algn="ctr"/>
          </a:p>
        </p:txBody>
      </p:sp>
      <p:pic>
        <p:nvPicPr>
          <p:cNvPr id="19" name="Picture 18" descr="flag_w.png"/>
          <p:cNvPicPr>
            <a:picLocks noChangeAspect="1"/>
          </p:cNvPicPr>
          <p:nvPr/>
        </p:nvPicPr>
        <p:blipFill>
          <a:blip r:embed="rId5"/>
          <a:stretch>
            <a:fillRect/>
          </a:stretch>
        </p:blipFill>
        <p:spPr>
          <a:xfrm>
            <a:off x="3157788" y="1847453"/>
            <a:ext cx="419892" cy="419892"/>
          </a:xfrm>
          <a:prstGeom prst="rect">
            <a:avLst/>
          </a:prstGeom>
        </p:spPr>
      </p:pic>
      <p:sp>
        <p:nvSpPr>
          <p:cNvPr id="20" name="TextBox 19"/>
          <p:cNvSpPr txBox="1"/>
          <p:nvPr/>
        </p:nvSpPr>
        <p:spPr>
          <a:xfrm>
            <a:off x="569671"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روح المبادرة والمثابرة</a:t>
            </a:r>
          </a:p>
        </p:txBody>
      </p:sp>
      <p:sp>
        <p:nvSpPr>
          <p:cNvPr id="21" name="TextBox 20"/>
          <p:cNvSpPr txBox="1"/>
          <p:nvPr/>
        </p:nvSpPr>
        <p:spPr>
          <a:xfrm>
            <a:off x="597103"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نبادر بالإجابة، ونحاول من جديد إن أخطأنا.</a:t>
            </a:r>
          </a:p>
        </p:txBody>
      </p:sp>
      <p:sp>
        <p:nvSpPr>
          <p:cNvPr id="22" name="Rounded Rectangle 21"/>
          <p:cNvSpPr/>
          <p:nvPr/>
        </p:nvSpPr>
        <p:spPr>
          <a:xfrm>
            <a:off x="7985455" y="3502152"/>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3" name="Oval 22"/>
          <p:cNvSpPr/>
          <p:nvPr/>
        </p:nvSpPr>
        <p:spPr>
          <a:xfrm>
            <a:off x="10545775" y="3703320"/>
            <a:ext cx="749808" cy="749808"/>
          </a:xfrm>
          <a:prstGeom prst="ellipse">
            <a:avLst/>
          </a:prstGeom>
          <a:solidFill>
            <a:srgbClr val="138955"/>
          </a:solidFill>
          <a:ln>
            <a:noFill/>
          </a:ln>
        </p:spPr>
        <p:txBody>
          <a:bodyPr rtlCol="0" anchor="ctr" lIns="54864" rIns="54864" tIns="27432" bIns="27432"/>
          <a:lstStyle/>
          <a:p>
            <a:pPr algn="ctr"/>
          </a:p>
        </p:txBody>
      </p:sp>
      <p:pic>
        <p:nvPicPr>
          <p:cNvPr id="24" name="Picture 23" descr="users_w.png"/>
          <p:cNvPicPr>
            <a:picLocks noChangeAspect="1"/>
          </p:cNvPicPr>
          <p:nvPr/>
        </p:nvPicPr>
        <p:blipFill>
          <a:blip r:embed="rId6"/>
          <a:stretch>
            <a:fillRect/>
          </a:stretch>
        </p:blipFill>
        <p:spPr>
          <a:xfrm>
            <a:off x="10710732" y="3868277"/>
            <a:ext cx="419892" cy="419892"/>
          </a:xfrm>
          <a:prstGeom prst="rect">
            <a:avLst/>
          </a:prstGeom>
        </p:spPr>
      </p:pic>
      <p:sp>
        <p:nvSpPr>
          <p:cNvPr id="25" name="TextBox 24"/>
          <p:cNvSpPr txBox="1"/>
          <p:nvPr/>
        </p:nvSpPr>
        <p:spPr>
          <a:xfrm>
            <a:off x="8122615"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العمل الجماعي</a:t>
            </a:r>
          </a:p>
        </p:txBody>
      </p:sp>
      <p:sp>
        <p:nvSpPr>
          <p:cNvPr id="26" name="TextBox 25"/>
          <p:cNvSpPr txBox="1"/>
          <p:nvPr/>
        </p:nvSpPr>
        <p:spPr>
          <a:xfrm>
            <a:off x="8150047"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نتعاون ونتأكد أن كل فرد في المجموعة فهم الإجابة.</a:t>
            </a:r>
          </a:p>
        </p:txBody>
      </p:sp>
      <p:sp>
        <p:nvSpPr>
          <p:cNvPr id="27" name="Rounded Rectangle 26"/>
          <p:cNvSpPr/>
          <p:nvPr/>
        </p:nvSpPr>
        <p:spPr>
          <a:xfrm>
            <a:off x="8095183" y="3337560"/>
            <a:ext cx="1234440" cy="329184"/>
          </a:xfrm>
          <a:prstGeom prst="roundRect">
            <a:avLst>
              <a:gd name="adj" fmla="val 50000"/>
            </a:avLst>
          </a:prstGeom>
          <a:solidFill>
            <a:srgbClr val="C9A96A"/>
          </a:solidFill>
          <a:ln>
            <a:noFill/>
          </a:ln>
        </p:spPr>
        <p:txBody>
          <a:bodyPr rtlCol="0" anchor="ctr" lIns="18288" rIns="18288" tIns="0" bIns="0" wrap="square"/>
          <a:lstStyle/>
          <a:p>
            <a:pPr algn="ctr" rtl="1"/>
            <a:r>
              <a:rPr sz="1150" b="1" i="0" lang="ar-AE" altLang="en-US">
                <a:solidFill>
                  <a:srgbClr val="102A43"/>
                </a:solidFill>
                <a:latin typeface="Arial"/>
                <a:cs typeface="Arial"/>
              </a:rPr>
              <a:t>★ قيمة اليوم</a:t>
            </a:r>
          </a:p>
        </p:txBody>
      </p:sp>
      <p:sp>
        <p:nvSpPr>
          <p:cNvPr id="28" name="Rounded Rectangle 27"/>
          <p:cNvSpPr/>
          <p:nvPr/>
        </p:nvSpPr>
        <p:spPr>
          <a:xfrm>
            <a:off x="4208983" y="3502152"/>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9" name="Oval 28"/>
          <p:cNvSpPr/>
          <p:nvPr/>
        </p:nvSpPr>
        <p:spPr>
          <a:xfrm>
            <a:off x="6769303" y="3703320"/>
            <a:ext cx="749808" cy="749808"/>
          </a:xfrm>
          <a:prstGeom prst="ellipse">
            <a:avLst/>
          </a:prstGeom>
          <a:solidFill>
            <a:srgbClr val="5B3B91"/>
          </a:solidFill>
          <a:ln>
            <a:noFill/>
          </a:ln>
        </p:spPr>
        <p:txBody>
          <a:bodyPr rtlCol="0" anchor="ctr" lIns="54864" rIns="54864" tIns="27432" bIns="27432"/>
          <a:lstStyle/>
          <a:p>
            <a:pPr algn="ctr"/>
          </a:p>
        </p:txBody>
      </p:sp>
      <p:pic>
        <p:nvPicPr>
          <p:cNvPr id="30" name="Picture 29" descr="brain_w.png"/>
          <p:cNvPicPr>
            <a:picLocks noChangeAspect="1"/>
          </p:cNvPicPr>
          <p:nvPr/>
        </p:nvPicPr>
        <p:blipFill>
          <a:blip r:embed="rId7"/>
          <a:stretch>
            <a:fillRect/>
          </a:stretch>
        </p:blipFill>
        <p:spPr>
          <a:xfrm>
            <a:off x="6934260" y="3868277"/>
            <a:ext cx="419892" cy="419892"/>
          </a:xfrm>
          <a:prstGeom prst="rect">
            <a:avLst/>
          </a:prstGeom>
        </p:spPr>
      </p:pic>
      <p:sp>
        <p:nvSpPr>
          <p:cNvPr id="31" name="TextBox 30"/>
          <p:cNvSpPr txBox="1"/>
          <p:nvPr/>
        </p:nvSpPr>
        <p:spPr>
          <a:xfrm>
            <a:off x="4346143"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التفكير النقدي</a:t>
            </a:r>
          </a:p>
        </p:txBody>
      </p:sp>
      <p:sp>
        <p:nvSpPr>
          <p:cNvPr id="32" name="TextBox 31"/>
          <p:cNvSpPr txBox="1"/>
          <p:nvPr/>
        </p:nvSpPr>
        <p:spPr>
          <a:xfrm>
            <a:off x="4373575"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نبحث عن الدليل: هل جزيء الماء نفسه يدور إلى الأبد؟</a:t>
            </a:r>
          </a:p>
        </p:txBody>
      </p:sp>
      <p:sp>
        <p:nvSpPr>
          <p:cNvPr id="33" name="Rounded Rectangle 32"/>
          <p:cNvSpPr/>
          <p:nvPr/>
        </p:nvSpPr>
        <p:spPr>
          <a:xfrm>
            <a:off x="4318711" y="3337560"/>
            <a:ext cx="1234440" cy="329184"/>
          </a:xfrm>
          <a:prstGeom prst="roundRect">
            <a:avLst>
              <a:gd name="adj" fmla="val 50000"/>
            </a:avLst>
          </a:prstGeom>
          <a:solidFill>
            <a:srgbClr val="C9A96A"/>
          </a:solidFill>
          <a:ln>
            <a:noFill/>
          </a:ln>
        </p:spPr>
        <p:txBody>
          <a:bodyPr rtlCol="0" anchor="ctr" lIns="18288" rIns="18288" tIns="0" bIns="0" wrap="square"/>
          <a:lstStyle/>
          <a:p>
            <a:pPr algn="ctr" rtl="1"/>
            <a:r>
              <a:rPr sz="1150" b="1" i="0" lang="ar-AE" altLang="en-US">
                <a:solidFill>
                  <a:srgbClr val="102A43"/>
                </a:solidFill>
                <a:latin typeface="Arial"/>
                <a:cs typeface="Arial"/>
              </a:rPr>
              <a:t>★ قيمة اليوم</a:t>
            </a:r>
          </a:p>
        </p:txBody>
      </p:sp>
      <p:sp>
        <p:nvSpPr>
          <p:cNvPr id="34" name="Rounded Rectangle 33"/>
          <p:cNvSpPr/>
          <p:nvPr/>
        </p:nvSpPr>
        <p:spPr>
          <a:xfrm>
            <a:off x="432511"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5" name="Oval 34"/>
          <p:cNvSpPr/>
          <p:nvPr/>
        </p:nvSpPr>
        <p:spPr>
          <a:xfrm>
            <a:off x="2992831" y="3703320"/>
            <a:ext cx="749808" cy="749808"/>
          </a:xfrm>
          <a:prstGeom prst="ellipse">
            <a:avLst/>
          </a:prstGeom>
          <a:solidFill>
            <a:srgbClr val="996B2F"/>
          </a:solidFill>
          <a:ln>
            <a:noFill/>
          </a:ln>
        </p:spPr>
        <p:txBody>
          <a:bodyPr rtlCol="0" anchor="ctr" lIns="54864" rIns="54864" tIns="27432" bIns="27432"/>
          <a:lstStyle/>
          <a:p>
            <a:pPr algn="ctr"/>
          </a:p>
        </p:txBody>
      </p:sp>
      <p:pic>
        <p:nvPicPr>
          <p:cNvPr id="36" name="Picture 35" descr="grad_w.png"/>
          <p:cNvPicPr>
            <a:picLocks noChangeAspect="1"/>
          </p:cNvPicPr>
          <p:nvPr/>
        </p:nvPicPr>
        <p:blipFill>
          <a:blip r:embed="rId8"/>
          <a:stretch>
            <a:fillRect/>
          </a:stretch>
        </p:blipFill>
        <p:spPr>
          <a:xfrm>
            <a:off x="3157788" y="3868277"/>
            <a:ext cx="419892" cy="419892"/>
          </a:xfrm>
          <a:prstGeom prst="rect">
            <a:avLst/>
          </a:prstGeom>
        </p:spPr>
      </p:pic>
      <p:sp>
        <p:nvSpPr>
          <p:cNvPr id="37" name="TextBox 36"/>
          <p:cNvSpPr txBox="1"/>
          <p:nvPr/>
        </p:nvSpPr>
        <p:spPr>
          <a:xfrm>
            <a:off x="569671"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التعلم المستمر</a:t>
            </a:r>
          </a:p>
        </p:txBody>
      </p:sp>
      <p:sp>
        <p:nvSpPr>
          <p:cNvPr id="38" name="TextBox 37"/>
          <p:cNvSpPr txBox="1"/>
          <p:nvPr/>
        </p:nvSpPr>
        <p:spPr>
          <a:xfrm>
            <a:off x="597103"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نربط ما نتعلمه بحياتنا: من المكيّف إلى محطات التحلية.</a:t>
            </a:r>
          </a:p>
        </p:txBody>
      </p:sp>
      <p:pic>
        <p:nvPicPr>
          <p:cNvPr id="39" name="Picture 38" descr="group_chars_cream.png"/>
          <p:cNvPicPr>
            <a:picLocks noChangeAspect="1"/>
          </p:cNvPicPr>
          <p:nvPr/>
        </p:nvPicPr>
        <p:blipFill>
          <a:blip r:embed="rId9"/>
          <a:stretch>
            <a:fillRect/>
          </a:stretch>
        </p:blipFill>
        <p:spPr>
          <a:xfrm>
            <a:off x="274320" y="5440680"/>
            <a:ext cx="1207008" cy="109728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ul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rtlCol="0" anchor="ctr" lIns="54864" rIns="54864" tIns="27432" bIns="27432"/>
          <a:lstStyle/>
          <a:p>
            <a:pPr algn="ctr"/>
          </a:p>
        </p:txBody>
      </p:sp>
      <p:sp>
        <p:nvSpPr>
          <p:cNvPr id="4" name="Rectangle 3"/>
          <p:cNvSpPr/>
          <p:nvPr/>
        </p:nvSpPr>
        <p:spPr>
          <a:xfrm>
            <a:off x="7762875" y="1219200"/>
            <a:ext cx="3314700" cy="38100"/>
          </a:xfrm>
          <a:prstGeom prst="rect">
            <a:avLst/>
          </a:prstGeom>
          <a:solidFill>
            <a:srgbClr val="C8B08A"/>
          </a:solidFill>
          <a:ln>
            <a:noFill/>
          </a:ln>
        </p:spPr>
        <p:txBody>
          <a:bodyPr rtlCol="0" anchor="ctr" lIns="54864" rIns="54864" tIns="27432" bIns="27432"/>
          <a:lstStyle/>
          <a:p>
            <a:pPr algn="ctr"/>
          </a:p>
        </p:txBody>
      </p:sp>
      <p:sp>
        <p:nvSpPr>
          <p:cNvPr id="5" name="TextBox 4"/>
          <p:cNvSpPr txBox="1"/>
          <p:nvPr/>
        </p:nvSpPr>
        <p:spPr>
          <a:xfrm>
            <a:off x="7286625" y="438150"/>
            <a:ext cx="4267200" cy="781050"/>
          </a:xfrm>
          <a:prstGeom prst="rect">
            <a:avLst/>
          </a:prstGeom>
          <a:noFill/>
        </p:spPr>
        <p:txBody>
          <a:bodyPr wrap="square" lIns="45720" rIns="45720" tIns="0" bIns="0" anchor="ctr"/>
          <a:lstStyle/>
          <a:p>
            <a:pPr algn="ctr" rtl="1"/>
            <a:r>
              <a:rPr sz="2600" b="0" i="0" lang="ar-AE" altLang="en-US">
                <a:solidFill>
                  <a:srgbClr val="FFFFFF"/>
                </a:solidFill>
                <a:latin typeface="Arial"/>
                <a:cs typeface="Arial"/>
              </a:rPr>
              <a:t>أوسمة أبطال الميثاق</a:t>
            </a:r>
          </a:p>
        </p:txBody>
      </p:sp>
      <p:sp>
        <p:nvSpPr>
          <p:cNvPr id="6" name="TextBox 5"/>
          <p:cNvSpPr txBox="1"/>
          <p:nvPr/>
        </p:nvSpPr>
        <p:spPr>
          <a:xfrm>
            <a:off x="548640" y="566928"/>
            <a:ext cx="6035040" cy="457200"/>
          </a:xfrm>
          <a:prstGeom prst="rect">
            <a:avLst/>
          </a:prstGeom>
          <a:noFill/>
        </p:spPr>
        <p:txBody>
          <a:bodyPr wrap="square" lIns="73152" rIns="73152" tIns="36576" bIns="36576" anchor="ctr"/>
          <a:lstStyle/>
          <a:p>
            <a:pPr algn="r" rtl="1"/>
            <a:r>
              <a:rPr sz="1800" b="1" i="0" lang="ar-AE" altLang="en-US">
                <a:solidFill>
                  <a:srgbClr val="5A687D"/>
                </a:solidFill>
                <a:latin typeface="Arial"/>
                <a:cs typeface="Arial"/>
              </a:rPr>
              <a:t>تتنافس المجموعات اليوم على خمسة أوسمة</a:t>
            </a:r>
          </a:p>
        </p:txBody>
      </p:sp>
      <p:sp>
        <p:nvSpPr>
          <p:cNvPr id="7" name="Rounded Rectangle 6"/>
          <p:cNvSpPr/>
          <p:nvPr/>
        </p:nvSpPr>
        <p:spPr>
          <a:xfrm>
            <a:off x="9579711"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8" name="Picture 7" descr="badge_hessa.png"/>
          <p:cNvPicPr>
            <a:picLocks noChangeAspect="1"/>
          </p:cNvPicPr>
          <p:nvPr/>
        </p:nvPicPr>
        <p:blipFill>
          <a:blip r:embed="rId3"/>
          <a:stretch>
            <a:fillRect/>
          </a:stretch>
        </p:blipFill>
        <p:spPr>
          <a:xfrm>
            <a:off x="9831171" y="1417320"/>
            <a:ext cx="1600200" cy="1660688"/>
          </a:xfrm>
          <a:prstGeom prst="rect">
            <a:avLst/>
          </a:prstGeom>
        </p:spPr>
      </p:pic>
      <p:sp>
        <p:nvSpPr>
          <p:cNvPr id="9" name="TextBox 8"/>
          <p:cNvSpPr txBox="1"/>
          <p:nvPr/>
        </p:nvSpPr>
        <p:spPr>
          <a:xfrm>
            <a:off x="9671151" y="3401568"/>
            <a:ext cx="1920239" cy="457200"/>
          </a:xfrm>
          <a:prstGeom prst="rect">
            <a:avLst/>
          </a:prstGeom>
          <a:noFill/>
        </p:spPr>
        <p:txBody>
          <a:bodyPr wrap="square" lIns="73152" rIns="73152" tIns="36576" bIns="36576" anchor="ctr"/>
          <a:lstStyle/>
          <a:p>
            <a:pPr algn="ctr" rtl="1"/>
            <a:r>
              <a:rPr sz="1900" b="1" i="0" lang="ar-AE" altLang="en-US">
                <a:solidFill>
                  <a:srgbClr val="7D1F2E"/>
                </a:solidFill>
                <a:latin typeface="Arial"/>
                <a:cs typeface="Arial"/>
              </a:rPr>
              <a:t>وسام حصة</a:t>
            </a:r>
          </a:p>
        </p:txBody>
      </p:sp>
      <p:sp>
        <p:nvSpPr>
          <p:cNvPr id="10" name="TextBox 9"/>
          <p:cNvSpPr txBox="1"/>
          <p:nvPr/>
        </p:nvSpPr>
        <p:spPr>
          <a:xfrm>
            <a:off x="9716871"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لأفضل تعاونٍ وعملٍ بروح الفريق</a:t>
            </a:r>
          </a:p>
        </p:txBody>
      </p:sp>
      <p:sp>
        <p:nvSpPr>
          <p:cNvPr id="11" name="Rounded Rectangle 10"/>
          <p:cNvSpPr/>
          <p:nvPr/>
        </p:nvSpPr>
        <p:spPr>
          <a:xfrm>
            <a:off x="7311999"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2" name="Picture 11" descr="badge_ahmed.png"/>
          <p:cNvPicPr>
            <a:picLocks noChangeAspect="1"/>
          </p:cNvPicPr>
          <p:nvPr/>
        </p:nvPicPr>
        <p:blipFill>
          <a:blip r:embed="rId4"/>
          <a:stretch>
            <a:fillRect/>
          </a:stretch>
        </p:blipFill>
        <p:spPr>
          <a:xfrm>
            <a:off x="7563459" y="1417320"/>
            <a:ext cx="1600200" cy="1693682"/>
          </a:xfrm>
          <a:prstGeom prst="rect">
            <a:avLst/>
          </a:prstGeom>
        </p:spPr>
      </p:pic>
      <p:sp>
        <p:nvSpPr>
          <p:cNvPr id="13" name="TextBox 12"/>
          <p:cNvSpPr txBox="1"/>
          <p:nvPr/>
        </p:nvSpPr>
        <p:spPr>
          <a:xfrm>
            <a:off x="7403439" y="3401568"/>
            <a:ext cx="1920239" cy="457200"/>
          </a:xfrm>
          <a:prstGeom prst="rect">
            <a:avLst/>
          </a:prstGeom>
          <a:noFill/>
        </p:spPr>
        <p:txBody>
          <a:bodyPr wrap="square" lIns="73152" rIns="73152" tIns="36576" bIns="36576" anchor="ctr"/>
          <a:lstStyle/>
          <a:p>
            <a:pPr algn="ctr" rtl="1"/>
            <a:r>
              <a:rPr sz="1900" b="1" i="0" lang="ar-AE" altLang="en-US">
                <a:solidFill>
                  <a:srgbClr val="1C2F5E"/>
                </a:solidFill>
                <a:latin typeface="Arial"/>
                <a:cs typeface="Arial"/>
              </a:rPr>
              <a:t>وسام أحمد</a:t>
            </a:r>
          </a:p>
        </p:txBody>
      </p:sp>
      <p:sp>
        <p:nvSpPr>
          <p:cNvPr id="14" name="TextBox 13"/>
          <p:cNvSpPr txBox="1"/>
          <p:nvPr/>
        </p:nvSpPr>
        <p:spPr>
          <a:xfrm>
            <a:off x="7449159"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للالتزام بالوقت والانضباط</a:t>
            </a:r>
          </a:p>
        </p:txBody>
      </p:sp>
      <p:sp>
        <p:nvSpPr>
          <p:cNvPr id="15" name="Rounded Rectangle 14"/>
          <p:cNvSpPr/>
          <p:nvPr/>
        </p:nvSpPr>
        <p:spPr>
          <a:xfrm>
            <a:off x="5044287"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6" name="Picture 15" descr="badge_fahem.png"/>
          <p:cNvPicPr>
            <a:picLocks noChangeAspect="1"/>
          </p:cNvPicPr>
          <p:nvPr/>
        </p:nvPicPr>
        <p:blipFill>
          <a:blip r:embed="rId5"/>
          <a:stretch>
            <a:fillRect/>
          </a:stretch>
        </p:blipFill>
        <p:spPr>
          <a:xfrm>
            <a:off x="5295747" y="1417320"/>
            <a:ext cx="1600200" cy="1765169"/>
          </a:xfrm>
          <a:prstGeom prst="rect">
            <a:avLst/>
          </a:prstGeom>
        </p:spPr>
      </p:pic>
      <p:sp>
        <p:nvSpPr>
          <p:cNvPr id="17" name="TextBox 16"/>
          <p:cNvSpPr txBox="1"/>
          <p:nvPr/>
        </p:nvSpPr>
        <p:spPr>
          <a:xfrm>
            <a:off x="5135727" y="3401568"/>
            <a:ext cx="1920239" cy="457200"/>
          </a:xfrm>
          <a:prstGeom prst="rect">
            <a:avLst/>
          </a:prstGeom>
          <a:noFill/>
        </p:spPr>
        <p:txBody>
          <a:bodyPr wrap="square" lIns="73152" rIns="73152" tIns="36576" bIns="36576" anchor="ctr"/>
          <a:lstStyle/>
          <a:p>
            <a:pPr algn="ctr" rtl="1"/>
            <a:r>
              <a:rPr sz="1900" b="1" i="0" lang="ar-AE" altLang="en-US">
                <a:solidFill>
                  <a:srgbClr val="1E6B3A"/>
                </a:solidFill>
                <a:latin typeface="Arial"/>
                <a:cs typeface="Arial"/>
              </a:rPr>
              <a:t>وسام فاهم</a:t>
            </a:r>
          </a:p>
        </p:txBody>
      </p:sp>
      <p:sp>
        <p:nvSpPr>
          <p:cNvPr id="18" name="TextBox 17"/>
          <p:cNvSpPr txBox="1"/>
          <p:nvPr/>
        </p:nvSpPr>
        <p:spPr>
          <a:xfrm>
            <a:off x="5181447"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للفكرة المبتكرة والسؤال الذكي</a:t>
            </a:r>
          </a:p>
        </p:txBody>
      </p:sp>
      <p:sp>
        <p:nvSpPr>
          <p:cNvPr id="19" name="Rounded Rectangle 18"/>
          <p:cNvSpPr/>
          <p:nvPr/>
        </p:nvSpPr>
        <p:spPr>
          <a:xfrm>
            <a:off x="2776575"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0" name="Picture 19" descr="badge_shaheen.png"/>
          <p:cNvPicPr>
            <a:picLocks noChangeAspect="1"/>
          </p:cNvPicPr>
          <p:nvPr/>
        </p:nvPicPr>
        <p:blipFill>
          <a:blip r:embed="rId6"/>
          <a:stretch>
            <a:fillRect/>
          </a:stretch>
        </p:blipFill>
        <p:spPr>
          <a:xfrm>
            <a:off x="3028035" y="1417320"/>
            <a:ext cx="1600200" cy="1655189"/>
          </a:xfrm>
          <a:prstGeom prst="rect">
            <a:avLst/>
          </a:prstGeom>
        </p:spPr>
      </p:pic>
      <p:sp>
        <p:nvSpPr>
          <p:cNvPr id="21" name="TextBox 20"/>
          <p:cNvSpPr txBox="1"/>
          <p:nvPr/>
        </p:nvSpPr>
        <p:spPr>
          <a:xfrm>
            <a:off x="2868015" y="3401568"/>
            <a:ext cx="1920239" cy="457200"/>
          </a:xfrm>
          <a:prstGeom prst="rect">
            <a:avLst/>
          </a:prstGeom>
          <a:noFill/>
        </p:spPr>
        <p:txBody>
          <a:bodyPr wrap="square" lIns="73152" rIns="73152" tIns="36576" bIns="36576" anchor="ctr"/>
          <a:lstStyle/>
          <a:p>
            <a:pPr algn="ctr" rtl="1"/>
            <a:r>
              <a:rPr sz="1900" b="1" i="0" lang="ar-AE" altLang="en-US">
                <a:solidFill>
                  <a:srgbClr val="6B3F1D"/>
                </a:solidFill>
                <a:latin typeface="Arial"/>
                <a:cs typeface="Arial"/>
              </a:rPr>
              <a:t>وسام شاهين</a:t>
            </a:r>
          </a:p>
        </p:txBody>
      </p:sp>
      <p:sp>
        <p:nvSpPr>
          <p:cNvPr id="22" name="TextBox 21"/>
          <p:cNvSpPr txBox="1"/>
          <p:nvPr/>
        </p:nvSpPr>
        <p:spPr>
          <a:xfrm>
            <a:off x="2913735"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لمن يتحدّى نفسه في سؤال التحدّي</a:t>
            </a:r>
          </a:p>
        </p:txBody>
      </p:sp>
      <p:sp>
        <p:nvSpPr>
          <p:cNvPr id="23" name="Rounded Rectangle 22"/>
          <p:cNvSpPr/>
          <p:nvPr/>
        </p:nvSpPr>
        <p:spPr>
          <a:xfrm>
            <a:off x="508863"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4" name="Picture 23" descr="badge_maha.png"/>
          <p:cNvPicPr>
            <a:picLocks noChangeAspect="1"/>
          </p:cNvPicPr>
          <p:nvPr/>
        </p:nvPicPr>
        <p:blipFill>
          <a:blip r:embed="rId7"/>
          <a:stretch>
            <a:fillRect/>
          </a:stretch>
        </p:blipFill>
        <p:spPr>
          <a:xfrm>
            <a:off x="760323" y="1417320"/>
            <a:ext cx="1600200" cy="1836655"/>
          </a:xfrm>
          <a:prstGeom prst="rect">
            <a:avLst/>
          </a:prstGeom>
        </p:spPr>
      </p:pic>
      <p:sp>
        <p:nvSpPr>
          <p:cNvPr id="25" name="TextBox 24"/>
          <p:cNvSpPr txBox="1"/>
          <p:nvPr/>
        </p:nvSpPr>
        <p:spPr>
          <a:xfrm>
            <a:off x="600303" y="3401568"/>
            <a:ext cx="1920239" cy="457200"/>
          </a:xfrm>
          <a:prstGeom prst="rect">
            <a:avLst/>
          </a:prstGeom>
          <a:noFill/>
        </p:spPr>
        <p:txBody>
          <a:bodyPr wrap="square" lIns="73152" rIns="73152" tIns="36576" bIns="36576" anchor="ctr"/>
          <a:lstStyle/>
          <a:p>
            <a:pPr algn="ctr" rtl="1"/>
            <a:r>
              <a:rPr sz="1900" b="1" i="0" lang="ar-AE" altLang="en-US">
                <a:solidFill>
                  <a:srgbClr val="0F7C73"/>
                </a:solidFill>
                <a:latin typeface="Arial"/>
                <a:cs typeface="Arial"/>
              </a:rPr>
              <a:t>وسام مها</a:t>
            </a:r>
          </a:p>
        </p:txBody>
      </p:sp>
      <p:sp>
        <p:nvSpPr>
          <p:cNvPr id="26" name="TextBox 25"/>
          <p:cNvSpPr txBox="1"/>
          <p:nvPr/>
        </p:nvSpPr>
        <p:spPr>
          <a:xfrm>
            <a:off x="646023"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لأفضل حلٍّ بيئي مستدام</a:t>
            </a:r>
          </a:p>
        </p:txBody>
      </p:sp>
      <p:sp>
        <p:nvSpPr>
          <p:cNvPr id="27" name="TextBox 26"/>
          <p:cNvSpPr txBox="1"/>
          <p:nvPr/>
        </p:nvSpPr>
        <p:spPr>
          <a:xfrm>
            <a:off x="2011680" y="5074920"/>
            <a:ext cx="8138160" cy="457200"/>
          </a:xfrm>
          <a:prstGeom prst="rect">
            <a:avLst/>
          </a:prstGeom>
          <a:noFill/>
        </p:spPr>
        <p:txBody>
          <a:bodyPr wrap="square" lIns="73152" rIns="73152" tIns="36576" bIns="36576" anchor="ctr"/>
          <a:lstStyle/>
          <a:p>
            <a:pPr algn="ctr" rtl="1"/>
            <a:r>
              <a:rPr sz="1700" b="1" i="0" lang="ar-AE" altLang="en-US">
                <a:solidFill>
                  <a:srgbClr val="102A43"/>
                </a:solidFill>
                <a:latin typeface="Arial"/>
                <a:cs typeface="Arial"/>
              </a:rPr>
              <a:t>في نهاية الحصة نعلن المجموعات الفائزة بالأوسمة ★</a:t>
            </a:r>
          </a:p>
        </p:txBody>
      </p:sp>
      <p:pic>
        <p:nvPicPr>
          <p:cNvPr id="28" name="Picture 27" descr="group_chars_cream.png"/>
          <p:cNvPicPr>
            <a:picLocks noChangeAspect="1"/>
          </p:cNvPicPr>
          <p:nvPr/>
        </p:nvPicPr>
        <p:blipFill>
          <a:blip r:embed="rId8"/>
          <a:stretch>
            <a:fillRect/>
          </a:stretch>
        </p:blipFill>
        <p:spPr>
          <a:xfrm>
            <a:off x="274320" y="5440680"/>
            <a:ext cx="1207008" cy="109728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219325" y="4748212"/>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145268" y="1344168"/>
            <a:ext cx="1714500"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التهيئة الحافزة</a:t>
            </a:r>
          </a:p>
        </p:txBody>
      </p:sp>
      <p:sp>
        <p:nvSpPr>
          <p:cNvPr id="21" name="TextBox 20"/>
          <p:cNvSpPr txBox="1"/>
          <p:nvPr/>
        </p:nvSpPr>
        <p:spPr>
          <a:xfrm>
            <a:off x="2606040" y="1280160"/>
            <a:ext cx="742950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لغز اليوم: هل شربتَ ماءً شربه ديناصور؟</a:t>
            </a:r>
          </a:p>
        </p:txBody>
      </p:sp>
      <p:pic>
        <p:nvPicPr>
          <p:cNvPr id="22" name="Picture 21" descr="dino.png"/>
          <p:cNvPicPr>
            <a:picLocks noChangeAspect="1"/>
          </p:cNvPicPr>
          <p:nvPr/>
        </p:nvPicPr>
        <p:blipFill>
          <a:blip r:embed="rId3"/>
          <a:stretch>
            <a:fillRect/>
          </a:stretch>
        </p:blipFill>
        <p:spPr>
          <a:xfrm>
            <a:off x="4114800" y="1901952"/>
            <a:ext cx="3886200" cy="2185987"/>
          </a:xfrm>
          <a:prstGeom prst="rect">
            <a:avLst/>
          </a:prstGeom>
          <a:ln w="31750">
            <a:solidFill>
              <a:srgbClr val="C9A96A"/>
            </a:solidFill>
          </a:ln>
          <a:effectLst>
            <a:outerShdw blurRad="76200" dist="31750" dir="5400000" algn="t" rotWithShape="0">
              <a:srgbClr val="1E2B3C">
                <a:alpha val="22000"/>
              </a:srgbClr>
            </a:outerShdw>
          </a:effectLst>
        </p:spPr>
      </p:pic>
      <p:pic>
        <p:nvPicPr>
          <p:cNvPr id="23" name="Picture 22" descr="badge_fahem.png"/>
          <p:cNvPicPr>
            <a:picLocks noChangeAspect="1"/>
          </p:cNvPicPr>
          <p:nvPr/>
        </p:nvPicPr>
        <p:blipFill>
          <a:blip r:embed="rId4"/>
          <a:stretch>
            <a:fillRect/>
          </a:stretch>
        </p:blipFill>
        <p:spPr>
          <a:xfrm>
            <a:off x="4114800" y="4245314"/>
            <a:ext cx="749808" cy="827107"/>
          </a:xfrm>
          <a:prstGeom prst="rect">
            <a:avLst/>
          </a:prstGeom>
        </p:spPr>
      </p:pic>
      <p:sp>
        <p:nvSpPr>
          <p:cNvPr id="24" name="Rounded Rectangular Callout 23"/>
          <p:cNvSpPr/>
          <p:nvPr/>
        </p:nvSpPr>
        <p:spPr>
          <a:xfrm>
            <a:off x="4974336" y="4224528"/>
            <a:ext cx="3026664" cy="868680"/>
          </a:xfrm>
          <a:prstGeom prst="wedgeRoundRectCallout">
            <a:avLst>
              <a:gd name="adj1" fmla="val -54833"/>
              <a:gd name="adj2" fmla="val 12000"/>
              <a:gd name="adj3" fmla="val 16667"/>
            </a:avLst>
          </a:prstGeom>
          <a:solidFill>
            <a:srgbClr val="FFFFFF"/>
          </a:solidFill>
          <a:ln w="22225">
            <a:solidFill>
              <a:srgbClr val="1E6B3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5" name="TextBox 24"/>
          <p:cNvSpPr txBox="1"/>
          <p:nvPr/>
        </p:nvSpPr>
        <p:spPr>
          <a:xfrm>
            <a:off x="5029200" y="4242816"/>
            <a:ext cx="2916936" cy="832103"/>
          </a:xfrm>
          <a:prstGeom prst="rect">
            <a:avLst/>
          </a:prstGeom>
          <a:noFill/>
        </p:spPr>
        <p:txBody>
          <a:bodyPr wrap="square" lIns="54864" rIns="54864" tIns="27432" bIns="27432" anchor="ctr"/>
          <a:lstStyle/>
          <a:p>
            <a:pPr algn="r" rtl="1"/>
            <a:r>
              <a:rPr sz="1300" b="1" i="0" lang="ar-AE" altLang="en-US">
                <a:solidFill>
                  <a:srgbClr val="1E6B3A"/>
                </a:solidFill>
                <a:latin typeface="Arial"/>
                <a:cs typeface="Arial"/>
              </a:rPr>
              <a:t>فاهم: </a:t>
            </a:r>
            <a:r>
              <a:rPr sz="1300" b="1" i="0" lang="ar-AE" altLang="en-US">
                <a:solidFill>
                  <a:srgbClr val="102A43"/>
                </a:solidFill>
                <a:latin typeface="Arial"/>
                <a:cs typeface="Arial"/>
              </a:rPr>
              <a:t>المادة… هل تختفي أم تعود بشكل آخر؟ فكّروا جيدًا!</a:t>
            </a:r>
          </a:p>
        </p:txBody>
      </p:sp>
      <p:sp>
        <p:nvSpPr>
          <p:cNvPr id="26" name="Rounded Rectangle 25"/>
          <p:cNvSpPr/>
          <p:nvPr/>
        </p:nvSpPr>
        <p:spPr>
          <a:xfrm>
            <a:off x="8183879" y="1901952"/>
            <a:ext cx="3657600" cy="3611880"/>
          </a:xfrm>
          <a:prstGeom prst="roundRect">
            <a:avLst>
              <a:gd name="adj" fmla="val 3037"/>
            </a:avLst>
          </a:prstGeom>
          <a:solidFill>
            <a:srgbClr val="EAF4FB"/>
          </a:solidFill>
          <a:ln w="12700">
            <a:solidFill>
              <a:srgbClr val="BFDDF2"/>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7" name="Picture 26" descr="glass_blue.png"/>
          <p:cNvPicPr>
            <a:picLocks noChangeAspect="1"/>
          </p:cNvPicPr>
          <p:nvPr/>
        </p:nvPicPr>
        <p:blipFill>
          <a:blip r:embed="rId5"/>
          <a:stretch>
            <a:fillRect/>
          </a:stretch>
        </p:blipFill>
        <p:spPr>
          <a:xfrm>
            <a:off x="11201400" y="2057400"/>
            <a:ext cx="502920" cy="502920"/>
          </a:xfrm>
          <a:prstGeom prst="rect">
            <a:avLst/>
          </a:prstGeom>
        </p:spPr>
      </p:pic>
      <p:sp>
        <p:nvSpPr>
          <p:cNvPr id="28" name="TextBox 27"/>
          <p:cNvSpPr txBox="1"/>
          <p:nvPr/>
        </p:nvSpPr>
        <p:spPr>
          <a:xfrm>
            <a:off x="8275320" y="2011680"/>
            <a:ext cx="2880360" cy="1143000"/>
          </a:xfrm>
          <a:prstGeom prst="rect">
            <a:avLst/>
          </a:prstGeom>
          <a:noFill/>
        </p:spPr>
        <p:txBody>
          <a:bodyPr wrap="square" lIns="73152" rIns="73152" tIns="36576" bIns="36576" anchor="t"/>
          <a:lstStyle/>
          <a:p>
            <a:pPr algn="r" rtl="1"/>
            <a:r>
              <a:rPr sz="1450" b="1" i="0" lang="ar-AE" altLang="en-US">
                <a:solidFill>
                  <a:srgbClr val="21364F"/>
                </a:solidFill>
                <a:latin typeface="Arial"/>
                <a:cs typeface="Arial"/>
              </a:rPr>
              <a:t>قبل أكثر من 66 مليون سنة شربت الديناصورات من الأنهار والبحيرات…</a:t>
            </a:r>
          </a:p>
          <a:p>
            <a:pPr algn="r" rtl="1"/>
            <a:r>
              <a:rPr sz="1450" b="1" i="0" lang="ar-AE" altLang="en-US">
                <a:solidFill>
                  <a:srgbClr val="21364F"/>
                </a:solidFill>
                <a:latin typeface="Arial"/>
                <a:cs typeface="Arial"/>
              </a:rPr>
              <a:t>واليوم تشرب أنت كوبًا من الماء.</a:t>
            </a:r>
          </a:p>
        </p:txBody>
      </p:sp>
      <p:sp>
        <p:nvSpPr>
          <p:cNvPr id="29" name="TextBox 28"/>
          <p:cNvSpPr txBox="1"/>
          <p:nvPr/>
        </p:nvSpPr>
        <p:spPr>
          <a:xfrm>
            <a:off x="8275320" y="3246120"/>
            <a:ext cx="3474720" cy="868680"/>
          </a:xfrm>
          <a:prstGeom prst="rect">
            <a:avLst/>
          </a:prstGeom>
          <a:noFill/>
        </p:spPr>
        <p:txBody>
          <a:bodyPr wrap="square" lIns="73152" rIns="73152" tIns="36576" bIns="36576" anchor="ctr"/>
          <a:lstStyle/>
          <a:p>
            <a:pPr algn="r" rtl="1"/>
            <a:r>
              <a:rPr sz="1800" b="1" i="0" lang="ar-AE" altLang="en-US">
                <a:solidFill>
                  <a:srgbClr val="1E88C8"/>
                </a:solidFill>
                <a:latin typeface="Arial"/>
                <a:cs typeface="Arial"/>
              </a:rPr>
              <a:t>هل يمكن أن يكون في كوبك ماءٌ شربه ديناصور؟</a:t>
            </a:r>
          </a:p>
        </p:txBody>
      </p:sp>
      <p:sp>
        <p:nvSpPr>
          <p:cNvPr id="30" name="Rounded Rectangle 29"/>
          <p:cNvSpPr/>
          <p:nvPr/>
        </p:nvSpPr>
        <p:spPr>
          <a:xfrm>
            <a:off x="10698480" y="4224528"/>
            <a:ext cx="960120" cy="457200"/>
          </a:xfrm>
          <a:prstGeom prst="roundRect">
            <a:avLst>
              <a:gd name="adj" fmla="val 30000"/>
            </a:avLst>
          </a:prstGeom>
          <a:solidFill>
            <a:srgbClr val="2E9E5B"/>
          </a:solidFill>
          <a:ln>
            <a:noFill/>
          </a:ln>
        </p:spPr>
        <p:txBody>
          <a:bodyPr rtlCol="0" anchor="ctr" lIns="36576" rIns="36576" tIns="18288" bIns="18288" wrap="square"/>
          <a:lstStyle/>
          <a:p>
            <a:pPr algn="ctr" rtl="1"/>
            <a:r>
              <a:rPr sz="1600" b="1" i="0" lang="ar-AE" altLang="en-US">
                <a:solidFill>
                  <a:srgbClr val="FFFFFF"/>
                </a:solidFill>
                <a:latin typeface="Arial"/>
                <a:cs typeface="Arial"/>
              </a:rPr>
              <a:t>نعم</a:t>
            </a:r>
          </a:p>
        </p:txBody>
      </p:sp>
      <p:sp>
        <p:nvSpPr>
          <p:cNvPr id="31" name="Rounded Rectangle 30"/>
          <p:cNvSpPr/>
          <p:nvPr/>
        </p:nvSpPr>
        <p:spPr>
          <a:xfrm>
            <a:off x="9601200" y="4224528"/>
            <a:ext cx="960120" cy="457200"/>
          </a:xfrm>
          <a:prstGeom prst="roundRect">
            <a:avLst>
              <a:gd name="adj" fmla="val 30000"/>
            </a:avLst>
          </a:prstGeom>
          <a:solidFill>
            <a:srgbClr val="C8102E"/>
          </a:solidFill>
          <a:ln>
            <a:noFill/>
          </a:ln>
        </p:spPr>
        <p:txBody>
          <a:bodyPr rtlCol="0" anchor="ctr" lIns="36576" rIns="36576" tIns="18288" bIns="18288" wrap="square"/>
          <a:lstStyle/>
          <a:p>
            <a:pPr algn="ctr" rtl="1"/>
            <a:r>
              <a:rPr sz="1600" b="1" i="0" lang="ar-AE" altLang="en-US">
                <a:solidFill>
                  <a:srgbClr val="FFFFFF"/>
                </a:solidFill>
                <a:latin typeface="Arial"/>
                <a:cs typeface="Arial"/>
              </a:rPr>
              <a:t>لا</a:t>
            </a:r>
          </a:p>
        </p:txBody>
      </p:sp>
      <p:sp>
        <p:nvSpPr>
          <p:cNvPr id="32" name="Rounded Rectangle 31"/>
          <p:cNvSpPr/>
          <p:nvPr/>
        </p:nvSpPr>
        <p:spPr>
          <a:xfrm>
            <a:off x="8503919" y="4224528"/>
            <a:ext cx="960120" cy="457200"/>
          </a:xfrm>
          <a:prstGeom prst="roundRect">
            <a:avLst>
              <a:gd name="adj" fmla="val 30000"/>
            </a:avLst>
          </a:prstGeom>
          <a:solidFill>
            <a:srgbClr val="D9A21B"/>
          </a:solidFill>
          <a:ln>
            <a:noFill/>
          </a:ln>
        </p:spPr>
        <p:txBody>
          <a:bodyPr rtlCol="0" anchor="ctr" lIns="36576" rIns="36576" tIns="18288" bIns="18288" wrap="square"/>
          <a:lstStyle/>
          <a:p>
            <a:pPr algn="ctr" rtl="1"/>
            <a:r>
              <a:rPr sz="1600" b="1" i="0" lang="ar-AE" altLang="en-US">
                <a:solidFill>
                  <a:srgbClr val="FFFFFF"/>
                </a:solidFill>
                <a:latin typeface="Arial"/>
                <a:cs typeface="Arial"/>
              </a:rPr>
              <a:t>ربما</a:t>
            </a:r>
          </a:p>
        </p:txBody>
      </p:sp>
      <p:sp>
        <p:nvSpPr>
          <p:cNvPr id="33" name="TextBox 32"/>
          <p:cNvSpPr txBox="1"/>
          <p:nvPr/>
        </p:nvSpPr>
        <p:spPr>
          <a:xfrm>
            <a:off x="8275320" y="4800600"/>
            <a:ext cx="3474720" cy="640080"/>
          </a:xfrm>
          <a:prstGeom prst="rect">
            <a:avLst/>
          </a:prstGeom>
          <a:noFill/>
        </p:spPr>
        <p:txBody>
          <a:bodyPr wrap="square" lIns="73152" rIns="73152" tIns="36576" bIns="36576" anchor="ctr"/>
          <a:lstStyle/>
          <a:p>
            <a:pPr algn="r" rtl="1"/>
            <a:r>
              <a:rPr sz="1300" b="1" i="0" lang="ar-AE" altLang="en-US">
                <a:solidFill>
                  <a:srgbClr val="4A5A70"/>
                </a:solidFill>
                <a:latin typeface="Arial"/>
                <a:cs typeface="Arial"/>
              </a:rPr>
              <a:t>صوّتوا الآن… وسنعود إلى الإجابة في نهاية الحصة!</a:t>
            </a:r>
          </a:p>
        </p:txBody>
      </p:sp>
      <p:pic>
        <p:nvPicPr>
          <p:cNvPr id="34" name="مؤقت 1 دقائق">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2697480" y="4160520"/>
            <a:ext cx="1298448" cy="1298448"/>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4"/>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4"/>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219325" y="4748212"/>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625328" y="1344168"/>
            <a:ext cx="1234440"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قبلي</a:t>
            </a:r>
          </a:p>
        </p:txBody>
      </p:sp>
      <p:sp>
        <p:nvSpPr>
          <p:cNvPr id="21" name="TextBox 20"/>
          <p:cNvSpPr txBox="1"/>
          <p:nvPr/>
        </p:nvSpPr>
        <p:spPr>
          <a:xfrm>
            <a:off x="5823839" y="1280160"/>
            <a:ext cx="4691761"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ماذا تتذكّر من الدرس السابق؟</a:t>
            </a:r>
          </a:p>
        </p:txBody>
      </p:sp>
      <p:pic>
        <p:nvPicPr>
          <p:cNvPr id="22" name="Picture 21" descr="badge_ahmed.png"/>
          <p:cNvPicPr>
            <a:picLocks noChangeAspect="1"/>
          </p:cNvPicPr>
          <p:nvPr/>
        </p:nvPicPr>
        <p:blipFill>
          <a:blip r:embed="rId3"/>
          <a:stretch>
            <a:fillRect/>
          </a:stretch>
        </p:blipFill>
        <p:spPr>
          <a:xfrm>
            <a:off x="2560320" y="1210464"/>
            <a:ext cx="566928" cy="600047"/>
          </a:xfrm>
          <a:prstGeom prst="rect">
            <a:avLst/>
          </a:prstGeom>
        </p:spPr>
      </p:pic>
      <p:sp>
        <p:nvSpPr>
          <p:cNvPr id="23" name="Rounded Rectangular Callout 22"/>
          <p:cNvSpPr/>
          <p:nvPr/>
        </p:nvSpPr>
        <p:spPr>
          <a:xfrm>
            <a:off x="3209544" y="1307592"/>
            <a:ext cx="2486278" cy="420624"/>
          </a:xfrm>
          <a:prstGeom prst="wedgeRoundRectCallout">
            <a:avLst>
              <a:gd name="adj1" fmla="val -54413"/>
              <a:gd name="adj2" fmla="val 18000"/>
              <a:gd name="adj3" fmla="val 16667"/>
            </a:avLst>
          </a:prstGeom>
          <a:solidFill>
            <a:srgbClr val="FFFFFF"/>
          </a:solidFill>
          <a:ln w="19050">
            <a:solidFill>
              <a:srgbClr val="1C2F5E"/>
            </a:solidFill>
          </a:ln>
        </p:spPr>
        <p:txBody>
          <a:bodyPr rtlCol="0" anchor="ctr" lIns="54864" rIns="54864" tIns="27432" bIns="27432"/>
          <a:lstStyle/>
          <a:p>
            <a:pPr algn="ctr"/>
          </a:p>
        </p:txBody>
      </p:sp>
      <p:sp>
        <p:nvSpPr>
          <p:cNvPr id="24" name="TextBox 23"/>
          <p:cNvSpPr txBox="1"/>
          <p:nvPr/>
        </p:nvSpPr>
        <p:spPr>
          <a:xfrm>
            <a:off x="3246120" y="1307592"/>
            <a:ext cx="2413126" cy="420624"/>
          </a:xfrm>
          <a:prstGeom prst="rect">
            <a:avLst/>
          </a:prstGeom>
          <a:noFill/>
        </p:spPr>
        <p:txBody>
          <a:bodyPr wrap="square" lIns="36576" rIns="36576" tIns="0" bIns="0" anchor="ctr"/>
          <a:lstStyle/>
          <a:p>
            <a:pPr algn="r" rtl="1"/>
            <a:r>
              <a:rPr sz="1150" b="1" i="0" lang="ar-AE" altLang="en-US">
                <a:solidFill>
                  <a:srgbClr val="1C2F5E"/>
                </a:solidFill>
                <a:latin typeface="Arial"/>
                <a:cs typeface="Arial"/>
              </a:rPr>
              <a:t>أحمد: </a:t>
            </a:r>
            <a:r>
              <a:rPr sz="1150" b="1" i="0" lang="ar-AE" altLang="en-US">
                <a:solidFill>
                  <a:srgbClr val="102A43"/>
                </a:solidFill>
                <a:latin typeface="Arial"/>
                <a:cs typeface="Arial"/>
              </a:rPr>
              <a:t>تذكّروا جيدًا… ثم أجيبوا!</a:t>
            </a:r>
          </a:p>
        </p:txBody>
      </p:sp>
      <p:sp>
        <p:nvSpPr>
          <p:cNvPr id="25" name="Rounded Rectangle 24"/>
          <p:cNvSpPr/>
          <p:nvPr/>
        </p:nvSpPr>
        <p:spPr>
          <a:xfrm>
            <a:off x="4160520" y="1965960"/>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26" name="Oval 25"/>
          <p:cNvSpPr/>
          <p:nvPr/>
        </p:nvSpPr>
        <p:spPr>
          <a:xfrm>
            <a:off x="11365992" y="2176272"/>
            <a:ext cx="365760" cy="365760"/>
          </a:xfrm>
          <a:prstGeom prst="ellipse">
            <a:avLst/>
          </a:prstGeom>
          <a:solidFill>
            <a:srgbClr val="1E88C8"/>
          </a:solidFill>
          <a:ln>
            <a:noFill/>
          </a:ln>
        </p:spPr>
        <p:txBody>
          <a:bodyPr rtlCol="0" anchor="ctr" lIns="0" rIns="0" tIns="0" bIns="0" wrap="square"/>
          <a:lstStyle/>
          <a:p>
            <a:pPr algn="ctr" rtl="1"/>
            <a:r>
              <a:rPr sz="1400" b="1" i="0" lang="ar-AE" altLang="en-US">
                <a:solidFill>
                  <a:srgbClr val="FFFFFF"/>
                </a:solidFill>
                <a:latin typeface="Arial"/>
                <a:cs typeface="Arial"/>
              </a:rPr>
              <a:t>1</a:t>
            </a:r>
          </a:p>
        </p:txBody>
      </p:sp>
      <p:sp>
        <p:nvSpPr>
          <p:cNvPr id="27" name="TextBox 26"/>
          <p:cNvSpPr txBox="1"/>
          <p:nvPr/>
        </p:nvSpPr>
        <p:spPr>
          <a:xfrm>
            <a:off x="5577840" y="1965960"/>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تتدفق الطاقة في النظام البيئي في اتجاه واحد، ويُفقد جزء كبير منها عند كل مستوى غذائي.</a:t>
            </a:r>
          </a:p>
        </p:txBody>
      </p:sp>
      <p:sp>
        <p:nvSpPr>
          <p:cNvPr id="28" name="Rounded Rectangle 27"/>
          <p:cNvSpPr/>
          <p:nvPr/>
        </p:nvSpPr>
        <p:spPr>
          <a:xfrm>
            <a:off x="4251959" y="2176272"/>
            <a:ext cx="1234440" cy="365760"/>
          </a:xfrm>
          <a:prstGeom prst="roundRect">
            <a:avLst>
              <a:gd name="adj" fmla="val 50000"/>
            </a:avLst>
          </a:prstGeom>
          <a:solidFill>
            <a:srgbClr val="2E9E5B"/>
          </a:solidFill>
          <a:ln>
            <a:noFill/>
          </a:ln>
        </p:spPr>
        <p:txBody>
          <a:bodyPr rtlCol="0" anchor="ctr" lIns="0" rIns="0" tIns="0" bIns="0" wrap="square"/>
          <a:lstStyle/>
          <a:p>
            <a:pPr algn="ctr" rtl="1"/>
            <a:r>
              <a:rPr sz="1400" b="1" i="0" lang="ar-AE" altLang="en-US">
                <a:solidFill>
                  <a:srgbClr val="FFFFFF"/>
                </a:solidFill>
                <a:latin typeface="Arial"/>
                <a:cs typeface="Arial"/>
              </a:rPr>
              <a:t>صح</a:t>
            </a:r>
          </a:p>
        </p:txBody>
      </p:sp>
      <p:sp>
        <p:nvSpPr>
          <p:cNvPr id="29" name="Rounded Rectangle 28"/>
          <p:cNvSpPr/>
          <p:nvPr/>
        </p:nvSpPr>
        <p:spPr>
          <a:xfrm>
            <a:off x="4160520" y="2898648"/>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30" name="Oval 29"/>
          <p:cNvSpPr/>
          <p:nvPr/>
        </p:nvSpPr>
        <p:spPr>
          <a:xfrm>
            <a:off x="11365992" y="3108960"/>
            <a:ext cx="365760" cy="365760"/>
          </a:xfrm>
          <a:prstGeom prst="ellipse">
            <a:avLst/>
          </a:prstGeom>
          <a:solidFill>
            <a:srgbClr val="1E88C8"/>
          </a:solidFill>
          <a:ln>
            <a:noFill/>
          </a:ln>
        </p:spPr>
        <p:txBody>
          <a:bodyPr rtlCol="0" anchor="ctr" lIns="0" rIns="0" tIns="0" bIns="0" wrap="square"/>
          <a:lstStyle/>
          <a:p>
            <a:pPr algn="ctr" rtl="1"/>
            <a:r>
              <a:rPr sz="1400" b="1" i="0" lang="ar-AE" altLang="en-US">
                <a:solidFill>
                  <a:srgbClr val="FFFFFF"/>
                </a:solidFill>
                <a:latin typeface="Arial"/>
                <a:cs typeface="Arial"/>
              </a:rPr>
              <a:t>2</a:t>
            </a:r>
          </a:p>
        </p:txBody>
      </p:sp>
      <p:sp>
        <p:nvSpPr>
          <p:cNvPr id="31" name="TextBox 30"/>
          <p:cNvSpPr txBox="1"/>
          <p:nvPr/>
        </p:nvSpPr>
        <p:spPr>
          <a:xfrm>
            <a:off x="5577840" y="2898648"/>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تختفي المادة الموجودة في جسم الكائن الحي نهائيًّا بعد موته.</a:t>
            </a:r>
          </a:p>
        </p:txBody>
      </p:sp>
      <p:sp>
        <p:nvSpPr>
          <p:cNvPr id="32" name="Rounded Rectangle 31"/>
          <p:cNvSpPr/>
          <p:nvPr/>
        </p:nvSpPr>
        <p:spPr>
          <a:xfrm>
            <a:off x="4251959" y="3108960"/>
            <a:ext cx="1234440" cy="365760"/>
          </a:xfrm>
          <a:prstGeom prst="roundRect">
            <a:avLst>
              <a:gd name="adj" fmla="val 50000"/>
            </a:avLst>
          </a:prstGeom>
          <a:solidFill>
            <a:srgbClr val="C8102E"/>
          </a:solidFill>
          <a:ln>
            <a:noFill/>
          </a:ln>
        </p:spPr>
        <p:txBody>
          <a:bodyPr rtlCol="0" anchor="ctr" lIns="0" rIns="0" tIns="0" bIns="0" wrap="square"/>
          <a:lstStyle/>
          <a:p>
            <a:pPr algn="ctr" rtl="1"/>
            <a:r>
              <a:rPr sz="1400" b="1" i="0" lang="ar-AE" altLang="en-US">
                <a:solidFill>
                  <a:srgbClr val="FFFFFF"/>
                </a:solidFill>
                <a:latin typeface="Arial"/>
                <a:cs typeface="Arial"/>
              </a:rPr>
              <a:t>خطأ</a:t>
            </a:r>
          </a:p>
        </p:txBody>
      </p:sp>
      <p:sp>
        <p:nvSpPr>
          <p:cNvPr id="33" name="Rounded Rectangle 32"/>
          <p:cNvSpPr/>
          <p:nvPr/>
        </p:nvSpPr>
        <p:spPr>
          <a:xfrm>
            <a:off x="4160520" y="3831335"/>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34" name="Oval 33"/>
          <p:cNvSpPr/>
          <p:nvPr/>
        </p:nvSpPr>
        <p:spPr>
          <a:xfrm>
            <a:off x="11365992" y="4041648"/>
            <a:ext cx="365760" cy="365760"/>
          </a:xfrm>
          <a:prstGeom prst="ellipse">
            <a:avLst/>
          </a:prstGeom>
          <a:solidFill>
            <a:srgbClr val="1E88C8"/>
          </a:solidFill>
          <a:ln>
            <a:noFill/>
          </a:ln>
        </p:spPr>
        <p:txBody>
          <a:bodyPr rtlCol="0" anchor="ctr" lIns="0" rIns="0" tIns="0" bIns="0" wrap="square"/>
          <a:lstStyle/>
          <a:p>
            <a:pPr algn="ctr" rtl="1"/>
            <a:r>
              <a:rPr sz="1400" b="1" i="0" lang="ar-AE" altLang="en-US">
                <a:solidFill>
                  <a:srgbClr val="FFFFFF"/>
                </a:solidFill>
                <a:latin typeface="Arial"/>
                <a:cs typeface="Arial"/>
              </a:rPr>
              <a:t>3</a:t>
            </a:r>
          </a:p>
        </p:txBody>
      </p:sp>
      <p:sp>
        <p:nvSpPr>
          <p:cNvPr id="35" name="TextBox 34"/>
          <p:cNvSpPr txBox="1"/>
          <p:nvPr/>
        </p:nvSpPr>
        <p:spPr>
          <a:xfrm>
            <a:off x="5577840" y="3831335"/>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تحصل النباتات على المواد التي تحتاج إليها من الهواء والتربة والماء.</a:t>
            </a:r>
          </a:p>
        </p:txBody>
      </p:sp>
      <p:sp>
        <p:nvSpPr>
          <p:cNvPr id="36" name="Rounded Rectangle 35"/>
          <p:cNvSpPr/>
          <p:nvPr/>
        </p:nvSpPr>
        <p:spPr>
          <a:xfrm>
            <a:off x="4251959" y="4041648"/>
            <a:ext cx="1234440" cy="365760"/>
          </a:xfrm>
          <a:prstGeom prst="roundRect">
            <a:avLst>
              <a:gd name="adj" fmla="val 50000"/>
            </a:avLst>
          </a:prstGeom>
          <a:solidFill>
            <a:srgbClr val="2E9E5B"/>
          </a:solidFill>
          <a:ln>
            <a:noFill/>
          </a:ln>
        </p:spPr>
        <p:txBody>
          <a:bodyPr rtlCol="0" anchor="ctr" lIns="0" rIns="0" tIns="0" bIns="0" wrap="square"/>
          <a:lstStyle/>
          <a:p>
            <a:pPr algn="ctr" rtl="1"/>
            <a:r>
              <a:rPr sz="1400" b="1" i="0" lang="ar-AE" altLang="en-US">
                <a:solidFill>
                  <a:srgbClr val="FFFFFF"/>
                </a:solidFill>
                <a:latin typeface="Arial"/>
                <a:cs typeface="Arial"/>
              </a:rPr>
              <a:t>صح</a:t>
            </a:r>
          </a:p>
        </p:txBody>
      </p:sp>
      <p:pic>
        <p:nvPicPr>
          <p:cNvPr id="37" name="مؤقت 1 دقائق">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2697480" y="2011680"/>
            <a:ext cx="1298448" cy="1298448"/>
          </a:xfrm>
          <a:prstGeom prst="rect">
            <a:avLst/>
          </a:prstGeom>
        </p:spPr>
      </p:pic>
      <p:sp>
        <p:nvSpPr>
          <p:cNvPr id="38" name="Oval 37"/>
          <p:cNvSpPr/>
          <p:nvPr/>
        </p:nvSpPr>
        <p:spPr>
          <a:xfrm>
            <a:off x="2971800" y="3977639"/>
            <a:ext cx="777240" cy="777240"/>
          </a:xfrm>
          <a:prstGeom prst="ellipse">
            <a:avLst/>
          </a:prstGeom>
          <a:solidFill>
            <a:srgbClr val="1E88C8"/>
          </a:solidFill>
          <a:ln>
            <a:noFill/>
          </a:ln>
        </p:spPr>
        <p:txBody>
          <a:bodyPr rtlCol="0" anchor="ctr" lIns="54864" rIns="54864" tIns="27432" bIns="27432"/>
          <a:lstStyle/>
          <a:p>
            <a:pPr algn="ctr"/>
          </a:p>
        </p:txBody>
      </p:sp>
      <p:pic>
        <p:nvPicPr>
          <p:cNvPr id="39" name="Picture 38" descr="q_w.png"/>
          <p:cNvPicPr>
            <a:picLocks noChangeAspect="1"/>
          </p:cNvPicPr>
          <p:nvPr/>
        </p:nvPicPr>
        <p:blipFill>
          <a:blip r:embed="rId7"/>
          <a:stretch>
            <a:fillRect/>
          </a:stretch>
        </p:blipFill>
        <p:spPr>
          <a:xfrm>
            <a:off x="3142792" y="4148632"/>
            <a:ext cx="435254" cy="435254"/>
          </a:xfrm>
          <a:prstGeom prst="rect">
            <a:avLst/>
          </a:prstGeom>
        </p:spPr>
      </p:pic>
      <p:sp>
        <p:nvSpPr>
          <p:cNvPr id="40" name="TextBox 39"/>
          <p:cNvSpPr txBox="1"/>
          <p:nvPr/>
        </p:nvSpPr>
        <p:spPr>
          <a:xfrm>
            <a:off x="2651760" y="4800600"/>
            <a:ext cx="1417320" cy="640080"/>
          </a:xfrm>
          <a:prstGeom prst="rect">
            <a:avLst/>
          </a:prstGeom>
          <a:noFill/>
        </p:spPr>
        <p:txBody>
          <a:bodyPr wrap="square" lIns="73152" rIns="73152" tIns="36576" bIns="36576" anchor="ctr"/>
          <a:lstStyle/>
          <a:p>
            <a:pPr algn="ctr" rtl="1"/>
            <a:r>
              <a:rPr sz="1500" b="1" i="0" lang="ar-AE" altLang="en-US">
                <a:solidFill>
                  <a:srgbClr val="1E88C8"/>
                </a:solidFill>
                <a:latin typeface="Arial"/>
                <a:cs typeface="Arial"/>
              </a:rPr>
              <a:t>صح أم خطأ؟</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7"/>
                                        </p:tgtEl>
                                      </p:cBhvr>
                                    </p:cmd>
                                  </p:childTnLst>
                                </p:cTn>
                              </p:par>
                            </p:childTnLst>
                          </p:cTn>
                        </p:par>
                      </p:childTnLst>
                    </p:cTn>
                  </p:par>
                </p:childTnLst>
              </p:cTn>
              <p:nextCondLst>
                <p:cond evt="onNext" delay="0">
                  <p:tgtEl>
                    <p:sldTgt/>
                  </p:tgtEl>
                </p:cond>
              </p:nextCondLst>
            </p:seq>
            <p:video>
              <p:cMediaNode vol="80000">
                <p:cTn id="25" fill="hold" display="0">
                  <p:stCondLst>
                    <p:cond delay="indefinite"/>
                  </p:stCondLst>
                </p:cTn>
                <p:tgtEl>
                  <p:spTgt spid="37"/>
                </p:tgtEl>
              </p:cMediaNode>
            </p:video>
          </p:childTnLst>
        </p:cTn>
      </p:par>
    </p:tnLst>
    <p:bldLst>
      <p:bldP spid="28" grpId="0" animBg="1"/>
      <p:bldP spid="32" grpId="0" animBg="1"/>
      <p:bldP spid="3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13" name="Rounded Rectangle 12"/>
          <p:cNvSpPr/>
          <p:nvPr/>
        </p:nvSpPr>
        <p:spPr>
          <a:xfrm>
            <a:off x="9665208" y="1344168"/>
            <a:ext cx="2194560"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هدف الحصة ونواتج التعلم</a:t>
            </a:r>
          </a:p>
        </p:txBody>
      </p:sp>
      <p:sp>
        <p:nvSpPr>
          <p:cNvPr id="14" name="TextBox 13"/>
          <p:cNvSpPr txBox="1"/>
          <p:nvPr/>
        </p:nvSpPr>
        <p:spPr>
          <a:xfrm>
            <a:off x="2606040" y="1280160"/>
            <a:ext cx="694944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ماذا تتوقعون أن نتعلم اليوم؟</a:t>
            </a:r>
          </a:p>
        </p:txBody>
      </p:sp>
      <p:pic>
        <p:nvPicPr>
          <p:cNvPr id="15" name="Picture 14" descr="badge_ahmed.png"/>
          <p:cNvPicPr>
            <a:picLocks noChangeAspect="1"/>
          </p:cNvPicPr>
          <p:nvPr/>
        </p:nvPicPr>
        <p:blipFill>
          <a:blip r:embed="rId3"/>
          <a:stretch>
            <a:fillRect/>
          </a:stretch>
        </p:blipFill>
        <p:spPr>
          <a:xfrm>
            <a:off x="2697480" y="1856891"/>
            <a:ext cx="603504" cy="638760"/>
          </a:xfrm>
          <a:prstGeom prst="rect">
            <a:avLst/>
          </a:prstGeom>
        </p:spPr>
      </p:pic>
      <p:sp>
        <p:nvSpPr>
          <p:cNvPr id="16" name="Rounded Rectangular Callout 15"/>
          <p:cNvSpPr/>
          <p:nvPr/>
        </p:nvSpPr>
        <p:spPr>
          <a:xfrm>
            <a:off x="3410712" y="1847088"/>
            <a:ext cx="4773168" cy="658368"/>
          </a:xfrm>
          <a:prstGeom prst="wedgeRoundRectCallout">
            <a:avLst>
              <a:gd name="adj1" fmla="val -53065"/>
              <a:gd name="adj2" fmla="val 12000"/>
              <a:gd name="adj3" fmla="val 16667"/>
            </a:avLst>
          </a:prstGeom>
          <a:solidFill>
            <a:srgbClr val="FFFFFF"/>
          </a:solidFill>
          <a:ln w="22225">
            <a:solidFill>
              <a:srgbClr val="1C2F5E"/>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7" name="TextBox 16"/>
          <p:cNvSpPr txBox="1"/>
          <p:nvPr/>
        </p:nvSpPr>
        <p:spPr>
          <a:xfrm>
            <a:off x="3465576" y="1865376"/>
            <a:ext cx="4663440" cy="621792"/>
          </a:xfrm>
          <a:prstGeom prst="rect">
            <a:avLst/>
          </a:prstGeom>
          <a:noFill/>
        </p:spPr>
        <p:txBody>
          <a:bodyPr wrap="square" lIns="54864" rIns="54864" tIns="27432" bIns="27432" anchor="ctr"/>
          <a:lstStyle/>
          <a:p>
            <a:pPr algn="r" rtl="1"/>
            <a:r>
              <a:rPr sz="1300" b="1" i="0" lang="ar-AE" altLang="en-US">
                <a:solidFill>
                  <a:srgbClr val="1C2F5E"/>
                </a:solidFill>
                <a:latin typeface="Arial"/>
                <a:cs typeface="Arial"/>
              </a:rPr>
              <a:t>أحمد: </a:t>
            </a:r>
            <a:r>
              <a:rPr sz="1300" b="1" i="0" lang="ar-AE" altLang="en-US">
                <a:solidFill>
                  <a:srgbClr val="102A43"/>
                </a:solidFill>
                <a:latin typeface="Arial"/>
                <a:cs typeface="Arial"/>
              </a:rPr>
              <a:t>من اللغز والأسئلة… استنتجوا هدفنا اليوم، ثم لنتحقق منه معًا!</a:t>
            </a:r>
          </a:p>
        </p:txBody>
      </p:sp>
      <p:sp>
        <p:nvSpPr>
          <p:cNvPr id="18" name="Rounded Rectangle 17"/>
          <p:cNvSpPr/>
          <p:nvPr/>
        </p:nvSpPr>
        <p:spPr>
          <a:xfrm>
            <a:off x="2697480" y="2651760"/>
            <a:ext cx="9144000" cy="868680"/>
          </a:xfrm>
          <a:prstGeom prst="roundRect">
            <a:avLst>
              <a:gd name="adj" fmla="val 14736"/>
            </a:avLst>
          </a:prstGeom>
          <a:solidFill>
            <a:srgbClr val="102A43"/>
          </a:solidFill>
          <a:ln>
            <a:noFill/>
          </a:ln>
        </p:spPr>
        <p:txBody>
          <a:bodyPr rtlCol="0" anchor="ctr" lIns="182880" rIns="182880" wrap="square"/>
          <a:lstStyle/>
          <a:p>
            <a:pPr algn="r" rtl="1"/>
            <a:r>
              <a:rPr sz="1550" b="1" i="0" lang="ar-AE" altLang="en-US">
                <a:solidFill>
                  <a:srgbClr val="C9A96A"/>
                </a:solidFill>
                <a:latin typeface="Arial"/>
                <a:cs typeface="Arial"/>
              </a:rPr>
              <a:t>هدف الحصة: </a:t>
            </a:r>
            <a:r>
              <a:rPr sz="1550" b="1" i="0" lang="ar-AE" altLang="en-US">
                <a:solidFill>
                  <a:srgbClr val="FFFFFF"/>
                </a:solidFill>
                <a:latin typeface="Arial"/>
                <a:cs typeface="Arial"/>
              </a:rPr>
              <a:t>يستكشف الطالب كيف تنتقل المادة عبر الأجزاء الحية وغير الحية من النظام البيئي من خلال دورة الماء، ولماذا يُعدّ تدوير المواد المغذية مهمًّا للكائنات الحية.</a:t>
            </a:r>
          </a:p>
        </p:txBody>
      </p:sp>
      <p:sp>
        <p:nvSpPr>
          <p:cNvPr id="19" name="Rounded Rectangle 18"/>
          <p:cNvSpPr/>
          <p:nvPr/>
        </p:nvSpPr>
        <p:spPr>
          <a:xfrm>
            <a:off x="8851392"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1E88C8"/>
                </a:solidFill>
                <a:latin typeface="Arial"/>
                <a:cs typeface="Arial"/>
              </a:rPr>
              <a:t>1. </a:t>
            </a:r>
            <a:r>
              <a:rPr sz="1400" b="1" i="0" lang="ar-AE" altLang="en-US">
                <a:solidFill>
                  <a:srgbClr val="102A43"/>
                </a:solidFill>
                <a:latin typeface="Arial"/>
                <a:cs typeface="Arial"/>
              </a:rPr>
              <a:t>يعرّف المادة والمادة المغذية، ويفسّر لماذا تُعاد دورة المادة بينما تتدفق الطاقة في اتجاه واحد.</a:t>
            </a:r>
          </a:p>
        </p:txBody>
      </p:sp>
      <p:sp>
        <p:nvSpPr>
          <p:cNvPr id="20" name="Rounded Rectangle 19"/>
          <p:cNvSpPr/>
          <p:nvPr/>
        </p:nvSpPr>
        <p:spPr>
          <a:xfrm>
            <a:off x="8961119" y="5047488"/>
            <a:ext cx="1143000" cy="310896"/>
          </a:xfrm>
          <a:prstGeom prst="roundRect">
            <a:avLst>
              <a:gd name="adj" fmla="val 50000"/>
            </a:avLst>
          </a:prstGeom>
          <a:solidFill>
            <a:srgbClr val="3A86C8"/>
          </a:solidFill>
          <a:ln>
            <a:noFill/>
          </a:ln>
        </p:spPr>
        <p:txBody>
          <a:bodyPr rtlCol="0" anchor="ctr" lIns="0" rIns="0" tIns="0" bIns="0" wrap="square"/>
          <a:lstStyle/>
          <a:p>
            <a:pPr algn="ctr" rtl="1"/>
            <a:r>
              <a:rPr sz="1200" b="1" i="0" lang="ar-AE" altLang="en-US">
                <a:solidFill>
                  <a:srgbClr val="FFFFFF"/>
                </a:solidFill>
                <a:latin typeface="Arial"/>
                <a:cs typeface="Arial"/>
              </a:rPr>
              <a:t>فهم</a:t>
            </a:r>
          </a:p>
        </p:txBody>
      </p:sp>
      <p:sp>
        <p:nvSpPr>
          <p:cNvPr id="21" name="Rounded Rectangle 20"/>
          <p:cNvSpPr/>
          <p:nvPr/>
        </p:nvSpPr>
        <p:spPr>
          <a:xfrm>
            <a:off x="5769864"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1E88C8"/>
                </a:solidFill>
                <a:latin typeface="Arial"/>
                <a:cs typeface="Arial"/>
              </a:rPr>
              <a:t>2. </a:t>
            </a:r>
            <a:r>
              <a:rPr sz="1400" b="1" i="0" lang="ar-AE" altLang="en-US">
                <a:solidFill>
                  <a:srgbClr val="102A43"/>
                </a:solidFill>
                <a:latin typeface="Arial"/>
                <a:cs typeface="Arial"/>
              </a:rPr>
              <a:t>يتتبّع انتقال المواد المغذية بين الأجزاء الحيوية وغير الحيوية في النظام البيئي.</a:t>
            </a:r>
          </a:p>
        </p:txBody>
      </p:sp>
      <p:sp>
        <p:nvSpPr>
          <p:cNvPr id="22" name="Rounded Rectangle 21"/>
          <p:cNvSpPr/>
          <p:nvPr/>
        </p:nvSpPr>
        <p:spPr>
          <a:xfrm>
            <a:off x="5879592" y="5047488"/>
            <a:ext cx="1143000" cy="310896"/>
          </a:xfrm>
          <a:prstGeom prst="roundRect">
            <a:avLst>
              <a:gd name="adj" fmla="val 50000"/>
            </a:avLst>
          </a:prstGeom>
          <a:solidFill>
            <a:srgbClr val="5E9E47"/>
          </a:solidFill>
          <a:ln>
            <a:noFill/>
          </a:ln>
        </p:spPr>
        <p:txBody>
          <a:bodyPr rtlCol="0" anchor="ctr" lIns="0" rIns="0" tIns="0" bIns="0" wrap="square"/>
          <a:lstStyle/>
          <a:p>
            <a:pPr algn="ctr" rtl="1"/>
            <a:r>
              <a:rPr sz="1200" b="1" i="0" lang="ar-AE" altLang="en-US">
                <a:solidFill>
                  <a:srgbClr val="FFFFFF"/>
                </a:solidFill>
                <a:latin typeface="Arial"/>
                <a:cs typeface="Arial"/>
              </a:rPr>
              <a:t>تطبيق</a:t>
            </a:r>
          </a:p>
        </p:txBody>
      </p:sp>
      <p:sp>
        <p:nvSpPr>
          <p:cNvPr id="23" name="Rounded Rectangle 22"/>
          <p:cNvSpPr/>
          <p:nvPr/>
        </p:nvSpPr>
        <p:spPr>
          <a:xfrm>
            <a:off x="2688335"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1E88C8"/>
                </a:solidFill>
                <a:latin typeface="Arial"/>
                <a:cs typeface="Arial"/>
              </a:rPr>
              <a:t>3. </a:t>
            </a:r>
            <a:r>
              <a:rPr sz="1400" b="1" i="0" lang="ar-AE" altLang="en-US">
                <a:solidFill>
                  <a:srgbClr val="102A43"/>
                </a:solidFill>
                <a:latin typeface="Arial"/>
                <a:cs typeface="Arial"/>
              </a:rPr>
              <a:t>يصف عمليات دورة الماء، ويحلّل توزيع المياه على كوكب الأرض.</a:t>
            </a:r>
          </a:p>
        </p:txBody>
      </p:sp>
      <p:sp>
        <p:nvSpPr>
          <p:cNvPr id="24" name="Rounded Rectangle 23"/>
          <p:cNvSpPr/>
          <p:nvPr/>
        </p:nvSpPr>
        <p:spPr>
          <a:xfrm>
            <a:off x="2798063" y="5047488"/>
            <a:ext cx="1143000" cy="310896"/>
          </a:xfrm>
          <a:prstGeom prst="roundRect">
            <a:avLst>
              <a:gd name="adj" fmla="val 50000"/>
            </a:avLst>
          </a:prstGeom>
          <a:solidFill>
            <a:srgbClr val="D9A21B"/>
          </a:solidFill>
          <a:ln>
            <a:noFill/>
          </a:ln>
        </p:spPr>
        <p:txBody>
          <a:bodyPr rtlCol="0" anchor="ctr" lIns="0" rIns="0" tIns="0" bIns="0" wrap="square"/>
          <a:lstStyle/>
          <a:p>
            <a:pPr algn="ctr" rtl="1"/>
            <a:r>
              <a:rPr sz="1200" b="1" i="0" lang="ar-AE" altLang="en-US">
                <a:solidFill>
                  <a:srgbClr val="FFFFFF"/>
                </a:solidFill>
                <a:latin typeface="Arial"/>
                <a:cs typeface="Arial"/>
              </a:rPr>
              <a:t>تحليل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low.png"/>
          <p:cNvPicPr>
            <a:picLocks noChangeAspect="1"/>
          </p:cNvPicPr>
          <p:nvPr/>
        </p:nvPicPr>
        <p:blipFill>
          <a:blip r:embed="rId2"/>
          <a:stretch>
            <a:fillRect/>
          </a:stretch>
        </p:blipFill>
        <p:spPr>
          <a:xfrm>
            <a:off x="0" y="0"/>
            <a:ext cx="12191695" cy="6858000"/>
          </a:xfrm>
          <a:prstGeom prst="rect">
            <a:avLst/>
          </a:prstGeom>
        </p:spPr>
      </p:pic>
      <p:pic>
        <p:nvPicPr>
          <p:cNvPr id="3" name="Picture 2" descr="bulb_w.png"/>
          <p:cNvPicPr>
            <a:picLocks noChangeAspect="1"/>
          </p:cNvPicPr>
          <p:nvPr/>
        </p:nvPicPr>
        <p:blipFill>
          <a:blip r:embed="rId3"/>
          <a:stretch>
            <a:fillRect/>
          </a:stretch>
        </p:blipFill>
        <p:spPr>
          <a:xfrm>
            <a:off x="9846564" y="2378964"/>
            <a:ext cx="347472" cy="347472"/>
          </a:xfrm>
          <a:prstGeom prst="rect">
            <a:avLst/>
          </a:prstGeom>
        </p:spPr>
      </p:pic>
      <p:sp>
        <p:nvSpPr>
          <p:cNvPr id="4" name="TextBox 3"/>
          <p:cNvSpPr txBox="1"/>
          <p:nvPr/>
        </p:nvSpPr>
        <p:spPr>
          <a:xfrm>
            <a:off x="9277350" y="3543300"/>
            <a:ext cx="162877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التهيئة والأهداف</a:t>
            </a:r>
          </a:p>
        </p:txBody>
      </p:sp>
      <p:sp>
        <p:nvSpPr>
          <p:cNvPr id="5" name="Rounded Rectangle 4"/>
          <p:cNvSpPr/>
          <p:nvPr/>
        </p:nvSpPr>
        <p:spPr>
          <a:xfrm>
            <a:off x="9467850" y="3914775"/>
            <a:ext cx="1247775" cy="285750"/>
          </a:xfrm>
          <a:prstGeom prst="roundRect">
            <a:avLst>
              <a:gd name="adj" fmla="val 48000"/>
            </a:avLst>
          </a:prstGeom>
          <a:solidFill>
            <a:srgbClr val="138955"/>
          </a:solidFill>
          <a:ln>
            <a:noFill/>
          </a:ln>
        </p:spPr>
        <p:txBody>
          <a:bodyPr rtlCol="0" anchor="ctr" lIns="0" rIns="0" tIns="0" bIns="0" wrap="square"/>
          <a:lstStyle/>
          <a:p>
            <a:pPr algn="ctr" rtl="1"/>
            <a:r>
              <a:rPr sz="1250" b="1" i="0" lang="ar-AE" altLang="en-US">
                <a:solidFill>
                  <a:srgbClr val="FFFFFF"/>
                </a:solidFill>
                <a:latin typeface="Arial"/>
                <a:cs typeface="Arial"/>
              </a:rPr>
              <a:t>9 دقائق</a:t>
            </a:r>
          </a:p>
        </p:txBody>
      </p:sp>
      <p:sp>
        <p:nvSpPr>
          <p:cNvPr id="6" name="TextBox 5"/>
          <p:cNvSpPr txBox="1"/>
          <p:nvPr/>
        </p:nvSpPr>
        <p:spPr>
          <a:xfrm>
            <a:off x="9296400" y="4267200"/>
            <a:ext cx="159067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لغز الديناصور، التقويم القبلي، الهدف والمفردات</a:t>
            </a:r>
          </a:p>
        </p:txBody>
      </p:sp>
      <p:sp>
        <p:nvSpPr>
          <p:cNvPr id="7" name="TextBox 6"/>
          <p:cNvSpPr txBox="1"/>
          <p:nvPr/>
        </p:nvSpPr>
        <p:spPr>
          <a:xfrm>
            <a:off x="7936229"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1</a:t>
            </a:r>
          </a:p>
        </p:txBody>
      </p:sp>
      <p:sp>
        <p:nvSpPr>
          <p:cNvPr id="8" name="TextBox 7"/>
          <p:cNvSpPr txBox="1"/>
          <p:nvPr/>
        </p:nvSpPr>
        <p:spPr>
          <a:xfrm>
            <a:off x="7467599" y="3543300"/>
            <a:ext cx="1619250"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الأول</a:t>
            </a:r>
          </a:p>
        </p:txBody>
      </p:sp>
      <p:sp>
        <p:nvSpPr>
          <p:cNvPr id="9" name="Rounded Rectangle 8"/>
          <p:cNvSpPr/>
          <p:nvPr/>
        </p:nvSpPr>
        <p:spPr>
          <a:xfrm>
            <a:off x="7658100" y="3914775"/>
            <a:ext cx="1238250" cy="285750"/>
          </a:xfrm>
          <a:prstGeom prst="roundRect">
            <a:avLst>
              <a:gd name="adj" fmla="val 48000"/>
            </a:avLst>
          </a:prstGeom>
          <a:solidFill>
            <a:srgbClr val="1C7B7D"/>
          </a:solidFill>
          <a:ln>
            <a:noFill/>
          </a:ln>
        </p:spPr>
        <p:txBody>
          <a:bodyPr rtlCol="0" anchor="ctr" lIns="0" rIns="0" tIns="0" bIns="0" wrap="square"/>
          <a:lstStyle/>
          <a:p>
            <a:pPr algn="ctr" rtl="1"/>
            <a:r>
              <a:rPr sz="1250" b="1" i="0" lang="ar-AE" altLang="en-US">
                <a:solidFill>
                  <a:srgbClr val="FFFFFF"/>
                </a:solidFill>
                <a:latin typeface="Arial"/>
                <a:cs typeface="Arial"/>
              </a:rPr>
              <a:t>8 دقائق</a:t>
            </a:r>
          </a:p>
        </p:txBody>
      </p:sp>
      <p:sp>
        <p:nvSpPr>
          <p:cNvPr id="10" name="TextBox 9"/>
          <p:cNvSpPr txBox="1"/>
          <p:nvPr/>
        </p:nvSpPr>
        <p:spPr>
          <a:xfrm>
            <a:off x="7486650" y="4267200"/>
            <a:ext cx="1581150"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الطاقة تتدفق… والمادة تُعاد دورتها</a:t>
            </a:r>
          </a:p>
        </p:txBody>
      </p:sp>
      <p:sp>
        <p:nvSpPr>
          <p:cNvPr id="11" name="TextBox 10"/>
          <p:cNvSpPr txBox="1"/>
          <p:nvPr/>
        </p:nvSpPr>
        <p:spPr>
          <a:xfrm>
            <a:off x="6136005"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2</a:t>
            </a:r>
          </a:p>
        </p:txBody>
      </p:sp>
      <p:sp>
        <p:nvSpPr>
          <p:cNvPr id="12" name="TextBox 11"/>
          <p:cNvSpPr txBox="1"/>
          <p:nvPr/>
        </p:nvSpPr>
        <p:spPr>
          <a:xfrm>
            <a:off x="5667375" y="3543300"/>
            <a:ext cx="160972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الثاني</a:t>
            </a:r>
          </a:p>
        </p:txBody>
      </p:sp>
      <p:sp>
        <p:nvSpPr>
          <p:cNvPr id="13" name="Rounded Rectangle 12"/>
          <p:cNvSpPr/>
          <p:nvPr/>
        </p:nvSpPr>
        <p:spPr>
          <a:xfrm>
            <a:off x="5857875" y="3914775"/>
            <a:ext cx="1228725" cy="285750"/>
          </a:xfrm>
          <a:prstGeom prst="roundRect">
            <a:avLst>
              <a:gd name="adj" fmla="val 48000"/>
            </a:avLst>
          </a:prstGeom>
          <a:solidFill>
            <a:srgbClr val="2E5D7B"/>
          </a:solidFill>
          <a:ln>
            <a:noFill/>
          </a:ln>
        </p:spPr>
        <p:txBody>
          <a:bodyPr rtlCol="0" anchor="ctr" lIns="0" rIns="0" tIns="0" bIns="0" wrap="square"/>
          <a:lstStyle/>
          <a:p>
            <a:pPr algn="ctr" rtl="1"/>
            <a:r>
              <a:rPr sz="1250" b="1" i="0" lang="ar-AE" altLang="en-US">
                <a:solidFill>
                  <a:srgbClr val="FFFFFF"/>
                </a:solidFill>
                <a:latin typeface="Arial"/>
                <a:cs typeface="Arial"/>
              </a:rPr>
              <a:t>7 دقائق</a:t>
            </a:r>
          </a:p>
        </p:txBody>
      </p:sp>
      <p:sp>
        <p:nvSpPr>
          <p:cNvPr id="14" name="TextBox 13"/>
          <p:cNvSpPr txBox="1"/>
          <p:nvPr/>
        </p:nvSpPr>
        <p:spPr>
          <a:xfrm>
            <a:off x="5686425" y="4267200"/>
            <a:ext cx="157162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رحلة المادة بين الغاف والجمل والتربة</a:t>
            </a:r>
          </a:p>
        </p:txBody>
      </p:sp>
      <p:sp>
        <p:nvSpPr>
          <p:cNvPr id="15" name="TextBox 14"/>
          <p:cNvSpPr txBox="1"/>
          <p:nvPr/>
        </p:nvSpPr>
        <p:spPr>
          <a:xfrm>
            <a:off x="4326255"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3</a:t>
            </a:r>
          </a:p>
        </p:txBody>
      </p:sp>
      <p:sp>
        <p:nvSpPr>
          <p:cNvPr id="16" name="TextBox 15"/>
          <p:cNvSpPr txBox="1"/>
          <p:nvPr/>
        </p:nvSpPr>
        <p:spPr>
          <a:xfrm>
            <a:off x="3857625" y="3543300"/>
            <a:ext cx="1619250"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الثالث</a:t>
            </a:r>
          </a:p>
        </p:txBody>
      </p:sp>
      <p:sp>
        <p:nvSpPr>
          <p:cNvPr id="17" name="Rounded Rectangle 16"/>
          <p:cNvSpPr/>
          <p:nvPr/>
        </p:nvSpPr>
        <p:spPr>
          <a:xfrm>
            <a:off x="4048124" y="3914775"/>
            <a:ext cx="1238250" cy="285750"/>
          </a:xfrm>
          <a:prstGeom prst="roundRect">
            <a:avLst>
              <a:gd name="adj" fmla="val 48000"/>
            </a:avLst>
          </a:prstGeom>
          <a:solidFill>
            <a:srgbClr val="996B2F"/>
          </a:solidFill>
          <a:ln>
            <a:noFill/>
          </a:ln>
        </p:spPr>
        <p:txBody>
          <a:bodyPr rtlCol="0" anchor="ctr" lIns="0" rIns="0" tIns="0" bIns="0" wrap="square"/>
          <a:lstStyle/>
          <a:p>
            <a:pPr algn="ctr" rtl="1"/>
            <a:r>
              <a:rPr sz="1250" b="1" i="0" lang="ar-AE" altLang="en-US">
                <a:solidFill>
                  <a:srgbClr val="FFFFFF"/>
                </a:solidFill>
                <a:latin typeface="Arial"/>
                <a:cs typeface="Arial"/>
              </a:rPr>
              <a:t>13 دقيقة</a:t>
            </a:r>
          </a:p>
        </p:txBody>
      </p:sp>
      <p:sp>
        <p:nvSpPr>
          <p:cNvPr id="18" name="TextBox 17"/>
          <p:cNvSpPr txBox="1"/>
          <p:nvPr/>
        </p:nvSpPr>
        <p:spPr>
          <a:xfrm>
            <a:off x="3876674" y="4267200"/>
            <a:ext cx="1581150"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نقرأ ونشاهد ونحلّل دورة الماء</a:t>
            </a:r>
          </a:p>
        </p:txBody>
      </p:sp>
      <p:pic>
        <p:nvPicPr>
          <p:cNvPr id="19" name="Picture 18" descr="ticket_w.png"/>
          <p:cNvPicPr>
            <a:picLocks noChangeAspect="1"/>
          </p:cNvPicPr>
          <p:nvPr/>
        </p:nvPicPr>
        <p:blipFill>
          <a:blip r:embed="rId4"/>
          <a:stretch>
            <a:fillRect/>
          </a:stretch>
        </p:blipFill>
        <p:spPr>
          <a:xfrm>
            <a:off x="2617089" y="2378964"/>
            <a:ext cx="347472" cy="347472"/>
          </a:xfrm>
          <a:prstGeom prst="rect">
            <a:avLst/>
          </a:prstGeom>
        </p:spPr>
      </p:pic>
      <p:sp>
        <p:nvSpPr>
          <p:cNvPr id="20" name="TextBox 19"/>
          <p:cNvSpPr txBox="1"/>
          <p:nvPr/>
        </p:nvSpPr>
        <p:spPr>
          <a:xfrm>
            <a:off x="1905000" y="3543300"/>
            <a:ext cx="176212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الختام</a:t>
            </a:r>
          </a:p>
        </p:txBody>
      </p:sp>
      <p:sp>
        <p:nvSpPr>
          <p:cNvPr id="21" name="Rounded Rectangle 20"/>
          <p:cNvSpPr/>
          <p:nvPr/>
        </p:nvSpPr>
        <p:spPr>
          <a:xfrm>
            <a:off x="2095499" y="3914775"/>
            <a:ext cx="1381125" cy="285750"/>
          </a:xfrm>
          <a:prstGeom prst="roundRect">
            <a:avLst>
              <a:gd name="adj" fmla="val 48000"/>
            </a:avLst>
          </a:prstGeom>
          <a:solidFill>
            <a:srgbClr val="C8102E"/>
          </a:solidFill>
          <a:ln>
            <a:noFill/>
          </a:ln>
        </p:spPr>
        <p:txBody>
          <a:bodyPr rtlCol="0" anchor="ctr" lIns="0" rIns="0" tIns="0" bIns="0" wrap="square"/>
          <a:lstStyle/>
          <a:p>
            <a:pPr algn="ctr" rtl="1"/>
            <a:r>
              <a:rPr sz="1250" b="1" i="0" lang="ar-AE" altLang="en-US">
                <a:solidFill>
                  <a:srgbClr val="FFFFFF"/>
                </a:solidFill>
                <a:latin typeface="Arial"/>
                <a:cs typeface="Arial"/>
              </a:rPr>
              <a:t>8 دقائق</a:t>
            </a:r>
          </a:p>
        </p:txBody>
      </p:sp>
      <p:sp>
        <p:nvSpPr>
          <p:cNvPr id="22" name="TextBox 21"/>
          <p:cNvSpPr txBox="1"/>
          <p:nvPr/>
        </p:nvSpPr>
        <p:spPr>
          <a:xfrm>
            <a:off x="1924049" y="4267200"/>
            <a:ext cx="172402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نصحّح المفهوم، نقيّم أنفسنا، بطاقة الخروج</a:t>
            </a:r>
          </a:p>
        </p:txBody>
      </p:sp>
      <p:pic>
        <p:nvPicPr>
          <p:cNvPr id="23" name="Picture 22" descr="stopwatch_n.png"/>
          <p:cNvPicPr>
            <a:picLocks noChangeAspect="1"/>
          </p:cNvPicPr>
          <p:nvPr/>
        </p:nvPicPr>
        <p:blipFill>
          <a:blip r:embed="rId5"/>
          <a:stretch>
            <a:fillRect/>
          </a:stretch>
        </p:blipFill>
        <p:spPr>
          <a:xfrm>
            <a:off x="640080" y="707136"/>
            <a:ext cx="365760" cy="365760"/>
          </a:xfrm>
          <a:prstGeom prst="rect">
            <a:avLst/>
          </a:prstGeom>
        </p:spPr>
      </p:pic>
      <p:sp>
        <p:nvSpPr>
          <p:cNvPr id="24" name="TextBox 23"/>
          <p:cNvSpPr txBox="1"/>
          <p:nvPr/>
        </p:nvSpPr>
        <p:spPr>
          <a:xfrm>
            <a:off x="1352550" y="533400"/>
            <a:ext cx="723900" cy="714375"/>
          </a:xfrm>
          <a:prstGeom prst="rect">
            <a:avLst/>
          </a:prstGeom>
          <a:noFill/>
        </p:spPr>
        <p:txBody>
          <a:bodyPr wrap="square" lIns="0" rIns="0" tIns="0" bIns="0" anchor="ctr"/>
          <a:lstStyle/>
          <a:p>
            <a:pPr algn="ctr" rtl="1"/>
            <a:r>
              <a:rPr sz="2000" b="1" i="0" lang="ar-AE" altLang="en-US">
                <a:solidFill>
                  <a:srgbClr val="102A43"/>
                </a:solidFill>
                <a:latin typeface="Arial"/>
                <a:cs typeface="Arial"/>
              </a:rPr>
              <a:t>45</a:t>
            </a:r>
          </a:p>
          <a:p>
            <a:pPr algn="ctr" rtl="1"/>
            <a:r>
              <a:rPr sz="1100" b="1" i="0" lang="ar-AE" altLang="en-US">
                <a:solidFill>
                  <a:srgbClr val="102A43"/>
                </a:solidFill>
                <a:latin typeface="Arial"/>
                <a:cs typeface="Arial"/>
              </a:rPr>
              <a:t>دقيقة</a:t>
            </a:r>
          </a:p>
        </p:txBody>
      </p:sp>
      <p:sp>
        <p:nvSpPr>
          <p:cNvPr id="25" name="TextBox 24"/>
          <p:cNvSpPr txBox="1"/>
          <p:nvPr/>
        </p:nvSpPr>
        <p:spPr>
          <a:xfrm>
            <a:off x="2476500" y="5476875"/>
            <a:ext cx="8381999" cy="381000"/>
          </a:xfrm>
          <a:prstGeom prst="rect">
            <a:avLst/>
          </a:prstGeom>
          <a:noFill/>
        </p:spPr>
        <p:txBody>
          <a:bodyPr wrap="square" lIns="73152" rIns="73152" tIns="36576" bIns="36576" anchor="ctr"/>
          <a:lstStyle/>
          <a:p>
            <a:pPr algn="ctr" rtl="1"/>
            <a:r>
              <a:rPr sz="1500" b="1" i="0" lang="ar-AE" altLang="en-US">
                <a:solidFill>
                  <a:srgbClr val="9A7B3F"/>
                </a:solidFill>
                <a:latin typeface="Arial"/>
                <a:cs typeface="Arial"/>
              </a:rPr>
              <a:t>لكل نشاط مؤقّت زمني… نلتزم بالوقت لنحقق نواتج التعلم</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219325" y="4748212"/>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433304" y="1344168"/>
            <a:ext cx="1426464"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مفردات الدرس</a:t>
            </a:r>
          </a:p>
        </p:txBody>
      </p:sp>
      <p:sp>
        <p:nvSpPr>
          <p:cNvPr id="21" name="TextBox 20"/>
          <p:cNvSpPr txBox="1"/>
          <p:nvPr/>
        </p:nvSpPr>
        <p:spPr>
          <a:xfrm>
            <a:off x="6213475" y="1280160"/>
            <a:ext cx="4110101"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المفردات الجديدة</a:t>
            </a:r>
          </a:p>
        </p:txBody>
      </p:sp>
      <p:pic>
        <p:nvPicPr>
          <p:cNvPr id="22" name="Picture 21" descr="badge_hessa.png"/>
          <p:cNvPicPr>
            <a:picLocks noChangeAspect="1"/>
          </p:cNvPicPr>
          <p:nvPr/>
        </p:nvPicPr>
        <p:blipFill>
          <a:blip r:embed="rId3"/>
          <a:stretch>
            <a:fillRect/>
          </a:stretch>
        </p:blipFill>
        <p:spPr>
          <a:xfrm>
            <a:off x="2560320" y="1222153"/>
            <a:ext cx="566928" cy="588358"/>
          </a:xfrm>
          <a:prstGeom prst="rect">
            <a:avLst/>
          </a:prstGeom>
        </p:spPr>
      </p:pic>
      <p:sp>
        <p:nvSpPr>
          <p:cNvPr id="23" name="Rounded Rectangular Callout 22"/>
          <p:cNvSpPr/>
          <p:nvPr/>
        </p:nvSpPr>
        <p:spPr>
          <a:xfrm>
            <a:off x="3209544" y="1307592"/>
            <a:ext cx="2875914" cy="420624"/>
          </a:xfrm>
          <a:prstGeom prst="wedgeRoundRectCallout">
            <a:avLst>
              <a:gd name="adj1" fmla="val -53815"/>
              <a:gd name="adj2" fmla="val 18000"/>
              <a:gd name="adj3" fmla="val 16667"/>
            </a:avLst>
          </a:prstGeom>
          <a:solidFill>
            <a:srgbClr val="FFFFFF"/>
          </a:solidFill>
          <a:ln w="19050">
            <a:solidFill>
              <a:srgbClr val="7D1F2E"/>
            </a:solidFill>
          </a:ln>
        </p:spPr>
        <p:txBody>
          <a:bodyPr rtlCol="0" anchor="ctr" lIns="54864" rIns="54864" tIns="27432" bIns="27432"/>
          <a:lstStyle/>
          <a:p>
            <a:pPr algn="ctr"/>
          </a:p>
        </p:txBody>
      </p:sp>
      <p:sp>
        <p:nvSpPr>
          <p:cNvPr id="24" name="TextBox 23"/>
          <p:cNvSpPr txBox="1"/>
          <p:nvPr/>
        </p:nvSpPr>
        <p:spPr>
          <a:xfrm>
            <a:off x="3246120" y="1307592"/>
            <a:ext cx="2802762" cy="420624"/>
          </a:xfrm>
          <a:prstGeom prst="rect">
            <a:avLst/>
          </a:prstGeom>
          <a:noFill/>
        </p:spPr>
        <p:txBody>
          <a:bodyPr wrap="square" lIns="36576" rIns="36576" tIns="0" bIns="0" anchor="ctr"/>
          <a:lstStyle/>
          <a:p>
            <a:pPr algn="r" rtl="1"/>
            <a:r>
              <a:rPr sz="1150" b="1" i="0" lang="ar-AE" altLang="en-US">
                <a:solidFill>
                  <a:srgbClr val="7D1F2E"/>
                </a:solidFill>
                <a:latin typeface="Arial"/>
                <a:cs typeface="Arial"/>
              </a:rPr>
              <a:t>حصة: </a:t>
            </a:r>
            <a:r>
              <a:rPr sz="1150" b="1" i="0" lang="ar-AE" altLang="en-US">
                <a:solidFill>
                  <a:srgbClr val="102A43"/>
                </a:solidFill>
                <a:latin typeface="Arial"/>
                <a:cs typeface="Arial"/>
              </a:rPr>
              <a:t>توقّعوا المعنى قبل أن يظهر!</a:t>
            </a:r>
          </a:p>
        </p:txBody>
      </p:sp>
      <p:sp>
        <p:nvSpPr>
          <p:cNvPr id="25" name="Rounded Rectangle 24"/>
          <p:cNvSpPr/>
          <p:nvPr/>
        </p:nvSpPr>
        <p:spPr>
          <a:xfrm>
            <a:off x="731519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6" name="Rounded Rectangle 25"/>
          <p:cNvSpPr/>
          <p:nvPr/>
        </p:nvSpPr>
        <p:spPr>
          <a:xfrm>
            <a:off x="7406640" y="1993392"/>
            <a:ext cx="4343400" cy="566928"/>
          </a:xfrm>
          <a:prstGeom prst="roundRect">
            <a:avLst>
              <a:gd name="adj" fmla="val 16129"/>
            </a:avLst>
          </a:prstGeom>
          <a:solidFill>
            <a:srgbClr val="EAF4FB"/>
          </a:solidFill>
          <a:ln>
            <a:noFill/>
          </a:ln>
        </p:spPr>
        <p:txBody>
          <a:bodyPr rtlCol="0" anchor="ctr" lIns="109728" rIns="109728" tIns="0" bIns="0" wrap="square"/>
          <a:lstStyle/>
          <a:p>
            <a:pPr algn="r" rtl="1"/>
            <a:r>
              <a:rPr sz="2000" b="1" i="0" lang="ar-AE" altLang="en-US">
                <a:solidFill>
                  <a:srgbClr val="1E88C8"/>
                </a:solidFill>
                <a:latin typeface="Arial"/>
                <a:cs typeface="Arial"/>
              </a:rPr>
              <a:t>المادة</a:t>
            </a:r>
            <a:r>
              <a:rPr sz="1200" b="1" i="0" lang="ar-AE" altLang="en-US">
                <a:solidFill>
                  <a:srgbClr val="7A8699"/>
                </a:solidFill>
                <a:latin typeface="Arial"/>
                <a:cs typeface="Arial"/>
              </a:rPr>
              <a:t>  Matter</a:t>
            </a:r>
          </a:p>
        </p:txBody>
      </p:sp>
      <p:sp>
        <p:nvSpPr>
          <p:cNvPr id="27" name="TextBox 26"/>
          <p:cNvSpPr txBox="1"/>
          <p:nvPr/>
        </p:nvSpPr>
        <p:spPr>
          <a:xfrm>
            <a:off x="7424927" y="2615184"/>
            <a:ext cx="4306824" cy="932688"/>
          </a:xfrm>
          <a:prstGeom prst="rect">
            <a:avLst/>
          </a:prstGeom>
          <a:noFill/>
        </p:spPr>
        <p:txBody>
          <a:bodyPr wrap="square" lIns="54864" rIns="54864" tIns="18288" bIns="18288" anchor="ctr"/>
          <a:lstStyle/>
          <a:p>
            <a:pPr algn="r" rtl="1"/>
            <a:r>
              <a:rPr sz="1450" b="1" i="0" lang="ar-AE" altLang="en-US">
                <a:solidFill>
                  <a:srgbClr val="102A43"/>
                </a:solidFill>
                <a:latin typeface="Arial"/>
                <a:cs typeface="Arial"/>
              </a:rPr>
              <a:t>أي شيء له كتلة ويشغل حيّزًا من الفراغ.</a:t>
            </a:r>
          </a:p>
        </p:txBody>
      </p:sp>
      <p:sp>
        <p:nvSpPr>
          <p:cNvPr id="28" name="Rounded Rectangle 27"/>
          <p:cNvSpPr/>
          <p:nvPr/>
        </p:nvSpPr>
        <p:spPr>
          <a:xfrm>
            <a:off x="265175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9" name="Rounded Rectangle 28"/>
          <p:cNvSpPr/>
          <p:nvPr/>
        </p:nvSpPr>
        <p:spPr>
          <a:xfrm>
            <a:off x="2743199" y="1993392"/>
            <a:ext cx="4343400" cy="566928"/>
          </a:xfrm>
          <a:prstGeom prst="roundRect">
            <a:avLst>
              <a:gd name="adj" fmla="val 16129"/>
            </a:avLst>
          </a:prstGeom>
          <a:solidFill>
            <a:srgbClr val="EAF4FB"/>
          </a:solidFill>
          <a:ln>
            <a:noFill/>
          </a:ln>
        </p:spPr>
        <p:txBody>
          <a:bodyPr rtlCol="0" anchor="ctr" lIns="109728" rIns="109728" tIns="0" bIns="0" wrap="square"/>
          <a:lstStyle/>
          <a:p>
            <a:pPr algn="r" rtl="1"/>
            <a:r>
              <a:rPr sz="2000" b="1" i="0" lang="ar-AE" altLang="en-US">
                <a:solidFill>
                  <a:srgbClr val="1E88C8"/>
                </a:solidFill>
                <a:latin typeface="Arial"/>
                <a:cs typeface="Arial"/>
              </a:rPr>
              <a:t>المادة المغذية</a:t>
            </a:r>
            <a:r>
              <a:rPr sz="1200" b="1" i="0" lang="ar-AE" altLang="en-US">
                <a:solidFill>
                  <a:srgbClr val="7A8699"/>
                </a:solidFill>
                <a:latin typeface="Arial"/>
                <a:cs typeface="Arial"/>
              </a:rPr>
              <a:t>  Nutrient</a:t>
            </a:r>
          </a:p>
        </p:txBody>
      </p:sp>
      <p:sp>
        <p:nvSpPr>
          <p:cNvPr id="30" name="TextBox 29"/>
          <p:cNvSpPr txBox="1"/>
          <p:nvPr/>
        </p:nvSpPr>
        <p:spPr>
          <a:xfrm>
            <a:off x="2761487" y="2615184"/>
            <a:ext cx="4306824" cy="932688"/>
          </a:xfrm>
          <a:prstGeom prst="rect">
            <a:avLst/>
          </a:prstGeom>
          <a:noFill/>
        </p:spPr>
        <p:txBody>
          <a:bodyPr wrap="square" lIns="54864" rIns="54864" tIns="18288" bIns="18288" anchor="ctr"/>
          <a:lstStyle/>
          <a:p>
            <a:pPr algn="r" rtl="1"/>
            <a:r>
              <a:rPr sz="1450" b="1" i="0" lang="ar-AE" altLang="en-US">
                <a:solidFill>
                  <a:srgbClr val="102A43"/>
                </a:solidFill>
                <a:latin typeface="Arial"/>
                <a:cs typeface="Arial"/>
              </a:rPr>
              <a:t>مادة كيميائية يجب أن يحصل عليها الكائن الحي من بيئته لاستمرار حياته والقيام بعملياته الحيوية.</a:t>
            </a:r>
          </a:p>
        </p:txBody>
      </p:sp>
      <p:sp>
        <p:nvSpPr>
          <p:cNvPr id="31" name="Rounded Rectangle 30"/>
          <p:cNvSpPr/>
          <p:nvPr/>
        </p:nvSpPr>
        <p:spPr>
          <a:xfrm>
            <a:off x="731519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2" name="Rounded Rectangle 31"/>
          <p:cNvSpPr/>
          <p:nvPr/>
        </p:nvSpPr>
        <p:spPr>
          <a:xfrm>
            <a:off x="7406640" y="3822191"/>
            <a:ext cx="4343400" cy="566928"/>
          </a:xfrm>
          <a:prstGeom prst="roundRect">
            <a:avLst>
              <a:gd name="adj" fmla="val 16129"/>
            </a:avLst>
          </a:prstGeom>
          <a:solidFill>
            <a:srgbClr val="EAF4FB"/>
          </a:solidFill>
          <a:ln>
            <a:noFill/>
          </a:ln>
        </p:spPr>
        <p:txBody>
          <a:bodyPr rtlCol="0" anchor="ctr" lIns="109728" rIns="109728" tIns="0" bIns="0" wrap="square"/>
          <a:lstStyle/>
          <a:p>
            <a:pPr algn="r" rtl="1"/>
            <a:r>
              <a:rPr sz="1900" b="1" i="0" lang="ar-AE" altLang="en-US">
                <a:solidFill>
                  <a:srgbClr val="1E88C8"/>
                </a:solidFill>
                <a:latin typeface="Arial"/>
                <a:cs typeface="Arial"/>
              </a:rPr>
              <a:t>الدورة الجيوكيميائية الحيوية</a:t>
            </a:r>
            <a:r>
              <a:rPr sz="1200" b="1" i="0" lang="ar-AE" altLang="en-US">
                <a:solidFill>
                  <a:srgbClr val="7A8699"/>
                </a:solidFill>
                <a:latin typeface="Arial"/>
                <a:cs typeface="Arial"/>
              </a:rPr>
              <a:t>  Biogeochemical cycle</a:t>
            </a:r>
          </a:p>
        </p:txBody>
      </p:sp>
      <p:sp>
        <p:nvSpPr>
          <p:cNvPr id="33" name="TextBox 32"/>
          <p:cNvSpPr txBox="1"/>
          <p:nvPr/>
        </p:nvSpPr>
        <p:spPr>
          <a:xfrm>
            <a:off x="7424927" y="4443983"/>
            <a:ext cx="4306824" cy="932688"/>
          </a:xfrm>
          <a:prstGeom prst="rect">
            <a:avLst/>
          </a:prstGeom>
          <a:noFill/>
        </p:spPr>
        <p:txBody>
          <a:bodyPr wrap="square" lIns="54864" rIns="54864" tIns="18288" bIns="18288" anchor="ctr"/>
          <a:lstStyle/>
          <a:p>
            <a:pPr algn="r" rtl="1"/>
            <a:r>
              <a:rPr sz="1450" b="1" i="0" lang="ar-AE" altLang="en-US">
                <a:solidFill>
                  <a:srgbClr val="102A43"/>
                </a:solidFill>
                <a:latin typeface="Arial"/>
                <a:cs typeface="Arial"/>
              </a:rPr>
              <a:t>عملية تبادل المواد بين الأجزاء الحيوية وغير الحيوية ضمن الغلاف الحيوي.</a:t>
            </a:r>
          </a:p>
        </p:txBody>
      </p:sp>
      <p:sp>
        <p:nvSpPr>
          <p:cNvPr id="34" name="Rounded Rectangle 33"/>
          <p:cNvSpPr/>
          <p:nvPr/>
        </p:nvSpPr>
        <p:spPr>
          <a:xfrm>
            <a:off x="265175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5" name="Rounded Rectangle 34"/>
          <p:cNvSpPr/>
          <p:nvPr/>
        </p:nvSpPr>
        <p:spPr>
          <a:xfrm>
            <a:off x="2743199" y="3822191"/>
            <a:ext cx="4343400" cy="566928"/>
          </a:xfrm>
          <a:prstGeom prst="roundRect">
            <a:avLst>
              <a:gd name="adj" fmla="val 16129"/>
            </a:avLst>
          </a:prstGeom>
          <a:solidFill>
            <a:srgbClr val="EAF4FB"/>
          </a:solidFill>
          <a:ln>
            <a:noFill/>
          </a:ln>
        </p:spPr>
        <p:txBody>
          <a:bodyPr rtlCol="0" anchor="ctr" lIns="109728" rIns="109728" tIns="0" bIns="0" wrap="square"/>
          <a:lstStyle/>
          <a:p>
            <a:pPr algn="r" rtl="1"/>
            <a:r>
              <a:rPr sz="2000" b="1" i="0" lang="ar-AE" altLang="en-US">
                <a:solidFill>
                  <a:srgbClr val="1E88C8"/>
                </a:solidFill>
                <a:latin typeface="Arial"/>
                <a:cs typeface="Arial"/>
              </a:rPr>
              <a:t>الدورة (مراجعة)</a:t>
            </a:r>
            <a:r>
              <a:rPr sz="1200" b="1" i="0" lang="ar-AE" altLang="en-US">
                <a:solidFill>
                  <a:srgbClr val="7A8699"/>
                </a:solidFill>
                <a:latin typeface="Arial"/>
                <a:cs typeface="Arial"/>
              </a:rPr>
              <a:t>  Cycle</a:t>
            </a:r>
          </a:p>
        </p:txBody>
      </p:sp>
      <p:sp>
        <p:nvSpPr>
          <p:cNvPr id="36" name="TextBox 35"/>
          <p:cNvSpPr txBox="1"/>
          <p:nvPr/>
        </p:nvSpPr>
        <p:spPr>
          <a:xfrm>
            <a:off x="2761487" y="4443983"/>
            <a:ext cx="4306824" cy="932688"/>
          </a:xfrm>
          <a:prstGeom prst="rect">
            <a:avLst/>
          </a:prstGeom>
          <a:noFill/>
        </p:spPr>
        <p:txBody>
          <a:bodyPr wrap="square" lIns="54864" rIns="54864" tIns="18288" bIns="18288" anchor="ctr"/>
          <a:lstStyle/>
          <a:p>
            <a:pPr algn="r" rtl="1"/>
            <a:r>
              <a:rPr sz="1450" b="1" i="0" lang="ar-AE" altLang="en-US">
                <a:solidFill>
                  <a:srgbClr val="102A43"/>
                </a:solidFill>
                <a:latin typeface="Arial"/>
                <a:cs typeface="Arial"/>
              </a:rPr>
              <a:t>سلسلة من الأحداث تتكرر بنمط منتظم، تبدأ وتنتهي في النقطة نفسها.</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5"/>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nextCondLst>
                <p:cond evt="onNext" delay="0">
                  <p:tgtEl>
                    <p:sldTgt/>
                  </p:tgtEl>
                </p:cond>
              </p:nextCondLst>
            </p:seq>
          </p:childTnLst>
        </p:cTn>
      </p:par>
    </p:tnLst>
    <p:bldLst>
      <p:bldP spid="27" grpId="0" animBg="1"/>
      <p:bldP spid="30" grpId="0" animBg="1"/>
      <p:bldP spid="33" grpId="0" animBg="1"/>
      <p:bldP spid="36"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8" name="Oval 7"/>
          <p:cNvSpPr/>
          <p:nvPr/>
        </p:nvSpPr>
        <p:spPr>
          <a:xfrm>
            <a:off x="2020824" y="1773936"/>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المادة والمادة المغذية</a:t>
            </a:r>
          </a:p>
        </p:txBody>
      </p:sp>
      <p:sp>
        <p:nvSpPr>
          <p:cNvPr id="10" name="Oval 9"/>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433304" y="1344168"/>
            <a:ext cx="1426464"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الأول</a:t>
            </a:r>
          </a:p>
        </p:txBody>
      </p:sp>
      <p:sp>
        <p:nvSpPr>
          <p:cNvPr id="22" name="TextBox 21"/>
          <p:cNvSpPr txBox="1"/>
          <p:nvPr/>
        </p:nvSpPr>
        <p:spPr>
          <a:xfrm>
            <a:off x="6745478" y="1280160"/>
            <a:ext cx="3578098" cy="502920"/>
          </a:xfrm>
          <a:prstGeom prst="rect">
            <a:avLst/>
          </a:prstGeom>
          <a:noFill/>
        </p:spPr>
        <p:txBody>
          <a:bodyPr wrap="square" lIns="18288" rIns="18288" tIns="0" bIns="0" anchor="ctr"/>
          <a:lstStyle/>
          <a:p>
            <a:pPr algn="r" rtl="1"/>
            <a:r>
              <a:rPr sz="2000" b="1" i="0" lang="ar-AE" altLang="en-US">
                <a:solidFill>
                  <a:srgbClr val="102A43"/>
                </a:solidFill>
                <a:latin typeface="Arial"/>
                <a:cs typeface="Arial"/>
              </a:rPr>
              <a:t>المادة لا تفنى… بل تُعاد دورتها</a:t>
            </a:r>
          </a:p>
        </p:txBody>
      </p:sp>
      <p:pic>
        <p:nvPicPr>
          <p:cNvPr id="23" name="Picture 22" descr="badge_fahem.png"/>
          <p:cNvPicPr>
            <a:picLocks noChangeAspect="1"/>
          </p:cNvPicPr>
          <p:nvPr/>
        </p:nvPicPr>
        <p:blipFill>
          <a:blip r:embed="rId3"/>
          <a:stretch>
            <a:fillRect/>
          </a:stretch>
        </p:blipFill>
        <p:spPr>
          <a:xfrm>
            <a:off x="2560320" y="1185137"/>
            <a:ext cx="566928" cy="625374"/>
          </a:xfrm>
          <a:prstGeom prst="rect">
            <a:avLst/>
          </a:prstGeom>
        </p:spPr>
      </p:pic>
      <p:sp>
        <p:nvSpPr>
          <p:cNvPr id="24" name="Rounded Rectangular Callout 23"/>
          <p:cNvSpPr/>
          <p:nvPr/>
        </p:nvSpPr>
        <p:spPr>
          <a:xfrm>
            <a:off x="3209544" y="1307592"/>
            <a:ext cx="3407918" cy="420624"/>
          </a:xfrm>
          <a:prstGeom prst="wedgeRoundRectCallout">
            <a:avLst>
              <a:gd name="adj1" fmla="val -53219"/>
              <a:gd name="adj2" fmla="val 18000"/>
              <a:gd name="adj3" fmla="val 16667"/>
            </a:avLst>
          </a:prstGeom>
          <a:solidFill>
            <a:srgbClr val="FFFFFF"/>
          </a:solidFill>
          <a:ln w="19050">
            <a:solidFill>
              <a:srgbClr val="1E6B3A"/>
            </a:solidFill>
          </a:ln>
        </p:spPr>
        <p:txBody>
          <a:bodyPr rtlCol="0" anchor="ctr" lIns="54864" rIns="54864" tIns="27432" bIns="27432"/>
          <a:lstStyle/>
          <a:p>
            <a:pPr algn="ctr"/>
          </a:p>
        </p:txBody>
      </p:sp>
      <p:sp>
        <p:nvSpPr>
          <p:cNvPr id="25" name="TextBox 24"/>
          <p:cNvSpPr txBox="1"/>
          <p:nvPr/>
        </p:nvSpPr>
        <p:spPr>
          <a:xfrm>
            <a:off x="3246120" y="1307592"/>
            <a:ext cx="3334766" cy="420624"/>
          </a:xfrm>
          <a:prstGeom prst="rect">
            <a:avLst/>
          </a:prstGeom>
          <a:noFill/>
        </p:spPr>
        <p:txBody>
          <a:bodyPr wrap="square" lIns="36576" rIns="36576" tIns="0" bIns="0" anchor="ctr"/>
          <a:lstStyle/>
          <a:p>
            <a:pPr algn="r" rtl="1"/>
            <a:r>
              <a:rPr sz="1150" b="1" i="0" lang="ar-AE" altLang="en-US">
                <a:solidFill>
                  <a:srgbClr val="1E6B3A"/>
                </a:solidFill>
                <a:latin typeface="Arial"/>
                <a:cs typeface="Arial"/>
              </a:rPr>
              <a:t>فاهم: </a:t>
            </a:r>
            <a:r>
              <a:rPr sz="1150" b="1" i="0" lang="ar-AE" altLang="en-US">
                <a:solidFill>
                  <a:srgbClr val="102A43"/>
                </a:solidFill>
                <a:latin typeface="Arial"/>
                <a:cs typeface="Arial"/>
              </a:rPr>
              <a:t>ماذا لو لم تُعِد الطبيعة تدوير المادة؟</a:t>
            </a:r>
          </a:p>
        </p:txBody>
      </p:sp>
      <p:sp>
        <p:nvSpPr>
          <p:cNvPr id="26" name="Rounded Rectangle 25"/>
          <p:cNvSpPr/>
          <p:nvPr/>
        </p:nvSpPr>
        <p:spPr>
          <a:xfrm>
            <a:off x="7360920" y="1920240"/>
            <a:ext cx="4480560" cy="3584448"/>
          </a:xfrm>
          <a:prstGeom prst="roundRect">
            <a:avLst>
              <a:gd name="adj" fmla="val 306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7" name="TextBox 26"/>
          <p:cNvSpPr txBox="1"/>
          <p:nvPr/>
        </p:nvSpPr>
        <p:spPr>
          <a:xfrm>
            <a:off x="7452360" y="1993392"/>
            <a:ext cx="4297680" cy="3474720"/>
          </a:xfrm>
          <a:prstGeom prst="rect">
            <a:avLst/>
          </a:prstGeom>
          <a:noFill/>
        </p:spPr>
        <p:txBody>
          <a:bodyPr wrap="square" lIns="109728" rIns="109728" tIns="54864" bIns="54864" anchor="t"/>
          <a:lstStyle/>
          <a:p>
            <a:pPr algn="r" rtl="1">
              <a:spcAft>
                <a:spcPts val="800"/>
              </a:spcAft>
            </a:pPr>
            <a:r>
              <a:rPr sz="1500" b="1" i="0" lang="ar-AE" altLang="en-US">
                <a:solidFill>
                  <a:srgbClr val="1E88C8"/>
                </a:solidFill>
                <a:latin typeface="Arial"/>
                <a:cs typeface="Arial"/>
              </a:rPr>
              <a:t>قانون حفظ المادة: </a:t>
            </a:r>
            <a:r>
              <a:rPr sz="1500" b="1" i="0" lang="ar-AE" altLang="en-US">
                <a:solidFill>
                  <a:srgbClr val="102A43"/>
                </a:solidFill>
                <a:latin typeface="Arial"/>
                <a:cs typeface="Arial"/>
              </a:rPr>
              <a:t>المادة لا تفنى ولا تُستحدث من العدم، لكنها تتحوّل من صورة إلى أخرى.</a:t>
            </a:r>
          </a:p>
          <a:p>
            <a:pPr algn="r" rtl="1">
              <a:spcAft>
                <a:spcPts val="800"/>
              </a:spcAft>
            </a:pPr>
            <a:r>
              <a:rPr sz="1500" b="1" i="0" lang="ar-AE" altLang="en-US">
                <a:solidFill>
                  <a:srgbClr val="1E88C8"/>
                </a:solidFill>
                <a:latin typeface="Arial"/>
                <a:cs typeface="Arial"/>
              </a:rPr>
              <a:t>المادة: </a:t>
            </a:r>
            <a:r>
              <a:rPr sz="1500" b="1" i="0" lang="ar-AE" altLang="en-US">
                <a:solidFill>
                  <a:srgbClr val="102A43"/>
                </a:solidFill>
                <a:latin typeface="Arial"/>
                <a:cs typeface="Arial"/>
              </a:rPr>
              <a:t>أي شيء له كتلة ويشغل حيّزًا من الفراغ.</a:t>
            </a:r>
          </a:p>
          <a:p>
            <a:pPr algn="r" rtl="1">
              <a:spcAft>
                <a:spcPts val="800"/>
              </a:spcAft>
            </a:pPr>
            <a:r>
              <a:rPr sz="1500" b="1" i="0" lang="ar-AE" altLang="en-US">
                <a:solidFill>
                  <a:srgbClr val="1E88C8"/>
                </a:solidFill>
                <a:latin typeface="Arial"/>
                <a:cs typeface="Arial"/>
              </a:rPr>
              <a:t>المادة المغذية: </a:t>
            </a:r>
            <a:r>
              <a:rPr sz="1500" b="1" i="0" lang="ar-AE" altLang="en-US">
                <a:solidFill>
                  <a:srgbClr val="102A43"/>
                </a:solidFill>
                <a:latin typeface="Arial"/>
                <a:cs typeface="Arial"/>
              </a:rPr>
              <a:t>مادة كيميائية يحصل عليها الكائن الحي من بيئته لاستمرار حياته.</a:t>
            </a:r>
          </a:p>
          <a:p>
            <a:pPr algn="r" rtl="1"/>
            <a:r>
              <a:rPr sz="1500" b="1" i="0" lang="ar-AE" altLang="en-US">
                <a:solidFill>
                  <a:srgbClr val="102A43"/>
                </a:solidFill>
                <a:latin typeface="Arial"/>
                <a:cs typeface="Arial"/>
              </a:rPr>
              <a:t>تتكوّن أجسام الكائنات الحية من الماء ومواد مغذية مثل </a:t>
            </a:r>
            <a:r>
              <a:rPr sz="1500" b="1" i="0" lang="ar-AE" altLang="en-US">
                <a:solidFill>
                  <a:srgbClr val="1E88C8"/>
                </a:solidFill>
                <a:latin typeface="Arial"/>
                <a:cs typeface="Arial"/>
              </a:rPr>
              <a:t>الكربون والنيتروجين والفوسفور</a:t>
            </a:r>
            <a:r>
              <a:rPr sz="1500" b="1" i="0" lang="ar-AE" altLang="en-US">
                <a:solidFill>
                  <a:srgbClr val="102A43"/>
                </a:solidFill>
                <a:latin typeface="Arial"/>
                <a:cs typeface="Arial"/>
              </a:rPr>
              <a:t>.</a:t>
            </a:r>
          </a:p>
        </p:txBody>
      </p:sp>
      <p:sp>
        <p:nvSpPr>
          <p:cNvPr id="28" name="Rounded Rectangle 27"/>
          <p:cNvSpPr/>
          <p:nvPr/>
        </p:nvSpPr>
        <p:spPr>
          <a:xfrm>
            <a:off x="2697480" y="1920240"/>
            <a:ext cx="4526280" cy="1737360"/>
          </a:xfrm>
          <a:prstGeom prst="roundRect">
            <a:avLst>
              <a:gd name="adj" fmla="val 6315"/>
            </a:avLst>
          </a:prstGeom>
          <a:solidFill>
            <a:srgbClr val="FDF1E6"/>
          </a:solidFill>
          <a:ln w="12700">
            <a:solidFill>
              <a:srgbClr val="F2D2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9" name="TextBox 28"/>
          <p:cNvSpPr txBox="1"/>
          <p:nvPr/>
        </p:nvSpPr>
        <p:spPr>
          <a:xfrm>
            <a:off x="2788920" y="1956816"/>
            <a:ext cx="4343400" cy="411480"/>
          </a:xfrm>
          <a:prstGeom prst="rect">
            <a:avLst/>
          </a:prstGeom>
          <a:noFill/>
        </p:spPr>
        <p:txBody>
          <a:bodyPr wrap="square" lIns="73152" rIns="73152" tIns="36576" bIns="36576" anchor="ctr"/>
          <a:lstStyle/>
          <a:p>
            <a:pPr algn="r" rtl="1"/>
            <a:r>
              <a:rPr sz="1550" b="1" i="0" lang="ar-AE" altLang="en-US">
                <a:solidFill>
                  <a:srgbClr val="B4531A"/>
                </a:solidFill>
                <a:latin typeface="Arial"/>
                <a:cs typeface="Arial"/>
              </a:rPr>
              <a:t>الطاقة: تتدفق في اتجاه واحد</a:t>
            </a:r>
          </a:p>
        </p:txBody>
      </p:sp>
      <p:sp>
        <p:nvSpPr>
          <p:cNvPr id="30" name="Oval 29"/>
          <p:cNvSpPr/>
          <p:nvPr/>
        </p:nvSpPr>
        <p:spPr>
          <a:xfrm>
            <a:off x="6446520" y="2423160"/>
            <a:ext cx="603504" cy="603504"/>
          </a:xfrm>
          <a:prstGeom prst="ellipse">
            <a:avLst/>
          </a:prstGeom>
          <a:solidFill>
            <a:srgbClr val="D2691E"/>
          </a:solidFill>
          <a:ln>
            <a:noFill/>
          </a:ln>
        </p:spPr>
        <p:txBody>
          <a:bodyPr rtlCol="0" anchor="ctr" lIns="54864" rIns="54864" tIns="27432" bIns="27432"/>
          <a:lstStyle/>
          <a:p>
            <a:pPr algn="ctr"/>
          </a:p>
        </p:txBody>
      </p:sp>
      <p:pic>
        <p:nvPicPr>
          <p:cNvPr id="31" name="Picture 30" descr="sun_w.png"/>
          <p:cNvPicPr>
            <a:picLocks noChangeAspect="1"/>
          </p:cNvPicPr>
          <p:nvPr/>
        </p:nvPicPr>
        <p:blipFill>
          <a:blip r:embed="rId4"/>
          <a:stretch>
            <a:fillRect/>
          </a:stretch>
        </p:blipFill>
        <p:spPr>
          <a:xfrm>
            <a:off x="6579290" y="2555930"/>
            <a:ext cx="337962" cy="337962"/>
          </a:xfrm>
          <a:prstGeom prst="rect">
            <a:avLst/>
          </a:prstGeom>
        </p:spPr>
      </p:pic>
      <p:sp>
        <p:nvSpPr>
          <p:cNvPr id="32" name="TextBox 31"/>
          <p:cNvSpPr txBox="1"/>
          <p:nvPr/>
        </p:nvSpPr>
        <p:spPr>
          <a:xfrm>
            <a:off x="6217920" y="3044952"/>
            <a:ext cx="1060704" cy="310896"/>
          </a:xfrm>
          <a:prstGeom prst="rect">
            <a:avLst/>
          </a:prstGeom>
          <a:noFill/>
        </p:spPr>
        <p:txBody>
          <a:bodyPr wrap="square" lIns="0" rIns="0" tIns="0" bIns="0" anchor="ctr"/>
          <a:lstStyle/>
          <a:p>
            <a:pPr algn="ctr" rtl="1"/>
            <a:r>
              <a:rPr sz="1150" b="1" i="0" lang="ar-AE" altLang="en-US">
                <a:solidFill>
                  <a:srgbClr val="5A3A1A"/>
                </a:solidFill>
                <a:latin typeface="Arial"/>
                <a:cs typeface="Arial"/>
              </a:rPr>
              <a:t>الشمس</a:t>
            </a:r>
          </a:p>
        </p:txBody>
      </p:sp>
      <p:sp>
        <p:nvSpPr>
          <p:cNvPr id="33" name="Left Arrow 32"/>
          <p:cNvSpPr/>
          <p:nvPr/>
        </p:nvSpPr>
        <p:spPr>
          <a:xfrm>
            <a:off x="6025896" y="2606040"/>
            <a:ext cx="329184" cy="237744"/>
          </a:xfrm>
          <a:prstGeom prst="leftArrow">
            <a:avLst/>
          </a:prstGeom>
          <a:solidFill>
            <a:srgbClr val="D2691E"/>
          </a:solidFill>
          <a:ln>
            <a:noFill/>
          </a:ln>
        </p:spPr>
        <p:txBody>
          <a:bodyPr rtlCol="0" anchor="ctr" lIns="54864" rIns="54864" tIns="27432" bIns="27432"/>
          <a:lstStyle/>
          <a:p>
            <a:pPr algn="ctr"/>
          </a:p>
        </p:txBody>
      </p:sp>
      <p:sp>
        <p:nvSpPr>
          <p:cNvPr id="34" name="Oval 33"/>
          <p:cNvSpPr/>
          <p:nvPr/>
        </p:nvSpPr>
        <p:spPr>
          <a:xfrm>
            <a:off x="5349240" y="2423160"/>
            <a:ext cx="603504" cy="603504"/>
          </a:xfrm>
          <a:prstGeom prst="ellipse">
            <a:avLst/>
          </a:prstGeom>
          <a:solidFill>
            <a:srgbClr val="2E7D32"/>
          </a:solidFill>
          <a:ln>
            <a:noFill/>
          </a:ln>
        </p:spPr>
        <p:txBody>
          <a:bodyPr rtlCol="0" anchor="ctr" lIns="54864" rIns="54864" tIns="27432" bIns="27432"/>
          <a:lstStyle/>
          <a:p>
            <a:pPr algn="ctr"/>
          </a:p>
        </p:txBody>
      </p:sp>
      <p:pic>
        <p:nvPicPr>
          <p:cNvPr id="35" name="Picture 34" descr="seedling_w.png"/>
          <p:cNvPicPr>
            <a:picLocks noChangeAspect="1"/>
          </p:cNvPicPr>
          <p:nvPr/>
        </p:nvPicPr>
        <p:blipFill>
          <a:blip r:embed="rId5"/>
          <a:stretch>
            <a:fillRect/>
          </a:stretch>
        </p:blipFill>
        <p:spPr>
          <a:xfrm>
            <a:off x="5482010" y="2555930"/>
            <a:ext cx="337962" cy="337962"/>
          </a:xfrm>
          <a:prstGeom prst="rect">
            <a:avLst/>
          </a:prstGeom>
        </p:spPr>
      </p:pic>
      <p:sp>
        <p:nvSpPr>
          <p:cNvPr id="36" name="TextBox 35"/>
          <p:cNvSpPr txBox="1"/>
          <p:nvPr/>
        </p:nvSpPr>
        <p:spPr>
          <a:xfrm>
            <a:off x="5120640" y="3044952"/>
            <a:ext cx="1060704" cy="310896"/>
          </a:xfrm>
          <a:prstGeom prst="rect">
            <a:avLst/>
          </a:prstGeom>
          <a:noFill/>
        </p:spPr>
        <p:txBody>
          <a:bodyPr wrap="square" lIns="0" rIns="0" tIns="0" bIns="0" anchor="ctr"/>
          <a:lstStyle/>
          <a:p>
            <a:pPr algn="ctr" rtl="1"/>
            <a:r>
              <a:rPr sz="1150" b="1" i="0" lang="ar-AE" altLang="en-US">
                <a:solidFill>
                  <a:srgbClr val="5A3A1A"/>
                </a:solidFill>
                <a:latin typeface="Arial"/>
                <a:cs typeface="Arial"/>
              </a:rPr>
              <a:t>المنتجات</a:t>
            </a:r>
          </a:p>
        </p:txBody>
      </p:sp>
      <p:sp>
        <p:nvSpPr>
          <p:cNvPr id="37" name="Left Arrow 36"/>
          <p:cNvSpPr/>
          <p:nvPr/>
        </p:nvSpPr>
        <p:spPr>
          <a:xfrm>
            <a:off x="4928616" y="2606040"/>
            <a:ext cx="329184" cy="237744"/>
          </a:xfrm>
          <a:prstGeom prst="leftArrow">
            <a:avLst/>
          </a:prstGeom>
          <a:solidFill>
            <a:srgbClr val="D2691E"/>
          </a:solidFill>
          <a:ln>
            <a:noFill/>
          </a:ln>
        </p:spPr>
        <p:txBody>
          <a:bodyPr rtlCol="0" anchor="ctr" lIns="54864" rIns="54864" tIns="27432" bIns="27432"/>
          <a:lstStyle/>
          <a:p>
            <a:pPr algn="ctr"/>
          </a:p>
        </p:txBody>
      </p:sp>
      <p:sp>
        <p:nvSpPr>
          <p:cNvPr id="38" name="Oval 37"/>
          <p:cNvSpPr/>
          <p:nvPr/>
        </p:nvSpPr>
        <p:spPr>
          <a:xfrm>
            <a:off x="4251960" y="2423160"/>
            <a:ext cx="603504" cy="603504"/>
          </a:xfrm>
          <a:prstGeom prst="ellipse">
            <a:avLst/>
          </a:prstGeom>
          <a:solidFill>
            <a:srgbClr val="1E88C8"/>
          </a:solidFill>
          <a:ln>
            <a:noFill/>
          </a:ln>
        </p:spPr>
        <p:txBody>
          <a:bodyPr rtlCol="0" anchor="ctr" lIns="54864" rIns="54864" tIns="27432" bIns="27432"/>
          <a:lstStyle/>
          <a:p>
            <a:pPr algn="ctr"/>
          </a:p>
        </p:txBody>
      </p:sp>
      <p:pic>
        <p:nvPicPr>
          <p:cNvPr id="39" name="Picture 38" descr="fish_w.png"/>
          <p:cNvPicPr>
            <a:picLocks noChangeAspect="1"/>
          </p:cNvPicPr>
          <p:nvPr/>
        </p:nvPicPr>
        <p:blipFill>
          <a:blip r:embed="rId6"/>
          <a:stretch>
            <a:fillRect/>
          </a:stretch>
        </p:blipFill>
        <p:spPr>
          <a:xfrm>
            <a:off x="4384730" y="2555930"/>
            <a:ext cx="337962" cy="337962"/>
          </a:xfrm>
          <a:prstGeom prst="rect">
            <a:avLst/>
          </a:prstGeom>
        </p:spPr>
      </p:pic>
      <p:sp>
        <p:nvSpPr>
          <p:cNvPr id="40" name="TextBox 39"/>
          <p:cNvSpPr txBox="1"/>
          <p:nvPr/>
        </p:nvSpPr>
        <p:spPr>
          <a:xfrm>
            <a:off x="4023360" y="3044952"/>
            <a:ext cx="1060704" cy="310896"/>
          </a:xfrm>
          <a:prstGeom prst="rect">
            <a:avLst/>
          </a:prstGeom>
          <a:noFill/>
        </p:spPr>
        <p:txBody>
          <a:bodyPr wrap="square" lIns="0" rIns="0" tIns="0" bIns="0" anchor="ctr"/>
          <a:lstStyle/>
          <a:p>
            <a:pPr algn="ctr" rtl="1"/>
            <a:r>
              <a:rPr sz="1150" b="1" i="0" lang="ar-AE" altLang="en-US">
                <a:solidFill>
                  <a:srgbClr val="5A3A1A"/>
                </a:solidFill>
                <a:latin typeface="Arial"/>
                <a:cs typeface="Arial"/>
              </a:rPr>
              <a:t>المستهلكات</a:t>
            </a:r>
          </a:p>
        </p:txBody>
      </p:sp>
      <p:sp>
        <p:nvSpPr>
          <p:cNvPr id="41" name="Left Arrow 40"/>
          <p:cNvSpPr/>
          <p:nvPr/>
        </p:nvSpPr>
        <p:spPr>
          <a:xfrm>
            <a:off x="3831336" y="2606040"/>
            <a:ext cx="329184" cy="237744"/>
          </a:xfrm>
          <a:prstGeom prst="leftArrow">
            <a:avLst/>
          </a:prstGeom>
          <a:solidFill>
            <a:srgbClr val="D2691E"/>
          </a:solidFill>
          <a:ln>
            <a:noFill/>
          </a:ln>
        </p:spPr>
        <p:txBody>
          <a:bodyPr rtlCol="0" anchor="ctr" lIns="54864" rIns="54864" tIns="27432" bIns="27432"/>
          <a:lstStyle/>
          <a:p>
            <a:pPr algn="ctr"/>
          </a:p>
        </p:txBody>
      </p:sp>
      <p:sp>
        <p:nvSpPr>
          <p:cNvPr id="42" name="Oval 41"/>
          <p:cNvSpPr/>
          <p:nvPr/>
        </p:nvSpPr>
        <p:spPr>
          <a:xfrm>
            <a:off x="3154680" y="2423160"/>
            <a:ext cx="603504" cy="603504"/>
          </a:xfrm>
          <a:prstGeom prst="ellipse">
            <a:avLst/>
          </a:prstGeom>
          <a:solidFill>
            <a:srgbClr val="C8102E"/>
          </a:solidFill>
          <a:ln>
            <a:noFill/>
          </a:ln>
        </p:spPr>
        <p:txBody>
          <a:bodyPr rtlCol="0" anchor="ctr" lIns="54864" rIns="54864" tIns="27432" bIns="27432"/>
          <a:lstStyle/>
          <a:p>
            <a:pPr algn="ctr"/>
          </a:p>
        </p:txBody>
      </p:sp>
      <p:pic>
        <p:nvPicPr>
          <p:cNvPr id="43" name="Picture 42" descr="thermo_w.png"/>
          <p:cNvPicPr>
            <a:picLocks noChangeAspect="1"/>
          </p:cNvPicPr>
          <p:nvPr/>
        </p:nvPicPr>
        <p:blipFill>
          <a:blip r:embed="rId7"/>
          <a:stretch>
            <a:fillRect/>
          </a:stretch>
        </p:blipFill>
        <p:spPr>
          <a:xfrm>
            <a:off x="3287450" y="2555930"/>
            <a:ext cx="337962" cy="337962"/>
          </a:xfrm>
          <a:prstGeom prst="rect">
            <a:avLst/>
          </a:prstGeom>
        </p:spPr>
      </p:pic>
      <p:sp>
        <p:nvSpPr>
          <p:cNvPr id="44" name="TextBox 43"/>
          <p:cNvSpPr txBox="1"/>
          <p:nvPr/>
        </p:nvSpPr>
        <p:spPr>
          <a:xfrm>
            <a:off x="2926080" y="3044952"/>
            <a:ext cx="1060704" cy="310896"/>
          </a:xfrm>
          <a:prstGeom prst="rect">
            <a:avLst/>
          </a:prstGeom>
          <a:noFill/>
        </p:spPr>
        <p:txBody>
          <a:bodyPr wrap="square" lIns="0" rIns="0" tIns="0" bIns="0" anchor="ctr"/>
          <a:lstStyle/>
          <a:p>
            <a:pPr algn="ctr" rtl="1"/>
            <a:r>
              <a:rPr sz="1150" b="1" i="0" lang="ar-AE" altLang="en-US">
                <a:solidFill>
                  <a:srgbClr val="5A3A1A"/>
                </a:solidFill>
                <a:latin typeface="Arial"/>
                <a:cs typeface="Arial"/>
              </a:rPr>
              <a:t>حرارة تُفقد</a:t>
            </a:r>
          </a:p>
        </p:txBody>
      </p:sp>
      <p:sp>
        <p:nvSpPr>
          <p:cNvPr id="45" name="Rounded Rectangle 44"/>
          <p:cNvSpPr/>
          <p:nvPr/>
        </p:nvSpPr>
        <p:spPr>
          <a:xfrm>
            <a:off x="2697480" y="3767328"/>
            <a:ext cx="4526280" cy="1737360"/>
          </a:xfrm>
          <a:prstGeom prst="roundRect">
            <a:avLst>
              <a:gd name="adj" fmla="val 6315"/>
            </a:avLst>
          </a:prstGeom>
          <a:solidFill>
            <a:srgbClr val="EAF4FB"/>
          </a:solidFill>
          <a:ln w="12700">
            <a:solidFill>
              <a:srgbClr val="BFDDF2"/>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46" name="TextBox 45"/>
          <p:cNvSpPr txBox="1"/>
          <p:nvPr/>
        </p:nvSpPr>
        <p:spPr>
          <a:xfrm>
            <a:off x="2788920" y="3803904"/>
            <a:ext cx="4343400" cy="411480"/>
          </a:xfrm>
          <a:prstGeom prst="rect">
            <a:avLst/>
          </a:prstGeom>
          <a:noFill/>
        </p:spPr>
        <p:txBody>
          <a:bodyPr wrap="square" lIns="73152" rIns="73152" tIns="36576" bIns="36576" anchor="ctr"/>
          <a:lstStyle/>
          <a:p>
            <a:pPr algn="r" rtl="1"/>
            <a:r>
              <a:rPr sz="1550" b="1" i="0" lang="ar-AE" altLang="en-US">
                <a:solidFill>
                  <a:srgbClr val="145A8A"/>
                </a:solidFill>
                <a:latin typeface="Arial"/>
                <a:cs typeface="Arial"/>
              </a:rPr>
              <a:t>المادة: تُعاد دورتها باستمرار</a:t>
            </a:r>
          </a:p>
        </p:txBody>
      </p:sp>
      <p:sp>
        <p:nvSpPr>
          <p:cNvPr id="47" name="Oval 46"/>
          <p:cNvSpPr/>
          <p:nvPr/>
        </p:nvSpPr>
        <p:spPr>
          <a:xfrm>
            <a:off x="6309360" y="4279392"/>
            <a:ext cx="868680" cy="868680"/>
          </a:xfrm>
          <a:prstGeom prst="ellipse">
            <a:avLst/>
          </a:prstGeom>
          <a:solidFill>
            <a:srgbClr val="1E88C8"/>
          </a:solidFill>
          <a:ln>
            <a:noFill/>
          </a:ln>
        </p:spPr>
        <p:txBody>
          <a:bodyPr rtlCol="0" anchor="ctr" lIns="54864" rIns="54864" tIns="27432" bIns="27432"/>
          <a:lstStyle/>
          <a:p>
            <a:pPr algn="ctr"/>
          </a:p>
        </p:txBody>
      </p:sp>
      <p:pic>
        <p:nvPicPr>
          <p:cNvPr id="48" name="Picture 47" descr="recycle_w.png"/>
          <p:cNvPicPr>
            <a:picLocks noChangeAspect="1"/>
          </p:cNvPicPr>
          <p:nvPr/>
        </p:nvPicPr>
        <p:blipFill>
          <a:blip r:embed="rId8"/>
          <a:stretch>
            <a:fillRect/>
          </a:stretch>
        </p:blipFill>
        <p:spPr>
          <a:xfrm>
            <a:off x="6500469" y="4470501"/>
            <a:ext cx="486460" cy="486460"/>
          </a:xfrm>
          <a:prstGeom prst="rect">
            <a:avLst/>
          </a:prstGeom>
        </p:spPr>
      </p:pic>
      <p:sp>
        <p:nvSpPr>
          <p:cNvPr id="49" name="TextBox 48"/>
          <p:cNvSpPr txBox="1"/>
          <p:nvPr/>
        </p:nvSpPr>
        <p:spPr>
          <a:xfrm>
            <a:off x="2788920" y="4251960"/>
            <a:ext cx="3383280" cy="1143000"/>
          </a:xfrm>
          <a:prstGeom prst="rect">
            <a:avLst/>
          </a:prstGeom>
          <a:noFill/>
        </p:spPr>
        <p:txBody>
          <a:bodyPr wrap="square" lIns="73152" rIns="73152" tIns="36576" bIns="36576" anchor="ctr"/>
          <a:lstStyle/>
          <a:p>
            <a:pPr algn="r" rtl="1"/>
            <a:r>
              <a:rPr sz="1350" b="1" i="0" lang="ar-AE" altLang="en-US">
                <a:solidFill>
                  <a:srgbClr val="102A43"/>
                </a:solidFill>
                <a:latin typeface="Arial"/>
                <a:cs typeface="Arial"/>
              </a:rPr>
              <a:t>تنتقل بين الكائنات الحية (الأجزاء الحيوية) والهواء والماء والتربة (الأجزاء غير الحيوية)، ثم تعود من جديد.</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8" name="Oval 7"/>
          <p:cNvSpPr/>
          <p:nvPr/>
        </p:nvSpPr>
        <p:spPr>
          <a:xfrm>
            <a:off x="2020824" y="1773936"/>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المادة والمادة المغذية</a:t>
            </a:r>
          </a:p>
        </p:txBody>
      </p:sp>
      <p:sp>
        <p:nvSpPr>
          <p:cNvPr id="10" name="Oval 9"/>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857232" y="1344168"/>
            <a:ext cx="2002536"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الأول</a:t>
            </a:r>
          </a:p>
        </p:txBody>
      </p:sp>
      <p:sp>
        <p:nvSpPr>
          <p:cNvPr id="22" name="TextBox 21"/>
          <p:cNvSpPr txBox="1"/>
          <p:nvPr/>
        </p:nvSpPr>
        <p:spPr>
          <a:xfrm>
            <a:off x="2606040" y="1280160"/>
            <a:ext cx="714146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صنّفوا العبارات: طاقة أم مادة؟</a:t>
            </a:r>
          </a:p>
        </p:txBody>
      </p:sp>
      <p:sp>
        <p:nvSpPr>
          <p:cNvPr id="23" name="Rounded Rectangle 22"/>
          <p:cNvSpPr/>
          <p:nvPr/>
        </p:nvSpPr>
        <p:spPr>
          <a:xfrm>
            <a:off x="7315199" y="1901952"/>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24" name="Oval 23"/>
          <p:cNvSpPr/>
          <p:nvPr/>
        </p:nvSpPr>
        <p:spPr>
          <a:xfrm>
            <a:off x="11420855" y="2029968"/>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1</a:t>
            </a:r>
          </a:p>
        </p:txBody>
      </p:sp>
      <p:sp>
        <p:nvSpPr>
          <p:cNvPr id="25" name="TextBox 24"/>
          <p:cNvSpPr txBox="1"/>
          <p:nvPr/>
        </p:nvSpPr>
        <p:spPr>
          <a:xfrm>
            <a:off x="8339327" y="1901952"/>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تتدفق في اتجاه واحد عبر النظام البيئي.</a:t>
            </a:r>
          </a:p>
        </p:txBody>
      </p:sp>
      <p:sp>
        <p:nvSpPr>
          <p:cNvPr id="26" name="Rounded Rectangle 25"/>
          <p:cNvSpPr/>
          <p:nvPr/>
        </p:nvSpPr>
        <p:spPr>
          <a:xfrm>
            <a:off x="7388351" y="2029968"/>
            <a:ext cx="896112" cy="329184"/>
          </a:xfrm>
          <a:prstGeom prst="roundRect">
            <a:avLst>
              <a:gd name="adj" fmla="val 50000"/>
            </a:avLst>
          </a:prstGeom>
          <a:solidFill>
            <a:srgbClr val="D2691E"/>
          </a:solidFill>
          <a:ln>
            <a:noFill/>
          </a:ln>
        </p:spPr>
        <p:txBody>
          <a:bodyPr rtlCol="0" anchor="ctr" lIns="0" rIns="0" tIns="0" bIns="0" wrap="square"/>
          <a:lstStyle/>
          <a:p>
            <a:pPr algn="ctr" rtl="1"/>
            <a:r>
              <a:rPr sz="1250" b="1" i="0" lang="ar-AE" altLang="en-US">
                <a:solidFill>
                  <a:srgbClr val="FFFFFF"/>
                </a:solidFill>
                <a:latin typeface="Arial"/>
                <a:cs typeface="Arial"/>
              </a:rPr>
              <a:t>طاقة</a:t>
            </a:r>
          </a:p>
        </p:txBody>
      </p:sp>
      <p:sp>
        <p:nvSpPr>
          <p:cNvPr id="27" name="Rounded Rectangle 26"/>
          <p:cNvSpPr/>
          <p:nvPr/>
        </p:nvSpPr>
        <p:spPr>
          <a:xfrm>
            <a:off x="2651759" y="1901952"/>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28" name="Oval 27"/>
          <p:cNvSpPr/>
          <p:nvPr/>
        </p:nvSpPr>
        <p:spPr>
          <a:xfrm>
            <a:off x="6757416" y="2029968"/>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2</a:t>
            </a:r>
          </a:p>
        </p:txBody>
      </p:sp>
      <p:sp>
        <p:nvSpPr>
          <p:cNvPr id="29" name="TextBox 28"/>
          <p:cNvSpPr txBox="1"/>
          <p:nvPr/>
        </p:nvSpPr>
        <p:spPr>
          <a:xfrm>
            <a:off x="3675887" y="1901952"/>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تُعاد دورتها بين الكائنات الحية والبيئة.</a:t>
            </a:r>
          </a:p>
        </p:txBody>
      </p:sp>
      <p:sp>
        <p:nvSpPr>
          <p:cNvPr id="30" name="Rounded Rectangle 29"/>
          <p:cNvSpPr/>
          <p:nvPr/>
        </p:nvSpPr>
        <p:spPr>
          <a:xfrm>
            <a:off x="2724911" y="2029968"/>
            <a:ext cx="896112" cy="329184"/>
          </a:xfrm>
          <a:prstGeom prst="roundRect">
            <a:avLst>
              <a:gd name="adj" fmla="val 50000"/>
            </a:avLst>
          </a:prstGeom>
          <a:solidFill>
            <a:srgbClr val="1E88C8"/>
          </a:solidFill>
          <a:ln>
            <a:noFill/>
          </a:ln>
        </p:spPr>
        <p:txBody>
          <a:bodyPr rtlCol="0" anchor="ctr" lIns="0" rIns="0" tIns="0" bIns="0" wrap="square"/>
          <a:lstStyle/>
          <a:p>
            <a:pPr algn="ctr" rtl="1"/>
            <a:r>
              <a:rPr sz="1250" b="1" i="0" lang="ar-AE" altLang="en-US">
                <a:solidFill>
                  <a:srgbClr val="FFFFFF"/>
                </a:solidFill>
                <a:latin typeface="Arial"/>
                <a:cs typeface="Arial"/>
              </a:rPr>
              <a:t>مادة</a:t>
            </a:r>
          </a:p>
        </p:txBody>
      </p:sp>
      <p:sp>
        <p:nvSpPr>
          <p:cNvPr id="31" name="Rounded Rectangle 30"/>
          <p:cNvSpPr/>
          <p:nvPr/>
        </p:nvSpPr>
        <p:spPr>
          <a:xfrm>
            <a:off x="7315199" y="2578608"/>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32" name="Oval 31"/>
          <p:cNvSpPr/>
          <p:nvPr/>
        </p:nvSpPr>
        <p:spPr>
          <a:xfrm>
            <a:off x="11420855" y="2706624"/>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3</a:t>
            </a:r>
          </a:p>
        </p:txBody>
      </p:sp>
      <p:sp>
        <p:nvSpPr>
          <p:cNvPr id="33" name="TextBox 32"/>
          <p:cNvSpPr txBox="1"/>
          <p:nvPr/>
        </p:nvSpPr>
        <p:spPr>
          <a:xfrm>
            <a:off x="8339327" y="2578608"/>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يُفقد جزء كبير منها حرارةً عند كل مستوى غذائي.</a:t>
            </a:r>
          </a:p>
        </p:txBody>
      </p:sp>
      <p:sp>
        <p:nvSpPr>
          <p:cNvPr id="34" name="Rounded Rectangle 33"/>
          <p:cNvSpPr/>
          <p:nvPr/>
        </p:nvSpPr>
        <p:spPr>
          <a:xfrm>
            <a:off x="7388351" y="2706624"/>
            <a:ext cx="896112" cy="329184"/>
          </a:xfrm>
          <a:prstGeom prst="roundRect">
            <a:avLst>
              <a:gd name="adj" fmla="val 50000"/>
            </a:avLst>
          </a:prstGeom>
          <a:solidFill>
            <a:srgbClr val="D2691E"/>
          </a:solidFill>
          <a:ln>
            <a:noFill/>
          </a:ln>
        </p:spPr>
        <p:txBody>
          <a:bodyPr rtlCol="0" anchor="ctr" lIns="0" rIns="0" tIns="0" bIns="0" wrap="square"/>
          <a:lstStyle/>
          <a:p>
            <a:pPr algn="ctr" rtl="1"/>
            <a:r>
              <a:rPr sz="1250" b="1" i="0" lang="ar-AE" altLang="en-US">
                <a:solidFill>
                  <a:srgbClr val="FFFFFF"/>
                </a:solidFill>
                <a:latin typeface="Arial"/>
                <a:cs typeface="Arial"/>
              </a:rPr>
              <a:t>طاقة</a:t>
            </a:r>
          </a:p>
        </p:txBody>
      </p:sp>
      <p:sp>
        <p:nvSpPr>
          <p:cNvPr id="35" name="Rounded Rectangle 34"/>
          <p:cNvSpPr/>
          <p:nvPr/>
        </p:nvSpPr>
        <p:spPr>
          <a:xfrm>
            <a:off x="2651759" y="2578608"/>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36" name="Oval 35"/>
          <p:cNvSpPr/>
          <p:nvPr/>
        </p:nvSpPr>
        <p:spPr>
          <a:xfrm>
            <a:off x="6757416" y="2706624"/>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4</a:t>
            </a:r>
          </a:p>
        </p:txBody>
      </p:sp>
      <p:sp>
        <p:nvSpPr>
          <p:cNvPr id="37" name="TextBox 36"/>
          <p:cNvSpPr txBox="1"/>
          <p:nvPr/>
        </p:nvSpPr>
        <p:spPr>
          <a:xfrm>
            <a:off x="3675887" y="2578608"/>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تعيدها المحللات إلى التربة بعد موت الكائنات.</a:t>
            </a:r>
          </a:p>
        </p:txBody>
      </p:sp>
      <p:sp>
        <p:nvSpPr>
          <p:cNvPr id="38" name="Rounded Rectangle 37"/>
          <p:cNvSpPr/>
          <p:nvPr/>
        </p:nvSpPr>
        <p:spPr>
          <a:xfrm>
            <a:off x="2724911" y="2706624"/>
            <a:ext cx="896112" cy="329184"/>
          </a:xfrm>
          <a:prstGeom prst="roundRect">
            <a:avLst>
              <a:gd name="adj" fmla="val 50000"/>
            </a:avLst>
          </a:prstGeom>
          <a:solidFill>
            <a:srgbClr val="1E88C8"/>
          </a:solidFill>
          <a:ln>
            <a:noFill/>
          </a:ln>
        </p:spPr>
        <p:txBody>
          <a:bodyPr rtlCol="0" anchor="ctr" lIns="0" rIns="0" tIns="0" bIns="0" wrap="square"/>
          <a:lstStyle/>
          <a:p>
            <a:pPr algn="ctr" rtl="1"/>
            <a:r>
              <a:rPr sz="1250" b="1" i="0" lang="ar-AE" altLang="en-US">
                <a:solidFill>
                  <a:srgbClr val="FFFFFF"/>
                </a:solidFill>
                <a:latin typeface="Arial"/>
                <a:cs typeface="Arial"/>
              </a:rPr>
              <a:t>مادة</a:t>
            </a:r>
          </a:p>
        </p:txBody>
      </p:sp>
      <p:sp>
        <p:nvSpPr>
          <p:cNvPr id="39" name="Rounded Rectangle 38"/>
          <p:cNvSpPr/>
          <p:nvPr/>
        </p:nvSpPr>
        <p:spPr>
          <a:xfrm>
            <a:off x="7315199" y="3255264"/>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40" name="Oval 39"/>
          <p:cNvSpPr/>
          <p:nvPr/>
        </p:nvSpPr>
        <p:spPr>
          <a:xfrm>
            <a:off x="11420855" y="3383280"/>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5</a:t>
            </a:r>
          </a:p>
        </p:txBody>
      </p:sp>
      <p:sp>
        <p:nvSpPr>
          <p:cNvPr id="41" name="TextBox 40"/>
          <p:cNvSpPr txBox="1"/>
          <p:nvPr/>
        </p:nvSpPr>
        <p:spPr>
          <a:xfrm>
            <a:off x="8339327" y="3255264"/>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مصدرها الأساسي في معظم الأنظمة البيئية الشمس.</a:t>
            </a:r>
          </a:p>
        </p:txBody>
      </p:sp>
      <p:sp>
        <p:nvSpPr>
          <p:cNvPr id="42" name="Rounded Rectangle 41"/>
          <p:cNvSpPr/>
          <p:nvPr/>
        </p:nvSpPr>
        <p:spPr>
          <a:xfrm>
            <a:off x="7388351" y="3383280"/>
            <a:ext cx="896112" cy="329184"/>
          </a:xfrm>
          <a:prstGeom prst="roundRect">
            <a:avLst>
              <a:gd name="adj" fmla="val 50000"/>
            </a:avLst>
          </a:prstGeom>
          <a:solidFill>
            <a:srgbClr val="D2691E"/>
          </a:solidFill>
          <a:ln>
            <a:noFill/>
          </a:ln>
        </p:spPr>
        <p:txBody>
          <a:bodyPr rtlCol="0" anchor="ctr" lIns="0" rIns="0" tIns="0" bIns="0" wrap="square"/>
          <a:lstStyle/>
          <a:p>
            <a:pPr algn="ctr" rtl="1"/>
            <a:r>
              <a:rPr sz="1250" b="1" i="0" lang="ar-AE" altLang="en-US">
                <a:solidFill>
                  <a:srgbClr val="FFFFFF"/>
                </a:solidFill>
                <a:latin typeface="Arial"/>
                <a:cs typeface="Arial"/>
              </a:rPr>
              <a:t>طاقة</a:t>
            </a:r>
          </a:p>
        </p:txBody>
      </p:sp>
      <p:sp>
        <p:nvSpPr>
          <p:cNvPr id="43" name="Rounded Rectangle 42"/>
          <p:cNvSpPr/>
          <p:nvPr/>
        </p:nvSpPr>
        <p:spPr>
          <a:xfrm>
            <a:off x="2651759" y="3255264"/>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44" name="Oval 43"/>
          <p:cNvSpPr/>
          <p:nvPr/>
        </p:nvSpPr>
        <p:spPr>
          <a:xfrm>
            <a:off x="6757416" y="3383280"/>
            <a:ext cx="329184" cy="329184"/>
          </a:xfrm>
          <a:prstGeom prst="ellipse">
            <a:avLst/>
          </a:prstGeom>
          <a:solidFill>
            <a:srgbClr val="1E88C8"/>
          </a:solidFill>
          <a:ln>
            <a:noFill/>
          </a:ln>
        </p:spPr>
        <p:txBody>
          <a:bodyPr rtlCol="0" anchor="ctr" lIns="0" rIns="0" tIns="0" bIns="0" wrap="square"/>
          <a:lstStyle/>
          <a:p>
            <a:pPr algn="ctr" rtl="1"/>
            <a:r>
              <a:rPr sz="1300" b="1" i="0" lang="ar-AE" altLang="en-US">
                <a:solidFill>
                  <a:srgbClr val="FFFFFF"/>
                </a:solidFill>
                <a:latin typeface="Arial"/>
                <a:cs typeface="Arial"/>
              </a:rPr>
              <a:t>6</a:t>
            </a:r>
          </a:p>
        </p:txBody>
      </p:sp>
      <p:sp>
        <p:nvSpPr>
          <p:cNvPr id="45" name="TextBox 44"/>
          <p:cNvSpPr txBox="1"/>
          <p:nvPr/>
        </p:nvSpPr>
        <p:spPr>
          <a:xfrm>
            <a:off x="3675887" y="3255264"/>
            <a:ext cx="3044952" cy="585216"/>
          </a:xfrm>
          <a:prstGeom prst="rect">
            <a:avLst/>
          </a:prstGeom>
          <a:noFill/>
        </p:spPr>
        <p:txBody>
          <a:bodyPr wrap="square" lIns="27432" rIns="27432" tIns="0" bIns="0" anchor="ctr"/>
          <a:lstStyle/>
          <a:p>
            <a:pPr algn="r" rtl="1"/>
            <a:r>
              <a:rPr sz="1300" b="1" i="0" lang="ar-AE" altLang="en-US">
                <a:solidFill>
                  <a:srgbClr val="102A43"/>
                </a:solidFill>
                <a:latin typeface="Arial"/>
                <a:cs typeface="Arial"/>
              </a:rPr>
              <a:t>تتكوّن منها أجسام الكائنات مثل الكربون والنيتروجين.</a:t>
            </a:r>
          </a:p>
        </p:txBody>
      </p:sp>
      <p:sp>
        <p:nvSpPr>
          <p:cNvPr id="46" name="Rounded Rectangle 45"/>
          <p:cNvSpPr/>
          <p:nvPr/>
        </p:nvSpPr>
        <p:spPr>
          <a:xfrm>
            <a:off x="2724911" y="3383280"/>
            <a:ext cx="896112" cy="329184"/>
          </a:xfrm>
          <a:prstGeom prst="roundRect">
            <a:avLst>
              <a:gd name="adj" fmla="val 50000"/>
            </a:avLst>
          </a:prstGeom>
          <a:solidFill>
            <a:srgbClr val="1E88C8"/>
          </a:solidFill>
          <a:ln>
            <a:noFill/>
          </a:ln>
        </p:spPr>
        <p:txBody>
          <a:bodyPr rtlCol="0" anchor="ctr" lIns="0" rIns="0" tIns="0" bIns="0" wrap="square"/>
          <a:lstStyle/>
          <a:p>
            <a:pPr algn="ctr" rtl="1"/>
            <a:r>
              <a:rPr sz="1250" b="1" i="0" lang="ar-AE" altLang="en-US">
                <a:solidFill>
                  <a:srgbClr val="FFFFFF"/>
                </a:solidFill>
                <a:latin typeface="Arial"/>
                <a:cs typeface="Arial"/>
              </a:rPr>
              <a:t>مادة</a:t>
            </a:r>
          </a:p>
        </p:txBody>
      </p:sp>
      <p:pic>
        <p:nvPicPr>
          <p:cNvPr id="47"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697480" y="4069080"/>
            <a:ext cx="1417320" cy="1417320"/>
          </a:xfrm>
          <a:prstGeom prst="rect">
            <a:avLst/>
          </a:prstGeom>
        </p:spPr>
      </p:pic>
      <p:sp>
        <p:nvSpPr>
          <p:cNvPr id="48" name="Rounded Rectangle 47"/>
          <p:cNvSpPr/>
          <p:nvPr/>
        </p:nvSpPr>
        <p:spPr>
          <a:xfrm>
            <a:off x="4251960" y="4023360"/>
            <a:ext cx="7589520" cy="1481328"/>
          </a:xfrm>
          <a:prstGeom prst="roundRect">
            <a:avLst>
              <a:gd name="adj" fmla="val 7407"/>
            </a:avLst>
          </a:prstGeom>
          <a:solidFill>
            <a:srgbClr val="FBF5E8"/>
          </a:solidFill>
          <a:ln w="12700">
            <a:solidFill>
              <a:srgbClr val="E6D5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49" name="Picture 48" descr="badge_shaheen.png"/>
          <p:cNvPicPr>
            <a:picLocks noChangeAspect="1"/>
          </p:cNvPicPr>
          <p:nvPr/>
        </p:nvPicPr>
        <p:blipFill>
          <a:blip r:embed="rId6"/>
          <a:stretch>
            <a:fillRect/>
          </a:stretch>
        </p:blipFill>
        <p:spPr>
          <a:xfrm>
            <a:off x="10881360" y="4096512"/>
            <a:ext cx="868680" cy="898531"/>
          </a:xfrm>
          <a:prstGeom prst="rect">
            <a:avLst/>
          </a:prstGeom>
        </p:spPr>
      </p:pic>
      <p:sp>
        <p:nvSpPr>
          <p:cNvPr id="50" name="TextBox 49"/>
          <p:cNvSpPr txBox="1"/>
          <p:nvPr/>
        </p:nvSpPr>
        <p:spPr>
          <a:xfrm>
            <a:off x="4343400" y="4069080"/>
            <a:ext cx="6446520" cy="457200"/>
          </a:xfrm>
          <a:prstGeom prst="rect">
            <a:avLst/>
          </a:prstGeom>
          <a:noFill/>
        </p:spPr>
        <p:txBody>
          <a:bodyPr wrap="square" lIns="73152" rIns="73152" tIns="36576" bIns="36576" anchor="ctr"/>
          <a:lstStyle/>
          <a:p>
            <a:pPr algn="r" rtl="1"/>
            <a:r>
              <a:rPr sz="1500" b="1" i="0" lang="ar-AE" altLang="en-US">
                <a:solidFill>
                  <a:srgbClr val="6B3F1D"/>
                </a:solidFill>
                <a:latin typeface="Arial"/>
                <a:cs typeface="Arial"/>
              </a:rPr>
              <a:t>تحدّي شاهين </a:t>
            </a:r>
            <a:r>
              <a:rPr sz="1500" b="1" i="0" lang="ar-AE" altLang="en-US">
                <a:solidFill>
                  <a:srgbClr val="C8102E"/>
                </a:solidFill>
                <a:latin typeface="Arial"/>
                <a:cs typeface="Arial"/>
              </a:rPr>
              <a:t>■</a:t>
            </a:r>
          </a:p>
        </p:txBody>
      </p:sp>
      <p:sp>
        <p:nvSpPr>
          <p:cNvPr id="51" name="TextBox 50"/>
          <p:cNvSpPr txBox="1"/>
          <p:nvPr/>
        </p:nvSpPr>
        <p:spPr>
          <a:xfrm>
            <a:off x="4343400" y="4498848"/>
            <a:ext cx="6446520" cy="960120"/>
          </a:xfrm>
          <a:prstGeom prst="rect">
            <a:avLst/>
          </a:prstGeom>
          <a:noFill/>
        </p:spPr>
        <p:txBody>
          <a:bodyPr wrap="square" lIns="73152" rIns="73152" tIns="36576" bIns="36576" anchor="t"/>
          <a:lstStyle/>
          <a:p>
            <a:pPr algn="r" rtl="1"/>
            <a:r>
              <a:rPr sz="1400" b="1" i="0" lang="ar-AE" altLang="en-US">
                <a:solidFill>
                  <a:srgbClr val="102A43"/>
                </a:solidFill>
                <a:latin typeface="Arial"/>
                <a:cs typeface="Arial"/>
              </a:rPr>
              <a:t>لماذا تحتاج الأنظمة البيئية إلى إمداد مستمر بالطاقة من الشمس، ولا تحتاج إلى إمداد مستمر بالمادة؟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40"/>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500"/>
                                        <p:tgtEl>
                                          <p:spTgt spid="42"/>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44"/>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4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47"/>
                                        </p:tgtEl>
                                      </p:cBhvr>
                                    </p:cmd>
                                  </p:childTnLst>
                                </p:cTn>
                              </p:par>
                            </p:childTnLst>
                          </p:cTn>
                        </p:par>
                      </p:childTnLst>
                    </p:cTn>
                  </p:par>
                </p:childTnLst>
              </p:cTn>
              <p:nextCondLst>
                <p:cond evt="onNext" delay="0">
                  <p:tgtEl>
                    <p:sldTgt/>
                  </p:tgtEl>
                </p:cond>
              </p:nextCondLst>
            </p:seq>
            <p:video>
              <p:cMediaNode vol="80000">
                <p:cTn id="43" fill="hold" display="0">
                  <p:stCondLst>
                    <p:cond delay="indefinite"/>
                  </p:stCondLst>
                </p:cTn>
                <p:tgtEl>
                  <p:spTgt spid="47"/>
                </p:tgtEl>
              </p:cMediaNode>
            </p:video>
          </p:childTnLst>
        </p:cTn>
      </p:par>
    </p:tnLst>
    <p:bldLst>
      <p:bldP spid="26" grpId="0" animBg="1"/>
      <p:bldP spid="30" grpId="0" animBg="1"/>
      <p:bldP spid="34" grpId="0" animBg="1"/>
      <p:bldP spid="38" grpId="0" animBg="1"/>
      <p:bldP spid="42" grpId="0" animBg="1"/>
      <p:bldP spid="4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0" name="Oval 9"/>
          <p:cNvSpPr/>
          <p:nvPr/>
        </p:nvSpPr>
        <p:spPr>
          <a:xfrm>
            <a:off x="2020824" y="2061972"/>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انتقال المواد المغذية</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الثاني</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كيف تنتقل المواد المغذية في النظام البيئي؟</a:t>
            </a:r>
          </a:p>
        </p:txBody>
      </p:sp>
      <p:pic>
        <p:nvPicPr>
          <p:cNvPr id="23" name="Picture 22" descr="fig16_cows.png"/>
          <p:cNvPicPr>
            <a:picLocks noChangeAspect="1"/>
          </p:cNvPicPr>
          <p:nvPr/>
        </p:nvPicPr>
        <p:blipFill>
          <a:blip r:embed="rId3"/>
          <a:stretch>
            <a:fillRect/>
          </a:stretch>
        </p:blipFill>
        <p:spPr>
          <a:xfrm>
            <a:off x="7818120" y="1901952"/>
            <a:ext cx="4023360" cy="3108960"/>
          </a:xfrm>
          <a:prstGeom prst="rect">
            <a:avLst/>
          </a:prstGeom>
          <a:ln w="25400">
            <a:solidFill>
              <a:srgbClr val="C9A96A"/>
            </a:solidFill>
          </a:ln>
          <a:effectLst>
            <a:outerShdw blurRad="76200" dist="31750" dir="5400000" algn="t" rotWithShape="0">
              <a:srgbClr val="1E2B3C">
                <a:alpha val="22000"/>
              </a:srgbClr>
            </a:outerShdw>
          </a:effectLst>
        </p:spPr>
      </p:pic>
      <p:sp>
        <p:nvSpPr>
          <p:cNvPr id="24" name="TextBox 23"/>
          <p:cNvSpPr txBox="1"/>
          <p:nvPr/>
        </p:nvSpPr>
        <p:spPr>
          <a:xfrm>
            <a:off x="7818120" y="5029200"/>
            <a:ext cx="4023360" cy="457200"/>
          </a:xfrm>
          <a:prstGeom prst="rect">
            <a:avLst/>
          </a:prstGeom>
          <a:noFill/>
        </p:spPr>
        <p:txBody>
          <a:bodyPr wrap="square" lIns="73152" rIns="73152" tIns="36576" bIns="36576" anchor="ctr"/>
          <a:lstStyle/>
          <a:p>
            <a:pPr algn="ctr" rtl="1"/>
            <a:r>
              <a:rPr sz="1150" b="1" i="0" lang="ar-AE" altLang="en-US">
                <a:solidFill>
                  <a:srgbClr val="5A687D"/>
                </a:solidFill>
                <a:latin typeface="Arial"/>
                <a:cs typeface="Arial"/>
              </a:rPr>
              <a:t>الشكل 16: تنتقل المواد المغذية من المنتِج إلى المستهلِك</a:t>
            </a:r>
          </a:p>
        </p:txBody>
      </p:sp>
      <p:sp>
        <p:nvSpPr>
          <p:cNvPr id="25" name="Rounded Rectangle 24"/>
          <p:cNvSpPr/>
          <p:nvPr/>
        </p:nvSpPr>
        <p:spPr>
          <a:xfrm>
            <a:off x="6172200" y="1993392"/>
            <a:ext cx="1078992" cy="868680"/>
          </a:xfrm>
          <a:prstGeom prst="roundRect">
            <a:avLst>
              <a:gd name="adj" fmla="val 15789"/>
            </a:avLst>
          </a:prstGeom>
          <a:solidFill>
            <a:srgbClr val="8A6440"/>
          </a:solidFill>
          <a:ln>
            <a:noFill/>
          </a:ln>
        </p:spPr>
        <p:txBody>
          <a:bodyPr rtlCol="0" anchor="ctr" lIns="36576" rIns="36576" tIns="18288" bIns="18288" wrap="square"/>
          <a:lstStyle/>
          <a:p>
            <a:pPr algn="ctr" rtl="1"/>
            <a:r>
              <a:rPr sz="1250" b="1" i="0" lang="ar-AE" altLang="en-US">
                <a:solidFill>
                  <a:srgbClr val="FFFFFF"/>
                </a:solidFill>
                <a:latin typeface="Arial"/>
                <a:cs typeface="Arial"/>
              </a:rPr>
              <a:t>الهواء والتربة والماء</a:t>
            </a:r>
          </a:p>
        </p:txBody>
      </p:sp>
      <p:sp>
        <p:nvSpPr>
          <p:cNvPr id="26" name="Left Arrow 25"/>
          <p:cNvSpPr/>
          <p:nvPr/>
        </p:nvSpPr>
        <p:spPr>
          <a:xfrm>
            <a:off x="6025896" y="2304288"/>
            <a:ext cx="182880" cy="237744"/>
          </a:xfrm>
          <a:prstGeom prst="leftArrow">
            <a:avLst/>
          </a:prstGeom>
          <a:solidFill>
            <a:srgbClr val="8A9BB0"/>
          </a:solidFill>
          <a:ln>
            <a:noFill/>
          </a:ln>
        </p:spPr>
        <p:txBody>
          <a:bodyPr rtlCol="0" anchor="ctr" lIns="54864" rIns="54864" tIns="27432" bIns="27432"/>
          <a:lstStyle/>
          <a:p>
            <a:pPr algn="ctr"/>
          </a:p>
        </p:txBody>
      </p:sp>
      <p:sp>
        <p:nvSpPr>
          <p:cNvPr id="27" name="Rounded Rectangle 26"/>
          <p:cNvSpPr/>
          <p:nvPr/>
        </p:nvSpPr>
        <p:spPr>
          <a:xfrm>
            <a:off x="5001768" y="1993392"/>
            <a:ext cx="1078992" cy="868680"/>
          </a:xfrm>
          <a:prstGeom prst="roundRect">
            <a:avLst>
              <a:gd name="adj" fmla="val 15789"/>
            </a:avLst>
          </a:prstGeom>
          <a:solidFill>
            <a:srgbClr val="2E7D32"/>
          </a:solidFill>
          <a:ln>
            <a:noFill/>
          </a:ln>
        </p:spPr>
        <p:txBody>
          <a:bodyPr rtlCol="0" anchor="ctr" lIns="36576" rIns="36576" tIns="18288" bIns="18288" wrap="square"/>
          <a:lstStyle/>
          <a:p>
            <a:pPr algn="ctr" rtl="1"/>
            <a:r>
              <a:rPr sz="1250" b="1" i="0" lang="ar-AE" altLang="en-US">
                <a:solidFill>
                  <a:srgbClr val="FFFFFF"/>
                </a:solidFill>
                <a:latin typeface="Arial"/>
                <a:cs typeface="Arial"/>
              </a:rPr>
              <a:t>الأعشاب (منتِج)</a:t>
            </a:r>
          </a:p>
        </p:txBody>
      </p:sp>
      <p:sp>
        <p:nvSpPr>
          <p:cNvPr id="28" name="Left Arrow 27"/>
          <p:cNvSpPr/>
          <p:nvPr/>
        </p:nvSpPr>
        <p:spPr>
          <a:xfrm>
            <a:off x="4855464" y="2304288"/>
            <a:ext cx="182880" cy="237744"/>
          </a:xfrm>
          <a:prstGeom prst="leftArrow">
            <a:avLst/>
          </a:prstGeom>
          <a:solidFill>
            <a:srgbClr val="8A9BB0"/>
          </a:solidFill>
          <a:ln>
            <a:noFill/>
          </a:ln>
        </p:spPr>
        <p:txBody>
          <a:bodyPr rtlCol="0" anchor="ctr" lIns="54864" rIns="54864" tIns="27432" bIns="27432"/>
          <a:lstStyle/>
          <a:p>
            <a:pPr algn="ctr"/>
          </a:p>
        </p:txBody>
      </p:sp>
      <p:sp>
        <p:nvSpPr>
          <p:cNvPr id="29" name="Rounded Rectangle 28"/>
          <p:cNvSpPr/>
          <p:nvPr/>
        </p:nvSpPr>
        <p:spPr>
          <a:xfrm>
            <a:off x="3831335" y="1993392"/>
            <a:ext cx="1078992" cy="868680"/>
          </a:xfrm>
          <a:prstGeom prst="roundRect">
            <a:avLst>
              <a:gd name="adj" fmla="val 15789"/>
            </a:avLst>
          </a:prstGeom>
          <a:solidFill>
            <a:srgbClr val="996B2F"/>
          </a:solidFill>
          <a:ln>
            <a:noFill/>
          </a:ln>
        </p:spPr>
        <p:txBody>
          <a:bodyPr rtlCol="0" anchor="ctr" lIns="36576" rIns="36576" tIns="18288" bIns="18288" wrap="square"/>
          <a:lstStyle/>
          <a:p>
            <a:pPr algn="ctr" rtl="1"/>
            <a:r>
              <a:rPr sz="1250" b="1" i="0" lang="ar-AE" altLang="en-US">
                <a:solidFill>
                  <a:srgbClr val="FFFFFF"/>
                </a:solidFill>
                <a:latin typeface="Arial"/>
                <a:cs typeface="Arial"/>
              </a:rPr>
              <a:t>البقرة (مستهلِك)</a:t>
            </a:r>
          </a:p>
        </p:txBody>
      </p:sp>
      <p:sp>
        <p:nvSpPr>
          <p:cNvPr id="30" name="Left Arrow 29"/>
          <p:cNvSpPr/>
          <p:nvPr/>
        </p:nvSpPr>
        <p:spPr>
          <a:xfrm>
            <a:off x="3685031" y="2304288"/>
            <a:ext cx="182880" cy="237744"/>
          </a:xfrm>
          <a:prstGeom prst="leftArrow">
            <a:avLst/>
          </a:prstGeom>
          <a:solidFill>
            <a:srgbClr val="8A9BB0"/>
          </a:solidFill>
          <a:ln>
            <a:noFill/>
          </a:ln>
        </p:spPr>
        <p:txBody>
          <a:bodyPr rtlCol="0" anchor="ctr" lIns="54864" rIns="54864" tIns="27432" bIns="27432"/>
          <a:lstStyle/>
          <a:p>
            <a:pPr algn="ctr"/>
          </a:p>
        </p:txBody>
      </p:sp>
      <p:sp>
        <p:nvSpPr>
          <p:cNvPr id="31" name="Rounded Rectangle 30"/>
          <p:cNvSpPr/>
          <p:nvPr/>
        </p:nvSpPr>
        <p:spPr>
          <a:xfrm>
            <a:off x="2660904" y="1993392"/>
            <a:ext cx="1078992" cy="868680"/>
          </a:xfrm>
          <a:prstGeom prst="roundRect">
            <a:avLst>
              <a:gd name="adj" fmla="val 15789"/>
            </a:avLst>
          </a:prstGeom>
          <a:solidFill>
            <a:srgbClr val="5A687D"/>
          </a:solidFill>
          <a:ln>
            <a:noFill/>
          </a:ln>
        </p:spPr>
        <p:txBody>
          <a:bodyPr rtlCol="0" anchor="ctr" lIns="36576" rIns="36576" tIns="18288" bIns="18288" wrap="square"/>
          <a:lstStyle/>
          <a:p>
            <a:pPr algn="ctr" rtl="1"/>
            <a:r>
              <a:rPr sz="1250" b="1" i="0" lang="ar-AE" altLang="en-US">
                <a:solidFill>
                  <a:srgbClr val="FFFFFF"/>
                </a:solidFill>
                <a:latin typeface="Arial"/>
                <a:cs typeface="Arial"/>
              </a:rPr>
              <a:t>المحللات</a:t>
            </a:r>
          </a:p>
        </p:txBody>
      </p:sp>
      <p:sp>
        <p:nvSpPr>
          <p:cNvPr id="32" name="U-Turn Arrow 31"/>
          <p:cNvSpPr/>
          <p:nvPr/>
        </p:nvSpPr>
        <p:spPr>
          <a:xfrm rot="10800000">
            <a:off x="2926080" y="2926080"/>
            <a:ext cx="4389120" cy="502920"/>
          </a:xfrm>
          <a:prstGeom prst="uturnArrow">
            <a:avLst/>
          </a:prstGeom>
          <a:solidFill>
            <a:srgbClr val="C9D6E3"/>
          </a:solidFill>
          <a:ln>
            <a:noFill/>
          </a:ln>
        </p:spPr>
        <p:txBody>
          <a:bodyPr rtlCol="0" anchor="ctr" lIns="54864" rIns="54864" tIns="27432" bIns="27432"/>
          <a:lstStyle/>
          <a:p>
            <a:pPr algn="ctr"/>
          </a:p>
        </p:txBody>
      </p:sp>
      <p:sp>
        <p:nvSpPr>
          <p:cNvPr id="33" name="TextBox 32"/>
          <p:cNvSpPr txBox="1"/>
          <p:nvPr/>
        </p:nvSpPr>
        <p:spPr>
          <a:xfrm>
            <a:off x="2834640" y="3401568"/>
            <a:ext cx="4526280" cy="365760"/>
          </a:xfrm>
          <a:prstGeom prst="rect">
            <a:avLst/>
          </a:prstGeom>
          <a:noFill/>
        </p:spPr>
        <p:txBody>
          <a:bodyPr wrap="square" lIns="73152" rIns="73152" tIns="36576" bIns="36576" anchor="ctr"/>
          <a:lstStyle/>
          <a:p>
            <a:pPr algn="ctr" rtl="1"/>
            <a:r>
              <a:rPr sz="1250" b="1" i="0" lang="ar-AE" altLang="en-US">
                <a:solidFill>
                  <a:srgbClr val="5A687D"/>
                </a:solidFill>
                <a:latin typeface="Arial"/>
                <a:cs typeface="Arial"/>
              </a:rPr>
              <a:t>تعيد المحللات المواد المغذية إلى التربة… فتبدأ الدورة من جديد</a:t>
            </a:r>
          </a:p>
        </p:txBody>
      </p:sp>
      <p:sp>
        <p:nvSpPr>
          <p:cNvPr id="34" name="Rounded Rectangle 33"/>
          <p:cNvSpPr/>
          <p:nvPr/>
        </p:nvSpPr>
        <p:spPr>
          <a:xfrm>
            <a:off x="2697480" y="3886200"/>
            <a:ext cx="4983480" cy="1627632"/>
          </a:xfrm>
          <a:prstGeom prst="roundRect">
            <a:avLst>
              <a:gd name="adj" fmla="val 6741"/>
            </a:avLst>
          </a:prstGeom>
          <a:solidFill>
            <a:srgbClr val="EAEFF5"/>
          </a:solidFill>
          <a:ln w="12700">
            <a:solidFill>
              <a:srgbClr val="CFD9E6"/>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5" name="TextBox 34"/>
          <p:cNvSpPr txBox="1"/>
          <p:nvPr/>
        </p:nvSpPr>
        <p:spPr>
          <a:xfrm>
            <a:off x="2788920" y="3931920"/>
            <a:ext cx="4800600" cy="411480"/>
          </a:xfrm>
          <a:prstGeom prst="rect">
            <a:avLst/>
          </a:prstGeom>
          <a:noFill/>
        </p:spPr>
        <p:txBody>
          <a:bodyPr wrap="square" lIns="73152" rIns="73152" tIns="36576" bIns="36576" anchor="ctr"/>
          <a:lstStyle/>
          <a:p>
            <a:pPr algn="r" rtl="1"/>
            <a:r>
              <a:rPr sz="1400" b="1" i="0" lang="ar-AE" altLang="en-US">
                <a:solidFill>
                  <a:srgbClr val="C9A96A"/>
                </a:solidFill>
                <a:latin typeface="Arial"/>
                <a:cs typeface="Arial"/>
              </a:rPr>
              <a:t>ربط باللغة العربية: </a:t>
            </a:r>
            <a:r>
              <a:rPr sz="1400" b="1" i="0" lang="ar-AE" altLang="en-US">
                <a:solidFill>
                  <a:srgbClr val="102A43"/>
                </a:solidFill>
                <a:latin typeface="Arial"/>
                <a:cs typeface="Arial"/>
              </a:rPr>
              <a:t>نحلّل المصطلح</a:t>
            </a:r>
          </a:p>
        </p:txBody>
      </p:sp>
      <p:sp>
        <p:nvSpPr>
          <p:cNvPr id="36" name="Rounded Rectangle 35"/>
          <p:cNvSpPr/>
          <p:nvPr/>
        </p:nvSpPr>
        <p:spPr>
          <a:xfrm>
            <a:off x="6172200" y="4407408"/>
            <a:ext cx="1417320" cy="1005840"/>
          </a:xfrm>
          <a:prstGeom prst="roundRect">
            <a:avLst>
              <a:gd name="adj" fmla="val 10909"/>
            </a:avLst>
          </a:prstGeom>
          <a:solidFill>
            <a:srgbClr val="8A6440"/>
          </a:solidFill>
          <a:ln>
            <a:noFill/>
          </a:ln>
        </p:spPr>
        <p:txBody>
          <a:bodyPr rtlCol="0" anchor="ctr" lIns="36576" rIns="36576" tIns="18288" bIns="18288" wrap="square"/>
          <a:lstStyle/>
          <a:p>
            <a:pPr algn="ctr" rtl="1"/>
            <a:r>
              <a:rPr sz="1600" b="1" i="0" lang="ar-AE" altLang="en-US">
                <a:solidFill>
                  <a:srgbClr val="FFFFFF"/>
                </a:solidFill>
                <a:latin typeface="Arial"/>
                <a:cs typeface="Arial"/>
              </a:rPr>
              <a:t>جيو</a:t>
            </a:r>
          </a:p>
          <a:p>
            <a:pPr algn="ctr" rtl="1"/>
            <a:r>
              <a:rPr sz="1100" b="1" i="0" lang="ar-AE" altLang="en-US">
                <a:solidFill>
                  <a:srgbClr val="FFFFFF"/>
                </a:solidFill>
                <a:latin typeface="Arial"/>
                <a:cs typeface="Arial"/>
              </a:rPr>
              <a:t>الأرض: الصخور والتربة</a:t>
            </a:r>
          </a:p>
        </p:txBody>
      </p:sp>
      <p:sp>
        <p:nvSpPr>
          <p:cNvPr id="37" name="TextBox 36"/>
          <p:cNvSpPr txBox="1"/>
          <p:nvPr/>
        </p:nvSpPr>
        <p:spPr>
          <a:xfrm>
            <a:off x="5925312" y="4709160"/>
            <a:ext cx="228600" cy="365760"/>
          </a:xfrm>
          <a:prstGeom prst="rect">
            <a:avLst/>
          </a:prstGeom>
          <a:noFill/>
        </p:spPr>
        <p:txBody>
          <a:bodyPr wrap="square" lIns="0" rIns="0" tIns="0" bIns="0" anchor="ctr"/>
          <a:lstStyle/>
          <a:p>
            <a:pPr algn="ctr" rtl="1"/>
            <a:r>
              <a:rPr sz="2000" b="1" i="0" lang="ar-AE" altLang="en-US">
                <a:solidFill>
                  <a:srgbClr val="102A43"/>
                </a:solidFill>
                <a:latin typeface="Arial"/>
                <a:cs typeface="Arial"/>
              </a:rPr>
              <a:t>+</a:t>
            </a:r>
          </a:p>
        </p:txBody>
      </p:sp>
      <p:sp>
        <p:nvSpPr>
          <p:cNvPr id="38" name="Rounded Rectangle 37"/>
          <p:cNvSpPr/>
          <p:nvPr/>
        </p:nvSpPr>
        <p:spPr>
          <a:xfrm>
            <a:off x="4526280" y="4407408"/>
            <a:ext cx="1417320" cy="1005840"/>
          </a:xfrm>
          <a:prstGeom prst="roundRect">
            <a:avLst>
              <a:gd name="adj" fmla="val 10909"/>
            </a:avLst>
          </a:prstGeom>
          <a:solidFill>
            <a:srgbClr val="5B3B91"/>
          </a:solidFill>
          <a:ln>
            <a:noFill/>
          </a:ln>
        </p:spPr>
        <p:txBody>
          <a:bodyPr rtlCol="0" anchor="ctr" lIns="36576" rIns="36576" tIns="18288" bIns="18288" wrap="square"/>
          <a:lstStyle/>
          <a:p>
            <a:pPr algn="ctr" rtl="1"/>
            <a:r>
              <a:rPr sz="1600" b="1" i="0" lang="ar-AE" altLang="en-US">
                <a:solidFill>
                  <a:srgbClr val="FFFFFF"/>
                </a:solidFill>
                <a:latin typeface="Arial"/>
                <a:cs typeface="Arial"/>
              </a:rPr>
              <a:t>كيميائية</a:t>
            </a:r>
          </a:p>
          <a:p>
            <a:pPr algn="ctr" rtl="1"/>
            <a:r>
              <a:rPr sz="1100" b="1" i="0" lang="ar-AE" altLang="en-US">
                <a:solidFill>
                  <a:srgbClr val="FFFFFF"/>
                </a:solidFill>
                <a:latin typeface="Arial"/>
                <a:cs typeface="Arial"/>
              </a:rPr>
              <a:t>تفاعلات كيميائية</a:t>
            </a:r>
          </a:p>
        </p:txBody>
      </p:sp>
      <p:sp>
        <p:nvSpPr>
          <p:cNvPr id="39" name="TextBox 38"/>
          <p:cNvSpPr txBox="1"/>
          <p:nvPr/>
        </p:nvSpPr>
        <p:spPr>
          <a:xfrm>
            <a:off x="4279392" y="4709160"/>
            <a:ext cx="228600" cy="365760"/>
          </a:xfrm>
          <a:prstGeom prst="rect">
            <a:avLst/>
          </a:prstGeom>
          <a:noFill/>
        </p:spPr>
        <p:txBody>
          <a:bodyPr wrap="square" lIns="0" rIns="0" tIns="0" bIns="0" anchor="ctr"/>
          <a:lstStyle/>
          <a:p>
            <a:pPr algn="ctr" rtl="1"/>
            <a:r>
              <a:rPr sz="2000" b="1" i="0" lang="ar-AE" altLang="en-US">
                <a:solidFill>
                  <a:srgbClr val="102A43"/>
                </a:solidFill>
                <a:latin typeface="Arial"/>
                <a:cs typeface="Arial"/>
              </a:rPr>
              <a:t>+</a:t>
            </a:r>
          </a:p>
        </p:txBody>
      </p:sp>
      <p:sp>
        <p:nvSpPr>
          <p:cNvPr id="40" name="Rounded Rectangle 39"/>
          <p:cNvSpPr/>
          <p:nvPr/>
        </p:nvSpPr>
        <p:spPr>
          <a:xfrm>
            <a:off x="2880360" y="4407408"/>
            <a:ext cx="1417320" cy="1005840"/>
          </a:xfrm>
          <a:prstGeom prst="roundRect">
            <a:avLst>
              <a:gd name="adj" fmla="val 10909"/>
            </a:avLst>
          </a:prstGeom>
          <a:solidFill>
            <a:srgbClr val="2E7D32"/>
          </a:solidFill>
          <a:ln>
            <a:noFill/>
          </a:ln>
        </p:spPr>
        <p:txBody>
          <a:bodyPr rtlCol="0" anchor="ctr" lIns="36576" rIns="36576" tIns="18288" bIns="18288" wrap="square"/>
          <a:lstStyle/>
          <a:p>
            <a:pPr algn="ctr" rtl="1"/>
            <a:r>
              <a:rPr sz="1600" b="1" i="0" lang="ar-AE" altLang="en-US">
                <a:solidFill>
                  <a:srgbClr val="FFFFFF"/>
                </a:solidFill>
                <a:latin typeface="Arial"/>
                <a:cs typeface="Arial"/>
              </a:rPr>
              <a:t>حيوية</a:t>
            </a:r>
          </a:p>
          <a:p>
            <a:pPr algn="ctr" rtl="1"/>
            <a:r>
              <a:rPr sz="1100" b="1" i="0" lang="ar-AE" altLang="en-US">
                <a:solidFill>
                  <a:srgbClr val="FFFFFF"/>
                </a:solidFill>
                <a:latin typeface="Arial"/>
                <a:cs typeface="Arial"/>
              </a:rPr>
              <a:t>الكائنات الحية</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0" name="Oval 9"/>
          <p:cNvSpPr/>
          <p:nvPr/>
        </p:nvSpPr>
        <p:spPr>
          <a:xfrm>
            <a:off x="2020824" y="2061972"/>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انتقال المواد المغذية</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الثاني</a:t>
            </a:r>
          </a:p>
        </p:txBody>
      </p:sp>
      <p:sp>
        <p:nvSpPr>
          <p:cNvPr id="22" name="TextBox 21"/>
          <p:cNvSpPr txBox="1"/>
          <p:nvPr/>
        </p:nvSpPr>
        <p:spPr>
          <a:xfrm>
            <a:off x="5692711" y="1280160"/>
            <a:ext cx="3958781" cy="502920"/>
          </a:xfrm>
          <a:prstGeom prst="rect">
            <a:avLst/>
          </a:prstGeom>
          <a:noFill/>
        </p:spPr>
        <p:txBody>
          <a:bodyPr wrap="square" lIns="18288" rIns="18288" tIns="0" bIns="0" anchor="ctr"/>
          <a:lstStyle/>
          <a:p>
            <a:pPr algn="r" rtl="1"/>
            <a:r>
              <a:rPr sz="1600" b="1" i="0" lang="ar-AE" altLang="en-US">
                <a:solidFill>
                  <a:srgbClr val="102A43"/>
                </a:solidFill>
                <a:latin typeface="Arial"/>
                <a:cs typeface="Arial"/>
              </a:rPr>
              <a:t>من بيئتنا: رحلة المادة بين الغاف والجمل</a:t>
            </a:r>
          </a:p>
        </p:txBody>
      </p:sp>
      <p:pic>
        <p:nvPicPr>
          <p:cNvPr id="23" name="Picture 22" descr="badge_maha.png"/>
          <p:cNvPicPr>
            <a:picLocks noChangeAspect="1"/>
          </p:cNvPicPr>
          <p:nvPr/>
        </p:nvPicPr>
        <p:blipFill>
          <a:blip r:embed="rId3"/>
          <a:stretch>
            <a:fillRect/>
          </a:stretch>
        </p:blipFill>
        <p:spPr>
          <a:xfrm>
            <a:off x="2560320" y="1159811"/>
            <a:ext cx="566928" cy="650700"/>
          </a:xfrm>
          <a:prstGeom prst="rect">
            <a:avLst/>
          </a:prstGeom>
        </p:spPr>
      </p:pic>
      <p:sp>
        <p:nvSpPr>
          <p:cNvPr id="24" name="Rounded Rectangular Callout 23"/>
          <p:cNvSpPr/>
          <p:nvPr/>
        </p:nvSpPr>
        <p:spPr>
          <a:xfrm>
            <a:off x="3209544" y="1307592"/>
            <a:ext cx="2355151" cy="420624"/>
          </a:xfrm>
          <a:prstGeom prst="wedgeRoundRectCallout">
            <a:avLst>
              <a:gd name="adj1" fmla="val -54659"/>
              <a:gd name="adj2" fmla="val 18000"/>
              <a:gd name="adj3" fmla="val 16667"/>
            </a:avLst>
          </a:prstGeom>
          <a:solidFill>
            <a:srgbClr val="FFFFFF"/>
          </a:solidFill>
          <a:ln w="19050">
            <a:solidFill>
              <a:srgbClr val="0F7C73"/>
            </a:solidFill>
          </a:ln>
        </p:spPr>
        <p:txBody>
          <a:bodyPr rtlCol="0" anchor="ctr" lIns="54864" rIns="54864" tIns="27432" bIns="27432"/>
          <a:lstStyle/>
          <a:p>
            <a:pPr algn="ctr"/>
          </a:p>
        </p:txBody>
      </p:sp>
      <p:sp>
        <p:nvSpPr>
          <p:cNvPr id="25" name="TextBox 24"/>
          <p:cNvSpPr txBox="1"/>
          <p:nvPr/>
        </p:nvSpPr>
        <p:spPr>
          <a:xfrm>
            <a:off x="3246120" y="1307592"/>
            <a:ext cx="2281999" cy="420624"/>
          </a:xfrm>
          <a:prstGeom prst="rect">
            <a:avLst/>
          </a:prstGeom>
          <a:noFill/>
        </p:spPr>
        <p:txBody>
          <a:bodyPr wrap="square" lIns="36576" rIns="36576" tIns="0" bIns="0" anchor="ctr"/>
          <a:lstStyle/>
          <a:p>
            <a:pPr algn="r" rtl="1"/>
            <a:r>
              <a:rPr sz="1150" b="1" i="0" lang="ar-AE" altLang="en-US">
                <a:solidFill>
                  <a:srgbClr val="0F7C73"/>
                </a:solidFill>
                <a:latin typeface="Arial"/>
                <a:cs typeface="Arial"/>
              </a:rPr>
              <a:t>مها: </a:t>
            </a:r>
            <a:r>
              <a:rPr sz="1150" b="1" i="0" lang="ar-AE" altLang="en-US">
                <a:solidFill>
                  <a:srgbClr val="102A43"/>
                </a:solidFill>
                <a:latin typeface="Arial"/>
                <a:cs typeface="Arial"/>
              </a:rPr>
              <a:t>الغاف شجرتنا الوطنية!</a:t>
            </a:r>
          </a:p>
        </p:txBody>
      </p:sp>
      <p:pic>
        <p:nvPicPr>
          <p:cNvPr id="26" name="Picture 25" descr="still_ghaf_camel.png"/>
          <p:cNvPicPr>
            <a:picLocks noChangeAspect="1"/>
          </p:cNvPicPr>
          <p:nvPr/>
        </p:nvPicPr>
        <p:blipFill>
          <a:blip r:embed="rId4"/>
          <a:stretch>
            <a:fillRect/>
          </a:stretch>
        </p:blipFill>
        <p:spPr>
          <a:xfrm>
            <a:off x="2697480" y="1901952"/>
            <a:ext cx="4480560" cy="2520315"/>
          </a:xfrm>
          <a:prstGeom prst="rect">
            <a:avLst/>
          </a:prstGeom>
          <a:ln w="25400">
            <a:solidFill>
              <a:srgbClr val="C9A96A"/>
            </a:solidFill>
          </a:ln>
          <a:effectLst>
            <a:outerShdw blurRad="76200" dist="31750" dir="5400000" algn="t" rotWithShape="0">
              <a:srgbClr val="1E2B3C">
                <a:alpha val="22000"/>
              </a:srgbClr>
            </a:outerShdw>
          </a:effectLst>
        </p:spPr>
      </p:pic>
      <p:sp>
        <p:nvSpPr>
          <p:cNvPr id="27" name="TextBox 26"/>
          <p:cNvSpPr txBox="1"/>
          <p:nvPr/>
        </p:nvSpPr>
        <p:spPr>
          <a:xfrm>
            <a:off x="7296912" y="1901952"/>
            <a:ext cx="4544568" cy="457200"/>
          </a:xfrm>
          <a:prstGeom prst="rect">
            <a:avLst/>
          </a:prstGeom>
          <a:noFill/>
        </p:spPr>
        <p:txBody>
          <a:bodyPr wrap="square" lIns="73152" rIns="73152" tIns="36576" bIns="36576" anchor="ctr"/>
          <a:lstStyle/>
          <a:p>
            <a:pPr algn="r" rtl="1"/>
            <a:r>
              <a:rPr sz="1550" b="1" i="0" lang="ar-AE" altLang="en-US">
                <a:solidFill>
                  <a:srgbClr val="102A43"/>
                </a:solidFill>
                <a:latin typeface="Arial"/>
                <a:cs typeface="Arial"/>
              </a:rPr>
              <a:t>رتّبوا رحلة المادة المغذية بدءًا من التربة:</a:t>
            </a:r>
          </a:p>
        </p:txBody>
      </p:sp>
      <p:sp>
        <p:nvSpPr>
          <p:cNvPr id="28" name="Oval 27"/>
          <p:cNvSpPr/>
          <p:nvPr/>
        </p:nvSpPr>
        <p:spPr>
          <a:xfrm>
            <a:off x="11384280" y="2404872"/>
            <a:ext cx="457200" cy="457200"/>
          </a:xfrm>
          <a:prstGeom prst="ellipse">
            <a:avLst/>
          </a:prstGeom>
          <a:solidFill>
            <a:srgbClr val="1E88C8"/>
          </a:solidFill>
          <a:ln>
            <a:noFill/>
          </a:ln>
        </p:spPr>
        <p:txBody>
          <a:bodyPr rtlCol="0" anchor="ctr" lIns="36576" rIns="36576" tIns="18288" bIns="18288" wrap="square"/>
          <a:lstStyle/>
          <a:p>
            <a:pPr algn="ctr" rtl="1"/>
            <a:r>
              <a:rPr sz="1500" b="1" i="0" lang="ar-AE" altLang="en-US">
                <a:solidFill>
                  <a:srgbClr val="FFFFFF"/>
                </a:solidFill>
                <a:latin typeface="Arial"/>
                <a:cs typeface="Arial"/>
              </a:rPr>
              <a:t>أ</a:t>
            </a:r>
          </a:p>
        </p:txBody>
      </p:sp>
      <p:sp>
        <p:nvSpPr>
          <p:cNvPr id="29" name="Rounded Rectangle 28"/>
          <p:cNvSpPr/>
          <p:nvPr/>
        </p:nvSpPr>
        <p:spPr>
          <a:xfrm>
            <a:off x="7296912" y="2377440"/>
            <a:ext cx="4023360" cy="512064"/>
          </a:xfrm>
          <a:prstGeom prst="roundRect">
            <a:avLst>
              <a:gd name="adj" fmla="val 17857"/>
            </a:avLst>
          </a:prstGeom>
          <a:solidFill>
            <a:srgbClr val="FFFFFF"/>
          </a:solidFill>
          <a:ln w="12700">
            <a:solidFill>
              <a:srgbClr val="D5DDE8"/>
            </a:solidFill>
          </a:ln>
        </p:spPr>
        <p:txBody>
          <a:bodyPr rtlCol="0" anchor="ctr" tIns="0" bIns="0" wrap="square"/>
          <a:lstStyle/>
          <a:p>
            <a:pPr algn="r" rtl="1"/>
            <a:r>
              <a:rPr sz="1350" b="1" i="0" lang="ar-AE" altLang="en-US">
                <a:solidFill>
                  <a:srgbClr val="102A43"/>
                </a:solidFill>
                <a:latin typeface="Arial"/>
                <a:cs typeface="Arial"/>
              </a:rPr>
              <a:t>يتغذّى الجمل على أوراق الغاف.</a:t>
            </a:r>
          </a:p>
        </p:txBody>
      </p:sp>
      <p:sp>
        <p:nvSpPr>
          <p:cNvPr id="30" name="Oval 29"/>
          <p:cNvSpPr/>
          <p:nvPr/>
        </p:nvSpPr>
        <p:spPr>
          <a:xfrm>
            <a:off x="11384280" y="2971800"/>
            <a:ext cx="457200" cy="457200"/>
          </a:xfrm>
          <a:prstGeom prst="ellipse">
            <a:avLst/>
          </a:prstGeom>
          <a:solidFill>
            <a:srgbClr val="1E88C8"/>
          </a:solidFill>
          <a:ln>
            <a:noFill/>
          </a:ln>
        </p:spPr>
        <p:txBody>
          <a:bodyPr rtlCol="0" anchor="ctr" lIns="36576" rIns="36576" tIns="18288" bIns="18288" wrap="square"/>
          <a:lstStyle/>
          <a:p>
            <a:pPr algn="ctr" rtl="1"/>
            <a:r>
              <a:rPr sz="1500" b="1" i="0" lang="ar-AE" altLang="en-US">
                <a:solidFill>
                  <a:srgbClr val="FFFFFF"/>
                </a:solidFill>
                <a:latin typeface="Arial"/>
                <a:cs typeface="Arial"/>
              </a:rPr>
              <a:t>ب</a:t>
            </a:r>
          </a:p>
        </p:txBody>
      </p:sp>
      <p:sp>
        <p:nvSpPr>
          <p:cNvPr id="31" name="Rounded Rectangle 30"/>
          <p:cNvSpPr/>
          <p:nvPr/>
        </p:nvSpPr>
        <p:spPr>
          <a:xfrm>
            <a:off x="7296912" y="2944368"/>
            <a:ext cx="4023360" cy="512064"/>
          </a:xfrm>
          <a:prstGeom prst="roundRect">
            <a:avLst>
              <a:gd name="adj" fmla="val 17857"/>
            </a:avLst>
          </a:prstGeom>
          <a:solidFill>
            <a:srgbClr val="FFFFFF"/>
          </a:solidFill>
          <a:ln w="12700">
            <a:solidFill>
              <a:srgbClr val="D5DDE8"/>
            </a:solidFill>
          </a:ln>
        </p:spPr>
        <p:txBody>
          <a:bodyPr rtlCol="0" anchor="ctr" tIns="0" bIns="0" wrap="square"/>
          <a:lstStyle/>
          <a:p>
            <a:pPr algn="r" rtl="1"/>
            <a:r>
              <a:rPr sz="1350" b="1" i="0" lang="ar-AE" altLang="en-US">
                <a:solidFill>
                  <a:srgbClr val="102A43"/>
                </a:solidFill>
                <a:latin typeface="Arial"/>
                <a:cs typeface="Arial"/>
              </a:rPr>
              <a:t>تمتص جذور الغاف الماء والأملاح المعدنية من التربة.</a:t>
            </a:r>
          </a:p>
        </p:txBody>
      </p:sp>
      <p:sp>
        <p:nvSpPr>
          <p:cNvPr id="32" name="Oval 31"/>
          <p:cNvSpPr/>
          <p:nvPr/>
        </p:nvSpPr>
        <p:spPr>
          <a:xfrm>
            <a:off x="11384280" y="3538727"/>
            <a:ext cx="457200" cy="457200"/>
          </a:xfrm>
          <a:prstGeom prst="ellipse">
            <a:avLst/>
          </a:prstGeom>
          <a:solidFill>
            <a:srgbClr val="1E88C8"/>
          </a:solidFill>
          <a:ln>
            <a:noFill/>
          </a:ln>
        </p:spPr>
        <p:txBody>
          <a:bodyPr rtlCol="0" anchor="ctr" lIns="36576" rIns="36576" tIns="18288" bIns="18288" wrap="square"/>
          <a:lstStyle/>
          <a:p>
            <a:pPr algn="ctr" rtl="1"/>
            <a:r>
              <a:rPr sz="1500" b="1" i="0" lang="ar-AE" altLang="en-US">
                <a:solidFill>
                  <a:srgbClr val="FFFFFF"/>
                </a:solidFill>
                <a:latin typeface="Arial"/>
                <a:cs typeface="Arial"/>
              </a:rPr>
              <a:t>ج</a:t>
            </a:r>
          </a:p>
        </p:txBody>
      </p:sp>
      <p:sp>
        <p:nvSpPr>
          <p:cNvPr id="33" name="Rounded Rectangle 32"/>
          <p:cNvSpPr/>
          <p:nvPr/>
        </p:nvSpPr>
        <p:spPr>
          <a:xfrm>
            <a:off x="7296912" y="3511296"/>
            <a:ext cx="4023360" cy="512064"/>
          </a:xfrm>
          <a:prstGeom prst="roundRect">
            <a:avLst>
              <a:gd name="adj" fmla="val 17857"/>
            </a:avLst>
          </a:prstGeom>
          <a:solidFill>
            <a:srgbClr val="FFFFFF"/>
          </a:solidFill>
          <a:ln w="12700">
            <a:solidFill>
              <a:srgbClr val="D5DDE8"/>
            </a:solidFill>
          </a:ln>
        </p:spPr>
        <p:txBody>
          <a:bodyPr rtlCol="0" anchor="ctr" tIns="0" bIns="0" wrap="square"/>
          <a:lstStyle/>
          <a:p>
            <a:pPr algn="r" rtl="1"/>
            <a:r>
              <a:rPr sz="1350" b="1" i="0" lang="ar-AE" altLang="en-US">
                <a:solidFill>
                  <a:srgbClr val="102A43"/>
                </a:solidFill>
                <a:latin typeface="Arial"/>
                <a:cs typeface="Arial"/>
              </a:rPr>
              <a:t>تحلّل المحللات فضلات الجمل وبقايا الأوراق.</a:t>
            </a:r>
          </a:p>
        </p:txBody>
      </p:sp>
      <p:sp>
        <p:nvSpPr>
          <p:cNvPr id="34" name="Oval 33"/>
          <p:cNvSpPr/>
          <p:nvPr/>
        </p:nvSpPr>
        <p:spPr>
          <a:xfrm>
            <a:off x="11384280" y="4105656"/>
            <a:ext cx="457200" cy="457200"/>
          </a:xfrm>
          <a:prstGeom prst="ellipse">
            <a:avLst/>
          </a:prstGeom>
          <a:solidFill>
            <a:srgbClr val="1E88C8"/>
          </a:solidFill>
          <a:ln>
            <a:noFill/>
          </a:ln>
        </p:spPr>
        <p:txBody>
          <a:bodyPr rtlCol="0" anchor="ctr" lIns="36576" rIns="36576" tIns="18288" bIns="18288" wrap="square"/>
          <a:lstStyle/>
          <a:p>
            <a:pPr algn="ctr" rtl="1"/>
            <a:r>
              <a:rPr sz="1500" b="1" i="0" lang="ar-AE" altLang="en-US">
                <a:solidFill>
                  <a:srgbClr val="FFFFFF"/>
                </a:solidFill>
                <a:latin typeface="Arial"/>
                <a:cs typeface="Arial"/>
              </a:rPr>
              <a:t>د</a:t>
            </a:r>
          </a:p>
        </p:txBody>
      </p:sp>
      <p:sp>
        <p:nvSpPr>
          <p:cNvPr id="35" name="Rounded Rectangle 34"/>
          <p:cNvSpPr/>
          <p:nvPr/>
        </p:nvSpPr>
        <p:spPr>
          <a:xfrm>
            <a:off x="7296912" y="4078224"/>
            <a:ext cx="4023360" cy="512064"/>
          </a:xfrm>
          <a:prstGeom prst="roundRect">
            <a:avLst>
              <a:gd name="adj" fmla="val 17857"/>
            </a:avLst>
          </a:prstGeom>
          <a:solidFill>
            <a:srgbClr val="FFFFFF"/>
          </a:solidFill>
          <a:ln w="12700">
            <a:solidFill>
              <a:srgbClr val="D5DDE8"/>
            </a:solidFill>
          </a:ln>
        </p:spPr>
        <p:txBody>
          <a:bodyPr rtlCol="0" anchor="ctr" tIns="0" bIns="0" wrap="square"/>
          <a:lstStyle/>
          <a:p>
            <a:pPr algn="r" rtl="1"/>
            <a:r>
              <a:rPr sz="1350" b="1" i="0" lang="ar-AE" altLang="en-US">
                <a:solidFill>
                  <a:srgbClr val="102A43"/>
                </a:solidFill>
                <a:latin typeface="Arial"/>
                <a:cs typeface="Arial"/>
              </a:rPr>
              <a:t>تعود المواد المغذية إلى التربة لتمتصها الغاف من جديد.</a:t>
            </a:r>
          </a:p>
        </p:txBody>
      </p:sp>
      <p:sp>
        <p:nvSpPr>
          <p:cNvPr id="36" name="Rounded Rectangle 35"/>
          <p:cNvSpPr/>
          <p:nvPr/>
        </p:nvSpPr>
        <p:spPr>
          <a:xfrm>
            <a:off x="10104120" y="4736592"/>
            <a:ext cx="173736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إظهار الإجابة</a:t>
            </a:r>
          </a:p>
        </p:txBody>
      </p:sp>
      <p:sp>
        <p:nvSpPr>
          <p:cNvPr id="37" name="Rounded Rectangle 36"/>
          <p:cNvSpPr/>
          <p:nvPr/>
        </p:nvSpPr>
        <p:spPr>
          <a:xfrm>
            <a:off x="4160520" y="4663440"/>
            <a:ext cx="5806440" cy="841248"/>
          </a:xfrm>
          <a:prstGeom prst="roundRect">
            <a:avLst>
              <a:gd name="adj" fmla="val 10869"/>
            </a:avLst>
          </a:prstGeom>
          <a:solidFill>
            <a:srgbClr val="EAF7EE"/>
          </a:solidFill>
          <a:ln w="19050">
            <a:solidFill>
              <a:srgbClr val="2E9E5B"/>
            </a:solidFill>
          </a:ln>
        </p:spPr>
        <p:txBody>
          <a:bodyPr rtlCol="0" anchor="ctr" lIns="109728" rIns="109728" tIns="54864" bIns="54864" wrap="square"/>
          <a:lstStyle/>
          <a:p>
            <a:pPr algn="r" rtl="1"/>
            <a:r>
              <a:rPr sz="1450" b="1" i="0" lang="ar-AE" altLang="en-US">
                <a:solidFill>
                  <a:srgbClr val="1B4D2E"/>
                </a:solidFill>
                <a:latin typeface="Arial"/>
                <a:cs typeface="Arial"/>
              </a:rPr>
              <a:t>الترتيب: ب ← أ ← ج ← د</a:t>
            </a:r>
          </a:p>
          <a:p>
            <a:pPr algn="r" rtl="1"/>
            <a:r>
              <a:rPr sz="1200" b="1" i="0" lang="ar-AE" altLang="en-US">
                <a:solidFill>
                  <a:srgbClr val="1B4D2E"/>
                </a:solidFill>
                <a:latin typeface="Arial"/>
                <a:cs typeface="Arial"/>
              </a:rPr>
              <a:t>غير حيوية: التربة والماء والهواء  |  حيوية: الغاف والجمل والمحللات</a:t>
            </a:r>
          </a:p>
        </p:txBody>
      </p:sp>
      <p:pic>
        <p:nvPicPr>
          <p:cNvPr id="38" name="مؤقت 3 دقائ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2697480" y="4315968"/>
            <a:ext cx="1207008" cy="1207008"/>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8"/>
                                        </p:tgtEl>
                                      </p:cBhvr>
                                    </p:cmd>
                                  </p:childTnLst>
                                </p:cTn>
                              </p:par>
                            </p:childTnLst>
                          </p:cTn>
                        </p:par>
                      </p:childTnLst>
                    </p:cTn>
                  </p:par>
                </p:childTnLst>
              </p:cTn>
              <p:nextCondLst>
                <p:cond evt="onNext" delay="0">
                  <p:tgtEl>
                    <p:sldTgt/>
                  </p:tgtEl>
                </p:cond>
              </p:nextCondLst>
            </p:seq>
            <p:video>
              <p:cMediaNode vol="80000">
                <p:cTn id="13" fill="hold" display="0">
                  <p:stCondLst>
                    <p:cond delay="indefinite"/>
                  </p:stCondLst>
                </p:cTn>
                <p:tgtEl>
                  <p:spTgt spid="38"/>
                </p:tgtEl>
              </p:cMediaNode>
            </p:video>
          </p:childTnLst>
        </p:cTn>
      </p:par>
    </p:tnLst>
    <p:bldLst>
      <p:bldP spid="3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ea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219700" y="1781175"/>
            <a:ext cx="6096000" cy="257175"/>
          </a:xfrm>
          <a:prstGeom prst="rect">
            <a:avLst/>
          </a:prstGeom>
          <a:noFill/>
        </p:spPr>
        <p:txBody>
          <a:bodyPr wrap="square" lIns="18288" rIns="18288" tIns="0" bIns="0" anchor="ctr"/>
          <a:lstStyle/>
          <a:p>
            <a:pPr algn="r" rtl="1"/>
            <a:r>
              <a:rPr sz="1400" b="1" i="0" lang="ar-AE" altLang="en-US">
                <a:solidFill>
                  <a:srgbClr val="2C8E99"/>
                </a:solidFill>
                <a:latin typeface="Arial"/>
                <a:cs typeface="Arial"/>
              </a:rPr>
              <a:t>دورة الماء – من كتاب الطالب</a:t>
            </a:r>
          </a:p>
        </p:txBody>
      </p:sp>
      <p:sp>
        <p:nvSpPr>
          <p:cNvPr id="4" name="TextBox 3"/>
          <p:cNvSpPr txBox="1"/>
          <p:nvPr/>
        </p:nvSpPr>
        <p:spPr>
          <a:xfrm>
            <a:off x="5200650" y="2190750"/>
            <a:ext cx="6191250" cy="2619375"/>
          </a:xfrm>
          <a:prstGeom prst="rect">
            <a:avLst/>
          </a:prstGeom>
          <a:noFill/>
        </p:spPr>
        <p:txBody>
          <a:bodyPr wrap="square" lIns="45720" rIns="45720" tIns="18288" bIns="18288" anchor="t"/>
          <a:lstStyle/>
          <a:p>
            <a:pPr algn="r" rtl="1">
              <a:lnSpc>
                <a:spcPct val="112000"/>
              </a:lnSpc>
            </a:pPr>
            <a:r>
              <a:rPr sz="1600" b="0" i="0" lang="ar-AE" altLang="en-US">
                <a:solidFill>
                  <a:srgbClr val="1F2F46"/>
                </a:solidFill>
                <a:latin typeface="Arial"/>
                <a:cs typeface="Arial"/>
              </a:rPr>
              <a:t>تتبخّر المياه باستمرار إلى الغلاف الجوي من المسطحات المائية والتربة والكائنات الحية، ثم يرتفع بخار الماء وتنخفض درجة حرارته، فيتكاثف في صورة قطرات حول جسيمات الغبار مكوّنًا السحب. تسقط المياه من السحب هطولًا في صورة مطر أو ثلج أو بَرَد، ثم تتدفّق المياه الجوفية والجريان السطحي إلى الجداول والأنهار والبحيرات والمحيطات لتتبخّر من جديد. ومصدر نحو 90% من بخار الماء المحيطات والبحيرات والأنهار، أما نحو 10% فمصدره أسطح النباتات في عملية تُسمّى النتح.</a:t>
            </a:r>
          </a:p>
        </p:txBody>
      </p:sp>
      <p:sp>
        <p:nvSpPr>
          <p:cNvPr id="5" name="Oval 4"/>
          <p:cNvSpPr/>
          <p:nvPr/>
        </p:nvSpPr>
        <p:spPr>
          <a:xfrm>
            <a:off x="5200650" y="5410200"/>
            <a:ext cx="552450" cy="552450"/>
          </a:xfrm>
          <a:prstGeom prst="ellipse">
            <a:avLst/>
          </a:prstGeom>
          <a:solidFill>
            <a:srgbClr val="159A65"/>
          </a:solidFill>
          <a:ln>
            <a:noFill/>
          </a:ln>
        </p:spPr>
        <p:txBody>
          <a:bodyPr rtlCol="0" anchor="ctr" lIns="0" rIns="0" tIns="0" bIns="0" wrap="square"/>
          <a:lstStyle/>
          <a:p>
            <a:pPr algn="ctr" rtl="1"/>
            <a:r>
              <a:rPr sz="1800" b="1" i="0" lang="ar-AE" altLang="en-US">
                <a:solidFill>
                  <a:srgbClr val="FFFFFF"/>
                </a:solidFill>
                <a:latin typeface="Arial"/>
                <a:cs typeface="Arial"/>
              </a:rPr>
              <a:t>1</a:t>
            </a:r>
          </a:p>
        </p:txBody>
      </p:sp>
      <p:sp>
        <p:nvSpPr>
          <p:cNvPr id="6" name="TextBox 5"/>
          <p:cNvSpPr txBox="1"/>
          <p:nvPr/>
        </p:nvSpPr>
        <p:spPr>
          <a:xfrm>
            <a:off x="5829300" y="5267325"/>
            <a:ext cx="2247900" cy="876300"/>
          </a:xfrm>
          <a:prstGeom prst="rect">
            <a:avLst/>
          </a:prstGeom>
          <a:noFill/>
        </p:spPr>
        <p:txBody>
          <a:bodyPr wrap="square" lIns="36576" rIns="36576" tIns="0" bIns="0" anchor="ctr"/>
          <a:lstStyle/>
          <a:p>
            <a:pPr algn="r" rtl="1"/>
            <a:r>
              <a:rPr sz="1250" b="1" i="0" lang="ar-AE" altLang="en-US">
                <a:solidFill>
                  <a:srgbClr val="124D33"/>
                </a:solidFill>
                <a:latin typeface="Arial"/>
                <a:cs typeface="Arial"/>
              </a:rPr>
              <a:t>حدّد ثلاث عمليات في دورة الماء.</a:t>
            </a:r>
          </a:p>
        </p:txBody>
      </p:sp>
      <p:sp>
        <p:nvSpPr>
          <p:cNvPr id="7" name="Oval 6"/>
          <p:cNvSpPr/>
          <p:nvPr/>
        </p:nvSpPr>
        <p:spPr>
          <a:xfrm>
            <a:off x="8629650" y="5410200"/>
            <a:ext cx="552450" cy="552450"/>
          </a:xfrm>
          <a:prstGeom prst="ellipse">
            <a:avLst/>
          </a:prstGeom>
          <a:solidFill>
            <a:srgbClr val="E1A94C"/>
          </a:solidFill>
          <a:ln>
            <a:noFill/>
          </a:ln>
        </p:spPr>
        <p:txBody>
          <a:bodyPr rtlCol="0" anchor="ctr" lIns="0" rIns="0" tIns="0" bIns="0" wrap="square"/>
          <a:lstStyle/>
          <a:p>
            <a:pPr algn="ctr" rtl="1"/>
            <a:r>
              <a:rPr sz="1800" b="1" i="0" lang="ar-AE" altLang="en-US">
                <a:solidFill>
                  <a:srgbClr val="FFFFFF"/>
                </a:solidFill>
                <a:latin typeface="Arial"/>
                <a:cs typeface="Arial"/>
              </a:rPr>
              <a:t>2</a:t>
            </a:r>
          </a:p>
        </p:txBody>
      </p:sp>
      <p:sp>
        <p:nvSpPr>
          <p:cNvPr id="8" name="TextBox 7"/>
          <p:cNvSpPr txBox="1"/>
          <p:nvPr/>
        </p:nvSpPr>
        <p:spPr>
          <a:xfrm>
            <a:off x="9258300" y="5267325"/>
            <a:ext cx="2247900" cy="876300"/>
          </a:xfrm>
          <a:prstGeom prst="rect">
            <a:avLst/>
          </a:prstGeom>
          <a:noFill/>
        </p:spPr>
        <p:txBody>
          <a:bodyPr wrap="square" lIns="36576" rIns="36576" tIns="0" bIns="0" anchor="ctr"/>
          <a:lstStyle/>
          <a:p>
            <a:pPr algn="r" rtl="1"/>
            <a:r>
              <a:rPr sz="1250" b="1" i="0" lang="ar-AE" altLang="en-US">
                <a:solidFill>
                  <a:srgbClr val="6B4A10"/>
                </a:solidFill>
                <a:latin typeface="Arial"/>
                <a:cs typeface="Arial"/>
              </a:rPr>
              <a:t>ما مصدر 10% من بخار الماء؟ وما اسم العملية؟</a:t>
            </a:r>
          </a:p>
        </p:txBody>
      </p:sp>
      <p:sp>
        <p:nvSpPr>
          <p:cNvPr id="9" name="Rounded Rectangle 8"/>
          <p:cNvSpPr/>
          <p:nvPr/>
        </p:nvSpPr>
        <p:spPr>
          <a:xfrm>
            <a:off x="5048250" y="5229225"/>
            <a:ext cx="3048000" cy="914400"/>
          </a:xfrm>
          <a:prstGeom prst="roundRect">
            <a:avLst>
              <a:gd name="adj" fmla="val 10000"/>
            </a:avLst>
          </a:prstGeom>
          <a:solidFill>
            <a:srgbClr val="DDF3E6"/>
          </a:solidFill>
          <a:ln w="19050">
            <a:solidFill>
              <a:srgbClr val="159A65"/>
            </a:solidFill>
          </a:ln>
        </p:spPr>
        <p:txBody>
          <a:bodyPr rtlCol="0" anchor="ctr" tIns="27432" bIns="27432" wrap="square"/>
          <a:lstStyle/>
          <a:p>
            <a:pPr algn="r" rtl="1"/>
            <a:r>
              <a:rPr sz="1250" b="1" i="0" lang="ar-AE" altLang="en-US">
                <a:solidFill>
                  <a:srgbClr val="124D33"/>
                </a:solidFill>
                <a:latin typeface="Arial"/>
                <a:cs typeface="Arial"/>
              </a:rPr>
              <a:t>التبخّر، والتكاثف، والهطول (ويُقبل أيضًا: النتح والترشيح).</a:t>
            </a:r>
          </a:p>
        </p:txBody>
      </p:sp>
      <p:sp>
        <p:nvSpPr>
          <p:cNvPr id="10" name="Rounded Rectangle 9"/>
          <p:cNvSpPr/>
          <p:nvPr/>
        </p:nvSpPr>
        <p:spPr>
          <a:xfrm>
            <a:off x="8477250" y="5229225"/>
            <a:ext cx="3048000" cy="914400"/>
          </a:xfrm>
          <a:prstGeom prst="roundRect">
            <a:avLst>
              <a:gd name="adj" fmla="val 10000"/>
            </a:avLst>
          </a:prstGeom>
          <a:solidFill>
            <a:srgbClr val="FDF0D5"/>
          </a:solidFill>
          <a:ln w="19050">
            <a:solidFill>
              <a:srgbClr val="E1A94C"/>
            </a:solidFill>
          </a:ln>
        </p:spPr>
        <p:txBody>
          <a:bodyPr rtlCol="0" anchor="ctr" tIns="27432" bIns="27432" wrap="square"/>
          <a:lstStyle/>
          <a:p>
            <a:pPr algn="r" rtl="1"/>
            <a:r>
              <a:rPr sz="1250" b="1" i="0" lang="ar-AE" altLang="en-US">
                <a:solidFill>
                  <a:srgbClr val="6B4A10"/>
                </a:solidFill>
                <a:latin typeface="Arial"/>
                <a:cs typeface="Arial"/>
              </a:rPr>
              <a:t>أسطح النباتات، في عملية تُسمّى النتح.</a:t>
            </a:r>
          </a:p>
        </p:txBody>
      </p:sp>
      <p:pic>
        <p:nvPicPr>
          <p:cNvPr id="11"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475488" y="502920"/>
            <a:ext cx="1207008" cy="1207008"/>
          </a:xfrm>
          <a:prstGeom prst="rect">
            <a:avLst/>
          </a:prstGeom>
        </p:spPr>
      </p:pic>
      <p:pic>
        <p:nvPicPr>
          <p:cNvPr id="12" name="Picture 11" descr="badge_hessa.png"/>
          <p:cNvPicPr>
            <a:picLocks noChangeAspect="1"/>
          </p:cNvPicPr>
          <p:nvPr/>
        </p:nvPicPr>
        <p:blipFill>
          <a:blip r:embed="rId6"/>
          <a:stretch>
            <a:fillRect/>
          </a:stretch>
        </p:blipFill>
        <p:spPr>
          <a:xfrm>
            <a:off x="1828800" y="545340"/>
            <a:ext cx="658368" cy="683254"/>
          </a:xfrm>
          <a:prstGeom prst="rect">
            <a:avLst/>
          </a:prstGeom>
        </p:spPr>
      </p:pic>
      <p:sp>
        <p:nvSpPr>
          <p:cNvPr id="13" name="Rounded Rectangular Callout 12"/>
          <p:cNvSpPr/>
          <p:nvPr/>
        </p:nvSpPr>
        <p:spPr>
          <a:xfrm>
            <a:off x="2596896" y="530352"/>
            <a:ext cx="4169664" cy="713232"/>
          </a:xfrm>
          <a:prstGeom prst="wedgeRoundRectCallout">
            <a:avLst>
              <a:gd name="adj1" fmla="val -53508"/>
              <a:gd name="adj2" fmla="val 12000"/>
              <a:gd name="adj3" fmla="val 16667"/>
            </a:avLst>
          </a:prstGeom>
          <a:solidFill>
            <a:srgbClr val="FFFFFF"/>
          </a:solidFill>
          <a:ln w="22225">
            <a:solidFill>
              <a:srgbClr val="7D1F2E"/>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4" name="TextBox 13"/>
          <p:cNvSpPr txBox="1"/>
          <p:nvPr/>
        </p:nvSpPr>
        <p:spPr>
          <a:xfrm>
            <a:off x="2651760" y="548640"/>
            <a:ext cx="4059936" cy="676656"/>
          </a:xfrm>
          <a:prstGeom prst="rect">
            <a:avLst/>
          </a:prstGeom>
          <a:noFill/>
        </p:spPr>
        <p:txBody>
          <a:bodyPr wrap="square" lIns="54864" rIns="54864" tIns="27432" bIns="27432" anchor="ctr"/>
          <a:lstStyle/>
          <a:p>
            <a:pPr algn="r" rtl="1"/>
            <a:r>
              <a:rPr sz="1250" b="1" i="0" lang="ar-AE" altLang="en-US">
                <a:solidFill>
                  <a:srgbClr val="7D1F2E"/>
                </a:solidFill>
                <a:latin typeface="Arial"/>
                <a:cs typeface="Arial"/>
              </a:rPr>
              <a:t>حصة: </a:t>
            </a:r>
            <a:r>
              <a:rPr sz="1250" b="1" i="0" lang="ar-AE" altLang="en-US">
                <a:solidFill>
                  <a:srgbClr val="102A43"/>
                </a:solidFill>
                <a:latin typeface="Arial"/>
                <a:cs typeface="Arial"/>
              </a:rPr>
              <a:t>اقرؤوا الفقرة في المجموعة، ثم أجيبوا عن السؤالين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1"/>
                                        </p:tgtEl>
                                      </p:cBhvr>
                                    </p:cmd>
                                  </p:childTnLst>
                                </p:cTn>
                              </p:par>
                            </p:childTnLst>
                          </p:cTn>
                        </p:par>
                      </p:childTnLst>
                    </p:cTn>
                  </p:par>
                </p:childTnLst>
              </p:cTn>
              <p:nextCondLst>
                <p:cond evt="onNext" delay="0">
                  <p:tgtEl>
                    <p:sldTgt/>
                  </p:tgtEl>
                </p:cond>
              </p:nextCondLst>
            </p:seq>
            <p:video>
              <p:cMediaNode vol="80000">
                <p:cTn id="19" fill="hold" display="0">
                  <p:stCondLst>
                    <p:cond delay="indefinite"/>
                  </p:stCondLst>
                </p:cTn>
                <p:tgtEl>
                  <p:spTgt spid="11"/>
                </p:tgtEl>
              </p:cMediaNode>
            </p:video>
          </p:childTnLst>
        </p:cTn>
      </p:par>
    </p:tnLst>
    <p:bldLst>
      <p:bldP spid="9" grpId="0" animBg="1"/>
      <p:bldP spid="1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شاهد وتتبّع: رحلة قطرة ماء</a:t>
            </a:r>
          </a:p>
        </p:txBody>
      </p:sp>
      <p:pic>
        <p:nvPicPr>
          <p:cNvPr id="23" name="water.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440680" y="1920240"/>
            <a:ext cx="6400800" cy="3600450"/>
          </a:xfrm>
          <a:prstGeom prst="rect">
            <a:avLst/>
          </a:prstGeom>
          <a:ln w="28575">
            <a:solidFill>
              <a:srgbClr val="C9A96A"/>
            </a:solidFill>
          </a:ln>
        </p:spPr>
      </p:pic>
      <p:sp>
        <p:nvSpPr>
          <p:cNvPr id="24" name="Rounded Rectangle 23"/>
          <p:cNvSpPr/>
          <p:nvPr/>
        </p:nvSpPr>
        <p:spPr>
          <a:xfrm>
            <a:off x="2697480" y="1920240"/>
            <a:ext cx="2606040" cy="3602736"/>
          </a:xfrm>
          <a:prstGeom prst="roundRect">
            <a:avLst>
              <a:gd name="adj" fmla="val 4210"/>
            </a:avLst>
          </a:prstGeom>
          <a:solidFill>
            <a:srgbClr val="EAF4FB"/>
          </a:solidFill>
          <a:ln w="12700">
            <a:solidFill>
              <a:srgbClr val="BFDDF2"/>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5" name="Oval 24"/>
          <p:cNvSpPr/>
          <p:nvPr/>
        </p:nvSpPr>
        <p:spPr>
          <a:xfrm>
            <a:off x="3611880" y="2029968"/>
            <a:ext cx="731520" cy="731520"/>
          </a:xfrm>
          <a:prstGeom prst="ellipse">
            <a:avLst/>
          </a:prstGeom>
          <a:solidFill>
            <a:srgbClr val="1E88C8"/>
          </a:solidFill>
          <a:ln>
            <a:noFill/>
          </a:ln>
        </p:spPr>
        <p:txBody>
          <a:bodyPr rtlCol="0" anchor="ctr" lIns="54864" rIns="54864" tIns="27432" bIns="27432"/>
          <a:lstStyle/>
          <a:p>
            <a:pPr algn="ctr"/>
          </a:p>
        </p:txBody>
      </p:sp>
      <p:pic>
        <p:nvPicPr>
          <p:cNvPr id="26" name="Picture 25" descr="eye_w.png"/>
          <p:cNvPicPr>
            <a:picLocks noChangeAspect="1"/>
          </p:cNvPicPr>
          <p:nvPr/>
        </p:nvPicPr>
        <p:blipFill>
          <a:blip r:embed="rId6"/>
          <a:stretch>
            <a:fillRect/>
          </a:stretch>
        </p:blipFill>
        <p:spPr>
          <a:xfrm>
            <a:off x="3772814" y="2190902"/>
            <a:ext cx="409651" cy="409651"/>
          </a:xfrm>
          <a:prstGeom prst="rect">
            <a:avLst/>
          </a:prstGeom>
        </p:spPr>
      </p:pic>
      <p:sp>
        <p:nvSpPr>
          <p:cNvPr id="27" name="TextBox 26"/>
          <p:cNvSpPr txBox="1"/>
          <p:nvPr/>
        </p:nvSpPr>
        <p:spPr>
          <a:xfrm>
            <a:off x="2761488" y="2834640"/>
            <a:ext cx="2468880" cy="411480"/>
          </a:xfrm>
          <a:prstGeom prst="rect">
            <a:avLst/>
          </a:prstGeom>
          <a:noFill/>
        </p:spPr>
        <p:txBody>
          <a:bodyPr wrap="square" lIns="73152" rIns="73152" tIns="36576" bIns="36576" anchor="ctr"/>
          <a:lstStyle/>
          <a:p>
            <a:pPr algn="ctr" rtl="1"/>
            <a:r>
              <a:rPr sz="1500" b="1" i="0" lang="ar-AE" altLang="en-US">
                <a:solidFill>
                  <a:srgbClr val="1E88C8"/>
                </a:solidFill>
                <a:latin typeface="Arial"/>
                <a:cs typeface="Arial"/>
              </a:rPr>
              <a:t>أثناء المشاهدة:</a:t>
            </a:r>
          </a:p>
        </p:txBody>
      </p:sp>
      <p:sp>
        <p:nvSpPr>
          <p:cNvPr id="28" name="TextBox 27"/>
          <p:cNvSpPr txBox="1"/>
          <p:nvPr/>
        </p:nvSpPr>
        <p:spPr>
          <a:xfrm>
            <a:off x="2761488" y="3218688"/>
            <a:ext cx="2468880" cy="566928"/>
          </a:xfrm>
          <a:prstGeom prst="rect">
            <a:avLst/>
          </a:prstGeom>
          <a:noFill/>
        </p:spPr>
        <p:txBody>
          <a:bodyPr wrap="square" lIns="73152" rIns="73152" tIns="36576" bIns="36576" anchor="ctr"/>
          <a:lstStyle/>
          <a:p>
            <a:pPr algn="ctr" rtl="1"/>
            <a:r>
              <a:rPr sz="1300" b="1" i="0" lang="ar-AE" altLang="en-US">
                <a:solidFill>
                  <a:srgbClr val="102A43"/>
                </a:solidFill>
                <a:latin typeface="Arial"/>
                <a:cs typeface="Arial"/>
              </a:rPr>
              <a:t>رتّبوا العمليات كما تظهر في الفيديو:</a:t>
            </a:r>
          </a:p>
        </p:txBody>
      </p:sp>
      <p:sp>
        <p:nvSpPr>
          <p:cNvPr id="29" name="Rounded Rectangle 28"/>
          <p:cNvSpPr/>
          <p:nvPr/>
        </p:nvSpPr>
        <p:spPr>
          <a:xfrm>
            <a:off x="3017520" y="3840480"/>
            <a:ext cx="1920240" cy="347472"/>
          </a:xfrm>
          <a:prstGeom prst="roundRect">
            <a:avLst>
              <a:gd name="adj" fmla="val 39473"/>
            </a:avLst>
          </a:prstGeom>
          <a:solidFill>
            <a:srgbClr val="FFFFFF"/>
          </a:solidFill>
          <a:ln w="12700">
            <a:solidFill>
              <a:srgbClr val="1E88C8"/>
            </a:solidFill>
          </a:ln>
        </p:spPr>
        <p:txBody>
          <a:bodyPr rtlCol="0" anchor="ctr" lIns="36576" rIns="36576" tIns="18288" bIns="18288" wrap="square"/>
          <a:lstStyle/>
          <a:p>
            <a:pPr algn="ctr" rtl="1"/>
            <a:r>
              <a:rPr sz="1300" b="1" i="0" lang="ar-AE" altLang="en-US">
                <a:solidFill>
                  <a:srgbClr val="1E88C8"/>
                </a:solidFill>
                <a:latin typeface="Arial"/>
                <a:cs typeface="Arial"/>
              </a:rPr>
              <a:t>الهطول</a:t>
            </a:r>
          </a:p>
        </p:txBody>
      </p:sp>
      <p:sp>
        <p:nvSpPr>
          <p:cNvPr id="30" name="Rounded Rectangle 29"/>
          <p:cNvSpPr/>
          <p:nvPr/>
        </p:nvSpPr>
        <p:spPr>
          <a:xfrm>
            <a:off x="3017520" y="4251960"/>
            <a:ext cx="1920240" cy="347472"/>
          </a:xfrm>
          <a:prstGeom prst="roundRect">
            <a:avLst>
              <a:gd name="adj" fmla="val 39473"/>
            </a:avLst>
          </a:prstGeom>
          <a:solidFill>
            <a:srgbClr val="FFFFFF"/>
          </a:solidFill>
          <a:ln w="12700">
            <a:solidFill>
              <a:srgbClr val="1E88C8"/>
            </a:solidFill>
          </a:ln>
        </p:spPr>
        <p:txBody>
          <a:bodyPr rtlCol="0" anchor="ctr" lIns="36576" rIns="36576" tIns="18288" bIns="18288" wrap="square"/>
          <a:lstStyle/>
          <a:p>
            <a:pPr algn="ctr" rtl="1"/>
            <a:r>
              <a:rPr sz="1300" b="1" i="0" lang="ar-AE" altLang="en-US">
                <a:solidFill>
                  <a:srgbClr val="1E88C8"/>
                </a:solidFill>
                <a:latin typeface="Arial"/>
                <a:cs typeface="Arial"/>
              </a:rPr>
              <a:t>التبخّر</a:t>
            </a:r>
          </a:p>
        </p:txBody>
      </p:sp>
      <p:sp>
        <p:nvSpPr>
          <p:cNvPr id="31" name="Rounded Rectangle 30"/>
          <p:cNvSpPr/>
          <p:nvPr/>
        </p:nvSpPr>
        <p:spPr>
          <a:xfrm>
            <a:off x="3017520" y="4663440"/>
            <a:ext cx="1920240" cy="347472"/>
          </a:xfrm>
          <a:prstGeom prst="roundRect">
            <a:avLst>
              <a:gd name="adj" fmla="val 39473"/>
            </a:avLst>
          </a:prstGeom>
          <a:solidFill>
            <a:srgbClr val="FFFFFF"/>
          </a:solidFill>
          <a:ln w="12700">
            <a:solidFill>
              <a:srgbClr val="1E88C8"/>
            </a:solidFill>
          </a:ln>
        </p:spPr>
        <p:txBody>
          <a:bodyPr rtlCol="0" anchor="ctr" lIns="36576" rIns="36576" tIns="18288" bIns="18288" wrap="square"/>
          <a:lstStyle/>
          <a:p>
            <a:pPr algn="ctr" rtl="1"/>
            <a:r>
              <a:rPr sz="1300" b="1" i="0" lang="ar-AE" altLang="en-US">
                <a:solidFill>
                  <a:srgbClr val="1E88C8"/>
                </a:solidFill>
                <a:latin typeface="Arial"/>
                <a:cs typeface="Arial"/>
              </a:rPr>
              <a:t>التكاثف</a:t>
            </a:r>
          </a:p>
        </p:txBody>
      </p:sp>
      <p:sp>
        <p:nvSpPr>
          <p:cNvPr id="32" name="TextBox 31"/>
          <p:cNvSpPr txBox="1"/>
          <p:nvPr/>
        </p:nvSpPr>
        <p:spPr>
          <a:xfrm>
            <a:off x="2761488" y="5074920"/>
            <a:ext cx="2468880" cy="384048"/>
          </a:xfrm>
          <a:prstGeom prst="rect">
            <a:avLst/>
          </a:prstGeom>
          <a:noFill/>
        </p:spPr>
        <p:txBody>
          <a:bodyPr wrap="square" lIns="73152" rIns="73152" tIns="36576" bIns="36576" anchor="ctr"/>
          <a:lstStyle/>
          <a:p>
            <a:pPr algn="ctr" rtl="1"/>
            <a:r>
              <a:rPr sz="1100" b="1" i="0" lang="ar-AE" altLang="en-US">
                <a:solidFill>
                  <a:srgbClr val="5A687D"/>
                </a:solidFill>
                <a:latin typeface="Arial"/>
                <a:cs typeface="Arial"/>
              </a:rPr>
              <a:t>ثم الجريان إلى الأنهار والمياه الجوفية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عمليات دورة الماء</a:t>
            </a:r>
          </a:p>
        </p:txBody>
      </p:sp>
      <p:pic>
        <p:nvPicPr>
          <p:cNvPr id="23" name="Picture 22" descr="fig17_water.png"/>
          <p:cNvPicPr>
            <a:picLocks noChangeAspect="1"/>
          </p:cNvPicPr>
          <p:nvPr/>
        </p:nvPicPr>
        <p:blipFill>
          <a:blip r:embed="rId3"/>
          <a:stretch>
            <a:fillRect/>
          </a:stretch>
        </p:blipFill>
        <p:spPr>
          <a:xfrm>
            <a:off x="5623560" y="1901952"/>
            <a:ext cx="6217920" cy="3098492"/>
          </a:xfrm>
          <a:prstGeom prst="rect">
            <a:avLst/>
          </a:prstGeom>
          <a:ln w="25400">
            <a:solidFill>
              <a:srgbClr val="C9A96A"/>
            </a:solidFill>
          </a:ln>
          <a:effectLst>
            <a:outerShdw blurRad="76200" dist="31750" dir="5400000" algn="t" rotWithShape="0">
              <a:srgbClr val="1E2B3C">
                <a:alpha val="22000"/>
              </a:srgbClr>
            </a:outerShdw>
          </a:effectLst>
        </p:spPr>
      </p:pic>
      <p:sp>
        <p:nvSpPr>
          <p:cNvPr id="24" name="Rounded Rectangle 23"/>
          <p:cNvSpPr/>
          <p:nvPr/>
        </p:nvSpPr>
        <p:spPr>
          <a:xfrm>
            <a:off x="2697480" y="1901952"/>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التبخّر: </a:t>
            </a:r>
            <a:r>
              <a:rPr sz="1100" b="1" i="0" lang="ar-AE" altLang="en-US">
                <a:solidFill>
                  <a:srgbClr val="102A43"/>
                </a:solidFill>
                <a:latin typeface="Arial"/>
                <a:cs typeface="Arial"/>
              </a:rPr>
              <a:t>تحوّل الماء إلى بخار بفعل طاقة الشمس.</a:t>
            </a:r>
          </a:p>
        </p:txBody>
      </p:sp>
      <p:sp>
        <p:nvSpPr>
          <p:cNvPr id="25" name="Rounded Rectangle 24"/>
          <p:cNvSpPr/>
          <p:nvPr/>
        </p:nvSpPr>
        <p:spPr>
          <a:xfrm>
            <a:off x="2697480" y="2386584"/>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النتح: </a:t>
            </a:r>
            <a:r>
              <a:rPr sz="1100" b="1" i="0" lang="ar-AE" altLang="en-US">
                <a:solidFill>
                  <a:srgbClr val="102A43"/>
                </a:solidFill>
                <a:latin typeface="Arial"/>
                <a:cs typeface="Arial"/>
              </a:rPr>
              <a:t>خروج بخار الماء من ثغور أوراق النباتات.</a:t>
            </a:r>
          </a:p>
        </p:txBody>
      </p:sp>
      <p:sp>
        <p:nvSpPr>
          <p:cNvPr id="26" name="Rounded Rectangle 25"/>
          <p:cNvSpPr/>
          <p:nvPr/>
        </p:nvSpPr>
        <p:spPr>
          <a:xfrm>
            <a:off x="2697480" y="2871216"/>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التكاثف: </a:t>
            </a:r>
            <a:r>
              <a:rPr sz="1100" b="1" i="0" lang="ar-AE" altLang="en-US">
                <a:solidFill>
                  <a:srgbClr val="102A43"/>
                </a:solidFill>
                <a:latin typeface="Arial"/>
                <a:cs typeface="Arial"/>
              </a:rPr>
              <a:t>تحوّل بخار الماء البارد إلى قطرات تكوّن السحب.</a:t>
            </a:r>
          </a:p>
        </p:txBody>
      </p:sp>
      <p:sp>
        <p:nvSpPr>
          <p:cNvPr id="27" name="Rounded Rectangle 26"/>
          <p:cNvSpPr/>
          <p:nvPr/>
        </p:nvSpPr>
        <p:spPr>
          <a:xfrm>
            <a:off x="2697480" y="3355848"/>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الهطول: </a:t>
            </a:r>
            <a:r>
              <a:rPr sz="1100" b="1" i="0" lang="ar-AE" altLang="en-US">
                <a:solidFill>
                  <a:srgbClr val="102A43"/>
                </a:solidFill>
                <a:latin typeface="Arial"/>
                <a:cs typeface="Arial"/>
              </a:rPr>
              <a:t>سقوط الماء من السحب مطرًا أو ثلجًا أو بَرَدًا.</a:t>
            </a:r>
          </a:p>
        </p:txBody>
      </p:sp>
      <p:sp>
        <p:nvSpPr>
          <p:cNvPr id="28" name="Rounded Rectangle 27"/>
          <p:cNvSpPr/>
          <p:nvPr/>
        </p:nvSpPr>
        <p:spPr>
          <a:xfrm>
            <a:off x="2697480" y="3840480"/>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الجريان السطحي: </a:t>
            </a:r>
            <a:r>
              <a:rPr sz="1100" b="1" i="0" lang="ar-AE" altLang="en-US">
                <a:solidFill>
                  <a:srgbClr val="102A43"/>
                </a:solidFill>
                <a:latin typeface="Arial"/>
                <a:cs typeface="Arial"/>
              </a:rPr>
              <a:t>تدفّق الماء على سطح الأرض إلى الأنهار والبحار.</a:t>
            </a:r>
          </a:p>
        </p:txBody>
      </p:sp>
      <p:sp>
        <p:nvSpPr>
          <p:cNvPr id="29" name="Rounded Rectangle 28"/>
          <p:cNvSpPr/>
          <p:nvPr/>
        </p:nvSpPr>
        <p:spPr>
          <a:xfrm>
            <a:off x="2697480" y="4325112"/>
            <a:ext cx="2816352" cy="429768"/>
          </a:xfrm>
          <a:prstGeom prst="roundRect">
            <a:avLst>
              <a:gd name="adj" fmla="val 17021"/>
            </a:avLst>
          </a:prstGeom>
          <a:solidFill>
            <a:srgbClr val="FFFFFF"/>
          </a:solidFill>
          <a:ln w="12700">
            <a:solidFill>
              <a:srgbClr val="D5DDE8"/>
            </a:solidFill>
          </a:ln>
        </p:spPr>
        <p:txBody>
          <a:bodyPr rtlCol="0" anchor="ctr" lIns="73152" rIns="73152" tIns="0" bIns="0" wrap="square"/>
          <a:lstStyle/>
          <a:p>
            <a:pPr algn="r" rtl="1"/>
            <a:r>
              <a:rPr sz="1250" b="1" i="0" lang="ar-AE" altLang="en-US">
                <a:solidFill>
                  <a:srgbClr val="1E88C8"/>
                </a:solidFill>
                <a:latin typeface="Arial"/>
                <a:cs typeface="Arial"/>
              </a:rPr>
              <a:t>الترشيح: </a:t>
            </a:r>
            <a:r>
              <a:rPr sz="1100" b="1" i="0" lang="ar-AE" altLang="en-US">
                <a:solidFill>
                  <a:srgbClr val="102A43"/>
                </a:solidFill>
                <a:latin typeface="Arial"/>
                <a:cs typeface="Arial"/>
              </a:rPr>
              <a:t>تسرّب الماء عبر التربة ليكوّن المياه الجوفية.</a:t>
            </a:r>
          </a:p>
        </p:txBody>
      </p:sp>
      <p:sp>
        <p:nvSpPr>
          <p:cNvPr id="30" name="Rounded Rectangle 29"/>
          <p:cNvSpPr/>
          <p:nvPr/>
        </p:nvSpPr>
        <p:spPr>
          <a:xfrm>
            <a:off x="5623560" y="5074920"/>
            <a:ext cx="6217920" cy="457200"/>
          </a:xfrm>
          <a:prstGeom prst="roundRect">
            <a:avLst>
              <a:gd name="adj" fmla="val 24000"/>
            </a:avLst>
          </a:prstGeom>
          <a:solidFill>
            <a:srgbClr val="E8F5F4"/>
          </a:solidFill>
          <a:ln w="12700">
            <a:solidFill>
              <a:srgbClr val="B9DEDA"/>
            </a:solidFill>
          </a:ln>
        </p:spPr>
        <p:txBody>
          <a:bodyPr rtlCol="0" anchor="ctr" lIns="54864" rIns="54864" tIns="27432" bIns="27432"/>
          <a:lstStyle/>
          <a:p>
            <a:pPr algn="ctr"/>
          </a:p>
        </p:txBody>
      </p:sp>
      <p:pic>
        <p:nvPicPr>
          <p:cNvPr id="31" name="Picture 30" descr="snow_teal.png"/>
          <p:cNvPicPr>
            <a:picLocks noChangeAspect="1"/>
          </p:cNvPicPr>
          <p:nvPr/>
        </p:nvPicPr>
        <p:blipFill>
          <a:blip r:embed="rId4"/>
          <a:stretch>
            <a:fillRect/>
          </a:stretch>
        </p:blipFill>
        <p:spPr>
          <a:xfrm>
            <a:off x="11430000" y="5129784"/>
            <a:ext cx="347472" cy="347472"/>
          </a:xfrm>
          <a:prstGeom prst="rect">
            <a:avLst/>
          </a:prstGeom>
        </p:spPr>
      </p:pic>
      <p:sp>
        <p:nvSpPr>
          <p:cNvPr id="32" name="TextBox 31"/>
          <p:cNvSpPr txBox="1"/>
          <p:nvPr/>
        </p:nvSpPr>
        <p:spPr>
          <a:xfrm>
            <a:off x="5669280" y="5074920"/>
            <a:ext cx="5715000" cy="457200"/>
          </a:xfrm>
          <a:prstGeom prst="rect">
            <a:avLst/>
          </a:prstGeom>
          <a:noFill/>
        </p:spPr>
        <p:txBody>
          <a:bodyPr wrap="square" lIns="73152" rIns="73152" tIns="36576" bIns="36576" anchor="ctr"/>
          <a:lstStyle/>
          <a:p>
            <a:pPr algn="r" rtl="1"/>
            <a:r>
              <a:rPr sz="1250" b="1" i="0" lang="ar-AE" altLang="en-US">
                <a:solidFill>
                  <a:srgbClr val="145A5A"/>
                </a:solidFill>
                <a:latin typeface="Arial"/>
                <a:cs typeface="Arial"/>
              </a:rPr>
              <a:t>من حياتنا في الإمارات: الماء المتساقط من مكيّف الهواء ناتج عن تكاثف بخار الماء!</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809750" y="395287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أين توجد مياه الأرض؟ ولماذا نرشّدها؟</a:t>
            </a:r>
          </a:p>
        </p:txBody>
      </p:sp>
      <p:graphicFrame>
        <p:nvGraphicFramePr>
          <p:cNvPr id="23" name="Chart 22"/>
          <p:cNvGraphicFramePr>
            <a:graphicFrameLocks noGrp="1"/>
          </p:cNvGraphicFramePr>
          <p:nvPr/>
        </p:nvGraphicFramePr>
        <p:xfrm>
          <a:off x="5074920" y="1847088"/>
          <a:ext cx="2286000" cy="2240280"/>
        </p:xfrm>
        <a:graphic>
          <a:graphicData uri="http://schemas.openxmlformats.org/drawingml/2006/chart">
            <c:chart xmlns:c="http://schemas.openxmlformats.org/drawingml/2006/chart" r:id="rId3"/>
          </a:graphicData>
        </a:graphic>
      </p:graphicFrame>
      <p:sp>
        <p:nvSpPr>
          <p:cNvPr id="24" name="Rounded Rectangle 23"/>
          <p:cNvSpPr/>
          <p:nvPr/>
        </p:nvSpPr>
        <p:spPr>
          <a:xfrm>
            <a:off x="6554120" y="3615213"/>
            <a:ext cx="155448" cy="155448"/>
          </a:xfrm>
          <a:prstGeom prst="roundRect">
            <a:avLst>
              <a:gd name="adj" fmla="val 50000"/>
            </a:avLst>
          </a:prstGeom>
          <a:solidFill>
            <a:srgbClr val="1B5E9B"/>
          </a:solidFill>
          <a:ln>
            <a:noFill/>
          </a:ln>
        </p:spPr>
        <p:txBody>
          <a:bodyPr rtlCol="0" anchor="ctr" lIns="54864" rIns="54864" tIns="27432" bIns="27432"/>
          <a:lstStyle/>
          <a:p>
            <a:pPr algn="ctr"/>
          </a:p>
        </p:txBody>
      </p:sp>
      <p:sp>
        <p:nvSpPr>
          <p:cNvPr id="25" name="TextBox 24"/>
          <p:cNvSpPr txBox="1"/>
          <p:nvPr/>
        </p:nvSpPr>
        <p:spPr>
          <a:xfrm>
            <a:off x="5726271" y="3579749"/>
            <a:ext cx="763841" cy="226377"/>
          </a:xfrm>
          <a:prstGeom prst="rect">
            <a:avLst/>
          </a:prstGeom>
          <a:noFill/>
        </p:spPr>
        <p:txBody>
          <a:bodyPr wrap="none" lIns="0" rIns="0" tIns="0" bIns="0" anchor="ctr"/>
          <a:lstStyle/>
          <a:p>
            <a:pPr algn="r" rtl="1"/>
            <a:r>
              <a:rPr sz="1150" b="1" i="0" lang="ar-AE" altLang="en-US">
                <a:solidFill>
                  <a:srgbClr val="102A43"/>
                </a:solidFill>
                <a:latin typeface="Arial"/>
                <a:cs typeface="Arial"/>
              </a:rPr>
              <a:t>مالحة ‎97%</a:t>
            </a:r>
          </a:p>
        </p:txBody>
      </p:sp>
      <p:sp>
        <p:nvSpPr>
          <p:cNvPr id="26" name="Rounded Rectangle 25"/>
          <p:cNvSpPr/>
          <p:nvPr/>
        </p:nvSpPr>
        <p:spPr>
          <a:xfrm>
            <a:off x="6475539" y="3841591"/>
            <a:ext cx="155448" cy="155448"/>
          </a:xfrm>
          <a:prstGeom prst="roundRect">
            <a:avLst>
              <a:gd name="adj" fmla="val 50000"/>
            </a:avLst>
          </a:prstGeom>
          <a:solidFill>
            <a:srgbClr val="7CC6EE"/>
          </a:solidFill>
          <a:ln>
            <a:noFill/>
          </a:ln>
        </p:spPr>
        <p:txBody>
          <a:bodyPr rtlCol="0" anchor="ctr" lIns="54864" rIns="54864" tIns="27432" bIns="27432"/>
          <a:lstStyle/>
          <a:p>
            <a:pPr algn="ctr"/>
          </a:p>
        </p:txBody>
      </p:sp>
      <p:sp>
        <p:nvSpPr>
          <p:cNvPr id="27" name="TextBox 26"/>
          <p:cNvSpPr txBox="1"/>
          <p:nvPr/>
        </p:nvSpPr>
        <p:spPr>
          <a:xfrm>
            <a:off x="5804852" y="3806126"/>
            <a:ext cx="606679" cy="226377"/>
          </a:xfrm>
          <a:prstGeom prst="rect">
            <a:avLst/>
          </a:prstGeom>
          <a:noFill/>
        </p:spPr>
        <p:txBody>
          <a:bodyPr wrap="none" lIns="0" rIns="0" tIns="0" bIns="0" anchor="ctr"/>
          <a:lstStyle/>
          <a:p>
            <a:pPr algn="r" rtl="1"/>
            <a:r>
              <a:rPr sz="1150" b="1" i="0" lang="ar-AE" altLang="en-US">
                <a:solidFill>
                  <a:srgbClr val="102A43"/>
                </a:solidFill>
                <a:latin typeface="Arial"/>
                <a:cs typeface="Arial"/>
              </a:rPr>
              <a:t>عذبة ‎3%</a:t>
            </a:r>
          </a:p>
        </p:txBody>
      </p:sp>
      <p:sp>
        <p:nvSpPr>
          <p:cNvPr id="28" name="TextBox 27"/>
          <p:cNvSpPr txBox="1"/>
          <p:nvPr/>
        </p:nvSpPr>
        <p:spPr>
          <a:xfrm>
            <a:off x="5650992" y="2567114"/>
            <a:ext cx="1133856" cy="658368"/>
          </a:xfrm>
          <a:prstGeom prst="rect">
            <a:avLst/>
          </a:prstGeom>
          <a:noFill/>
        </p:spPr>
        <p:txBody>
          <a:bodyPr wrap="square" lIns="0" rIns="0" tIns="0" bIns="0" anchor="ctr"/>
          <a:lstStyle/>
          <a:p>
            <a:pPr algn="ctr" rtl="1"/>
            <a:r>
              <a:rPr sz="1700" b="1" i="0" lang="ar-AE" altLang="en-US">
                <a:solidFill>
                  <a:srgbClr val="1B5E9B"/>
                </a:solidFill>
                <a:latin typeface="Arial"/>
                <a:cs typeface="Arial"/>
              </a:rPr>
              <a:t>3%</a:t>
            </a:r>
          </a:p>
          <a:p>
            <a:pPr algn="ctr" rtl="1"/>
            <a:r>
              <a:rPr sz="1100" b="1" i="0" lang="ar-AE" altLang="en-US">
                <a:solidFill>
                  <a:srgbClr val="1B5E9B"/>
                </a:solidFill>
                <a:latin typeface="Arial"/>
                <a:cs typeface="Arial"/>
              </a:rPr>
              <a:t>عذبة</a:t>
            </a:r>
          </a:p>
        </p:txBody>
      </p:sp>
      <p:graphicFrame>
        <p:nvGraphicFramePr>
          <p:cNvPr id="29" name="Chart 28"/>
          <p:cNvGraphicFramePr>
            <a:graphicFrameLocks noGrp="1"/>
          </p:cNvGraphicFramePr>
          <p:nvPr/>
        </p:nvGraphicFramePr>
        <p:xfrm>
          <a:off x="2697480" y="1847088"/>
          <a:ext cx="2286000" cy="2240280"/>
        </p:xfrm>
        <a:graphic>
          <a:graphicData uri="http://schemas.openxmlformats.org/drawingml/2006/chart">
            <c:chart xmlns:c="http://schemas.openxmlformats.org/drawingml/2006/chart" r:id="rId4"/>
          </a:graphicData>
        </a:graphic>
      </p:graphicFrame>
      <p:sp>
        <p:nvSpPr>
          <p:cNvPr id="30" name="Rounded Rectangle 29"/>
          <p:cNvSpPr/>
          <p:nvPr/>
        </p:nvSpPr>
        <p:spPr>
          <a:xfrm>
            <a:off x="4248277" y="3615213"/>
            <a:ext cx="155448" cy="155448"/>
          </a:xfrm>
          <a:prstGeom prst="roundRect">
            <a:avLst>
              <a:gd name="adj" fmla="val 50000"/>
            </a:avLst>
          </a:prstGeom>
          <a:solidFill>
            <a:srgbClr val="9FC5DC"/>
          </a:solidFill>
          <a:ln>
            <a:noFill/>
          </a:ln>
        </p:spPr>
        <p:txBody>
          <a:bodyPr rtlCol="0" anchor="ctr" lIns="54864" rIns="54864" tIns="27432" bIns="27432"/>
          <a:lstStyle/>
          <a:p>
            <a:pPr algn="ctr"/>
          </a:p>
        </p:txBody>
      </p:sp>
      <p:sp>
        <p:nvSpPr>
          <p:cNvPr id="31" name="TextBox 30"/>
          <p:cNvSpPr txBox="1"/>
          <p:nvPr/>
        </p:nvSpPr>
        <p:spPr>
          <a:xfrm>
            <a:off x="3277235" y="3579749"/>
            <a:ext cx="907034" cy="226377"/>
          </a:xfrm>
          <a:prstGeom prst="rect">
            <a:avLst/>
          </a:prstGeom>
          <a:noFill/>
        </p:spPr>
        <p:txBody>
          <a:bodyPr wrap="none" lIns="0" rIns="0" tIns="0" bIns="0" anchor="ctr"/>
          <a:lstStyle/>
          <a:p>
            <a:pPr algn="r" rtl="1"/>
            <a:r>
              <a:rPr sz="1150" b="1" i="0" lang="ar-AE" altLang="en-US">
                <a:solidFill>
                  <a:srgbClr val="102A43"/>
                </a:solidFill>
                <a:latin typeface="Arial"/>
                <a:cs typeface="Arial"/>
              </a:rPr>
              <a:t>متجمدة ‎69%</a:t>
            </a:r>
          </a:p>
        </p:txBody>
      </p:sp>
      <p:sp>
        <p:nvSpPr>
          <p:cNvPr id="32" name="Rounded Rectangle 31"/>
          <p:cNvSpPr/>
          <p:nvPr/>
        </p:nvSpPr>
        <p:spPr>
          <a:xfrm>
            <a:off x="4183665" y="3841591"/>
            <a:ext cx="155448" cy="155448"/>
          </a:xfrm>
          <a:prstGeom prst="roundRect">
            <a:avLst>
              <a:gd name="adj" fmla="val 50000"/>
            </a:avLst>
          </a:prstGeom>
          <a:solidFill>
            <a:srgbClr val="2E9E5B"/>
          </a:solidFill>
          <a:ln>
            <a:noFill/>
          </a:ln>
        </p:spPr>
        <p:txBody>
          <a:bodyPr rtlCol="0" anchor="ctr" lIns="54864" rIns="54864" tIns="27432" bIns="27432"/>
          <a:lstStyle/>
          <a:p>
            <a:pPr algn="ctr"/>
          </a:p>
        </p:txBody>
      </p:sp>
      <p:sp>
        <p:nvSpPr>
          <p:cNvPr id="33" name="TextBox 32"/>
          <p:cNvSpPr txBox="1"/>
          <p:nvPr/>
        </p:nvSpPr>
        <p:spPr>
          <a:xfrm>
            <a:off x="3341846" y="3806126"/>
            <a:ext cx="777811" cy="226377"/>
          </a:xfrm>
          <a:prstGeom prst="rect">
            <a:avLst/>
          </a:prstGeom>
          <a:noFill/>
        </p:spPr>
        <p:txBody>
          <a:bodyPr wrap="none" lIns="0" rIns="0" tIns="0" bIns="0" anchor="ctr"/>
          <a:lstStyle/>
          <a:p>
            <a:pPr algn="r" rtl="1"/>
            <a:r>
              <a:rPr sz="1150" b="1" i="0" lang="ar-AE" altLang="en-US">
                <a:solidFill>
                  <a:srgbClr val="102A43"/>
                </a:solidFill>
                <a:latin typeface="Arial"/>
                <a:cs typeface="Arial"/>
              </a:rPr>
              <a:t>متاحة ‎31%</a:t>
            </a:r>
          </a:p>
        </p:txBody>
      </p:sp>
      <p:sp>
        <p:nvSpPr>
          <p:cNvPr id="34" name="TextBox 33"/>
          <p:cNvSpPr txBox="1"/>
          <p:nvPr/>
        </p:nvSpPr>
        <p:spPr>
          <a:xfrm>
            <a:off x="3273552" y="2567114"/>
            <a:ext cx="1133856" cy="658368"/>
          </a:xfrm>
          <a:prstGeom prst="rect">
            <a:avLst/>
          </a:prstGeom>
          <a:noFill/>
        </p:spPr>
        <p:txBody>
          <a:bodyPr wrap="square" lIns="0" rIns="0" tIns="0" bIns="0" anchor="ctr"/>
          <a:lstStyle/>
          <a:p>
            <a:pPr algn="ctr" rtl="1"/>
            <a:r>
              <a:rPr sz="1700" b="1" i="0" lang="ar-AE" altLang="en-US">
                <a:solidFill>
                  <a:srgbClr val="2E9E5B"/>
                </a:solidFill>
                <a:latin typeface="Arial"/>
                <a:cs typeface="Arial"/>
              </a:rPr>
              <a:t>31%</a:t>
            </a:r>
          </a:p>
          <a:p>
            <a:pPr algn="ctr" rtl="1"/>
            <a:r>
              <a:rPr sz="1100" b="1" i="0" lang="ar-AE" altLang="en-US">
                <a:solidFill>
                  <a:srgbClr val="2E9E5B"/>
                </a:solidFill>
                <a:latin typeface="Arial"/>
                <a:cs typeface="Arial"/>
              </a:rPr>
              <a:t>متاحة</a:t>
            </a:r>
          </a:p>
        </p:txBody>
      </p:sp>
      <p:sp>
        <p:nvSpPr>
          <p:cNvPr id="35" name="Rounded Rectangle 34"/>
          <p:cNvSpPr/>
          <p:nvPr/>
        </p:nvSpPr>
        <p:spPr>
          <a:xfrm>
            <a:off x="2697480" y="4187952"/>
            <a:ext cx="4663440" cy="768096"/>
          </a:xfrm>
          <a:prstGeom prst="roundRect">
            <a:avLst>
              <a:gd name="adj" fmla="val 14285"/>
            </a:avLst>
          </a:prstGeom>
          <a:solidFill>
            <a:srgbClr val="FBF5E8"/>
          </a:solidFill>
          <a:ln w="12700">
            <a:solidFill>
              <a:srgbClr val="E6D5B0"/>
            </a:solidFill>
          </a:ln>
        </p:spPr>
        <p:txBody>
          <a:bodyPr rtlCol="0" anchor="ctr" lIns="54864" rIns="54864" tIns="27432" bIns="27432"/>
          <a:lstStyle/>
          <a:p>
            <a:pPr algn="ctr"/>
          </a:p>
        </p:txBody>
      </p:sp>
      <p:pic>
        <p:nvPicPr>
          <p:cNvPr id="36" name="Picture 35" descr="calc_g.png"/>
          <p:cNvPicPr>
            <a:picLocks noChangeAspect="1"/>
          </p:cNvPicPr>
          <p:nvPr/>
        </p:nvPicPr>
        <p:blipFill>
          <a:blip r:embed="rId5"/>
          <a:stretch>
            <a:fillRect/>
          </a:stretch>
        </p:blipFill>
        <p:spPr>
          <a:xfrm>
            <a:off x="6903720" y="4325112"/>
            <a:ext cx="384048" cy="384048"/>
          </a:xfrm>
          <a:prstGeom prst="rect">
            <a:avLst/>
          </a:prstGeom>
        </p:spPr>
      </p:pic>
      <p:sp>
        <p:nvSpPr>
          <p:cNvPr id="37" name="TextBox 36"/>
          <p:cNvSpPr txBox="1"/>
          <p:nvPr/>
        </p:nvSpPr>
        <p:spPr>
          <a:xfrm>
            <a:off x="2788920" y="4187952"/>
            <a:ext cx="4069080" cy="768096"/>
          </a:xfrm>
          <a:prstGeom prst="rect">
            <a:avLst/>
          </a:prstGeom>
          <a:noFill/>
        </p:spPr>
        <p:txBody>
          <a:bodyPr wrap="square" lIns="73152" rIns="73152" tIns="36576" bIns="36576" anchor="ctr"/>
          <a:lstStyle/>
          <a:p>
            <a:pPr algn="r" rtl="1"/>
            <a:r>
              <a:rPr sz="1250" b="1" i="0" lang="ar-AE" altLang="en-US">
                <a:solidFill>
                  <a:srgbClr val="9A7B3F"/>
                </a:solidFill>
                <a:latin typeface="Arial"/>
                <a:cs typeface="Arial"/>
              </a:rPr>
              <a:t>ربط بالرياضيات: </a:t>
            </a:r>
            <a:r>
              <a:rPr sz="1250" b="1" i="0" lang="ar-AE" altLang="en-US">
                <a:solidFill>
                  <a:srgbClr val="102A43"/>
                </a:solidFill>
                <a:latin typeface="Arial"/>
                <a:cs typeface="Arial"/>
              </a:rPr>
              <a:t>من كل 100 لتر من مياه الأرض، كم لترًا عذبًا متاحًا للكائنات الحية؟</a:t>
            </a:r>
          </a:p>
        </p:txBody>
      </p:sp>
      <p:sp>
        <p:nvSpPr>
          <p:cNvPr id="38" name="Rounded Rectangle 37"/>
          <p:cNvSpPr/>
          <p:nvPr/>
        </p:nvSpPr>
        <p:spPr>
          <a:xfrm>
            <a:off x="5532120" y="5047488"/>
            <a:ext cx="182880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إظهار الإجابة</a:t>
            </a:r>
          </a:p>
        </p:txBody>
      </p:sp>
      <p:sp>
        <p:nvSpPr>
          <p:cNvPr id="39" name="Rounded Rectangle 38"/>
          <p:cNvSpPr/>
          <p:nvPr/>
        </p:nvSpPr>
        <p:spPr>
          <a:xfrm>
            <a:off x="2697480" y="5029200"/>
            <a:ext cx="2743200" cy="475488"/>
          </a:xfrm>
          <a:prstGeom prst="roundRect">
            <a:avLst>
              <a:gd name="adj" fmla="val 19230"/>
            </a:avLst>
          </a:prstGeom>
          <a:solidFill>
            <a:srgbClr val="EAF7EE"/>
          </a:solidFill>
          <a:ln w="19050">
            <a:solidFill>
              <a:srgbClr val="2E9E5B"/>
            </a:solidFill>
          </a:ln>
        </p:spPr>
        <p:txBody>
          <a:bodyPr rtlCol="0" anchor="ctr" lIns="109728" rIns="109728" tIns="54864" bIns="54864" wrap="square"/>
          <a:lstStyle/>
          <a:p>
            <a:pPr algn="r" rtl="1"/>
            <a:r>
              <a:rPr sz="1400" b="1" i="0" lang="ar-AE" altLang="en-US">
                <a:solidFill>
                  <a:srgbClr val="1B4D2E"/>
                </a:solidFill>
                <a:latin typeface="Arial"/>
                <a:cs typeface="Arial"/>
              </a:rPr>
              <a:t>3 × 31% ≈ 0.9 لتر فقط!</a:t>
            </a:r>
          </a:p>
        </p:txBody>
      </p:sp>
      <p:pic>
        <p:nvPicPr>
          <p:cNvPr id="40" name="Picture 39" descr="still_uaewater.png"/>
          <p:cNvPicPr>
            <a:picLocks noChangeAspect="1"/>
          </p:cNvPicPr>
          <p:nvPr/>
        </p:nvPicPr>
        <p:blipFill>
          <a:blip r:embed="rId6"/>
          <a:stretch>
            <a:fillRect/>
          </a:stretch>
        </p:blipFill>
        <p:spPr>
          <a:xfrm>
            <a:off x="7543800" y="1901952"/>
            <a:ext cx="4297680" cy="3008376"/>
          </a:xfrm>
          <a:prstGeom prst="rect">
            <a:avLst/>
          </a:prstGeom>
          <a:ln w="25400">
            <a:solidFill>
              <a:srgbClr val="C9A96A"/>
            </a:solidFill>
          </a:ln>
          <a:effectLst>
            <a:outerShdw blurRad="76200" dist="31750" dir="5400000" algn="t" rotWithShape="0">
              <a:srgbClr val="1E2B3C">
                <a:alpha val="22000"/>
              </a:srgbClr>
            </a:outerShdw>
          </a:effectLst>
        </p:spPr>
      </p:pic>
      <p:pic>
        <p:nvPicPr>
          <p:cNvPr id="41" name="Picture 40" descr="badge_maha.png"/>
          <p:cNvPicPr>
            <a:picLocks noChangeAspect="1"/>
          </p:cNvPicPr>
          <p:nvPr/>
        </p:nvPicPr>
        <p:blipFill>
          <a:blip r:embed="rId7"/>
          <a:stretch>
            <a:fillRect/>
          </a:stretch>
        </p:blipFill>
        <p:spPr>
          <a:xfrm>
            <a:off x="7543800" y="4983480"/>
            <a:ext cx="502920" cy="577234"/>
          </a:xfrm>
          <a:prstGeom prst="rect">
            <a:avLst/>
          </a:prstGeom>
        </p:spPr>
      </p:pic>
      <p:sp>
        <p:nvSpPr>
          <p:cNvPr id="42" name="Rounded Rectangular Callout 41"/>
          <p:cNvSpPr/>
          <p:nvPr/>
        </p:nvSpPr>
        <p:spPr>
          <a:xfrm>
            <a:off x="8156448" y="4983480"/>
            <a:ext cx="3685032" cy="566928"/>
          </a:xfrm>
          <a:prstGeom prst="wedgeRoundRectCallout">
            <a:avLst>
              <a:gd name="adj1" fmla="val -53970"/>
              <a:gd name="adj2" fmla="val 12000"/>
              <a:gd name="adj3" fmla="val 16667"/>
            </a:avLst>
          </a:prstGeom>
          <a:solidFill>
            <a:srgbClr val="FFFFFF"/>
          </a:solidFill>
          <a:ln w="22225">
            <a:solidFill>
              <a:srgbClr val="0F7C73"/>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43" name="TextBox 42"/>
          <p:cNvSpPr txBox="1"/>
          <p:nvPr/>
        </p:nvSpPr>
        <p:spPr>
          <a:xfrm>
            <a:off x="8211312" y="5001768"/>
            <a:ext cx="3575304" cy="530352"/>
          </a:xfrm>
          <a:prstGeom prst="rect">
            <a:avLst/>
          </a:prstGeom>
          <a:noFill/>
        </p:spPr>
        <p:txBody>
          <a:bodyPr wrap="square" lIns="54864" rIns="54864" tIns="27432" bIns="27432" anchor="ctr"/>
          <a:lstStyle/>
          <a:p>
            <a:pPr algn="r" rtl="1"/>
            <a:r>
              <a:rPr sz="1150" b="1" i="0" lang="ar-AE" altLang="en-US">
                <a:solidFill>
                  <a:srgbClr val="0F7C73"/>
                </a:solidFill>
                <a:latin typeface="Arial"/>
                <a:cs typeface="Arial"/>
              </a:rPr>
              <a:t>مها: </a:t>
            </a:r>
            <a:r>
              <a:rPr sz="1150" b="1" i="0" lang="ar-AE" altLang="en-US">
                <a:solidFill>
                  <a:srgbClr val="102A43"/>
                </a:solidFill>
                <a:latin typeface="Arial"/>
                <a:cs typeface="Arial"/>
              </a:rPr>
              <a:t>لذلك تعتمد الإمارات على تحلية مياه البحر والاستمطار… فلنرشّد استهلاكنا!</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childTnLst>
              </p:cTn>
              <p:nextCondLst>
                <p:cond evt="onNext" delay="0">
                  <p:tgtEl>
                    <p:sldTgt/>
                  </p:tgtEl>
                </p:cond>
              </p:nextCondLst>
            </p:seq>
          </p:childTnLst>
        </p:cTn>
      </p:par>
    </p:tnLst>
    <p:bldLst>
      <p:bldP spid="39"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809750" y="395287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الثالث</a:t>
            </a:r>
          </a:p>
        </p:txBody>
      </p:sp>
      <p:sp>
        <p:nvSpPr>
          <p:cNvPr id="22" name="TextBox 21"/>
          <p:cNvSpPr txBox="1"/>
          <p:nvPr/>
        </p:nvSpPr>
        <p:spPr>
          <a:xfrm>
            <a:off x="2606040" y="1280160"/>
            <a:ext cx="7045452"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حدّدوا العمليات المرقّمة في دورة الماء</a:t>
            </a:r>
          </a:p>
        </p:txBody>
      </p:sp>
      <p:pic>
        <p:nvPicPr>
          <p:cNvPr id="23" name="Picture 22" descr="water_circle.png"/>
          <p:cNvPicPr>
            <a:picLocks noChangeAspect="1"/>
          </p:cNvPicPr>
          <p:nvPr/>
        </p:nvPicPr>
        <p:blipFill>
          <a:blip r:embed="rId3"/>
          <a:stretch>
            <a:fillRect/>
          </a:stretch>
        </p:blipFill>
        <p:spPr>
          <a:xfrm>
            <a:off x="4160520" y="1847088"/>
            <a:ext cx="3337560" cy="3494105"/>
          </a:xfrm>
          <a:prstGeom prst="rect">
            <a:avLst/>
          </a:prstGeom>
        </p:spPr>
      </p:pic>
      <p:sp>
        <p:nvSpPr>
          <p:cNvPr id="24" name="Oval 23"/>
          <p:cNvSpPr/>
          <p:nvPr/>
        </p:nvSpPr>
        <p:spPr>
          <a:xfrm>
            <a:off x="4778657" y="3561047"/>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1</a:t>
            </a:r>
          </a:p>
        </p:txBody>
      </p:sp>
      <p:sp>
        <p:nvSpPr>
          <p:cNvPr id="25" name="Oval 24"/>
          <p:cNvSpPr/>
          <p:nvPr/>
        </p:nvSpPr>
        <p:spPr>
          <a:xfrm>
            <a:off x="5279604" y="2797103"/>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2</a:t>
            </a:r>
          </a:p>
        </p:txBody>
      </p:sp>
      <p:sp>
        <p:nvSpPr>
          <p:cNvPr id="26" name="Oval 25"/>
          <p:cNvSpPr/>
          <p:nvPr/>
        </p:nvSpPr>
        <p:spPr>
          <a:xfrm>
            <a:off x="6362903" y="3561047"/>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3</a:t>
            </a:r>
          </a:p>
        </p:txBody>
      </p:sp>
      <p:sp>
        <p:nvSpPr>
          <p:cNvPr id="27" name="Oval 26"/>
          <p:cNvSpPr/>
          <p:nvPr/>
        </p:nvSpPr>
        <p:spPr>
          <a:xfrm>
            <a:off x="5498769" y="4312468"/>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4</a:t>
            </a:r>
          </a:p>
        </p:txBody>
      </p:sp>
      <p:sp>
        <p:nvSpPr>
          <p:cNvPr id="28" name="Oval 27"/>
          <p:cNvSpPr/>
          <p:nvPr/>
        </p:nvSpPr>
        <p:spPr>
          <a:xfrm>
            <a:off x="5949621" y="3561047"/>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5</a:t>
            </a:r>
          </a:p>
        </p:txBody>
      </p:sp>
      <p:sp>
        <p:nvSpPr>
          <p:cNvPr id="29" name="Rounded Rectangle 28"/>
          <p:cNvSpPr/>
          <p:nvPr/>
        </p:nvSpPr>
        <p:spPr>
          <a:xfrm>
            <a:off x="4279409" y="3883283"/>
            <a:ext cx="914400" cy="310896"/>
          </a:xfrm>
          <a:prstGeom prst="roundRect">
            <a:avLst>
              <a:gd name="adj" fmla="val 44117"/>
            </a:avLst>
          </a:prstGeom>
          <a:solidFill>
            <a:srgbClr val="102A43"/>
          </a:solidFill>
          <a:ln>
            <a:noFill/>
          </a:ln>
        </p:spPr>
        <p:txBody>
          <a:bodyPr rtlCol="0" anchor="ctr" lIns="0" rIns="0" tIns="0" bIns="0" wrap="square"/>
          <a:lstStyle/>
          <a:p>
            <a:pPr algn="ctr" rtl="1"/>
            <a:r>
              <a:rPr sz="1150" b="1" i="0" lang="ar-AE" altLang="en-US">
                <a:solidFill>
                  <a:srgbClr val="FFFFFF"/>
                </a:solidFill>
                <a:latin typeface="Arial"/>
                <a:cs typeface="Arial"/>
              </a:rPr>
              <a:t>التبخّر</a:t>
            </a:r>
          </a:p>
        </p:txBody>
      </p:sp>
      <p:sp>
        <p:nvSpPr>
          <p:cNvPr id="30" name="Rounded Rectangle 29"/>
          <p:cNvSpPr/>
          <p:nvPr/>
        </p:nvSpPr>
        <p:spPr>
          <a:xfrm>
            <a:off x="4986996" y="3119339"/>
            <a:ext cx="914400" cy="310896"/>
          </a:xfrm>
          <a:prstGeom prst="roundRect">
            <a:avLst>
              <a:gd name="adj" fmla="val 44117"/>
            </a:avLst>
          </a:prstGeom>
          <a:solidFill>
            <a:srgbClr val="102A43"/>
          </a:solidFill>
          <a:ln>
            <a:noFill/>
          </a:ln>
        </p:spPr>
        <p:txBody>
          <a:bodyPr rtlCol="0" anchor="ctr" lIns="0" rIns="0" tIns="0" bIns="0" wrap="square"/>
          <a:lstStyle/>
          <a:p>
            <a:pPr algn="ctr" rtl="1"/>
            <a:r>
              <a:rPr sz="1150" b="1" i="0" lang="ar-AE" altLang="en-US">
                <a:solidFill>
                  <a:srgbClr val="FFFFFF"/>
                </a:solidFill>
                <a:latin typeface="Arial"/>
                <a:cs typeface="Arial"/>
              </a:rPr>
              <a:t>التكاثف</a:t>
            </a:r>
          </a:p>
        </p:txBody>
      </p:sp>
      <p:sp>
        <p:nvSpPr>
          <p:cNvPr id="31" name="Rounded Rectangle 30"/>
          <p:cNvSpPr/>
          <p:nvPr/>
        </p:nvSpPr>
        <p:spPr>
          <a:xfrm>
            <a:off x="6489838" y="3244575"/>
            <a:ext cx="914400" cy="310896"/>
          </a:xfrm>
          <a:prstGeom prst="roundRect">
            <a:avLst>
              <a:gd name="adj" fmla="val 44117"/>
            </a:avLst>
          </a:prstGeom>
          <a:solidFill>
            <a:srgbClr val="102A43"/>
          </a:solidFill>
          <a:ln>
            <a:noFill/>
          </a:ln>
        </p:spPr>
        <p:txBody>
          <a:bodyPr rtlCol="0" anchor="ctr" lIns="0" rIns="0" tIns="0" bIns="0" wrap="square"/>
          <a:lstStyle/>
          <a:p>
            <a:pPr algn="ctr" rtl="1"/>
            <a:r>
              <a:rPr sz="1150" b="1" i="0" lang="ar-AE" altLang="en-US">
                <a:solidFill>
                  <a:srgbClr val="FFFFFF"/>
                </a:solidFill>
                <a:latin typeface="Arial"/>
                <a:cs typeface="Arial"/>
              </a:rPr>
              <a:t>الهطول</a:t>
            </a:r>
          </a:p>
        </p:txBody>
      </p:sp>
      <p:sp>
        <p:nvSpPr>
          <p:cNvPr id="32" name="Rounded Rectangle 31"/>
          <p:cNvSpPr/>
          <p:nvPr/>
        </p:nvSpPr>
        <p:spPr>
          <a:xfrm>
            <a:off x="4977561" y="4622180"/>
            <a:ext cx="1371600" cy="310896"/>
          </a:xfrm>
          <a:prstGeom prst="roundRect">
            <a:avLst>
              <a:gd name="adj" fmla="val 44117"/>
            </a:avLst>
          </a:prstGeom>
          <a:solidFill>
            <a:srgbClr val="102A43"/>
          </a:solidFill>
          <a:ln>
            <a:noFill/>
          </a:ln>
        </p:spPr>
        <p:txBody>
          <a:bodyPr rtlCol="0" anchor="ctr" lIns="0" rIns="0" tIns="0" bIns="0" wrap="square"/>
          <a:lstStyle/>
          <a:p>
            <a:pPr algn="ctr" rtl="1"/>
            <a:r>
              <a:rPr sz="1150" b="1" i="0" lang="ar-AE" altLang="en-US">
                <a:solidFill>
                  <a:srgbClr val="FFFFFF"/>
                </a:solidFill>
                <a:latin typeface="Arial"/>
                <a:cs typeface="Arial"/>
              </a:rPr>
              <a:t>الجريان السطحي</a:t>
            </a:r>
          </a:p>
        </p:txBody>
      </p:sp>
      <p:sp>
        <p:nvSpPr>
          <p:cNvPr id="33" name="Rounded Rectangle 32"/>
          <p:cNvSpPr/>
          <p:nvPr/>
        </p:nvSpPr>
        <p:spPr>
          <a:xfrm>
            <a:off x="5581871" y="3895807"/>
            <a:ext cx="914400" cy="310896"/>
          </a:xfrm>
          <a:prstGeom prst="roundRect">
            <a:avLst>
              <a:gd name="adj" fmla="val 44117"/>
            </a:avLst>
          </a:prstGeom>
          <a:solidFill>
            <a:srgbClr val="102A43"/>
          </a:solidFill>
          <a:ln>
            <a:noFill/>
          </a:ln>
        </p:spPr>
        <p:txBody>
          <a:bodyPr rtlCol="0" anchor="ctr" lIns="0" rIns="0" tIns="0" bIns="0" wrap="square"/>
          <a:lstStyle/>
          <a:p>
            <a:pPr algn="ctr" rtl="1"/>
            <a:r>
              <a:rPr sz="1150" b="1" i="0" lang="ar-AE" altLang="en-US">
                <a:solidFill>
                  <a:srgbClr val="FFFFFF"/>
                </a:solidFill>
                <a:latin typeface="Arial"/>
                <a:cs typeface="Arial"/>
              </a:rPr>
              <a:t>النتح</a:t>
            </a:r>
          </a:p>
        </p:txBody>
      </p:sp>
      <p:sp>
        <p:nvSpPr>
          <p:cNvPr id="34" name="Rounded Rectangle 33"/>
          <p:cNvSpPr/>
          <p:nvPr/>
        </p:nvSpPr>
        <p:spPr>
          <a:xfrm>
            <a:off x="2697480" y="1920240"/>
            <a:ext cx="137160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الإجابات</a:t>
            </a:r>
          </a:p>
        </p:txBody>
      </p:sp>
      <p:sp>
        <p:nvSpPr>
          <p:cNvPr id="35" name="Rounded Rectangle 34"/>
          <p:cNvSpPr/>
          <p:nvPr/>
        </p:nvSpPr>
        <p:spPr>
          <a:xfrm>
            <a:off x="2697480" y="2395728"/>
            <a:ext cx="1371600" cy="1645920"/>
          </a:xfrm>
          <a:prstGeom prst="roundRect">
            <a:avLst>
              <a:gd name="adj" fmla="val 6666"/>
            </a:avLst>
          </a:prstGeom>
          <a:solidFill>
            <a:srgbClr val="EAF4FB"/>
          </a:solidFill>
          <a:ln w="12700">
            <a:solidFill>
              <a:srgbClr val="BFDDF2"/>
            </a:solidFill>
          </a:ln>
        </p:spPr>
        <p:txBody>
          <a:bodyPr rtlCol="0" anchor="t" lIns="36576" rIns="36576" tIns="54864" bIns="54864" wrap="square"/>
          <a:lstStyle/>
          <a:p>
            <a:pPr algn="ctr" rtl="1"/>
            <a:r>
              <a:rPr sz="1250" b="1" i="0" lang="ar-AE" altLang="en-US">
                <a:solidFill>
                  <a:srgbClr val="1E88C8"/>
                </a:solidFill>
                <a:latin typeface="Arial"/>
                <a:cs typeface="Arial"/>
              </a:rPr>
              <a:t>بنك الكلمات</a:t>
            </a:r>
          </a:p>
          <a:p>
            <a:pPr algn="ctr" rtl="1"/>
            <a:r>
              <a:rPr sz="1200" b="1" i="0" lang="ar-AE" altLang="en-US">
                <a:solidFill>
                  <a:srgbClr val="102A43"/>
                </a:solidFill>
                <a:latin typeface="Arial"/>
                <a:cs typeface="Arial"/>
              </a:rPr>
              <a:t>التبخّر</a:t>
            </a:r>
          </a:p>
          <a:p>
            <a:pPr algn="ctr" rtl="1"/>
            <a:r>
              <a:rPr sz="1200" b="1" i="0" lang="ar-AE" altLang="en-US">
                <a:solidFill>
                  <a:srgbClr val="102A43"/>
                </a:solidFill>
                <a:latin typeface="Arial"/>
                <a:cs typeface="Arial"/>
              </a:rPr>
              <a:t>التكاثف</a:t>
            </a:r>
          </a:p>
          <a:p>
            <a:pPr algn="ctr" rtl="1"/>
            <a:r>
              <a:rPr sz="1200" b="1" i="0" lang="ar-AE" altLang="en-US">
                <a:solidFill>
                  <a:srgbClr val="102A43"/>
                </a:solidFill>
                <a:latin typeface="Arial"/>
                <a:cs typeface="Arial"/>
              </a:rPr>
              <a:t>الهطول</a:t>
            </a:r>
          </a:p>
          <a:p>
            <a:pPr algn="ctr" rtl="1"/>
            <a:r>
              <a:rPr sz="1200" b="1" i="0" lang="ar-AE" altLang="en-US">
                <a:solidFill>
                  <a:srgbClr val="102A43"/>
                </a:solidFill>
                <a:latin typeface="Arial"/>
                <a:cs typeface="Arial"/>
              </a:rPr>
              <a:t>الجريان السطحي</a:t>
            </a:r>
          </a:p>
          <a:p>
            <a:pPr algn="ctr" rtl="1"/>
            <a:r>
              <a:rPr sz="1200" b="1" i="0" lang="ar-AE" altLang="en-US">
                <a:solidFill>
                  <a:srgbClr val="102A43"/>
                </a:solidFill>
                <a:latin typeface="Arial"/>
                <a:cs typeface="Arial"/>
              </a:rPr>
              <a:t>النتح</a:t>
            </a:r>
          </a:p>
        </p:txBody>
      </p:sp>
      <p:pic>
        <p:nvPicPr>
          <p:cNvPr id="36" name="مؤقت 3 دقائق">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2715768" y="4187952"/>
            <a:ext cx="1325880" cy="1325880"/>
          </a:xfrm>
          <a:prstGeom prst="rect">
            <a:avLst/>
          </a:prstGeom>
        </p:spPr>
      </p:pic>
      <p:sp>
        <p:nvSpPr>
          <p:cNvPr id="37" name="TextBox 36"/>
          <p:cNvSpPr txBox="1"/>
          <p:nvPr/>
        </p:nvSpPr>
        <p:spPr>
          <a:xfrm>
            <a:off x="11548872" y="2002536"/>
            <a:ext cx="274320" cy="274320"/>
          </a:xfrm>
          <a:prstGeom prst="rect">
            <a:avLst/>
          </a:prstGeom>
          <a:noFill/>
        </p:spPr>
        <p:txBody>
          <a:bodyPr wrap="square" lIns="0" rIns="0" tIns="0" bIns="0" anchor="ctr"/>
          <a:lstStyle/>
          <a:p>
            <a:pPr algn="ctr"/>
            <a:r>
              <a:rPr sz="1500" b="1" i="0" lang="ar-AE" altLang="en-US">
                <a:solidFill>
                  <a:srgbClr val="E0A21B"/>
                </a:solidFill>
                <a:latin typeface="Arial"/>
                <a:cs typeface="Arial"/>
              </a:rPr>
              <a:t>▲</a:t>
            </a:r>
          </a:p>
        </p:txBody>
      </p:sp>
      <p:sp>
        <p:nvSpPr>
          <p:cNvPr id="38" name="TextBox 37"/>
          <p:cNvSpPr txBox="1"/>
          <p:nvPr/>
        </p:nvSpPr>
        <p:spPr>
          <a:xfrm>
            <a:off x="7680960" y="1874519"/>
            <a:ext cx="3831335" cy="868680"/>
          </a:xfrm>
          <a:prstGeom prst="rect">
            <a:avLst/>
          </a:prstGeom>
          <a:noFill/>
        </p:spPr>
        <p:txBody>
          <a:bodyPr wrap="square" lIns="36576" rIns="36576" tIns="0" bIns="0" anchor="ctr"/>
          <a:lstStyle/>
          <a:p>
            <a:pPr algn="r" rtl="1"/>
            <a:r>
              <a:rPr sz="1400" b="1" i="0" lang="ar-AE" altLang="en-US">
                <a:solidFill>
                  <a:srgbClr val="C9A96A"/>
                </a:solidFill>
                <a:latin typeface="Arial"/>
                <a:cs typeface="Arial"/>
              </a:rPr>
              <a:t>سؤال بنمط TIMSS: </a:t>
            </a:r>
            <a:r>
              <a:rPr sz="1400" b="1" i="0" lang="ar-AE" altLang="en-US">
                <a:solidFill>
                  <a:srgbClr val="102A43"/>
                </a:solidFill>
                <a:latin typeface="Arial"/>
                <a:cs typeface="Arial"/>
              </a:rPr>
              <a:t>أيّ العمليات الآتية تنقل الماء من النباتات إلى الغلاف الجوي؟</a:t>
            </a:r>
          </a:p>
        </p:txBody>
      </p:sp>
      <p:sp>
        <p:nvSpPr>
          <p:cNvPr id="39" name="Rounded Rectangle 38"/>
          <p:cNvSpPr/>
          <p:nvPr/>
        </p:nvSpPr>
        <p:spPr>
          <a:xfrm>
            <a:off x="9825228" y="2798064"/>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1E88C8"/>
                </a:solidFill>
                <a:latin typeface="Arial"/>
                <a:cs typeface="Arial"/>
              </a:rPr>
              <a:t>أ) </a:t>
            </a:r>
            <a:r>
              <a:rPr sz="1400" b="1" i="0" lang="ar-AE" altLang="en-US">
                <a:solidFill>
                  <a:srgbClr val="102A43"/>
                </a:solidFill>
                <a:latin typeface="Arial"/>
                <a:cs typeface="Arial"/>
              </a:rPr>
              <a:t>التكاثف</a:t>
            </a:r>
          </a:p>
        </p:txBody>
      </p:sp>
      <p:sp>
        <p:nvSpPr>
          <p:cNvPr id="40" name="Oval 39"/>
          <p:cNvSpPr/>
          <p:nvPr/>
        </p:nvSpPr>
        <p:spPr>
          <a:xfrm>
            <a:off x="9898380" y="2871216"/>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1" name="Rounded Rectangle 40"/>
          <p:cNvSpPr/>
          <p:nvPr/>
        </p:nvSpPr>
        <p:spPr>
          <a:xfrm>
            <a:off x="7680959" y="2798064"/>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1E88C8"/>
                </a:solidFill>
                <a:latin typeface="Arial"/>
                <a:cs typeface="Arial"/>
              </a:rPr>
              <a:t>ب) </a:t>
            </a:r>
            <a:r>
              <a:rPr sz="1400" b="1" i="0" lang="ar-AE" altLang="en-US">
                <a:solidFill>
                  <a:srgbClr val="102A43"/>
                </a:solidFill>
                <a:latin typeface="Arial"/>
                <a:cs typeface="Arial"/>
              </a:rPr>
              <a:t>النتح</a:t>
            </a:r>
          </a:p>
        </p:txBody>
      </p:sp>
      <p:sp>
        <p:nvSpPr>
          <p:cNvPr id="42" name="Oval 41"/>
          <p:cNvSpPr/>
          <p:nvPr/>
        </p:nvSpPr>
        <p:spPr>
          <a:xfrm>
            <a:off x="7754111" y="2871216"/>
            <a:ext cx="329184" cy="329184"/>
          </a:xfrm>
          <a:prstGeom prst="ellipse">
            <a:avLst/>
          </a:prstGeom>
          <a:solidFill>
            <a:srgbClr val="2E9E5B"/>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3" name="Rounded Rectangle 42"/>
          <p:cNvSpPr/>
          <p:nvPr/>
        </p:nvSpPr>
        <p:spPr>
          <a:xfrm>
            <a:off x="9825228" y="3401568"/>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1E88C8"/>
                </a:solidFill>
                <a:latin typeface="Arial"/>
                <a:cs typeface="Arial"/>
              </a:rPr>
              <a:t>ج) </a:t>
            </a:r>
            <a:r>
              <a:rPr sz="1400" b="1" i="0" lang="ar-AE" altLang="en-US">
                <a:solidFill>
                  <a:srgbClr val="102A43"/>
                </a:solidFill>
                <a:latin typeface="Arial"/>
                <a:cs typeface="Arial"/>
              </a:rPr>
              <a:t>الهطول</a:t>
            </a:r>
          </a:p>
        </p:txBody>
      </p:sp>
      <p:sp>
        <p:nvSpPr>
          <p:cNvPr id="44" name="Oval 43"/>
          <p:cNvSpPr/>
          <p:nvPr/>
        </p:nvSpPr>
        <p:spPr>
          <a:xfrm>
            <a:off x="9898380" y="3474720"/>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5" name="Rounded Rectangle 44"/>
          <p:cNvSpPr/>
          <p:nvPr/>
        </p:nvSpPr>
        <p:spPr>
          <a:xfrm>
            <a:off x="7680959" y="3401568"/>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1E88C8"/>
                </a:solidFill>
                <a:latin typeface="Arial"/>
                <a:cs typeface="Arial"/>
              </a:rPr>
              <a:t>د) </a:t>
            </a:r>
            <a:r>
              <a:rPr sz="1400" b="1" i="0" lang="ar-AE" altLang="en-US">
                <a:solidFill>
                  <a:srgbClr val="102A43"/>
                </a:solidFill>
                <a:latin typeface="Arial"/>
                <a:cs typeface="Arial"/>
              </a:rPr>
              <a:t>الترشيح</a:t>
            </a:r>
          </a:p>
        </p:txBody>
      </p:sp>
      <p:sp>
        <p:nvSpPr>
          <p:cNvPr id="46" name="Oval 45"/>
          <p:cNvSpPr/>
          <p:nvPr/>
        </p:nvSpPr>
        <p:spPr>
          <a:xfrm>
            <a:off x="7754111" y="3474720"/>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7" name="Rounded Rectangle 46"/>
          <p:cNvSpPr/>
          <p:nvPr/>
        </p:nvSpPr>
        <p:spPr>
          <a:xfrm>
            <a:off x="7680960" y="4206240"/>
            <a:ext cx="4160520" cy="1316736"/>
          </a:xfrm>
          <a:prstGeom prst="roundRect">
            <a:avLst>
              <a:gd name="adj" fmla="val 8333"/>
            </a:avLst>
          </a:prstGeom>
          <a:solidFill>
            <a:srgbClr val="FBF5E8"/>
          </a:solidFill>
          <a:ln w="12700">
            <a:solidFill>
              <a:srgbClr val="E6D5B0"/>
            </a:solidFill>
          </a:ln>
        </p:spPr>
        <p:txBody>
          <a:bodyPr rtlCol="0" anchor="ctr" lIns="54864" rIns="54864" tIns="27432" bIns="27432"/>
          <a:lstStyle/>
          <a:p>
            <a:pPr algn="ctr"/>
          </a:p>
        </p:txBody>
      </p:sp>
      <p:sp>
        <p:nvSpPr>
          <p:cNvPr id="48" name="TextBox 47"/>
          <p:cNvSpPr txBox="1"/>
          <p:nvPr/>
        </p:nvSpPr>
        <p:spPr>
          <a:xfrm>
            <a:off x="7772400" y="4224528"/>
            <a:ext cx="3977639" cy="1280160"/>
          </a:xfrm>
          <a:prstGeom prst="rect">
            <a:avLst/>
          </a:prstGeom>
          <a:noFill/>
        </p:spPr>
        <p:txBody>
          <a:bodyPr wrap="square" lIns="73152" rIns="73152" tIns="36576" bIns="36576" anchor="ctr"/>
          <a:lstStyle/>
          <a:p>
            <a:pPr algn="r" rtl="1"/>
            <a:r>
              <a:rPr sz="1300" b="1" i="0" lang="ar-AE" altLang="en-US">
                <a:solidFill>
                  <a:srgbClr val="6B3F1D"/>
                </a:solidFill>
                <a:latin typeface="Arial"/>
                <a:cs typeface="Arial"/>
              </a:rPr>
              <a:t>تحدّي شاهين </a:t>
            </a:r>
            <a:r>
              <a:rPr sz="1300" b="1" i="0" lang="ar-AE" altLang="en-US">
                <a:solidFill>
                  <a:srgbClr val="C8102E"/>
                </a:solidFill>
                <a:latin typeface="Arial"/>
                <a:cs typeface="Arial"/>
              </a:rPr>
              <a:t>■</a:t>
            </a:r>
            <a:r>
              <a:rPr sz="1300" b="1" i="0" lang="ar-AE" altLang="en-US">
                <a:solidFill>
                  <a:srgbClr val="6B3F1D"/>
                </a:solidFill>
                <a:latin typeface="Arial"/>
                <a:cs typeface="Arial"/>
              </a:rPr>
              <a:t>: </a:t>
            </a:r>
            <a:r>
              <a:rPr sz="1300" b="1" i="0" lang="ar-AE" altLang="en-US">
                <a:solidFill>
                  <a:srgbClr val="102A43"/>
                </a:solidFill>
                <a:latin typeface="Arial"/>
                <a:cs typeface="Arial"/>
              </a:rPr>
              <a:t>لماذا تُعدّ دورة الماء مهمة للإمارات رغم قلّة الأمطار؟ اذكروا دليلين من الدرس.</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9"/>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41"/>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500"/>
                                        <p:tgtEl>
                                          <p:spTgt spid="42"/>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4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4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36"/>
                    </p:tgtEl>
                  </p:cond>
                </p:stCondLst>
                <p:endSync evt="end" delay="0">
                  <p:rtn val="all"/>
                </p:endSync>
                <p:childTnLst>
                  <p:par>
                    <p:cTn id="45" fill="hold">
                      <p:stCondLst>
                        <p:cond delay="0"/>
                      </p:stCondLst>
                      <p:childTnLst>
                        <p:par>
                          <p:cTn id="46" fill="hold">
                            <p:stCondLst>
                              <p:cond delay="0"/>
                            </p:stCondLst>
                            <p:childTnLst>
                              <p:par>
                                <p:cTn id="47" presetID="2" presetClass="mediacall" presetSubtype="0" fill="hold" nodeType="clickEffect">
                                  <p:stCondLst>
                                    <p:cond delay="0"/>
                                  </p:stCondLst>
                                  <p:childTnLst>
                                    <p:cmd type="call" cmd="togglePause">
                                      <p:cBhvr>
                                        <p:cTn id="48" dur="1" fill="hold"/>
                                        <p:tgtEl>
                                          <p:spTgt spid="36"/>
                                        </p:tgtEl>
                                      </p:cBhvr>
                                    </p:cmd>
                                  </p:childTnLst>
                                </p:cTn>
                              </p:par>
                            </p:childTnLst>
                          </p:cTn>
                        </p:par>
                      </p:childTnLst>
                    </p:cTn>
                  </p:par>
                </p:childTnLst>
              </p:cTn>
              <p:nextCondLst>
                <p:cond evt="onNext" delay="0">
                  <p:tgtEl>
                    <p:sldTgt/>
                  </p:tgtEl>
                </p:cond>
              </p:nextCondLst>
            </p:seq>
            <p:video>
              <p:cMediaNode vol="80000">
                <p:cTn id="49" fill="hold" display="0">
                  <p:stCondLst>
                    <p:cond delay="indefinite"/>
                  </p:stCondLst>
                </p:cTn>
                <p:tgtEl>
                  <p:spTgt spid="36"/>
                </p:tgtEl>
              </p:cMediaNode>
            </p:video>
          </p:childTnLst>
        </p:cTn>
      </p:par>
    </p:tnLst>
    <p:bldLst>
      <p:bldP spid="29" grpId="0" animBg="1"/>
      <p:bldP spid="30" grpId="0" animBg="1"/>
      <p:bldP spid="31" grpId="0" animBg="1"/>
      <p:bldP spid="32" grpId="0" animBg="1"/>
      <p:bldP spid="33" grpId="0" animBg="1"/>
      <p:bldP spid="40" grpId="0" animBg="1"/>
      <p:bldP spid="42" grpId="0" animBg="1"/>
      <p:bldP spid="44" grpId="0" animBg="1"/>
      <p:bldP spid="4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عمليات دورة الماء</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866775" y="3657600"/>
            <a:ext cx="790575"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676400" y="3705224"/>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5B3B91"/>
          </a:solidFill>
          <a:ln>
            <a:noFill/>
          </a:ln>
        </p:spPr>
        <p:txBody>
          <a:bodyPr rtlCol="0" anchor="ctr" lIns="36576" rIns="36576" tIns="0" bIns="0" wrap="square"/>
          <a:lstStyle/>
          <a:p>
            <a:pPr algn="ctr" rtl="1"/>
            <a:r>
              <a:rPr sz="1300" b="1" i="0" lang="ar-AE" altLang="en-US">
                <a:solidFill>
                  <a:srgbClr val="FFFFFF"/>
                </a:solidFill>
                <a:latin typeface="Arial"/>
                <a:cs typeface="Arial"/>
              </a:rPr>
              <a:t>نصحّح مفهومًا</a:t>
            </a:r>
          </a:p>
        </p:txBody>
      </p:sp>
      <p:sp>
        <p:nvSpPr>
          <p:cNvPr id="22" name="TextBox 21"/>
          <p:cNvSpPr txBox="1"/>
          <p:nvPr/>
        </p:nvSpPr>
        <p:spPr>
          <a:xfrm>
            <a:off x="5887529" y="1280160"/>
            <a:ext cx="4340035" cy="502920"/>
          </a:xfrm>
          <a:prstGeom prst="rect">
            <a:avLst/>
          </a:prstGeom>
          <a:noFill/>
        </p:spPr>
        <p:txBody>
          <a:bodyPr wrap="square" lIns="18288" rIns="18288" tIns="0" bIns="0" anchor="ctr"/>
          <a:lstStyle/>
          <a:p>
            <a:pPr algn="r" rtl="1"/>
            <a:r>
              <a:rPr sz="1700" b="1" i="0" lang="ar-AE" altLang="en-US">
                <a:solidFill>
                  <a:srgbClr val="102A43"/>
                </a:solidFill>
                <a:latin typeface="Arial"/>
                <a:cs typeface="Arial"/>
              </a:rPr>
              <a:t>عودة إلى اللغز: هل شربتَ ماء الديناصور؟</a:t>
            </a:r>
          </a:p>
        </p:txBody>
      </p:sp>
      <p:pic>
        <p:nvPicPr>
          <p:cNvPr id="23" name="Picture 22" descr="badge_fahem.png"/>
          <p:cNvPicPr>
            <a:picLocks noChangeAspect="1"/>
          </p:cNvPicPr>
          <p:nvPr/>
        </p:nvPicPr>
        <p:blipFill>
          <a:blip r:embed="rId3"/>
          <a:stretch>
            <a:fillRect/>
          </a:stretch>
        </p:blipFill>
        <p:spPr>
          <a:xfrm>
            <a:off x="2560320" y="1185137"/>
            <a:ext cx="566928" cy="625374"/>
          </a:xfrm>
          <a:prstGeom prst="rect">
            <a:avLst/>
          </a:prstGeom>
        </p:spPr>
      </p:pic>
      <p:sp>
        <p:nvSpPr>
          <p:cNvPr id="24" name="Rounded Rectangular Callout 23"/>
          <p:cNvSpPr/>
          <p:nvPr/>
        </p:nvSpPr>
        <p:spPr>
          <a:xfrm>
            <a:off x="3209544" y="1307592"/>
            <a:ext cx="2549969" cy="420624"/>
          </a:xfrm>
          <a:prstGeom prst="wedgeRoundRectCallout">
            <a:avLst>
              <a:gd name="adj1" fmla="val -54303"/>
              <a:gd name="adj2" fmla="val 18000"/>
              <a:gd name="adj3" fmla="val 16667"/>
            </a:avLst>
          </a:prstGeom>
          <a:solidFill>
            <a:srgbClr val="FFFFFF"/>
          </a:solidFill>
          <a:ln w="19050">
            <a:solidFill>
              <a:srgbClr val="1E6B3A"/>
            </a:solidFill>
          </a:ln>
        </p:spPr>
        <p:txBody>
          <a:bodyPr rtlCol="0" anchor="ctr" lIns="54864" rIns="54864" tIns="27432" bIns="27432"/>
          <a:lstStyle/>
          <a:p>
            <a:pPr algn="ctr"/>
          </a:p>
        </p:txBody>
      </p:sp>
      <p:sp>
        <p:nvSpPr>
          <p:cNvPr id="25" name="TextBox 24"/>
          <p:cNvSpPr txBox="1"/>
          <p:nvPr/>
        </p:nvSpPr>
        <p:spPr>
          <a:xfrm>
            <a:off x="3246120" y="1307592"/>
            <a:ext cx="2476817" cy="420624"/>
          </a:xfrm>
          <a:prstGeom prst="rect">
            <a:avLst/>
          </a:prstGeom>
          <a:noFill/>
        </p:spPr>
        <p:txBody>
          <a:bodyPr wrap="square" lIns="36576" rIns="36576" tIns="0" bIns="0" anchor="ctr"/>
          <a:lstStyle/>
          <a:p>
            <a:pPr algn="r" rtl="1"/>
            <a:r>
              <a:rPr sz="1150" b="1" i="0" lang="ar-AE" altLang="en-US">
                <a:solidFill>
                  <a:srgbClr val="1E6B3A"/>
                </a:solidFill>
                <a:latin typeface="Arial"/>
                <a:cs typeface="Arial"/>
              </a:rPr>
              <a:t>فاهم: </a:t>
            </a:r>
            <a:r>
              <a:rPr sz="1150" b="1" i="0" lang="ar-AE" altLang="en-US">
                <a:solidFill>
                  <a:srgbClr val="102A43"/>
                </a:solidFill>
                <a:latin typeface="Arial"/>
                <a:cs typeface="Arial"/>
              </a:rPr>
              <a:t>العالِم يبحث عن الدليل!</a:t>
            </a:r>
          </a:p>
        </p:txBody>
      </p:sp>
      <p:pic>
        <p:nvPicPr>
          <p:cNvPr id="26" name="Picture 25" descr="dino.png"/>
          <p:cNvPicPr>
            <a:picLocks noChangeAspect="1"/>
          </p:cNvPicPr>
          <p:nvPr/>
        </p:nvPicPr>
        <p:blipFill>
          <a:blip r:embed="rId4"/>
          <a:stretch>
            <a:fillRect/>
          </a:stretch>
        </p:blipFill>
        <p:spPr>
          <a:xfrm>
            <a:off x="2697480" y="1920240"/>
            <a:ext cx="3017520" cy="1697355"/>
          </a:xfrm>
          <a:prstGeom prst="rect">
            <a:avLst/>
          </a:prstGeom>
          <a:ln w="25400">
            <a:solidFill>
              <a:srgbClr val="C9A96A"/>
            </a:solidFill>
          </a:ln>
        </p:spPr>
      </p:pic>
      <p:sp>
        <p:nvSpPr>
          <p:cNvPr id="27" name="Rounded Rectangle 26"/>
          <p:cNvSpPr/>
          <p:nvPr/>
        </p:nvSpPr>
        <p:spPr>
          <a:xfrm>
            <a:off x="5897880" y="1920240"/>
            <a:ext cx="5943600" cy="1600200"/>
          </a:xfrm>
          <a:prstGeom prst="roundRect">
            <a:avLst>
              <a:gd name="adj" fmla="val 6857"/>
            </a:avLst>
          </a:prstGeom>
          <a:solidFill>
            <a:srgbClr val="EDF7EE"/>
          </a:solidFill>
          <a:ln w="12700">
            <a:solidFill>
              <a:srgbClr val="9BD0A5"/>
            </a:solidFill>
          </a:ln>
        </p:spPr>
        <p:txBody>
          <a:bodyPr rtlCol="0" anchor="ctr" lIns="137160" rIns="566928" tIns="54864" bIns="54864" wrap="square"/>
          <a:lstStyle/>
          <a:p>
            <a:pPr algn="r" rtl="1"/>
            <a:r>
              <a:rPr sz="1500" b="1" i="0" lang="ar-AE" altLang="en-US">
                <a:solidFill>
                  <a:srgbClr val="2E7D32"/>
                </a:solidFill>
                <a:latin typeface="Arial"/>
                <a:cs typeface="Arial"/>
              </a:rPr>
              <a:t>صحيح إلى حدٍّ كبير: </a:t>
            </a:r>
            <a:r>
              <a:rPr sz="1500" b="1" i="0" lang="ar-AE" altLang="en-US">
                <a:solidFill>
                  <a:srgbClr val="102A43"/>
                </a:solidFill>
                <a:latin typeface="Arial"/>
                <a:cs typeface="Arial"/>
              </a:rPr>
              <a:t>ذرّات الهيدروجين والأكسجين في كوبك تدور على الأرض منذ ملايين السنين؛ فالمادة لا تفنى بل يُعاد تدويرها.</a:t>
            </a:r>
          </a:p>
        </p:txBody>
      </p:sp>
      <p:sp>
        <p:nvSpPr>
          <p:cNvPr id="28" name="Rounded Rectangle 27"/>
          <p:cNvSpPr/>
          <p:nvPr/>
        </p:nvSpPr>
        <p:spPr>
          <a:xfrm>
            <a:off x="5897880" y="3657600"/>
            <a:ext cx="5943600" cy="1847088"/>
          </a:xfrm>
          <a:prstGeom prst="roundRect">
            <a:avLst>
              <a:gd name="adj" fmla="val 5940"/>
            </a:avLst>
          </a:prstGeom>
          <a:solidFill>
            <a:srgbClr val="FCEBEE"/>
          </a:solidFill>
          <a:ln w="12700">
            <a:solidFill>
              <a:srgbClr val="EBA3AE"/>
            </a:solidFill>
          </a:ln>
        </p:spPr>
        <p:txBody>
          <a:bodyPr rtlCol="0" anchor="ctr" lIns="137160" rIns="566928" tIns="54864" bIns="54864" wrap="square"/>
          <a:lstStyle/>
          <a:p>
            <a:pPr algn="r" rtl="1"/>
            <a:r>
              <a:rPr sz="1500" b="1" i="0" lang="ar-AE" altLang="en-US">
                <a:solidFill>
                  <a:srgbClr val="C8102E"/>
                </a:solidFill>
                <a:latin typeface="Arial"/>
                <a:cs typeface="Arial"/>
              </a:rPr>
              <a:t>لكن انتبه: </a:t>
            </a:r>
            <a:r>
              <a:rPr sz="1500" b="1" i="0" lang="ar-AE" altLang="en-US">
                <a:solidFill>
                  <a:srgbClr val="102A43"/>
                </a:solidFill>
                <a:latin typeface="Arial"/>
                <a:cs typeface="Arial"/>
              </a:rPr>
              <a:t>ليس بالضرورة أن يكون جزيء الماء نفسه! فقد يتحلّل الماء في البناء الضوئي ثم تتكوّن جزيئات ماء جديدة في التنفس، وقد يبقى الماء محبوسًا في جبل جليدي مئات السنين.</a:t>
            </a:r>
          </a:p>
        </p:txBody>
      </p:sp>
      <p:sp>
        <p:nvSpPr>
          <p:cNvPr id="29" name="Rounded Rectangle 28"/>
          <p:cNvSpPr/>
          <p:nvPr/>
        </p:nvSpPr>
        <p:spPr>
          <a:xfrm>
            <a:off x="2697480" y="3703320"/>
            <a:ext cx="3017520" cy="1783080"/>
          </a:xfrm>
          <a:prstGeom prst="roundRect">
            <a:avLst>
              <a:gd name="adj" fmla="val 6153"/>
            </a:avLst>
          </a:prstGeom>
          <a:solidFill>
            <a:srgbClr val="F1ECF8"/>
          </a:solidFill>
          <a:ln w="12700">
            <a:solidFill>
              <a:srgbClr val="D5C7EA"/>
            </a:solidFill>
          </a:ln>
        </p:spPr>
        <p:txBody>
          <a:bodyPr rtlCol="0" anchor="ctr" wrap="square"/>
          <a:lstStyle/>
          <a:p>
            <a:pPr algn="ctr" rtl="1"/>
            <a:r>
              <a:rPr sz="1400" b="1" i="0" lang="ar-AE" altLang="en-US">
                <a:solidFill>
                  <a:srgbClr val="5B3B91"/>
                </a:solidFill>
                <a:latin typeface="Arial"/>
                <a:cs typeface="Arial"/>
              </a:rPr>
              <a:t>مفهوم خاطئ شائع:</a:t>
            </a:r>
          </a:p>
          <a:p>
            <a:pPr algn="ctr" rtl="1"/>
            <a:r>
              <a:rPr sz="1350" b="1" i="0" lang="ar-AE" altLang="en-US">
                <a:solidFill>
                  <a:srgbClr val="102A43"/>
                </a:solidFill>
                <a:latin typeface="Arial"/>
                <a:cs typeface="Arial"/>
              </a:rPr>
              <a:t>«جزيئات الماء نفسها تنتقل إلى ما لا نهاية في دورة الماء»</a:t>
            </a:r>
          </a:p>
        </p:txBody>
      </p:sp>
      <p:pic>
        <p:nvPicPr>
          <p:cNvPr id="30" name="Picture 29" descr="check_green.png"/>
          <p:cNvPicPr>
            <a:picLocks noChangeAspect="1"/>
          </p:cNvPicPr>
          <p:nvPr/>
        </p:nvPicPr>
        <p:blipFill>
          <a:blip r:embed="rId5"/>
          <a:stretch>
            <a:fillRect/>
          </a:stretch>
        </p:blipFill>
        <p:spPr>
          <a:xfrm>
            <a:off x="11384280" y="1993392"/>
            <a:ext cx="384048" cy="384048"/>
          </a:xfrm>
          <a:prstGeom prst="rect">
            <a:avLst/>
          </a:prstGeom>
        </p:spPr>
      </p:pic>
      <p:pic>
        <p:nvPicPr>
          <p:cNvPr id="31" name="Picture 30" descr="times_red.png"/>
          <p:cNvPicPr>
            <a:picLocks noChangeAspect="1"/>
          </p:cNvPicPr>
          <p:nvPr/>
        </p:nvPicPr>
        <p:blipFill>
          <a:blip r:embed="rId6"/>
          <a:stretch>
            <a:fillRect/>
          </a:stretch>
        </p:blipFill>
        <p:spPr>
          <a:xfrm>
            <a:off x="11384280" y="3730752"/>
            <a:ext cx="384048" cy="38404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625328" y="1344168"/>
            <a:ext cx="1234440" cy="365760"/>
          </a:xfrm>
          <a:prstGeom prst="roundRect">
            <a:avLst>
              <a:gd name="adj" fmla="val 50000"/>
            </a:avLst>
          </a:prstGeom>
          <a:solidFill>
            <a:srgbClr val="1E88C8"/>
          </a:solidFill>
          <a:ln>
            <a:noFill/>
          </a:ln>
        </p:spPr>
        <p:txBody>
          <a:bodyPr rtlCol="0" anchor="ctr" lIns="36576" rIns="36576" tIns="0" bIns="0" wrap="square"/>
          <a:lstStyle/>
          <a:p>
            <a:pPr algn="ctr" rtl="1"/>
            <a:r>
              <a:rPr sz="1300" b="1" i="0" lang="ar-AE" altLang="en-US">
                <a:solidFill>
                  <a:srgbClr val="FFFFFF"/>
                </a:solidFill>
                <a:latin typeface="Arial"/>
                <a:cs typeface="Arial"/>
              </a:rPr>
              <a:t>الخلاصة</a:t>
            </a:r>
          </a:p>
        </p:txBody>
      </p:sp>
      <p:sp>
        <p:nvSpPr>
          <p:cNvPr id="21" name="TextBox 20"/>
          <p:cNvSpPr txBox="1"/>
          <p:nvPr/>
        </p:nvSpPr>
        <p:spPr>
          <a:xfrm>
            <a:off x="2606040" y="1280160"/>
            <a:ext cx="790956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خلاصة الحصة في خريطة مفاهيم</a:t>
            </a:r>
          </a:p>
        </p:txBody>
      </p:sp>
      <p:sp>
        <p:nvSpPr>
          <p:cNvPr id="22" name="Oval 21"/>
          <p:cNvSpPr/>
          <p:nvPr/>
        </p:nvSpPr>
        <p:spPr>
          <a:xfrm>
            <a:off x="5806440" y="3154680"/>
            <a:ext cx="2926080" cy="914400"/>
          </a:xfrm>
          <a:prstGeom prst="ellipse">
            <a:avLst/>
          </a:prstGeom>
          <a:solidFill>
            <a:srgbClr val="102A43"/>
          </a:solidFill>
          <a:ln>
            <a:noFill/>
          </a:ln>
        </p:spPr>
        <p:txBody>
          <a:bodyPr rtlCol="0" anchor="ctr" lIns="73152" rIns="73152" tIns="36576" bIns="36576" wrap="square"/>
          <a:lstStyle/>
          <a:p>
            <a:pPr algn="ctr" rtl="1"/>
            <a:r>
              <a:rPr sz="2200" b="1" i="0" lang="ar-AE" altLang="en-US">
                <a:solidFill>
                  <a:srgbClr val="FFFFFF"/>
                </a:solidFill>
                <a:latin typeface="Arial"/>
                <a:cs typeface="Arial"/>
              </a:rPr>
              <a:t>تدوير المادة</a:t>
            </a:r>
          </a:p>
        </p:txBody>
      </p:sp>
      <p:sp>
        <p:nvSpPr>
          <p:cNvPr id="23" name="Rounded Rectangle 22"/>
          <p:cNvSpPr/>
          <p:nvPr/>
        </p:nvSpPr>
        <p:spPr>
          <a:xfrm>
            <a:off x="9098280" y="1920240"/>
            <a:ext cx="2743200" cy="960120"/>
          </a:xfrm>
          <a:prstGeom prst="roundRect">
            <a:avLst>
              <a:gd name="adj" fmla="val 13333"/>
            </a:avLst>
          </a:prstGeom>
          <a:solidFill>
            <a:srgbClr val="2E7D32"/>
          </a:solidFill>
          <a:ln>
            <a:noFill/>
          </a:ln>
        </p:spPr>
        <p:txBody>
          <a:bodyPr rtlCol="0" anchor="ctr" tIns="36576" bIns="36576" wrap="square"/>
          <a:lstStyle/>
          <a:p>
            <a:pPr algn="ctr" rtl="1"/>
            <a:r>
              <a:rPr sz="1300" b="1" i="0" lang="ar-AE" altLang="en-US">
                <a:solidFill>
                  <a:srgbClr val="FFFFFF"/>
                </a:solidFill>
                <a:latin typeface="Arial"/>
                <a:cs typeface="Arial"/>
              </a:rPr>
              <a:t>قانون حفظ المادة: المادة لا تفنى ولا تُستحدث</a:t>
            </a:r>
          </a:p>
        </p:txBody>
      </p:sp>
      <p:sp>
        <p:nvSpPr>
          <p:cNvPr id="24" name="Rounded Rectangle 23"/>
          <p:cNvSpPr/>
          <p:nvPr/>
        </p:nvSpPr>
        <p:spPr>
          <a:xfrm>
            <a:off x="9098280" y="4343400"/>
            <a:ext cx="2743200" cy="960120"/>
          </a:xfrm>
          <a:prstGeom prst="roundRect">
            <a:avLst>
              <a:gd name="adj" fmla="val 13333"/>
            </a:avLst>
          </a:prstGeom>
          <a:solidFill>
            <a:srgbClr val="996B2F"/>
          </a:solidFill>
          <a:ln>
            <a:noFill/>
          </a:ln>
        </p:spPr>
        <p:txBody>
          <a:bodyPr rtlCol="0" anchor="ctr" tIns="36576" bIns="36576" wrap="square"/>
          <a:lstStyle/>
          <a:p>
            <a:pPr algn="ctr" rtl="1"/>
            <a:r>
              <a:rPr sz="1300" b="1" i="0" lang="ar-AE" altLang="en-US">
                <a:solidFill>
                  <a:srgbClr val="FFFFFF"/>
                </a:solidFill>
                <a:latin typeface="Arial"/>
                <a:cs typeface="Arial"/>
              </a:rPr>
              <a:t>المواد المغذية: الكربون والنيتروجين والفوسفور… والماء</a:t>
            </a:r>
          </a:p>
        </p:txBody>
      </p:sp>
      <p:sp>
        <p:nvSpPr>
          <p:cNvPr id="25" name="Rounded Rectangle 24"/>
          <p:cNvSpPr/>
          <p:nvPr/>
        </p:nvSpPr>
        <p:spPr>
          <a:xfrm>
            <a:off x="2697480" y="1920240"/>
            <a:ext cx="2743200" cy="960120"/>
          </a:xfrm>
          <a:prstGeom prst="roundRect">
            <a:avLst>
              <a:gd name="adj" fmla="val 13333"/>
            </a:avLst>
          </a:prstGeom>
          <a:solidFill>
            <a:srgbClr val="5B3B91"/>
          </a:solidFill>
          <a:ln>
            <a:noFill/>
          </a:ln>
        </p:spPr>
        <p:txBody>
          <a:bodyPr rtlCol="0" anchor="ctr" tIns="36576" bIns="36576" wrap="square"/>
          <a:lstStyle/>
          <a:p>
            <a:pPr algn="ctr" rtl="1"/>
            <a:r>
              <a:rPr sz="1300" b="1" i="0" lang="ar-AE" altLang="en-US">
                <a:solidFill>
                  <a:srgbClr val="FFFFFF"/>
                </a:solidFill>
                <a:latin typeface="Arial"/>
                <a:cs typeface="Arial"/>
              </a:rPr>
              <a:t>الدورات الجيوكيميائية الحيوية = جيو + كيميائية + حيوية</a:t>
            </a:r>
          </a:p>
        </p:txBody>
      </p:sp>
      <p:sp>
        <p:nvSpPr>
          <p:cNvPr id="26" name="Rounded Rectangle 25"/>
          <p:cNvSpPr/>
          <p:nvPr/>
        </p:nvSpPr>
        <p:spPr>
          <a:xfrm>
            <a:off x="2697480" y="4343400"/>
            <a:ext cx="2743200" cy="960120"/>
          </a:xfrm>
          <a:prstGeom prst="roundRect">
            <a:avLst>
              <a:gd name="adj" fmla="val 13333"/>
            </a:avLst>
          </a:prstGeom>
          <a:solidFill>
            <a:srgbClr val="1E88C8"/>
          </a:solidFill>
          <a:ln>
            <a:noFill/>
          </a:ln>
        </p:spPr>
        <p:txBody>
          <a:bodyPr rtlCol="0" anchor="ctr" tIns="36576" bIns="36576" wrap="square"/>
          <a:lstStyle/>
          <a:p>
            <a:pPr algn="ctr" rtl="1"/>
            <a:r>
              <a:rPr sz="1300" b="1" i="0" lang="ar-AE" altLang="en-US">
                <a:solidFill>
                  <a:srgbClr val="FFFFFF"/>
                </a:solidFill>
                <a:latin typeface="Arial"/>
                <a:cs typeface="Arial"/>
              </a:rPr>
              <a:t>دورة الماء: تبخّر، نتح، تكاثف، هطول، جريان، ترشيح</a:t>
            </a:r>
          </a:p>
        </p:txBody>
      </p:sp>
      <p:sp>
        <p:nvSpPr>
          <p:cNvPr id="27" name="Rounded Rectangle 26"/>
          <p:cNvSpPr/>
          <p:nvPr/>
        </p:nvSpPr>
        <p:spPr>
          <a:xfrm>
            <a:off x="5806440" y="4800600"/>
            <a:ext cx="2926080" cy="713232"/>
          </a:xfrm>
          <a:prstGeom prst="roundRect">
            <a:avLst>
              <a:gd name="adj" fmla="val 17948"/>
            </a:avLst>
          </a:prstGeom>
          <a:solidFill>
            <a:srgbClr val="0F7C73"/>
          </a:solidFill>
          <a:ln>
            <a:noFill/>
          </a:ln>
        </p:spPr>
        <p:txBody>
          <a:bodyPr rtlCol="0" anchor="ctr" tIns="36576" bIns="36576" wrap="square"/>
          <a:lstStyle/>
          <a:p>
            <a:pPr algn="ctr" rtl="1"/>
            <a:r>
              <a:rPr sz="1300" b="1" i="0" lang="ar-AE" altLang="en-US">
                <a:solidFill>
                  <a:srgbClr val="FFFFFF"/>
                </a:solidFill>
                <a:latin typeface="Arial"/>
                <a:cs typeface="Arial"/>
              </a:rPr>
              <a:t>3% فقط من مياه الأرض عذبة… فلنرشّد!</a:t>
            </a:r>
          </a:p>
        </p:txBody>
      </p:sp>
      <p:cxnSp>
        <p:nvCxnSpPr>
          <p:cNvPr id="28" name="Connector 27"/>
          <p:cNvCxnSpPr/>
          <p:nvPr/>
        </p:nvCxnSpPr>
        <p:spPr>
          <a:xfrm flipV="1">
            <a:off x="8732520" y="2651760"/>
            <a:ext cx="365760" cy="731520"/>
          </a:xfrm>
          <a:prstGeom prst="line">
            <a:avLst/>
          </a:prstGeom>
          <a:ln w="3175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732520" y="3840480"/>
            <a:ext cx="365760" cy="822960"/>
          </a:xfrm>
          <a:prstGeom prst="line">
            <a:avLst/>
          </a:prstGeom>
          <a:ln w="3175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5440680" y="2651760"/>
            <a:ext cx="365760" cy="731520"/>
          </a:xfrm>
          <a:prstGeom prst="line">
            <a:avLst/>
          </a:prstGeom>
          <a:ln w="3175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5440680" y="3840480"/>
            <a:ext cx="365760" cy="822960"/>
          </a:xfrm>
          <a:prstGeom prst="line">
            <a:avLst/>
          </a:prstGeom>
          <a:ln w="31750">
            <a:solidFill>
              <a:srgbClr val="8A9BB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06440" y="2011680"/>
            <a:ext cx="2926080" cy="960120"/>
          </a:xfrm>
          <a:prstGeom prst="roundRect">
            <a:avLst>
              <a:gd name="adj" fmla="val 13333"/>
            </a:avLst>
          </a:prstGeom>
          <a:solidFill>
            <a:srgbClr val="FBF5E8"/>
          </a:solidFill>
          <a:ln w="12700">
            <a:solidFill>
              <a:srgbClr val="E6D5B0"/>
            </a:solidFill>
          </a:ln>
        </p:spPr>
        <p:txBody>
          <a:bodyPr rtlCol="0" anchor="ctr" lIns="73152" rIns="73152" tIns="36576" bIns="36576" wrap="square"/>
          <a:lstStyle/>
          <a:p>
            <a:pPr algn="ctr" rtl="1"/>
            <a:r>
              <a:rPr sz="1300" b="1" i="0" lang="ar-AE" altLang="en-US">
                <a:solidFill>
                  <a:srgbClr val="C9A96A"/>
                </a:solidFill>
                <a:latin typeface="Arial"/>
                <a:cs typeface="Arial"/>
              </a:rPr>
              <a:t>غدًا: </a:t>
            </a:r>
            <a:r>
              <a:rPr sz="1300" b="1" i="0" lang="ar-AE" altLang="en-US">
                <a:solidFill>
                  <a:srgbClr val="102A43"/>
                </a:solidFill>
                <a:latin typeface="Arial"/>
                <a:cs typeface="Arial"/>
              </a:rPr>
              <a:t>دورتا الكربون والأكسجين… هل يصنع نَفَسُك حجرًا؟</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ounded Rectangle 12"/>
          <p:cNvSpPr/>
          <p:nvPr/>
        </p:nvSpPr>
        <p:spPr>
          <a:xfrm>
            <a:off x="10241280" y="1344168"/>
            <a:ext cx="1618488" cy="365760"/>
          </a:xfrm>
          <a:prstGeom prst="roundRect">
            <a:avLst>
              <a:gd name="adj" fmla="val 50000"/>
            </a:avLst>
          </a:prstGeom>
          <a:solidFill>
            <a:srgbClr val="1C7B7D"/>
          </a:solidFill>
          <a:ln>
            <a:noFill/>
          </a:ln>
        </p:spPr>
        <p:txBody>
          <a:bodyPr rtlCol="0" anchor="ctr" lIns="36576" rIns="36576" tIns="0" bIns="0" wrap="square"/>
          <a:lstStyle/>
          <a:p>
            <a:pPr algn="ctr" rtl="1"/>
            <a:r>
              <a:rPr sz="1300" b="1" i="0" lang="ar-AE" altLang="en-US">
                <a:solidFill>
                  <a:srgbClr val="FFFFFF"/>
                </a:solidFill>
                <a:latin typeface="Arial"/>
                <a:cs typeface="Arial"/>
              </a:rPr>
              <a:t>التقويم الذاتي</a:t>
            </a:r>
          </a:p>
        </p:txBody>
      </p:sp>
      <p:sp>
        <p:nvSpPr>
          <p:cNvPr id="14" name="TextBox 13"/>
          <p:cNvSpPr txBox="1"/>
          <p:nvPr/>
        </p:nvSpPr>
        <p:spPr>
          <a:xfrm>
            <a:off x="5996178" y="1280160"/>
            <a:ext cx="413537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أين أنا من نواتج التعلم؟</a:t>
            </a:r>
          </a:p>
        </p:txBody>
      </p:sp>
      <p:pic>
        <p:nvPicPr>
          <p:cNvPr id="15" name="Picture 14" descr="badge_ahmed.png"/>
          <p:cNvPicPr>
            <a:picLocks noChangeAspect="1"/>
          </p:cNvPicPr>
          <p:nvPr/>
        </p:nvPicPr>
        <p:blipFill>
          <a:blip r:embed="rId3"/>
          <a:stretch>
            <a:fillRect/>
          </a:stretch>
        </p:blipFill>
        <p:spPr>
          <a:xfrm>
            <a:off x="2560320" y="1210464"/>
            <a:ext cx="566928" cy="600047"/>
          </a:xfrm>
          <a:prstGeom prst="rect">
            <a:avLst/>
          </a:prstGeom>
        </p:spPr>
      </p:pic>
      <p:sp>
        <p:nvSpPr>
          <p:cNvPr id="16" name="Rounded Rectangular Callout 15"/>
          <p:cNvSpPr/>
          <p:nvPr/>
        </p:nvSpPr>
        <p:spPr>
          <a:xfrm>
            <a:off x="3209544" y="1307592"/>
            <a:ext cx="2658618" cy="420624"/>
          </a:xfrm>
          <a:prstGeom prst="wedgeRoundRectCallout">
            <a:avLst>
              <a:gd name="adj1" fmla="val -54127"/>
              <a:gd name="adj2" fmla="val 18000"/>
              <a:gd name="adj3" fmla="val 16667"/>
            </a:avLst>
          </a:prstGeom>
          <a:solidFill>
            <a:srgbClr val="FFFFFF"/>
          </a:solidFill>
          <a:ln w="19050">
            <a:solidFill>
              <a:srgbClr val="1C2F5E"/>
            </a:solidFill>
          </a:ln>
        </p:spPr>
        <p:txBody>
          <a:bodyPr rtlCol="0" anchor="ctr" lIns="54864" rIns="54864" tIns="27432" bIns="27432"/>
          <a:lstStyle/>
          <a:p>
            <a:pPr algn="ctr"/>
          </a:p>
        </p:txBody>
      </p:sp>
      <p:sp>
        <p:nvSpPr>
          <p:cNvPr id="17" name="TextBox 16"/>
          <p:cNvSpPr txBox="1"/>
          <p:nvPr/>
        </p:nvSpPr>
        <p:spPr>
          <a:xfrm>
            <a:off x="3246120" y="1307592"/>
            <a:ext cx="2585465" cy="420624"/>
          </a:xfrm>
          <a:prstGeom prst="rect">
            <a:avLst/>
          </a:prstGeom>
          <a:noFill/>
        </p:spPr>
        <p:txBody>
          <a:bodyPr wrap="square" lIns="36576" rIns="36576" tIns="0" bIns="0" anchor="ctr"/>
          <a:lstStyle/>
          <a:p>
            <a:pPr algn="r" rtl="1"/>
            <a:r>
              <a:rPr sz="1150" b="1" i="0" lang="ar-AE" altLang="en-US">
                <a:solidFill>
                  <a:srgbClr val="1C2F5E"/>
                </a:solidFill>
                <a:latin typeface="Arial"/>
                <a:cs typeface="Arial"/>
              </a:rPr>
              <a:t>أحمد: </a:t>
            </a:r>
            <a:r>
              <a:rPr sz="1150" b="1" i="0" lang="ar-AE" altLang="en-US">
                <a:solidFill>
                  <a:srgbClr val="102A43"/>
                </a:solidFill>
                <a:latin typeface="Arial"/>
                <a:cs typeface="Arial"/>
              </a:rPr>
              <a:t>هل حقّقتُ أهدافي اليوم؟</a:t>
            </a:r>
          </a:p>
        </p:txBody>
      </p:sp>
      <p:sp>
        <p:nvSpPr>
          <p:cNvPr id="18" name="Oval 17"/>
          <p:cNvSpPr/>
          <p:nvPr/>
        </p:nvSpPr>
        <p:spPr>
          <a:xfrm>
            <a:off x="5824728" y="1938528"/>
            <a:ext cx="566928" cy="566928"/>
          </a:xfrm>
          <a:prstGeom prst="ellipse">
            <a:avLst/>
          </a:prstGeom>
          <a:solidFill>
            <a:srgbClr val="2E9E5B"/>
          </a:solidFill>
          <a:ln>
            <a:noFill/>
          </a:ln>
        </p:spPr>
        <p:txBody>
          <a:bodyPr rtlCol="0" anchor="ctr" lIns="54864" rIns="54864" tIns="27432" bIns="27432"/>
          <a:lstStyle/>
          <a:p>
            <a:pPr algn="ctr"/>
          </a:p>
        </p:txBody>
      </p:sp>
      <p:pic>
        <p:nvPicPr>
          <p:cNvPr id="19" name="Picture 18" descr="smile_w.png"/>
          <p:cNvPicPr>
            <a:picLocks noChangeAspect="1"/>
          </p:cNvPicPr>
          <p:nvPr/>
        </p:nvPicPr>
        <p:blipFill>
          <a:blip r:embed="rId4"/>
          <a:stretch>
            <a:fillRect/>
          </a:stretch>
        </p:blipFill>
        <p:spPr>
          <a:xfrm>
            <a:off x="5949452" y="2063252"/>
            <a:ext cx="317479" cy="317479"/>
          </a:xfrm>
          <a:prstGeom prst="rect">
            <a:avLst/>
          </a:prstGeom>
        </p:spPr>
      </p:pic>
      <p:sp>
        <p:nvSpPr>
          <p:cNvPr id="20" name="TextBox 19"/>
          <p:cNvSpPr txBox="1"/>
          <p:nvPr/>
        </p:nvSpPr>
        <p:spPr>
          <a:xfrm>
            <a:off x="5440680" y="2542032"/>
            <a:ext cx="1325880" cy="365760"/>
          </a:xfrm>
          <a:prstGeom prst="rect">
            <a:avLst/>
          </a:prstGeom>
          <a:noFill/>
        </p:spPr>
        <p:txBody>
          <a:bodyPr wrap="square" lIns="0" rIns="0" tIns="0" bIns="0" anchor="ctr"/>
          <a:lstStyle/>
          <a:p>
            <a:pPr algn="ctr" rtl="1"/>
            <a:r>
              <a:rPr sz="1250" b="1" i="0" lang="ar-AE" altLang="en-US">
                <a:solidFill>
                  <a:srgbClr val="2E9E5B"/>
                </a:solidFill>
                <a:latin typeface="Arial"/>
                <a:cs typeface="Arial"/>
              </a:rPr>
              <a:t>أتقنتُه</a:t>
            </a:r>
          </a:p>
        </p:txBody>
      </p:sp>
      <p:sp>
        <p:nvSpPr>
          <p:cNvPr id="21" name="TextBox 20"/>
          <p:cNvSpPr txBox="1"/>
          <p:nvPr/>
        </p:nvSpPr>
        <p:spPr>
          <a:xfrm>
            <a:off x="544068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إصبع واحد</a:t>
            </a:r>
          </a:p>
        </p:txBody>
      </p:sp>
      <p:sp>
        <p:nvSpPr>
          <p:cNvPr id="22" name="Oval 21"/>
          <p:cNvSpPr/>
          <p:nvPr/>
        </p:nvSpPr>
        <p:spPr>
          <a:xfrm>
            <a:off x="4407408" y="1938528"/>
            <a:ext cx="566928" cy="566928"/>
          </a:xfrm>
          <a:prstGeom prst="ellipse">
            <a:avLst/>
          </a:prstGeom>
          <a:solidFill>
            <a:srgbClr val="D9A21B"/>
          </a:solidFill>
          <a:ln>
            <a:noFill/>
          </a:ln>
        </p:spPr>
        <p:txBody>
          <a:bodyPr rtlCol="0" anchor="ctr" lIns="54864" rIns="54864" tIns="27432" bIns="27432"/>
          <a:lstStyle/>
          <a:p>
            <a:pPr algn="ctr"/>
          </a:p>
        </p:txBody>
      </p:sp>
      <p:pic>
        <p:nvPicPr>
          <p:cNvPr id="23" name="Picture 22" descr="meh_w.png"/>
          <p:cNvPicPr>
            <a:picLocks noChangeAspect="1"/>
          </p:cNvPicPr>
          <p:nvPr/>
        </p:nvPicPr>
        <p:blipFill>
          <a:blip r:embed="rId5"/>
          <a:stretch>
            <a:fillRect/>
          </a:stretch>
        </p:blipFill>
        <p:spPr>
          <a:xfrm>
            <a:off x="4532132" y="2063252"/>
            <a:ext cx="317479" cy="317479"/>
          </a:xfrm>
          <a:prstGeom prst="rect">
            <a:avLst/>
          </a:prstGeom>
        </p:spPr>
      </p:pic>
      <p:sp>
        <p:nvSpPr>
          <p:cNvPr id="24" name="TextBox 23"/>
          <p:cNvSpPr txBox="1"/>
          <p:nvPr/>
        </p:nvSpPr>
        <p:spPr>
          <a:xfrm>
            <a:off x="4023360" y="2542032"/>
            <a:ext cx="1325880" cy="365760"/>
          </a:xfrm>
          <a:prstGeom prst="rect">
            <a:avLst/>
          </a:prstGeom>
          <a:noFill/>
        </p:spPr>
        <p:txBody>
          <a:bodyPr wrap="square" lIns="0" rIns="0" tIns="0" bIns="0" anchor="ctr"/>
          <a:lstStyle/>
          <a:p>
            <a:pPr algn="ctr" rtl="1"/>
            <a:r>
              <a:rPr sz="1250" b="1" i="0" lang="ar-AE" altLang="en-US">
                <a:solidFill>
                  <a:srgbClr val="D9A21B"/>
                </a:solidFill>
                <a:latin typeface="Arial"/>
                <a:cs typeface="Arial"/>
              </a:rPr>
              <a:t>أحتاج إلى تدريب</a:t>
            </a:r>
          </a:p>
        </p:txBody>
      </p:sp>
      <p:sp>
        <p:nvSpPr>
          <p:cNvPr id="25" name="TextBox 24"/>
          <p:cNvSpPr txBox="1"/>
          <p:nvPr/>
        </p:nvSpPr>
        <p:spPr>
          <a:xfrm>
            <a:off x="402336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إصبعان</a:t>
            </a:r>
          </a:p>
        </p:txBody>
      </p:sp>
      <p:sp>
        <p:nvSpPr>
          <p:cNvPr id="26" name="Oval 25"/>
          <p:cNvSpPr/>
          <p:nvPr/>
        </p:nvSpPr>
        <p:spPr>
          <a:xfrm>
            <a:off x="2990088" y="1938528"/>
            <a:ext cx="566928" cy="566928"/>
          </a:xfrm>
          <a:prstGeom prst="ellipse">
            <a:avLst/>
          </a:prstGeom>
          <a:solidFill>
            <a:srgbClr val="C8102E"/>
          </a:solidFill>
          <a:ln>
            <a:noFill/>
          </a:ln>
        </p:spPr>
        <p:txBody>
          <a:bodyPr rtlCol="0" anchor="ctr" lIns="54864" rIns="54864" tIns="27432" bIns="27432"/>
          <a:lstStyle/>
          <a:p>
            <a:pPr algn="ctr"/>
          </a:p>
        </p:txBody>
      </p:sp>
      <p:pic>
        <p:nvPicPr>
          <p:cNvPr id="27" name="Picture 26" descr="frown_w.png"/>
          <p:cNvPicPr>
            <a:picLocks noChangeAspect="1"/>
          </p:cNvPicPr>
          <p:nvPr/>
        </p:nvPicPr>
        <p:blipFill>
          <a:blip r:embed="rId6"/>
          <a:stretch>
            <a:fillRect/>
          </a:stretch>
        </p:blipFill>
        <p:spPr>
          <a:xfrm>
            <a:off x="3114812" y="2063252"/>
            <a:ext cx="317479" cy="317479"/>
          </a:xfrm>
          <a:prstGeom prst="rect">
            <a:avLst/>
          </a:prstGeom>
        </p:spPr>
      </p:pic>
      <p:sp>
        <p:nvSpPr>
          <p:cNvPr id="28" name="TextBox 27"/>
          <p:cNvSpPr txBox="1"/>
          <p:nvPr/>
        </p:nvSpPr>
        <p:spPr>
          <a:xfrm>
            <a:off x="2606040" y="2542032"/>
            <a:ext cx="1325880" cy="365760"/>
          </a:xfrm>
          <a:prstGeom prst="rect">
            <a:avLst/>
          </a:prstGeom>
          <a:noFill/>
        </p:spPr>
        <p:txBody>
          <a:bodyPr wrap="square" lIns="0" rIns="0" tIns="0" bIns="0" anchor="ctr"/>
          <a:lstStyle/>
          <a:p>
            <a:pPr algn="ctr" rtl="1"/>
            <a:r>
              <a:rPr sz="1250" b="1" i="0" lang="ar-AE" altLang="en-US">
                <a:solidFill>
                  <a:srgbClr val="C8102E"/>
                </a:solidFill>
                <a:latin typeface="Arial"/>
                <a:cs typeface="Arial"/>
              </a:rPr>
              <a:t>أحتاج إلى مساعدة</a:t>
            </a:r>
          </a:p>
        </p:txBody>
      </p:sp>
      <p:sp>
        <p:nvSpPr>
          <p:cNvPr id="29" name="TextBox 28"/>
          <p:cNvSpPr txBox="1"/>
          <p:nvPr/>
        </p:nvSpPr>
        <p:spPr>
          <a:xfrm>
            <a:off x="260604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ثلاثة أصابع</a:t>
            </a:r>
          </a:p>
        </p:txBody>
      </p:sp>
      <p:sp>
        <p:nvSpPr>
          <p:cNvPr id="30" name="Rounded Rectangle 29"/>
          <p:cNvSpPr/>
          <p:nvPr/>
        </p:nvSpPr>
        <p:spPr>
          <a:xfrm>
            <a:off x="6903720" y="331012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1E88C8"/>
                </a:solidFill>
                <a:latin typeface="Arial"/>
                <a:cs typeface="Arial"/>
              </a:rPr>
              <a:t>1. </a:t>
            </a:r>
            <a:r>
              <a:rPr sz="1250" b="1" i="0" lang="ar-AE" altLang="en-US">
                <a:solidFill>
                  <a:srgbClr val="102A43"/>
                </a:solidFill>
                <a:latin typeface="Arial"/>
                <a:cs typeface="Arial"/>
              </a:rPr>
              <a:t>يعرّف المادة والمادة المغذية، ويفسّر لماذا تُعاد دورة المادة بينما تتدفق الطاقة في اتجاه واحد.</a:t>
            </a:r>
          </a:p>
        </p:txBody>
      </p:sp>
      <p:sp>
        <p:nvSpPr>
          <p:cNvPr id="31" name="Rounded Rectangle 30"/>
          <p:cNvSpPr/>
          <p:nvPr/>
        </p:nvSpPr>
        <p:spPr>
          <a:xfrm>
            <a:off x="589788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2" name="Rounded Rectangle 31"/>
          <p:cNvSpPr/>
          <p:nvPr/>
        </p:nvSpPr>
        <p:spPr>
          <a:xfrm>
            <a:off x="448056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3" name="Rounded Rectangle 32"/>
          <p:cNvSpPr/>
          <p:nvPr/>
        </p:nvSpPr>
        <p:spPr>
          <a:xfrm>
            <a:off x="306324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4" name="Rounded Rectangle 33"/>
          <p:cNvSpPr/>
          <p:nvPr/>
        </p:nvSpPr>
        <p:spPr>
          <a:xfrm>
            <a:off x="6903720" y="404164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1E88C8"/>
                </a:solidFill>
                <a:latin typeface="Arial"/>
                <a:cs typeface="Arial"/>
              </a:rPr>
              <a:t>2. </a:t>
            </a:r>
            <a:r>
              <a:rPr sz="1250" b="1" i="0" lang="ar-AE" altLang="en-US">
                <a:solidFill>
                  <a:srgbClr val="102A43"/>
                </a:solidFill>
                <a:latin typeface="Arial"/>
                <a:cs typeface="Arial"/>
              </a:rPr>
              <a:t>يتتبّع انتقال المواد المغذية بين الأجزاء الحيوية وغير الحيوية في النظام البيئي.</a:t>
            </a:r>
          </a:p>
        </p:txBody>
      </p:sp>
      <p:sp>
        <p:nvSpPr>
          <p:cNvPr id="35" name="Rounded Rectangle 34"/>
          <p:cNvSpPr/>
          <p:nvPr/>
        </p:nvSpPr>
        <p:spPr>
          <a:xfrm>
            <a:off x="589788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6" name="Rounded Rectangle 35"/>
          <p:cNvSpPr/>
          <p:nvPr/>
        </p:nvSpPr>
        <p:spPr>
          <a:xfrm>
            <a:off x="448056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7" name="Rounded Rectangle 36"/>
          <p:cNvSpPr/>
          <p:nvPr/>
        </p:nvSpPr>
        <p:spPr>
          <a:xfrm>
            <a:off x="306324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8" name="Rounded Rectangle 37"/>
          <p:cNvSpPr/>
          <p:nvPr/>
        </p:nvSpPr>
        <p:spPr>
          <a:xfrm>
            <a:off x="6903720" y="477316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1E88C8"/>
                </a:solidFill>
                <a:latin typeface="Arial"/>
                <a:cs typeface="Arial"/>
              </a:rPr>
              <a:t>3. </a:t>
            </a:r>
            <a:r>
              <a:rPr sz="1250" b="1" i="0" lang="ar-AE" altLang="en-US">
                <a:solidFill>
                  <a:srgbClr val="102A43"/>
                </a:solidFill>
                <a:latin typeface="Arial"/>
                <a:cs typeface="Arial"/>
              </a:rPr>
              <a:t>يصف عمليات دورة الماء، ويحلّل توزيع المياه على كوكب الأرض.</a:t>
            </a:r>
          </a:p>
        </p:txBody>
      </p:sp>
      <p:sp>
        <p:nvSpPr>
          <p:cNvPr id="39" name="Rounded Rectangle 38"/>
          <p:cNvSpPr/>
          <p:nvPr/>
        </p:nvSpPr>
        <p:spPr>
          <a:xfrm>
            <a:off x="589788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40" name="Rounded Rectangle 39"/>
          <p:cNvSpPr/>
          <p:nvPr/>
        </p:nvSpPr>
        <p:spPr>
          <a:xfrm>
            <a:off x="448056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41" name="Rounded Rectangle 40"/>
          <p:cNvSpPr/>
          <p:nvPr/>
        </p:nvSpPr>
        <p:spPr>
          <a:xfrm>
            <a:off x="306324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145268" y="1344168"/>
            <a:ext cx="1714500"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التقويم الختامي</a:t>
            </a:r>
          </a:p>
        </p:txBody>
      </p:sp>
      <p:sp>
        <p:nvSpPr>
          <p:cNvPr id="21" name="TextBox 20"/>
          <p:cNvSpPr txBox="1"/>
          <p:nvPr/>
        </p:nvSpPr>
        <p:spPr>
          <a:xfrm>
            <a:off x="2606040" y="1280160"/>
            <a:ext cx="742950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بطاقة الخروج</a:t>
            </a:r>
          </a:p>
        </p:txBody>
      </p:sp>
      <p:sp>
        <p:nvSpPr>
          <p:cNvPr id="22" name="Rounded Rectangle 21"/>
          <p:cNvSpPr/>
          <p:nvPr/>
        </p:nvSpPr>
        <p:spPr>
          <a:xfrm>
            <a:off x="4160520" y="1920240"/>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3" name="TextBox 22"/>
          <p:cNvSpPr txBox="1"/>
          <p:nvPr/>
        </p:nvSpPr>
        <p:spPr>
          <a:xfrm>
            <a:off x="11430000" y="2194560"/>
            <a:ext cx="274320" cy="274320"/>
          </a:xfrm>
          <a:prstGeom prst="rect">
            <a:avLst/>
          </a:prstGeom>
          <a:noFill/>
        </p:spPr>
        <p:txBody>
          <a:bodyPr wrap="square" lIns="0" rIns="0" tIns="0" bIns="0" anchor="ctr"/>
          <a:lstStyle/>
          <a:p>
            <a:pPr algn="ctr"/>
            <a:r>
              <a:rPr sz="1500" b="1" i="0" lang="ar-AE" altLang="en-US">
                <a:solidFill>
                  <a:srgbClr val="2E9E5B"/>
                </a:solidFill>
                <a:latin typeface="Arial"/>
                <a:cs typeface="Arial"/>
              </a:rPr>
              <a:t>●</a:t>
            </a:r>
          </a:p>
        </p:txBody>
      </p:sp>
      <p:sp>
        <p:nvSpPr>
          <p:cNvPr id="24" name="TextBox 23"/>
          <p:cNvSpPr txBox="1"/>
          <p:nvPr/>
        </p:nvSpPr>
        <p:spPr>
          <a:xfrm>
            <a:off x="4251960" y="1920240"/>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أيٌّ مما يأتي </a:t>
            </a:r>
            <a:r>
              <a:rPr sz="1450" b="1" i="0" lang="ar-AE" altLang="en-US">
                <a:solidFill>
                  <a:srgbClr val="C8102E"/>
                </a:solidFill>
                <a:latin typeface="Arial"/>
                <a:cs typeface="Arial"/>
              </a:rPr>
              <a:t>لا</a:t>
            </a:r>
            <a:r>
              <a:rPr sz="1450" b="1" i="0" lang="ar-AE" altLang="en-US">
                <a:solidFill>
                  <a:srgbClr val="102A43"/>
                </a:solidFill>
                <a:latin typeface="Arial"/>
                <a:cs typeface="Arial"/>
              </a:rPr>
              <a:t> يُعاد تدويره في النظام البيئي؟</a:t>
            </a:r>
          </a:p>
          <a:p>
            <a:pPr algn="r" rtl="1"/>
            <a:r>
              <a:rPr sz="1450" b="1" i="0" lang="ar-AE" altLang="en-US">
                <a:solidFill>
                  <a:srgbClr val="3E5570"/>
                </a:solidFill>
                <a:latin typeface="Arial"/>
                <a:cs typeface="Arial"/>
              </a:rPr>
              <a:t>(أ) الماء      (ب) الكربون      (ج) الطاقة      (د) النيتروجين</a:t>
            </a:r>
          </a:p>
        </p:txBody>
      </p:sp>
      <p:sp>
        <p:nvSpPr>
          <p:cNvPr id="25" name="Rounded Rectangle 24"/>
          <p:cNvSpPr/>
          <p:nvPr/>
        </p:nvSpPr>
        <p:spPr>
          <a:xfrm>
            <a:off x="4160520" y="2852928"/>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6" name="TextBox 25"/>
          <p:cNvSpPr txBox="1"/>
          <p:nvPr/>
        </p:nvSpPr>
        <p:spPr>
          <a:xfrm>
            <a:off x="11430000" y="3127248"/>
            <a:ext cx="274320" cy="274320"/>
          </a:xfrm>
          <a:prstGeom prst="rect">
            <a:avLst/>
          </a:prstGeom>
          <a:noFill/>
        </p:spPr>
        <p:txBody>
          <a:bodyPr wrap="square" lIns="0" rIns="0" tIns="0" bIns="0" anchor="ctr"/>
          <a:lstStyle/>
          <a:p>
            <a:pPr algn="ctr"/>
            <a:r>
              <a:rPr sz="1500" b="1" i="0" lang="ar-AE" altLang="en-US">
                <a:solidFill>
                  <a:srgbClr val="E0A21B"/>
                </a:solidFill>
                <a:latin typeface="Arial"/>
                <a:cs typeface="Arial"/>
              </a:rPr>
              <a:t>▲</a:t>
            </a:r>
          </a:p>
        </p:txBody>
      </p:sp>
      <p:sp>
        <p:nvSpPr>
          <p:cNvPr id="27" name="TextBox 26"/>
          <p:cNvSpPr txBox="1"/>
          <p:nvPr/>
        </p:nvSpPr>
        <p:spPr>
          <a:xfrm>
            <a:off x="4251960" y="2852928"/>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رتّب عمليات دورة الماء بدءًا من المحيط:</a:t>
            </a:r>
          </a:p>
          <a:p>
            <a:pPr algn="r" rtl="1"/>
            <a:r>
              <a:rPr sz="1450" b="1" i="0" lang="ar-AE" altLang="en-US">
                <a:solidFill>
                  <a:srgbClr val="3E5570"/>
                </a:solidFill>
                <a:latin typeface="Arial"/>
                <a:cs typeface="Arial"/>
              </a:rPr>
              <a:t>الهطول – التبخّر – الجريان السطحي – التكاثف</a:t>
            </a:r>
          </a:p>
        </p:txBody>
      </p:sp>
      <p:sp>
        <p:nvSpPr>
          <p:cNvPr id="28" name="Rounded Rectangle 27"/>
          <p:cNvSpPr/>
          <p:nvPr/>
        </p:nvSpPr>
        <p:spPr>
          <a:xfrm>
            <a:off x="4160520" y="3785616"/>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9" name="TextBox 28"/>
          <p:cNvSpPr txBox="1"/>
          <p:nvPr/>
        </p:nvSpPr>
        <p:spPr>
          <a:xfrm>
            <a:off x="11430000" y="4059936"/>
            <a:ext cx="274320" cy="274320"/>
          </a:xfrm>
          <a:prstGeom prst="rect">
            <a:avLst/>
          </a:prstGeom>
          <a:noFill/>
        </p:spPr>
        <p:txBody>
          <a:bodyPr wrap="square" lIns="0" rIns="0" tIns="0" bIns="0" anchor="ctr"/>
          <a:lstStyle/>
          <a:p>
            <a:pPr algn="ctr"/>
            <a:r>
              <a:rPr sz="1500" b="1" i="0" lang="ar-AE" altLang="en-US">
                <a:solidFill>
                  <a:srgbClr val="C8102E"/>
                </a:solidFill>
                <a:latin typeface="Arial"/>
                <a:cs typeface="Arial"/>
              </a:rPr>
              <a:t>■</a:t>
            </a:r>
          </a:p>
        </p:txBody>
      </p:sp>
      <p:sp>
        <p:nvSpPr>
          <p:cNvPr id="30" name="TextBox 29"/>
          <p:cNvSpPr txBox="1"/>
          <p:nvPr/>
        </p:nvSpPr>
        <p:spPr>
          <a:xfrm>
            <a:off x="4251960" y="3785616"/>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فسّر: لماذا لا تستطيع الكائنات الحية استخدام معظم المياه العذبة على الأرض؟</a:t>
            </a:r>
          </a:p>
        </p:txBody>
      </p:sp>
      <p:pic>
        <p:nvPicPr>
          <p:cNvPr id="31"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697480" y="1920240"/>
            <a:ext cx="1371600" cy="1371600"/>
          </a:xfrm>
          <a:prstGeom prst="rect">
            <a:avLst/>
          </a:prstGeom>
        </p:spPr>
      </p:pic>
      <p:sp>
        <p:nvSpPr>
          <p:cNvPr id="32" name="Oval 31"/>
          <p:cNvSpPr/>
          <p:nvPr/>
        </p:nvSpPr>
        <p:spPr>
          <a:xfrm>
            <a:off x="3017520" y="3520440"/>
            <a:ext cx="731520" cy="731520"/>
          </a:xfrm>
          <a:prstGeom prst="ellipse">
            <a:avLst/>
          </a:prstGeom>
          <a:solidFill>
            <a:srgbClr val="C8102E"/>
          </a:solidFill>
          <a:ln>
            <a:noFill/>
          </a:ln>
        </p:spPr>
        <p:txBody>
          <a:bodyPr rtlCol="0" anchor="ctr" lIns="54864" rIns="54864" tIns="27432" bIns="27432"/>
          <a:lstStyle/>
          <a:p>
            <a:pPr algn="ctr"/>
          </a:p>
        </p:txBody>
      </p:sp>
      <p:pic>
        <p:nvPicPr>
          <p:cNvPr id="33" name="Picture 32" descr="ticket_w.png"/>
          <p:cNvPicPr>
            <a:picLocks noChangeAspect="1"/>
          </p:cNvPicPr>
          <p:nvPr/>
        </p:nvPicPr>
        <p:blipFill>
          <a:blip r:embed="rId6"/>
          <a:stretch>
            <a:fillRect/>
          </a:stretch>
        </p:blipFill>
        <p:spPr>
          <a:xfrm>
            <a:off x="3178454" y="3681374"/>
            <a:ext cx="409651" cy="409651"/>
          </a:xfrm>
          <a:prstGeom prst="rect">
            <a:avLst/>
          </a:prstGeom>
        </p:spPr>
      </p:pic>
      <p:sp>
        <p:nvSpPr>
          <p:cNvPr id="34" name="TextBox 33"/>
          <p:cNvSpPr txBox="1"/>
          <p:nvPr/>
        </p:nvSpPr>
        <p:spPr>
          <a:xfrm>
            <a:off x="2651760" y="4315968"/>
            <a:ext cx="1463040" cy="548640"/>
          </a:xfrm>
          <a:prstGeom prst="rect">
            <a:avLst/>
          </a:prstGeom>
          <a:noFill/>
        </p:spPr>
        <p:txBody>
          <a:bodyPr wrap="square" lIns="73152" rIns="73152" tIns="36576" bIns="36576" anchor="ctr"/>
          <a:lstStyle/>
          <a:p>
            <a:pPr algn="ctr" rtl="1"/>
            <a:r>
              <a:rPr sz="1200" b="1" i="0" lang="ar-AE" altLang="en-US">
                <a:solidFill>
                  <a:srgbClr val="5A687D"/>
                </a:solidFill>
                <a:latin typeface="Arial"/>
                <a:cs typeface="Arial"/>
              </a:rPr>
              <a:t>أجب بمفردك على الورقة</a:t>
            </a:r>
          </a:p>
        </p:txBody>
      </p:sp>
      <p:sp>
        <p:nvSpPr>
          <p:cNvPr id="35" name="Rounded Rectangle 34"/>
          <p:cNvSpPr/>
          <p:nvPr/>
        </p:nvSpPr>
        <p:spPr>
          <a:xfrm>
            <a:off x="4160520" y="4754880"/>
            <a:ext cx="7680960" cy="749808"/>
          </a:xfrm>
          <a:prstGeom prst="roundRect">
            <a:avLst>
              <a:gd name="adj" fmla="val 14634"/>
            </a:avLst>
          </a:prstGeom>
          <a:solidFill>
            <a:srgbClr val="FBF5E8"/>
          </a:solidFill>
          <a:ln w="12700">
            <a:solidFill>
              <a:srgbClr val="E6D5B0"/>
            </a:solidFill>
          </a:ln>
        </p:spPr>
        <p:txBody>
          <a:bodyPr rtlCol="0" anchor="ctr" lIns="54864" rIns="54864" tIns="27432" bIns="27432"/>
          <a:lstStyle/>
          <a:p>
            <a:pPr algn="ctr"/>
          </a:p>
        </p:txBody>
      </p:sp>
      <p:sp>
        <p:nvSpPr>
          <p:cNvPr id="36" name="TextBox 35"/>
          <p:cNvSpPr txBox="1"/>
          <p:nvPr/>
        </p:nvSpPr>
        <p:spPr>
          <a:xfrm>
            <a:off x="4251960" y="4754880"/>
            <a:ext cx="7498079" cy="749808"/>
          </a:xfrm>
          <a:prstGeom prst="rect">
            <a:avLst/>
          </a:prstGeom>
          <a:noFill/>
        </p:spPr>
        <p:txBody>
          <a:bodyPr wrap="square" lIns="73152" rIns="73152" tIns="36576" bIns="36576" anchor="ctr"/>
          <a:lstStyle/>
          <a:p>
            <a:pPr algn="r" rtl="1"/>
            <a:r>
              <a:rPr sz="1300" b="1" i="0" lang="ar-AE" altLang="en-US">
                <a:solidFill>
                  <a:srgbClr val="2E9E5B"/>
                </a:solidFill>
                <a:latin typeface="Arial"/>
                <a:cs typeface="Arial"/>
              </a:rPr>
              <a:t>● </a:t>
            </a:r>
            <a:r>
              <a:rPr sz="1300" b="1" i="0" lang="ar-AE" altLang="en-US">
                <a:solidFill>
                  <a:srgbClr val="102A43"/>
                </a:solidFill>
                <a:latin typeface="Arial"/>
                <a:cs typeface="Arial"/>
              </a:rPr>
              <a:t>أساسي    </a:t>
            </a:r>
            <a:r>
              <a:rPr sz="1300" b="1" i="0" lang="ar-AE" altLang="en-US">
                <a:solidFill>
                  <a:srgbClr val="E0A21B"/>
                </a:solidFill>
                <a:latin typeface="Arial"/>
                <a:cs typeface="Arial"/>
              </a:rPr>
              <a:t>▲ </a:t>
            </a:r>
            <a:r>
              <a:rPr sz="1300" b="1" i="0" lang="ar-AE" altLang="en-US">
                <a:solidFill>
                  <a:srgbClr val="102A43"/>
                </a:solidFill>
                <a:latin typeface="Arial"/>
                <a:cs typeface="Arial"/>
              </a:rPr>
              <a:t>متوسط    </a:t>
            </a:r>
            <a:r>
              <a:rPr sz="1300" b="1" i="0" lang="ar-AE" altLang="en-US">
                <a:solidFill>
                  <a:srgbClr val="C8102E"/>
                </a:solidFill>
                <a:latin typeface="Arial"/>
                <a:cs typeface="Arial"/>
              </a:rPr>
              <a:t>■ </a:t>
            </a:r>
            <a:r>
              <a:rPr sz="1300" b="1" i="0" lang="ar-AE" altLang="en-US">
                <a:solidFill>
                  <a:srgbClr val="102A43"/>
                </a:solidFill>
                <a:latin typeface="Arial"/>
                <a:cs typeface="Arial"/>
              </a:rPr>
              <a:t>متقدّم     —  أجب عن الأسئلة الثلاثة، وابدأ بما تستطيع!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1"/>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1"/>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الاثنين</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21/9/2026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دورة الماء</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المادة والمادة المغذية</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انتقال المواد المغذية</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عمليات دورة الماء</a:t>
            </a:r>
          </a:p>
        </p:txBody>
      </p:sp>
      <p:sp>
        <p:nvSpPr>
          <p:cNvPr id="13" name="Rounded Rectangle 12"/>
          <p:cNvSpPr/>
          <p:nvPr/>
        </p:nvSpPr>
        <p:spPr>
          <a:xfrm>
            <a:off x="10625328" y="1344168"/>
            <a:ext cx="1234440" cy="365760"/>
          </a:xfrm>
          <a:prstGeom prst="roundRect">
            <a:avLst>
              <a:gd name="adj" fmla="val 50000"/>
            </a:avLst>
          </a:prstGeom>
          <a:solidFill>
            <a:srgbClr val="102A43"/>
          </a:solidFill>
          <a:ln>
            <a:noFill/>
          </a:ln>
        </p:spPr>
        <p:txBody>
          <a:bodyPr rtlCol="0" anchor="ctr" lIns="36576" rIns="36576" tIns="0" bIns="0" wrap="square"/>
          <a:lstStyle/>
          <a:p>
            <a:pPr algn="ctr" rtl="1"/>
            <a:r>
              <a:rPr sz="1300" b="1" i="0" lang="ar-AE" altLang="en-US">
                <a:solidFill>
                  <a:srgbClr val="FFFFFF"/>
                </a:solidFill>
                <a:latin typeface="Arial"/>
                <a:cs typeface="Arial"/>
              </a:rPr>
              <a:t>ختام الحصة</a:t>
            </a:r>
          </a:p>
        </p:txBody>
      </p:sp>
      <p:sp>
        <p:nvSpPr>
          <p:cNvPr id="14" name="TextBox 13"/>
          <p:cNvSpPr txBox="1"/>
          <p:nvPr/>
        </p:nvSpPr>
        <p:spPr>
          <a:xfrm>
            <a:off x="2606040" y="1280160"/>
            <a:ext cx="790956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أبطال اليوم… وإلى اللقاء غدًا!</a:t>
            </a:r>
          </a:p>
        </p:txBody>
      </p:sp>
      <p:pic>
        <p:nvPicPr>
          <p:cNvPr id="15" name="Picture 14" descr="badge_hessa.png"/>
          <p:cNvPicPr>
            <a:picLocks noChangeAspect="1"/>
          </p:cNvPicPr>
          <p:nvPr/>
        </p:nvPicPr>
        <p:blipFill>
          <a:blip r:embed="rId3"/>
          <a:stretch>
            <a:fillRect/>
          </a:stretch>
        </p:blipFill>
        <p:spPr>
          <a:xfrm>
            <a:off x="10543031" y="1874519"/>
            <a:ext cx="1097280" cy="1138757"/>
          </a:xfrm>
          <a:prstGeom prst="rect">
            <a:avLst/>
          </a:prstGeom>
        </p:spPr>
      </p:pic>
      <p:sp>
        <p:nvSpPr>
          <p:cNvPr id="16" name="TextBox 15"/>
          <p:cNvSpPr txBox="1"/>
          <p:nvPr/>
        </p:nvSpPr>
        <p:spPr>
          <a:xfrm>
            <a:off x="10360151" y="3063240"/>
            <a:ext cx="1463040" cy="310896"/>
          </a:xfrm>
          <a:prstGeom prst="rect">
            <a:avLst/>
          </a:prstGeom>
          <a:noFill/>
        </p:spPr>
        <p:txBody>
          <a:bodyPr wrap="square" lIns="0" rIns="0" tIns="0" bIns="0" anchor="ctr"/>
          <a:lstStyle/>
          <a:p>
            <a:pPr algn="ctr" rtl="1"/>
            <a:r>
              <a:rPr sz="1200" b="1" i="0" lang="ar-AE" altLang="en-US">
                <a:solidFill>
                  <a:srgbClr val="7D1F2E"/>
                </a:solidFill>
                <a:latin typeface="Arial"/>
                <a:cs typeface="Arial"/>
              </a:rPr>
              <a:t>وسام حصة</a:t>
            </a:r>
          </a:p>
        </p:txBody>
      </p:sp>
      <p:sp>
        <p:nvSpPr>
          <p:cNvPr id="17" name="TextBox 16"/>
          <p:cNvSpPr txBox="1"/>
          <p:nvPr/>
        </p:nvSpPr>
        <p:spPr>
          <a:xfrm>
            <a:off x="10497311"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18" name="Picture 17" descr="badge_ahmed.png"/>
          <p:cNvPicPr>
            <a:picLocks noChangeAspect="1"/>
          </p:cNvPicPr>
          <p:nvPr/>
        </p:nvPicPr>
        <p:blipFill>
          <a:blip r:embed="rId4"/>
          <a:stretch>
            <a:fillRect/>
          </a:stretch>
        </p:blipFill>
        <p:spPr>
          <a:xfrm>
            <a:off x="9061703" y="1874519"/>
            <a:ext cx="1097280" cy="1161382"/>
          </a:xfrm>
          <a:prstGeom prst="rect">
            <a:avLst/>
          </a:prstGeom>
        </p:spPr>
      </p:pic>
      <p:sp>
        <p:nvSpPr>
          <p:cNvPr id="19" name="TextBox 18"/>
          <p:cNvSpPr txBox="1"/>
          <p:nvPr/>
        </p:nvSpPr>
        <p:spPr>
          <a:xfrm>
            <a:off x="8878824" y="3063240"/>
            <a:ext cx="1463040" cy="310896"/>
          </a:xfrm>
          <a:prstGeom prst="rect">
            <a:avLst/>
          </a:prstGeom>
          <a:noFill/>
        </p:spPr>
        <p:txBody>
          <a:bodyPr wrap="square" lIns="0" rIns="0" tIns="0" bIns="0" anchor="ctr"/>
          <a:lstStyle/>
          <a:p>
            <a:pPr algn="ctr" rtl="1"/>
            <a:r>
              <a:rPr sz="1200" b="1" i="0" lang="ar-AE" altLang="en-US">
                <a:solidFill>
                  <a:srgbClr val="1C2F5E"/>
                </a:solidFill>
                <a:latin typeface="Arial"/>
                <a:cs typeface="Arial"/>
              </a:rPr>
              <a:t>وسام أحمد</a:t>
            </a:r>
          </a:p>
        </p:txBody>
      </p:sp>
      <p:sp>
        <p:nvSpPr>
          <p:cNvPr id="20" name="TextBox 19"/>
          <p:cNvSpPr txBox="1"/>
          <p:nvPr/>
        </p:nvSpPr>
        <p:spPr>
          <a:xfrm>
            <a:off x="9015984"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1" name="Picture 20" descr="badge_fahem.png"/>
          <p:cNvPicPr>
            <a:picLocks noChangeAspect="1"/>
          </p:cNvPicPr>
          <p:nvPr/>
        </p:nvPicPr>
        <p:blipFill>
          <a:blip r:embed="rId5"/>
          <a:stretch>
            <a:fillRect/>
          </a:stretch>
        </p:blipFill>
        <p:spPr>
          <a:xfrm>
            <a:off x="7580375" y="1874519"/>
            <a:ext cx="1097280" cy="1210401"/>
          </a:xfrm>
          <a:prstGeom prst="rect">
            <a:avLst/>
          </a:prstGeom>
        </p:spPr>
      </p:pic>
      <p:sp>
        <p:nvSpPr>
          <p:cNvPr id="22" name="TextBox 21"/>
          <p:cNvSpPr txBox="1"/>
          <p:nvPr/>
        </p:nvSpPr>
        <p:spPr>
          <a:xfrm>
            <a:off x="7397496" y="3063240"/>
            <a:ext cx="1463040" cy="310896"/>
          </a:xfrm>
          <a:prstGeom prst="rect">
            <a:avLst/>
          </a:prstGeom>
          <a:noFill/>
        </p:spPr>
        <p:txBody>
          <a:bodyPr wrap="square" lIns="0" rIns="0" tIns="0" bIns="0" anchor="ctr"/>
          <a:lstStyle/>
          <a:p>
            <a:pPr algn="ctr" rtl="1"/>
            <a:r>
              <a:rPr sz="1200" b="1" i="0" lang="ar-AE" altLang="en-US">
                <a:solidFill>
                  <a:srgbClr val="1E6B3A"/>
                </a:solidFill>
                <a:latin typeface="Arial"/>
                <a:cs typeface="Arial"/>
              </a:rPr>
              <a:t>وسام فاهم</a:t>
            </a:r>
          </a:p>
        </p:txBody>
      </p:sp>
      <p:sp>
        <p:nvSpPr>
          <p:cNvPr id="23" name="TextBox 22"/>
          <p:cNvSpPr txBox="1"/>
          <p:nvPr/>
        </p:nvSpPr>
        <p:spPr>
          <a:xfrm>
            <a:off x="7534656"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4" name="Picture 23" descr="badge_shaheen.png"/>
          <p:cNvPicPr>
            <a:picLocks noChangeAspect="1"/>
          </p:cNvPicPr>
          <p:nvPr/>
        </p:nvPicPr>
        <p:blipFill>
          <a:blip r:embed="rId6"/>
          <a:stretch>
            <a:fillRect/>
          </a:stretch>
        </p:blipFill>
        <p:spPr>
          <a:xfrm>
            <a:off x="6099047" y="1874519"/>
            <a:ext cx="1097280" cy="1134987"/>
          </a:xfrm>
          <a:prstGeom prst="rect">
            <a:avLst/>
          </a:prstGeom>
        </p:spPr>
      </p:pic>
      <p:sp>
        <p:nvSpPr>
          <p:cNvPr id="25" name="TextBox 24"/>
          <p:cNvSpPr txBox="1"/>
          <p:nvPr/>
        </p:nvSpPr>
        <p:spPr>
          <a:xfrm>
            <a:off x="5916167" y="3063240"/>
            <a:ext cx="1463040" cy="310896"/>
          </a:xfrm>
          <a:prstGeom prst="rect">
            <a:avLst/>
          </a:prstGeom>
          <a:noFill/>
        </p:spPr>
        <p:txBody>
          <a:bodyPr wrap="square" lIns="0" rIns="0" tIns="0" bIns="0" anchor="ctr"/>
          <a:lstStyle/>
          <a:p>
            <a:pPr algn="ctr" rtl="1"/>
            <a:r>
              <a:rPr sz="1200" b="1" i="0" lang="ar-AE" altLang="en-US">
                <a:solidFill>
                  <a:srgbClr val="6B3F1D"/>
                </a:solidFill>
                <a:latin typeface="Arial"/>
                <a:cs typeface="Arial"/>
              </a:rPr>
              <a:t>وسام شاهين</a:t>
            </a:r>
          </a:p>
        </p:txBody>
      </p:sp>
      <p:sp>
        <p:nvSpPr>
          <p:cNvPr id="26" name="TextBox 25"/>
          <p:cNvSpPr txBox="1"/>
          <p:nvPr/>
        </p:nvSpPr>
        <p:spPr>
          <a:xfrm>
            <a:off x="6053327"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7" name="Picture 26" descr="badge_maha.png"/>
          <p:cNvPicPr>
            <a:picLocks noChangeAspect="1"/>
          </p:cNvPicPr>
          <p:nvPr/>
        </p:nvPicPr>
        <p:blipFill>
          <a:blip r:embed="rId7"/>
          <a:stretch>
            <a:fillRect/>
          </a:stretch>
        </p:blipFill>
        <p:spPr>
          <a:xfrm>
            <a:off x="4617719" y="1874519"/>
            <a:ext cx="1097280" cy="1259421"/>
          </a:xfrm>
          <a:prstGeom prst="rect">
            <a:avLst/>
          </a:prstGeom>
        </p:spPr>
      </p:pic>
      <p:sp>
        <p:nvSpPr>
          <p:cNvPr id="28" name="TextBox 27"/>
          <p:cNvSpPr txBox="1"/>
          <p:nvPr/>
        </p:nvSpPr>
        <p:spPr>
          <a:xfrm>
            <a:off x="4434839" y="3063240"/>
            <a:ext cx="1463040" cy="310896"/>
          </a:xfrm>
          <a:prstGeom prst="rect">
            <a:avLst/>
          </a:prstGeom>
          <a:noFill/>
        </p:spPr>
        <p:txBody>
          <a:bodyPr wrap="square" lIns="0" rIns="0" tIns="0" bIns="0" anchor="ctr"/>
          <a:lstStyle/>
          <a:p>
            <a:pPr algn="ctr" rtl="1"/>
            <a:r>
              <a:rPr sz="1200" b="1" i="0" lang="ar-AE" altLang="en-US">
                <a:solidFill>
                  <a:srgbClr val="0F7C73"/>
                </a:solidFill>
                <a:latin typeface="Arial"/>
                <a:cs typeface="Arial"/>
              </a:rPr>
              <a:t>وسام مها</a:t>
            </a:r>
          </a:p>
        </p:txBody>
      </p:sp>
      <p:sp>
        <p:nvSpPr>
          <p:cNvPr id="29" name="TextBox 28"/>
          <p:cNvSpPr txBox="1"/>
          <p:nvPr/>
        </p:nvSpPr>
        <p:spPr>
          <a:xfrm>
            <a:off x="4571999"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sp>
        <p:nvSpPr>
          <p:cNvPr id="30" name="Rounded Rectangle 29"/>
          <p:cNvSpPr/>
          <p:nvPr/>
        </p:nvSpPr>
        <p:spPr>
          <a:xfrm>
            <a:off x="2697480" y="1874519"/>
            <a:ext cx="1572768" cy="1819656"/>
          </a:xfrm>
          <a:prstGeom prst="roundRect">
            <a:avLst>
              <a:gd name="adj" fmla="val 6976"/>
            </a:avLst>
          </a:prstGeom>
          <a:solidFill>
            <a:srgbClr val="FBF5E8"/>
          </a:solidFill>
          <a:ln w="12700">
            <a:solidFill>
              <a:srgbClr val="E6D5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31" name="Picture 30" descr="trophy_g.png"/>
          <p:cNvPicPr>
            <a:picLocks noChangeAspect="1"/>
          </p:cNvPicPr>
          <p:nvPr/>
        </p:nvPicPr>
        <p:blipFill>
          <a:blip r:embed="rId8"/>
          <a:stretch>
            <a:fillRect/>
          </a:stretch>
        </p:blipFill>
        <p:spPr>
          <a:xfrm>
            <a:off x="3163824" y="2011680"/>
            <a:ext cx="640080" cy="640080"/>
          </a:xfrm>
          <a:prstGeom prst="rect">
            <a:avLst/>
          </a:prstGeom>
        </p:spPr>
      </p:pic>
      <p:sp>
        <p:nvSpPr>
          <p:cNvPr id="32" name="TextBox 31"/>
          <p:cNvSpPr txBox="1"/>
          <p:nvPr/>
        </p:nvSpPr>
        <p:spPr>
          <a:xfrm>
            <a:off x="2743200" y="2697480"/>
            <a:ext cx="1481328" cy="914400"/>
          </a:xfrm>
          <a:prstGeom prst="rect">
            <a:avLst/>
          </a:prstGeom>
          <a:noFill/>
        </p:spPr>
        <p:txBody>
          <a:bodyPr wrap="square" lIns="73152" rIns="73152" tIns="36576" bIns="36576" anchor="ctr"/>
          <a:lstStyle/>
          <a:p>
            <a:pPr algn="ctr" rtl="1"/>
            <a:r>
              <a:rPr sz="1250" b="1" i="0" lang="ar-AE" altLang="en-US">
                <a:solidFill>
                  <a:srgbClr val="102A43"/>
                </a:solidFill>
                <a:latin typeface="Arial"/>
                <a:cs typeface="Arial"/>
              </a:rPr>
              <a:t>نصفّق للمجموعات الفائزة!</a:t>
            </a:r>
          </a:p>
        </p:txBody>
      </p:sp>
      <p:sp>
        <p:nvSpPr>
          <p:cNvPr id="33" name="Rounded Rectangle 32"/>
          <p:cNvSpPr/>
          <p:nvPr/>
        </p:nvSpPr>
        <p:spPr>
          <a:xfrm>
            <a:off x="6492240" y="3931920"/>
            <a:ext cx="5349240" cy="1572768"/>
          </a:xfrm>
          <a:prstGeom prst="roundRect">
            <a:avLst>
              <a:gd name="adj" fmla="val 8139"/>
            </a:avLst>
          </a:prstGeom>
          <a:solidFill>
            <a:srgbClr val="102A43"/>
          </a:solidFill>
          <a:ln>
            <a:noFill/>
          </a:ln>
        </p:spPr>
        <p:txBody>
          <a:bodyPr rtlCol="0" anchor="ctr" lIns="182880" rIns="182880" wrap="square"/>
          <a:lstStyle/>
          <a:p>
            <a:pPr algn="r" rtl="1"/>
            <a:r>
              <a:rPr sz="1500" b="1" i="0" lang="ar-AE" altLang="en-US">
                <a:solidFill>
                  <a:srgbClr val="C9A96A"/>
                </a:solidFill>
                <a:latin typeface="Arial"/>
                <a:cs typeface="Arial"/>
              </a:rPr>
              <a:t>غدًا: </a:t>
            </a:r>
            <a:r>
              <a:rPr sz="1500" b="1" i="0" lang="ar-AE" altLang="en-US">
                <a:solidFill>
                  <a:srgbClr val="FFFFFF"/>
                </a:solidFill>
                <a:latin typeface="Arial"/>
                <a:cs typeface="Arial"/>
              </a:rPr>
              <a:t>تجربة مدهشة… هل يمكن لنَفَسِك أن يصنع حجرًا؟ نتتبّع رحلة ذرة الكربون!</a:t>
            </a:r>
          </a:p>
        </p:txBody>
      </p:sp>
      <p:sp>
        <p:nvSpPr>
          <p:cNvPr id="34" name="Rounded Rectangle 33"/>
          <p:cNvSpPr/>
          <p:nvPr/>
        </p:nvSpPr>
        <p:spPr>
          <a:xfrm>
            <a:off x="2697480" y="3931920"/>
            <a:ext cx="3657600" cy="1572768"/>
          </a:xfrm>
          <a:prstGeom prst="roundRect">
            <a:avLst>
              <a:gd name="adj" fmla="val 8139"/>
            </a:avLst>
          </a:prstGeom>
          <a:solidFill>
            <a:srgbClr val="EAF4FB"/>
          </a:solidFill>
          <a:ln w="12700">
            <a:solidFill>
              <a:srgbClr val="BFDDF2"/>
            </a:solidFill>
          </a:ln>
        </p:spPr>
        <p:txBody>
          <a:bodyPr rtlCol="0" anchor="ctr" lIns="137160" rIns="137160" wrap="square"/>
          <a:lstStyle/>
          <a:p>
            <a:pPr algn="r" rtl="1"/>
            <a:r>
              <a:rPr sz="1400" b="1" i="0" lang="ar-AE" altLang="en-US">
                <a:solidFill>
                  <a:srgbClr val="1E88C8"/>
                </a:solidFill>
                <a:latin typeface="Arial"/>
                <a:cs typeface="Arial"/>
              </a:rPr>
              <a:t>مهمتي على منصة ألف / البوابة الذكية:</a:t>
            </a:r>
          </a:p>
          <a:p>
            <a:pPr algn="r" rtl="1"/>
            <a:r>
              <a:rPr sz="1300" b="1" i="0" lang="ar-AE" altLang="en-US">
                <a:solidFill>
                  <a:srgbClr val="102A43"/>
                </a:solidFill>
                <a:latin typeface="Arial"/>
                <a:cs typeface="Arial"/>
              </a:rPr>
              <a:t>ارسم دورة الماء في بيتك (المكيّف، الغسيل، النباتات) وحدّد العمليات عليها.</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