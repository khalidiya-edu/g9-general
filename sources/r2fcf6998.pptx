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9" r:id="rId15"/>
    <p:sldId id="280" r:id="rId16"/>
    <p:sldId id="281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2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97E06-0725-44AB-8585-8D6F6533669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FA4EC-C434-4F2A-9799-6A807E3F0B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5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تُعرض الشريحة دقيقة واحدة فقط.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 الطلاب بتوزيع الأدوار داخل الثنائي قبل بدء أول نشاط.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اترك الطلاب يخمّنون ٣٠ ثانية.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لا تكشف الإجابة — سيكتشفونها بأنفسهم في نشاط الحساب.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مدة المقطع ٣٤ ثانية.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أوقفه عند شريحة (أين ذهبت ٩٠٪) إن أردت النقاش.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اقرأ الهدف بصوت واضح واطلب من أحد الطلاب إعادة صياغته بلغته.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الهدف بما سبق دراسته في القسم الأول.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النواتج الثلاثة ثم ثبّتها في السبورة طوال الحصة.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بعد كل ناتج سيُجرى تقييم قصير يقيس تحقّقه.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طالب أن يشرح مصطلحين لزميله، ثم يتبادلان.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علّق المصطلحات على جدار الصف (حائط المفردات).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بالرياضيات: كل مستوى = المستوى السابق ÷ ١٠.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أين تذهب الطاقة المفقودة؟ (حرارة، تنفّس، حركة، فضلات).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أشر إلى الصورة: كل هرم قاعدته أعرض من قمّته ولكن لسبب مختلف.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الشكل ١٥ في كتاب الطالب — اطلب منهم فتحه للمقارنة.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بالحصة الماضية: السلسلة التي بنوها كانت أربعة مستويات.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هل يمكن أن توجد سلسلة من عشرة مستويات؟ ولماذا؟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راجع النواتج الأربعة سريعًا واربطها بالحصص السابقة.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هذه الشريحة مناسبة لتثبيت الفكرة الكبرى قبل الاختبار.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من منكم شاهد هذا الكائن في رحلة أو في منطقته؟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الحديث بجهود الدولة في حماية البيئة والتنوّع الحيوي.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وجّه بطاقات الدعم للطلاب الذين لاحظت تعثّرهم أثناء المرور بين الثنائيات.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لأصحاب الهمم: اجلسهم في الصف الأمامي، وامنحهم وقتًا إضافيًّا وبطاقات مصوّرة.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امنح الطلاب دقيقتين للتقييم الذاتي — هذا بند مستقل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اجمع الاستمارات لتحديد من يحتاج دعمًا في الحصة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بطاقة الخروج أداة قياس رئيسة — صحّحها قبل الحصة القادمة.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من يجيب عن سؤالين فأكثر إجابة صحيحة يكون قد حقّق نواتج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اشكر الثنائيات المتميّزة بالاسم — التحفيز بند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ذكّرهم بموعد تسليم الواجب.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EDFF2C-304E-487F-81F6-6503120F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03983C-951D-4D55-8590-797371B8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F2533D-644C-4B09-8DAD-7992533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E01427-E552-4488-8BE9-D8E23476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00AEF01-9072-4BE2-8E13-77C9F55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2222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E3FF17-B5AB-481C-ACAF-12E403EC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A45058-1F23-4989-863D-24D216C2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A04DDF4-C53D-402D-BB33-09C99B97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6CF2D-3DD9-4D4B-8CCC-0A92FADF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66FDC3-59B9-4E02-8CAA-1A786B94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266255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877253B-4390-4FBD-8667-7ABD4D5F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E6F9FF-B28B-4C49-A1C2-3F67BA9C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9025E9-E2D8-43CA-A23A-0BC6094B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184A0C-12E4-417F-81E7-95F28D7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FEBCD4-4C9A-4CB1-9B85-BBC2470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940434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AF49F4-9102-4585-822D-F2ECAB5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F0ED8B-284F-42C6-9371-B088A47A2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0B0486-CC55-4CB5-A5B2-005B81AE6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C8E57E0-C1D1-4AA8-9CC2-F5AA43F7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C8E913-52C7-4F17-8389-78F88A7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E169CB-44A9-4C5B-845B-13CB4B1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423372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EB88F2-11C8-46BC-A9F9-53375A43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2EF40F-90F6-4778-B456-FD43F81B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A43E5CF-361D-43FA-A7EE-0E2843E9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D60006A-220B-4728-B8BF-45127DE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50A8807-70E8-4DF8-A7E7-5CF47749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6660CDE-60E5-4121-B90C-A05FD9DD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EAE9D7F-FC6F-449E-BFB1-65B2F62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2F4C6B0-80AB-4336-9D82-67BA5E83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382069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344D27-4F8C-4F75-9A0A-07464B7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17A858F-A2B7-4431-897E-8CC86A6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92B2E00-B428-45B4-B6BE-1353800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740583-6361-49F6-BF48-159ECFE2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426702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B4F6025-8AAD-404F-9711-350F3614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3395B8B-58EF-49BC-BEFD-35AD596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383AD81-8D27-48AF-8681-44BC9B0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441034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51EFA-4610-42CF-8368-7A1AD0D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08F04-4D10-448A-BE36-80E513F7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E7FF1B9-5379-4F06-9AD2-7033BEF1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758CAE4-5C96-4DC7-BA6F-31CD14A9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56E4F24-DC8C-4ABC-96EA-2B9A1755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D95B873-8955-476A-9AD3-9A6F038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940046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50BA8D-5D71-4317-B054-9092B45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341872-ADC0-4E6A-B400-8A7B23859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B845F6E-C117-443C-90B1-381DC3F5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A4ACCF-7807-46B6-B385-A239B68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64AD1C2-8310-4E91-A2A2-8E1E334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70FFE1-DECC-414F-86FB-8D2B99C6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7586336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FA8A70-A6FC-4863-816F-ACC153E9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DE0D321-9A98-4FE6-98B7-50587053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CD00BC4-3033-44EF-8130-C83242E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D047D01-3DCB-4CE5-9AF5-3F6945A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64E4B1-F3BD-4FC4-ACA1-1D1BECB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55477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5066759-4B35-4045-8DBA-C0A3E02FF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4070FA-09E4-4E9B-A224-3EE347C4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B36E2E5-4047-4C46-9736-C23675D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0893E4-DA68-4CDE-B8E9-C35BC77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6097DE-8866-4B82-84D8-69EFDE68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08669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7B08401-0FB6-4B19-9205-DD87BD70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3657A82-7BEA-4D77-B28A-E9D1433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7BB527C-764D-4977-8744-FD1677D73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7C5-F12D-4C69-9756-BCF883783F13}" type="datetimeFigureOut">
              <a:rPr lang="ar-AE" smtClean="0"/>
              <a:t>05/04/1448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7D04DED-DC42-4E86-A37B-1D09DFBF4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A7E708-5E1B-4186-8A23-00EAFDB37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57224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73351"/>
            <a:ext cx="8723376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800"/>
              </a:spcAft>
            </a:pPr>
            <a:r>
              <a:rPr lang="ar-AE" altLang="en-US" sz="1900" b="1" i="0">
                <a:solidFill>
                  <a:srgbClr val="6A1B9A"/>
                </a:solidFill>
                <a:latin typeface="Arial"/>
                <a:cs typeface="Arial"/>
              </a:rPr>
              <a:t>الحصة الرابعة  •  القسم الثاني  •  الصف التاسع (عام)</a:t>
            </a:r>
          </a:p>
          <a:p>
            <a:pPr algn="ctr" rtl="1">
              <a:spcAft>
                <a:spcPts val="800"/>
              </a:spcAft>
            </a:pPr>
            <a:r>
              <a:rPr lang="ar-AE" altLang="en-US" sz="3700" b="1" i="0">
                <a:solidFill>
                  <a:srgbClr val="143664"/>
                </a:solidFill>
                <a:latin typeface="Arial"/>
                <a:cs typeface="Arial"/>
              </a:rPr>
              <a:t>الأهرام البيئية وقاعدة الـ ١٠٪</a:t>
            </a:r>
          </a:p>
          <a:p>
            <a:pPr algn="ctr" rtl="1"/>
            <a:r>
              <a:rPr lang="ar-AE" altLang="en-US" sz="1800" b="0" i="0">
                <a:solidFill>
                  <a:srgbClr val="55667A"/>
                </a:solidFill>
                <a:latin typeface="Arial"/>
                <a:cs typeface="Arial"/>
              </a:rPr>
              <a:t>لماذا تتناقص الطاقة كلّما صعدنا في السلسلة الغذائية؟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190" y="4059935"/>
            <a:ext cx="1477455" cy="9966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قاعدة الهرم: المنتِجات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778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5264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مستهلك أول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7006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قمّة الهرم: مفترِس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262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500" y="4059935"/>
            <a:ext cx="1743355" cy="99669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58748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الأهرام الثلاثة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2e31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●  قواعد العمل الثنائي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نتّفق عليها قبل أن نبدأ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6355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97795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نجلس معًا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6083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كل طالبَين معًا على طاولة واحدة.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نبدأ العمل فور سماع الإشارة.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3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15783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صوت هادئ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نتحدّث بصوت يسمعه زميلي فقط.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ننصت لبعضنا دون مقاطعة.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1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33771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الجميع يشارك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59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لكلّ منّا دور واضح.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لا نترك زميلنا يعمل وحده.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19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51759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4.  نلتزم بالوقت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7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ننتهي قبل انتهاء المؤقّت.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نرفع أيدينا عند الانتهاء.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828032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6243A"/>
                </a:solidFill>
                <a:latin typeface="Arial"/>
                <a:cs typeface="Arial"/>
              </a:rPr>
              <a:t>★   الثنائي الملتزم يحصل على نجمة تقدير في نهاية الحصة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التهيئة الحافزة — سؤال اليوم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4778" y="2029968"/>
            <a:ext cx="4868997" cy="343814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19370" y="2157984"/>
            <a:ext cx="4539813" cy="31821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1400"/>
              </a:spcAft>
            </a:pPr>
            <a:r>
              <a:rPr lang="ar-AE" altLang="en-US" sz="2100" b="1" i="0">
                <a:solidFill>
                  <a:srgbClr val="143664"/>
                </a:solidFill>
                <a:latin typeface="Arial"/>
                <a:cs typeface="Arial"/>
              </a:rPr>
              <a:t>لماذا نرى في المحمية آلاف الأعشاب،
ومئات الغزلان، وأسدًا واحدًا فقط؟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لماذا لا نرى آلاف الأسود مثلما نرى آلاف الأعشاب؟</a:t>
            </a:r>
          </a:p>
          <a:p>
            <a:pPr algn="r" rtl="1"/>
            <a:r>
              <a:rPr lang="ar-AE" altLang="en-US" sz="1800" b="1" i="0">
                <a:solidFill>
                  <a:srgbClr val="6A1B9A"/>
                </a:solidFill>
                <a:latin typeface="Arial"/>
                <a:cs typeface="Arial"/>
              </a:rPr>
              <a:t>الإجابة ليست في المساحة ولا في الماء… بل في الطاقة!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029968"/>
            <a:ext cx="4293290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209619"/>
            <a:ext cx="4110410" cy="307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▶  شاهِد وفكّر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أثناء المشاهدة: كم نسبة الطاقة التي تنتقل بين المستويات؟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272" y="2331720"/>
            <a:ext cx="4289551" cy="2468879"/>
          </a:xfrm>
          <a:prstGeom prst="roundRect">
            <a:avLst>
              <a:gd name="adj" fmla="val 5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3" name="c4_pyrami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61280" y="2395728"/>
            <a:ext cx="4161535" cy="234086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◆   همسة ثنائية: أخبِر زميلك بالرقم الذي رأيته في كل مستوى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◎  هدف الدرس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350008"/>
            <a:ext cx="8357616" cy="169164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381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2500" b="1" i="0">
                <a:solidFill>
                  <a:srgbClr val="143664"/>
                </a:solidFill>
                <a:latin typeface="Arial"/>
                <a:cs typeface="Arial"/>
              </a:rPr>
              <a:t>أن أفسّر تناقص الطاقة عبر المستويات الغذائية باستعمال نماذج الأهرام البيئية.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315968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6A1B9A"/>
                </a:solidFill>
                <a:latin typeface="Arial"/>
                <a:cs typeface="Arial"/>
              </a:rPr>
              <a:t>✓   في نهاية الحصة سأكون قادرًا على تحقيق هذا الهدف بنفسي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نواتج التعلم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ثلاثة نواتج فقط — نقيس كلّ ناتج فور الانتهاء منه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أفسّر قاعدة الـ ١٠٪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كم تنتقل من الطاقة بين المستويات؟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وأين تذهب البقيّة؟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أقارن بين الأهرام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هرم الطاقة والكتلة الأحيائية والأعداد.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ماذا يقيس كلّ منها؟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أستنتج وأفسّر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لماذا السلاسل الغذائية قصيرة؟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ولماذا أعداد المفترسات قليلة؟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المفردات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نقرؤها معًا، ثم يشرحها كل طالب لزميله بلغته الخاصة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160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3312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الهرم البيئي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59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2E7D32"/>
                </a:solidFill>
                <a:latin typeface="Arial"/>
                <a:cs typeface="Arial"/>
              </a:rPr>
              <a:t>Ecological pyramid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مخطط يبيّن الكميات النسبية في المستويات الغذائية.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023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0339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هرم الطاقة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167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1E6FC4"/>
                </a:solidFill>
                <a:latin typeface="Arial"/>
                <a:cs typeface="Arial"/>
              </a:rPr>
              <a:t>Energy pyramid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يبيّن كمية الطاقة المتوافرة في كل مستوى.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3347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هرم الكتلة الأحيائية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5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00766E"/>
                </a:solidFill>
                <a:latin typeface="Arial"/>
                <a:cs typeface="Arial"/>
              </a:rPr>
              <a:t>Biomass pyramid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يبيّن كتلة المادة الحيّة في كل مستوى.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19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8835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هرم الأعداد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6A1B9A"/>
                </a:solidFill>
                <a:latin typeface="Arial"/>
                <a:cs typeface="Arial"/>
              </a:rPr>
              <a:t>Numbers pyramid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يبيّن عدد الكائنات الحيّة في كل مستوى.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19" y="4050791"/>
            <a:ext cx="4608576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633471" y="4123944"/>
            <a:ext cx="4462272" cy="420624"/>
          </a:xfrm>
          <a:prstGeom prst="roundRect">
            <a:avLst>
              <a:gd name="adj" fmla="val 2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الكتلة الأحيائية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59" y="4562856"/>
            <a:ext cx="442569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E68A00"/>
                </a:solidFill>
                <a:latin typeface="Arial"/>
                <a:cs typeface="Arial"/>
              </a:rPr>
              <a:t>Biomass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الكتلة الكلية للمادة الحيّة في مستوى غذائي.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①  الناتج الأول: قاعدة الـ ١٠٪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27164" y="2048256"/>
            <a:ext cx="2377440" cy="589788"/>
          </a:xfrm>
          <a:prstGeom prst="roundRect">
            <a:avLst>
              <a:gd name="adj" fmla="val 10000"/>
            </a:avLst>
          </a:prstGeom>
          <a:solidFill>
            <a:srgbClr val="C02B2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550" b="1" i="0">
                <a:solidFill>
                  <a:srgbClr val="FFFFFF"/>
                </a:solidFill>
                <a:latin typeface="Arial"/>
                <a:cs typeface="Arial"/>
              </a:rPr>
              <a:t>المستهلك الثالث</a:t>
            </a:r>
          </a:p>
          <a:p>
            <a:pPr algn="ctr" rtl="1"/>
            <a:r>
              <a:rPr lang="ar-AE" altLang="en-US" sz="1150" b="0" i="0">
                <a:solidFill>
                  <a:srgbClr val="FFFFFF"/>
                </a:solidFill>
                <a:latin typeface="Arial"/>
                <a:cs typeface="Arial"/>
              </a:rPr>
              <a:t>صقر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779" y="2087117"/>
            <a:ext cx="1783080" cy="51206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250" b="1" i="0">
                <a:solidFill>
                  <a:srgbClr val="16243A"/>
                </a:solidFill>
                <a:latin typeface="Arial"/>
                <a:cs typeface="Arial"/>
              </a:rPr>
              <a:t>١٠ وحدات</a:t>
            </a:r>
          </a:p>
          <a:p>
            <a:pPr algn="ctr" rtl="1"/>
            <a:r>
              <a:rPr lang="ar-AE" altLang="en-US" sz="1450" b="1" i="0">
                <a:solidFill>
                  <a:srgbClr val="C02B2B"/>
                </a:solidFill>
                <a:latin typeface="Arial"/>
                <a:cs typeface="Arial"/>
              </a:rPr>
              <a:t>٠.١٪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4684" y="2720340"/>
            <a:ext cx="3962399" cy="589788"/>
          </a:xfrm>
          <a:prstGeom prst="roundRect">
            <a:avLst>
              <a:gd name="adj" fmla="val 10000"/>
            </a:avLst>
          </a:prstGeom>
          <a:solidFill>
            <a:srgbClr val="E05B0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550" b="1" i="0">
                <a:solidFill>
                  <a:srgbClr val="FFFFFF"/>
                </a:solidFill>
                <a:latin typeface="Arial"/>
                <a:cs typeface="Arial"/>
              </a:rPr>
              <a:t>المستهلك الثاني</a:t>
            </a:r>
          </a:p>
          <a:p>
            <a:pPr algn="ctr" rtl="1"/>
            <a:r>
              <a:rPr lang="ar-AE" altLang="en-US" sz="1150" b="0" i="0">
                <a:solidFill>
                  <a:srgbClr val="FFFFFF"/>
                </a:solidFill>
                <a:latin typeface="Arial"/>
                <a:cs typeface="Arial"/>
              </a:rPr>
              <a:t>أفعى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5300" y="2759202"/>
            <a:ext cx="1783080" cy="51206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250" b="1" i="0">
                <a:solidFill>
                  <a:srgbClr val="16243A"/>
                </a:solidFill>
                <a:latin typeface="Arial"/>
                <a:cs typeface="Arial"/>
              </a:rPr>
              <a:t>١٠٠ وحدة</a:t>
            </a:r>
          </a:p>
          <a:p>
            <a:pPr algn="ctr" rtl="1"/>
            <a:r>
              <a:rPr lang="ar-AE" altLang="en-US" sz="1450" b="1" i="0">
                <a:solidFill>
                  <a:srgbClr val="E05B0B"/>
                </a:solidFill>
                <a:latin typeface="Arial"/>
                <a:cs typeface="Arial"/>
              </a:rPr>
              <a:t>١٪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2204" y="3392424"/>
            <a:ext cx="5547360" cy="589788"/>
          </a:xfrm>
          <a:prstGeom prst="roundRect">
            <a:avLst>
              <a:gd name="adj" fmla="val 10000"/>
            </a:avLst>
          </a:prstGeom>
          <a:solidFill>
            <a:srgbClr val="E68A00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550" b="1" i="0">
                <a:solidFill>
                  <a:srgbClr val="FFFFFF"/>
                </a:solidFill>
                <a:latin typeface="Arial"/>
                <a:cs typeface="Arial"/>
              </a:rPr>
              <a:t>المستهلك الأول</a:t>
            </a:r>
          </a:p>
          <a:p>
            <a:pPr algn="ctr" rtl="1"/>
            <a:r>
              <a:rPr lang="ar-AE" altLang="en-US" sz="1150" b="0" i="0">
                <a:solidFill>
                  <a:srgbClr val="FFFFFF"/>
                </a:solidFill>
                <a:latin typeface="Arial"/>
                <a:cs typeface="Arial"/>
              </a:rPr>
              <a:t>جرذ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2819" y="3431285"/>
            <a:ext cx="1783080" cy="51206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250" b="1" i="0">
                <a:solidFill>
                  <a:srgbClr val="16243A"/>
                </a:solidFill>
                <a:latin typeface="Arial"/>
                <a:cs typeface="Arial"/>
              </a:rPr>
              <a:t>١٠٠٠ وحدة</a:t>
            </a:r>
          </a:p>
          <a:p>
            <a:pPr algn="ctr" rtl="1"/>
            <a:r>
              <a:rPr lang="ar-AE" altLang="en-US" sz="1450" b="1" i="0">
                <a:solidFill>
                  <a:srgbClr val="E68A00"/>
                </a:solidFill>
                <a:latin typeface="Arial"/>
                <a:cs typeface="Arial"/>
              </a:rPr>
              <a:t>١٠٪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9724" y="4064508"/>
            <a:ext cx="7132319" cy="589788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550" b="1" i="0">
                <a:solidFill>
                  <a:srgbClr val="FFFFFF"/>
                </a:solidFill>
                <a:latin typeface="Arial"/>
                <a:cs typeface="Arial"/>
              </a:rPr>
              <a:t>المنتِجات</a:t>
            </a:r>
          </a:p>
          <a:p>
            <a:pPr algn="ctr" rtl="1"/>
            <a:r>
              <a:rPr lang="ar-AE" altLang="en-US" sz="1150" b="0" i="0">
                <a:solidFill>
                  <a:srgbClr val="FFFFFF"/>
                </a:solidFill>
                <a:latin typeface="Arial"/>
                <a:cs typeface="Arial"/>
              </a:rPr>
              <a:t>أعشاب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20339" y="4103370"/>
            <a:ext cx="1783080" cy="512064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100"/>
              </a:spcAft>
            </a:pPr>
            <a:r>
              <a:rPr lang="ar-AE" altLang="en-US" sz="1250" b="1" i="0">
                <a:solidFill>
                  <a:srgbClr val="16243A"/>
                </a:solidFill>
                <a:latin typeface="Arial"/>
                <a:cs typeface="Arial"/>
              </a:rPr>
              <a:t>١٠٠٠٠ وحدة</a:t>
            </a:r>
          </a:p>
          <a:p>
            <a:pPr algn="ctr" rtl="1"/>
            <a:r>
              <a:rPr lang="ar-AE" altLang="en-US" sz="1450" b="1" i="0">
                <a:solidFill>
                  <a:srgbClr val="2E7D32"/>
                </a:solidFill>
                <a:latin typeface="Arial"/>
                <a:cs typeface="Arial"/>
              </a:rPr>
              <a:t>١٠٠٪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4754880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C02B2B"/>
                </a:solidFill>
                <a:latin typeface="Arial"/>
                <a:cs typeface="Arial"/>
              </a:rPr>
              <a:t>!   ينتقل ١٠٪ فقط من الطاقة إلى المستوى التالي — وتُفقد ٩٠٪ حرارةً وحركةً وفضلات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الأول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تناوبا على الورقة نفسها: أنت تحسب، وأنا أتحقّق ثم نتبادل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تطبيق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45720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يحسب أحدكما مستوًى ويحسب الآخر المستوى الذي يليه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بدأ نظام بيئي بـ ٢٠٠٠٠ وحدة طاقة في المنتِجات.
١)  كم وحدة طاقة يحصل عليها المستهلك الأول؟
٢)  وكم يحصل عليها المستهلك الثاني؟
٣)  أين ذهبت بقيّة الطاقة؟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اكتبا خطوات الحساب لا الناتج فقط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الأول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المستهلك الأول:  ٢٠٠٠٠ × ١٠٪ = ٢٠٠٠ وحدة طاقة.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المستهلك الثاني:  ٢٠٠٠ × ١٠٪ = ٢٠٠ وحدة طاقة.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٣) فُقدت ٩٠٪ في كل مستوى على هيئة حرارة، وحركة وتنفّس، وفضلات غير مهضومة.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②  الناتج الثاني: الأهرام البيئية الثلاثة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ثلاثة نماذج تعرض الشيء نفسه بثلاث طرق مختلفة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5662" y="2377440"/>
            <a:ext cx="3558113" cy="3090672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30254" y="2505456"/>
            <a:ext cx="3228929" cy="283463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هرم الطاقة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يبيّن كمية الطاقة المتوافرة في كل مستوى غذائي.</a:t>
            </a:r>
          </a:p>
          <a:p>
            <a:pPr algn="r" rtl="1">
              <a:spcAft>
                <a:spcPts val="300"/>
              </a:spcAft>
            </a:pPr>
            <a:r>
              <a:rPr lang="ar-AE" altLang="en-US" sz="1700" b="1" i="0">
                <a:solidFill>
                  <a:srgbClr val="1E6FC4"/>
                </a:solidFill>
                <a:latin typeface="Arial"/>
                <a:cs typeface="Arial"/>
              </a:rPr>
              <a:t>هرم الكتلة الأحيائية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يبيّن كتلة المادة الحيّة التي يستهلكها المستوى الذي يعلوه.</a:t>
            </a:r>
          </a:p>
          <a:p>
            <a:pPr algn="r" rtl="1">
              <a:spcAft>
                <a:spcPts val="300"/>
              </a:spcAft>
            </a:pPr>
            <a:r>
              <a:rPr lang="ar-AE" altLang="en-US" sz="1700" b="1" i="0">
                <a:solidFill>
                  <a:srgbClr val="E05B0B"/>
                </a:solidFill>
                <a:latin typeface="Arial"/>
                <a:cs typeface="Arial"/>
              </a:rPr>
              <a:t>هرم الأعداد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يبيّن عدد الكائنات الحيّة في كل مستوى غذائي.</a:t>
            </a:r>
          </a:p>
          <a:p>
            <a:pPr algn="r" rtl="1"/>
            <a:r>
              <a:rPr lang="ar-AE" altLang="en-US" sz="1550" b="1" i="0">
                <a:solidFill>
                  <a:srgbClr val="143664"/>
                </a:solidFill>
                <a:latin typeface="Arial"/>
                <a:cs typeface="Arial"/>
              </a:rPr>
              <a:t>والنماذج الثلاثة جميعها تعرض كيفية انتقال المادة والطاقة عبر نظام بيئي.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377440"/>
            <a:ext cx="5604174" cy="3090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5" name="Picture 14" descr="image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47" y="2468880"/>
            <a:ext cx="5086120" cy="29077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B9B1BE-5DE6-471A-A4FC-43D8207D6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89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8D4FB-E0AF-439A-A43E-D9CC298CD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13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C201A0-8ED8-4362-91FB-3551A9EB7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75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الثاني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اكتبا اسم الهرم أمام كل حالة مع سبب قصير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تحليل + تقويم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45720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يختار أحدكما ويبرّر الآخر ثم تتبادلان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26792" y="3429000"/>
            <a:ext cx="9363456" cy="1488948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 dirty="0">
                <a:solidFill>
                  <a:srgbClr val="16243A"/>
                </a:solidFill>
                <a:latin typeface="Arial"/>
                <a:cs typeface="Arial"/>
              </a:rPr>
              <a:t>حدّدا الهرم المناسب لكل حالة:
١)  باحث يريد معرفة عدد الغزلان في المحمية.
٢)  باحث يريد معرفة كمية الطاقة المخزّنة في الأعشاب.
٣)  باحث يريد معرفة كتلة الطحالب في بحيرة.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6792" y="5175504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هرم الأعداد؛ لأنه يقيس عدد الكائنات الحيّة.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هرم الطاقة؛ لأنه يقيس كمية الطاقة المتوافرة في المستوى.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٣) هرم الكتلة الأحيائية؛ لأنه يقيس كتلة المادة الحيّة.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③  الناتج الثالث: لماذا السلاسل الغذائية قصيرة؟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2352" y="2075688"/>
            <a:ext cx="3011424" cy="233172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03792" y="216712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الطاقة تنفد سريعًا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2079" y="2715768"/>
            <a:ext cx="2791968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تُفقد ٩٠٪ من الطاقة في كل مستوى.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فلا تبقى طاقة كافية لمستوى خامس أو سادس.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36335" y="2075688"/>
            <a:ext cx="3011424" cy="233172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27775" y="216712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أعداد المفترسات قليلة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6063" y="2715768"/>
            <a:ext cx="2791968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الطاقة المتاحة في القمّة قليلة جدًّا.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فلا يعيش منها إلا عدد صغير.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19" y="2075688"/>
            <a:ext cx="3011424" cy="23317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51759" y="216712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القاعدة العريضة ضرورية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7" y="2715768"/>
            <a:ext cx="2791968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كل مستوى يحتاج إلى غذاء أكبر منه بعشر مرّات.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فالمنتِجات أكثر الكائنات عددًا وكتلة.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4517136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6A1B9A"/>
                </a:solidFill>
                <a:latin typeface="Arial"/>
                <a:cs typeface="Arial"/>
              </a:rPr>
              <a:t>◄   لهذا تتكوّن معظم السلاسل الغذائية من ٣ إلى ٥ مستويات غذائية فقط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الثالث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استعملا قاعدة الـ ١٠٪ في تفسيركما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تقويم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يكتب أحدكما التفسير ويضيف الآخر مثالًا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ادّعى أحد الطلاب أنه يمكن بناء سلسلة غذائية من عشرة مستويات غذائية.
هل تتّفقان معه؟  اكتبا رأيكما مع تفسير علمي واحد.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ابدآ إجابتكما بـ: لا نتّفق معه؛ لأنّ…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الثالث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لا نتّفق معه؛ لأن ١٠٪ فقط من الطاقة تنتقل إلى كل مستوى تالٍ.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فبعد أربعة أو خمسة مستويات لا تبقى طاقة كافية لإعالة مستوًى جديد.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مثال: ١٠٠٠٠ ← ١٠٠٠ ← ١٠٠ ← ١٠ ← ١ وحدة… ثم تنتهي الطاقة عمليًّا.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خلاصة القسم الثاني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ما تعلّمناه خلال أربع حصص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53243" y="2624328"/>
            <a:ext cx="1970532" cy="1508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8107" y="2679192"/>
            <a:ext cx="1860804" cy="13990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الطاقة والتغذية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الشمس والمنتِجات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9514332" y="3223260"/>
            <a:ext cx="384048" cy="310896"/>
          </a:xfrm>
          <a:prstGeom prst="lef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88935" y="2624328"/>
            <a:ext cx="1970532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43799" y="2679192"/>
            <a:ext cx="1860804" cy="13990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E05B0B"/>
                </a:solidFill>
                <a:latin typeface="Arial"/>
                <a:cs typeface="Arial"/>
              </a:rPr>
              <a:t>المستهلكات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والمحللات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7050023" y="3223260"/>
            <a:ext cx="384048" cy="310896"/>
          </a:xfrm>
          <a:prstGeom prst="lef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4627" y="2624328"/>
            <a:ext cx="1970532" cy="150876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79491" y="2679192"/>
            <a:ext cx="1860804" cy="13990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1E6FC4"/>
                </a:solidFill>
                <a:latin typeface="Arial"/>
                <a:cs typeface="Arial"/>
              </a:rPr>
              <a:t>السلاسل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والشبكات الغذائية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4585715" y="3223260"/>
            <a:ext cx="384048" cy="310896"/>
          </a:xfrm>
          <a:prstGeom prst="leftArrow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560319" y="2624328"/>
            <a:ext cx="1970532" cy="150876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615183" y="2679192"/>
            <a:ext cx="1860804" cy="13990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6A1B9A"/>
                </a:solidFill>
                <a:latin typeface="Arial"/>
                <a:cs typeface="Arial"/>
              </a:rPr>
              <a:t>الأهرام البيئية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وقاعدة ١٠٪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60320" y="4361688"/>
            <a:ext cx="9363456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6A1B9A"/>
                </a:solidFill>
                <a:latin typeface="Arial"/>
                <a:cs typeface="Arial"/>
              </a:rPr>
              <a:t>★   الفكرة الكبرى: الطاقة تنتقل في اتجاه واحد وتتناقص، أمّا المادة فيُعاد تدويرها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184648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✦   وكل كائن حيّ — مهما صغُر — له دور لا يُستغنى عنه في النظام البيئي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درسنا في بيئة الإمارات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نربط ما تعلّمناه بالبيئة المحلية من حولنا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هرم صحراوي إماراتي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القاعدة: أعشاب وشجر الغاف.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ثم الجربوع والأرانب البرية.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وفي القمّة: الصقر والنمر العربي.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لماذا المفترسات نادرة؟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النمر العربي والمها من الأنواع المهدّدة.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الطاقة المتاحة في قمّة الهرم قليلة.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فأعدادها قليلة بطبيعتها.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دور المحميّات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تحمي قاعدة الهرم (النباتات).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فتستقرّ المستويات التي تعلوها.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مثل محمية المرزوم وصير بني ياس.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50" b="1" i="0">
                <a:solidFill>
                  <a:srgbClr val="143664"/>
                </a:solidFill>
                <a:latin typeface="Arial"/>
                <a:cs typeface="Arial"/>
              </a:rPr>
              <a:t>✦   حماية النبات في المحميّات هي حماية للهرم البيئي كلّه — من قاعدته إلى قمّته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0156451" y="109811"/>
            <a:ext cx="1960345" cy="4705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C39B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أجوبة الأسئلة المهمة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144" y="628244"/>
            <a:ext cx="11893652" cy="6119945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- ما المنتجات والمستهلكات في نظام بيئي ما؟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المنتجات هي الكائنات التي تصنع غذائها بنفسها داخل اجسامها، اما المستهلكات هي الكائنات التي تتغذى على كائنات أخرى.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- كيف تنتقل الطاقة في نظام بيئي ما؟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تنتقل الطاقة في اتجاه واحد من مستوى الى اخر عبر النظام البيئي، وان كمية كبيرة منها تصبح غير </a:t>
            </a:r>
            <a:r>
              <a:rPr kumimoji="0" lang="ar-A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متوفره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عند كل مستوى غذائي.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- ما المقصود بالسلاسل الغذائية والشبكات الغذائية ونماذج الهرم البيئي؟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هرم الطاقة: يمثل كل مستوى غذائي كمية الطاقة </a:t>
            </a:r>
            <a:r>
              <a:rPr kumimoji="0" lang="ar-AE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المتوافره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فيه، ومع الارتفاع خطوة إلى أعلى يفقد ما نسبته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90%</a:t>
            </a: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من الطاقة.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هرم الكتلة الاحيائية: يمثل كل مستوى كمية الكتلة الاحيائية التي يستهلكها المستوى الذي يعلوه.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هرم الاعداد: يمثل كل مستوى في هرم الاعداد عدد الكائنات الحية التي يستهلكها المستوى الذي يعلوه</a:t>
            </a:r>
          </a:p>
        </p:txBody>
      </p:sp>
    </p:spTree>
    <p:extLst>
      <p:ext uri="{BB962C8B-B14F-4D97-AF65-F5344CB8AC3E}">
        <p14:creationId xmlns:p14="http://schemas.microsoft.com/office/powerpoint/2010/main" val="4039101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الدعم والإثراء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لكل طالب ما يناسبه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59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دعم إضافي — لمن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3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هرم مرسوم جاهز يكتب فيه الطالب الأرقام فقط.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آلة حاسبة لتسهيل عملية القسمة على ١٠.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مثال محلول أمام الطالب يحتذي به.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دقيقة إضافية في كل نشاط ثنائي.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70048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إثراء — لمن أنجز مبكرًا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احسب الطاقة في المستوى الخامس إذا بدأنا بـ ١٠٠٠٠٠ وحدة.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ابحث: لماذا يكون هرم الأعداد مقلوبًا أحيانًا (شجرة وعليها حشرات كثيرة)؟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صمّم هرم طاقة لنظام بيئي بحري في الخليج العربي.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◉  قيّم نفسك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ضع علامة أمام المستوى الذي وصلت إليه في كل ناتج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2450592"/>
            <a:ext cx="3931920" cy="475488"/>
          </a:xfrm>
          <a:prstGeom prst="roundRect">
            <a:avLst>
              <a:gd name="adj" fmla="val 22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ناتج التعلم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أتقنته تمامًا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تدريبًا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مساعدة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999232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أفسّر قاعدة الـ ١٠٪ وأحسب وفقها.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342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054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5" y="3712464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أقارن بين الأهرام البيئية الثلاثة.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42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054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91855" y="4425696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أستنتج سبب قِصَر السلاسل الغذائية.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342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054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▣  بطاقة الخروج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أجب في ورقتك ثم سلّمها لي عند الباب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85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الأول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0368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كم نسبة الطاقة التي تنتقل من مستوى غذائي إلى الذي يليه؟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نسبة مئوية واحدة.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857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351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إذا كانت طاقة المنتِجات ٥٠٠٠ وحدة، فكم يحصل المستهلك الأول؟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اكتب خطوة الحساب.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85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الثالث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5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لماذا تكون أعداد المفترسات في أعلى الهرم قليلة؟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سطر واحد.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الخميس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أفسّر قاعدة الـ ١٠٪.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أقارن بين الأهرام البيئية الثلاثة.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أستنتج سبب قِصَر السلاسل الغذائية.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الواجب المنزلي وختام الحصة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6A1B9A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1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52359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الواجب المنزلي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3" y="2743200"/>
            <a:ext cx="4251959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حلّ أسئلة تقويم القسم الثاني (٤ و٦) في الكتاب.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راجع مفردات القسم كاملة استعدادًا للاختبار القصير.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70048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في الحصة القادمة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779776"/>
            <a:ext cx="4251959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ar-AE" altLang="en-US" sz="1700" b="1" i="0">
                <a:solidFill>
                  <a:srgbClr val="143664"/>
                </a:solidFill>
                <a:latin typeface="Arial"/>
                <a:cs typeface="Arial"/>
              </a:rPr>
              <a:t>تقويم القسم الثاني
ومراجعة الوحدة الأولى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379976"/>
            <a:ext cx="9363456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★   أحسنتم خلال الأسبوع — أنتم علماء بيئة صغار!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2889</Words>
  <Application>Microsoft Office PowerPoint</Application>
  <PresentationFormat>Widescreen</PresentationFormat>
  <Paragraphs>428</Paragraphs>
  <Slides>27</Slides>
  <Notes>21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Mustafa</cp:lastModifiedBy>
  <cp:revision>10</cp:revision>
  <dcterms:created xsi:type="dcterms:W3CDTF">2013-01-27T09:14:16Z</dcterms:created>
  <dcterms:modified xsi:type="dcterms:W3CDTF">2026-09-17T03:11:37Z</dcterms:modified>
  <cp:category/>
</cp:coreProperties>
</file>