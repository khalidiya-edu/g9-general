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02A43"/>
                </a:solidFill>
                <a:latin typeface="Arial"/>
              </a:rPr>
              <a:t>تركيز ثاني أكسيد الكربون (جزء في المليون)</a:t>
            </a:r>
          </a:p>
        </c:rich>
      </c:tx>
      <c:layout/>
      <c:overlay val="0"/>
    </c:title>
    <c:autoTitleDeleted val="0"/>
    <c:plotArea>
      <c:lineChart>
        <c:grouping val="standard"/>
        <c:varyColors val="0"/>
        <c:ser>
          <c:idx val="0"/>
          <c:order val="0"/>
          <c:tx>
            <c:strRef>
              <c:f>Sheet1!$B$1</c:f>
              <c:strCache>
                <c:ptCount val="1"/>
                <c:pt idx="0">
                  <c:v>تركيز CO₂ (جزء في المليون)</c:v>
                </c:pt>
              </c:strCache>
            </c:strRef>
          </c:tx>
          <c:spPr>
            <a:ln w="44450">
              <a:solidFill>
                <a:srgbClr val="2E7D32"/>
              </a:solidFill>
            </a:ln>
          </c:spPr>
          <c:marker>
            <c:size val="8"/>
            <c:spPr>
              <a:solidFill>
                <a:srgbClr val="2E7D32"/>
              </a:solidFill>
            </c:spPr>
          </c:marker>
          <c:cat>
            <c:strRef>
              <c:f>Sheet1!$A$2:$A$9</c:f>
              <c:strCache>
                <c:ptCount val="8"/>
                <c:pt idx="0">
                  <c:v>1960</c:v>
                </c:pt>
                <c:pt idx="1">
                  <c:v>1970</c:v>
                </c:pt>
                <c:pt idx="2">
                  <c:v>1980</c:v>
                </c:pt>
                <c:pt idx="3">
                  <c:v>1990</c:v>
                </c:pt>
                <c:pt idx="4">
                  <c:v>2000</c:v>
                </c:pt>
                <c:pt idx="5">
                  <c:v>2010</c:v>
                </c:pt>
                <c:pt idx="6">
                  <c:v>2020</c:v>
                </c:pt>
                <c:pt idx="7">
                  <c:v>2024</c:v>
                </c:pt>
              </c:strCache>
            </c:strRef>
          </c:cat>
          <c:val>
            <c:numRef>
              <c:f>Sheet1!$B$2:$B$9</c:f>
              <c:numCache>
                <c:formatCode>General</c:formatCode>
                <c:ptCount val="8"/>
                <c:pt idx="0">
                  <c:v>317</c:v>
                </c:pt>
                <c:pt idx="1">
                  <c:v>326</c:v>
                </c:pt>
                <c:pt idx="2">
                  <c:v>339</c:v>
                </c:pt>
                <c:pt idx="3">
                  <c:v>354</c:v>
                </c:pt>
                <c:pt idx="4">
                  <c:v>370</c:v>
                </c:pt>
                <c:pt idx="5">
                  <c:v>390</c:v>
                </c:pt>
                <c:pt idx="6">
                  <c:v>414</c:v>
                </c:pt>
                <c:pt idx="7">
                  <c:v>425</c:v>
                </c:pt>
              </c:numCache>
            </c:numRef>
          </c:val>
          <c:smooth val="0"/>
        </c:ser>
        <c:dLbls>
          <c:txPr>
            <a:bodyPr/>
            <a:lstStyle/>
            <a:p>
              <a:pPr>
                <a:defRPr sz="1100" b="1">
                  <a:solidFill>
                    <a:srgbClr val="102A43"/>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9AA8BA"/>
            </a:solidFill>
          </a:ln>
        </c:spPr>
        <c:txPr>
          <a:bodyPr/>
          <a:lstStyle/>
          <a:p>
            <a:pPr>
              <a:defRPr sz="1100" b="1">
                <a:solidFill>
                  <a:srgbClr val="102A43"/>
                </a:solidFill>
              </a:defRPr>
            </a:pPr>
          </a:p>
        </c:txPr>
        <c:crossAx val="2140495176"/>
        <c:crosses val="autoZero"/>
        <c:auto val="1"/>
        <c:lblAlgn val="ctr"/>
        <c:lblOffset val="100"/>
        <c:noMultiLvlLbl val="0"/>
      </c:catAx>
      <c:valAx>
        <c:axId val="2140495176"/>
        <c:scaling>
          <c:max val="440.0"/>
          <c:min val="280.0"/>
        </c:scaling>
        <c:delete val="0"/>
        <c:axPos val="l"/>
        <c:majorGridlines>
          <c:spPr>
            <a:ln>
              <a:solidFill>
                <a:srgbClr val="E3E8EF"/>
              </a:solidFill>
            </a:ln>
          </c:spPr>
        </c:majorGridlines>
        <c:majorTickMark val="out"/>
        <c:minorTickMark val="none"/>
        <c:tickLblPos val="nextTo"/>
        <c:spPr>
          <a:ln>
            <a:noFill/>
          </a:ln>
        </c:spPr>
        <c:txPr>
          <a:bodyPr/>
          <a:lstStyle/>
          <a:p>
            <a:pPr>
              <a:defRPr sz="1100">
                <a:solidFill>
                  <a:srgbClr val="5A687D"/>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رحّب بالطلاب، وتأكد من جاهزية أدوات العرض العملي: ماء الجير الرائق، كأسان، ماصّات، خلّ، قطعة طباشير أو صدفة، نظارات واقية.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قيمتا اليوم: التفكير النقدي وروح المبادرة والمثابرة.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ذكّر بقوانين الصف، وخاصة الالتزام بتعليمات الأمن والسلامة (القانون 4) لأن لدينا عرضًا عمليًا اليوم.</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ذكّر بالأوسمة الخمسة التي ستتنافس عليها المجموعات.</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الإجابات: 1) صح  2) صح  3) خطأ – المياه العذبة نحو 3% فقط، ومعظمها متجمد. اضغط على الرقم لإظهار الإجابة.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عرض عملي يقوم به المعلم أو طالب متطوع (بإشراف). صوّتوا أولًا على التوقع، ثم نفّذ التجربة، ثم اضغط «النتيجة والتفسير» لإظهار الكأس الحليبية والتفسير. المعادلة (للمعلم): Ca(OH)₂ + CO₂ ← CaCO₃ + H₂O. هذه التجربة تهيّئ للناتجين الأول (التنفس) والثاني (الصخور الكلسية). إن لم يتوفر ماء الجير فاستخدم الصورة فقط.</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اسأل: «من خلال التهيئة، ماذا تتوقعون أن نتعلم اليوم؟» استمع لتوقعات 2–3 طلاب، ثم اضغط لإظهار الهدف، ثم اضغط مرة أخرى لإظهار النواتج. اقرأ كل ناتج واطلب من طالب أن يشرحه بلغته. تبقى النواتج ظاهرة في لوحة «نواتج التعلم» طوال الحصة، ويشير السهم الأحمر على هرم بلوم إلى مستوى كل نشاط.</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اعرض خط سير الحصة سريعًا.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اطلب من المجموعات توقّع المعنى قبل إظهاره. لاحظ أن «البناء الضوئي» و«التنفس الخلوي» عمليتان متعاكستان تقريبًا.</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اطلب من الطلاب مقارنة المعادلتين: ماذا تلاحظون؟ (نواتج البناء الضوئي هي متفاعلات التنفس والعكس). أكّد أن الكربون والأكسجين يتواجدان معًا في CO₂ والسكريات، وأن الحياة كما نعرفها لا يمكن أن توجد من دون الكربون والأكسجين (الثقافة المرئية – كتاب المعلم).</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فيديو قصير من إعداد المعلم (48 ثانية) يتتبّع ذرة كربون: الهواء ← أوراق الغاف (البناء الضوئي) ← مها (التغذّي) ← الهواء (التنفس)، ثم طريق طويل: الطمر ← الوقود الأحفوري ← الاحتراق. اضغط على الفيديو لتشغيله.</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تقويم تعاوني للناتج الأول. الإجابات: 1 الاحتراق، 2 ثاني أكسيد الكربون في الغلاف الجوي، 3 البناء الضوئي، 4 التنفس، 5 الموت والتحلل/الترسيب، 6 الوقود الأحفوري. سؤال الاختيار: البناء الضوئي. تحدي شاهين (سؤال حول الشكل 18): ينتقل الكربون عندما تحوّل المنتجات ثاني أكسيد الكربون إلى غذاء في البناء الضوئي.</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استراتيجية القراءة (النمذجة). هذه الشريحة بداية الناتج الثاني. اضغط على الرقم لإظهار الإجابة.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اربط بالواقع المحلي: جبل حفيت والنفط والغاز في الإمارات. العرض العملي: الخل (حمض) + كربونات الكالسيوم ← فقاعات CO₂. ربط بالتربية الإسلامية: الآية 80 من سورة يس – الطاقة المخزّنة في مركّبات الكربون بالنبات تتحرّر عند احتراقه.</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تقويم تعاوني للناتج الثاني. قصيرة المدى: الهواء، أوراق الغاف، جسم الغزالة. طويلة المدى: النفط، صخور جبل حفيت، الفحم. تحدي شاهين: لأنه يعيد إلى الهواء في سنوات قليلة كربونًا احتاج ملايين السنين ليُخزَّن.</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فيديو (دقيقة و8 ثوانٍ) من المنظمة العالمية للأرصاد الجوية. الإجابات: حرق الوقود الأحفوري وإزالة الغابات؛ من نحو 270 إلى 400 جزء في المليون؛ احترار الأرض وتغيّر المناخ وظواهر طقس متطرفة.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قيم المتوسط السنوي من NOAA (مرصد ماونا لوا، مقرّبة). الزيادة: 425 − 317 ≈ 108 جزءًا في المليون. تحدي شاهين (التفكير الناقد – كتاب المعلم): سيستمر تراكم CO₂ في الغلاف الجوي لغياب النباتات التي تمتصه في البناء الضوئي.</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اربط التعلم بالواقع المحلي والجهود الوطنية. اسأل: أيّ هذه الحلول يعالج الاحتراق؟ وأيّها يزيد البناء الضوئي؟ (الطاقة الشمسية تقلل الاحتراق، وأشجار القرم تزيد امتصاص CO₂).</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تقويم تعاوني للناتج الثالث بمستويات متدرجة (● ▲ ■). بعد انتهاء الوقت اعرض نموذج الإجابة، واطلب من المجموعات تقييم إجابات بعضها (تقييم الأقران).</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استخدم الشكل 18 للمراجعة: اطلب من طالب تتبّع مسار الكربون من الغلاف الجوي إلى الحيوانات ثم العودة.</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يرفع كل طالب عدد أصابع يعبّر عن مستواه في كل ناتج (1 أتقنته، 2 أحتاج إلى تدريب، 3 أحتاج إلى مساعدة). دوّن أسماء من يحتاجون إلى دعم للمتابعة في الحصة التالية وفي مهام منصة ألف.</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الإجابات: 1) سكر (كربوهيدرات)، البناء الضوئي. 2) (ج) الحجر الجيري. 3) تقلّ الأشجار التي تمتص CO₂ في البناء الضوئي، وقد يتحرّر كربونها عند حرقها أو تحلّلها. لأصحاب الهمم: اقرأ الأسئلة شفهيًا واقبل الإجابة بالإشارة إلى الصور.</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lgn="r"/>
            <a:r>
              <a:rPr lang="ar-AE">
                <a:cs typeface="Arial"/>
              </a:rPr>
              <a:t>أعلن المجموعات الفائزة بالأوسمة، واشكر الطلاب. ذكّر بالمهمة على المنصة. أغلق الحصة في الوقت المحدد.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5.png"/><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png"/><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23.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0.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1.png"/><Relationship Id="rId4" Type="http://schemas.microsoft.com/office/2007/relationships/media" Target="../media/media4.mp4"/><Relationship Id="rId5" Type="http://schemas.openxmlformats.org/officeDocument/2006/relationships/video" Target="../media/media4.mp4"/><Relationship Id="rId6" Type="http://schemas.openxmlformats.org/officeDocument/2006/relationships/image" Target="../media/image32.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32.png"/><Relationship Id="rId6" Type="http://schemas.openxmlformats.org/officeDocument/2006/relationships/image" Target="../media/image5.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7.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32.png"/><Relationship Id="rId6" Type="http://schemas.openxmlformats.org/officeDocument/2006/relationships/image" Target="../media/image6.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microsoft.com/office/2007/relationships/media" Target="../media/media5.mp4"/><Relationship Id="rId4" Type="http://schemas.openxmlformats.org/officeDocument/2006/relationships/video" Target="../media/media5.mp4"/><Relationship Id="rId5" Type="http://schemas.openxmlformats.org/officeDocument/2006/relationships/image" Target="../media/image36.png"/><Relationship Id="rId6" Type="http://schemas.openxmlformats.org/officeDocument/2006/relationships/image" Target="../media/image30.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chart" Target="../charts/chart1.xml"/><Relationship Id="rId4" Type="http://schemas.openxmlformats.org/officeDocument/2006/relationships/image" Target="../media/image37.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7.png"/><Relationship Id="rId4" Type="http://schemas.openxmlformats.org/officeDocument/2006/relationships/image" Target="../media/image38.png"/><Relationship Id="rId5" Type="http://schemas.openxmlformats.org/officeDocument/2006/relationships/image" Target="../media/image11.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32.png"/><Relationship Id="rId6" Type="http://schemas.openxmlformats.org/officeDocument/2006/relationships/image" Target="../media/image42.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32.png"/><Relationship Id="rId6" Type="http://schemas.openxmlformats.org/officeDocument/2006/relationships/image" Target="../media/image25.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47.png"/><Relationship Id="rId9"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fram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0" y="502920"/>
            <a:ext cx="6035040" cy="365760"/>
          </a:xfrm>
          <a:prstGeom prst="rect">
            <a:avLst/>
          </a:prstGeom>
          <a:noFill/>
        </p:spPr>
        <p:txBody>
          <a:bodyPr wrap="square" lIns="73152" rIns="73152" tIns="36576" bIns="36576" anchor="t"/>
          <a:lstStyle/>
          <a:p>
            <a:pPr algn="r" rtl="1"/>
            <a:r>
              <a:rPr sz="1400" b="1" i="0" lang="ar-AE" altLang="en-US">
                <a:solidFill>
                  <a:srgbClr val="5A687D"/>
                </a:solidFill>
                <a:latin typeface="Arial"/>
                <a:cs typeface="Arial"/>
              </a:rPr>
              <a:t>مدرسة الخالدية – الحلقة الثالثة بنين – الشرقية</a:t>
            </a:r>
          </a:p>
        </p:txBody>
      </p:sp>
      <p:sp>
        <p:nvSpPr>
          <p:cNvPr id="4" name="Rounded Rectangle 3"/>
          <p:cNvSpPr/>
          <p:nvPr/>
        </p:nvSpPr>
        <p:spPr>
          <a:xfrm>
            <a:off x="8732520" y="960120"/>
            <a:ext cx="2971800" cy="420624"/>
          </a:xfrm>
          <a:prstGeom prst="roundRect">
            <a:avLst>
              <a:gd name="adj" fmla="val 43478"/>
            </a:avLst>
          </a:prstGeom>
          <a:solidFill>
            <a:srgbClr val="102A43"/>
          </a:solidFill>
          <a:ln>
            <a:noFill/>
          </a:ln>
        </p:spPr>
        <p:txBody>
          <a:bodyPr rtlCol="0" anchor="ctr" lIns="73152" rIns="73152" tIns="36576" bIns="36576" wrap="square"/>
          <a:lstStyle/>
          <a:p>
            <a:pPr algn="ctr" rtl="1"/>
            <a:r>
              <a:rPr sz="1400" b="1" i="0" lang="ar-AE" altLang="en-US">
                <a:solidFill>
                  <a:srgbClr val="FFFFFF"/>
                </a:solidFill>
                <a:latin typeface="Arial"/>
                <a:cs typeface="Arial"/>
              </a:rPr>
              <a:t>العلوم | الصف التاسع العام</a:t>
            </a:r>
          </a:p>
        </p:txBody>
      </p:sp>
      <p:sp>
        <p:nvSpPr>
          <p:cNvPr id="5" name="TextBox 4"/>
          <p:cNvSpPr txBox="1"/>
          <p:nvPr/>
        </p:nvSpPr>
        <p:spPr>
          <a:xfrm>
            <a:off x="5120640" y="1481328"/>
            <a:ext cx="6583680" cy="960120"/>
          </a:xfrm>
          <a:prstGeom prst="rect">
            <a:avLst/>
          </a:prstGeom>
          <a:noFill/>
        </p:spPr>
        <p:txBody>
          <a:bodyPr wrap="square" lIns="73152" rIns="73152" tIns="36576" bIns="36576" anchor="ctr"/>
          <a:lstStyle/>
          <a:p>
            <a:pPr algn="r" rtl="1"/>
            <a:r>
              <a:rPr sz="6000" b="1" i="0" lang="ar-AE" altLang="en-US">
                <a:solidFill>
                  <a:srgbClr val="102A43"/>
                </a:solidFill>
                <a:latin typeface="Arial"/>
                <a:cs typeface="Arial"/>
              </a:rPr>
              <a:t>تدوير المادة</a:t>
            </a:r>
          </a:p>
        </p:txBody>
      </p:sp>
      <p:sp>
        <p:nvSpPr>
          <p:cNvPr id="6" name="TextBox 5"/>
          <p:cNvSpPr txBox="1"/>
          <p:nvPr/>
        </p:nvSpPr>
        <p:spPr>
          <a:xfrm>
            <a:off x="5120640" y="2468880"/>
            <a:ext cx="6583680" cy="594360"/>
          </a:xfrm>
          <a:prstGeom prst="rect">
            <a:avLst/>
          </a:prstGeom>
          <a:noFill/>
        </p:spPr>
        <p:txBody>
          <a:bodyPr wrap="square" lIns="73152" rIns="73152" tIns="36576" bIns="36576" anchor="ctr"/>
          <a:lstStyle/>
          <a:p>
            <a:pPr algn="r" rtl="1"/>
            <a:r>
              <a:rPr sz="2800" b="1" i="0" lang="ar-AE" altLang="en-US">
                <a:solidFill>
                  <a:srgbClr val="2E7D32"/>
                </a:solidFill>
                <a:latin typeface="Arial"/>
                <a:cs typeface="Arial"/>
              </a:rPr>
              <a:t>الحصة الثانية: دورتا الكربون والأكسجين</a:t>
            </a:r>
          </a:p>
        </p:txBody>
      </p:sp>
      <p:sp>
        <p:nvSpPr>
          <p:cNvPr id="7" name="TextBox 6"/>
          <p:cNvSpPr txBox="1"/>
          <p:nvPr/>
        </p:nvSpPr>
        <p:spPr>
          <a:xfrm>
            <a:off x="5120640" y="3072384"/>
            <a:ext cx="6583680" cy="411480"/>
          </a:xfrm>
          <a:prstGeom prst="rect">
            <a:avLst/>
          </a:prstGeom>
          <a:noFill/>
        </p:spPr>
        <p:txBody>
          <a:bodyPr wrap="square" lIns="73152" rIns="73152" tIns="36576" bIns="36576" anchor="ctr"/>
          <a:lstStyle/>
          <a:p>
            <a:pPr algn="r" rtl="1"/>
            <a:r>
              <a:rPr sz="1700" b="1" i="0" lang="ar-AE" altLang="en-US">
                <a:solidFill>
                  <a:srgbClr val="5A687D"/>
                </a:solidFill>
                <a:latin typeface="Arial"/>
                <a:cs typeface="Arial"/>
              </a:rPr>
              <a:t>الوحدة الأولى: مبادئ علم البيئة  |  القسم الثالث</a:t>
            </a:r>
          </a:p>
        </p:txBody>
      </p:sp>
      <p:sp>
        <p:nvSpPr>
          <p:cNvPr id="8" name="Rounded Rectangle 7"/>
          <p:cNvSpPr/>
          <p:nvPr/>
        </p:nvSpPr>
        <p:spPr>
          <a:xfrm>
            <a:off x="7086600" y="3675887"/>
            <a:ext cx="4617720" cy="512064"/>
          </a:xfrm>
          <a:prstGeom prst="roundRect">
            <a:avLst>
              <a:gd name="adj" fmla="val 50000"/>
            </a:avLst>
          </a:prstGeom>
          <a:solidFill>
            <a:srgbClr val="FFFFFF"/>
          </a:solidFill>
          <a:ln w="19050">
            <a:solidFill>
              <a:srgbClr val="C9A96A"/>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9" name="Picture 8" descr="clock_g.png"/>
          <p:cNvPicPr>
            <a:picLocks noChangeAspect="1"/>
          </p:cNvPicPr>
          <p:nvPr/>
        </p:nvPicPr>
        <p:blipFill>
          <a:blip r:embed="rId3"/>
          <a:stretch>
            <a:fillRect/>
          </a:stretch>
        </p:blipFill>
        <p:spPr>
          <a:xfrm>
            <a:off x="11265408" y="3767328"/>
            <a:ext cx="329184" cy="329184"/>
          </a:xfrm>
          <a:prstGeom prst="rect">
            <a:avLst/>
          </a:prstGeom>
        </p:spPr>
      </p:pic>
      <p:sp>
        <p:nvSpPr>
          <p:cNvPr id="10" name="TextBox 9"/>
          <p:cNvSpPr txBox="1"/>
          <p:nvPr/>
        </p:nvSpPr>
        <p:spPr>
          <a:xfrm>
            <a:off x="7132320" y="3675887"/>
            <a:ext cx="4069080" cy="512064"/>
          </a:xfrm>
          <a:prstGeom prst="rect">
            <a:avLst/>
          </a:prstGeom>
          <a:noFill/>
        </p:spPr>
        <p:txBody>
          <a:bodyPr wrap="none" lIns="73152" rIns="73152" tIns="36576" bIns="36576" anchor="ctr"/>
          <a:lstStyle/>
          <a:p>
            <a:pPr algn="ctr" rtl="1"/>
            <a:r>
              <a:rPr sz="1500" b="1" i="0" lang="ar-AE" altLang="en-US">
                <a:solidFill>
                  <a:srgbClr val="102A43"/>
                </a:solidFill>
                <a:latin typeface="Arial"/>
                <a:cs typeface="Arial"/>
              </a:rPr>
              <a:t>الحصة 2 من 4  •  </a:t>
            </a:r>
            <a:r>
              <a:rPr sz="1500" b="1" i="0" lang="ar-AE" altLang="en-US">
                <a:solidFill>
                  <a:srgbClr val="2E7D32"/>
                </a:solidFill>
                <a:latin typeface="Arial"/>
                <a:cs typeface="Arial"/>
              </a:rPr>
              <a:t>الثلاثاء  22/9/2026</a:t>
            </a:r>
          </a:p>
        </p:txBody>
      </p:sp>
      <p:sp>
        <p:nvSpPr>
          <p:cNvPr id="11" name="Rounded Rectangle 10"/>
          <p:cNvSpPr/>
          <p:nvPr/>
        </p:nvSpPr>
        <p:spPr>
          <a:xfrm>
            <a:off x="5120640" y="4370832"/>
            <a:ext cx="6583680" cy="822960"/>
          </a:xfrm>
          <a:prstGeom prst="roundRect">
            <a:avLst>
              <a:gd name="adj" fmla="val 16666"/>
            </a:avLst>
          </a:prstGeom>
          <a:solidFill>
            <a:srgbClr val="FBF5E8"/>
          </a:solidFill>
          <a:ln w="12700">
            <a:solidFill>
              <a:srgbClr val="E6D5B0"/>
            </a:solidFill>
          </a:ln>
        </p:spPr>
        <p:txBody>
          <a:bodyPr rtlCol="0" anchor="ctr" lIns="164592" rIns="164592" wrap="square"/>
          <a:lstStyle/>
          <a:p>
            <a:pPr algn="r" rtl="1"/>
            <a:r>
              <a:rPr sz="1600" b="1" i="0" lang="ar-AE" altLang="en-US">
                <a:solidFill>
                  <a:srgbClr val="102A43"/>
                </a:solidFill>
                <a:latin typeface="Arial"/>
                <a:cs typeface="Arial"/>
              </a:rPr>
              <a:t>تجربة اليوم: هل يمكن لنَفَسِك أن يصنع حجرًا؟ وماذا يربط أنفاسك بأوراق شجرة الغاف؟</a:t>
            </a:r>
          </a:p>
        </p:txBody>
      </p:sp>
      <p:sp>
        <p:nvSpPr>
          <p:cNvPr id="12" name="Oval 11"/>
          <p:cNvSpPr/>
          <p:nvPr/>
        </p:nvSpPr>
        <p:spPr>
          <a:xfrm>
            <a:off x="822960" y="1463039"/>
            <a:ext cx="3566160" cy="3566160"/>
          </a:xfrm>
          <a:prstGeom prst="ellipse">
            <a:avLst/>
          </a:prstGeom>
          <a:noFill/>
          <a:ln w="25400">
            <a:solidFill>
              <a:srgbClr val="D9C9A6"/>
            </a:solidFill>
          </a:ln>
        </p:spPr>
        <p:txBody>
          <a:bodyPr rtlCol="0" anchor="ctr" lIns="54864" rIns="54864" tIns="27432" bIns="27432"/>
          <a:lstStyle/>
          <a:p>
            <a:pPr algn="ctr"/>
          </a:p>
        </p:txBody>
      </p:sp>
      <p:sp>
        <p:nvSpPr>
          <p:cNvPr id="13" name="Oval 12"/>
          <p:cNvSpPr/>
          <p:nvPr/>
        </p:nvSpPr>
        <p:spPr>
          <a:xfrm>
            <a:off x="1124712" y="1764791"/>
            <a:ext cx="2962656" cy="2962656"/>
          </a:xfrm>
          <a:prstGeom prst="ellipse">
            <a:avLst/>
          </a:prstGeom>
          <a:noFill/>
          <a:ln w="38100">
            <a:solidFill>
              <a:srgbClr val="2E7D32"/>
            </a:solidFill>
          </a:ln>
        </p:spPr>
        <p:txBody>
          <a:bodyPr rtlCol="0" anchor="ctr" lIns="54864" rIns="54864" tIns="27432" bIns="27432"/>
          <a:lstStyle/>
          <a:p>
            <a:pPr algn="ctr"/>
          </a:p>
        </p:txBody>
      </p:sp>
      <p:sp>
        <p:nvSpPr>
          <p:cNvPr id="14" name="Oval 13"/>
          <p:cNvSpPr/>
          <p:nvPr/>
        </p:nvSpPr>
        <p:spPr>
          <a:xfrm>
            <a:off x="1581912" y="2221991"/>
            <a:ext cx="2048256" cy="2048256"/>
          </a:xfrm>
          <a:prstGeom prst="ellipse">
            <a:avLst/>
          </a:prstGeom>
          <a:solidFill>
            <a:srgbClr val="2E7D32"/>
          </a:solidFill>
          <a:ln>
            <a:no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15" name="Picture 14" descr="leaf_w.png"/>
          <p:cNvPicPr>
            <a:picLocks noChangeAspect="1"/>
          </p:cNvPicPr>
          <p:nvPr/>
        </p:nvPicPr>
        <p:blipFill>
          <a:blip r:embed="rId4"/>
          <a:stretch>
            <a:fillRect/>
          </a:stretch>
        </p:blipFill>
        <p:spPr>
          <a:xfrm>
            <a:off x="2039112" y="2679191"/>
            <a:ext cx="1133856" cy="1133856"/>
          </a:xfrm>
          <a:prstGeom prst="rect">
            <a:avLst/>
          </a:prstGeom>
        </p:spPr>
      </p:pic>
      <p:pic>
        <p:nvPicPr>
          <p:cNvPr id="16" name="Picture 15" descr="badge_fahem.png"/>
          <p:cNvPicPr>
            <a:picLocks noChangeAspect="1"/>
          </p:cNvPicPr>
          <p:nvPr/>
        </p:nvPicPr>
        <p:blipFill>
          <a:blip r:embed="rId5"/>
          <a:stretch>
            <a:fillRect/>
          </a:stretch>
        </p:blipFill>
        <p:spPr>
          <a:xfrm>
            <a:off x="2139696" y="948619"/>
            <a:ext cx="932688" cy="1028841"/>
          </a:xfrm>
          <a:prstGeom prst="rect">
            <a:avLst/>
          </a:prstGeom>
        </p:spPr>
      </p:pic>
      <p:pic>
        <p:nvPicPr>
          <p:cNvPr id="17" name="Picture 16" descr="badge_hessa.png"/>
          <p:cNvPicPr>
            <a:picLocks noChangeAspect="1"/>
          </p:cNvPicPr>
          <p:nvPr/>
        </p:nvPicPr>
        <p:blipFill>
          <a:blip r:embed="rId6"/>
          <a:stretch>
            <a:fillRect/>
          </a:stretch>
        </p:blipFill>
        <p:spPr>
          <a:xfrm>
            <a:off x="3835505" y="2211145"/>
            <a:ext cx="932688" cy="967944"/>
          </a:xfrm>
          <a:prstGeom prst="rect">
            <a:avLst/>
          </a:prstGeom>
        </p:spPr>
      </p:pic>
      <p:pic>
        <p:nvPicPr>
          <p:cNvPr id="18" name="Picture 17" descr="badge_shaheen.png"/>
          <p:cNvPicPr>
            <a:picLocks noChangeAspect="1"/>
          </p:cNvPicPr>
          <p:nvPr/>
        </p:nvPicPr>
        <p:blipFill>
          <a:blip r:embed="rId7"/>
          <a:stretch>
            <a:fillRect/>
          </a:stretch>
        </p:blipFill>
        <p:spPr>
          <a:xfrm>
            <a:off x="3187764" y="4206292"/>
            <a:ext cx="932688" cy="964739"/>
          </a:xfrm>
          <a:prstGeom prst="rect">
            <a:avLst/>
          </a:prstGeom>
        </p:spPr>
      </p:pic>
      <p:pic>
        <p:nvPicPr>
          <p:cNvPr id="19" name="Picture 18" descr="badge_maha.png"/>
          <p:cNvPicPr>
            <a:picLocks noChangeAspect="1"/>
          </p:cNvPicPr>
          <p:nvPr/>
        </p:nvPicPr>
        <p:blipFill>
          <a:blip r:embed="rId8"/>
          <a:stretch>
            <a:fillRect/>
          </a:stretch>
        </p:blipFill>
        <p:spPr>
          <a:xfrm>
            <a:off x="1091627" y="4153408"/>
            <a:ext cx="932688" cy="1070507"/>
          </a:xfrm>
          <a:prstGeom prst="rect">
            <a:avLst/>
          </a:prstGeom>
        </p:spPr>
      </p:pic>
      <p:pic>
        <p:nvPicPr>
          <p:cNvPr id="20" name="Picture 19" descr="badge_ahmed.png"/>
          <p:cNvPicPr>
            <a:picLocks noChangeAspect="1"/>
          </p:cNvPicPr>
          <p:nvPr/>
        </p:nvPicPr>
        <p:blipFill>
          <a:blip r:embed="rId9"/>
          <a:stretch>
            <a:fillRect/>
          </a:stretch>
        </p:blipFill>
        <p:spPr>
          <a:xfrm>
            <a:off x="443886" y="2201530"/>
            <a:ext cx="932688" cy="987174"/>
          </a:xfrm>
          <a:prstGeom prst="rect">
            <a:avLst/>
          </a:prstGeom>
        </p:spPr>
      </p:pic>
      <p:sp>
        <p:nvSpPr>
          <p:cNvPr id="21" name="TextBox 20"/>
          <p:cNvSpPr txBox="1"/>
          <p:nvPr/>
        </p:nvSpPr>
        <p:spPr>
          <a:xfrm>
            <a:off x="365760" y="5742432"/>
            <a:ext cx="4480560" cy="384048"/>
          </a:xfrm>
          <a:prstGeom prst="rect">
            <a:avLst/>
          </a:prstGeom>
          <a:noFill/>
        </p:spPr>
        <p:txBody>
          <a:bodyPr wrap="square" lIns="73152" rIns="73152" tIns="36576" bIns="36576" anchor="ctr"/>
          <a:lstStyle/>
          <a:p>
            <a:pPr algn="ctr" rtl="1"/>
            <a:r>
              <a:rPr sz="2000" b="1" i="0" lang="ar-AE" altLang="en-US">
                <a:solidFill>
                  <a:srgbClr val="9A7B3F"/>
                </a:solidFill>
                <a:latin typeface="Arial"/>
                <a:cs typeface="Arial"/>
              </a:rPr>
              <a:t>بالميثاق نبلغ الآفاق</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fram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286625" y="438150"/>
            <a:ext cx="4267200" cy="781050"/>
          </a:xfrm>
          <a:prstGeom prst="roundRect">
            <a:avLst>
              <a:gd name="adj" fmla="val 11707"/>
            </a:avLst>
          </a:prstGeom>
          <a:solidFill>
            <a:srgbClr val="102A43"/>
          </a:solidFill>
          <a:ln>
            <a:noFill/>
          </a:ln>
        </p:spPr>
        <p:txBody>
          <a:bodyPr rtlCol="0" anchor="ctr" lIns="54864" rIns="54864" tIns="27432" bIns="27432"/>
          <a:lstStyle/>
          <a:p>
            <a:pPr algn="ctr"/>
          </a:p>
        </p:txBody>
      </p:sp>
      <p:sp>
        <p:nvSpPr>
          <p:cNvPr id="4" name="Rectangle 3"/>
          <p:cNvSpPr/>
          <p:nvPr/>
        </p:nvSpPr>
        <p:spPr>
          <a:xfrm>
            <a:off x="7762875" y="1219200"/>
            <a:ext cx="3314700" cy="38100"/>
          </a:xfrm>
          <a:prstGeom prst="rect">
            <a:avLst/>
          </a:prstGeom>
          <a:solidFill>
            <a:srgbClr val="C8B08A"/>
          </a:solidFill>
          <a:ln>
            <a:noFill/>
          </a:ln>
        </p:spPr>
        <p:txBody>
          <a:bodyPr rtlCol="0" anchor="ctr" lIns="54864" rIns="54864" tIns="27432" bIns="27432"/>
          <a:lstStyle/>
          <a:p>
            <a:pPr algn="ctr"/>
          </a:p>
        </p:txBody>
      </p:sp>
      <p:sp>
        <p:nvSpPr>
          <p:cNvPr id="5" name="TextBox 4"/>
          <p:cNvSpPr txBox="1"/>
          <p:nvPr/>
        </p:nvSpPr>
        <p:spPr>
          <a:xfrm>
            <a:off x="7286625" y="438150"/>
            <a:ext cx="4267200" cy="781050"/>
          </a:xfrm>
          <a:prstGeom prst="rect">
            <a:avLst/>
          </a:prstGeom>
          <a:noFill/>
        </p:spPr>
        <p:txBody>
          <a:bodyPr wrap="square" lIns="45720" rIns="45720" tIns="0" bIns="0" anchor="ctr"/>
          <a:lstStyle/>
          <a:p>
            <a:pPr algn="ctr" rtl="1"/>
            <a:r>
              <a:rPr sz="2600" b="0" i="0" lang="ar-AE" altLang="en-US">
                <a:solidFill>
                  <a:srgbClr val="FFFFFF"/>
                </a:solidFill>
                <a:latin typeface="Arial"/>
                <a:cs typeface="Arial"/>
              </a:rPr>
              <a:t>الميثاق الوطني للتعليم</a:t>
            </a:r>
          </a:p>
        </p:txBody>
      </p:sp>
      <p:sp>
        <p:nvSpPr>
          <p:cNvPr id="6" name="TextBox 5"/>
          <p:cNvSpPr txBox="1"/>
          <p:nvPr/>
        </p:nvSpPr>
        <p:spPr>
          <a:xfrm>
            <a:off x="548640" y="566928"/>
            <a:ext cx="5943600" cy="457200"/>
          </a:xfrm>
          <a:prstGeom prst="rect">
            <a:avLst/>
          </a:prstGeom>
          <a:noFill/>
        </p:spPr>
        <p:txBody>
          <a:bodyPr wrap="square" lIns="73152" rIns="73152" tIns="36576" bIns="36576" anchor="ctr"/>
          <a:lstStyle/>
          <a:p>
            <a:pPr algn="r" rtl="1"/>
            <a:r>
              <a:rPr sz="1800" b="1" i="0" lang="ar-AE" altLang="en-US">
                <a:solidFill>
                  <a:srgbClr val="5A687D"/>
                </a:solidFill>
                <a:latin typeface="Arial"/>
                <a:cs typeface="Arial"/>
              </a:rPr>
              <a:t>قيمٌ نعيشها في حصتنا اليوم… بالميثاق نبلغ الآفاق</a:t>
            </a:r>
          </a:p>
        </p:txBody>
      </p:sp>
      <p:sp>
        <p:nvSpPr>
          <p:cNvPr id="7" name="Rounded Rectangle 6"/>
          <p:cNvSpPr/>
          <p:nvPr/>
        </p:nvSpPr>
        <p:spPr>
          <a:xfrm>
            <a:off x="7985455" y="1481328"/>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8" name="Oval 7"/>
          <p:cNvSpPr/>
          <p:nvPr/>
        </p:nvSpPr>
        <p:spPr>
          <a:xfrm>
            <a:off x="10545775" y="1682496"/>
            <a:ext cx="749808" cy="749808"/>
          </a:xfrm>
          <a:prstGeom prst="ellipse">
            <a:avLst/>
          </a:prstGeom>
          <a:solidFill>
            <a:srgbClr val="2E5D7B"/>
          </a:solidFill>
          <a:ln>
            <a:noFill/>
          </a:ln>
        </p:spPr>
        <p:txBody>
          <a:bodyPr rtlCol="0" anchor="ctr" lIns="54864" rIns="54864" tIns="27432" bIns="27432"/>
          <a:lstStyle/>
          <a:p>
            <a:pPr algn="ctr"/>
          </a:p>
        </p:txBody>
      </p:sp>
      <p:pic>
        <p:nvPicPr>
          <p:cNvPr id="9" name="Picture 8" descr="clip_w.png"/>
          <p:cNvPicPr>
            <a:picLocks noChangeAspect="1"/>
          </p:cNvPicPr>
          <p:nvPr/>
        </p:nvPicPr>
        <p:blipFill>
          <a:blip r:embed="rId3"/>
          <a:stretch>
            <a:fillRect/>
          </a:stretch>
        </p:blipFill>
        <p:spPr>
          <a:xfrm>
            <a:off x="10710732" y="1847453"/>
            <a:ext cx="419892" cy="419892"/>
          </a:xfrm>
          <a:prstGeom prst="rect">
            <a:avLst/>
          </a:prstGeom>
        </p:spPr>
      </p:pic>
      <p:sp>
        <p:nvSpPr>
          <p:cNvPr id="10" name="TextBox 9"/>
          <p:cNvSpPr txBox="1"/>
          <p:nvPr/>
        </p:nvSpPr>
        <p:spPr>
          <a:xfrm>
            <a:off x="8122615" y="1645920"/>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التنظيم الذاتي والانضباط</a:t>
            </a:r>
          </a:p>
        </p:txBody>
      </p:sp>
      <p:sp>
        <p:nvSpPr>
          <p:cNvPr id="11" name="TextBox 10"/>
          <p:cNvSpPr txBox="1"/>
          <p:nvPr/>
        </p:nvSpPr>
        <p:spPr>
          <a:xfrm>
            <a:off x="8150047" y="2414016"/>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نلتزم بتعليمات السلامة أثناء العرض العملي.</a:t>
            </a:r>
          </a:p>
        </p:txBody>
      </p:sp>
      <p:sp>
        <p:nvSpPr>
          <p:cNvPr id="12" name="Rounded Rectangle 11"/>
          <p:cNvSpPr/>
          <p:nvPr/>
        </p:nvSpPr>
        <p:spPr>
          <a:xfrm>
            <a:off x="4208983" y="1481328"/>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13" name="Oval 12"/>
          <p:cNvSpPr/>
          <p:nvPr/>
        </p:nvSpPr>
        <p:spPr>
          <a:xfrm>
            <a:off x="6769303" y="1682496"/>
            <a:ext cx="749808" cy="749808"/>
          </a:xfrm>
          <a:prstGeom prst="ellipse">
            <a:avLst/>
          </a:prstGeom>
          <a:solidFill>
            <a:srgbClr val="D9A21B"/>
          </a:solidFill>
          <a:ln>
            <a:noFill/>
          </a:ln>
        </p:spPr>
        <p:txBody>
          <a:bodyPr rtlCol="0" anchor="ctr" lIns="54864" rIns="54864" tIns="27432" bIns="27432"/>
          <a:lstStyle/>
          <a:p>
            <a:pPr algn="ctr"/>
          </a:p>
        </p:txBody>
      </p:sp>
      <p:pic>
        <p:nvPicPr>
          <p:cNvPr id="14" name="Picture 13" descr="bulb_w.png"/>
          <p:cNvPicPr>
            <a:picLocks noChangeAspect="1"/>
          </p:cNvPicPr>
          <p:nvPr/>
        </p:nvPicPr>
        <p:blipFill>
          <a:blip r:embed="rId4"/>
          <a:stretch>
            <a:fillRect/>
          </a:stretch>
        </p:blipFill>
        <p:spPr>
          <a:xfrm>
            <a:off x="6934260" y="1847453"/>
            <a:ext cx="419892" cy="419892"/>
          </a:xfrm>
          <a:prstGeom prst="rect">
            <a:avLst/>
          </a:prstGeom>
        </p:spPr>
      </p:pic>
      <p:sp>
        <p:nvSpPr>
          <p:cNvPr id="15" name="TextBox 14"/>
          <p:cNvSpPr txBox="1"/>
          <p:nvPr/>
        </p:nvSpPr>
        <p:spPr>
          <a:xfrm>
            <a:off x="4346143" y="1645920"/>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الإبداع</a:t>
            </a:r>
          </a:p>
        </p:txBody>
      </p:sp>
      <p:sp>
        <p:nvSpPr>
          <p:cNvPr id="16" name="TextBox 15"/>
          <p:cNvSpPr txBox="1"/>
          <p:nvPr/>
        </p:nvSpPr>
        <p:spPr>
          <a:xfrm>
            <a:off x="4373575" y="2414016"/>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نبتكر حلولًا لخفض انبعاثات الكربون في مدرستنا.</a:t>
            </a:r>
          </a:p>
        </p:txBody>
      </p:sp>
      <p:sp>
        <p:nvSpPr>
          <p:cNvPr id="17" name="Rounded Rectangle 16"/>
          <p:cNvSpPr/>
          <p:nvPr/>
        </p:nvSpPr>
        <p:spPr>
          <a:xfrm>
            <a:off x="432511" y="1481328"/>
            <a:ext cx="3520440" cy="1783080"/>
          </a:xfrm>
          <a:prstGeom prst="roundRect">
            <a:avLst>
              <a:gd name="adj" fmla="val 6153"/>
            </a:avLst>
          </a:prstGeom>
          <a:solidFill>
            <a:srgbClr val="FFFFFF"/>
          </a:solidFill>
          <a:ln w="31750">
            <a:solidFill>
              <a:srgbClr val="C9A96A"/>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18" name="Oval 17"/>
          <p:cNvSpPr/>
          <p:nvPr/>
        </p:nvSpPr>
        <p:spPr>
          <a:xfrm>
            <a:off x="2992831" y="1682496"/>
            <a:ext cx="749808" cy="749808"/>
          </a:xfrm>
          <a:prstGeom prst="ellipse">
            <a:avLst/>
          </a:prstGeom>
          <a:solidFill>
            <a:srgbClr val="C8102E"/>
          </a:solidFill>
          <a:ln>
            <a:noFill/>
          </a:ln>
        </p:spPr>
        <p:txBody>
          <a:bodyPr rtlCol="0" anchor="ctr" lIns="54864" rIns="54864" tIns="27432" bIns="27432"/>
          <a:lstStyle/>
          <a:p>
            <a:pPr algn="ctr"/>
          </a:p>
        </p:txBody>
      </p:sp>
      <p:pic>
        <p:nvPicPr>
          <p:cNvPr id="19" name="Picture 18" descr="flag_w.png"/>
          <p:cNvPicPr>
            <a:picLocks noChangeAspect="1"/>
          </p:cNvPicPr>
          <p:nvPr/>
        </p:nvPicPr>
        <p:blipFill>
          <a:blip r:embed="rId5"/>
          <a:stretch>
            <a:fillRect/>
          </a:stretch>
        </p:blipFill>
        <p:spPr>
          <a:xfrm>
            <a:off x="3157788" y="1847453"/>
            <a:ext cx="419892" cy="419892"/>
          </a:xfrm>
          <a:prstGeom prst="rect">
            <a:avLst/>
          </a:prstGeom>
        </p:spPr>
      </p:pic>
      <p:sp>
        <p:nvSpPr>
          <p:cNvPr id="20" name="TextBox 19"/>
          <p:cNvSpPr txBox="1"/>
          <p:nvPr/>
        </p:nvSpPr>
        <p:spPr>
          <a:xfrm>
            <a:off x="569671" y="1645920"/>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روح المبادرة والمثابرة</a:t>
            </a:r>
          </a:p>
        </p:txBody>
      </p:sp>
      <p:sp>
        <p:nvSpPr>
          <p:cNvPr id="21" name="TextBox 20"/>
          <p:cNvSpPr txBox="1"/>
          <p:nvPr/>
        </p:nvSpPr>
        <p:spPr>
          <a:xfrm>
            <a:off x="597103" y="2414016"/>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نتوقّع قبل التجربة، ونثابر حتى نصل إلى التفسير.</a:t>
            </a:r>
          </a:p>
        </p:txBody>
      </p:sp>
      <p:sp>
        <p:nvSpPr>
          <p:cNvPr id="22" name="Rounded Rectangle 21"/>
          <p:cNvSpPr/>
          <p:nvPr/>
        </p:nvSpPr>
        <p:spPr>
          <a:xfrm>
            <a:off x="542239" y="1316736"/>
            <a:ext cx="1234440" cy="329184"/>
          </a:xfrm>
          <a:prstGeom prst="roundRect">
            <a:avLst>
              <a:gd name="adj" fmla="val 50000"/>
            </a:avLst>
          </a:prstGeom>
          <a:solidFill>
            <a:srgbClr val="C9A96A"/>
          </a:solidFill>
          <a:ln>
            <a:noFill/>
          </a:ln>
        </p:spPr>
        <p:txBody>
          <a:bodyPr rtlCol="0" anchor="ctr" lIns="18288" rIns="18288" tIns="0" bIns="0" wrap="square"/>
          <a:lstStyle/>
          <a:p>
            <a:pPr algn="ctr" rtl="1"/>
            <a:r>
              <a:rPr sz="1150" b="1" i="0" lang="ar-AE" altLang="en-US">
                <a:solidFill>
                  <a:srgbClr val="102A43"/>
                </a:solidFill>
                <a:latin typeface="Arial"/>
                <a:cs typeface="Arial"/>
              </a:rPr>
              <a:t>★ قيمة اليوم</a:t>
            </a:r>
          </a:p>
        </p:txBody>
      </p:sp>
      <p:sp>
        <p:nvSpPr>
          <p:cNvPr id="23" name="Rounded Rectangle 22"/>
          <p:cNvSpPr/>
          <p:nvPr/>
        </p:nvSpPr>
        <p:spPr>
          <a:xfrm>
            <a:off x="7985455" y="3502152"/>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4" name="Oval 23"/>
          <p:cNvSpPr/>
          <p:nvPr/>
        </p:nvSpPr>
        <p:spPr>
          <a:xfrm>
            <a:off x="10545775" y="3703320"/>
            <a:ext cx="749808" cy="749808"/>
          </a:xfrm>
          <a:prstGeom prst="ellipse">
            <a:avLst/>
          </a:prstGeom>
          <a:solidFill>
            <a:srgbClr val="138955"/>
          </a:solidFill>
          <a:ln>
            <a:noFill/>
          </a:ln>
        </p:spPr>
        <p:txBody>
          <a:bodyPr rtlCol="0" anchor="ctr" lIns="54864" rIns="54864" tIns="27432" bIns="27432"/>
          <a:lstStyle/>
          <a:p>
            <a:pPr algn="ctr"/>
          </a:p>
        </p:txBody>
      </p:sp>
      <p:pic>
        <p:nvPicPr>
          <p:cNvPr id="25" name="Picture 24" descr="users_w.png"/>
          <p:cNvPicPr>
            <a:picLocks noChangeAspect="1"/>
          </p:cNvPicPr>
          <p:nvPr/>
        </p:nvPicPr>
        <p:blipFill>
          <a:blip r:embed="rId6"/>
          <a:stretch>
            <a:fillRect/>
          </a:stretch>
        </p:blipFill>
        <p:spPr>
          <a:xfrm>
            <a:off x="10710732" y="3868277"/>
            <a:ext cx="419892" cy="419892"/>
          </a:xfrm>
          <a:prstGeom prst="rect">
            <a:avLst/>
          </a:prstGeom>
        </p:spPr>
      </p:pic>
      <p:sp>
        <p:nvSpPr>
          <p:cNvPr id="26" name="TextBox 25"/>
          <p:cNvSpPr txBox="1"/>
          <p:nvPr/>
        </p:nvSpPr>
        <p:spPr>
          <a:xfrm>
            <a:off x="8122615" y="3666744"/>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العمل الجماعي</a:t>
            </a:r>
          </a:p>
        </p:txBody>
      </p:sp>
      <p:sp>
        <p:nvSpPr>
          <p:cNvPr id="27" name="TextBox 26"/>
          <p:cNvSpPr txBox="1"/>
          <p:nvPr/>
        </p:nvSpPr>
        <p:spPr>
          <a:xfrm>
            <a:off x="8150047" y="4434840"/>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نتعاون لنصل إلى إجابة واحدة يفهمها الجميع.</a:t>
            </a:r>
          </a:p>
        </p:txBody>
      </p:sp>
      <p:sp>
        <p:nvSpPr>
          <p:cNvPr id="28" name="Rounded Rectangle 27"/>
          <p:cNvSpPr/>
          <p:nvPr/>
        </p:nvSpPr>
        <p:spPr>
          <a:xfrm>
            <a:off x="4208983" y="3502152"/>
            <a:ext cx="3520440" cy="1783080"/>
          </a:xfrm>
          <a:prstGeom prst="roundRect">
            <a:avLst>
              <a:gd name="adj" fmla="val 6153"/>
            </a:avLst>
          </a:prstGeom>
          <a:solidFill>
            <a:srgbClr val="FFFFFF"/>
          </a:solidFill>
          <a:ln w="31750">
            <a:solidFill>
              <a:srgbClr val="C9A96A"/>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9" name="Oval 28"/>
          <p:cNvSpPr/>
          <p:nvPr/>
        </p:nvSpPr>
        <p:spPr>
          <a:xfrm>
            <a:off x="6769303" y="3703320"/>
            <a:ext cx="749808" cy="749808"/>
          </a:xfrm>
          <a:prstGeom prst="ellipse">
            <a:avLst/>
          </a:prstGeom>
          <a:solidFill>
            <a:srgbClr val="5B3B91"/>
          </a:solidFill>
          <a:ln>
            <a:noFill/>
          </a:ln>
        </p:spPr>
        <p:txBody>
          <a:bodyPr rtlCol="0" anchor="ctr" lIns="54864" rIns="54864" tIns="27432" bIns="27432"/>
          <a:lstStyle/>
          <a:p>
            <a:pPr algn="ctr"/>
          </a:p>
        </p:txBody>
      </p:sp>
      <p:pic>
        <p:nvPicPr>
          <p:cNvPr id="30" name="Picture 29" descr="brain_w.png"/>
          <p:cNvPicPr>
            <a:picLocks noChangeAspect="1"/>
          </p:cNvPicPr>
          <p:nvPr/>
        </p:nvPicPr>
        <p:blipFill>
          <a:blip r:embed="rId7"/>
          <a:stretch>
            <a:fillRect/>
          </a:stretch>
        </p:blipFill>
        <p:spPr>
          <a:xfrm>
            <a:off x="6934260" y="3868277"/>
            <a:ext cx="419892" cy="419892"/>
          </a:xfrm>
          <a:prstGeom prst="rect">
            <a:avLst/>
          </a:prstGeom>
        </p:spPr>
      </p:pic>
      <p:sp>
        <p:nvSpPr>
          <p:cNvPr id="31" name="TextBox 30"/>
          <p:cNvSpPr txBox="1"/>
          <p:nvPr/>
        </p:nvSpPr>
        <p:spPr>
          <a:xfrm>
            <a:off x="4346143" y="3666744"/>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التفكير النقدي</a:t>
            </a:r>
          </a:p>
        </p:txBody>
      </p:sp>
      <p:sp>
        <p:nvSpPr>
          <p:cNvPr id="32" name="TextBox 31"/>
          <p:cNvSpPr txBox="1"/>
          <p:nvPr/>
        </p:nvSpPr>
        <p:spPr>
          <a:xfrm>
            <a:off x="4373575" y="4434840"/>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نحلّل البيانات: لماذا ارتفع ثاني أكسيد الكربون في الهواء؟</a:t>
            </a:r>
          </a:p>
        </p:txBody>
      </p:sp>
      <p:sp>
        <p:nvSpPr>
          <p:cNvPr id="33" name="Rounded Rectangle 32"/>
          <p:cNvSpPr/>
          <p:nvPr/>
        </p:nvSpPr>
        <p:spPr>
          <a:xfrm>
            <a:off x="4318711" y="3337560"/>
            <a:ext cx="1234440" cy="329184"/>
          </a:xfrm>
          <a:prstGeom prst="roundRect">
            <a:avLst>
              <a:gd name="adj" fmla="val 50000"/>
            </a:avLst>
          </a:prstGeom>
          <a:solidFill>
            <a:srgbClr val="C9A96A"/>
          </a:solidFill>
          <a:ln>
            <a:noFill/>
          </a:ln>
        </p:spPr>
        <p:txBody>
          <a:bodyPr rtlCol="0" anchor="ctr" lIns="18288" rIns="18288" tIns="0" bIns="0" wrap="square"/>
          <a:lstStyle/>
          <a:p>
            <a:pPr algn="ctr" rtl="1"/>
            <a:r>
              <a:rPr sz="1150" b="1" i="0" lang="ar-AE" altLang="en-US">
                <a:solidFill>
                  <a:srgbClr val="102A43"/>
                </a:solidFill>
                <a:latin typeface="Arial"/>
                <a:cs typeface="Arial"/>
              </a:rPr>
              <a:t>★ قيمة اليوم</a:t>
            </a:r>
          </a:p>
        </p:txBody>
      </p:sp>
      <p:sp>
        <p:nvSpPr>
          <p:cNvPr id="34" name="Rounded Rectangle 33"/>
          <p:cNvSpPr/>
          <p:nvPr/>
        </p:nvSpPr>
        <p:spPr>
          <a:xfrm>
            <a:off x="432511" y="3502152"/>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35" name="Oval 34"/>
          <p:cNvSpPr/>
          <p:nvPr/>
        </p:nvSpPr>
        <p:spPr>
          <a:xfrm>
            <a:off x="2992831" y="3703320"/>
            <a:ext cx="749808" cy="749808"/>
          </a:xfrm>
          <a:prstGeom prst="ellipse">
            <a:avLst/>
          </a:prstGeom>
          <a:solidFill>
            <a:srgbClr val="996B2F"/>
          </a:solidFill>
          <a:ln>
            <a:noFill/>
          </a:ln>
        </p:spPr>
        <p:txBody>
          <a:bodyPr rtlCol="0" anchor="ctr" lIns="54864" rIns="54864" tIns="27432" bIns="27432"/>
          <a:lstStyle/>
          <a:p>
            <a:pPr algn="ctr"/>
          </a:p>
        </p:txBody>
      </p:sp>
      <p:pic>
        <p:nvPicPr>
          <p:cNvPr id="36" name="Picture 35" descr="grad_w.png"/>
          <p:cNvPicPr>
            <a:picLocks noChangeAspect="1"/>
          </p:cNvPicPr>
          <p:nvPr/>
        </p:nvPicPr>
        <p:blipFill>
          <a:blip r:embed="rId8"/>
          <a:stretch>
            <a:fillRect/>
          </a:stretch>
        </p:blipFill>
        <p:spPr>
          <a:xfrm>
            <a:off x="3157788" y="3868277"/>
            <a:ext cx="419892" cy="419892"/>
          </a:xfrm>
          <a:prstGeom prst="rect">
            <a:avLst/>
          </a:prstGeom>
        </p:spPr>
      </p:pic>
      <p:sp>
        <p:nvSpPr>
          <p:cNvPr id="37" name="TextBox 36"/>
          <p:cNvSpPr txBox="1"/>
          <p:nvPr/>
        </p:nvSpPr>
        <p:spPr>
          <a:xfrm>
            <a:off x="569671" y="3666744"/>
            <a:ext cx="2331720" cy="804672"/>
          </a:xfrm>
          <a:prstGeom prst="rect">
            <a:avLst/>
          </a:prstGeom>
          <a:noFill/>
        </p:spPr>
        <p:txBody>
          <a:bodyPr wrap="square" lIns="73152" rIns="73152" tIns="36576" bIns="36576" anchor="ctr"/>
          <a:lstStyle/>
          <a:p>
            <a:pPr algn="r" rtl="1"/>
            <a:r>
              <a:rPr sz="1800" b="1" i="0" lang="ar-AE" altLang="en-US">
                <a:solidFill>
                  <a:srgbClr val="102A43"/>
                </a:solidFill>
                <a:latin typeface="Arial"/>
                <a:cs typeface="Arial"/>
              </a:rPr>
              <a:t>التعلم المستمر</a:t>
            </a:r>
          </a:p>
        </p:txBody>
      </p:sp>
      <p:sp>
        <p:nvSpPr>
          <p:cNvPr id="38" name="TextBox 37"/>
          <p:cNvSpPr txBox="1"/>
          <p:nvPr/>
        </p:nvSpPr>
        <p:spPr>
          <a:xfrm>
            <a:off x="597103" y="4434840"/>
            <a:ext cx="3191256" cy="777240"/>
          </a:xfrm>
          <a:prstGeom prst="rect">
            <a:avLst/>
          </a:prstGeom>
          <a:noFill/>
        </p:spPr>
        <p:txBody>
          <a:bodyPr wrap="square" lIns="73152" rIns="73152" tIns="36576" bIns="36576" anchor="t"/>
          <a:lstStyle/>
          <a:p>
            <a:pPr algn="r" rtl="1"/>
            <a:r>
              <a:rPr sz="1300" b="1" i="0" lang="ar-AE" altLang="en-US">
                <a:solidFill>
                  <a:srgbClr val="4A5A70"/>
                </a:solidFill>
                <a:latin typeface="Arial"/>
                <a:cs typeface="Arial"/>
              </a:rPr>
              <a:t>نتعرّف مبادرات الإمارات نحو الحياد المناخي 2050.</a:t>
            </a:r>
          </a:p>
        </p:txBody>
      </p:sp>
      <p:pic>
        <p:nvPicPr>
          <p:cNvPr id="39" name="Picture 38" descr="group_chars_cream.png"/>
          <p:cNvPicPr>
            <a:picLocks noChangeAspect="1"/>
          </p:cNvPicPr>
          <p:nvPr/>
        </p:nvPicPr>
        <p:blipFill>
          <a:blip r:embed="rId9"/>
          <a:stretch>
            <a:fillRect/>
          </a:stretch>
        </p:blipFill>
        <p:spPr>
          <a:xfrm>
            <a:off x="274320" y="5440680"/>
            <a:ext cx="1207008" cy="1097280"/>
          </a:xfrm>
          <a:prstGeom prst="rect">
            <a:avLst/>
          </a:prstGeom>
        </p:spPr>
      </p:pic>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rule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fram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286625" y="438150"/>
            <a:ext cx="4267200" cy="781050"/>
          </a:xfrm>
          <a:prstGeom prst="roundRect">
            <a:avLst>
              <a:gd name="adj" fmla="val 11707"/>
            </a:avLst>
          </a:prstGeom>
          <a:solidFill>
            <a:srgbClr val="102A43"/>
          </a:solidFill>
          <a:ln>
            <a:noFill/>
          </a:ln>
        </p:spPr>
        <p:txBody>
          <a:bodyPr rtlCol="0" anchor="ctr" lIns="54864" rIns="54864" tIns="27432" bIns="27432"/>
          <a:lstStyle/>
          <a:p>
            <a:pPr algn="ctr"/>
          </a:p>
        </p:txBody>
      </p:sp>
      <p:sp>
        <p:nvSpPr>
          <p:cNvPr id="4" name="Rectangle 3"/>
          <p:cNvSpPr/>
          <p:nvPr/>
        </p:nvSpPr>
        <p:spPr>
          <a:xfrm>
            <a:off x="7762875" y="1219200"/>
            <a:ext cx="3314700" cy="38100"/>
          </a:xfrm>
          <a:prstGeom prst="rect">
            <a:avLst/>
          </a:prstGeom>
          <a:solidFill>
            <a:srgbClr val="C8B08A"/>
          </a:solidFill>
          <a:ln>
            <a:noFill/>
          </a:ln>
        </p:spPr>
        <p:txBody>
          <a:bodyPr rtlCol="0" anchor="ctr" lIns="54864" rIns="54864" tIns="27432" bIns="27432"/>
          <a:lstStyle/>
          <a:p>
            <a:pPr algn="ctr"/>
          </a:p>
        </p:txBody>
      </p:sp>
      <p:sp>
        <p:nvSpPr>
          <p:cNvPr id="5" name="TextBox 4"/>
          <p:cNvSpPr txBox="1"/>
          <p:nvPr/>
        </p:nvSpPr>
        <p:spPr>
          <a:xfrm>
            <a:off x="7286625" y="438150"/>
            <a:ext cx="4267200" cy="781050"/>
          </a:xfrm>
          <a:prstGeom prst="rect">
            <a:avLst/>
          </a:prstGeom>
          <a:noFill/>
        </p:spPr>
        <p:txBody>
          <a:bodyPr wrap="square" lIns="45720" rIns="45720" tIns="0" bIns="0" anchor="ctr"/>
          <a:lstStyle/>
          <a:p>
            <a:pPr algn="ctr" rtl="1"/>
            <a:r>
              <a:rPr sz="2600" b="0" i="0" lang="ar-AE" altLang="en-US">
                <a:solidFill>
                  <a:srgbClr val="FFFFFF"/>
                </a:solidFill>
                <a:latin typeface="Arial"/>
                <a:cs typeface="Arial"/>
              </a:rPr>
              <a:t>أوسمة أبطال الميثاق</a:t>
            </a:r>
          </a:p>
        </p:txBody>
      </p:sp>
      <p:sp>
        <p:nvSpPr>
          <p:cNvPr id="6" name="TextBox 5"/>
          <p:cNvSpPr txBox="1"/>
          <p:nvPr/>
        </p:nvSpPr>
        <p:spPr>
          <a:xfrm>
            <a:off x="548640" y="566928"/>
            <a:ext cx="6035040" cy="457200"/>
          </a:xfrm>
          <a:prstGeom prst="rect">
            <a:avLst/>
          </a:prstGeom>
          <a:noFill/>
        </p:spPr>
        <p:txBody>
          <a:bodyPr wrap="square" lIns="73152" rIns="73152" tIns="36576" bIns="36576" anchor="ctr"/>
          <a:lstStyle/>
          <a:p>
            <a:pPr algn="r" rtl="1"/>
            <a:r>
              <a:rPr sz="1800" b="1" i="0" lang="ar-AE" altLang="en-US">
                <a:solidFill>
                  <a:srgbClr val="5A687D"/>
                </a:solidFill>
                <a:latin typeface="Arial"/>
                <a:cs typeface="Arial"/>
              </a:rPr>
              <a:t>تتنافس المجموعات اليوم على خمسة أوسمة</a:t>
            </a:r>
          </a:p>
        </p:txBody>
      </p:sp>
      <p:sp>
        <p:nvSpPr>
          <p:cNvPr id="7" name="Rounded Rectangle 6"/>
          <p:cNvSpPr/>
          <p:nvPr/>
        </p:nvSpPr>
        <p:spPr>
          <a:xfrm>
            <a:off x="9579711"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8" name="Picture 7" descr="badge_hessa.png"/>
          <p:cNvPicPr>
            <a:picLocks noChangeAspect="1"/>
          </p:cNvPicPr>
          <p:nvPr/>
        </p:nvPicPr>
        <p:blipFill>
          <a:blip r:embed="rId3"/>
          <a:stretch>
            <a:fillRect/>
          </a:stretch>
        </p:blipFill>
        <p:spPr>
          <a:xfrm>
            <a:off x="9831171" y="1417320"/>
            <a:ext cx="1600200" cy="1660688"/>
          </a:xfrm>
          <a:prstGeom prst="rect">
            <a:avLst/>
          </a:prstGeom>
        </p:spPr>
      </p:pic>
      <p:sp>
        <p:nvSpPr>
          <p:cNvPr id="9" name="TextBox 8"/>
          <p:cNvSpPr txBox="1"/>
          <p:nvPr/>
        </p:nvSpPr>
        <p:spPr>
          <a:xfrm>
            <a:off x="9671151" y="3401568"/>
            <a:ext cx="1920239" cy="457200"/>
          </a:xfrm>
          <a:prstGeom prst="rect">
            <a:avLst/>
          </a:prstGeom>
          <a:noFill/>
        </p:spPr>
        <p:txBody>
          <a:bodyPr wrap="square" lIns="73152" rIns="73152" tIns="36576" bIns="36576" anchor="ctr"/>
          <a:lstStyle/>
          <a:p>
            <a:pPr algn="ctr" rtl="1"/>
            <a:r>
              <a:rPr sz="1900" b="1" i="0" lang="ar-AE" altLang="en-US">
                <a:solidFill>
                  <a:srgbClr val="7D1F2E"/>
                </a:solidFill>
                <a:latin typeface="Arial"/>
                <a:cs typeface="Arial"/>
              </a:rPr>
              <a:t>وسام حصة</a:t>
            </a:r>
          </a:p>
        </p:txBody>
      </p:sp>
      <p:sp>
        <p:nvSpPr>
          <p:cNvPr id="10" name="TextBox 9"/>
          <p:cNvSpPr txBox="1"/>
          <p:nvPr/>
        </p:nvSpPr>
        <p:spPr>
          <a:xfrm>
            <a:off x="9716871" y="3886200"/>
            <a:ext cx="1828799" cy="1371600"/>
          </a:xfrm>
          <a:prstGeom prst="rect">
            <a:avLst/>
          </a:prstGeom>
          <a:noFill/>
        </p:spPr>
        <p:txBody>
          <a:bodyPr wrap="square" lIns="73152" rIns="73152" tIns="36576" bIns="36576" anchor="t"/>
          <a:lstStyle/>
          <a:p>
            <a:pPr algn="ctr" rtl="1"/>
            <a:r>
              <a:rPr sz="1450" b="1" i="0" lang="ar-AE" altLang="en-US">
                <a:solidFill>
                  <a:srgbClr val="3E4C61"/>
                </a:solidFill>
                <a:latin typeface="Arial"/>
                <a:cs typeface="Arial"/>
              </a:rPr>
              <a:t>لأفضل تعاونٍ وعملٍ بروح الفريق</a:t>
            </a:r>
          </a:p>
        </p:txBody>
      </p:sp>
      <p:sp>
        <p:nvSpPr>
          <p:cNvPr id="11" name="Rounded Rectangle 10"/>
          <p:cNvSpPr/>
          <p:nvPr/>
        </p:nvSpPr>
        <p:spPr>
          <a:xfrm>
            <a:off x="7311999"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12" name="Picture 11" descr="badge_ahmed.png"/>
          <p:cNvPicPr>
            <a:picLocks noChangeAspect="1"/>
          </p:cNvPicPr>
          <p:nvPr/>
        </p:nvPicPr>
        <p:blipFill>
          <a:blip r:embed="rId4"/>
          <a:stretch>
            <a:fillRect/>
          </a:stretch>
        </p:blipFill>
        <p:spPr>
          <a:xfrm>
            <a:off x="7563459" y="1417320"/>
            <a:ext cx="1600200" cy="1693682"/>
          </a:xfrm>
          <a:prstGeom prst="rect">
            <a:avLst/>
          </a:prstGeom>
        </p:spPr>
      </p:pic>
      <p:sp>
        <p:nvSpPr>
          <p:cNvPr id="13" name="TextBox 12"/>
          <p:cNvSpPr txBox="1"/>
          <p:nvPr/>
        </p:nvSpPr>
        <p:spPr>
          <a:xfrm>
            <a:off x="7403439" y="3401568"/>
            <a:ext cx="1920239" cy="457200"/>
          </a:xfrm>
          <a:prstGeom prst="rect">
            <a:avLst/>
          </a:prstGeom>
          <a:noFill/>
        </p:spPr>
        <p:txBody>
          <a:bodyPr wrap="square" lIns="73152" rIns="73152" tIns="36576" bIns="36576" anchor="ctr"/>
          <a:lstStyle/>
          <a:p>
            <a:pPr algn="ctr" rtl="1"/>
            <a:r>
              <a:rPr sz="1900" b="1" i="0" lang="ar-AE" altLang="en-US">
                <a:solidFill>
                  <a:srgbClr val="1C2F5E"/>
                </a:solidFill>
                <a:latin typeface="Arial"/>
                <a:cs typeface="Arial"/>
              </a:rPr>
              <a:t>وسام أحمد</a:t>
            </a:r>
          </a:p>
        </p:txBody>
      </p:sp>
      <p:sp>
        <p:nvSpPr>
          <p:cNvPr id="14" name="TextBox 13"/>
          <p:cNvSpPr txBox="1"/>
          <p:nvPr/>
        </p:nvSpPr>
        <p:spPr>
          <a:xfrm>
            <a:off x="7449159" y="3886200"/>
            <a:ext cx="1828799" cy="1371600"/>
          </a:xfrm>
          <a:prstGeom prst="rect">
            <a:avLst/>
          </a:prstGeom>
          <a:noFill/>
        </p:spPr>
        <p:txBody>
          <a:bodyPr wrap="square" lIns="73152" rIns="73152" tIns="36576" bIns="36576" anchor="t"/>
          <a:lstStyle/>
          <a:p>
            <a:pPr algn="ctr" rtl="1"/>
            <a:r>
              <a:rPr sz="1450" b="1" i="0" lang="ar-AE" altLang="en-US">
                <a:solidFill>
                  <a:srgbClr val="3E4C61"/>
                </a:solidFill>
                <a:latin typeface="Arial"/>
                <a:cs typeface="Arial"/>
              </a:rPr>
              <a:t>للالتزام بالوقت والانضباط</a:t>
            </a:r>
          </a:p>
        </p:txBody>
      </p:sp>
      <p:sp>
        <p:nvSpPr>
          <p:cNvPr id="15" name="Rounded Rectangle 14"/>
          <p:cNvSpPr/>
          <p:nvPr/>
        </p:nvSpPr>
        <p:spPr>
          <a:xfrm>
            <a:off x="5044287"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16" name="Picture 15" descr="badge_fahem.png"/>
          <p:cNvPicPr>
            <a:picLocks noChangeAspect="1"/>
          </p:cNvPicPr>
          <p:nvPr/>
        </p:nvPicPr>
        <p:blipFill>
          <a:blip r:embed="rId5"/>
          <a:stretch>
            <a:fillRect/>
          </a:stretch>
        </p:blipFill>
        <p:spPr>
          <a:xfrm>
            <a:off x="5295747" y="1417320"/>
            <a:ext cx="1600200" cy="1765169"/>
          </a:xfrm>
          <a:prstGeom prst="rect">
            <a:avLst/>
          </a:prstGeom>
        </p:spPr>
      </p:pic>
      <p:sp>
        <p:nvSpPr>
          <p:cNvPr id="17" name="TextBox 16"/>
          <p:cNvSpPr txBox="1"/>
          <p:nvPr/>
        </p:nvSpPr>
        <p:spPr>
          <a:xfrm>
            <a:off x="5135727" y="3401568"/>
            <a:ext cx="1920239" cy="457200"/>
          </a:xfrm>
          <a:prstGeom prst="rect">
            <a:avLst/>
          </a:prstGeom>
          <a:noFill/>
        </p:spPr>
        <p:txBody>
          <a:bodyPr wrap="square" lIns="73152" rIns="73152" tIns="36576" bIns="36576" anchor="ctr"/>
          <a:lstStyle/>
          <a:p>
            <a:pPr algn="ctr" rtl="1"/>
            <a:r>
              <a:rPr sz="1900" b="1" i="0" lang="ar-AE" altLang="en-US">
                <a:solidFill>
                  <a:srgbClr val="1E6B3A"/>
                </a:solidFill>
                <a:latin typeface="Arial"/>
                <a:cs typeface="Arial"/>
              </a:rPr>
              <a:t>وسام فاهم</a:t>
            </a:r>
          </a:p>
        </p:txBody>
      </p:sp>
      <p:sp>
        <p:nvSpPr>
          <p:cNvPr id="18" name="TextBox 17"/>
          <p:cNvSpPr txBox="1"/>
          <p:nvPr/>
        </p:nvSpPr>
        <p:spPr>
          <a:xfrm>
            <a:off x="5181447" y="3886200"/>
            <a:ext cx="1828799" cy="1371600"/>
          </a:xfrm>
          <a:prstGeom prst="rect">
            <a:avLst/>
          </a:prstGeom>
          <a:noFill/>
        </p:spPr>
        <p:txBody>
          <a:bodyPr wrap="square" lIns="73152" rIns="73152" tIns="36576" bIns="36576" anchor="t"/>
          <a:lstStyle/>
          <a:p>
            <a:pPr algn="ctr" rtl="1"/>
            <a:r>
              <a:rPr sz="1450" b="1" i="0" lang="ar-AE" altLang="en-US">
                <a:solidFill>
                  <a:srgbClr val="3E4C61"/>
                </a:solidFill>
                <a:latin typeface="Arial"/>
                <a:cs typeface="Arial"/>
              </a:rPr>
              <a:t>للفكرة المبتكرة والسؤال الذكي</a:t>
            </a:r>
          </a:p>
        </p:txBody>
      </p:sp>
      <p:sp>
        <p:nvSpPr>
          <p:cNvPr id="19" name="Rounded Rectangle 18"/>
          <p:cNvSpPr/>
          <p:nvPr/>
        </p:nvSpPr>
        <p:spPr>
          <a:xfrm>
            <a:off x="2776575"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20" name="Picture 19" descr="badge_shaheen.png"/>
          <p:cNvPicPr>
            <a:picLocks noChangeAspect="1"/>
          </p:cNvPicPr>
          <p:nvPr/>
        </p:nvPicPr>
        <p:blipFill>
          <a:blip r:embed="rId6"/>
          <a:stretch>
            <a:fillRect/>
          </a:stretch>
        </p:blipFill>
        <p:spPr>
          <a:xfrm>
            <a:off x="3028035" y="1417320"/>
            <a:ext cx="1600200" cy="1655189"/>
          </a:xfrm>
          <a:prstGeom prst="rect">
            <a:avLst/>
          </a:prstGeom>
        </p:spPr>
      </p:pic>
      <p:sp>
        <p:nvSpPr>
          <p:cNvPr id="21" name="TextBox 20"/>
          <p:cNvSpPr txBox="1"/>
          <p:nvPr/>
        </p:nvSpPr>
        <p:spPr>
          <a:xfrm>
            <a:off x="2868015" y="3401568"/>
            <a:ext cx="1920239" cy="457200"/>
          </a:xfrm>
          <a:prstGeom prst="rect">
            <a:avLst/>
          </a:prstGeom>
          <a:noFill/>
        </p:spPr>
        <p:txBody>
          <a:bodyPr wrap="square" lIns="73152" rIns="73152" tIns="36576" bIns="36576" anchor="ctr"/>
          <a:lstStyle/>
          <a:p>
            <a:pPr algn="ctr" rtl="1"/>
            <a:r>
              <a:rPr sz="1900" b="1" i="0" lang="ar-AE" altLang="en-US">
                <a:solidFill>
                  <a:srgbClr val="6B3F1D"/>
                </a:solidFill>
                <a:latin typeface="Arial"/>
                <a:cs typeface="Arial"/>
              </a:rPr>
              <a:t>وسام شاهين</a:t>
            </a:r>
          </a:p>
        </p:txBody>
      </p:sp>
      <p:sp>
        <p:nvSpPr>
          <p:cNvPr id="22" name="TextBox 21"/>
          <p:cNvSpPr txBox="1"/>
          <p:nvPr/>
        </p:nvSpPr>
        <p:spPr>
          <a:xfrm>
            <a:off x="2913735" y="3886200"/>
            <a:ext cx="1828799" cy="1371600"/>
          </a:xfrm>
          <a:prstGeom prst="rect">
            <a:avLst/>
          </a:prstGeom>
          <a:noFill/>
        </p:spPr>
        <p:txBody>
          <a:bodyPr wrap="square" lIns="73152" rIns="73152" tIns="36576" bIns="36576" anchor="t"/>
          <a:lstStyle/>
          <a:p>
            <a:pPr algn="ctr" rtl="1"/>
            <a:r>
              <a:rPr sz="1450" b="1" i="0" lang="ar-AE" altLang="en-US">
                <a:solidFill>
                  <a:srgbClr val="3E4C61"/>
                </a:solidFill>
                <a:latin typeface="Arial"/>
                <a:cs typeface="Arial"/>
              </a:rPr>
              <a:t>لمن يتحدّى نفسه في سؤال التحدّي</a:t>
            </a:r>
          </a:p>
        </p:txBody>
      </p:sp>
      <p:sp>
        <p:nvSpPr>
          <p:cNvPr id="23" name="Rounded Rectangle 22"/>
          <p:cNvSpPr/>
          <p:nvPr/>
        </p:nvSpPr>
        <p:spPr>
          <a:xfrm>
            <a:off x="508863"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24" name="Picture 23" descr="badge_maha.png"/>
          <p:cNvPicPr>
            <a:picLocks noChangeAspect="1"/>
          </p:cNvPicPr>
          <p:nvPr/>
        </p:nvPicPr>
        <p:blipFill>
          <a:blip r:embed="rId7"/>
          <a:stretch>
            <a:fillRect/>
          </a:stretch>
        </p:blipFill>
        <p:spPr>
          <a:xfrm>
            <a:off x="760323" y="1417320"/>
            <a:ext cx="1600200" cy="1836655"/>
          </a:xfrm>
          <a:prstGeom prst="rect">
            <a:avLst/>
          </a:prstGeom>
        </p:spPr>
      </p:pic>
      <p:sp>
        <p:nvSpPr>
          <p:cNvPr id="25" name="TextBox 24"/>
          <p:cNvSpPr txBox="1"/>
          <p:nvPr/>
        </p:nvSpPr>
        <p:spPr>
          <a:xfrm>
            <a:off x="600303" y="3401568"/>
            <a:ext cx="1920239" cy="457200"/>
          </a:xfrm>
          <a:prstGeom prst="rect">
            <a:avLst/>
          </a:prstGeom>
          <a:noFill/>
        </p:spPr>
        <p:txBody>
          <a:bodyPr wrap="square" lIns="73152" rIns="73152" tIns="36576" bIns="36576" anchor="ctr"/>
          <a:lstStyle/>
          <a:p>
            <a:pPr algn="ctr" rtl="1"/>
            <a:r>
              <a:rPr sz="1900" b="1" i="0" lang="ar-AE" altLang="en-US">
                <a:solidFill>
                  <a:srgbClr val="0F7C73"/>
                </a:solidFill>
                <a:latin typeface="Arial"/>
                <a:cs typeface="Arial"/>
              </a:rPr>
              <a:t>وسام مها</a:t>
            </a:r>
          </a:p>
        </p:txBody>
      </p:sp>
      <p:sp>
        <p:nvSpPr>
          <p:cNvPr id="26" name="TextBox 25"/>
          <p:cNvSpPr txBox="1"/>
          <p:nvPr/>
        </p:nvSpPr>
        <p:spPr>
          <a:xfrm>
            <a:off x="646023" y="3886200"/>
            <a:ext cx="1828799" cy="1371600"/>
          </a:xfrm>
          <a:prstGeom prst="rect">
            <a:avLst/>
          </a:prstGeom>
          <a:noFill/>
        </p:spPr>
        <p:txBody>
          <a:bodyPr wrap="square" lIns="73152" rIns="73152" tIns="36576" bIns="36576" anchor="t"/>
          <a:lstStyle/>
          <a:p>
            <a:pPr algn="ctr" rtl="1"/>
            <a:r>
              <a:rPr sz="1450" b="1" i="0" lang="ar-AE" altLang="en-US">
                <a:solidFill>
                  <a:srgbClr val="3E4C61"/>
                </a:solidFill>
                <a:latin typeface="Arial"/>
                <a:cs typeface="Arial"/>
              </a:rPr>
              <a:t>لأفضل حلٍّ بيئي مستدام</a:t>
            </a:r>
          </a:p>
        </p:txBody>
      </p:sp>
      <p:sp>
        <p:nvSpPr>
          <p:cNvPr id="27" name="TextBox 26"/>
          <p:cNvSpPr txBox="1"/>
          <p:nvPr/>
        </p:nvSpPr>
        <p:spPr>
          <a:xfrm>
            <a:off x="2011680" y="5074920"/>
            <a:ext cx="8138160" cy="457200"/>
          </a:xfrm>
          <a:prstGeom prst="rect">
            <a:avLst/>
          </a:prstGeom>
          <a:noFill/>
        </p:spPr>
        <p:txBody>
          <a:bodyPr wrap="square" lIns="73152" rIns="73152" tIns="36576" bIns="36576" anchor="ctr"/>
          <a:lstStyle/>
          <a:p>
            <a:pPr algn="ctr" rtl="1"/>
            <a:r>
              <a:rPr sz="1700" b="1" i="0" lang="ar-AE" altLang="en-US">
                <a:solidFill>
                  <a:srgbClr val="102A43"/>
                </a:solidFill>
                <a:latin typeface="Arial"/>
                <a:cs typeface="Arial"/>
              </a:rPr>
              <a:t>في نهاية الحصة نعلن المجموعات الفائزة بالأوسمة ★</a:t>
            </a:r>
          </a:p>
        </p:txBody>
      </p:sp>
      <p:pic>
        <p:nvPicPr>
          <p:cNvPr id="28" name="Picture 27" descr="group_chars_cream.png"/>
          <p:cNvPicPr>
            <a:picLocks noChangeAspect="1"/>
          </p:cNvPicPr>
          <p:nvPr/>
        </p:nvPicPr>
        <p:blipFill>
          <a:blip r:embed="rId8"/>
          <a:stretch>
            <a:fillRect/>
          </a:stretch>
        </p:blipFill>
        <p:spPr>
          <a:xfrm>
            <a:off x="274320" y="5440680"/>
            <a:ext cx="1207008" cy="1097280"/>
          </a:xfrm>
          <a:prstGeom prst="rect">
            <a:avLst/>
          </a:prstGeom>
        </p:spPr>
      </p:pic>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ounded Rectangle 17"/>
          <p:cNvSpPr/>
          <p:nvPr/>
        </p:nvSpPr>
        <p:spPr>
          <a:xfrm>
            <a:off x="304800" y="4657725"/>
            <a:ext cx="1895474" cy="352425"/>
          </a:xfrm>
          <a:prstGeom prst="roundRect">
            <a:avLst>
              <a:gd name="adj" fmla="val 12972"/>
            </a:avLst>
          </a:prstGeom>
          <a:noFill/>
          <a:ln w="28575">
            <a:solidFill>
              <a:srgbClr val="C8102E"/>
            </a:solidFill>
          </a:ln>
        </p:spPr>
        <p:txBody>
          <a:bodyPr rtlCol="0" anchor="ctr" lIns="54864" rIns="54864" tIns="27432" bIns="27432"/>
          <a:lstStyle/>
          <a:p>
            <a:pPr algn="ctr"/>
          </a:p>
        </p:txBody>
      </p:sp>
      <p:sp>
        <p:nvSpPr>
          <p:cNvPr id="19" name="Left Arrow 18"/>
          <p:cNvSpPr/>
          <p:nvPr/>
        </p:nvSpPr>
        <p:spPr>
          <a:xfrm>
            <a:off x="2219325" y="4748212"/>
            <a:ext cx="247649" cy="171450"/>
          </a:xfrm>
          <a:prstGeom prst="leftArrow">
            <a:avLst/>
          </a:prstGeom>
          <a:solidFill>
            <a:srgbClr val="C8102E"/>
          </a:solidFill>
          <a:ln>
            <a:noFill/>
          </a:ln>
        </p:spPr>
        <p:txBody>
          <a:bodyPr rtlCol="0" anchor="ctr" lIns="54864" rIns="54864" tIns="27432" bIns="27432"/>
          <a:lstStyle/>
          <a:p>
            <a:pPr algn="ctr"/>
          </a:p>
        </p:txBody>
      </p:sp>
      <p:sp>
        <p:nvSpPr>
          <p:cNvPr id="20" name="Rounded Rectangle 19"/>
          <p:cNvSpPr/>
          <p:nvPr/>
        </p:nvSpPr>
        <p:spPr>
          <a:xfrm>
            <a:off x="10625328" y="1344168"/>
            <a:ext cx="1234440" cy="365760"/>
          </a:xfrm>
          <a:prstGeom prst="roundRect">
            <a:avLst>
              <a:gd name="adj" fmla="val 50000"/>
            </a:avLst>
          </a:prstGeom>
          <a:solidFill>
            <a:srgbClr val="2E7D32"/>
          </a:solidFill>
          <a:ln>
            <a:noFill/>
          </a:ln>
        </p:spPr>
        <p:txBody>
          <a:bodyPr rtlCol="0" anchor="ctr" lIns="36576" rIns="36576" tIns="0" bIns="0" wrap="square"/>
          <a:lstStyle/>
          <a:p>
            <a:pPr algn="ctr" rtl="1"/>
            <a:r>
              <a:rPr sz="1300" b="1" i="0" lang="ar-AE" altLang="en-US">
                <a:solidFill>
                  <a:srgbClr val="FFFFFF"/>
                </a:solidFill>
                <a:latin typeface="Arial"/>
                <a:cs typeface="Arial"/>
              </a:rPr>
              <a:t>تقويم قبلي</a:t>
            </a:r>
          </a:p>
        </p:txBody>
      </p:sp>
      <p:sp>
        <p:nvSpPr>
          <p:cNvPr id="21" name="TextBox 20"/>
          <p:cNvSpPr txBox="1"/>
          <p:nvPr/>
        </p:nvSpPr>
        <p:spPr>
          <a:xfrm>
            <a:off x="5407977" y="1280160"/>
            <a:ext cx="5107623"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ماذا تتذكّر من حصة الأمس؟</a:t>
            </a:r>
          </a:p>
        </p:txBody>
      </p:sp>
      <p:pic>
        <p:nvPicPr>
          <p:cNvPr id="22" name="Picture 21" descr="badge_ahmed.png"/>
          <p:cNvPicPr>
            <a:picLocks noChangeAspect="1"/>
          </p:cNvPicPr>
          <p:nvPr/>
        </p:nvPicPr>
        <p:blipFill>
          <a:blip r:embed="rId3"/>
          <a:stretch>
            <a:fillRect/>
          </a:stretch>
        </p:blipFill>
        <p:spPr>
          <a:xfrm>
            <a:off x="2560320" y="1210464"/>
            <a:ext cx="566928" cy="600047"/>
          </a:xfrm>
          <a:prstGeom prst="rect">
            <a:avLst/>
          </a:prstGeom>
        </p:spPr>
      </p:pic>
      <p:sp>
        <p:nvSpPr>
          <p:cNvPr id="23" name="Rounded Rectangular Callout 22"/>
          <p:cNvSpPr/>
          <p:nvPr/>
        </p:nvSpPr>
        <p:spPr>
          <a:xfrm>
            <a:off x="3209544" y="1307592"/>
            <a:ext cx="2070417" cy="420624"/>
          </a:xfrm>
          <a:prstGeom prst="wedgeRoundRectCallout">
            <a:avLst>
              <a:gd name="adj1" fmla="val -55299"/>
              <a:gd name="adj2" fmla="val 18000"/>
              <a:gd name="adj3" fmla="val 16667"/>
            </a:avLst>
          </a:prstGeom>
          <a:solidFill>
            <a:srgbClr val="FFFFFF"/>
          </a:solidFill>
          <a:ln w="19050">
            <a:solidFill>
              <a:srgbClr val="1C2F5E"/>
            </a:solidFill>
          </a:ln>
        </p:spPr>
        <p:txBody>
          <a:bodyPr rtlCol="0" anchor="ctr" lIns="54864" rIns="54864" tIns="27432" bIns="27432"/>
          <a:lstStyle/>
          <a:p>
            <a:pPr algn="ctr"/>
          </a:p>
        </p:txBody>
      </p:sp>
      <p:sp>
        <p:nvSpPr>
          <p:cNvPr id="24" name="TextBox 23"/>
          <p:cNvSpPr txBox="1"/>
          <p:nvPr/>
        </p:nvSpPr>
        <p:spPr>
          <a:xfrm>
            <a:off x="3246120" y="1307592"/>
            <a:ext cx="1997265" cy="420624"/>
          </a:xfrm>
          <a:prstGeom prst="rect">
            <a:avLst/>
          </a:prstGeom>
          <a:noFill/>
        </p:spPr>
        <p:txBody>
          <a:bodyPr wrap="square" lIns="36576" rIns="36576" tIns="0" bIns="0" anchor="ctr"/>
          <a:lstStyle/>
          <a:p>
            <a:pPr algn="r" rtl="1"/>
            <a:r>
              <a:rPr sz="1150" b="1" i="0" lang="ar-AE" altLang="en-US">
                <a:solidFill>
                  <a:srgbClr val="1C2F5E"/>
                </a:solidFill>
                <a:latin typeface="Arial"/>
                <a:cs typeface="Arial"/>
              </a:rPr>
              <a:t>أحمد: </a:t>
            </a:r>
            <a:r>
              <a:rPr sz="1150" b="1" i="0" lang="ar-AE" altLang="en-US">
                <a:solidFill>
                  <a:srgbClr val="102A43"/>
                </a:solidFill>
                <a:latin typeface="Arial"/>
                <a:cs typeface="Arial"/>
              </a:rPr>
              <a:t>تذكّروا دورة الماء!</a:t>
            </a:r>
          </a:p>
        </p:txBody>
      </p:sp>
      <p:sp>
        <p:nvSpPr>
          <p:cNvPr id="25" name="Rounded Rectangle 24"/>
          <p:cNvSpPr/>
          <p:nvPr/>
        </p:nvSpPr>
        <p:spPr>
          <a:xfrm>
            <a:off x="4160520" y="1965960"/>
            <a:ext cx="7680960" cy="786384"/>
          </a:xfrm>
          <a:prstGeom prst="roundRect">
            <a:avLst>
              <a:gd name="adj" fmla="val 13953"/>
            </a:avLst>
          </a:prstGeom>
          <a:solidFill>
            <a:srgbClr val="FFFFFF"/>
          </a:solidFill>
          <a:ln w="12700">
            <a:solidFill>
              <a:srgbClr val="D5DDE8"/>
            </a:solidFill>
          </a:ln>
        </p:spPr>
        <p:txBody>
          <a:bodyPr rtlCol="0" anchor="ctr" lIns="54864" rIns="54864" tIns="27432" bIns="27432"/>
          <a:lstStyle/>
          <a:p>
            <a:pPr algn="ctr"/>
          </a:p>
        </p:txBody>
      </p:sp>
      <p:sp>
        <p:nvSpPr>
          <p:cNvPr id="26" name="Oval 25"/>
          <p:cNvSpPr/>
          <p:nvPr/>
        </p:nvSpPr>
        <p:spPr>
          <a:xfrm>
            <a:off x="11365992" y="2176272"/>
            <a:ext cx="365760" cy="365760"/>
          </a:xfrm>
          <a:prstGeom prst="ellipse">
            <a:avLst/>
          </a:prstGeom>
          <a:solidFill>
            <a:srgbClr val="2E7D32"/>
          </a:solidFill>
          <a:ln>
            <a:noFill/>
          </a:ln>
        </p:spPr>
        <p:txBody>
          <a:bodyPr rtlCol="0" anchor="ctr" lIns="0" rIns="0" tIns="0" bIns="0" wrap="square"/>
          <a:lstStyle/>
          <a:p>
            <a:pPr algn="ctr" rtl="1"/>
            <a:r>
              <a:rPr sz="1400" b="1" i="0" lang="ar-AE" altLang="en-US">
                <a:solidFill>
                  <a:srgbClr val="FFFFFF"/>
                </a:solidFill>
                <a:latin typeface="Arial"/>
                <a:cs typeface="Arial"/>
              </a:rPr>
              <a:t>1</a:t>
            </a:r>
          </a:p>
        </p:txBody>
      </p:sp>
      <p:sp>
        <p:nvSpPr>
          <p:cNvPr id="27" name="TextBox 26"/>
          <p:cNvSpPr txBox="1"/>
          <p:nvPr/>
        </p:nvSpPr>
        <p:spPr>
          <a:xfrm>
            <a:off x="5577840" y="1965960"/>
            <a:ext cx="5715000" cy="786384"/>
          </a:xfrm>
          <a:prstGeom prst="rect">
            <a:avLst/>
          </a:prstGeom>
          <a:noFill/>
        </p:spPr>
        <p:txBody>
          <a:bodyPr wrap="square" lIns="36576" rIns="36576" tIns="0" bIns="0" anchor="ctr"/>
          <a:lstStyle/>
          <a:p>
            <a:pPr algn="r" rtl="1"/>
            <a:r>
              <a:rPr sz="1500" b="1" i="0" lang="ar-AE" altLang="en-US">
                <a:solidFill>
                  <a:srgbClr val="102A43"/>
                </a:solidFill>
                <a:latin typeface="Arial"/>
                <a:cs typeface="Arial"/>
              </a:rPr>
              <a:t>تُعاد دورة المادة في النظام البيئي، بينما تتدفّق الطاقة في اتجاه واحد.</a:t>
            </a:r>
          </a:p>
        </p:txBody>
      </p:sp>
      <p:sp>
        <p:nvSpPr>
          <p:cNvPr id="28" name="Rounded Rectangle 27"/>
          <p:cNvSpPr/>
          <p:nvPr/>
        </p:nvSpPr>
        <p:spPr>
          <a:xfrm>
            <a:off x="4251959" y="2176272"/>
            <a:ext cx="1234440" cy="365760"/>
          </a:xfrm>
          <a:prstGeom prst="roundRect">
            <a:avLst>
              <a:gd name="adj" fmla="val 50000"/>
            </a:avLst>
          </a:prstGeom>
          <a:solidFill>
            <a:srgbClr val="2E9E5B"/>
          </a:solidFill>
          <a:ln>
            <a:noFill/>
          </a:ln>
        </p:spPr>
        <p:txBody>
          <a:bodyPr rtlCol="0" anchor="ctr" lIns="0" rIns="0" tIns="0" bIns="0" wrap="square"/>
          <a:lstStyle/>
          <a:p>
            <a:pPr algn="ctr" rtl="1"/>
            <a:r>
              <a:rPr sz="1400" b="1" i="0" lang="ar-AE" altLang="en-US">
                <a:solidFill>
                  <a:srgbClr val="FFFFFF"/>
                </a:solidFill>
                <a:latin typeface="Arial"/>
                <a:cs typeface="Arial"/>
              </a:rPr>
              <a:t>صح</a:t>
            </a:r>
          </a:p>
        </p:txBody>
      </p:sp>
      <p:sp>
        <p:nvSpPr>
          <p:cNvPr id="29" name="Rounded Rectangle 28"/>
          <p:cNvSpPr/>
          <p:nvPr/>
        </p:nvSpPr>
        <p:spPr>
          <a:xfrm>
            <a:off x="4160520" y="2898648"/>
            <a:ext cx="7680960" cy="786384"/>
          </a:xfrm>
          <a:prstGeom prst="roundRect">
            <a:avLst>
              <a:gd name="adj" fmla="val 13953"/>
            </a:avLst>
          </a:prstGeom>
          <a:solidFill>
            <a:srgbClr val="FFFFFF"/>
          </a:solidFill>
          <a:ln w="12700">
            <a:solidFill>
              <a:srgbClr val="D5DDE8"/>
            </a:solidFill>
          </a:ln>
        </p:spPr>
        <p:txBody>
          <a:bodyPr rtlCol="0" anchor="ctr" lIns="54864" rIns="54864" tIns="27432" bIns="27432"/>
          <a:lstStyle/>
          <a:p>
            <a:pPr algn="ctr"/>
          </a:p>
        </p:txBody>
      </p:sp>
      <p:sp>
        <p:nvSpPr>
          <p:cNvPr id="30" name="Oval 29"/>
          <p:cNvSpPr/>
          <p:nvPr/>
        </p:nvSpPr>
        <p:spPr>
          <a:xfrm>
            <a:off x="11365992" y="3108960"/>
            <a:ext cx="365760" cy="365760"/>
          </a:xfrm>
          <a:prstGeom prst="ellipse">
            <a:avLst/>
          </a:prstGeom>
          <a:solidFill>
            <a:srgbClr val="2E7D32"/>
          </a:solidFill>
          <a:ln>
            <a:noFill/>
          </a:ln>
        </p:spPr>
        <p:txBody>
          <a:bodyPr rtlCol="0" anchor="ctr" lIns="0" rIns="0" tIns="0" bIns="0" wrap="square"/>
          <a:lstStyle/>
          <a:p>
            <a:pPr algn="ctr" rtl="1"/>
            <a:r>
              <a:rPr sz="1400" b="1" i="0" lang="ar-AE" altLang="en-US">
                <a:solidFill>
                  <a:srgbClr val="FFFFFF"/>
                </a:solidFill>
                <a:latin typeface="Arial"/>
                <a:cs typeface="Arial"/>
              </a:rPr>
              <a:t>2</a:t>
            </a:r>
          </a:p>
        </p:txBody>
      </p:sp>
      <p:sp>
        <p:nvSpPr>
          <p:cNvPr id="31" name="TextBox 30"/>
          <p:cNvSpPr txBox="1"/>
          <p:nvPr/>
        </p:nvSpPr>
        <p:spPr>
          <a:xfrm>
            <a:off x="5577840" y="2898648"/>
            <a:ext cx="5715000" cy="786384"/>
          </a:xfrm>
          <a:prstGeom prst="rect">
            <a:avLst/>
          </a:prstGeom>
          <a:noFill/>
        </p:spPr>
        <p:txBody>
          <a:bodyPr wrap="square" lIns="36576" rIns="36576" tIns="0" bIns="0" anchor="ctr"/>
          <a:lstStyle/>
          <a:p>
            <a:pPr algn="r" rtl="1"/>
            <a:r>
              <a:rPr sz="1500" b="1" i="0" lang="ar-AE" altLang="en-US">
                <a:solidFill>
                  <a:srgbClr val="102A43"/>
                </a:solidFill>
                <a:latin typeface="Arial"/>
                <a:cs typeface="Arial"/>
              </a:rPr>
              <a:t>النتح هو خروج بخار الماء من ثغور أوراق النباتات.</a:t>
            </a:r>
          </a:p>
        </p:txBody>
      </p:sp>
      <p:sp>
        <p:nvSpPr>
          <p:cNvPr id="32" name="Rounded Rectangle 31"/>
          <p:cNvSpPr/>
          <p:nvPr/>
        </p:nvSpPr>
        <p:spPr>
          <a:xfrm>
            <a:off x="4251959" y="3108960"/>
            <a:ext cx="1234440" cy="365760"/>
          </a:xfrm>
          <a:prstGeom prst="roundRect">
            <a:avLst>
              <a:gd name="adj" fmla="val 50000"/>
            </a:avLst>
          </a:prstGeom>
          <a:solidFill>
            <a:srgbClr val="2E9E5B"/>
          </a:solidFill>
          <a:ln>
            <a:noFill/>
          </a:ln>
        </p:spPr>
        <p:txBody>
          <a:bodyPr rtlCol="0" anchor="ctr" lIns="0" rIns="0" tIns="0" bIns="0" wrap="square"/>
          <a:lstStyle/>
          <a:p>
            <a:pPr algn="ctr" rtl="1"/>
            <a:r>
              <a:rPr sz="1400" b="1" i="0" lang="ar-AE" altLang="en-US">
                <a:solidFill>
                  <a:srgbClr val="FFFFFF"/>
                </a:solidFill>
                <a:latin typeface="Arial"/>
                <a:cs typeface="Arial"/>
              </a:rPr>
              <a:t>صح</a:t>
            </a:r>
          </a:p>
        </p:txBody>
      </p:sp>
      <p:sp>
        <p:nvSpPr>
          <p:cNvPr id="33" name="Rounded Rectangle 32"/>
          <p:cNvSpPr/>
          <p:nvPr/>
        </p:nvSpPr>
        <p:spPr>
          <a:xfrm>
            <a:off x="4160520" y="3831335"/>
            <a:ext cx="7680960" cy="786384"/>
          </a:xfrm>
          <a:prstGeom prst="roundRect">
            <a:avLst>
              <a:gd name="adj" fmla="val 13953"/>
            </a:avLst>
          </a:prstGeom>
          <a:solidFill>
            <a:srgbClr val="FFFFFF"/>
          </a:solidFill>
          <a:ln w="12700">
            <a:solidFill>
              <a:srgbClr val="D5DDE8"/>
            </a:solidFill>
          </a:ln>
        </p:spPr>
        <p:txBody>
          <a:bodyPr rtlCol="0" anchor="ctr" lIns="54864" rIns="54864" tIns="27432" bIns="27432"/>
          <a:lstStyle/>
          <a:p>
            <a:pPr algn="ctr"/>
          </a:p>
        </p:txBody>
      </p:sp>
      <p:sp>
        <p:nvSpPr>
          <p:cNvPr id="34" name="Oval 33"/>
          <p:cNvSpPr/>
          <p:nvPr/>
        </p:nvSpPr>
        <p:spPr>
          <a:xfrm>
            <a:off x="11365992" y="4041648"/>
            <a:ext cx="365760" cy="365760"/>
          </a:xfrm>
          <a:prstGeom prst="ellipse">
            <a:avLst/>
          </a:prstGeom>
          <a:solidFill>
            <a:srgbClr val="2E7D32"/>
          </a:solidFill>
          <a:ln>
            <a:noFill/>
          </a:ln>
        </p:spPr>
        <p:txBody>
          <a:bodyPr rtlCol="0" anchor="ctr" lIns="0" rIns="0" tIns="0" bIns="0" wrap="square"/>
          <a:lstStyle/>
          <a:p>
            <a:pPr algn="ctr" rtl="1"/>
            <a:r>
              <a:rPr sz="1400" b="1" i="0" lang="ar-AE" altLang="en-US">
                <a:solidFill>
                  <a:srgbClr val="FFFFFF"/>
                </a:solidFill>
                <a:latin typeface="Arial"/>
                <a:cs typeface="Arial"/>
              </a:rPr>
              <a:t>3</a:t>
            </a:r>
          </a:p>
        </p:txBody>
      </p:sp>
      <p:sp>
        <p:nvSpPr>
          <p:cNvPr id="35" name="TextBox 34"/>
          <p:cNvSpPr txBox="1"/>
          <p:nvPr/>
        </p:nvSpPr>
        <p:spPr>
          <a:xfrm>
            <a:off x="5577840" y="3831335"/>
            <a:ext cx="5715000" cy="786384"/>
          </a:xfrm>
          <a:prstGeom prst="rect">
            <a:avLst/>
          </a:prstGeom>
          <a:noFill/>
        </p:spPr>
        <p:txBody>
          <a:bodyPr wrap="square" lIns="36576" rIns="36576" tIns="0" bIns="0" anchor="ctr"/>
          <a:lstStyle/>
          <a:p>
            <a:pPr algn="r" rtl="1"/>
            <a:r>
              <a:rPr sz="1500" b="1" i="0" lang="ar-AE" altLang="en-US">
                <a:solidFill>
                  <a:srgbClr val="102A43"/>
                </a:solidFill>
                <a:latin typeface="Arial"/>
                <a:cs typeface="Arial"/>
              </a:rPr>
              <a:t>المياه العذبة المتاحة للكائنات الحية تشكّل معظم مياه الأرض.</a:t>
            </a:r>
          </a:p>
        </p:txBody>
      </p:sp>
      <p:sp>
        <p:nvSpPr>
          <p:cNvPr id="36" name="Rounded Rectangle 35"/>
          <p:cNvSpPr/>
          <p:nvPr/>
        </p:nvSpPr>
        <p:spPr>
          <a:xfrm>
            <a:off x="4251959" y="4041648"/>
            <a:ext cx="1234440" cy="365760"/>
          </a:xfrm>
          <a:prstGeom prst="roundRect">
            <a:avLst>
              <a:gd name="adj" fmla="val 50000"/>
            </a:avLst>
          </a:prstGeom>
          <a:solidFill>
            <a:srgbClr val="C8102E"/>
          </a:solidFill>
          <a:ln>
            <a:noFill/>
          </a:ln>
        </p:spPr>
        <p:txBody>
          <a:bodyPr rtlCol="0" anchor="ctr" lIns="0" rIns="0" tIns="0" bIns="0" wrap="square"/>
          <a:lstStyle/>
          <a:p>
            <a:pPr algn="ctr" rtl="1"/>
            <a:r>
              <a:rPr sz="1400" b="1" i="0" lang="ar-AE" altLang="en-US">
                <a:solidFill>
                  <a:srgbClr val="FFFFFF"/>
                </a:solidFill>
                <a:latin typeface="Arial"/>
                <a:cs typeface="Arial"/>
              </a:rPr>
              <a:t>خطأ</a:t>
            </a:r>
          </a:p>
        </p:txBody>
      </p:sp>
      <p:pic>
        <p:nvPicPr>
          <p:cNvPr id="37" name="مؤقت 1 دقائق">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2697480" y="2011680"/>
            <a:ext cx="1298448" cy="1298448"/>
          </a:xfrm>
          <a:prstGeom prst="rect">
            <a:avLst/>
          </a:prstGeom>
        </p:spPr>
      </p:pic>
      <p:sp>
        <p:nvSpPr>
          <p:cNvPr id="38" name="Oval 37"/>
          <p:cNvSpPr/>
          <p:nvPr/>
        </p:nvSpPr>
        <p:spPr>
          <a:xfrm>
            <a:off x="2971800" y="3977639"/>
            <a:ext cx="777240" cy="777240"/>
          </a:xfrm>
          <a:prstGeom prst="ellipse">
            <a:avLst/>
          </a:prstGeom>
          <a:solidFill>
            <a:srgbClr val="2E7D32"/>
          </a:solidFill>
          <a:ln>
            <a:noFill/>
          </a:ln>
        </p:spPr>
        <p:txBody>
          <a:bodyPr rtlCol="0" anchor="ctr" lIns="54864" rIns="54864" tIns="27432" bIns="27432"/>
          <a:lstStyle/>
          <a:p>
            <a:pPr algn="ctr"/>
          </a:p>
        </p:txBody>
      </p:sp>
      <p:pic>
        <p:nvPicPr>
          <p:cNvPr id="39" name="Picture 38" descr="q_w.png"/>
          <p:cNvPicPr>
            <a:picLocks noChangeAspect="1"/>
          </p:cNvPicPr>
          <p:nvPr/>
        </p:nvPicPr>
        <p:blipFill>
          <a:blip r:embed="rId7"/>
          <a:stretch>
            <a:fillRect/>
          </a:stretch>
        </p:blipFill>
        <p:spPr>
          <a:xfrm>
            <a:off x="3142792" y="4148632"/>
            <a:ext cx="435254" cy="435254"/>
          </a:xfrm>
          <a:prstGeom prst="rect">
            <a:avLst/>
          </a:prstGeom>
        </p:spPr>
      </p:pic>
      <p:sp>
        <p:nvSpPr>
          <p:cNvPr id="40" name="TextBox 39"/>
          <p:cNvSpPr txBox="1"/>
          <p:nvPr/>
        </p:nvSpPr>
        <p:spPr>
          <a:xfrm>
            <a:off x="2651760" y="4800600"/>
            <a:ext cx="1417320" cy="640080"/>
          </a:xfrm>
          <a:prstGeom prst="rect">
            <a:avLst/>
          </a:prstGeom>
          <a:noFill/>
        </p:spPr>
        <p:txBody>
          <a:bodyPr wrap="square" lIns="73152" rIns="73152" tIns="36576" bIns="36576" anchor="ctr"/>
          <a:lstStyle/>
          <a:p>
            <a:pPr algn="ctr" rtl="1"/>
            <a:r>
              <a:rPr sz="1500" b="1" i="0" lang="ar-AE" altLang="en-US">
                <a:solidFill>
                  <a:srgbClr val="2E7D32"/>
                </a:solidFill>
                <a:latin typeface="Arial"/>
                <a:cs typeface="Arial"/>
              </a:rPr>
              <a:t>صح أم خطأ؟</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30"/>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7"/>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7"/>
                                        </p:tgtEl>
                                      </p:cBhvr>
                                    </p:cmd>
                                  </p:childTnLst>
                                </p:cTn>
                              </p:par>
                            </p:childTnLst>
                          </p:cTn>
                        </p:par>
                      </p:childTnLst>
                    </p:cTn>
                  </p:par>
                </p:childTnLst>
              </p:cTn>
              <p:nextCondLst>
                <p:cond evt="onNext" delay="0">
                  <p:tgtEl>
                    <p:sldTgt/>
                  </p:tgtEl>
                </p:cond>
              </p:nextCondLst>
            </p:seq>
            <p:video>
              <p:cMediaNode vol="80000">
                <p:cTn id="25" fill="hold" display="0">
                  <p:stCondLst>
                    <p:cond delay="indefinite"/>
                  </p:stCondLst>
                </p:cTn>
                <p:tgtEl>
                  <p:spTgt spid="37"/>
                </p:tgtEl>
              </p:cMediaNode>
            </p:video>
          </p:childTnLst>
        </p:cTn>
      </p:par>
    </p:tnLst>
    <p:bldLst>
      <p:bldP spid="28" grpId="0" animBg="1"/>
      <p:bldP spid="32" grpId="0" animBg="1"/>
      <p:bldP spid="36"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8" name="Rounded Rectangle 17"/>
          <p:cNvSpPr/>
          <p:nvPr/>
        </p:nvSpPr>
        <p:spPr>
          <a:xfrm>
            <a:off x="438150" y="4400550"/>
            <a:ext cx="1590675" cy="276225"/>
          </a:xfrm>
          <a:prstGeom prst="roundRect">
            <a:avLst>
              <a:gd name="adj" fmla="val 16551"/>
            </a:avLst>
          </a:prstGeom>
          <a:noFill/>
          <a:ln w="28575">
            <a:solidFill>
              <a:srgbClr val="C8102E"/>
            </a:solidFill>
          </a:ln>
        </p:spPr>
        <p:txBody>
          <a:bodyPr rtlCol="0" anchor="ctr" lIns="54864" rIns="54864" tIns="27432" bIns="27432"/>
          <a:lstStyle/>
          <a:p>
            <a:pPr algn="ctr"/>
          </a:p>
        </p:txBody>
      </p:sp>
      <p:sp>
        <p:nvSpPr>
          <p:cNvPr id="19" name="Left Arrow 18"/>
          <p:cNvSpPr/>
          <p:nvPr/>
        </p:nvSpPr>
        <p:spPr>
          <a:xfrm>
            <a:off x="2047875" y="4452937"/>
            <a:ext cx="247649" cy="171450"/>
          </a:xfrm>
          <a:prstGeom prst="leftArrow">
            <a:avLst/>
          </a:prstGeom>
          <a:solidFill>
            <a:srgbClr val="C8102E"/>
          </a:solidFill>
          <a:ln>
            <a:noFill/>
          </a:ln>
        </p:spPr>
        <p:txBody>
          <a:bodyPr rtlCol="0" anchor="ctr" lIns="54864" rIns="54864" tIns="27432" bIns="27432"/>
          <a:lstStyle/>
          <a:p>
            <a:pPr algn="ctr"/>
          </a:p>
        </p:txBody>
      </p:sp>
      <p:sp>
        <p:nvSpPr>
          <p:cNvPr id="20" name="Rounded Rectangle 19"/>
          <p:cNvSpPr/>
          <p:nvPr/>
        </p:nvSpPr>
        <p:spPr>
          <a:xfrm>
            <a:off x="10145268" y="1344168"/>
            <a:ext cx="1714500" cy="365760"/>
          </a:xfrm>
          <a:prstGeom prst="roundRect">
            <a:avLst>
              <a:gd name="adj" fmla="val 50000"/>
            </a:avLst>
          </a:prstGeom>
          <a:solidFill>
            <a:srgbClr val="2E7D32"/>
          </a:solidFill>
          <a:ln>
            <a:noFill/>
          </a:ln>
        </p:spPr>
        <p:txBody>
          <a:bodyPr rtlCol="0" anchor="ctr" lIns="36576" rIns="36576" tIns="0" bIns="0" wrap="square"/>
          <a:lstStyle/>
          <a:p>
            <a:pPr algn="ctr" rtl="1"/>
            <a:r>
              <a:rPr sz="1300" b="1" i="0" lang="ar-AE" altLang="en-US">
                <a:solidFill>
                  <a:srgbClr val="FFFFFF"/>
                </a:solidFill>
                <a:latin typeface="Arial"/>
                <a:cs typeface="Arial"/>
              </a:rPr>
              <a:t>التهيئة الحافزة</a:t>
            </a:r>
          </a:p>
        </p:txBody>
      </p:sp>
      <p:sp>
        <p:nvSpPr>
          <p:cNvPr id="21" name="TextBox 20"/>
          <p:cNvSpPr txBox="1"/>
          <p:nvPr/>
        </p:nvSpPr>
        <p:spPr>
          <a:xfrm>
            <a:off x="2606040" y="1280160"/>
            <a:ext cx="7429500"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تجربة مدهشة: هل يصنع نَفَسُك حجرًا؟</a:t>
            </a:r>
          </a:p>
        </p:txBody>
      </p:sp>
      <p:sp>
        <p:nvSpPr>
          <p:cNvPr id="22" name="Rounded Rectangle 21"/>
          <p:cNvSpPr/>
          <p:nvPr/>
        </p:nvSpPr>
        <p:spPr>
          <a:xfrm>
            <a:off x="4160520" y="1901952"/>
            <a:ext cx="3657600" cy="3611880"/>
          </a:xfrm>
          <a:prstGeom prst="roundRect">
            <a:avLst>
              <a:gd name="adj" fmla="val 3037"/>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23" name="Picture 22" descr="lime_before.png"/>
          <p:cNvPicPr>
            <a:picLocks noChangeAspect="1"/>
          </p:cNvPicPr>
          <p:nvPr/>
        </p:nvPicPr>
        <p:blipFill>
          <a:blip r:embed="rId3"/>
          <a:stretch>
            <a:fillRect/>
          </a:stretch>
        </p:blipFill>
        <p:spPr>
          <a:xfrm>
            <a:off x="6035040" y="2467629"/>
            <a:ext cx="1691640" cy="2471380"/>
          </a:xfrm>
          <a:prstGeom prst="rect">
            <a:avLst/>
          </a:prstGeom>
        </p:spPr>
      </p:pic>
      <p:pic>
        <p:nvPicPr>
          <p:cNvPr id="24" name="Picture 23" descr="lime_after.png"/>
          <p:cNvPicPr>
            <a:picLocks noChangeAspect="1"/>
          </p:cNvPicPr>
          <p:nvPr/>
        </p:nvPicPr>
        <p:blipFill>
          <a:blip r:embed="rId4"/>
          <a:stretch>
            <a:fillRect/>
          </a:stretch>
        </p:blipFill>
        <p:spPr>
          <a:xfrm>
            <a:off x="4206240" y="2579257"/>
            <a:ext cx="1783080" cy="2238981"/>
          </a:xfrm>
          <a:prstGeom prst="rect">
            <a:avLst/>
          </a:prstGeom>
        </p:spPr>
      </p:pic>
      <p:sp>
        <p:nvSpPr>
          <p:cNvPr id="25" name="TextBox 24"/>
          <p:cNvSpPr txBox="1"/>
          <p:nvPr/>
        </p:nvSpPr>
        <p:spPr>
          <a:xfrm>
            <a:off x="7955279" y="1901952"/>
            <a:ext cx="3886200" cy="822960"/>
          </a:xfrm>
          <a:prstGeom prst="rect">
            <a:avLst/>
          </a:prstGeom>
          <a:noFill/>
        </p:spPr>
        <p:txBody>
          <a:bodyPr wrap="square" lIns="73152" rIns="73152" tIns="36576" bIns="36576" anchor="ctr"/>
          <a:lstStyle/>
          <a:p>
            <a:pPr algn="r" rtl="1"/>
            <a:r>
              <a:rPr sz="1500" b="1" i="0" lang="ar-AE" altLang="en-US">
                <a:solidFill>
                  <a:srgbClr val="102A43"/>
                </a:solidFill>
                <a:latin typeface="Arial"/>
                <a:cs typeface="Arial"/>
              </a:rPr>
              <a:t>نملأ كأسًا بماء الجير الرائق، ثم ينفخ أحدنا فيه بلطف بماصّة.</a:t>
            </a:r>
          </a:p>
        </p:txBody>
      </p:sp>
      <p:sp>
        <p:nvSpPr>
          <p:cNvPr id="26" name="TextBox 25"/>
          <p:cNvSpPr txBox="1"/>
          <p:nvPr/>
        </p:nvSpPr>
        <p:spPr>
          <a:xfrm>
            <a:off x="7955279" y="2743200"/>
            <a:ext cx="3886200" cy="457200"/>
          </a:xfrm>
          <a:prstGeom prst="rect">
            <a:avLst/>
          </a:prstGeom>
          <a:noFill/>
        </p:spPr>
        <p:txBody>
          <a:bodyPr wrap="square" lIns="73152" rIns="73152" tIns="36576" bIns="36576" anchor="ctr"/>
          <a:lstStyle/>
          <a:p>
            <a:pPr algn="r" rtl="1"/>
            <a:r>
              <a:rPr sz="1650" b="1" i="0" lang="ar-AE" altLang="en-US">
                <a:solidFill>
                  <a:srgbClr val="2E7D32"/>
                </a:solidFill>
                <a:latin typeface="Arial"/>
                <a:cs typeface="Arial"/>
              </a:rPr>
              <a:t>توقّعوا: ماذا سيحدث لماء الجير؟</a:t>
            </a:r>
          </a:p>
        </p:txBody>
      </p:sp>
      <p:sp>
        <p:nvSpPr>
          <p:cNvPr id="27" name="Rounded Rectangle 26"/>
          <p:cNvSpPr/>
          <p:nvPr/>
        </p:nvSpPr>
        <p:spPr>
          <a:xfrm>
            <a:off x="10625328" y="3310128"/>
            <a:ext cx="1216152" cy="457200"/>
          </a:xfrm>
          <a:prstGeom prst="roundRect">
            <a:avLst>
              <a:gd name="adj" fmla="val 30000"/>
            </a:avLst>
          </a:prstGeom>
          <a:solidFill>
            <a:srgbClr val="5A687D"/>
          </a:solidFill>
          <a:ln>
            <a:noFill/>
          </a:ln>
        </p:spPr>
        <p:txBody>
          <a:bodyPr rtlCol="0" anchor="ctr" lIns="36576" rIns="36576" tIns="18288" bIns="18288" wrap="square"/>
          <a:lstStyle/>
          <a:p>
            <a:pPr algn="ctr" rtl="1"/>
            <a:r>
              <a:rPr sz="1350" b="1" i="0" lang="ar-AE" altLang="en-US">
                <a:solidFill>
                  <a:srgbClr val="FFFFFF"/>
                </a:solidFill>
                <a:latin typeface="Arial"/>
                <a:cs typeface="Arial"/>
              </a:rPr>
              <a:t>يبقى رائقًا</a:t>
            </a:r>
          </a:p>
        </p:txBody>
      </p:sp>
      <p:sp>
        <p:nvSpPr>
          <p:cNvPr id="28" name="Rounded Rectangle 27"/>
          <p:cNvSpPr/>
          <p:nvPr/>
        </p:nvSpPr>
        <p:spPr>
          <a:xfrm>
            <a:off x="9299448" y="3310128"/>
            <a:ext cx="1216152" cy="457200"/>
          </a:xfrm>
          <a:prstGeom prst="roundRect">
            <a:avLst>
              <a:gd name="adj" fmla="val 30000"/>
            </a:avLst>
          </a:prstGeom>
          <a:solidFill>
            <a:srgbClr val="2E7D32"/>
          </a:solidFill>
          <a:ln>
            <a:noFill/>
          </a:ln>
        </p:spPr>
        <p:txBody>
          <a:bodyPr rtlCol="0" anchor="ctr" lIns="36576" rIns="36576" tIns="18288" bIns="18288" wrap="square"/>
          <a:lstStyle/>
          <a:p>
            <a:pPr algn="ctr" rtl="1"/>
            <a:r>
              <a:rPr sz="1350" b="1" i="0" lang="ar-AE" altLang="en-US">
                <a:solidFill>
                  <a:srgbClr val="FFFFFF"/>
                </a:solidFill>
                <a:latin typeface="Arial"/>
                <a:cs typeface="Arial"/>
              </a:rPr>
              <a:t>يصبح حليبيًا</a:t>
            </a:r>
          </a:p>
        </p:txBody>
      </p:sp>
      <p:sp>
        <p:nvSpPr>
          <p:cNvPr id="29" name="Rounded Rectangle 28"/>
          <p:cNvSpPr/>
          <p:nvPr/>
        </p:nvSpPr>
        <p:spPr>
          <a:xfrm>
            <a:off x="7973567" y="3310128"/>
            <a:ext cx="1216152" cy="457200"/>
          </a:xfrm>
          <a:prstGeom prst="roundRect">
            <a:avLst>
              <a:gd name="adj" fmla="val 30000"/>
            </a:avLst>
          </a:prstGeom>
          <a:solidFill>
            <a:srgbClr val="1E88C8"/>
          </a:solidFill>
          <a:ln>
            <a:noFill/>
          </a:ln>
        </p:spPr>
        <p:txBody>
          <a:bodyPr rtlCol="0" anchor="ctr" lIns="36576" rIns="36576" tIns="18288" bIns="18288" wrap="square"/>
          <a:lstStyle/>
          <a:p>
            <a:pPr algn="ctr" rtl="1"/>
            <a:r>
              <a:rPr sz="1350" b="1" i="0" lang="ar-AE" altLang="en-US">
                <a:solidFill>
                  <a:srgbClr val="FFFFFF"/>
                </a:solidFill>
                <a:latin typeface="Arial"/>
                <a:cs typeface="Arial"/>
              </a:rPr>
              <a:t>يصبح أزرق</a:t>
            </a:r>
          </a:p>
        </p:txBody>
      </p:sp>
      <p:sp>
        <p:nvSpPr>
          <p:cNvPr id="30" name="Rounded Rectangle 29"/>
          <p:cNvSpPr/>
          <p:nvPr/>
        </p:nvSpPr>
        <p:spPr>
          <a:xfrm>
            <a:off x="7955279" y="3931920"/>
            <a:ext cx="3886200" cy="1572768"/>
          </a:xfrm>
          <a:prstGeom prst="roundRect">
            <a:avLst>
              <a:gd name="adj" fmla="val 6976"/>
            </a:avLst>
          </a:prstGeom>
          <a:solidFill>
            <a:srgbClr val="102A43"/>
          </a:solidFill>
          <a:ln>
            <a:noFill/>
          </a:ln>
        </p:spPr>
        <p:txBody>
          <a:bodyPr rtlCol="0" anchor="ctr" lIns="137160" rIns="137160" wrap="square"/>
          <a:lstStyle/>
          <a:p>
            <a:pPr algn="r" rtl="1"/>
            <a:r>
              <a:rPr sz="1350" b="1" i="0" lang="ar-AE" altLang="en-US">
                <a:solidFill>
                  <a:srgbClr val="C9A96A"/>
                </a:solidFill>
                <a:latin typeface="Arial"/>
                <a:cs typeface="Arial"/>
              </a:rPr>
              <a:t>التفسير: </a:t>
            </a:r>
            <a:r>
              <a:rPr sz="1350" b="1" i="0" lang="ar-AE" altLang="en-US">
                <a:solidFill>
                  <a:srgbClr val="FFFFFF"/>
                </a:solidFill>
                <a:latin typeface="Arial"/>
                <a:cs typeface="Arial"/>
              </a:rPr>
              <a:t>ثاني أكسيد الكربون الخارج من تنفّسك + ماء الجير ← كربونات الكالسيوم، وهي مادة الطباشير والحجر الجيري! إذن كربون طعامك صار جزءًا من «حجر».</a:t>
            </a:r>
          </a:p>
        </p:txBody>
      </p:sp>
      <p:sp>
        <p:nvSpPr>
          <p:cNvPr id="31" name="Rounded Rectangle 30"/>
          <p:cNvSpPr/>
          <p:nvPr/>
        </p:nvSpPr>
        <p:spPr>
          <a:xfrm>
            <a:off x="5989320" y="5047488"/>
            <a:ext cx="1783080" cy="384048"/>
          </a:xfrm>
          <a:prstGeom prst="roundRect">
            <a:avLst>
              <a:gd name="adj" fmla="val 47619"/>
            </a:avLst>
          </a:prstGeom>
          <a:solidFill>
            <a:srgbClr val="C9A96A"/>
          </a:solidFill>
          <a:ln>
            <a:noFill/>
          </a:ln>
          <a:effectLst>
            <a:outerShdw blurRad="76200" dist="31750" dir="5400000" algn="t" rotWithShape="0">
              <a:srgbClr val="1E2B3C">
                <a:alpha val="22000"/>
              </a:srgbClr>
            </a:outerShdw>
          </a:effectLst>
        </p:spPr>
        <p:txBody>
          <a:bodyPr rtlCol="0" anchor="ctr" lIns="36576" rIns="36576" tIns="0" bIns="0" wrap="square"/>
          <a:lstStyle/>
          <a:p>
            <a:pPr algn="ctr" rtl="1"/>
            <a:r>
              <a:rPr sz="1250" b="1" i="0" lang="ar-AE" altLang="en-US">
                <a:solidFill>
                  <a:srgbClr val="102A43"/>
                </a:solidFill>
                <a:latin typeface="Arial"/>
                <a:cs typeface="Arial"/>
              </a:rPr>
              <a:t>◄ </a:t>
            </a:r>
            <a:r>
              <a:rPr sz="1250" b="1" i="0" lang="ar-AE" altLang="en-US">
                <a:solidFill>
                  <a:srgbClr val="102A43"/>
                </a:solidFill>
                <a:latin typeface="Arial"/>
                <a:cs typeface="Arial"/>
              </a:rPr>
              <a:t>النتيجة والتفسير</a:t>
            </a:r>
          </a:p>
        </p:txBody>
      </p:sp>
      <p:sp>
        <p:nvSpPr>
          <p:cNvPr id="32" name="Rounded Rectangle 31"/>
          <p:cNvSpPr/>
          <p:nvPr/>
        </p:nvSpPr>
        <p:spPr>
          <a:xfrm>
            <a:off x="2697480" y="1901952"/>
            <a:ext cx="1325880" cy="2103120"/>
          </a:xfrm>
          <a:prstGeom prst="roundRect">
            <a:avLst>
              <a:gd name="adj" fmla="val 8275"/>
            </a:avLst>
          </a:prstGeom>
          <a:solidFill>
            <a:srgbClr val="FDECEC"/>
          </a:solidFill>
          <a:ln w="12700">
            <a:solidFill>
              <a:srgbClr val="F2B8B8"/>
            </a:solidFill>
          </a:ln>
        </p:spPr>
        <p:txBody>
          <a:bodyPr rtlCol="0" anchor="ctr" lIns="54864" rIns="54864" tIns="27432" bIns="27432"/>
          <a:lstStyle/>
          <a:p>
            <a:pPr algn="ctr"/>
          </a:p>
        </p:txBody>
      </p:sp>
      <p:pic>
        <p:nvPicPr>
          <p:cNvPr id="33" name="Picture 32" descr="warn_red.png"/>
          <p:cNvPicPr>
            <a:picLocks noChangeAspect="1"/>
          </p:cNvPicPr>
          <p:nvPr/>
        </p:nvPicPr>
        <p:blipFill>
          <a:blip r:embed="rId5"/>
          <a:stretch>
            <a:fillRect/>
          </a:stretch>
        </p:blipFill>
        <p:spPr>
          <a:xfrm>
            <a:off x="3154680" y="1993392"/>
            <a:ext cx="411480" cy="411480"/>
          </a:xfrm>
          <a:prstGeom prst="rect">
            <a:avLst/>
          </a:prstGeom>
        </p:spPr>
      </p:pic>
      <p:sp>
        <p:nvSpPr>
          <p:cNvPr id="34" name="TextBox 33"/>
          <p:cNvSpPr txBox="1"/>
          <p:nvPr/>
        </p:nvSpPr>
        <p:spPr>
          <a:xfrm>
            <a:off x="2724912" y="2432304"/>
            <a:ext cx="1271016" cy="1554480"/>
          </a:xfrm>
          <a:prstGeom prst="rect">
            <a:avLst/>
          </a:prstGeom>
          <a:noFill/>
        </p:spPr>
        <p:txBody>
          <a:bodyPr wrap="square" lIns="36576" rIns="36576" tIns="18288" bIns="18288" anchor="t"/>
          <a:lstStyle/>
          <a:p>
            <a:pPr algn="ctr" rtl="1"/>
            <a:r>
              <a:rPr sz="1250" b="1" i="0" lang="ar-AE" altLang="en-US">
                <a:solidFill>
                  <a:srgbClr val="C8102E"/>
                </a:solidFill>
                <a:latin typeface="Arial"/>
                <a:cs typeface="Arial"/>
              </a:rPr>
              <a:t>السلامة أولًا</a:t>
            </a:r>
          </a:p>
          <a:p>
            <a:pPr algn="ctr" rtl="1"/>
            <a:r>
              <a:rPr sz="1100" b="1" i="0" lang="ar-AE" altLang="en-US">
                <a:solidFill>
                  <a:srgbClr val="102A43"/>
                </a:solidFill>
                <a:latin typeface="Arial"/>
                <a:cs typeface="Arial"/>
              </a:rPr>
              <a:t>ننفخ بلطف، ولا نسحب السائل، ونرتدي النظارات الواقية.</a:t>
            </a:r>
          </a:p>
        </p:txBody>
      </p:sp>
      <p:pic>
        <p:nvPicPr>
          <p:cNvPr id="35" name="مؤقت 2 دقائق">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2697480" y="4160520"/>
            <a:ext cx="1325880" cy="1325880"/>
          </a:xfrm>
          <a:prstGeom prst="rect">
            <a:avLst/>
          </a:prstGeom>
        </p:spPr>
      </p:pic>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childTnLst>
                    </p:cTn>
                  </p:par>
                </p:childTnLst>
              </p:cTn>
              <p:nextCondLst>
                <p:cond evt="onNext" delay="0">
                  <p:tgtEl>
                    <p:sldTgt/>
                  </p:tgtEl>
                </p:cond>
              </p:nextCondLst>
            </p:seq>
            <p:seq concurrent="1" nextAc="seek">
              <p:cTn id="11" restart="whenNotActive" fill="hold" evtFilter="cancelBubble" nodeType="interactiveSeq">
                <p:stCondLst>
                  <p:cond evt="onClick" delay="0">
                    <p:tgtEl>
                      <p:spTgt spid="35"/>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35"/>
                                        </p:tgtEl>
                                      </p:cBhvr>
                                    </p:cmd>
                                  </p:childTnLst>
                                </p:cTn>
                              </p:par>
                            </p:childTnLst>
                          </p:cTn>
                        </p:par>
                      </p:childTnLst>
                    </p:cTn>
                  </p:par>
                </p:childTnLst>
              </p:cTn>
              <p:nextCondLst>
                <p:cond evt="onNext" delay="0">
                  <p:tgtEl>
                    <p:sldTgt/>
                  </p:tgtEl>
                </p:cond>
              </p:nextCondLst>
            </p:seq>
            <p:video>
              <p:cMediaNode vol="80000">
                <p:cTn id="16" fill="hold" display="0">
                  <p:stCondLst>
                    <p:cond delay="indefinite"/>
                  </p:stCondLst>
                </p:cTn>
                <p:tgtEl>
                  <p:spTgt spid="35"/>
                </p:tgtEl>
              </p:cMediaNode>
            </p:video>
          </p:childTnLst>
        </p:cTn>
      </p:par>
    </p:tnLst>
    <p:bldLst>
      <p:bldP spid="3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نكتشفه معًا…</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نكتشفه معًا…</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نكتشفه معًا…</a:t>
            </a:r>
          </a:p>
        </p:txBody>
      </p:sp>
      <p:sp>
        <p:nvSpPr>
          <p:cNvPr id="13" name="Rounded Rectangle 12"/>
          <p:cNvSpPr/>
          <p:nvPr/>
        </p:nvSpPr>
        <p:spPr>
          <a:xfrm>
            <a:off x="9665208" y="1344168"/>
            <a:ext cx="2194560" cy="365760"/>
          </a:xfrm>
          <a:prstGeom prst="roundRect">
            <a:avLst>
              <a:gd name="adj" fmla="val 50000"/>
            </a:avLst>
          </a:prstGeom>
          <a:solidFill>
            <a:srgbClr val="2E7D32"/>
          </a:solidFill>
          <a:ln>
            <a:noFill/>
          </a:ln>
        </p:spPr>
        <p:txBody>
          <a:bodyPr rtlCol="0" anchor="ctr" lIns="36576" rIns="36576" tIns="0" bIns="0" wrap="square"/>
          <a:lstStyle/>
          <a:p>
            <a:pPr algn="ctr" rtl="1"/>
            <a:r>
              <a:rPr sz="1300" b="1" i="0" lang="ar-AE" altLang="en-US">
                <a:solidFill>
                  <a:srgbClr val="FFFFFF"/>
                </a:solidFill>
                <a:latin typeface="Arial"/>
                <a:cs typeface="Arial"/>
              </a:rPr>
              <a:t>هدف الحصة ونواتج التعلم</a:t>
            </a:r>
          </a:p>
        </p:txBody>
      </p:sp>
      <p:sp>
        <p:nvSpPr>
          <p:cNvPr id="14" name="TextBox 13"/>
          <p:cNvSpPr txBox="1"/>
          <p:nvPr/>
        </p:nvSpPr>
        <p:spPr>
          <a:xfrm>
            <a:off x="2606040" y="1280160"/>
            <a:ext cx="6949440"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ماذا تتوقعون أن نتعلم اليوم؟</a:t>
            </a:r>
          </a:p>
        </p:txBody>
      </p:sp>
      <p:pic>
        <p:nvPicPr>
          <p:cNvPr id="15" name="Picture 14" descr="badge_ahmed.png"/>
          <p:cNvPicPr>
            <a:picLocks noChangeAspect="1"/>
          </p:cNvPicPr>
          <p:nvPr/>
        </p:nvPicPr>
        <p:blipFill>
          <a:blip r:embed="rId3"/>
          <a:stretch>
            <a:fillRect/>
          </a:stretch>
        </p:blipFill>
        <p:spPr>
          <a:xfrm>
            <a:off x="2697480" y="1856891"/>
            <a:ext cx="603504" cy="638760"/>
          </a:xfrm>
          <a:prstGeom prst="rect">
            <a:avLst/>
          </a:prstGeom>
        </p:spPr>
      </p:pic>
      <p:sp>
        <p:nvSpPr>
          <p:cNvPr id="16" name="Rounded Rectangular Callout 15"/>
          <p:cNvSpPr/>
          <p:nvPr/>
        </p:nvSpPr>
        <p:spPr>
          <a:xfrm>
            <a:off x="3410712" y="1847088"/>
            <a:ext cx="4773168" cy="658368"/>
          </a:xfrm>
          <a:prstGeom prst="wedgeRoundRectCallout">
            <a:avLst>
              <a:gd name="adj1" fmla="val -53065"/>
              <a:gd name="adj2" fmla="val 12000"/>
              <a:gd name="adj3" fmla="val 16667"/>
            </a:avLst>
          </a:prstGeom>
          <a:solidFill>
            <a:srgbClr val="FFFFFF"/>
          </a:solidFill>
          <a:ln w="22225">
            <a:solidFill>
              <a:srgbClr val="1C2F5E"/>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17" name="TextBox 16"/>
          <p:cNvSpPr txBox="1"/>
          <p:nvPr/>
        </p:nvSpPr>
        <p:spPr>
          <a:xfrm>
            <a:off x="3465576" y="1865376"/>
            <a:ext cx="4663440" cy="621792"/>
          </a:xfrm>
          <a:prstGeom prst="rect">
            <a:avLst/>
          </a:prstGeom>
          <a:noFill/>
        </p:spPr>
        <p:txBody>
          <a:bodyPr wrap="square" lIns="54864" rIns="54864" tIns="27432" bIns="27432" anchor="ctr"/>
          <a:lstStyle/>
          <a:p>
            <a:pPr algn="r" rtl="1"/>
            <a:r>
              <a:rPr sz="1300" b="1" i="0" lang="ar-AE" altLang="en-US">
                <a:solidFill>
                  <a:srgbClr val="1C2F5E"/>
                </a:solidFill>
                <a:latin typeface="Arial"/>
                <a:cs typeface="Arial"/>
              </a:rPr>
              <a:t>أحمد: </a:t>
            </a:r>
            <a:r>
              <a:rPr sz="1300" b="1" i="0" lang="ar-AE" altLang="en-US">
                <a:solidFill>
                  <a:srgbClr val="102A43"/>
                </a:solidFill>
                <a:latin typeface="Arial"/>
                <a:cs typeface="Arial"/>
              </a:rPr>
              <a:t>من التجربة… استنتجوا هدفنا اليوم، ثم لنتحقق منه معًا!</a:t>
            </a:r>
          </a:p>
        </p:txBody>
      </p:sp>
      <p:sp>
        <p:nvSpPr>
          <p:cNvPr id="18" name="Rounded Rectangle 17"/>
          <p:cNvSpPr/>
          <p:nvPr/>
        </p:nvSpPr>
        <p:spPr>
          <a:xfrm>
            <a:off x="2697480" y="2651760"/>
            <a:ext cx="9144000" cy="868680"/>
          </a:xfrm>
          <a:prstGeom prst="roundRect">
            <a:avLst>
              <a:gd name="adj" fmla="val 14736"/>
            </a:avLst>
          </a:prstGeom>
          <a:solidFill>
            <a:srgbClr val="102A43"/>
          </a:solidFill>
          <a:ln>
            <a:noFill/>
          </a:ln>
        </p:spPr>
        <p:txBody>
          <a:bodyPr rtlCol="0" anchor="ctr" lIns="182880" rIns="182880" wrap="square"/>
          <a:lstStyle/>
          <a:p>
            <a:pPr algn="r" rtl="1"/>
            <a:r>
              <a:rPr sz="1550" b="1" i="0" lang="ar-AE" altLang="en-US">
                <a:solidFill>
                  <a:srgbClr val="C9A96A"/>
                </a:solidFill>
                <a:latin typeface="Arial"/>
                <a:cs typeface="Arial"/>
              </a:rPr>
              <a:t>هدف الحصة: </a:t>
            </a:r>
            <a:r>
              <a:rPr sz="1550" b="1" i="0" lang="ar-AE" altLang="en-US">
                <a:solidFill>
                  <a:srgbClr val="FFFFFF"/>
                </a:solidFill>
                <a:latin typeface="Arial"/>
                <a:cs typeface="Arial"/>
              </a:rPr>
              <a:t>يستكشف الطالب كيف ينتقل الكربون والأكسجين عبر الأجزاء الحية وغير الحية من النظام البيئي، وكيف يؤثّر الإنسان في توازن دورتيهما.</a:t>
            </a:r>
          </a:p>
        </p:txBody>
      </p:sp>
      <p:sp>
        <p:nvSpPr>
          <p:cNvPr id="19" name="Rounded Rectangle 18"/>
          <p:cNvSpPr/>
          <p:nvPr/>
        </p:nvSpPr>
        <p:spPr>
          <a:xfrm>
            <a:off x="8851392"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t" lIns="128016" rIns="128016" tIns="109728" bIns="109728" wrap="square"/>
          <a:lstStyle/>
          <a:p>
            <a:pPr algn="r" rtl="1"/>
            <a:r>
              <a:rPr sz="1400" b="1" i="0" lang="ar-AE" altLang="en-US">
                <a:solidFill>
                  <a:srgbClr val="2E7D32"/>
                </a:solidFill>
                <a:latin typeface="Arial"/>
                <a:cs typeface="Arial"/>
              </a:rPr>
              <a:t>1. </a:t>
            </a:r>
            <a:r>
              <a:rPr sz="1400" b="1" i="0" lang="ar-AE" altLang="en-US">
                <a:solidFill>
                  <a:srgbClr val="102A43"/>
                </a:solidFill>
                <a:latin typeface="Arial"/>
                <a:cs typeface="Arial"/>
              </a:rPr>
              <a:t>يوضّح دور البناء الضوئي والتنفس الخلوي في تدوير الكربون والأكسجين بين الأجزاء الحيوية وغير الحيوية.</a:t>
            </a:r>
          </a:p>
        </p:txBody>
      </p:sp>
      <p:sp>
        <p:nvSpPr>
          <p:cNvPr id="20" name="Rounded Rectangle 19"/>
          <p:cNvSpPr/>
          <p:nvPr/>
        </p:nvSpPr>
        <p:spPr>
          <a:xfrm>
            <a:off x="8961119" y="5047488"/>
            <a:ext cx="1143000" cy="310896"/>
          </a:xfrm>
          <a:prstGeom prst="roundRect">
            <a:avLst>
              <a:gd name="adj" fmla="val 50000"/>
            </a:avLst>
          </a:prstGeom>
          <a:solidFill>
            <a:srgbClr val="3A86C8"/>
          </a:solidFill>
          <a:ln>
            <a:noFill/>
          </a:ln>
        </p:spPr>
        <p:txBody>
          <a:bodyPr rtlCol="0" anchor="ctr" lIns="0" rIns="0" tIns="0" bIns="0" wrap="square"/>
          <a:lstStyle/>
          <a:p>
            <a:pPr algn="ctr" rtl="1"/>
            <a:r>
              <a:rPr sz="1200" b="1" i="0" lang="ar-AE" altLang="en-US">
                <a:solidFill>
                  <a:srgbClr val="FFFFFF"/>
                </a:solidFill>
                <a:latin typeface="Arial"/>
                <a:cs typeface="Arial"/>
              </a:rPr>
              <a:t>فهم</a:t>
            </a:r>
          </a:p>
        </p:txBody>
      </p:sp>
      <p:sp>
        <p:nvSpPr>
          <p:cNvPr id="21" name="Rounded Rectangle 20"/>
          <p:cNvSpPr/>
          <p:nvPr/>
        </p:nvSpPr>
        <p:spPr>
          <a:xfrm>
            <a:off x="5769864"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t" lIns="128016" rIns="128016" tIns="109728" bIns="109728" wrap="square"/>
          <a:lstStyle/>
          <a:p>
            <a:pPr algn="r" rtl="1"/>
            <a:r>
              <a:rPr sz="1400" b="1" i="0" lang="ar-AE" altLang="en-US">
                <a:solidFill>
                  <a:srgbClr val="2E7D32"/>
                </a:solidFill>
                <a:latin typeface="Arial"/>
                <a:cs typeface="Arial"/>
              </a:rPr>
              <a:t>2. </a:t>
            </a:r>
            <a:r>
              <a:rPr sz="1400" b="1" i="0" lang="ar-AE" altLang="en-US">
                <a:solidFill>
                  <a:srgbClr val="102A43"/>
                </a:solidFill>
                <a:latin typeface="Arial"/>
                <a:cs typeface="Arial"/>
              </a:rPr>
              <a:t>يصف المسارات طويلة المدى للكربون: الوقود الأحفوري والصخور الكلسية.</a:t>
            </a:r>
          </a:p>
        </p:txBody>
      </p:sp>
      <p:sp>
        <p:nvSpPr>
          <p:cNvPr id="22" name="Rounded Rectangle 21"/>
          <p:cNvSpPr/>
          <p:nvPr/>
        </p:nvSpPr>
        <p:spPr>
          <a:xfrm>
            <a:off x="5879592" y="5047488"/>
            <a:ext cx="1143000" cy="310896"/>
          </a:xfrm>
          <a:prstGeom prst="roundRect">
            <a:avLst>
              <a:gd name="adj" fmla="val 50000"/>
            </a:avLst>
          </a:prstGeom>
          <a:solidFill>
            <a:srgbClr val="5E9E47"/>
          </a:solidFill>
          <a:ln>
            <a:noFill/>
          </a:ln>
        </p:spPr>
        <p:txBody>
          <a:bodyPr rtlCol="0" anchor="ctr" lIns="0" rIns="0" tIns="0" bIns="0" wrap="square"/>
          <a:lstStyle/>
          <a:p>
            <a:pPr algn="ctr" rtl="1"/>
            <a:r>
              <a:rPr sz="1200" b="1" i="0" lang="ar-AE" altLang="en-US">
                <a:solidFill>
                  <a:srgbClr val="FFFFFF"/>
                </a:solidFill>
                <a:latin typeface="Arial"/>
                <a:cs typeface="Arial"/>
              </a:rPr>
              <a:t>تطبيق</a:t>
            </a:r>
          </a:p>
        </p:txBody>
      </p:sp>
      <p:sp>
        <p:nvSpPr>
          <p:cNvPr id="23" name="Rounded Rectangle 22"/>
          <p:cNvSpPr/>
          <p:nvPr/>
        </p:nvSpPr>
        <p:spPr>
          <a:xfrm>
            <a:off x="2688335"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t" lIns="128016" rIns="128016" tIns="109728" bIns="109728" wrap="square"/>
          <a:lstStyle/>
          <a:p>
            <a:pPr algn="r" rtl="1"/>
            <a:r>
              <a:rPr sz="1400" b="1" i="0" lang="ar-AE" altLang="en-US">
                <a:solidFill>
                  <a:srgbClr val="2E7D32"/>
                </a:solidFill>
                <a:latin typeface="Arial"/>
                <a:cs typeface="Arial"/>
              </a:rPr>
              <a:t>3. </a:t>
            </a:r>
            <a:r>
              <a:rPr sz="1400" b="1" i="0" lang="ar-AE" altLang="en-US">
                <a:solidFill>
                  <a:srgbClr val="102A43"/>
                </a:solidFill>
                <a:latin typeface="Arial"/>
                <a:cs typeface="Arial"/>
              </a:rPr>
              <a:t>يتنبّأ بأثر حرق الوقود الأحفوري وإزالة الغابات في دورة الكربون، ويقترح حلولًا.</a:t>
            </a:r>
          </a:p>
        </p:txBody>
      </p:sp>
      <p:sp>
        <p:nvSpPr>
          <p:cNvPr id="24" name="Rounded Rectangle 23"/>
          <p:cNvSpPr/>
          <p:nvPr/>
        </p:nvSpPr>
        <p:spPr>
          <a:xfrm>
            <a:off x="2798063" y="5047488"/>
            <a:ext cx="1143000" cy="310896"/>
          </a:xfrm>
          <a:prstGeom prst="roundRect">
            <a:avLst>
              <a:gd name="adj" fmla="val 50000"/>
            </a:avLst>
          </a:prstGeom>
          <a:solidFill>
            <a:srgbClr val="E07B27"/>
          </a:solidFill>
          <a:ln>
            <a:noFill/>
          </a:ln>
        </p:spPr>
        <p:txBody>
          <a:bodyPr rtlCol="0" anchor="ctr" lIns="0" rIns="0" tIns="0" bIns="0" wrap="square"/>
          <a:lstStyle/>
          <a:p>
            <a:pPr algn="ctr" rtl="1"/>
            <a:r>
              <a:rPr sz="1200" b="1" i="0" lang="ar-AE" altLang="en-US">
                <a:solidFill>
                  <a:srgbClr val="FFFFFF"/>
                </a:solidFill>
                <a:latin typeface="Arial"/>
                <a:cs typeface="Arial"/>
              </a:rPr>
              <a:t>تقويم</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flow.png"/>
          <p:cNvPicPr>
            <a:picLocks noChangeAspect="1"/>
          </p:cNvPicPr>
          <p:nvPr/>
        </p:nvPicPr>
        <p:blipFill>
          <a:blip r:embed="rId2"/>
          <a:stretch>
            <a:fillRect/>
          </a:stretch>
        </p:blipFill>
        <p:spPr>
          <a:xfrm>
            <a:off x="0" y="0"/>
            <a:ext cx="12191695" cy="6858000"/>
          </a:xfrm>
          <a:prstGeom prst="rect">
            <a:avLst/>
          </a:prstGeom>
        </p:spPr>
      </p:pic>
      <p:pic>
        <p:nvPicPr>
          <p:cNvPr id="3" name="Picture 2" descr="bulb_w.png"/>
          <p:cNvPicPr>
            <a:picLocks noChangeAspect="1"/>
          </p:cNvPicPr>
          <p:nvPr/>
        </p:nvPicPr>
        <p:blipFill>
          <a:blip r:embed="rId3"/>
          <a:stretch>
            <a:fillRect/>
          </a:stretch>
        </p:blipFill>
        <p:spPr>
          <a:xfrm>
            <a:off x="9846564" y="2378964"/>
            <a:ext cx="347472" cy="347472"/>
          </a:xfrm>
          <a:prstGeom prst="rect">
            <a:avLst/>
          </a:prstGeom>
        </p:spPr>
      </p:pic>
      <p:sp>
        <p:nvSpPr>
          <p:cNvPr id="4" name="TextBox 3"/>
          <p:cNvSpPr txBox="1"/>
          <p:nvPr/>
        </p:nvSpPr>
        <p:spPr>
          <a:xfrm>
            <a:off x="9277350" y="3543300"/>
            <a:ext cx="1628775" cy="342900"/>
          </a:xfrm>
          <a:prstGeom prst="rect">
            <a:avLst/>
          </a:prstGeom>
          <a:noFill/>
        </p:spPr>
        <p:txBody>
          <a:bodyPr wrap="square" lIns="18288" rIns="18288" tIns="0" bIns="0" anchor="ctr"/>
          <a:lstStyle/>
          <a:p>
            <a:pPr algn="ctr" rtl="1"/>
            <a:r>
              <a:rPr sz="1350" b="1" i="0" lang="ar-AE" altLang="en-US">
                <a:solidFill>
                  <a:srgbClr val="102A43"/>
                </a:solidFill>
                <a:latin typeface="Arial"/>
                <a:cs typeface="Arial"/>
              </a:rPr>
              <a:t>التهيئة والأهداف</a:t>
            </a:r>
          </a:p>
        </p:txBody>
      </p:sp>
      <p:sp>
        <p:nvSpPr>
          <p:cNvPr id="5" name="Rounded Rectangle 4"/>
          <p:cNvSpPr/>
          <p:nvPr/>
        </p:nvSpPr>
        <p:spPr>
          <a:xfrm>
            <a:off x="9467850" y="3914775"/>
            <a:ext cx="1247775" cy="285750"/>
          </a:xfrm>
          <a:prstGeom prst="roundRect">
            <a:avLst>
              <a:gd name="adj" fmla="val 48000"/>
            </a:avLst>
          </a:prstGeom>
          <a:solidFill>
            <a:srgbClr val="138955"/>
          </a:solidFill>
          <a:ln>
            <a:noFill/>
          </a:ln>
        </p:spPr>
        <p:txBody>
          <a:bodyPr rtlCol="0" anchor="ctr" lIns="0" rIns="0" tIns="0" bIns="0" wrap="square"/>
          <a:lstStyle/>
          <a:p>
            <a:pPr algn="ctr" rtl="1"/>
            <a:r>
              <a:rPr sz="1250" b="1" i="0" lang="ar-AE" altLang="en-US">
                <a:solidFill>
                  <a:srgbClr val="FFFFFF"/>
                </a:solidFill>
                <a:latin typeface="Arial"/>
                <a:cs typeface="Arial"/>
              </a:rPr>
              <a:t>10 دقائق</a:t>
            </a:r>
          </a:p>
        </p:txBody>
      </p:sp>
      <p:sp>
        <p:nvSpPr>
          <p:cNvPr id="6" name="TextBox 5"/>
          <p:cNvSpPr txBox="1"/>
          <p:nvPr/>
        </p:nvSpPr>
        <p:spPr>
          <a:xfrm>
            <a:off x="9296400" y="4267200"/>
            <a:ext cx="1590675" cy="838200"/>
          </a:xfrm>
          <a:prstGeom prst="rect">
            <a:avLst/>
          </a:prstGeom>
          <a:noFill/>
        </p:spPr>
        <p:txBody>
          <a:bodyPr wrap="square" lIns="18288" rIns="18288" tIns="0" bIns="0" anchor="t"/>
          <a:lstStyle/>
          <a:p>
            <a:pPr algn="ctr" rtl="1"/>
            <a:r>
              <a:rPr sz="1100" b="1" i="0" lang="ar-AE" altLang="en-US">
                <a:solidFill>
                  <a:srgbClr val="4A5A70"/>
                </a:solidFill>
                <a:latin typeface="Arial"/>
                <a:cs typeface="Arial"/>
              </a:rPr>
              <a:t>تجربة ماء الجير، التقويم القبلي، الهدف والمفردات</a:t>
            </a:r>
          </a:p>
        </p:txBody>
      </p:sp>
      <p:sp>
        <p:nvSpPr>
          <p:cNvPr id="7" name="TextBox 6"/>
          <p:cNvSpPr txBox="1"/>
          <p:nvPr/>
        </p:nvSpPr>
        <p:spPr>
          <a:xfrm>
            <a:off x="7936229" y="2278380"/>
            <a:ext cx="548640" cy="548640"/>
          </a:xfrm>
          <a:prstGeom prst="rect">
            <a:avLst/>
          </a:prstGeom>
          <a:noFill/>
        </p:spPr>
        <p:txBody>
          <a:bodyPr wrap="square" lIns="0" rIns="0" tIns="0" bIns="0" anchor="ctr"/>
          <a:lstStyle/>
          <a:p>
            <a:pPr algn="ctr" rtl="1"/>
            <a:r>
              <a:rPr sz="2200" b="1" i="0" lang="ar-AE" altLang="en-US">
                <a:solidFill>
                  <a:srgbClr val="FFFFFF"/>
                </a:solidFill>
                <a:latin typeface="Arial"/>
                <a:cs typeface="Arial"/>
              </a:rPr>
              <a:t>1</a:t>
            </a:r>
          </a:p>
        </p:txBody>
      </p:sp>
      <p:sp>
        <p:nvSpPr>
          <p:cNvPr id="8" name="TextBox 7"/>
          <p:cNvSpPr txBox="1"/>
          <p:nvPr/>
        </p:nvSpPr>
        <p:spPr>
          <a:xfrm>
            <a:off x="7467599" y="3543300"/>
            <a:ext cx="1619250" cy="342900"/>
          </a:xfrm>
          <a:prstGeom prst="rect">
            <a:avLst/>
          </a:prstGeom>
          <a:noFill/>
        </p:spPr>
        <p:txBody>
          <a:bodyPr wrap="square" lIns="18288" rIns="18288" tIns="0" bIns="0" anchor="ctr"/>
          <a:lstStyle/>
          <a:p>
            <a:pPr algn="ctr" rtl="1"/>
            <a:r>
              <a:rPr sz="1350" b="1" i="0" lang="ar-AE" altLang="en-US">
                <a:solidFill>
                  <a:srgbClr val="102A43"/>
                </a:solidFill>
                <a:latin typeface="Arial"/>
                <a:cs typeface="Arial"/>
              </a:rPr>
              <a:t>الناتج الأول</a:t>
            </a:r>
          </a:p>
        </p:txBody>
      </p:sp>
      <p:sp>
        <p:nvSpPr>
          <p:cNvPr id="9" name="Rounded Rectangle 8"/>
          <p:cNvSpPr/>
          <p:nvPr/>
        </p:nvSpPr>
        <p:spPr>
          <a:xfrm>
            <a:off x="7658100" y="3914775"/>
            <a:ext cx="1238250" cy="285750"/>
          </a:xfrm>
          <a:prstGeom prst="roundRect">
            <a:avLst>
              <a:gd name="adj" fmla="val 48000"/>
            </a:avLst>
          </a:prstGeom>
          <a:solidFill>
            <a:srgbClr val="1C7B7D"/>
          </a:solidFill>
          <a:ln>
            <a:noFill/>
          </a:ln>
        </p:spPr>
        <p:txBody>
          <a:bodyPr rtlCol="0" anchor="ctr" lIns="0" rIns="0" tIns="0" bIns="0" wrap="square"/>
          <a:lstStyle/>
          <a:p>
            <a:pPr algn="ctr" rtl="1"/>
            <a:r>
              <a:rPr sz="1250" b="1" i="0" lang="ar-AE" altLang="en-US">
                <a:solidFill>
                  <a:srgbClr val="FFFFFF"/>
                </a:solidFill>
                <a:latin typeface="Arial"/>
                <a:cs typeface="Arial"/>
              </a:rPr>
              <a:t>9 دقائق</a:t>
            </a:r>
          </a:p>
        </p:txBody>
      </p:sp>
      <p:sp>
        <p:nvSpPr>
          <p:cNvPr id="10" name="TextBox 9"/>
          <p:cNvSpPr txBox="1"/>
          <p:nvPr/>
        </p:nvSpPr>
        <p:spPr>
          <a:xfrm>
            <a:off x="7486650" y="4267200"/>
            <a:ext cx="1581150" cy="838200"/>
          </a:xfrm>
          <a:prstGeom prst="rect">
            <a:avLst/>
          </a:prstGeom>
          <a:noFill/>
        </p:spPr>
        <p:txBody>
          <a:bodyPr wrap="square" lIns="18288" rIns="18288" tIns="0" bIns="0" anchor="t"/>
          <a:lstStyle/>
          <a:p>
            <a:pPr algn="ctr" rtl="1"/>
            <a:r>
              <a:rPr sz="1100" b="1" i="0" lang="ar-AE" altLang="en-US">
                <a:solidFill>
                  <a:srgbClr val="4A5A70"/>
                </a:solidFill>
                <a:latin typeface="Arial"/>
                <a:cs typeface="Arial"/>
              </a:rPr>
              <a:t>البناء الضوئي والتنفس… رحلة ذرة الكربون</a:t>
            </a:r>
          </a:p>
        </p:txBody>
      </p:sp>
      <p:sp>
        <p:nvSpPr>
          <p:cNvPr id="11" name="TextBox 10"/>
          <p:cNvSpPr txBox="1"/>
          <p:nvPr/>
        </p:nvSpPr>
        <p:spPr>
          <a:xfrm>
            <a:off x="6136005" y="2278380"/>
            <a:ext cx="548640" cy="548640"/>
          </a:xfrm>
          <a:prstGeom prst="rect">
            <a:avLst/>
          </a:prstGeom>
          <a:noFill/>
        </p:spPr>
        <p:txBody>
          <a:bodyPr wrap="square" lIns="0" rIns="0" tIns="0" bIns="0" anchor="ctr"/>
          <a:lstStyle/>
          <a:p>
            <a:pPr algn="ctr" rtl="1"/>
            <a:r>
              <a:rPr sz="2200" b="1" i="0" lang="ar-AE" altLang="en-US">
                <a:solidFill>
                  <a:srgbClr val="FFFFFF"/>
                </a:solidFill>
                <a:latin typeface="Arial"/>
                <a:cs typeface="Arial"/>
              </a:rPr>
              <a:t>2</a:t>
            </a:r>
          </a:p>
        </p:txBody>
      </p:sp>
      <p:sp>
        <p:nvSpPr>
          <p:cNvPr id="12" name="TextBox 11"/>
          <p:cNvSpPr txBox="1"/>
          <p:nvPr/>
        </p:nvSpPr>
        <p:spPr>
          <a:xfrm>
            <a:off x="5667375" y="3543300"/>
            <a:ext cx="1609725" cy="342900"/>
          </a:xfrm>
          <a:prstGeom prst="rect">
            <a:avLst/>
          </a:prstGeom>
          <a:noFill/>
        </p:spPr>
        <p:txBody>
          <a:bodyPr wrap="square" lIns="18288" rIns="18288" tIns="0" bIns="0" anchor="ctr"/>
          <a:lstStyle/>
          <a:p>
            <a:pPr algn="ctr" rtl="1"/>
            <a:r>
              <a:rPr sz="1350" b="1" i="0" lang="ar-AE" altLang="en-US">
                <a:solidFill>
                  <a:srgbClr val="102A43"/>
                </a:solidFill>
                <a:latin typeface="Arial"/>
                <a:cs typeface="Arial"/>
              </a:rPr>
              <a:t>الناتج الثاني</a:t>
            </a:r>
          </a:p>
        </p:txBody>
      </p:sp>
      <p:sp>
        <p:nvSpPr>
          <p:cNvPr id="13" name="Rounded Rectangle 12"/>
          <p:cNvSpPr/>
          <p:nvPr/>
        </p:nvSpPr>
        <p:spPr>
          <a:xfrm>
            <a:off x="5857875" y="3914775"/>
            <a:ext cx="1228725" cy="285750"/>
          </a:xfrm>
          <a:prstGeom prst="roundRect">
            <a:avLst>
              <a:gd name="adj" fmla="val 48000"/>
            </a:avLst>
          </a:prstGeom>
          <a:solidFill>
            <a:srgbClr val="2E5D7B"/>
          </a:solidFill>
          <a:ln>
            <a:noFill/>
          </a:ln>
        </p:spPr>
        <p:txBody>
          <a:bodyPr rtlCol="0" anchor="ctr" lIns="0" rIns="0" tIns="0" bIns="0" wrap="square"/>
          <a:lstStyle/>
          <a:p>
            <a:pPr algn="ctr" rtl="1"/>
            <a:r>
              <a:rPr sz="1250" b="1" i="0" lang="ar-AE" altLang="en-US">
                <a:solidFill>
                  <a:srgbClr val="FFFFFF"/>
                </a:solidFill>
                <a:latin typeface="Arial"/>
                <a:cs typeface="Arial"/>
              </a:rPr>
              <a:t>10 دقائق</a:t>
            </a:r>
          </a:p>
        </p:txBody>
      </p:sp>
      <p:sp>
        <p:nvSpPr>
          <p:cNvPr id="14" name="TextBox 13"/>
          <p:cNvSpPr txBox="1"/>
          <p:nvPr/>
        </p:nvSpPr>
        <p:spPr>
          <a:xfrm>
            <a:off x="5686425" y="4267200"/>
            <a:ext cx="1571625" cy="838200"/>
          </a:xfrm>
          <a:prstGeom prst="rect">
            <a:avLst/>
          </a:prstGeom>
          <a:noFill/>
        </p:spPr>
        <p:txBody>
          <a:bodyPr wrap="square" lIns="18288" rIns="18288" tIns="0" bIns="0" anchor="t"/>
          <a:lstStyle/>
          <a:p>
            <a:pPr algn="ctr" rtl="1"/>
            <a:r>
              <a:rPr sz="1100" b="1" i="0" lang="ar-AE" altLang="en-US">
                <a:solidFill>
                  <a:srgbClr val="4A5A70"/>
                </a:solidFill>
                <a:latin typeface="Arial"/>
                <a:cs typeface="Arial"/>
              </a:rPr>
              <a:t>الوقود الأحفوري والصخور الكلسية وجبل حفيت</a:t>
            </a:r>
          </a:p>
        </p:txBody>
      </p:sp>
      <p:sp>
        <p:nvSpPr>
          <p:cNvPr id="15" name="TextBox 14"/>
          <p:cNvSpPr txBox="1"/>
          <p:nvPr/>
        </p:nvSpPr>
        <p:spPr>
          <a:xfrm>
            <a:off x="4326255" y="2278380"/>
            <a:ext cx="548640" cy="548640"/>
          </a:xfrm>
          <a:prstGeom prst="rect">
            <a:avLst/>
          </a:prstGeom>
          <a:noFill/>
        </p:spPr>
        <p:txBody>
          <a:bodyPr wrap="square" lIns="0" rIns="0" tIns="0" bIns="0" anchor="ctr"/>
          <a:lstStyle/>
          <a:p>
            <a:pPr algn="ctr" rtl="1"/>
            <a:r>
              <a:rPr sz="2200" b="1" i="0" lang="ar-AE" altLang="en-US">
                <a:solidFill>
                  <a:srgbClr val="FFFFFF"/>
                </a:solidFill>
                <a:latin typeface="Arial"/>
                <a:cs typeface="Arial"/>
              </a:rPr>
              <a:t>3</a:t>
            </a:r>
          </a:p>
        </p:txBody>
      </p:sp>
      <p:sp>
        <p:nvSpPr>
          <p:cNvPr id="16" name="TextBox 15"/>
          <p:cNvSpPr txBox="1"/>
          <p:nvPr/>
        </p:nvSpPr>
        <p:spPr>
          <a:xfrm>
            <a:off x="3857625" y="3543300"/>
            <a:ext cx="1619250" cy="342900"/>
          </a:xfrm>
          <a:prstGeom prst="rect">
            <a:avLst/>
          </a:prstGeom>
          <a:noFill/>
        </p:spPr>
        <p:txBody>
          <a:bodyPr wrap="square" lIns="18288" rIns="18288" tIns="0" bIns="0" anchor="ctr"/>
          <a:lstStyle/>
          <a:p>
            <a:pPr algn="ctr" rtl="1"/>
            <a:r>
              <a:rPr sz="1350" b="1" i="0" lang="ar-AE" altLang="en-US">
                <a:solidFill>
                  <a:srgbClr val="102A43"/>
                </a:solidFill>
                <a:latin typeface="Arial"/>
                <a:cs typeface="Arial"/>
              </a:rPr>
              <a:t>الناتج الثالث</a:t>
            </a:r>
          </a:p>
        </p:txBody>
      </p:sp>
      <p:sp>
        <p:nvSpPr>
          <p:cNvPr id="17" name="Rounded Rectangle 16"/>
          <p:cNvSpPr/>
          <p:nvPr/>
        </p:nvSpPr>
        <p:spPr>
          <a:xfrm>
            <a:off x="4048124" y="3914775"/>
            <a:ext cx="1238250" cy="285750"/>
          </a:xfrm>
          <a:prstGeom prst="roundRect">
            <a:avLst>
              <a:gd name="adj" fmla="val 48000"/>
            </a:avLst>
          </a:prstGeom>
          <a:solidFill>
            <a:srgbClr val="996B2F"/>
          </a:solidFill>
          <a:ln>
            <a:noFill/>
          </a:ln>
        </p:spPr>
        <p:txBody>
          <a:bodyPr rtlCol="0" anchor="ctr" lIns="0" rIns="0" tIns="0" bIns="0" wrap="square"/>
          <a:lstStyle/>
          <a:p>
            <a:pPr algn="ctr" rtl="1"/>
            <a:r>
              <a:rPr sz="1250" b="1" i="0" lang="ar-AE" altLang="en-US">
                <a:solidFill>
                  <a:srgbClr val="FFFFFF"/>
                </a:solidFill>
                <a:latin typeface="Arial"/>
                <a:cs typeface="Arial"/>
              </a:rPr>
              <a:t>10 دقائق</a:t>
            </a:r>
          </a:p>
        </p:txBody>
      </p:sp>
      <p:sp>
        <p:nvSpPr>
          <p:cNvPr id="18" name="TextBox 17"/>
          <p:cNvSpPr txBox="1"/>
          <p:nvPr/>
        </p:nvSpPr>
        <p:spPr>
          <a:xfrm>
            <a:off x="3876674" y="4267200"/>
            <a:ext cx="1581150" cy="838200"/>
          </a:xfrm>
          <a:prstGeom prst="rect">
            <a:avLst/>
          </a:prstGeom>
          <a:noFill/>
        </p:spPr>
        <p:txBody>
          <a:bodyPr wrap="square" lIns="18288" rIns="18288" tIns="0" bIns="0" anchor="t"/>
          <a:lstStyle/>
          <a:p>
            <a:pPr algn="ctr" rtl="1"/>
            <a:r>
              <a:rPr sz="1100" b="1" i="0" lang="ar-AE" altLang="en-US">
                <a:solidFill>
                  <a:srgbClr val="4A5A70"/>
                </a:solidFill>
                <a:latin typeface="Arial"/>
                <a:cs typeface="Arial"/>
              </a:rPr>
              <a:t>الإنسان ودورة الكربون… والحلول الإماراتية</a:t>
            </a:r>
          </a:p>
        </p:txBody>
      </p:sp>
      <p:pic>
        <p:nvPicPr>
          <p:cNvPr id="19" name="Picture 18" descr="ticket_w.png"/>
          <p:cNvPicPr>
            <a:picLocks noChangeAspect="1"/>
          </p:cNvPicPr>
          <p:nvPr/>
        </p:nvPicPr>
        <p:blipFill>
          <a:blip r:embed="rId4"/>
          <a:stretch>
            <a:fillRect/>
          </a:stretch>
        </p:blipFill>
        <p:spPr>
          <a:xfrm>
            <a:off x="2617089" y="2378964"/>
            <a:ext cx="347472" cy="347472"/>
          </a:xfrm>
          <a:prstGeom prst="rect">
            <a:avLst/>
          </a:prstGeom>
        </p:spPr>
      </p:pic>
      <p:sp>
        <p:nvSpPr>
          <p:cNvPr id="20" name="TextBox 19"/>
          <p:cNvSpPr txBox="1"/>
          <p:nvPr/>
        </p:nvSpPr>
        <p:spPr>
          <a:xfrm>
            <a:off x="1905000" y="3543300"/>
            <a:ext cx="1762125" cy="342900"/>
          </a:xfrm>
          <a:prstGeom prst="rect">
            <a:avLst/>
          </a:prstGeom>
          <a:noFill/>
        </p:spPr>
        <p:txBody>
          <a:bodyPr wrap="square" lIns="18288" rIns="18288" tIns="0" bIns="0" anchor="ctr"/>
          <a:lstStyle/>
          <a:p>
            <a:pPr algn="ctr" rtl="1"/>
            <a:r>
              <a:rPr sz="1350" b="1" i="0" lang="ar-AE" altLang="en-US">
                <a:solidFill>
                  <a:srgbClr val="102A43"/>
                </a:solidFill>
                <a:latin typeface="Arial"/>
                <a:cs typeface="Arial"/>
              </a:rPr>
              <a:t>الختام</a:t>
            </a:r>
          </a:p>
        </p:txBody>
      </p:sp>
      <p:sp>
        <p:nvSpPr>
          <p:cNvPr id="21" name="Rounded Rectangle 20"/>
          <p:cNvSpPr/>
          <p:nvPr/>
        </p:nvSpPr>
        <p:spPr>
          <a:xfrm>
            <a:off x="2095499" y="3914775"/>
            <a:ext cx="1381125" cy="285750"/>
          </a:xfrm>
          <a:prstGeom prst="roundRect">
            <a:avLst>
              <a:gd name="adj" fmla="val 48000"/>
            </a:avLst>
          </a:prstGeom>
          <a:solidFill>
            <a:srgbClr val="C8102E"/>
          </a:solidFill>
          <a:ln>
            <a:noFill/>
          </a:ln>
        </p:spPr>
        <p:txBody>
          <a:bodyPr rtlCol="0" anchor="ctr" lIns="0" rIns="0" tIns="0" bIns="0" wrap="square"/>
          <a:lstStyle/>
          <a:p>
            <a:pPr algn="ctr" rtl="1"/>
            <a:r>
              <a:rPr sz="1250" b="1" i="0" lang="ar-AE" altLang="en-US">
                <a:solidFill>
                  <a:srgbClr val="FFFFFF"/>
                </a:solidFill>
                <a:latin typeface="Arial"/>
                <a:cs typeface="Arial"/>
              </a:rPr>
              <a:t>6 دقائق</a:t>
            </a:r>
          </a:p>
        </p:txBody>
      </p:sp>
      <p:sp>
        <p:nvSpPr>
          <p:cNvPr id="22" name="TextBox 21"/>
          <p:cNvSpPr txBox="1"/>
          <p:nvPr/>
        </p:nvSpPr>
        <p:spPr>
          <a:xfrm>
            <a:off x="1924049" y="4267200"/>
            <a:ext cx="1724025" cy="838200"/>
          </a:xfrm>
          <a:prstGeom prst="rect">
            <a:avLst/>
          </a:prstGeom>
          <a:noFill/>
        </p:spPr>
        <p:txBody>
          <a:bodyPr wrap="square" lIns="18288" rIns="18288" tIns="0" bIns="0" anchor="t"/>
          <a:lstStyle/>
          <a:p>
            <a:pPr algn="ctr" rtl="1"/>
            <a:r>
              <a:rPr sz="1100" b="1" i="0" lang="ar-AE" altLang="en-US">
                <a:solidFill>
                  <a:srgbClr val="4A5A70"/>
                </a:solidFill>
                <a:latin typeface="Arial"/>
                <a:cs typeface="Arial"/>
              </a:rPr>
              <a:t>الخلاصة، التقويم الذاتي، بطاقة الخروج</a:t>
            </a:r>
          </a:p>
        </p:txBody>
      </p:sp>
      <p:pic>
        <p:nvPicPr>
          <p:cNvPr id="23" name="Picture 22" descr="stopwatch_n.png"/>
          <p:cNvPicPr>
            <a:picLocks noChangeAspect="1"/>
          </p:cNvPicPr>
          <p:nvPr/>
        </p:nvPicPr>
        <p:blipFill>
          <a:blip r:embed="rId5"/>
          <a:stretch>
            <a:fillRect/>
          </a:stretch>
        </p:blipFill>
        <p:spPr>
          <a:xfrm>
            <a:off x="640080" y="707136"/>
            <a:ext cx="365760" cy="365760"/>
          </a:xfrm>
          <a:prstGeom prst="rect">
            <a:avLst/>
          </a:prstGeom>
        </p:spPr>
      </p:pic>
      <p:sp>
        <p:nvSpPr>
          <p:cNvPr id="24" name="TextBox 23"/>
          <p:cNvSpPr txBox="1"/>
          <p:nvPr/>
        </p:nvSpPr>
        <p:spPr>
          <a:xfrm>
            <a:off x="1352550" y="533400"/>
            <a:ext cx="723900" cy="714375"/>
          </a:xfrm>
          <a:prstGeom prst="rect">
            <a:avLst/>
          </a:prstGeom>
          <a:noFill/>
        </p:spPr>
        <p:txBody>
          <a:bodyPr wrap="square" lIns="0" rIns="0" tIns="0" bIns="0" anchor="ctr"/>
          <a:lstStyle/>
          <a:p>
            <a:pPr algn="ctr" rtl="1"/>
            <a:r>
              <a:rPr sz="2000" b="1" i="0" lang="ar-AE" altLang="en-US">
                <a:solidFill>
                  <a:srgbClr val="102A43"/>
                </a:solidFill>
                <a:latin typeface="Arial"/>
                <a:cs typeface="Arial"/>
              </a:rPr>
              <a:t>45</a:t>
            </a:r>
          </a:p>
          <a:p>
            <a:pPr algn="ctr" rtl="1"/>
            <a:r>
              <a:rPr sz="1100" b="1" i="0" lang="ar-AE" altLang="en-US">
                <a:solidFill>
                  <a:srgbClr val="102A43"/>
                </a:solidFill>
                <a:latin typeface="Arial"/>
                <a:cs typeface="Arial"/>
              </a:rPr>
              <a:t>دقيقة</a:t>
            </a:r>
          </a:p>
        </p:txBody>
      </p:sp>
      <p:sp>
        <p:nvSpPr>
          <p:cNvPr id="25" name="TextBox 24"/>
          <p:cNvSpPr txBox="1"/>
          <p:nvPr/>
        </p:nvSpPr>
        <p:spPr>
          <a:xfrm>
            <a:off x="2476500" y="5476875"/>
            <a:ext cx="8381999" cy="381000"/>
          </a:xfrm>
          <a:prstGeom prst="rect">
            <a:avLst/>
          </a:prstGeom>
          <a:noFill/>
        </p:spPr>
        <p:txBody>
          <a:bodyPr wrap="square" lIns="73152" rIns="73152" tIns="36576" bIns="36576" anchor="ctr"/>
          <a:lstStyle/>
          <a:p>
            <a:pPr algn="ctr" rtl="1"/>
            <a:r>
              <a:rPr sz="1500" b="1" i="0" lang="ar-AE" altLang="en-US">
                <a:solidFill>
                  <a:srgbClr val="9A7B3F"/>
                </a:solidFill>
                <a:latin typeface="Arial"/>
                <a:cs typeface="Arial"/>
              </a:rPr>
              <a:t>لكل نشاط مؤقّت زمني… نلتزم بالوقت لنحقق نواتج التعلم</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ounded Rectangle 17"/>
          <p:cNvSpPr/>
          <p:nvPr/>
        </p:nvSpPr>
        <p:spPr>
          <a:xfrm>
            <a:off x="304800" y="4657725"/>
            <a:ext cx="1895474" cy="352425"/>
          </a:xfrm>
          <a:prstGeom prst="roundRect">
            <a:avLst>
              <a:gd name="adj" fmla="val 12972"/>
            </a:avLst>
          </a:prstGeom>
          <a:noFill/>
          <a:ln w="28575">
            <a:solidFill>
              <a:srgbClr val="C8102E"/>
            </a:solidFill>
          </a:ln>
        </p:spPr>
        <p:txBody>
          <a:bodyPr rtlCol="0" anchor="ctr" lIns="54864" rIns="54864" tIns="27432" bIns="27432"/>
          <a:lstStyle/>
          <a:p>
            <a:pPr algn="ctr"/>
          </a:p>
        </p:txBody>
      </p:sp>
      <p:sp>
        <p:nvSpPr>
          <p:cNvPr id="19" name="Left Arrow 18"/>
          <p:cNvSpPr/>
          <p:nvPr/>
        </p:nvSpPr>
        <p:spPr>
          <a:xfrm>
            <a:off x="2219325" y="4748212"/>
            <a:ext cx="247649" cy="171450"/>
          </a:xfrm>
          <a:prstGeom prst="leftArrow">
            <a:avLst/>
          </a:prstGeom>
          <a:solidFill>
            <a:srgbClr val="C8102E"/>
          </a:solidFill>
          <a:ln>
            <a:noFill/>
          </a:ln>
        </p:spPr>
        <p:txBody>
          <a:bodyPr rtlCol="0" anchor="ctr" lIns="54864" rIns="54864" tIns="27432" bIns="27432"/>
          <a:lstStyle/>
          <a:p>
            <a:pPr algn="ctr"/>
          </a:p>
        </p:txBody>
      </p:sp>
      <p:sp>
        <p:nvSpPr>
          <p:cNvPr id="20" name="Rounded Rectangle 19"/>
          <p:cNvSpPr/>
          <p:nvPr/>
        </p:nvSpPr>
        <p:spPr>
          <a:xfrm>
            <a:off x="10625328" y="1344168"/>
            <a:ext cx="1234440" cy="365760"/>
          </a:xfrm>
          <a:prstGeom prst="roundRect">
            <a:avLst>
              <a:gd name="adj" fmla="val 50000"/>
            </a:avLst>
          </a:prstGeom>
          <a:solidFill>
            <a:srgbClr val="2E7D32"/>
          </a:solidFill>
          <a:ln>
            <a:noFill/>
          </a:ln>
        </p:spPr>
        <p:txBody>
          <a:bodyPr rtlCol="0" anchor="ctr" lIns="36576" rIns="36576" tIns="0" bIns="0" wrap="square"/>
          <a:lstStyle/>
          <a:p>
            <a:pPr algn="ctr" rtl="1"/>
            <a:r>
              <a:rPr sz="1300" b="1" i="0" lang="ar-AE" altLang="en-US">
                <a:solidFill>
                  <a:srgbClr val="FFFFFF"/>
                </a:solidFill>
                <a:latin typeface="Arial"/>
                <a:cs typeface="Arial"/>
              </a:rPr>
              <a:t>المفردات</a:t>
            </a:r>
          </a:p>
        </p:txBody>
      </p:sp>
      <p:sp>
        <p:nvSpPr>
          <p:cNvPr id="21" name="TextBox 20"/>
          <p:cNvSpPr txBox="1"/>
          <p:nvPr/>
        </p:nvSpPr>
        <p:spPr>
          <a:xfrm>
            <a:off x="6213475" y="1280160"/>
            <a:ext cx="4302125"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مفردات الحصة</a:t>
            </a:r>
          </a:p>
        </p:txBody>
      </p:sp>
      <p:pic>
        <p:nvPicPr>
          <p:cNvPr id="22" name="Picture 21" descr="badge_hessa.png"/>
          <p:cNvPicPr>
            <a:picLocks noChangeAspect="1"/>
          </p:cNvPicPr>
          <p:nvPr/>
        </p:nvPicPr>
        <p:blipFill>
          <a:blip r:embed="rId3"/>
          <a:stretch>
            <a:fillRect/>
          </a:stretch>
        </p:blipFill>
        <p:spPr>
          <a:xfrm>
            <a:off x="2560320" y="1222153"/>
            <a:ext cx="566928" cy="588358"/>
          </a:xfrm>
          <a:prstGeom prst="rect">
            <a:avLst/>
          </a:prstGeom>
        </p:spPr>
      </p:pic>
      <p:sp>
        <p:nvSpPr>
          <p:cNvPr id="23" name="Rounded Rectangular Callout 22"/>
          <p:cNvSpPr/>
          <p:nvPr/>
        </p:nvSpPr>
        <p:spPr>
          <a:xfrm>
            <a:off x="3209544" y="1307592"/>
            <a:ext cx="2875914" cy="420624"/>
          </a:xfrm>
          <a:prstGeom prst="wedgeRoundRectCallout">
            <a:avLst>
              <a:gd name="adj1" fmla="val -53815"/>
              <a:gd name="adj2" fmla="val 18000"/>
              <a:gd name="adj3" fmla="val 16667"/>
            </a:avLst>
          </a:prstGeom>
          <a:solidFill>
            <a:srgbClr val="FFFFFF"/>
          </a:solidFill>
          <a:ln w="19050">
            <a:solidFill>
              <a:srgbClr val="7D1F2E"/>
            </a:solidFill>
          </a:ln>
        </p:spPr>
        <p:txBody>
          <a:bodyPr rtlCol="0" anchor="ctr" lIns="54864" rIns="54864" tIns="27432" bIns="27432"/>
          <a:lstStyle/>
          <a:p>
            <a:pPr algn="ctr"/>
          </a:p>
        </p:txBody>
      </p:sp>
      <p:sp>
        <p:nvSpPr>
          <p:cNvPr id="24" name="TextBox 23"/>
          <p:cNvSpPr txBox="1"/>
          <p:nvPr/>
        </p:nvSpPr>
        <p:spPr>
          <a:xfrm>
            <a:off x="3246120" y="1307592"/>
            <a:ext cx="2802762" cy="420624"/>
          </a:xfrm>
          <a:prstGeom prst="rect">
            <a:avLst/>
          </a:prstGeom>
          <a:noFill/>
        </p:spPr>
        <p:txBody>
          <a:bodyPr wrap="square" lIns="36576" rIns="36576" tIns="0" bIns="0" anchor="ctr"/>
          <a:lstStyle/>
          <a:p>
            <a:pPr algn="r" rtl="1"/>
            <a:r>
              <a:rPr sz="1150" b="1" i="0" lang="ar-AE" altLang="en-US">
                <a:solidFill>
                  <a:srgbClr val="7D1F2E"/>
                </a:solidFill>
                <a:latin typeface="Arial"/>
                <a:cs typeface="Arial"/>
              </a:rPr>
              <a:t>حصة: </a:t>
            </a:r>
            <a:r>
              <a:rPr sz="1150" b="1" i="0" lang="ar-AE" altLang="en-US">
                <a:solidFill>
                  <a:srgbClr val="102A43"/>
                </a:solidFill>
                <a:latin typeface="Arial"/>
                <a:cs typeface="Arial"/>
              </a:rPr>
              <a:t>توقّعوا المعنى قبل أن يظهر!</a:t>
            </a:r>
          </a:p>
        </p:txBody>
      </p:sp>
      <p:sp>
        <p:nvSpPr>
          <p:cNvPr id="25" name="Rounded Rectangle 24"/>
          <p:cNvSpPr/>
          <p:nvPr/>
        </p:nvSpPr>
        <p:spPr>
          <a:xfrm>
            <a:off x="7315199" y="1920240"/>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6" name="Rounded Rectangle 25"/>
          <p:cNvSpPr/>
          <p:nvPr/>
        </p:nvSpPr>
        <p:spPr>
          <a:xfrm>
            <a:off x="7406640" y="1993392"/>
            <a:ext cx="4343400" cy="530352"/>
          </a:xfrm>
          <a:prstGeom prst="roundRect">
            <a:avLst>
              <a:gd name="adj" fmla="val 17241"/>
            </a:avLst>
          </a:prstGeom>
          <a:solidFill>
            <a:srgbClr val="F3F5F8"/>
          </a:solidFill>
          <a:ln>
            <a:noFill/>
          </a:ln>
        </p:spPr>
        <p:txBody>
          <a:bodyPr rtlCol="0" anchor="ctr" lIns="109728" rIns="109728" tIns="0" bIns="0" wrap="square"/>
          <a:lstStyle/>
          <a:p>
            <a:pPr algn="r" rtl="1"/>
            <a:r>
              <a:rPr sz="2000" b="1" i="0" lang="ar-AE" altLang="en-US">
                <a:solidFill>
                  <a:srgbClr val="2E7D32"/>
                </a:solidFill>
                <a:latin typeface="Arial"/>
                <a:cs typeface="Arial"/>
              </a:rPr>
              <a:t>البناء الضوئي</a:t>
            </a:r>
            <a:r>
              <a:rPr sz="1200" b="1" i="0" lang="ar-AE" altLang="en-US">
                <a:solidFill>
                  <a:srgbClr val="7A8699"/>
                </a:solidFill>
                <a:latin typeface="Arial"/>
                <a:cs typeface="Arial"/>
              </a:rPr>
              <a:t>  Photosynthesis</a:t>
            </a:r>
          </a:p>
        </p:txBody>
      </p:sp>
      <p:sp>
        <p:nvSpPr>
          <p:cNvPr id="27" name="TextBox 26"/>
          <p:cNvSpPr txBox="1"/>
          <p:nvPr/>
        </p:nvSpPr>
        <p:spPr>
          <a:xfrm>
            <a:off x="7424927" y="2578608"/>
            <a:ext cx="4306824" cy="1005840"/>
          </a:xfrm>
          <a:prstGeom prst="rect">
            <a:avLst/>
          </a:prstGeom>
          <a:noFill/>
        </p:spPr>
        <p:txBody>
          <a:bodyPr wrap="square" lIns="54864" rIns="54864" tIns="18288" bIns="18288" anchor="ctr"/>
          <a:lstStyle/>
          <a:p>
            <a:pPr algn="r" rtl="1"/>
            <a:r>
              <a:rPr sz="1400" b="1" i="0" lang="ar-AE" altLang="en-US">
                <a:solidFill>
                  <a:srgbClr val="102A43"/>
                </a:solidFill>
                <a:latin typeface="Arial"/>
                <a:cs typeface="Arial"/>
              </a:rPr>
              <a:t>عملية تحوّل فيها النباتات الخضراء والطحالب ثاني أكسيد الكربون والماء إلى كربوهيدرات وتُطلق الأكسجين، مستخدمةً طاقة الضوء.</a:t>
            </a:r>
          </a:p>
        </p:txBody>
      </p:sp>
      <p:sp>
        <p:nvSpPr>
          <p:cNvPr id="28" name="Rounded Rectangle 27"/>
          <p:cNvSpPr/>
          <p:nvPr/>
        </p:nvSpPr>
        <p:spPr>
          <a:xfrm>
            <a:off x="2651759" y="1920240"/>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9" name="Rounded Rectangle 28"/>
          <p:cNvSpPr/>
          <p:nvPr/>
        </p:nvSpPr>
        <p:spPr>
          <a:xfrm>
            <a:off x="2743199" y="1993392"/>
            <a:ext cx="4343400" cy="530352"/>
          </a:xfrm>
          <a:prstGeom prst="roundRect">
            <a:avLst>
              <a:gd name="adj" fmla="val 17241"/>
            </a:avLst>
          </a:prstGeom>
          <a:solidFill>
            <a:srgbClr val="F3F5F8"/>
          </a:solidFill>
          <a:ln>
            <a:noFill/>
          </a:ln>
        </p:spPr>
        <p:txBody>
          <a:bodyPr rtlCol="0" anchor="ctr" lIns="109728" rIns="109728" tIns="0" bIns="0" wrap="square"/>
          <a:lstStyle/>
          <a:p>
            <a:pPr algn="r" rtl="1"/>
            <a:r>
              <a:rPr sz="2000" b="1" i="0" lang="ar-AE" altLang="en-US">
                <a:solidFill>
                  <a:srgbClr val="2E7D32"/>
                </a:solidFill>
                <a:latin typeface="Arial"/>
                <a:cs typeface="Arial"/>
              </a:rPr>
              <a:t>التنفس الخلوي</a:t>
            </a:r>
            <a:r>
              <a:rPr sz="1200" b="1" i="0" lang="ar-AE" altLang="en-US">
                <a:solidFill>
                  <a:srgbClr val="7A8699"/>
                </a:solidFill>
                <a:latin typeface="Arial"/>
                <a:cs typeface="Arial"/>
              </a:rPr>
              <a:t>  Cellular respiration</a:t>
            </a:r>
          </a:p>
        </p:txBody>
      </p:sp>
      <p:sp>
        <p:nvSpPr>
          <p:cNvPr id="30" name="TextBox 29"/>
          <p:cNvSpPr txBox="1"/>
          <p:nvPr/>
        </p:nvSpPr>
        <p:spPr>
          <a:xfrm>
            <a:off x="2761487" y="2578608"/>
            <a:ext cx="4306824" cy="1005840"/>
          </a:xfrm>
          <a:prstGeom prst="rect">
            <a:avLst/>
          </a:prstGeom>
          <a:noFill/>
        </p:spPr>
        <p:txBody>
          <a:bodyPr wrap="square" lIns="54864" rIns="54864" tIns="18288" bIns="18288" anchor="ctr"/>
          <a:lstStyle/>
          <a:p>
            <a:pPr algn="r" rtl="1"/>
            <a:r>
              <a:rPr sz="1400" b="1" i="0" lang="ar-AE" altLang="en-US">
                <a:solidFill>
                  <a:srgbClr val="102A43"/>
                </a:solidFill>
                <a:latin typeface="Arial"/>
                <a:cs typeface="Arial"/>
              </a:rPr>
              <a:t>عملية تُحلّل فيها الكائنات الحية الكربوهيدرات بوجود الأكسجين لإطلاق الطاقة، وينتج عنها ثاني أكسيد الكربون والماء.</a:t>
            </a:r>
          </a:p>
        </p:txBody>
      </p:sp>
      <p:sp>
        <p:nvSpPr>
          <p:cNvPr id="31" name="Rounded Rectangle 30"/>
          <p:cNvSpPr/>
          <p:nvPr/>
        </p:nvSpPr>
        <p:spPr>
          <a:xfrm>
            <a:off x="7315199" y="3749039"/>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32" name="Rounded Rectangle 31"/>
          <p:cNvSpPr/>
          <p:nvPr/>
        </p:nvSpPr>
        <p:spPr>
          <a:xfrm>
            <a:off x="7406640" y="3822191"/>
            <a:ext cx="4343400" cy="530352"/>
          </a:xfrm>
          <a:prstGeom prst="roundRect">
            <a:avLst>
              <a:gd name="adj" fmla="val 17241"/>
            </a:avLst>
          </a:prstGeom>
          <a:solidFill>
            <a:srgbClr val="F3F5F8"/>
          </a:solidFill>
          <a:ln>
            <a:noFill/>
          </a:ln>
        </p:spPr>
        <p:txBody>
          <a:bodyPr rtlCol="0" anchor="ctr" lIns="109728" rIns="109728" tIns="0" bIns="0" wrap="square"/>
          <a:lstStyle/>
          <a:p>
            <a:pPr algn="r" rtl="1"/>
            <a:r>
              <a:rPr sz="2000" b="1" i="0" lang="ar-AE" altLang="en-US">
                <a:solidFill>
                  <a:srgbClr val="2E7D32"/>
                </a:solidFill>
                <a:latin typeface="Arial"/>
                <a:cs typeface="Arial"/>
              </a:rPr>
              <a:t>الوقود الأحفوري</a:t>
            </a:r>
            <a:r>
              <a:rPr sz="1200" b="1" i="0" lang="ar-AE" altLang="en-US">
                <a:solidFill>
                  <a:srgbClr val="7A8699"/>
                </a:solidFill>
                <a:latin typeface="Arial"/>
                <a:cs typeface="Arial"/>
              </a:rPr>
              <a:t>  Fossil fuel</a:t>
            </a:r>
          </a:p>
        </p:txBody>
      </p:sp>
      <p:sp>
        <p:nvSpPr>
          <p:cNvPr id="33" name="TextBox 32"/>
          <p:cNvSpPr txBox="1"/>
          <p:nvPr/>
        </p:nvSpPr>
        <p:spPr>
          <a:xfrm>
            <a:off x="7424927" y="4407407"/>
            <a:ext cx="4306824" cy="1005840"/>
          </a:xfrm>
          <a:prstGeom prst="rect">
            <a:avLst/>
          </a:prstGeom>
          <a:noFill/>
        </p:spPr>
        <p:txBody>
          <a:bodyPr wrap="square" lIns="54864" rIns="54864" tIns="18288" bIns="18288" anchor="ctr"/>
          <a:lstStyle/>
          <a:p>
            <a:pPr algn="r" rtl="1"/>
            <a:r>
              <a:rPr sz="1400" b="1" i="0" lang="ar-AE" altLang="en-US">
                <a:solidFill>
                  <a:srgbClr val="102A43"/>
                </a:solidFill>
                <a:latin typeface="Arial"/>
                <a:cs typeface="Arial"/>
              </a:rPr>
              <a:t>وقود تكوّن عبر ملايين السنين من بقايا كائنات حية مطمورة، مثل الفحم والنفط والغاز الطبيعي.</a:t>
            </a:r>
          </a:p>
        </p:txBody>
      </p:sp>
      <p:sp>
        <p:nvSpPr>
          <p:cNvPr id="34" name="Rounded Rectangle 33"/>
          <p:cNvSpPr/>
          <p:nvPr/>
        </p:nvSpPr>
        <p:spPr>
          <a:xfrm>
            <a:off x="2651759" y="3749039"/>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35" name="Rounded Rectangle 34"/>
          <p:cNvSpPr/>
          <p:nvPr/>
        </p:nvSpPr>
        <p:spPr>
          <a:xfrm>
            <a:off x="2743199" y="3822191"/>
            <a:ext cx="4343400" cy="530352"/>
          </a:xfrm>
          <a:prstGeom prst="roundRect">
            <a:avLst>
              <a:gd name="adj" fmla="val 17241"/>
            </a:avLst>
          </a:prstGeom>
          <a:solidFill>
            <a:srgbClr val="F3F5F8"/>
          </a:solidFill>
          <a:ln>
            <a:noFill/>
          </a:ln>
        </p:spPr>
        <p:txBody>
          <a:bodyPr rtlCol="0" anchor="ctr" lIns="109728" rIns="109728" tIns="0" bIns="0" wrap="square"/>
          <a:lstStyle/>
          <a:p>
            <a:pPr algn="r" rtl="1"/>
            <a:r>
              <a:rPr sz="2000" b="1" i="0" lang="ar-AE" altLang="en-US">
                <a:solidFill>
                  <a:srgbClr val="2E7D32"/>
                </a:solidFill>
                <a:latin typeface="Arial"/>
                <a:cs typeface="Arial"/>
              </a:rPr>
              <a:t>كربونات الكالسيوم</a:t>
            </a:r>
            <a:r>
              <a:rPr sz="1200" b="1" i="0" lang="ar-AE" altLang="en-US">
                <a:solidFill>
                  <a:srgbClr val="7A8699"/>
                </a:solidFill>
                <a:latin typeface="Arial"/>
                <a:cs typeface="Arial"/>
              </a:rPr>
              <a:t>  Calcium carbonate</a:t>
            </a:r>
          </a:p>
        </p:txBody>
      </p:sp>
      <p:sp>
        <p:nvSpPr>
          <p:cNvPr id="36" name="TextBox 35"/>
          <p:cNvSpPr txBox="1"/>
          <p:nvPr/>
        </p:nvSpPr>
        <p:spPr>
          <a:xfrm>
            <a:off x="2761487" y="4407407"/>
            <a:ext cx="4306824" cy="1005840"/>
          </a:xfrm>
          <a:prstGeom prst="rect">
            <a:avLst/>
          </a:prstGeom>
          <a:noFill/>
        </p:spPr>
        <p:txBody>
          <a:bodyPr wrap="square" lIns="54864" rIns="54864" tIns="18288" bIns="18288" anchor="ctr"/>
          <a:lstStyle/>
          <a:p>
            <a:pPr algn="r" rtl="1"/>
            <a:r>
              <a:rPr sz="1400" b="1" i="0" lang="ar-AE" altLang="en-US">
                <a:solidFill>
                  <a:srgbClr val="102A43"/>
                </a:solidFill>
                <a:latin typeface="Arial"/>
                <a:cs typeface="Arial"/>
              </a:rPr>
              <a:t>مركّب من الكالسيوم والكربون والأكسجين </a:t>
            </a:r>
            <a:r>
              <a:rPr sz="1400" b="1" i="0" lang="ar-AE" altLang="en-US">
                <a:solidFill>
                  <a:srgbClr val="102A43"/>
                </a:solidFill>
                <a:latin typeface="Arial"/>
                <a:cs typeface="Arial"/>
              </a:rPr>
              <a:t>(</a:t>
            </a:r>
            <a:r>
              <a:rPr sz="1400" b="1" i="0" lang="ar-AE" altLang="en-US">
                <a:solidFill>
                  <a:srgbClr val="102A43"/>
                </a:solidFill>
                <a:latin typeface="Arial"/>
                <a:cs typeface="Arial"/>
              </a:rPr>
              <a:t>CaCO</a:t>
            </a:r>
            <a:r>
              <a:rPr sz="1400" b="1" i="0" lang="ar-AE" altLang="en-US" baseline="-25000">
                <a:solidFill>
                  <a:srgbClr val="102A43"/>
                </a:solidFill>
                <a:latin typeface="Arial"/>
                <a:cs typeface="Arial"/>
              </a:rPr>
              <a:t>3</a:t>
            </a:r>
            <a:r>
              <a:rPr sz="1400" b="1" i="0" lang="ar-AE" altLang="en-US">
                <a:solidFill>
                  <a:srgbClr val="102A43"/>
                </a:solidFill>
                <a:latin typeface="Arial"/>
                <a:cs typeface="Arial"/>
              </a:rPr>
              <a:t>) تتكوّن منه الأصداف والصخور الكلسية.</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29"/>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2"/>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5"/>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childTnLst>
                          </p:cTn>
                        </p:par>
                      </p:childTnLst>
                    </p:cTn>
                  </p:par>
                </p:childTnLst>
              </p:cTn>
              <p:nextCondLst>
                <p:cond evt="onNext" delay="0">
                  <p:tgtEl>
                    <p:sldTgt/>
                  </p:tgtEl>
                </p:cond>
              </p:nextCondLst>
            </p:seq>
          </p:childTnLst>
        </p:cTn>
      </p:par>
    </p:tnLst>
    <p:bldLst>
      <p:bldP spid="27" grpId="0" animBg="1"/>
      <p:bldP spid="30" grpId="0" animBg="1"/>
      <p:bldP spid="33" grpId="0" animBg="1"/>
      <p:bldP spid="36"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8" name="Oval 7"/>
          <p:cNvSpPr/>
          <p:nvPr/>
        </p:nvSpPr>
        <p:spPr>
          <a:xfrm>
            <a:off x="2020824" y="1773936"/>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البناء الضوئي والتنفس</a:t>
            </a:r>
          </a:p>
        </p:txBody>
      </p:sp>
      <p:sp>
        <p:nvSpPr>
          <p:cNvPr id="10" name="Oval 9"/>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2" name="Oval 11"/>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2047875" y="4452937"/>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433304" y="1344168"/>
            <a:ext cx="1426464" cy="365760"/>
          </a:xfrm>
          <a:prstGeom prst="roundRect">
            <a:avLst>
              <a:gd name="adj" fmla="val 50000"/>
            </a:avLst>
          </a:prstGeom>
          <a:solidFill>
            <a:srgbClr val="2E7D32"/>
          </a:solidFill>
          <a:ln>
            <a:noFill/>
          </a:ln>
        </p:spPr>
        <p:txBody>
          <a:bodyPr rtlCol="0" anchor="ctr" lIns="36576" rIns="36576" tIns="0" bIns="0" wrap="square"/>
          <a:lstStyle/>
          <a:p>
            <a:pPr algn="ctr" rtl="1"/>
            <a:r>
              <a:rPr sz="1300" b="1" i="0" lang="ar-AE" altLang="en-US">
                <a:solidFill>
                  <a:srgbClr val="FFFFFF"/>
                </a:solidFill>
                <a:latin typeface="Arial"/>
                <a:cs typeface="Arial"/>
              </a:rPr>
              <a:t>الناتج الأول</a:t>
            </a:r>
          </a:p>
        </p:txBody>
      </p:sp>
      <p:sp>
        <p:nvSpPr>
          <p:cNvPr id="22" name="TextBox 21"/>
          <p:cNvSpPr txBox="1"/>
          <p:nvPr/>
        </p:nvSpPr>
        <p:spPr>
          <a:xfrm>
            <a:off x="6490716" y="1280160"/>
            <a:ext cx="3832860" cy="502920"/>
          </a:xfrm>
          <a:prstGeom prst="rect">
            <a:avLst/>
          </a:prstGeom>
          <a:noFill/>
        </p:spPr>
        <p:txBody>
          <a:bodyPr wrap="square" lIns="18288" rIns="18288" tIns="0" bIns="0" anchor="ctr"/>
          <a:lstStyle/>
          <a:p>
            <a:pPr algn="r" rtl="1"/>
            <a:r>
              <a:rPr sz="1600" b="1" i="0" lang="ar-AE" altLang="en-US">
                <a:solidFill>
                  <a:srgbClr val="102A43"/>
                </a:solidFill>
                <a:latin typeface="Arial"/>
                <a:cs typeface="Arial"/>
              </a:rPr>
              <a:t>الكربون والأكسجين: شريكان في دورة واحدة</a:t>
            </a:r>
          </a:p>
        </p:txBody>
      </p:sp>
      <p:pic>
        <p:nvPicPr>
          <p:cNvPr id="23" name="Picture 22" descr="badge_fahem.png"/>
          <p:cNvPicPr>
            <a:picLocks noChangeAspect="1"/>
          </p:cNvPicPr>
          <p:nvPr/>
        </p:nvPicPr>
        <p:blipFill>
          <a:blip r:embed="rId3"/>
          <a:stretch>
            <a:fillRect/>
          </a:stretch>
        </p:blipFill>
        <p:spPr>
          <a:xfrm>
            <a:off x="2560320" y="1185137"/>
            <a:ext cx="566928" cy="625374"/>
          </a:xfrm>
          <a:prstGeom prst="rect">
            <a:avLst/>
          </a:prstGeom>
        </p:spPr>
      </p:pic>
      <p:sp>
        <p:nvSpPr>
          <p:cNvPr id="24" name="Rounded Rectangular Callout 23"/>
          <p:cNvSpPr/>
          <p:nvPr/>
        </p:nvSpPr>
        <p:spPr>
          <a:xfrm>
            <a:off x="3209544" y="1307592"/>
            <a:ext cx="3153156" cy="420624"/>
          </a:xfrm>
          <a:prstGeom prst="wedgeRoundRectCallout">
            <a:avLst>
              <a:gd name="adj1" fmla="val -53479"/>
              <a:gd name="adj2" fmla="val 18000"/>
              <a:gd name="adj3" fmla="val 16667"/>
            </a:avLst>
          </a:prstGeom>
          <a:solidFill>
            <a:srgbClr val="FFFFFF"/>
          </a:solidFill>
          <a:ln w="19050">
            <a:solidFill>
              <a:srgbClr val="1E6B3A"/>
            </a:solidFill>
          </a:ln>
        </p:spPr>
        <p:txBody>
          <a:bodyPr rtlCol="0" anchor="ctr" lIns="54864" rIns="54864" tIns="27432" bIns="27432"/>
          <a:lstStyle/>
          <a:p>
            <a:pPr algn="ctr"/>
          </a:p>
        </p:txBody>
      </p:sp>
      <p:sp>
        <p:nvSpPr>
          <p:cNvPr id="25" name="TextBox 24"/>
          <p:cNvSpPr txBox="1"/>
          <p:nvPr/>
        </p:nvSpPr>
        <p:spPr>
          <a:xfrm>
            <a:off x="3246120" y="1307592"/>
            <a:ext cx="3080004" cy="420624"/>
          </a:xfrm>
          <a:prstGeom prst="rect">
            <a:avLst/>
          </a:prstGeom>
          <a:noFill/>
        </p:spPr>
        <p:txBody>
          <a:bodyPr wrap="square" lIns="36576" rIns="36576" tIns="0" bIns="0" anchor="ctr"/>
          <a:lstStyle/>
          <a:p>
            <a:pPr algn="r" rtl="1"/>
            <a:r>
              <a:rPr sz="1150" b="1" i="0" lang="ar-AE" altLang="en-US">
                <a:solidFill>
                  <a:srgbClr val="1E6B3A"/>
                </a:solidFill>
                <a:latin typeface="Arial"/>
                <a:cs typeface="Arial"/>
              </a:rPr>
              <a:t>فاهم: </a:t>
            </a:r>
            <a:r>
              <a:rPr sz="1150" b="1" i="0" lang="ar-AE" altLang="en-US">
                <a:solidFill>
                  <a:srgbClr val="102A43"/>
                </a:solidFill>
                <a:latin typeface="Arial"/>
                <a:cs typeface="Arial"/>
              </a:rPr>
              <a:t>نواتج إحداهما متفاعلات الأخرى!</a:t>
            </a:r>
          </a:p>
        </p:txBody>
      </p:sp>
      <p:sp>
        <p:nvSpPr>
          <p:cNvPr id="26" name="Rounded Rectangle 25"/>
          <p:cNvSpPr/>
          <p:nvPr/>
        </p:nvSpPr>
        <p:spPr>
          <a:xfrm>
            <a:off x="2697480" y="1920240"/>
            <a:ext cx="9144000" cy="1627632"/>
          </a:xfrm>
          <a:prstGeom prst="roundRect">
            <a:avLst>
              <a:gd name="adj" fmla="val 6741"/>
            </a:avLst>
          </a:prstGeom>
          <a:solidFill>
            <a:srgbClr val="EDF7EE"/>
          </a:solidFill>
          <a:ln w="12700">
            <a:solidFill>
              <a:srgbClr val="B8DDBB"/>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7" name="Oval 26"/>
          <p:cNvSpPr/>
          <p:nvPr/>
        </p:nvSpPr>
        <p:spPr>
          <a:xfrm>
            <a:off x="11082528" y="2057400"/>
            <a:ext cx="640080" cy="640080"/>
          </a:xfrm>
          <a:prstGeom prst="ellipse">
            <a:avLst/>
          </a:prstGeom>
          <a:solidFill>
            <a:srgbClr val="E0A21B"/>
          </a:solidFill>
          <a:ln>
            <a:noFill/>
          </a:ln>
        </p:spPr>
        <p:txBody>
          <a:bodyPr rtlCol="0" anchor="ctr" lIns="54864" rIns="54864" tIns="27432" bIns="27432"/>
          <a:lstStyle/>
          <a:p>
            <a:pPr algn="ctr"/>
          </a:p>
        </p:txBody>
      </p:sp>
      <p:pic>
        <p:nvPicPr>
          <p:cNvPr id="28" name="Picture 27" descr="sun_w.png"/>
          <p:cNvPicPr>
            <a:picLocks noChangeAspect="1"/>
          </p:cNvPicPr>
          <p:nvPr/>
        </p:nvPicPr>
        <p:blipFill>
          <a:blip r:embed="rId4"/>
          <a:stretch>
            <a:fillRect/>
          </a:stretch>
        </p:blipFill>
        <p:spPr>
          <a:xfrm>
            <a:off x="11223345" y="2198217"/>
            <a:ext cx="358444" cy="358444"/>
          </a:xfrm>
          <a:prstGeom prst="rect">
            <a:avLst/>
          </a:prstGeom>
        </p:spPr>
      </p:pic>
      <p:sp>
        <p:nvSpPr>
          <p:cNvPr id="29" name="TextBox 28"/>
          <p:cNvSpPr txBox="1"/>
          <p:nvPr/>
        </p:nvSpPr>
        <p:spPr>
          <a:xfrm>
            <a:off x="6583680" y="1956816"/>
            <a:ext cx="4434840" cy="411480"/>
          </a:xfrm>
          <a:prstGeom prst="rect">
            <a:avLst/>
          </a:prstGeom>
          <a:noFill/>
        </p:spPr>
        <p:txBody>
          <a:bodyPr wrap="square" lIns="73152" rIns="73152" tIns="36576" bIns="36576" anchor="ctr"/>
          <a:lstStyle/>
          <a:p>
            <a:pPr algn="r" rtl="1"/>
            <a:r>
              <a:rPr sz="1550" b="1" i="0" lang="ar-AE" altLang="en-US">
                <a:solidFill>
                  <a:srgbClr val="1E5E22"/>
                </a:solidFill>
                <a:latin typeface="Arial"/>
                <a:cs typeface="Arial"/>
              </a:rPr>
              <a:t>البناء الضوئي (في النباتات الخضراء والطحالب)</a:t>
            </a:r>
          </a:p>
        </p:txBody>
      </p:sp>
      <p:sp>
        <p:nvSpPr>
          <p:cNvPr id="30" name="TextBox 29"/>
          <p:cNvSpPr txBox="1"/>
          <p:nvPr/>
        </p:nvSpPr>
        <p:spPr>
          <a:xfrm>
            <a:off x="2834640" y="2395728"/>
            <a:ext cx="8183879" cy="457200"/>
          </a:xfrm>
          <a:prstGeom prst="rect">
            <a:avLst/>
          </a:prstGeom>
          <a:noFill/>
        </p:spPr>
        <p:txBody>
          <a:bodyPr wrap="square" lIns="73152" rIns="73152" tIns="36576" bIns="36576" anchor="ctr"/>
          <a:lstStyle/>
          <a:p>
            <a:pPr algn="r" rtl="1"/>
            <a:r>
              <a:rPr sz="1700" b="1" i="0" lang="ar-AE" altLang="en-US">
                <a:solidFill>
                  <a:srgbClr val="102A43"/>
                </a:solidFill>
                <a:latin typeface="Arial"/>
                <a:cs typeface="Arial"/>
              </a:rPr>
              <a:t>ثاني أكسيد الكربون + ماء  </a:t>
            </a:r>
            <a:r>
              <a:rPr sz="1700" b="1" i="0" lang="ar-AE" altLang="en-US">
                <a:solidFill>
                  <a:srgbClr val="E0A21B"/>
                </a:solidFill>
                <a:latin typeface="Arial"/>
                <a:cs typeface="Arial"/>
              </a:rPr>
              <a:t>— ضوء ←</a:t>
            </a:r>
            <a:r>
              <a:rPr sz="1700" b="1" i="0" lang="ar-AE" altLang="en-US">
                <a:solidFill>
                  <a:srgbClr val="102A43"/>
                </a:solidFill>
                <a:latin typeface="Arial"/>
                <a:cs typeface="Arial"/>
              </a:rPr>
              <a:t>  سكر (كربوهيدرات) + أكسجين</a:t>
            </a:r>
          </a:p>
        </p:txBody>
      </p:sp>
      <p:sp>
        <p:nvSpPr>
          <p:cNvPr id="31" name="TextBox 30"/>
          <p:cNvSpPr txBox="1"/>
          <p:nvPr/>
        </p:nvSpPr>
        <p:spPr>
          <a:xfrm>
            <a:off x="2834640" y="2852928"/>
            <a:ext cx="8183879" cy="502920"/>
          </a:xfrm>
          <a:prstGeom prst="rect">
            <a:avLst/>
          </a:prstGeom>
          <a:noFill/>
        </p:spPr>
        <p:txBody>
          <a:bodyPr wrap="square" lIns="73152" rIns="73152" tIns="36576" bIns="36576" anchor="ctr"/>
          <a:lstStyle/>
          <a:p>
            <a:pPr algn="ctr"/>
            <a:r>
              <a:rPr sz="1800" b="1" i="0" lang="ar-AE" altLang="en-US">
                <a:solidFill>
                  <a:srgbClr val="1E5E22"/>
                </a:solidFill>
                <a:latin typeface="Arial"/>
                <a:cs typeface="Arial"/>
              </a:rPr>
              <a:t>6CO</a:t>
            </a:r>
            <a:r>
              <a:rPr sz="1800" b="1" i="0" lang="ar-AE" altLang="en-US" baseline="-25000">
                <a:solidFill>
                  <a:srgbClr val="1E5E22"/>
                </a:solidFill>
                <a:latin typeface="Arial"/>
                <a:cs typeface="Arial"/>
              </a:rPr>
              <a:t>2</a:t>
            </a:r>
            <a:r>
              <a:rPr sz="1800" b="1" i="0" lang="ar-AE" altLang="en-US">
                <a:solidFill>
                  <a:srgbClr val="1E5E22"/>
                </a:solidFill>
                <a:latin typeface="Arial"/>
                <a:cs typeface="Arial"/>
              </a:rPr>
              <a:t> + 6H</a:t>
            </a:r>
            <a:r>
              <a:rPr sz="1800" b="1" i="0" lang="ar-AE" altLang="en-US" baseline="-25000">
                <a:solidFill>
                  <a:srgbClr val="1E5E22"/>
                </a:solidFill>
                <a:latin typeface="Arial"/>
                <a:cs typeface="Arial"/>
              </a:rPr>
              <a:t>2</a:t>
            </a:r>
            <a:r>
              <a:rPr sz="1800" b="1" i="0" lang="ar-AE" altLang="en-US">
                <a:solidFill>
                  <a:srgbClr val="1E5E22"/>
                </a:solidFill>
                <a:latin typeface="Arial"/>
                <a:cs typeface="Arial"/>
              </a:rPr>
              <a:t>O  →  C</a:t>
            </a:r>
            <a:r>
              <a:rPr sz="1800" b="1" i="0" lang="ar-AE" altLang="en-US" baseline="-25000">
                <a:solidFill>
                  <a:srgbClr val="1E5E22"/>
                </a:solidFill>
                <a:latin typeface="Arial"/>
                <a:cs typeface="Arial"/>
              </a:rPr>
              <a:t>6</a:t>
            </a:r>
            <a:r>
              <a:rPr sz="1800" b="1" i="0" lang="ar-AE" altLang="en-US">
                <a:solidFill>
                  <a:srgbClr val="1E5E22"/>
                </a:solidFill>
                <a:latin typeface="Arial"/>
                <a:cs typeface="Arial"/>
              </a:rPr>
              <a:t>H</a:t>
            </a:r>
            <a:r>
              <a:rPr sz="1800" b="1" i="0" lang="ar-AE" altLang="en-US" baseline="-25000">
                <a:solidFill>
                  <a:srgbClr val="1E5E22"/>
                </a:solidFill>
                <a:latin typeface="Arial"/>
                <a:cs typeface="Arial"/>
              </a:rPr>
              <a:t>12</a:t>
            </a:r>
            <a:r>
              <a:rPr sz="1800" b="1" i="0" lang="ar-AE" altLang="en-US">
                <a:solidFill>
                  <a:srgbClr val="1E5E22"/>
                </a:solidFill>
                <a:latin typeface="Arial"/>
                <a:cs typeface="Arial"/>
              </a:rPr>
              <a:t>O</a:t>
            </a:r>
            <a:r>
              <a:rPr sz="1800" b="1" i="0" lang="ar-AE" altLang="en-US" baseline="-25000">
                <a:solidFill>
                  <a:srgbClr val="1E5E22"/>
                </a:solidFill>
                <a:latin typeface="Arial"/>
                <a:cs typeface="Arial"/>
              </a:rPr>
              <a:t>6</a:t>
            </a:r>
            <a:r>
              <a:rPr sz="1800" b="1" i="0" lang="ar-AE" altLang="en-US">
                <a:solidFill>
                  <a:srgbClr val="1E5E22"/>
                </a:solidFill>
                <a:latin typeface="Arial"/>
                <a:cs typeface="Arial"/>
              </a:rPr>
              <a:t> + 6O</a:t>
            </a:r>
            <a:r>
              <a:rPr sz="1800" b="1" i="0" lang="ar-AE" altLang="en-US" baseline="-25000">
                <a:solidFill>
                  <a:srgbClr val="1E5E22"/>
                </a:solidFill>
                <a:latin typeface="Arial"/>
                <a:cs typeface="Arial"/>
              </a:rPr>
              <a:t>2</a:t>
            </a:r>
          </a:p>
        </p:txBody>
      </p:sp>
      <p:sp>
        <p:nvSpPr>
          <p:cNvPr id="32" name="Rounded Rectangle 31"/>
          <p:cNvSpPr/>
          <p:nvPr/>
        </p:nvSpPr>
        <p:spPr>
          <a:xfrm>
            <a:off x="2697480" y="3675887"/>
            <a:ext cx="9144000" cy="1627632"/>
          </a:xfrm>
          <a:prstGeom prst="roundRect">
            <a:avLst>
              <a:gd name="adj" fmla="val 6741"/>
            </a:avLst>
          </a:prstGeom>
          <a:solidFill>
            <a:srgbClr val="FDF1E6"/>
          </a:solidFill>
          <a:ln w="12700">
            <a:solidFill>
              <a:srgbClr val="F2D2B0"/>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33" name="Oval 32"/>
          <p:cNvSpPr/>
          <p:nvPr/>
        </p:nvSpPr>
        <p:spPr>
          <a:xfrm>
            <a:off x="11082528" y="3813048"/>
            <a:ext cx="640080" cy="640080"/>
          </a:xfrm>
          <a:prstGeom prst="ellipse">
            <a:avLst/>
          </a:prstGeom>
          <a:solidFill>
            <a:srgbClr val="D2691E"/>
          </a:solidFill>
          <a:ln>
            <a:noFill/>
          </a:ln>
        </p:spPr>
        <p:txBody>
          <a:bodyPr rtlCol="0" anchor="ctr" lIns="54864" rIns="54864" tIns="27432" bIns="27432"/>
          <a:lstStyle/>
          <a:p>
            <a:pPr algn="ctr"/>
          </a:p>
        </p:txBody>
      </p:sp>
      <p:pic>
        <p:nvPicPr>
          <p:cNvPr id="34" name="Picture 33" descr="fire_w.png"/>
          <p:cNvPicPr>
            <a:picLocks noChangeAspect="1"/>
          </p:cNvPicPr>
          <p:nvPr/>
        </p:nvPicPr>
        <p:blipFill>
          <a:blip r:embed="rId5"/>
          <a:stretch>
            <a:fillRect/>
          </a:stretch>
        </p:blipFill>
        <p:spPr>
          <a:xfrm>
            <a:off x="11223345" y="3953865"/>
            <a:ext cx="358444" cy="358444"/>
          </a:xfrm>
          <a:prstGeom prst="rect">
            <a:avLst/>
          </a:prstGeom>
        </p:spPr>
      </p:pic>
      <p:sp>
        <p:nvSpPr>
          <p:cNvPr id="35" name="TextBox 34"/>
          <p:cNvSpPr txBox="1"/>
          <p:nvPr/>
        </p:nvSpPr>
        <p:spPr>
          <a:xfrm>
            <a:off x="6583680" y="3712463"/>
            <a:ext cx="4434840" cy="411480"/>
          </a:xfrm>
          <a:prstGeom prst="rect">
            <a:avLst/>
          </a:prstGeom>
          <a:noFill/>
        </p:spPr>
        <p:txBody>
          <a:bodyPr wrap="square" lIns="73152" rIns="73152" tIns="36576" bIns="36576" anchor="ctr"/>
          <a:lstStyle/>
          <a:p>
            <a:pPr algn="r" rtl="1"/>
            <a:r>
              <a:rPr sz="1550" b="1" i="0" lang="ar-AE" altLang="en-US">
                <a:solidFill>
                  <a:srgbClr val="8A4A12"/>
                </a:solidFill>
                <a:latin typeface="Arial"/>
                <a:cs typeface="Arial"/>
              </a:rPr>
              <a:t>التنفس الخلوي (في جميع الكائنات الحية تقريبًا)</a:t>
            </a:r>
          </a:p>
        </p:txBody>
      </p:sp>
      <p:sp>
        <p:nvSpPr>
          <p:cNvPr id="36" name="TextBox 35"/>
          <p:cNvSpPr txBox="1"/>
          <p:nvPr/>
        </p:nvSpPr>
        <p:spPr>
          <a:xfrm>
            <a:off x="2834640" y="4151376"/>
            <a:ext cx="8183879" cy="457200"/>
          </a:xfrm>
          <a:prstGeom prst="rect">
            <a:avLst/>
          </a:prstGeom>
          <a:noFill/>
        </p:spPr>
        <p:txBody>
          <a:bodyPr wrap="square" lIns="73152" rIns="73152" tIns="36576" bIns="36576" anchor="ctr"/>
          <a:lstStyle/>
          <a:p>
            <a:pPr algn="r" rtl="1"/>
            <a:r>
              <a:rPr sz="1700" b="1" i="0" lang="ar-AE" altLang="en-US">
                <a:solidFill>
                  <a:srgbClr val="102A43"/>
                </a:solidFill>
                <a:latin typeface="Arial"/>
                <a:cs typeface="Arial"/>
              </a:rPr>
              <a:t>سكر + أكسجين  </a:t>
            </a:r>
            <a:r>
              <a:rPr sz="1700" b="1" i="0" lang="ar-AE" altLang="en-US">
                <a:solidFill>
                  <a:srgbClr val="D2691E"/>
                </a:solidFill>
                <a:latin typeface="Arial"/>
                <a:cs typeface="Arial"/>
              </a:rPr>
              <a:t>←</a:t>
            </a:r>
            <a:r>
              <a:rPr sz="1700" b="1" i="0" lang="ar-AE" altLang="en-US">
                <a:solidFill>
                  <a:srgbClr val="102A43"/>
                </a:solidFill>
                <a:latin typeface="Arial"/>
                <a:cs typeface="Arial"/>
              </a:rPr>
              <a:t>  ثاني أكسيد الكربون + ماء + طاقة</a:t>
            </a:r>
          </a:p>
        </p:txBody>
      </p:sp>
      <p:sp>
        <p:nvSpPr>
          <p:cNvPr id="37" name="TextBox 36"/>
          <p:cNvSpPr txBox="1"/>
          <p:nvPr/>
        </p:nvSpPr>
        <p:spPr>
          <a:xfrm>
            <a:off x="2834640" y="4608576"/>
            <a:ext cx="8183879" cy="502920"/>
          </a:xfrm>
          <a:prstGeom prst="rect">
            <a:avLst/>
          </a:prstGeom>
          <a:noFill/>
        </p:spPr>
        <p:txBody>
          <a:bodyPr wrap="square" lIns="73152" rIns="73152" tIns="36576" bIns="36576" anchor="ctr"/>
          <a:lstStyle/>
          <a:p>
            <a:pPr algn="ctr"/>
            <a:r>
              <a:rPr sz="1800" b="1" i="0" lang="ar-AE" altLang="en-US">
                <a:solidFill>
                  <a:srgbClr val="8A4A12"/>
                </a:solidFill>
                <a:latin typeface="Arial"/>
                <a:cs typeface="Arial"/>
              </a:rPr>
              <a:t>C</a:t>
            </a:r>
            <a:r>
              <a:rPr sz="1800" b="1" i="0" lang="ar-AE" altLang="en-US" baseline="-25000">
                <a:solidFill>
                  <a:srgbClr val="8A4A12"/>
                </a:solidFill>
                <a:latin typeface="Arial"/>
                <a:cs typeface="Arial"/>
              </a:rPr>
              <a:t>6</a:t>
            </a:r>
            <a:r>
              <a:rPr sz="1800" b="1" i="0" lang="ar-AE" altLang="en-US">
                <a:solidFill>
                  <a:srgbClr val="8A4A12"/>
                </a:solidFill>
                <a:latin typeface="Arial"/>
                <a:cs typeface="Arial"/>
              </a:rPr>
              <a:t>H</a:t>
            </a:r>
            <a:r>
              <a:rPr sz="1800" b="1" i="0" lang="ar-AE" altLang="en-US" baseline="-25000">
                <a:solidFill>
                  <a:srgbClr val="8A4A12"/>
                </a:solidFill>
                <a:latin typeface="Arial"/>
                <a:cs typeface="Arial"/>
              </a:rPr>
              <a:t>12</a:t>
            </a:r>
            <a:r>
              <a:rPr sz="1800" b="1" i="0" lang="ar-AE" altLang="en-US">
                <a:solidFill>
                  <a:srgbClr val="8A4A12"/>
                </a:solidFill>
                <a:latin typeface="Arial"/>
                <a:cs typeface="Arial"/>
              </a:rPr>
              <a:t>O</a:t>
            </a:r>
            <a:r>
              <a:rPr sz="1800" b="1" i="0" lang="ar-AE" altLang="en-US" baseline="-25000">
                <a:solidFill>
                  <a:srgbClr val="8A4A12"/>
                </a:solidFill>
                <a:latin typeface="Arial"/>
                <a:cs typeface="Arial"/>
              </a:rPr>
              <a:t>6</a:t>
            </a:r>
            <a:r>
              <a:rPr sz="1800" b="1" i="0" lang="ar-AE" altLang="en-US">
                <a:solidFill>
                  <a:srgbClr val="8A4A12"/>
                </a:solidFill>
                <a:latin typeface="Arial"/>
                <a:cs typeface="Arial"/>
              </a:rPr>
              <a:t> + 6O</a:t>
            </a:r>
            <a:r>
              <a:rPr sz="1800" b="1" i="0" lang="ar-AE" altLang="en-US" baseline="-25000">
                <a:solidFill>
                  <a:srgbClr val="8A4A12"/>
                </a:solidFill>
                <a:latin typeface="Arial"/>
                <a:cs typeface="Arial"/>
              </a:rPr>
              <a:t>2</a:t>
            </a:r>
            <a:r>
              <a:rPr sz="1800" b="1" i="0" lang="ar-AE" altLang="en-US">
                <a:solidFill>
                  <a:srgbClr val="8A4A12"/>
                </a:solidFill>
                <a:latin typeface="Arial"/>
                <a:cs typeface="Arial"/>
              </a:rPr>
              <a:t>  →  6CO</a:t>
            </a:r>
            <a:r>
              <a:rPr sz="1800" b="1" i="0" lang="ar-AE" altLang="en-US" baseline="-25000">
                <a:solidFill>
                  <a:srgbClr val="8A4A12"/>
                </a:solidFill>
                <a:latin typeface="Arial"/>
                <a:cs typeface="Arial"/>
              </a:rPr>
              <a:t>2</a:t>
            </a:r>
            <a:r>
              <a:rPr sz="1800" b="1" i="0" lang="ar-AE" altLang="en-US">
                <a:solidFill>
                  <a:srgbClr val="8A4A12"/>
                </a:solidFill>
                <a:latin typeface="Arial"/>
                <a:cs typeface="Arial"/>
              </a:rPr>
              <a:t> + 6H</a:t>
            </a:r>
            <a:r>
              <a:rPr sz="1800" b="1" i="0" lang="ar-AE" altLang="en-US" baseline="-25000">
                <a:solidFill>
                  <a:srgbClr val="8A4A12"/>
                </a:solidFill>
                <a:latin typeface="Arial"/>
                <a:cs typeface="Arial"/>
              </a:rPr>
              <a:t>2</a:t>
            </a:r>
            <a:r>
              <a:rPr sz="1800" b="1" i="0" lang="ar-AE" altLang="en-US">
                <a:solidFill>
                  <a:srgbClr val="8A4A12"/>
                </a:solidFill>
                <a:latin typeface="Arial"/>
                <a:cs typeface="Arial"/>
              </a:rPr>
              <a:t>O</a:t>
            </a:r>
            <a:r>
              <a:rPr sz="1800" b="1" i="0" lang="ar-AE" altLang="en-US">
                <a:solidFill>
                  <a:srgbClr val="8A4A12"/>
                </a:solidFill>
                <a:latin typeface="Arial"/>
                <a:cs typeface="Arial"/>
              </a:rPr>
              <a:t>  + طاقة</a:t>
            </a:r>
          </a:p>
        </p:txBody>
      </p:sp>
      <p:sp>
        <p:nvSpPr>
          <p:cNvPr id="38" name="TextBox 37"/>
          <p:cNvSpPr txBox="1"/>
          <p:nvPr/>
        </p:nvSpPr>
        <p:spPr>
          <a:xfrm>
            <a:off x="2697480" y="5340096"/>
            <a:ext cx="9144000" cy="219456"/>
          </a:xfrm>
          <a:prstGeom prst="rect">
            <a:avLst/>
          </a:prstGeom>
          <a:noFill/>
        </p:spPr>
        <p:txBody>
          <a:bodyPr wrap="square" lIns="0" rIns="0" tIns="0" bIns="0" anchor="ctr"/>
          <a:lstStyle/>
          <a:p>
            <a:pPr algn="ctr" rtl="1"/>
            <a:r>
              <a:rPr sz="1150" b="1" i="0" lang="ar-AE" altLang="en-US">
                <a:solidFill>
                  <a:srgbClr val="5A687D"/>
                </a:solidFill>
                <a:latin typeface="Arial"/>
                <a:cs typeface="Arial"/>
              </a:rPr>
              <a:t>ربط بالكيمياء: المعادلة الموزونة تحفظ عدد الذرّات… تذكّر قانون حفظ المادة!</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8" name="Oval 7"/>
          <p:cNvSpPr/>
          <p:nvPr/>
        </p:nvSpPr>
        <p:spPr>
          <a:xfrm>
            <a:off x="2020824" y="1773936"/>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البناء الضوئي والتنفس</a:t>
            </a:r>
          </a:p>
        </p:txBody>
      </p:sp>
      <p:sp>
        <p:nvSpPr>
          <p:cNvPr id="10" name="Oval 9"/>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2" name="Oval 11"/>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2047875" y="4452937"/>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433304" y="1344168"/>
            <a:ext cx="1426464" cy="365760"/>
          </a:xfrm>
          <a:prstGeom prst="roundRect">
            <a:avLst>
              <a:gd name="adj" fmla="val 50000"/>
            </a:avLst>
          </a:prstGeom>
          <a:solidFill>
            <a:srgbClr val="2E7D32"/>
          </a:solidFill>
          <a:ln>
            <a:noFill/>
          </a:ln>
        </p:spPr>
        <p:txBody>
          <a:bodyPr rtlCol="0" anchor="ctr" lIns="36576" rIns="36576" tIns="0" bIns="0" wrap="square"/>
          <a:lstStyle/>
          <a:p>
            <a:pPr algn="ctr" rtl="1"/>
            <a:r>
              <a:rPr sz="1300" b="1" i="0" lang="ar-AE" altLang="en-US">
                <a:solidFill>
                  <a:srgbClr val="FFFFFF"/>
                </a:solidFill>
                <a:latin typeface="Arial"/>
                <a:cs typeface="Arial"/>
              </a:rPr>
              <a:t>الناتج الأول</a:t>
            </a:r>
          </a:p>
        </p:txBody>
      </p:sp>
      <p:sp>
        <p:nvSpPr>
          <p:cNvPr id="22" name="TextBox 21"/>
          <p:cNvSpPr txBox="1"/>
          <p:nvPr/>
        </p:nvSpPr>
        <p:spPr>
          <a:xfrm>
            <a:off x="2606040" y="1280160"/>
            <a:ext cx="7717536"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شاهد: رحلة ذرة الكربون</a:t>
            </a:r>
          </a:p>
        </p:txBody>
      </p:sp>
      <p:pic>
        <p:nvPicPr>
          <p:cNvPr id="23" name="carbon_journey.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440679" y="1901952"/>
            <a:ext cx="6400800" cy="3600450"/>
          </a:xfrm>
          <a:prstGeom prst="rect">
            <a:avLst/>
          </a:prstGeom>
          <a:ln w="28575">
            <a:solidFill>
              <a:srgbClr val="C9A96A"/>
            </a:solidFill>
          </a:ln>
        </p:spPr>
      </p:pic>
      <p:sp>
        <p:nvSpPr>
          <p:cNvPr id="24" name="Rounded Rectangle 23"/>
          <p:cNvSpPr/>
          <p:nvPr/>
        </p:nvSpPr>
        <p:spPr>
          <a:xfrm>
            <a:off x="2697480" y="1901952"/>
            <a:ext cx="2606039" cy="3602736"/>
          </a:xfrm>
          <a:prstGeom prst="roundRect">
            <a:avLst>
              <a:gd name="adj" fmla="val 4210"/>
            </a:avLst>
          </a:prstGeom>
          <a:solidFill>
            <a:srgbClr val="F3F5F8"/>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5" name="Oval 24"/>
          <p:cNvSpPr/>
          <p:nvPr/>
        </p:nvSpPr>
        <p:spPr>
          <a:xfrm>
            <a:off x="3634740" y="2011680"/>
            <a:ext cx="731520" cy="731520"/>
          </a:xfrm>
          <a:prstGeom prst="ellipse">
            <a:avLst/>
          </a:prstGeom>
          <a:solidFill>
            <a:srgbClr val="2E7D32"/>
          </a:solidFill>
          <a:ln>
            <a:noFill/>
          </a:ln>
        </p:spPr>
        <p:txBody>
          <a:bodyPr rtlCol="0" anchor="ctr" lIns="54864" rIns="54864" tIns="27432" bIns="27432"/>
          <a:lstStyle/>
          <a:p>
            <a:pPr algn="ctr"/>
          </a:p>
        </p:txBody>
      </p:sp>
      <p:pic>
        <p:nvPicPr>
          <p:cNvPr id="26" name="Picture 25" descr="eye_w.png"/>
          <p:cNvPicPr>
            <a:picLocks noChangeAspect="1"/>
          </p:cNvPicPr>
          <p:nvPr/>
        </p:nvPicPr>
        <p:blipFill>
          <a:blip r:embed="rId6"/>
          <a:stretch>
            <a:fillRect/>
          </a:stretch>
        </p:blipFill>
        <p:spPr>
          <a:xfrm>
            <a:off x="3795674" y="2172614"/>
            <a:ext cx="409651" cy="409651"/>
          </a:xfrm>
          <a:prstGeom prst="rect">
            <a:avLst/>
          </a:prstGeom>
        </p:spPr>
      </p:pic>
      <p:sp>
        <p:nvSpPr>
          <p:cNvPr id="27" name="TextBox 26"/>
          <p:cNvSpPr txBox="1"/>
          <p:nvPr/>
        </p:nvSpPr>
        <p:spPr>
          <a:xfrm>
            <a:off x="2761488" y="2816352"/>
            <a:ext cx="2478023" cy="411480"/>
          </a:xfrm>
          <a:prstGeom prst="rect">
            <a:avLst/>
          </a:prstGeom>
          <a:noFill/>
        </p:spPr>
        <p:txBody>
          <a:bodyPr wrap="square" lIns="73152" rIns="73152" tIns="36576" bIns="36576" anchor="ctr"/>
          <a:lstStyle/>
          <a:p>
            <a:pPr algn="ctr" rtl="1"/>
            <a:r>
              <a:rPr sz="1500" b="1" i="0" lang="ar-AE" altLang="en-US">
                <a:solidFill>
                  <a:srgbClr val="2E7D32"/>
                </a:solidFill>
                <a:latin typeface="Arial"/>
                <a:cs typeface="Arial"/>
              </a:rPr>
              <a:t>أثناء المشاهدة:</a:t>
            </a:r>
          </a:p>
        </p:txBody>
      </p:sp>
      <p:sp>
        <p:nvSpPr>
          <p:cNvPr id="28" name="TextBox 27"/>
          <p:cNvSpPr txBox="1"/>
          <p:nvPr/>
        </p:nvSpPr>
        <p:spPr>
          <a:xfrm>
            <a:off x="2788920" y="3246120"/>
            <a:ext cx="2423159" cy="2194560"/>
          </a:xfrm>
          <a:prstGeom prst="rect">
            <a:avLst/>
          </a:prstGeom>
          <a:noFill/>
        </p:spPr>
        <p:txBody>
          <a:bodyPr wrap="square" lIns="73152" rIns="73152" tIns="36576" bIns="36576" anchor="t"/>
          <a:lstStyle/>
          <a:p>
            <a:pPr algn="r" rtl="1">
              <a:spcAft>
                <a:spcPts val="600"/>
              </a:spcAft>
            </a:pPr>
            <a:r>
              <a:rPr sz="1300" b="1" i="0" lang="ar-AE" altLang="en-US">
                <a:solidFill>
                  <a:srgbClr val="102A43"/>
                </a:solidFill>
                <a:latin typeface="Arial"/>
                <a:cs typeface="Arial"/>
              </a:rPr>
              <a:t>1) من أين بدأت ذرة الكربون؟ وإلى أين عادت؟</a:t>
            </a:r>
          </a:p>
          <a:p>
            <a:pPr algn="r" rtl="1">
              <a:spcAft>
                <a:spcPts val="600"/>
              </a:spcAft>
            </a:pPr>
            <a:r>
              <a:rPr sz="1300" b="1" i="0" lang="ar-AE" altLang="en-US">
                <a:solidFill>
                  <a:srgbClr val="102A43"/>
                </a:solidFill>
                <a:latin typeface="Arial"/>
                <a:cs typeface="Arial"/>
              </a:rPr>
              <a:t>2) ما العمليتان اللتان نقلتاها بين الهواء والكائنات الحية؟</a:t>
            </a:r>
          </a:p>
          <a:p>
            <a:pPr algn="r" rtl="1">
              <a:spcAft>
                <a:spcPts val="600"/>
              </a:spcAft>
            </a:pPr>
            <a:r>
              <a:rPr sz="1300" b="1" i="0" lang="ar-AE" altLang="en-US">
                <a:solidFill>
                  <a:srgbClr val="102A43"/>
                </a:solidFill>
                <a:latin typeface="Arial"/>
                <a:cs typeface="Arial"/>
              </a:rPr>
              <a:t>3) ما الطريق الأطول الذي سلكه الكربون؟</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3"/>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8" name="Oval 7"/>
          <p:cNvSpPr/>
          <p:nvPr/>
        </p:nvSpPr>
        <p:spPr>
          <a:xfrm>
            <a:off x="2020824" y="1773936"/>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البناء الضوئي والتنفس</a:t>
            </a:r>
          </a:p>
        </p:txBody>
      </p:sp>
      <p:sp>
        <p:nvSpPr>
          <p:cNvPr id="10" name="Oval 9"/>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2" name="Oval 11"/>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2047875" y="4452937"/>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9857232" y="1344168"/>
            <a:ext cx="2002536" cy="365760"/>
          </a:xfrm>
          <a:prstGeom prst="roundRect">
            <a:avLst>
              <a:gd name="adj" fmla="val 50000"/>
            </a:avLst>
          </a:prstGeom>
          <a:solidFill>
            <a:srgbClr val="C8102E"/>
          </a:solidFill>
          <a:ln>
            <a:noFill/>
          </a:ln>
        </p:spPr>
        <p:txBody>
          <a:bodyPr rtlCol="0" anchor="ctr" lIns="36576" rIns="36576" tIns="0" bIns="0" wrap="square"/>
          <a:lstStyle/>
          <a:p>
            <a:pPr algn="ctr" rtl="1"/>
            <a:r>
              <a:rPr sz="1300" b="1" i="0" lang="ar-AE" altLang="en-US">
                <a:solidFill>
                  <a:srgbClr val="FFFFFF"/>
                </a:solidFill>
                <a:latin typeface="Arial"/>
                <a:cs typeface="Arial"/>
              </a:rPr>
              <a:t>تقويم الناتج الأول</a:t>
            </a:r>
          </a:p>
        </p:txBody>
      </p:sp>
      <p:sp>
        <p:nvSpPr>
          <p:cNvPr id="22" name="TextBox 21"/>
          <p:cNvSpPr txBox="1"/>
          <p:nvPr/>
        </p:nvSpPr>
        <p:spPr>
          <a:xfrm>
            <a:off x="2606040" y="1280160"/>
            <a:ext cx="7141464"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حدّدوا العمليات المرقّمة في دورة الكربون</a:t>
            </a:r>
          </a:p>
        </p:txBody>
      </p:sp>
      <p:pic>
        <p:nvPicPr>
          <p:cNvPr id="23" name="Picture 22" descr="carbon_circle.png"/>
          <p:cNvPicPr>
            <a:picLocks noChangeAspect="1"/>
          </p:cNvPicPr>
          <p:nvPr/>
        </p:nvPicPr>
        <p:blipFill>
          <a:blip r:embed="rId3"/>
          <a:stretch>
            <a:fillRect/>
          </a:stretch>
        </p:blipFill>
        <p:spPr>
          <a:xfrm>
            <a:off x="4160520" y="1847088"/>
            <a:ext cx="3310128" cy="3465387"/>
          </a:xfrm>
          <a:prstGeom prst="rect">
            <a:avLst/>
          </a:prstGeom>
        </p:spPr>
      </p:pic>
      <p:sp>
        <p:nvSpPr>
          <p:cNvPr id="24" name="Oval 23"/>
          <p:cNvSpPr/>
          <p:nvPr/>
        </p:nvSpPr>
        <p:spPr>
          <a:xfrm>
            <a:off x="4927483" y="2551948"/>
            <a:ext cx="329184" cy="329184"/>
          </a:xfrm>
          <a:prstGeom prst="ellipse">
            <a:avLst/>
          </a:prstGeom>
          <a:solidFill>
            <a:srgbClr val="C8102E"/>
          </a:solidFill>
          <a:ln w="19050">
            <a:solidFill>
              <a:srgbClr val="FFFFFF"/>
            </a:solidFill>
          </a:ln>
        </p:spPr>
        <p:txBody>
          <a:bodyPr rtlCol="0" anchor="ctr" lIns="0" rIns="0" tIns="0" bIns="0" wrap="square"/>
          <a:lstStyle/>
          <a:p>
            <a:pPr algn="ctr" rtl="1"/>
            <a:r>
              <a:rPr sz="1300" b="1" i="0" lang="ar-AE" altLang="en-US">
                <a:solidFill>
                  <a:srgbClr val="FFFFFF"/>
                </a:solidFill>
                <a:latin typeface="Arial"/>
                <a:cs typeface="Arial"/>
              </a:rPr>
              <a:t>1</a:t>
            </a:r>
          </a:p>
        </p:txBody>
      </p:sp>
      <p:sp>
        <p:nvSpPr>
          <p:cNvPr id="25" name="Oval 24"/>
          <p:cNvSpPr/>
          <p:nvPr/>
        </p:nvSpPr>
        <p:spPr>
          <a:xfrm>
            <a:off x="5511258" y="2787942"/>
            <a:ext cx="329184" cy="329184"/>
          </a:xfrm>
          <a:prstGeom prst="ellipse">
            <a:avLst/>
          </a:prstGeom>
          <a:solidFill>
            <a:srgbClr val="C8102E"/>
          </a:solidFill>
          <a:ln w="19050">
            <a:solidFill>
              <a:srgbClr val="FFFFFF"/>
            </a:solidFill>
          </a:ln>
        </p:spPr>
        <p:txBody>
          <a:bodyPr rtlCol="0" anchor="ctr" lIns="0" rIns="0" tIns="0" bIns="0" wrap="square"/>
          <a:lstStyle/>
          <a:p>
            <a:pPr algn="ctr" rtl="1"/>
            <a:r>
              <a:rPr sz="1300" b="1" i="0" lang="ar-AE" altLang="en-US">
                <a:solidFill>
                  <a:srgbClr val="FFFFFF"/>
                </a:solidFill>
                <a:latin typeface="Arial"/>
                <a:cs typeface="Arial"/>
              </a:rPr>
              <a:t>2</a:t>
            </a:r>
          </a:p>
        </p:txBody>
      </p:sp>
      <p:sp>
        <p:nvSpPr>
          <p:cNvPr id="26" name="Oval 25"/>
          <p:cNvSpPr/>
          <p:nvPr/>
        </p:nvSpPr>
        <p:spPr>
          <a:xfrm>
            <a:off x="6157137" y="2415319"/>
            <a:ext cx="329184" cy="329184"/>
          </a:xfrm>
          <a:prstGeom prst="ellipse">
            <a:avLst/>
          </a:prstGeom>
          <a:solidFill>
            <a:srgbClr val="C8102E"/>
          </a:solidFill>
          <a:ln w="19050">
            <a:solidFill>
              <a:srgbClr val="FFFFFF"/>
            </a:solidFill>
          </a:ln>
        </p:spPr>
        <p:txBody>
          <a:bodyPr rtlCol="0" anchor="ctr" lIns="0" rIns="0" tIns="0" bIns="0" wrap="square"/>
          <a:lstStyle/>
          <a:p>
            <a:pPr algn="ctr" rtl="1"/>
            <a:r>
              <a:rPr sz="1300" b="1" i="0" lang="ar-AE" altLang="en-US">
                <a:solidFill>
                  <a:srgbClr val="FFFFFF"/>
                </a:solidFill>
                <a:latin typeface="Arial"/>
                <a:cs typeface="Arial"/>
              </a:rPr>
              <a:t>3</a:t>
            </a:r>
          </a:p>
        </p:txBody>
      </p:sp>
      <p:sp>
        <p:nvSpPr>
          <p:cNvPr id="27" name="Oval 26"/>
          <p:cNvSpPr/>
          <p:nvPr/>
        </p:nvSpPr>
        <p:spPr>
          <a:xfrm>
            <a:off x="5623045" y="3371717"/>
            <a:ext cx="329184" cy="329184"/>
          </a:xfrm>
          <a:prstGeom prst="ellipse">
            <a:avLst/>
          </a:prstGeom>
          <a:solidFill>
            <a:srgbClr val="C8102E"/>
          </a:solidFill>
          <a:ln w="19050">
            <a:solidFill>
              <a:srgbClr val="FFFFFF"/>
            </a:solidFill>
          </a:ln>
        </p:spPr>
        <p:txBody>
          <a:bodyPr rtlCol="0" anchor="ctr" lIns="0" rIns="0" tIns="0" bIns="0" wrap="square"/>
          <a:lstStyle/>
          <a:p>
            <a:pPr algn="ctr" rtl="1"/>
            <a:r>
              <a:rPr sz="1300" b="1" i="0" lang="ar-AE" altLang="en-US">
                <a:solidFill>
                  <a:srgbClr val="FFFFFF"/>
                </a:solidFill>
                <a:latin typeface="Arial"/>
                <a:cs typeface="Arial"/>
              </a:rPr>
              <a:t>4</a:t>
            </a:r>
          </a:p>
        </p:txBody>
      </p:sp>
      <p:sp>
        <p:nvSpPr>
          <p:cNvPr id="28" name="Oval 27"/>
          <p:cNvSpPr/>
          <p:nvPr/>
        </p:nvSpPr>
        <p:spPr>
          <a:xfrm>
            <a:off x="6355869" y="4415059"/>
            <a:ext cx="329184" cy="329184"/>
          </a:xfrm>
          <a:prstGeom prst="ellipse">
            <a:avLst/>
          </a:prstGeom>
          <a:solidFill>
            <a:srgbClr val="C8102E"/>
          </a:solidFill>
          <a:ln w="19050">
            <a:solidFill>
              <a:srgbClr val="FFFFFF"/>
            </a:solidFill>
          </a:ln>
        </p:spPr>
        <p:txBody>
          <a:bodyPr rtlCol="0" anchor="ctr" lIns="0" rIns="0" tIns="0" bIns="0" wrap="square"/>
          <a:lstStyle/>
          <a:p>
            <a:pPr algn="ctr" rtl="1"/>
            <a:r>
              <a:rPr sz="1300" b="1" i="0" lang="ar-AE" altLang="en-US">
                <a:solidFill>
                  <a:srgbClr val="FFFFFF"/>
                </a:solidFill>
                <a:latin typeface="Arial"/>
                <a:cs typeface="Arial"/>
              </a:rPr>
              <a:t>5</a:t>
            </a:r>
          </a:p>
        </p:txBody>
      </p:sp>
      <p:sp>
        <p:nvSpPr>
          <p:cNvPr id="29" name="Oval 28"/>
          <p:cNvSpPr/>
          <p:nvPr/>
        </p:nvSpPr>
        <p:spPr>
          <a:xfrm>
            <a:off x="4623175" y="3564238"/>
            <a:ext cx="329184" cy="329184"/>
          </a:xfrm>
          <a:prstGeom prst="ellipse">
            <a:avLst/>
          </a:prstGeom>
          <a:solidFill>
            <a:srgbClr val="C8102E"/>
          </a:solidFill>
          <a:ln w="19050">
            <a:solidFill>
              <a:srgbClr val="FFFFFF"/>
            </a:solidFill>
          </a:ln>
        </p:spPr>
        <p:txBody>
          <a:bodyPr rtlCol="0" anchor="ctr" lIns="0" rIns="0" tIns="0" bIns="0" wrap="square"/>
          <a:lstStyle/>
          <a:p>
            <a:pPr algn="ctr" rtl="1"/>
            <a:r>
              <a:rPr sz="1300" b="1" i="0" lang="ar-AE" altLang="en-US">
                <a:solidFill>
                  <a:srgbClr val="FFFFFF"/>
                </a:solidFill>
                <a:latin typeface="Arial"/>
                <a:cs typeface="Arial"/>
              </a:rPr>
              <a:t>6</a:t>
            </a:r>
          </a:p>
        </p:txBody>
      </p:sp>
      <p:sp>
        <p:nvSpPr>
          <p:cNvPr id="30" name="Rounded Rectangle 29"/>
          <p:cNvSpPr/>
          <p:nvPr/>
        </p:nvSpPr>
        <p:spPr>
          <a:xfrm>
            <a:off x="4289839" y="2262994"/>
            <a:ext cx="1207008" cy="310896"/>
          </a:xfrm>
          <a:prstGeom prst="roundRect">
            <a:avLst>
              <a:gd name="adj" fmla="val 44117"/>
            </a:avLst>
          </a:prstGeom>
          <a:solidFill>
            <a:srgbClr val="102A43"/>
          </a:solidFill>
          <a:ln>
            <a:noFill/>
          </a:ln>
        </p:spPr>
        <p:txBody>
          <a:bodyPr rtlCol="0" anchor="ctr" lIns="0" rIns="0" tIns="0" bIns="0" wrap="square"/>
          <a:lstStyle/>
          <a:p>
            <a:pPr algn="ctr" rtl="1"/>
            <a:r>
              <a:rPr sz="1100" b="1" i="0" lang="ar-AE" altLang="en-US">
                <a:solidFill>
                  <a:srgbClr val="C9A96A"/>
                </a:solidFill>
                <a:latin typeface="Arial"/>
                <a:cs typeface="Arial"/>
              </a:rPr>
              <a:t>1 </a:t>
            </a:r>
            <a:r>
              <a:rPr sz="1100" b="1" i="0" lang="ar-AE" altLang="en-US">
                <a:solidFill>
                  <a:srgbClr val="FFFFFF"/>
                </a:solidFill>
                <a:latin typeface="Arial"/>
                <a:cs typeface="Arial"/>
              </a:rPr>
              <a:t>الاحتراق</a:t>
            </a:r>
          </a:p>
        </p:txBody>
      </p:sp>
      <p:sp>
        <p:nvSpPr>
          <p:cNvPr id="31" name="Rounded Rectangle 30"/>
          <p:cNvSpPr/>
          <p:nvPr/>
        </p:nvSpPr>
        <p:spPr>
          <a:xfrm>
            <a:off x="5072346" y="2797086"/>
            <a:ext cx="1207008" cy="310896"/>
          </a:xfrm>
          <a:prstGeom prst="roundRect">
            <a:avLst>
              <a:gd name="adj" fmla="val 44117"/>
            </a:avLst>
          </a:prstGeom>
          <a:solidFill>
            <a:srgbClr val="102A43"/>
          </a:solidFill>
          <a:ln>
            <a:noFill/>
          </a:ln>
        </p:spPr>
        <p:txBody>
          <a:bodyPr rtlCol="0" anchor="ctr" lIns="0" rIns="0" tIns="0" bIns="0" wrap="square"/>
          <a:lstStyle/>
          <a:p>
            <a:pPr algn="ctr" rtl="1"/>
            <a:r>
              <a:rPr sz="1100" b="1" i="0" lang="ar-AE" altLang="en-US">
                <a:solidFill>
                  <a:srgbClr val="C9A96A"/>
                </a:solidFill>
                <a:latin typeface="Arial"/>
                <a:cs typeface="Arial"/>
              </a:rPr>
              <a:t>2 </a:t>
            </a:r>
            <a:r>
              <a:rPr sz="1100" b="1" i="0" lang="ar-AE" altLang="en-US">
                <a:solidFill>
                  <a:srgbClr val="FFFFFF"/>
                </a:solidFill>
                <a:latin typeface="Arial"/>
                <a:cs typeface="Arial"/>
              </a:rPr>
              <a:t>CO</a:t>
            </a:r>
            <a:r>
              <a:rPr sz="1100" b="1" i="0" lang="ar-AE" altLang="en-US" baseline="-25000">
                <a:solidFill>
                  <a:srgbClr val="FFFFFF"/>
                </a:solidFill>
                <a:latin typeface="Arial"/>
                <a:cs typeface="Arial"/>
              </a:rPr>
              <a:t>2</a:t>
            </a:r>
            <a:r>
              <a:rPr sz="1100" b="1" i="0" lang="ar-AE" altLang="en-US">
                <a:solidFill>
                  <a:srgbClr val="FFFFFF"/>
                </a:solidFill>
                <a:latin typeface="Arial"/>
                <a:cs typeface="Arial"/>
              </a:rPr>
              <a:t> في الهواء</a:t>
            </a:r>
          </a:p>
        </p:txBody>
      </p:sp>
      <p:sp>
        <p:nvSpPr>
          <p:cNvPr id="32" name="Rounded Rectangle 31"/>
          <p:cNvSpPr/>
          <p:nvPr/>
        </p:nvSpPr>
        <p:spPr>
          <a:xfrm>
            <a:off x="5730646" y="2424463"/>
            <a:ext cx="1207008" cy="310896"/>
          </a:xfrm>
          <a:prstGeom prst="roundRect">
            <a:avLst>
              <a:gd name="adj" fmla="val 44117"/>
            </a:avLst>
          </a:prstGeom>
          <a:solidFill>
            <a:srgbClr val="102A43"/>
          </a:solidFill>
          <a:ln>
            <a:noFill/>
          </a:ln>
        </p:spPr>
        <p:txBody>
          <a:bodyPr rtlCol="0" anchor="ctr" lIns="0" rIns="0" tIns="0" bIns="0" wrap="square"/>
          <a:lstStyle/>
          <a:p>
            <a:pPr algn="ctr" rtl="1"/>
            <a:r>
              <a:rPr sz="1100" b="1" i="0" lang="ar-AE" altLang="en-US">
                <a:solidFill>
                  <a:srgbClr val="C9A96A"/>
                </a:solidFill>
                <a:latin typeface="Arial"/>
                <a:cs typeface="Arial"/>
              </a:rPr>
              <a:t>3 </a:t>
            </a:r>
            <a:r>
              <a:rPr sz="1100" b="1" i="0" lang="ar-AE" altLang="en-US">
                <a:solidFill>
                  <a:srgbClr val="FFFFFF"/>
                </a:solidFill>
                <a:latin typeface="Arial"/>
                <a:cs typeface="Arial"/>
              </a:rPr>
              <a:t>البناء الضوئي</a:t>
            </a:r>
          </a:p>
        </p:txBody>
      </p:sp>
      <p:sp>
        <p:nvSpPr>
          <p:cNvPr id="33" name="Rounded Rectangle 32"/>
          <p:cNvSpPr/>
          <p:nvPr/>
        </p:nvSpPr>
        <p:spPr>
          <a:xfrm>
            <a:off x="5451179" y="3505068"/>
            <a:ext cx="1207008" cy="310896"/>
          </a:xfrm>
          <a:prstGeom prst="roundRect">
            <a:avLst>
              <a:gd name="adj" fmla="val 44117"/>
            </a:avLst>
          </a:prstGeom>
          <a:solidFill>
            <a:srgbClr val="102A43"/>
          </a:solidFill>
          <a:ln>
            <a:noFill/>
          </a:ln>
        </p:spPr>
        <p:txBody>
          <a:bodyPr rtlCol="0" anchor="ctr" lIns="0" rIns="0" tIns="0" bIns="0" wrap="square"/>
          <a:lstStyle/>
          <a:p>
            <a:pPr algn="ctr" rtl="1"/>
            <a:r>
              <a:rPr sz="1100" b="1" i="0" lang="ar-AE" altLang="en-US">
                <a:solidFill>
                  <a:srgbClr val="C9A96A"/>
                </a:solidFill>
                <a:latin typeface="Arial"/>
                <a:cs typeface="Arial"/>
              </a:rPr>
              <a:t>4 </a:t>
            </a:r>
            <a:r>
              <a:rPr sz="1100" b="1" i="0" lang="ar-AE" altLang="en-US">
                <a:solidFill>
                  <a:srgbClr val="FFFFFF"/>
                </a:solidFill>
                <a:latin typeface="Arial"/>
                <a:cs typeface="Arial"/>
              </a:rPr>
              <a:t>التنفس</a:t>
            </a:r>
          </a:p>
        </p:txBody>
      </p:sp>
      <p:sp>
        <p:nvSpPr>
          <p:cNvPr id="34" name="Rounded Rectangle 33"/>
          <p:cNvSpPr/>
          <p:nvPr/>
        </p:nvSpPr>
        <p:spPr>
          <a:xfrm>
            <a:off x="6010112" y="4672618"/>
            <a:ext cx="1207008" cy="310896"/>
          </a:xfrm>
          <a:prstGeom prst="roundRect">
            <a:avLst>
              <a:gd name="adj" fmla="val 44117"/>
            </a:avLst>
          </a:prstGeom>
          <a:solidFill>
            <a:srgbClr val="102A43"/>
          </a:solidFill>
          <a:ln>
            <a:noFill/>
          </a:ln>
        </p:spPr>
        <p:txBody>
          <a:bodyPr rtlCol="0" anchor="ctr" lIns="0" rIns="0" tIns="0" bIns="0" wrap="square"/>
          <a:lstStyle/>
          <a:p>
            <a:pPr algn="ctr" rtl="1"/>
            <a:r>
              <a:rPr sz="1100" b="1" i="0" lang="ar-AE" altLang="en-US">
                <a:solidFill>
                  <a:srgbClr val="C9A96A"/>
                </a:solidFill>
                <a:latin typeface="Arial"/>
                <a:cs typeface="Arial"/>
              </a:rPr>
              <a:t>5 </a:t>
            </a:r>
            <a:r>
              <a:rPr sz="1100" b="1" i="0" lang="ar-AE" altLang="en-US">
                <a:solidFill>
                  <a:srgbClr val="FFFFFF"/>
                </a:solidFill>
                <a:latin typeface="Arial"/>
                <a:cs typeface="Arial"/>
              </a:rPr>
              <a:t>الموت والتحلل</a:t>
            </a:r>
          </a:p>
        </p:txBody>
      </p:sp>
      <p:sp>
        <p:nvSpPr>
          <p:cNvPr id="35" name="Rounded Rectangle 34"/>
          <p:cNvSpPr/>
          <p:nvPr/>
        </p:nvSpPr>
        <p:spPr>
          <a:xfrm>
            <a:off x="4184263" y="3573382"/>
            <a:ext cx="1207008" cy="310896"/>
          </a:xfrm>
          <a:prstGeom prst="roundRect">
            <a:avLst>
              <a:gd name="adj" fmla="val 44117"/>
            </a:avLst>
          </a:prstGeom>
          <a:solidFill>
            <a:srgbClr val="102A43"/>
          </a:solidFill>
          <a:ln>
            <a:noFill/>
          </a:ln>
        </p:spPr>
        <p:txBody>
          <a:bodyPr rtlCol="0" anchor="ctr" lIns="0" rIns="0" tIns="0" bIns="0" wrap="square"/>
          <a:lstStyle/>
          <a:p>
            <a:pPr algn="ctr" rtl="1"/>
            <a:r>
              <a:rPr sz="1100" b="1" i="0" lang="ar-AE" altLang="en-US">
                <a:solidFill>
                  <a:srgbClr val="C9A96A"/>
                </a:solidFill>
                <a:latin typeface="Arial"/>
                <a:cs typeface="Arial"/>
              </a:rPr>
              <a:t>6 </a:t>
            </a:r>
            <a:r>
              <a:rPr sz="1100" b="1" i="0" lang="ar-AE" altLang="en-US">
                <a:solidFill>
                  <a:srgbClr val="FFFFFF"/>
                </a:solidFill>
                <a:latin typeface="Arial"/>
                <a:cs typeface="Arial"/>
              </a:rPr>
              <a:t>الوقود الأحفوري</a:t>
            </a:r>
          </a:p>
        </p:txBody>
      </p:sp>
      <p:sp>
        <p:nvSpPr>
          <p:cNvPr id="36" name="Rounded Rectangle 35"/>
          <p:cNvSpPr/>
          <p:nvPr/>
        </p:nvSpPr>
        <p:spPr>
          <a:xfrm>
            <a:off x="2697480" y="1920240"/>
            <a:ext cx="1371600" cy="384048"/>
          </a:xfrm>
          <a:prstGeom prst="roundRect">
            <a:avLst>
              <a:gd name="adj" fmla="val 47619"/>
            </a:avLst>
          </a:prstGeom>
          <a:solidFill>
            <a:srgbClr val="C9A96A"/>
          </a:solidFill>
          <a:ln>
            <a:noFill/>
          </a:ln>
          <a:effectLst>
            <a:outerShdw blurRad="76200" dist="31750" dir="5400000" algn="t" rotWithShape="0">
              <a:srgbClr val="1E2B3C">
                <a:alpha val="22000"/>
              </a:srgbClr>
            </a:outerShdw>
          </a:effectLst>
        </p:spPr>
        <p:txBody>
          <a:bodyPr rtlCol="0" anchor="ctr" lIns="36576" rIns="36576" tIns="0" bIns="0" wrap="square"/>
          <a:lstStyle/>
          <a:p>
            <a:pPr algn="ctr" rtl="1"/>
            <a:r>
              <a:rPr sz="1250" b="1" i="0" lang="ar-AE" altLang="en-US">
                <a:solidFill>
                  <a:srgbClr val="102A43"/>
                </a:solidFill>
                <a:latin typeface="Arial"/>
                <a:cs typeface="Arial"/>
              </a:rPr>
              <a:t>◄ </a:t>
            </a:r>
            <a:r>
              <a:rPr sz="1250" b="1" i="0" lang="ar-AE" altLang="en-US">
                <a:solidFill>
                  <a:srgbClr val="102A43"/>
                </a:solidFill>
                <a:latin typeface="Arial"/>
                <a:cs typeface="Arial"/>
              </a:rPr>
              <a:t>الإجابات</a:t>
            </a:r>
          </a:p>
        </p:txBody>
      </p:sp>
      <p:sp>
        <p:nvSpPr>
          <p:cNvPr id="37" name="Rounded Rectangle 36"/>
          <p:cNvSpPr/>
          <p:nvPr/>
        </p:nvSpPr>
        <p:spPr>
          <a:xfrm>
            <a:off x="2697480" y="2395728"/>
            <a:ext cx="1371600" cy="1691640"/>
          </a:xfrm>
          <a:prstGeom prst="roundRect">
            <a:avLst>
              <a:gd name="adj" fmla="val 6666"/>
            </a:avLst>
          </a:prstGeom>
          <a:solidFill>
            <a:srgbClr val="EDF7EE"/>
          </a:solidFill>
          <a:ln w="12700">
            <a:solidFill>
              <a:srgbClr val="B8DDBB"/>
            </a:solidFill>
          </a:ln>
        </p:spPr>
        <p:txBody>
          <a:bodyPr rtlCol="0" anchor="t" lIns="36576" rIns="36576" wrap="square"/>
          <a:lstStyle/>
          <a:p>
            <a:pPr algn="ctr" rtl="1"/>
            <a:r>
              <a:rPr sz="1250" b="1" i="0" lang="ar-AE" altLang="en-US">
                <a:solidFill>
                  <a:srgbClr val="2E7D32"/>
                </a:solidFill>
                <a:latin typeface="Arial"/>
                <a:cs typeface="Arial"/>
              </a:rPr>
              <a:t>بنك الكلمات</a:t>
            </a:r>
          </a:p>
          <a:p>
            <a:pPr algn="ctr" rtl="1"/>
            <a:r>
              <a:rPr sz="1100" b="1" i="0" lang="ar-AE" altLang="en-US">
                <a:solidFill>
                  <a:srgbClr val="102A43"/>
                </a:solidFill>
                <a:latin typeface="Arial"/>
                <a:cs typeface="Arial"/>
              </a:rPr>
              <a:t>الاحتراق</a:t>
            </a:r>
          </a:p>
          <a:p>
            <a:pPr algn="ctr" rtl="1"/>
            <a:r>
              <a:rPr sz="1100" b="1" i="0" lang="ar-AE" altLang="en-US">
                <a:solidFill>
                  <a:srgbClr val="102A43"/>
                </a:solidFill>
                <a:latin typeface="Arial"/>
                <a:cs typeface="Arial"/>
              </a:rPr>
              <a:t>ثاني أكسيد الكربون</a:t>
            </a:r>
          </a:p>
          <a:p>
            <a:pPr algn="ctr" rtl="1"/>
            <a:r>
              <a:rPr sz="1100" b="1" i="0" lang="ar-AE" altLang="en-US">
                <a:solidFill>
                  <a:srgbClr val="102A43"/>
                </a:solidFill>
                <a:latin typeface="Arial"/>
                <a:cs typeface="Arial"/>
              </a:rPr>
              <a:t>البناء الضوئي</a:t>
            </a:r>
          </a:p>
          <a:p>
            <a:pPr algn="ctr" rtl="1"/>
            <a:r>
              <a:rPr sz="1100" b="1" i="0" lang="ar-AE" altLang="en-US">
                <a:solidFill>
                  <a:srgbClr val="102A43"/>
                </a:solidFill>
                <a:latin typeface="Arial"/>
                <a:cs typeface="Arial"/>
              </a:rPr>
              <a:t>التنفس</a:t>
            </a:r>
          </a:p>
          <a:p>
            <a:pPr algn="ctr" rtl="1"/>
            <a:r>
              <a:rPr sz="1100" b="1" i="0" lang="ar-AE" altLang="en-US">
                <a:solidFill>
                  <a:srgbClr val="102A43"/>
                </a:solidFill>
                <a:latin typeface="Arial"/>
                <a:cs typeface="Arial"/>
              </a:rPr>
              <a:t>الموت والتحلل</a:t>
            </a:r>
          </a:p>
          <a:p>
            <a:pPr algn="ctr" rtl="1"/>
            <a:r>
              <a:rPr sz="1100" b="1" i="0" lang="ar-AE" altLang="en-US">
                <a:solidFill>
                  <a:srgbClr val="102A43"/>
                </a:solidFill>
                <a:latin typeface="Arial"/>
                <a:cs typeface="Arial"/>
              </a:rPr>
              <a:t>الوقود الأحفوري</a:t>
            </a:r>
          </a:p>
        </p:txBody>
      </p:sp>
      <p:pic>
        <p:nvPicPr>
          <p:cNvPr id="38" name="مؤقت 3 دقائق">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2715768" y="4187952"/>
            <a:ext cx="1325880" cy="1325880"/>
          </a:xfrm>
          <a:prstGeom prst="rect">
            <a:avLst/>
          </a:prstGeom>
        </p:spPr>
      </p:pic>
      <p:sp>
        <p:nvSpPr>
          <p:cNvPr id="39" name="TextBox 38"/>
          <p:cNvSpPr txBox="1"/>
          <p:nvPr/>
        </p:nvSpPr>
        <p:spPr>
          <a:xfrm>
            <a:off x="11548872" y="2002536"/>
            <a:ext cx="274320" cy="274320"/>
          </a:xfrm>
          <a:prstGeom prst="rect">
            <a:avLst/>
          </a:prstGeom>
          <a:noFill/>
        </p:spPr>
        <p:txBody>
          <a:bodyPr wrap="square" lIns="0" rIns="0" tIns="0" bIns="0" anchor="ctr"/>
          <a:lstStyle/>
          <a:p>
            <a:pPr algn="ctr"/>
            <a:r>
              <a:rPr sz="1500" b="1" i="0" lang="ar-AE" altLang="en-US">
                <a:solidFill>
                  <a:srgbClr val="2E9E5B"/>
                </a:solidFill>
                <a:latin typeface="Arial"/>
                <a:cs typeface="Arial"/>
              </a:rPr>
              <a:t>●</a:t>
            </a:r>
          </a:p>
        </p:txBody>
      </p:sp>
      <p:sp>
        <p:nvSpPr>
          <p:cNvPr id="40" name="TextBox 39"/>
          <p:cNvSpPr txBox="1"/>
          <p:nvPr/>
        </p:nvSpPr>
        <p:spPr>
          <a:xfrm>
            <a:off x="7680960" y="1874519"/>
            <a:ext cx="3831335" cy="822960"/>
          </a:xfrm>
          <a:prstGeom prst="rect">
            <a:avLst/>
          </a:prstGeom>
          <a:noFill/>
        </p:spPr>
        <p:txBody>
          <a:bodyPr wrap="square" lIns="36576" rIns="36576" tIns="0" bIns="0" anchor="ctr"/>
          <a:lstStyle/>
          <a:p>
            <a:pPr algn="r" rtl="1"/>
            <a:r>
              <a:rPr sz="1400" b="1" i="0" lang="ar-AE" altLang="en-US">
                <a:solidFill>
                  <a:srgbClr val="102A43"/>
                </a:solidFill>
                <a:latin typeface="Arial"/>
                <a:cs typeface="Arial"/>
              </a:rPr>
              <a:t>أيّ العمليات الآتية تُزيل ثاني أكسيد الكربون من الغلاف الجوي؟</a:t>
            </a:r>
          </a:p>
        </p:txBody>
      </p:sp>
      <p:sp>
        <p:nvSpPr>
          <p:cNvPr id="41" name="Rounded Rectangle 40"/>
          <p:cNvSpPr/>
          <p:nvPr/>
        </p:nvSpPr>
        <p:spPr>
          <a:xfrm>
            <a:off x="9825228" y="2752344"/>
            <a:ext cx="2016252" cy="475488"/>
          </a:xfrm>
          <a:prstGeom prst="roundRect">
            <a:avLst>
              <a:gd name="adj" fmla="val 1923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rtlCol="0" anchor="ctr" lIns="109728" rIns="109728" tIns="18288" bIns="18288" wrap="square"/>
          <a:lstStyle/>
          <a:p>
            <a:pPr algn="r" rtl="1"/>
            <a:r>
              <a:rPr sz="1400" b="1" i="0" lang="ar-AE" altLang="en-US">
                <a:solidFill>
                  <a:srgbClr val="2E7D32"/>
                </a:solidFill>
                <a:latin typeface="Arial"/>
                <a:cs typeface="Arial"/>
              </a:rPr>
              <a:t>أ) </a:t>
            </a:r>
            <a:r>
              <a:rPr sz="1400" b="1" i="0" lang="ar-AE" altLang="en-US">
                <a:solidFill>
                  <a:srgbClr val="102A43"/>
                </a:solidFill>
                <a:latin typeface="Arial"/>
                <a:cs typeface="Arial"/>
              </a:rPr>
              <a:t>البناء الضوئي</a:t>
            </a:r>
          </a:p>
        </p:txBody>
      </p:sp>
      <p:sp>
        <p:nvSpPr>
          <p:cNvPr id="42" name="Oval 41"/>
          <p:cNvSpPr/>
          <p:nvPr/>
        </p:nvSpPr>
        <p:spPr>
          <a:xfrm>
            <a:off x="9898380" y="2825496"/>
            <a:ext cx="329184" cy="329184"/>
          </a:xfrm>
          <a:prstGeom prst="ellipse">
            <a:avLst/>
          </a:prstGeom>
          <a:solidFill>
            <a:srgbClr val="2E9E5B"/>
          </a:solidFill>
          <a:ln>
            <a:noFill/>
          </a:ln>
        </p:spPr>
        <p:txBody>
          <a:bodyPr rtlCol="0" anchor="ctr" lIns="0" rIns="0" tIns="0" bIns="0" wrap="square"/>
          <a:lstStyle/>
          <a:p>
            <a:pPr algn="ctr"/>
            <a:r>
              <a:rPr sz="1500" b="1" i="0" lang="ar-AE" altLang="en-US">
                <a:solidFill>
                  <a:srgbClr val="FFFFFF"/>
                </a:solidFill>
                <a:latin typeface="Arial"/>
                <a:cs typeface="Arial"/>
              </a:rPr>
              <a:t>✓</a:t>
            </a:r>
          </a:p>
        </p:txBody>
      </p:sp>
      <p:sp>
        <p:nvSpPr>
          <p:cNvPr id="43" name="Rounded Rectangle 42"/>
          <p:cNvSpPr/>
          <p:nvPr/>
        </p:nvSpPr>
        <p:spPr>
          <a:xfrm>
            <a:off x="7680959" y="2752344"/>
            <a:ext cx="2016252" cy="475488"/>
          </a:xfrm>
          <a:prstGeom prst="roundRect">
            <a:avLst>
              <a:gd name="adj" fmla="val 1923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rtlCol="0" anchor="ctr" lIns="109728" rIns="109728" tIns="18288" bIns="18288" wrap="square"/>
          <a:lstStyle/>
          <a:p>
            <a:pPr algn="r" rtl="1"/>
            <a:r>
              <a:rPr sz="1400" b="1" i="0" lang="ar-AE" altLang="en-US">
                <a:solidFill>
                  <a:srgbClr val="2E7D32"/>
                </a:solidFill>
                <a:latin typeface="Arial"/>
                <a:cs typeface="Arial"/>
              </a:rPr>
              <a:t>ب) </a:t>
            </a:r>
            <a:r>
              <a:rPr sz="1400" b="1" i="0" lang="ar-AE" altLang="en-US">
                <a:solidFill>
                  <a:srgbClr val="102A43"/>
                </a:solidFill>
                <a:latin typeface="Arial"/>
                <a:cs typeface="Arial"/>
              </a:rPr>
              <a:t>التنفس الخلوي</a:t>
            </a:r>
          </a:p>
        </p:txBody>
      </p:sp>
      <p:sp>
        <p:nvSpPr>
          <p:cNvPr id="44" name="Oval 43"/>
          <p:cNvSpPr/>
          <p:nvPr/>
        </p:nvSpPr>
        <p:spPr>
          <a:xfrm>
            <a:off x="7754111" y="2825496"/>
            <a:ext cx="329184" cy="329184"/>
          </a:xfrm>
          <a:prstGeom prst="ellipse">
            <a:avLst/>
          </a:prstGeom>
          <a:solidFill>
            <a:srgbClr val="C8102E"/>
          </a:solidFill>
          <a:ln>
            <a:noFill/>
          </a:ln>
        </p:spPr>
        <p:txBody>
          <a:bodyPr rtlCol="0" anchor="ctr" lIns="0" rIns="0" tIns="0" bIns="0" wrap="square"/>
          <a:lstStyle/>
          <a:p>
            <a:pPr algn="ctr"/>
            <a:r>
              <a:rPr sz="1500" b="1" i="0" lang="ar-AE" altLang="en-US">
                <a:solidFill>
                  <a:srgbClr val="FFFFFF"/>
                </a:solidFill>
                <a:latin typeface="Arial"/>
                <a:cs typeface="Arial"/>
              </a:rPr>
              <a:t>✗</a:t>
            </a:r>
          </a:p>
        </p:txBody>
      </p:sp>
      <p:sp>
        <p:nvSpPr>
          <p:cNvPr id="45" name="Rounded Rectangle 44"/>
          <p:cNvSpPr/>
          <p:nvPr/>
        </p:nvSpPr>
        <p:spPr>
          <a:xfrm>
            <a:off x="9825228" y="3355848"/>
            <a:ext cx="2016252" cy="475488"/>
          </a:xfrm>
          <a:prstGeom prst="roundRect">
            <a:avLst>
              <a:gd name="adj" fmla="val 1923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rtlCol="0" anchor="ctr" lIns="109728" rIns="109728" tIns="18288" bIns="18288" wrap="square"/>
          <a:lstStyle/>
          <a:p>
            <a:pPr algn="r" rtl="1"/>
            <a:r>
              <a:rPr sz="1400" b="1" i="0" lang="ar-AE" altLang="en-US">
                <a:solidFill>
                  <a:srgbClr val="2E7D32"/>
                </a:solidFill>
                <a:latin typeface="Arial"/>
                <a:cs typeface="Arial"/>
              </a:rPr>
              <a:t>ج) </a:t>
            </a:r>
            <a:r>
              <a:rPr sz="1400" b="1" i="0" lang="ar-AE" altLang="en-US">
                <a:solidFill>
                  <a:srgbClr val="102A43"/>
                </a:solidFill>
                <a:latin typeface="Arial"/>
                <a:cs typeface="Arial"/>
              </a:rPr>
              <a:t>الاحتراق</a:t>
            </a:r>
          </a:p>
        </p:txBody>
      </p:sp>
      <p:sp>
        <p:nvSpPr>
          <p:cNvPr id="46" name="Oval 45"/>
          <p:cNvSpPr/>
          <p:nvPr/>
        </p:nvSpPr>
        <p:spPr>
          <a:xfrm>
            <a:off x="9898380" y="3429000"/>
            <a:ext cx="329184" cy="329184"/>
          </a:xfrm>
          <a:prstGeom prst="ellipse">
            <a:avLst/>
          </a:prstGeom>
          <a:solidFill>
            <a:srgbClr val="C8102E"/>
          </a:solidFill>
          <a:ln>
            <a:noFill/>
          </a:ln>
        </p:spPr>
        <p:txBody>
          <a:bodyPr rtlCol="0" anchor="ctr" lIns="0" rIns="0" tIns="0" bIns="0" wrap="square"/>
          <a:lstStyle/>
          <a:p>
            <a:pPr algn="ctr"/>
            <a:r>
              <a:rPr sz="1500" b="1" i="0" lang="ar-AE" altLang="en-US">
                <a:solidFill>
                  <a:srgbClr val="FFFFFF"/>
                </a:solidFill>
                <a:latin typeface="Arial"/>
                <a:cs typeface="Arial"/>
              </a:rPr>
              <a:t>✗</a:t>
            </a:r>
          </a:p>
        </p:txBody>
      </p:sp>
      <p:sp>
        <p:nvSpPr>
          <p:cNvPr id="47" name="Rounded Rectangle 46"/>
          <p:cNvSpPr/>
          <p:nvPr/>
        </p:nvSpPr>
        <p:spPr>
          <a:xfrm>
            <a:off x="7680959" y="3355848"/>
            <a:ext cx="2016252" cy="475488"/>
          </a:xfrm>
          <a:prstGeom prst="roundRect">
            <a:avLst>
              <a:gd name="adj" fmla="val 1923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rtlCol="0" anchor="ctr" lIns="109728" rIns="109728" tIns="18288" bIns="18288" wrap="square"/>
          <a:lstStyle/>
          <a:p>
            <a:pPr algn="r" rtl="1"/>
            <a:r>
              <a:rPr sz="1400" b="1" i="0" lang="ar-AE" altLang="en-US">
                <a:solidFill>
                  <a:srgbClr val="2E7D32"/>
                </a:solidFill>
                <a:latin typeface="Arial"/>
                <a:cs typeface="Arial"/>
              </a:rPr>
              <a:t>د) </a:t>
            </a:r>
            <a:r>
              <a:rPr sz="1400" b="1" i="0" lang="ar-AE" altLang="en-US">
                <a:solidFill>
                  <a:srgbClr val="102A43"/>
                </a:solidFill>
                <a:latin typeface="Arial"/>
                <a:cs typeface="Arial"/>
              </a:rPr>
              <a:t>التحلل</a:t>
            </a:r>
          </a:p>
        </p:txBody>
      </p:sp>
      <p:sp>
        <p:nvSpPr>
          <p:cNvPr id="48" name="Oval 47"/>
          <p:cNvSpPr/>
          <p:nvPr/>
        </p:nvSpPr>
        <p:spPr>
          <a:xfrm>
            <a:off x="7754111" y="3429000"/>
            <a:ext cx="329184" cy="329184"/>
          </a:xfrm>
          <a:prstGeom prst="ellipse">
            <a:avLst/>
          </a:prstGeom>
          <a:solidFill>
            <a:srgbClr val="C8102E"/>
          </a:solidFill>
          <a:ln>
            <a:noFill/>
          </a:ln>
        </p:spPr>
        <p:txBody>
          <a:bodyPr rtlCol="0" anchor="ctr" lIns="0" rIns="0" tIns="0" bIns="0" wrap="square"/>
          <a:lstStyle/>
          <a:p>
            <a:pPr algn="ctr"/>
            <a:r>
              <a:rPr sz="1500" b="1" i="0" lang="ar-AE" altLang="en-US">
                <a:solidFill>
                  <a:srgbClr val="FFFFFF"/>
                </a:solidFill>
                <a:latin typeface="Arial"/>
                <a:cs typeface="Arial"/>
              </a:rPr>
              <a:t>✗</a:t>
            </a:r>
          </a:p>
        </p:txBody>
      </p:sp>
      <p:sp>
        <p:nvSpPr>
          <p:cNvPr id="49" name="Rounded Rectangle 48"/>
          <p:cNvSpPr/>
          <p:nvPr/>
        </p:nvSpPr>
        <p:spPr>
          <a:xfrm>
            <a:off x="7680960" y="4206240"/>
            <a:ext cx="4160520" cy="1316736"/>
          </a:xfrm>
          <a:prstGeom prst="roundRect">
            <a:avLst>
              <a:gd name="adj" fmla="val 8333"/>
            </a:avLst>
          </a:prstGeom>
          <a:solidFill>
            <a:srgbClr val="FBF5E8"/>
          </a:solidFill>
          <a:ln w="12700">
            <a:solidFill>
              <a:srgbClr val="E6D5B0"/>
            </a:solidFill>
          </a:ln>
        </p:spPr>
        <p:txBody>
          <a:bodyPr rtlCol="0" anchor="ctr" lIns="54864" rIns="54864" tIns="27432" bIns="27432"/>
          <a:lstStyle/>
          <a:p>
            <a:pPr algn="ctr"/>
          </a:p>
        </p:txBody>
      </p:sp>
      <p:sp>
        <p:nvSpPr>
          <p:cNvPr id="50" name="TextBox 49"/>
          <p:cNvSpPr txBox="1"/>
          <p:nvPr/>
        </p:nvSpPr>
        <p:spPr>
          <a:xfrm>
            <a:off x="7772400" y="4224528"/>
            <a:ext cx="3977639" cy="1280160"/>
          </a:xfrm>
          <a:prstGeom prst="rect">
            <a:avLst/>
          </a:prstGeom>
          <a:noFill/>
        </p:spPr>
        <p:txBody>
          <a:bodyPr wrap="square" lIns="73152" rIns="73152" tIns="36576" bIns="36576" anchor="ctr"/>
          <a:lstStyle/>
          <a:p>
            <a:pPr algn="r" rtl="1"/>
            <a:r>
              <a:rPr sz="1300" b="1" i="0" lang="ar-AE" altLang="en-US">
                <a:solidFill>
                  <a:srgbClr val="6B3F1D"/>
                </a:solidFill>
                <a:latin typeface="Arial"/>
                <a:cs typeface="Arial"/>
              </a:rPr>
              <a:t>تحدّي شاهين </a:t>
            </a:r>
            <a:r>
              <a:rPr sz="1300" b="1" i="0" lang="ar-AE" altLang="en-US">
                <a:solidFill>
                  <a:srgbClr val="C8102E"/>
                </a:solidFill>
                <a:latin typeface="Arial"/>
                <a:cs typeface="Arial"/>
              </a:rPr>
              <a:t>■</a:t>
            </a:r>
            <a:r>
              <a:rPr sz="1300" b="1" i="0" lang="ar-AE" altLang="en-US">
                <a:solidFill>
                  <a:srgbClr val="6B3F1D"/>
                </a:solidFill>
                <a:latin typeface="Arial"/>
                <a:cs typeface="Arial"/>
              </a:rPr>
              <a:t>: </a:t>
            </a:r>
            <a:r>
              <a:rPr sz="1300" b="1" i="0" lang="ar-AE" altLang="en-US">
                <a:solidFill>
                  <a:srgbClr val="102A43"/>
                </a:solidFill>
                <a:latin typeface="Arial"/>
                <a:cs typeface="Arial"/>
              </a:rPr>
              <a:t>صِف كيف ينتقل الكربون من الأجزاء غير الحيوية إلى الأجزاء الحيوية في النظام البيئي.</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childTnLst>
                          </p:cTn>
                        </p:par>
                      </p:childTnLst>
                    </p:cTn>
                  </p:par>
                </p:childTnLst>
              </p:cTn>
              <p:nextCondLst>
                <p:cond evt="onNext" delay="0">
                  <p:tgtEl>
                    <p:sldTgt/>
                  </p:tgtEl>
                </p:cond>
              </p:nextCondLst>
            </p:seq>
            <p:seq concurrent="1" nextAc="seek">
              <p:cTn id="23" restart="whenNotActive" fill="hold" evtFilter="cancelBubble" nodeType="interactiveSeq">
                <p:stCondLst>
                  <p:cond evt="onClick" delay="0">
                    <p:tgtEl>
                      <p:spTgt spid="41"/>
                    </p:tgtEl>
                  </p:cond>
                </p:stCondLst>
                <p:endSync evt="end" delay="0">
                  <p:rtn val="all"/>
                </p:endSync>
                <p:childTnLst>
                  <p:par>
                    <p:cTn id="24" fill="hold">
                      <p:stCondLst>
                        <p:cond delay="0"/>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500"/>
                                        <p:tgtEl>
                                          <p:spTgt spid="42"/>
                                        </p:tgtEl>
                                      </p:cBhvr>
                                    </p:animEffect>
                                  </p:childTnLst>
                                </p:cTn>
                              </p:par>
                            </p:childTnLst>
                          </p:cTn>
                        </p:par>
                      </p:childTnLst>
                    </p:cTn>
                  </p:par>
                </p:childTnLst>
              </p:cTn>
              <p:nextCondLst>
                <p:cond evt="onNext" delay="0">
                  <p:tgtEl>
                    <p:sldTgt/>
                  </p:tgtEl>
                </p:cond>
              </p:nextCondLst>
            </p:seq>
            <p:seq concurrent="1" nextAc="seek">
              <p:cTn id="29" restart="whenNotActive" fill="hold" evtFilter="cancelBubble" nodeType="interactiveSeq">
                <p:stCondLst>
                  <p:cond evt="onClick" delay="0">
                    <p:tgtEl>
                      <p:spTgt spid="43"/>
                    </p:tgtEl>
                  </p:cond>
                </p:stCondLst>
                <p:endSync evt="end" delay="0">
                  <p:rtn val="all"/>
                </p:endSync>
                <p:childTnLst>
                  <p:par>
                    <p:cTn id="30" fill="hold">
                      <p:stCondLst>
                        <p:cond delay="0"/>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fade">
                                      <p:cBhvr>
                                        <p:cTn id="34" dur="500"/>
                                        <p:tgtEl>
                                          <p:spTgt spid="44"/>
                                        </p:tgtEl>
                                      </p:cBhvr>
                                    </p:animEffect>
                                  </p:childTnLst>
                                </p:cTn>
                              </p:par>
                            </p:childTnLst>
                          </p:cTn>
                        </p:par>
                      </p:childTnLst>
                    </p:cTn>
                  </p:par>
                </p:childTnLst>
              </p:cTn>
              <p:nextCondLst>
                <p:cond evt="onNext" delay="0">
                  <p:tgtEl>
                    <p:sldTgt/>
                  </p:tgtEl>
                </p:cond>
              </p:nextCondLst>
            </p:seq>
            <p:seq concurrent="1" nextAc="seek">
              <p:cTn id="35" restart="whenNotActive" fill="hold" evtFilter="cancelBubble" nodeType="interactiveSeq">
                <p:stCondLst>
                  <p:cond evt="onClick" delay="0">
                    <p:tgtEl>
                      <p:spTgt spid="45"/>
                    </p:tgtEl>
                  </p:cond>
                </p:stCondLst>
                <p:endSync evt="end" delay="0">
                  <p:rtn val="all"/>
                </p:endSync>
                <p:childTnLst>
                  <p:par>
                    <p:cTn id="36" fill="hold">
                      <p:stCondLst>
                        <p:cond delay="0"/>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500"/>
                                        <p:tgtEl>
                                          <p:spTgt spid="46"/>
                                        </p:tgtEl>
                                      </p:cBhvr>
                                    </p:animEffect>
                                  </p:childTnLst>
                                </p:cTn>
                              </p:par>
                            </p:childTnLst>
                          </p:cTn>
                        </p:par>
                      </p:childTnLst>
                    </p:cTn>
                  </p:par>
                </p:childTnLst>
              </p:cTn>
              <p:nextCondLst>
                <p:cond evt="onNext" delay="0">
                  <p:tgtEl>
                    <p:sldTgt/>
                  </p:tgtEl>
                </p:cond>
              </p:nextCondLst>
            </p:seq>
            <p:seq concurrent="1" nextAc="seek">
              <p:cTn id="41" restart="whenNotActive" fill="hold" evtFilter="cancelBubble" nodeType="interactiveSeq">
                <p:stCondLst>
                  <p:cond evt="onClick" delay="0">
                    <p:tgtEl>
                      <p:spTgt spid="47"/>
                    </p:tgtEl>
                  </p:cond>
                </p:stCondLst>
                <p:endSync evt="end" delay="0">
                  <p:rtn val="all"/>
                </p:endSync>
                <p:childTnLst>
                  <p:par>
                    <p:cTn id="42" fill="hold">
                      <p:stCondLst>
                        <p:cond delay="0"/>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fade">
                                      <p:cBhvr>
                                        <p:cTn id="46" dur="500"/>
                                        <p:tgtEl>
                                          <p:spTgt spid="48"/>
                                        </p:tgtEl>
                                      </p:cBhvr>
                                    </p:animEffect>
                                  </p:childTnLst>
                                </p:cTn>
                              </p:par>
                            </p:childTnLst>
                          </p:cTn>
                        </p:par>
                      </p:childTnLst>
                    </p:cTn>
                  </p:par>
                </p:childTnLst>
              </p:cTn>
              <p:nextCondLst>
                <p:cond evt="onNext" delay="0">
                  <p:tgtEl>
                    <p:sldTgt/>
                  </p:tgtEl>
                </p:cond>
              </p:nextCondLst>
            </p:seq>
            <p:seq concurrent="1" nextAc="seek">
              <p:cTn id="47" restart="whenNotActive" fill="hold" evtFilter="cancelBubble" nodeType="interactiveSeq">
                <p:stCondLst>
                  <p:cond evt="onClick" delay="0">
                    <p:tgtEl>
                      <p:spTgt spid="38"/>
                    </p:tgtEl>
                  </p:cond>
                </p:stCondLst>
                <p:endSync evt="end" delay="0">
                  <p:rtn val="all"/>
                </p:endSync>
                <p:childTnLst>
                  <p:par>
                    <p:cTn id="48" fill="hold">
                      <p:stCondLst>
                        <p:cond delay="0"/>
                      </p:stCondLst>
                      <p:childTnLst>
                        <p:par>
                          <p:cTn id="49" fill="hold">
                            <p:stCondLst>
                              <p:cond delay="0"/>
                            </p:stCondLst>
                            <p:childTnLst>
                              <p:par>
                                <p:cTn id="50" presetID="2" presetClass="mediacall" presetSubtype="0" fill="hold" nodeType="clickEffect">
                                  <p:stCondLst>
                                    <p:cond delay="0"/>
                                  </p:stCondLst>
                                  <p:childTnLst>
                                    <p:cmd type="call" cmd="togglePause">
                                      <p:cBhvr>
                                        <p:cTn id="51" dur="1" fill="hold"/>
                                        <p:tgtEl>
                                          <p:spTgt spid="38"/>
                                        </p:tgtEl>
                                      </p:cBhvr>
                                    </p:cmd>
                                  </p:childTnLst>
                                </p:cTn>
                              </p:par>
                            </p:childTnLst>
                          </p:cTn>
                        </p:par>
                      </p:childTnLst>
                    </p:cTn>
                  </p:par>
                </p:childTnLst>
              </p:cTn>
              <p:nextCondLst>
                <p:cond evt="onNext" delay="0">
                  <p:tgtEl>
                    <p:sldTgt/>
                  </p:tgtEl>
                </p:cond>
              </p:nextCondLst>
            </p:seq>
            <p:video>
              <p:cMediaNode vol="80000">
                <p:cTn id="52" fill="hold" display="0">
                  <p:stCondLst>
                    <p:cond delay="indefinite"/>
                  </p:stCondLst>
                </p:cTn>
                <p:tgtEl>
                  <p:spTgt spid="38"/>
                </p:tgtEl>
              </p:cMediaNode>
            </p:video>
          </p:childTnLst>
        </p:cTn>
      </p:par>
    </p:tnLst>
    <p:bldLst>
      <p:bldP spid="30" grpId="0" animBg="1"/>
      <p:bldP spid="31" grpId="0" animBg="1"/>
      <p:bldP spid="32" grpId="0" animBg="1"/>
      <p:bldP spid="33" grpId="0" animBg="1"/>
      <p:bldP spid="34" grpId="0" animBg="1"/>
      <p:bldP spid="35" grpId="0" animBg="1"/>
      <p:bldP spid="42" grpId="0" animBg="1"/>
      <p:bldP spid="44" grpId="0" animBg="1"/>
      <p:bldP spid="46" grpId="0" animBg="1"/>
      <p:bldP spid="48"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rea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219700" y="1781175"/>
            <a:ext cx="6096000" cy="257175"/>
          </a:xfrm>
          <a:prstGeom prst="rect">
            <a:avLst/>
          </a:prstGeom>
          <a:noFill/>
        </p:spPr>
        <p:txBody>
          <a:bodyPr wrap="square" lIns="18288" rIns="18288" tIns="0" bIns="0" anchor="ctr"/>
          <a:lstStyle/>
          <a:p>
            <a:pPr algn="r" rtl="1"/>
            <a:r>
              <a:rPr sz="1400" b="1" i="0" lang="ar-AE" altLang="en-US">
                <a:solidFill>
                  <a:srgbClr val="2C8E99"/>
                </a:solidFill>
                <a:latin typeface="Arial"/>
                <a:cs typeface="Arial"/>
              </a:rPr>
              <a:t>دورات طويلة المدى – من كتاب الطالب</a:t>
            </a:r>
          </a:p>
        </p:txBody>
      </p:sp>
      <p:sp>
        <p:nvSpPr>
          <p:cNvPr id="4" name="TextBox 3"/>
          <p:cNvSpPr txBox="1"/>
          <p:nvPr/>
        </p:nvSpPr>
        <p:spPr>
          <a:xfrm>
            <a:off x="5200650" y="2190750"/>
            <a:ext cx="6191250" cy="2619375"/>
          </a:xfrm>
          <a:prstGeom prst="rect">
            <a:avLst/>
          </a:prstGeom>
          <a:noFill/>
        </p:spPr>
        <p:txBody>
          <a:bodyPr wrap="square" lIns="45720" rIns="45720" tIns="18288" bIns="18288" anchor="t"/>
          <a:lstStyle/>
          <a:p>
            <a:pPr algn="r" rtl="1">
              <a:lnSpc>
                <a:spcPct val="112000"/>
              </a:lnSpc>
            </a:pPr>
            <a:r>
              <a:rPr sz="1600" b="0" i="0" lang="ar-AE" altLang="en-US">
                <a:solidFill>
                  <a:srgbClr val="1F2F46"/>
                </a:solidFill>
                <a:latin typeface="Arial"/>
                <a:cs typeface="Arial"/>
              </a:rPr>
              <a:t>يدخل الكربون في دورة طويلة المدى عندما تُطمر المادة العضوية تحت الأرض وتتحوّل إلى رواسب من الخثّ أو الفحم أو النفط أو الغاز، وقد يبقى الكربون في صورة وقود أحفوري ملايين السنين، ثم يتحرّر عند حرقه فتزداد نسبة ثاني أكسيد الكربون في الغلاف الجوي. كما يتّحد الكربون والأكسجين مع الكالسيوم لتكوين كربونات الكالسيوم الموجودة في أصداف العوالق والمرجان والمحار؛ فعندما تموت هذه الكائنات تترسّب في قاع المحيط مكوّنةً صخورًا كلسية، ويبقى الكربون محصورًا فيها حتى تتعرّض للتجوية والتعرية.</a:t>
            </a:r>
          </a:p>
        </p:txBody>
      </p:sp>
      <p:sp>
        <p:nvSpPr>
          <p:cNvPr id="5" name="Oval 4"/>
          <p:cNvSpPr/>
          <p:nvPr/>
        </p:nvSpPr>
        <p:spPr>
          <a:xfrm>
            <a:off x="5200650" y="5410200"/>
            <a:ext cx="552450" cy="552450"/>
          </a:xfrm>
          <a:prstGeom prst="ellipse">
            <a:avLst/>
          </a:prstGeom>
          <a:solidFill>
            <a:srgbClr val="159A65"/>
          </a:solidFill>
          <a:ln>
            <a:noFill/>
          </a:ln>
        </p:spPr>
        <p:txBody>
          <a:bodyPr rtlCol="0" anchor="ctr" lIns="0" rIns="0" tIns="0" bIns="0" wrap="square"/>
          <a:lstStyle/>
          <a:p>
            <a:pPr algn="ctr" rtl="1"/>
            <a:r>
              <a:rPr sz="1800" b="1" i="0" lang="ar-AE" altLang="en-US">
                <a:solidFill>
                  <a:srgbClr val="FFFFFF"/>
                </a:solidFill>
                <a:latin typeface="Arial"/>
                <a:cs typeface="Arial"/>
              </a:rPr>
              <a:t>1</a:t>
            </a:r>
          </a:p>
        </p:txBody>
      </p:sp>
      <p:sp>
        <p:nvSpPr>
          <p:cNvPr id="6" name="TextBox 5"/>
          <p:cNvSpPr txBox="1"/>
          <p:nvPr/>
        </p:nvSpPr>
        <p:spPr>
          <a:xfrm>
            <a:off x="5829300" y="5267325"/>
            <a:ext cx="2247900" cy="876300"/>
          </a:xfrm>
          <a:prstGeom prst="rect">
            <a:avLst/>
          </a:prstGeom>
          <a:noFill/>
        </p:spPr>
        <p:txBody>
          <a:bodyPr wrap="square" lIns="36576" rIns="36576" tIns="0" bIns="0" anchor="ctr"/>
          <a:lstStyle/>
          <a:p>
            <a:pPr algn="r" rtl="1"/>
            <a:r>
              <a:rPr sz="1250" b="1" i="0" lang="ar-AE" altLang="en-US">
                <a:solidFill>
                  <a:srgbClr val="124D33"/>
                </a:solidFill>
                <a:latin typeface="Arial"/>
                <a:cs typeface="Arial"/>
              </a:rPr>
              <a:t>اذكر مخزنين طويلي المدى للكربون.</a:t>
            </a:r>
          </a:p>
        </p:txBody>
      </p:sp>
      <p:sp>
        <p:nvSpPr>
          <p:cNvPr id="7" name="Oval 6"/>
          <p:cNvSpPr/>
          <p:nvPr/>
        </p:nvSpPr>
        <p:spPr>
          <a:xfrm>
            <a:off x="8629650" y="5410200"/>
            <a:ext cx="552450" cy="552450"/>
          </a:xfrm>
          <a:prstGeom prst="ellipse">
            <a:avLst/>
          </a:prstGeom>
          <a:solidFill>
            <a:srgbClr val="E1A94C"/>
          </a:solidFill>
          <a:ln>
            <a:noFill/>
          </a:ln>
        </p:spPr>
        <p:txBody>
          <a:bodyPr rtlCol="0" anchor="ctr" lIns="0" rIns="0" tIns="0" bIns="0" wrap="square"/>
          <a:lstStyle/>
          <a:p>
            <a:pPr algn="ctr" rtl="1"/>
            <a:r>
              <a:rPr sz="1800" b="1" i="0" lang="ar-AE" altLang="en-US">
                <a:solidFill>
                  <a:srgbClr val="FFFFFF"/>
                </a:solidFill>
                <a:latin typeface="Arial"/>
                <a:cs typeface="Arial"/>
              </a:rPr>
              <a:t>2</a:t>
            </a:r>
          </a:p>
        </p:txBody>
      </p:sp>
      <p:sp>
        <p:nvSpPr>
          <p:cNvPr id="8" name="TextBox 7"/>
          <p:cNvSpPr txBox="1"/>
          <p:nvPr/>
        </p:nvSpPr>
        <p:spPr>
          <a:xfrm>
            <a:off x="9258300" y="5267325"/>
            <a:ext cx="2247900" cy="876300"/>
          </a:xfrm>
          <a:prstGeom prst="rect">
            <a:avLst/>
          </a:prstGeom>
          <a:noFill/>
        </p:spPr>
        <p:txBody>
          <a:bodyPr wrap="square" lIns="36576" rIns="36576" tIns="0" bIns="0" anchor="ctr"/>
          <a:lstStyle/>
          <a:p>
            <a:pPr algn="r" rtl="1"/>
            <a:r>
              <a:rPr sz="1250" b="1" i="0" lang="ar-AE" altLang="en-US">
                <a:solidFill>
                  <a:srgbClr val="6B4A10"/>
                </a:solidFill>
                <a:latin typeface="Arial"/>
                <a:cs typeface="Arial"/>
              </a:rPr>
              <a:t>كيف يعود كربون الصخور الكلسية إلى الدورة؟</a:t>
            </a:r>
          </a:p>
        </p:txBody>
      </p:sp>
      <p:sp>
        <p:nvSpPr>
          <p:cNvPr id="9" name="Rounded Rectangle 8"/>
          <p:cNvSpPr/>
          <p:nvPr/>
        </p:nvSpPr>
        <p:spPr>
          <a:xfrm>
            <a:off x="5048250" y="5229225"/>
            <a:ext cx="3048000" cy="914400"/>
          </a:xfrm>
          <a:prstGeom prst="roundRect">
            <a:avLst>
              <a:gd name="adj" fmla="val 10000"/>
            </a:avLst>
          </a:prstGeom>
          <a:solidFill>
            <a:srgbClr val="DDF3E6"/>
          </a:solidFill>
          <a:ln w="19050">
            <a:solidFill>
              <a:srgbClr val="159A65"/>
            </a:solidFill>
          </a:ln>
        </p:spPr>
        <p:txBody>
          <a:bodyPr rtlCol="0" anchor="ctr" tIns="27432" bIns="27432" wrap="square"/>
          <a:lstStyle/>
          <a:p>
            <a:pPr algn="r" rtl="1"/>
            <a:r>
              <a:rPr sz="1250" b="1" i="0" lang="ar-AE" altLang="en-US">
                <a:solidFill>
                  <a:srgbClr val="124D33"/>
                </a:solidFill>
                <a:latin typeface="Arial"/>
                <a:cs typeface="Arial"/>
              </a:rPr>
              <a:t>الوقود الأحفوري (الفحم والنفط والغاز)، والصخور الكلسية (كربونات الكالسيوم).</a:t>
            </a:r>
          </a:p>
        </p:txBody>
      </p:sp>
      <p:sp>
        <p:nvSpPr>
          <p:cNvPr id="10" name="Rounded Rectangle 9"/>
          <p:cNvSpPr/>
          <p:nvPr/>
        </p:nvSpPr>
        <p:spPr>
          <a:xfrm>
            <a:off x="8477250" y="5229225"/>
            <a:ext cx="3048000" cy="914400"/>
          </a:xfrm>
          <a:prstGeom prst="roundRect">
            <a:avLst>
              <a:gd name="adj" fmla="val 10000"/>
            </a:avLst>
          </a:prstGeom>
          <a:solidFill>
            <a:srgbClr val="FDF0D5"/>
          </a:solidFill>
          <a:ln w="19050">
            <a:solidFill>
              <a:srgbClr val="E1A94C"/>
            </a:solidFill>
          </a:ln>
        </p:spPr>
        <p:txBody>
          <a:bodyPr rtlCol="0" anchor="ctr" tIns="27432" bIns="27432" wrap="square"/>
          <a:lstStyle/>
          <a:p>
            <a:pPr algn="r" rtl="1"/>
            <a:r>
              <a:rPr sz="1250" b="1" i="0" lang="ar-AE" altLang="en-US">
                <a:solidFill>
                  <a:srgbClr val="6B4A10"/>
                </a:solidFill>
                <a:latin typeface="Arial"/>
                <a:cs typeface="Arial"/>
              </a:rPr>
              <a:t>عندما تتعرّض الصخور للتجوية والتعرية فيتحرّر الكربون والأكسجين.</a:t>
            </a:r>
          </a:p>
        </p:txBody>
      </p:sp>
      <p:pic>
        <p:nvPicPr>
          <p:cNvPr id="11" name="مؤقت 3 دقائق">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475488" y="502920"/>
            <a:ext cx="1207008" cy="1207008"/>
          </a:xfrm>
          <a:prstGeom prst="rect">
            <a:avLst/>
          </a:prstGeom>
        </p:spPr>
      </p:pic>
      <p:pic>
        <p:nvPicPr>
          <p:cNvPr id="12" name="Picture 11" descr="badge_hessa.png"/>
          <p:cNvPicPr>
            <a:picLocks noChangeAspect="1"/>
          </p:cNvPicPr>
          <p:nvPr/>
        </p:nvPicPr>
        <p:blipFill>
          <a:blip r:embed="rId6"/>
          <a:stretch>
            <a:fillRect/>
          </a:stretch>
        </p:blipFill>
        <p:spPr>
          <a:xfrm>
            <a:off x="1828800" y="545340"/>
            <a:ext cx="658368" cy="683254"/>
          </a:xfrm>
          <a:prstGeom prst="rect">
            <a:avLst/>
          </a:prstGeom>
        </p:spPr>
      </p:pic>
      <p:sp>
        <p:nvSpPr>
          <p:cNvPr id="13" name="Rounded Rectangular Callout 12"/>
          <p:cNvSpPr/>
          <p:nvPr/>
        </p:nvSpPr>
        <p:spPr>
          <a:xfrm>
            <a:off x="2596896" y="530352"/>
            <a:ext cx="4169664" cy="713232"/>
          </a:xfrm>
          <a:prstGeom prst="wedgeRoundRectCallout">
            <a:avLst>
              <a:gd name="adj1" fmla="val -53508"/>
              <a:gd name="adj2" fmla="val 12000"/>
              <a:gd name="adj3" fmla="val 16667"/>
            </a:avLst>
          </a:prstGeom>
          <a:solidFill>
            <a:srgbClr val="FFFFFF"/>
          </a:solidFill>
          <a:ln w="22225">
            <a:solidFill>
              <a:srgbClr val="7D1F2E"/>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14" name="TextBox 13"/>
          <p:cNvSpPr txBox="1"/>
          <p:nvPr/>
        </p:nvSpPr>
        <p:spPr>
          <a:xfrm>
            <a:off x="2651760" y="548640"/>
            <a:ext cx="4059936" cy="676656"/>
          </a:xfrm>
          <a:prstGeom prst="rect">
            <a:avLst/>
          </a:prstGeom>
          <a:noFill/>
        </p:spPr>
        <p:txBody>
          <a:bodyPr wrap="square" lIns="54864" rIns="54864" tIns="27432" bIns="27432" anchor="ctr"/>
          <a:lstStyle/>
          <a:p>
            <a:pPr algn="r" rtl="1"/>
            <a:r>
              <a:rPr sz="1250" b="1" i="0" lang="ar-AE" altLang="en-US">
                <a:solidFill>
                  <a:srgbClr val="7D1F2E"/>
                </a:solidFill>
                <a:latin typeface="Arial"/>
                <a:cs typeface="Arial"/>
              </a:rPr>
              <a:t>حصة: </a:t>
            </a:r>
            <a:r>
              <a:rPr sz="1250" b="1" i="0" lang="ar-AE" altLang="en-US">
                <a:solidFill>
                  <a:srgbClr val="102A43"/>
                </a:solidFill>
                <a:latin typeface="Arial"/>
                <a:cs typeface="Arial"/>
              </a:rPr>
              <a:t>اقرؤوا الفقرة في المجموعة، ثم أجيبوا عن السؤالين</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11"/>
                                        </p:tgtEl>
                                      </p:cBhvr>
                                    </p:cmd>
                                  </p:childTnLst>
                                </p:cTn>
                              </p:par>
                            </p:childTnLst>
                          </p:cTn>
                        </p:par>
                      </p:childTnLst>
                    </p:cTn>
                  </p:par>
                </p:childTnLst>
              </p:cTn>
              <p:nextCondLst>
                <p:cond evt="onNext" delay="0">
                  <p:tgtEl>
                    <p:sldTgt/>
                  </p:tgtEl>
                </p:cond>
              </p:nextCondLst>
            </p:seq>
            <p:video>
              <p:cMediaNode vol="80000">
                <p:cTn id="19" fill="hold" display="0">
                  <p:stCondLst>
                    <p:cond delay="indefinite"/>
                  </p:stCondLst>
                </p:cTn>
                <p:tgtEl>
                  <p:spTgt spid="11"/>
                </p:tgtEl>
              </p:cMediaNode>
            </p:video>
          </p:childTnLst>
        </p:cTn>
      </p:par>
    </p:tnLst>
    <p:bldLst>
      <p:bldP spid="9" grpId="0" animBg="1"/>
      <p:bldP spid="10"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0" name="Oval 9"/>
          <p:cNvSpPr/>
          <p:nvPr/>
        </p:nvSpPr>
        <p:spPr>
          <a:xfrm>
            <a:off x="2020824" y="2061972"/>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مخازن الكربون طويلة المدى</a:t>
            </a:r>
          </a:p>
        </p:txBody>
      </p:sp>
      <p:sp>
        <p:nvSpPr>
          <p:cNvPr id="12" name="Oval 11"/>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581025" y="4152900"/>
            <a:ext cx="1333500"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1933575" y="4200525"/>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337292" y="1344168"/>
            <a:ext cx="1522476" cy="365760"/>
          </a:xfrm>
          <a:prstGeom prst="roundRect">
            <a:avLst>
              <a:gd name="adj" fmla="val 50000"/>
            </a:avLst>
          </a:prstGeom>
          <a:solidFill>
            <a:srgbClr val="2E7D32"/>
          </a:solidFill>
          <a:ln>
            <a:noFill/>
          </a:ln>
        </p:spPr>
        <p:txBody>
          <a:bodyPr rtlCol="0" anchor="ctr" lIns="36576" rIns="36576" tIns="0" bIns="0" wrap="square"/>
          <a:lstStyle/>
          <a:p>
            <a:pPr algn="ctr" rtl="1"/>
            <a:r>
              <a:rPr sz="1300" b="1" i="0" lang="ar-AE" altLang="en-US">
                <a:solidFill>
                  <a:srgbClr val="FFFFFF"/>
                </a:solidFill>
                <a:latin typeface="Arial"/>
                <a:cs typeface="Arial"/>
              </a:rPr>
              <a:t>الناتج الثاني</a:t>
            </a:r>
          </a:p>
        </p:txBody>
      </p:sp>
      <p:sp>
        <p:nvSpPr>
          <p:cNvPr id="22" name="TextBox 21"/>
          <p:cNvSpPr txBox="1"/>
          <p:nvPr/>
        </p:nvSpPr>
        <p:spPr>
          <a:xfrm>
            <a:off x="6378321" y="1280160"/>
            <a:ext cx="3849243" cy="502920"/>
          </a:xfrm>
          <a:prstGeom prst="rect">
            <a:avLst/>
          </a:prstGeom>
          <a:noFill/>
        </p:spPr>
        <p:txBody>
          <a:bodyPr wrap="square" lIns="18288" rIns="18288" tIns="0" bIns="0" anchor="ctr"/>
          <a:lstStyle/>
          <a:p>
            <a:pPr algn="r" rtl="1"/>
            <a:r>
              <a:rPr sz="1700" b="1" i="0" lang="ar-AE" altLang="en-US">
                <a:solidFill>
                  <a:srgbClr val="102A43"/>
                </a:solidFill>
                <a:latin typeface="Arial"/>
                <a:cs typeface="Arial"/>
              </a:rPr>
              <a:t>من بيئتنا: جبل حفيت وقصة الكربون</a:t>
            </a:r>
          </a:p>
        </p:txBody>
      </p:sp>
      <p:pic>
        <p:nvPicPr>
          <p:cNvPr id="23" name="Picture 22" descr="badge_maha.png"/>
          <p:cNvPicPr>
            <a:picLocks noChangeAspect="1"/>
          </p:cNvPicPr>
          <p:nvPr/>
        </p:nvPicPr>
        <p:blipFill>
          <a:blip r:embed="rId3"/>
          <a:stretch>
            <a:fillRect/>
          </a:stretch>
        </p:blipFill>
        <p:spPr>
          <a:xfrm>
            <a:off x="2560320" y="1159811"/>
            <a:ext cx="566928" cy="650700"/>
          </a:xfrm>
          <a:prstGeom prst="rect">
            <a:avLst/>
          </a:prstGeom>
        </p:spPr>
      </p:pic>
      <p:sp>
        <p:nvSpPr>
          <p:cNvPr id="24" name="Rounded Rectangular Callout 23"/>
          <p:cNvSpPr/>
          <p:nvPr/>
        </p:nvSpPr>
        <p:spPr>
          <a:xfrm>
            <a:off x="3209544" y="1307592"/>
            <a:ext cx="3040761" cy="420624"/>
          </a:xfrm>
          <a:prstGeom prst="wedgeRoundRectCallout">
            <a:avLst>
              <a:gd name="adj1" fmla="val -53608"/>
              <a:gd name="adj2" fmla="val 18000"/>
              <a:gd name="adj3" fmla="val 16667"/>
            </a:avLst>
          </a:prstGeom>
          <a:solidFill>
            <a:srgbClr val="FFFFFF"/>
          </a:solidFill>
          <a:ln w="19050">
            <a:solidFill>
              <a:srgbClr val="0F7C73"/>
            </a:solidFill>
          </a:ln>
        </p:spPr>
        <p:txBody>
          <a:bodyPr rtlCol="0" anchor="ctr" lIns="54864" rIns="54864" tIns="27432" bIns="27432"/>
          <a:lstStyle/>
          <a:p>
            <a:pPr algn="ctr"/>
          </a:p>
        </p:txBody>
      </p:sp>
      <p:sp>
        <p:nvSpPr>
          <p:cNvPr id="25" name="TextBox 24"/>
          <p:cNvSpPr txBox="1"/>
          <p:nvPr/>
        </p:nvSpPr>
        <p:spPr>
          <a:xfrm>
            <a:off x="3246120" y="1307592"/>
            <a:ext cx="2967608" cy="420624"/>
          </a:xfrm>
          <a:prstGeom prst="rect">
            <a:avLst/>
          </a:prstGeom>
          <a:noFill/>
        </p:spPr>
        <p:txBody>
          <a:bodyPr wrap="square" lIns="36576" rIns="36576" tIns="0" bIns="0" anchor="ctr"/>
          <a:lstStyle/>
          <a:p>
            <a:pPr algn="r" rtl="1"/>
            <a:r>
              <a:rPr sz="1150" b="1" i="0" lang="ar-AE" altLang="en-US">
                <a:solidFill>
                  <a:srgbClr val="0F7C73"/>
                </a:solidFill>
                <a:latin typeface="Arial"/>
                <a:cs typeface="Arial"/>
              </a:rPr>
              <a:t>مها: </a:t>
            </a:r>
            <a:r>
              <a:rPr sz="1150" b="1" i="0" lang="ar-AE" altLang="en-US">
                <a:solidFill>
                  <a:srgbClr val="102A43"/>
                </a:solidFill>
                <a:latin typeface="Arial"/>
                <a:cs typeface="Arial"/>
              </a:rPr>
              <a:t>صخور بلادنا تحكي قصة الكربون!</a:t>
            </a:r>
          </a:p>
        </p:txBody>
      </p:sp>
      <p:pic>
        <p:nvPicPr>
          <p:cNvPr id="26" name="Picture 25" descr="still_hafeet.png"/>
          <p:cNvPicPr>
            <a:picLocks noChangeAspect="1"/>
          </p:cNvPicPr>
          <p:nvPr/>
        </p:nvPicPr>
        <p:blipFill>
          <a:blip r:embed="rId4"/>
          <a:stretch>
            <a:fillRect/>
          </a:stretch>
        </p:blipFill>
        <p:spPr>
          <a:xfrm>
            <a:off x="7635240" y="1901952"/>
            <a:ext cx="4206240" cy="2944368"/>
          </a:xfrm>
          <a:prstGeom prst="rect">
            <a:avLst/>
          </a:prstGeom>
          <a:ln w="25400">
            <a:solidFill>
              <a:srgbClr val="C9A96A"/>
            </a:solidFill>
          </a:ln>
          <a:effectLst>
            <a:outerShdw blurRad="76200" dist="31750" dir="5400000" algn="t" rotWithShape="0">
              <a:srgbClr val="1E2B3C">
                <a:alpha val="22000"/>
              </a:srgbClr>
            </a:outerShdw>
          </a:effectLst>
        </p:spPr>
      </p:pic>
      <p:sp>
        <p:nvSpPr>
          <p:cNvPr id="27" name="Rounded Rectangle 26"/>
          <p:cNvSpPr/>
          <p:nvPr/>
        </p:nvSpPr>
        <p:spPr>
          <a:xfrm>
            <a:off x="7635240" y="4873752"/>
            <a:ext cx="4206240" cy="658368"/>
          </a:xfrm>
          <a:prstGeom prst="roundRect">
            <a:avLst>
              <a:gd name="adj" fmla="val 13888"/>
            </a:avLst>
          </a:prstGeom>
          <a:solidFill>
            <a:srgbClr val="F1ECF8"/>
          </a:solidFill>
          <a:ln w="12700">
            <a:solidFill>
              <a:srgbClr val="D5C7EA"/>
            </a:solidFill>
          </a:ln>
        </p:spPr>
        <p:txBody>
          <a:bodyPr rtlCol="0" anchor="ctr" lIns="73152" rIns="73152" tIns="18288" bIns="18288" wrap="square"/>
          <a:lstStyle/>
          <a:p>
            <a:pPr algn="ctr" rtl="1">
              <a:spcAft>
                <a:spcPts val="100"/>
              </a:spcAft>
            </a:pPr>
            <a:r>
              <a:rPr sz="1350" b="1" i="0" lang="ar-AE" altLang="en-US">
                <a:solidFill>
                  <a:srgbClr val="102A43"/>
                </a:solidFill>
                <a:latin typeface="Arial"/>
                <a:cs typeface="Arial"/>
              </a:rPr>
              <a:t>﴿الَّذِي جَعَلَ لَكُم مِّنَ الشَّجَرِ الْأَخْضَرِ نَارًا﴾</a:t>
            </a:r>
          </a:p>
          <a:p>
            <a:pPr algn="ctr" rtl="1"/>
            <a:r>
              <a:rPr sz="1050" b="1" i="0" lang="ar-AE" altLang="en-US">
                <a:solidFill>
                  <a:srgbClr val="5B3B91"/>
                </a:solidFill>
                <a:latin typeface="Arial"/>
                <a:cs typeface="Arial"/>
              </a:rPr>
              <a:t>ربط بالتربية الإسلامية – سورة يس، الآية 80</a:t>
            </a:r>
          </a:p>
        </p:txBody>
      </p:sp>
      <p:sp>
        <p:nvSpPr>
          <p:cNvPr id="28" name="Rounded Rectangle 27"/>
          <p:cNvSpPr/>
          <p:nvPr/>
        </p:nvSpPr>
        <p:spPr>
          <a:xfrm>
            <a:off x="2697480" y="1901952"/>
            <a:ext cx="4800600" cy="1481328"/>
          </a:xfrm>
          <a:prstGeom prst="roundRect">
            <a:avLst>
              <a:gd name="adj" fmla="val 7407"/>
            </a:avLst>
          </a:prstGeom>
          <a:solidFill>
            <a:srgbClr val="FFFFFF"/>
          </a:solidFill>
          <a:ln w="12700">
            <a:solidFill>
              <a:srgbClr val="D5DDE8"/>
            </a:solidFill>
          </a:ln>
          <a:effectLst>
            <a:outerShdw blurRad="76200" dist="31750" dir="5400000" algn="t" rotWithShape="0">
              <a:srgbClr val="1E2B3C">
                <a:alpha val="22000"/>
              </a:srgbClr>
            </a:outerShdw>
          </a:effectLst>
        </p:spPr>
        <p:txBody>
          <a:bodyPr rtlCol="0" anchor="ctr" lIns="109728" rIns="109728" wrap="square"/>
          <a:lstStyle/>
          <a:p>
            <a:pPr algn="r" rtl="1">
              <a:spcAft>
                <a:spcPts val="400"/>
              </a:spcAft>
            </a:pPr>
            <a:r>
              <a:rPr sz="1350" b="1" i="0" lang="ar-AE" altLang="en-US">
                <a:solidFill>
                  <a:srgbClr val="2E7D32"/>
                </a:solidFill>
                <a:latin typeface="Arial"/>
                <a:cs typeface="Arial"/>
              </a:rPr>
              <a:t>جبل حفيت (العين): </a:t>
            </a:r>
            <a:r>
              <a:rPr sz="1350" b="1" i="0" lang="ar-AE" altLang="en-US">
                <a:solidFill>
                  <a:srgbClr val="102A43"/>
                </a:solidFill>
                <a:latin typeface="Arial"/>
                <a:cs typeface="Arial"/>
              </a:rPr>
              <a:t>تتكوّن صخوره في معظمها من الحجر الجيري (كربونات الكالسيوم)، ويحتوي على مستحاثات لكائنات بحرية؛ دليلٌ على أن المنطقة كانت مغمورة بالبحر قديمًا.</a:t>
            </a:r>
          </a:p>
          <a:p>
            <a:pPr algn="r" rtl="1"/>
            <a:r>
              <a:rPr sz="1350" b="1" i="0" lang="ar-AE" altLang="en-US">
                <a:solidFill>
                  <a:srgbClr val="2E7D32"/>
                </a:solidFill>
                <a:latin typeface="Arial"/>
                <a:cs typeface="Arial"/>
              </a:rPr>
              <a:t>النفط والغاز: </a:t>
            </a:r>
            <a:r>
              <a:rPr sz="1350" b="1" i="0" lang="ar-AE" altLang="en-US">
                <a:solidFill>
                  <a:srgbClr val="102A43"/>
                </a:solidFill>
                <a:latin typeface="Arial"/>
                <a:cs typeface="Arial"/>
              </a:rPr>
              <a:t>وقود أحفوري تكوّن عبر ملايين السنين من بقايا كائنات حية دقيقة.</a:t>
            </a:r>
          </a:p>
        </p:txBody>
      </p:sp>
      <p:sp>
        <p:nvSpPr>
          <p:cNvPr id="29" name="Rounded Rectangle 28"/>
          <p:cNvSpPr/>
          <p:nvPr/>
        </p:nvSpPr>
        <p:spPr>
          <a:xfrm>
            <a:off x="2697480" y="3520440"/>
            <a:ext cx="4800600" cy="1143000"/>
          </a:xfrm>
          <a:prstGeom prst="roundRect">
            <a:avLst>
              <a:gd name="adj" fmla="val 9600"/>
            </a:avLst>
          </a:prstGeom>
          <a:solidFill>
            <a:srgbClr val="FBF5E8"/>
          </a:solidFill>
          <a:ln w="12700">
            <a:solidFill>
              <a:srgbClr val="E6D5B0"/>
            </a:solidFill>
          </a:ln>
        </p:spPr>
        <p:txBody>
          <a:bodyPr rtlCol="0" anchor="ctr" lIns="54864" rIns="54864" tIns="27432" bIns="27432"/>
          <a:lstStyle/>
          <a:p>
            <a:pPr algn="ctr"/>
          </a:p>
        </p:txBody>
      </p:sp>
      <p:pic>
        <p:nvPicPr>
          <p:cNvPr id="30" name="Picture 29" descr="flask_g.png"/>
          <p:cNvPicPr>
            <a:picLocks noChangeAspect="1"/>
          </p:cNvPicPr>
          <p:nvPr/>
        </p:nvPicPr>
        <p:blipFill>
          <a:blip r:embed="rId5"/>
          <a:stretch>
            <a:fillRect/>
          </a:stretch>
        </p:blipFill>
        <p:spPr>
          <a:xfrm>
            <a:off x="6995160" y="3611880"/>
            <a:ext cx="384048" cy="384048"/>
          </a:xfrm>
          <a:prstGeom prst="rect">
            <a:avLst/>
          </a:prstGeom>
        </p:spPr>
      </p:pic>
      <p:sp>
        <p:nvSpPr>
          <p:cNvPr id="31" name="TextBox 30"/>
          <p:cNvSpPr txBox="1"/>
          <p:nvPr/>
        </p:nvSpPr>
        <p:spPr>
          <a:xfrm>
            <a:off x="2788920" y="3520440"/>
            <a:ext cx="4160520" cy="1143000"/>
          </a:xfrm>
          <a:prstGeom prst="rect">
            <a:avLst/>
          </a:prstGeom>
          <a:noFill/>
        </p:spPr>
        <p:txBody>
          <a:bodyPr wrap="square" lIns="73152" rIns="73152" tIns="36576" bIns="36576" anchor="ctr"/>
          <a:lstStyle/>
          <a:p>
            <a:pPr algn="r" rtl="1"/>
            <a:r>
              <a:rPr sz="1300" b="1" i="0" lang="ar-AE" altLang="en-US">
                <a:solidFill>
                  <a:srgbClr val="9A7B3F"/>
                </a:solidFill>
                <a:latin typeface="Arial"/>
                <a:cs typeface="Arial"/>
              </a:rPr>
              <a:t>عرض عملي (دقيقة): </a:t>
            </a:r>
            <a:r>
              <a:rPr sz="1300" b="1" i="0" lang="ar-AE" altLang="en-US">
                <a:solidFill>
                  <a:srgbClr val="102A43"/>
                </a:solidFill>
                <a:latin typeface="Arial"/>
                <a:cs typeface="Arial"/>
              </a:rPr>
              <a:t>نضع قطرات من الخل على قطعة طباشير أو صدفة… ماذا تلاحظون؟</a:t>
            </a:r>
          </a:p>
        </p:txBody>
      </p:sp>
      <p:sp>
        <p:nvSpPr>
          <p:cNvPr id="32" name="Rounded Rectangle 31"/>
          <p:cNvSpPr/>
          <p:nvPr/>
        </p:nvSpPr>
        <p:spPr>
          <a:xfrm>
            <a:off x="2697480" y="3520440"/>
            <a:ext cx="4800600" cy="1143000"/>
          </a:xfrm>
          <a:prstGeom prst="roundRect">
            <a:avLst>
              <a:gd name="adj" fmla="val 8000"/>
            </a:avLst>
          </a:prstGeom>
          <a:solidFill>
            <a:srgbClr val="EAF7EE"/>
          </a:solidFill>
          <a:ln w="19050">
            <a:solidFill>
              <a:srgbClr val="2E9E5B"/>
            </a:solidFill>
          </a:ln>
        </p:spPr>
        <p:txBody>
          <a:bodyPr rtlCol="0" anchor="ctr" lIns="109728" rIns="109728" tIns="54864" bIns="54864" wrap="square"/>
          <a:lstStyle/>
          <a:p>
            <a:pPr algn="r" rtl="1"/>
            <a:r>
              <a:rPr sz="1300" b="1" i="0" lang="ar-AE" altLang="en-US">
                <a:solidFill>
                  <a:srgbClr val="1B4D2E"/>
                </a:solidFill>
                <a:latin typeface="Arial"/>
                <a:cs typeface="Arial"/>
              </a:rPr>
              <a:t>فقاعات ثاني أكسيد الكربون! يتحرّر الكربون المحبوس في كربونات الكالسيوم، كما يحدث ببطء عند تجوية الصخور.</a:t>
            </a:r>
          </a:p>
        </p:txBody>
      </p:sp>
      <p:sp>
        <p:nvSpPr>
          <p:cNvPr id="33" name="Rounded Rectangle 32"/>
          <p:cNvSpPr/>
          <p:nvPr/>
        </p:nvSpPr>
        <p:spPr>
          <a:xfrm>
            <a:off x="5577840" y="4754880"/>
            <a:ext cx="1920240" cy="384048"/>
          </a:xfrm>
          <a:prstGeom prst="roundRect">
            <a:avLst>
              <a:gd name="adj" fmla="val 47619"/>
            </a:avLst>
          </a:prstGeom>
          <a:solidFill>
            <a:srgbClr val="C9A96A"/>
          </a:solidFill>
          <a:ln>
            <a:noFill/>
          </a:ln>
          <a:effectLst>
            <a:outerShdw blurRad="76200" dist="31750" dir="5400000" algn="t" rotWithShape="0">
              <a:srgbClr val="1E2B3C">
                <a:alpha val="22000"/>
              </a:srgbClr>
            </a:outerShdw>
          </a:effectLst>
        </p:spPr>
        <p:txBody>
          <a:bodyPr rtlCol="0" anchor="ctr" lIns="36576" rIns="36576" tIns="0" bIns="0" wrap="square"/>
          <a:lstStyle/>
          <a:p>
            <a:pPr algn="ctr" rtl="1"/>
            <a:r>
              <a:rPr sz="1250" b="1" i="0" lang="ar-AE" altLang="en-US">
                <a:solidFill>
                  <a:srgbClr val="102A43"/>
                </a:solidFill>
                <a:latin typeface="Arial"/>
                <a:cs typeface="Arial"/>
              </a:rPr>
              <a:t>◄ </a:t>
            </a:r>
            <a:r>
              <a:rPr sz="1250" b="1" i="0" lang="ar-AE" altLang="en-US">
                <a:solidFill>
                  <a:srgbClr val="102A43"/>
                </a:solidFill>
                <a:latin typeface="Arial"/>
                <a:cs typeface="Arial"/>
              </a:rPr>
              <a:t>ماذا حدث؟</a:t>
            </a:r>
          </a:p>
        </p:txBody>
      </p:sp>
      <p:sp>
        <p:nvSpPr>
          <p:cNvPr id="34" name="Rounded Rectangle 33"/>
          <p:cNvSpPr/>
          <p:nvPr/>
        </p:nvSpPr>
        <p:spPr>
          <a:xfrm>
            <a:off x="2697480" y="4754880"/>
            <a:ext cx="2788920" cy="786384"/>
          </a:xfrm>
          <a:prstGeom prst="roundRect">
            <a:avLst>
              <a:gd name="adj" fmla="val 11627"/>
            </a:avLst>
          </a:prstGeom>
          <a:solidFill>
            <a:srgbClr val="EDF7EE"/>
          </a:solidFill>
          <a:ln w="12700">
            <a:solidFill>
              <a:srgbClr val="B8DDBB"/>
            </a:solidFill>
          </a:ln>
        </p:spPr>
        <p:txBody>
          <a:bodyPr rtlCol="0" anchor="ctr" lIns="73152" rIns="73152" tIns="18288" bIns="18288" wrap="square"/>
          <a:lstStyle/>
          <a:p>
            <a:pPr algn="r" rtl="1"/>
            <a:r>
              <a:rPr sz="1200" b="1" i="0" lang="ar-AE" altLang="en-US">
                <a:solidFill>
                  <a:srgbClr val="2E7D32"/>
                </a:solidFill>
                <a:latin typeface="Arial"/>
                <a:cs typeface="Arial"/>
              </a:rPr>
              <a:t>ومثال آخر: </a:t>
            </a:r>
            <a:r>
              <a:rPr sz="1150" b="1" i="0" lang="ar-AE" altLang="en-US">
                <a:solidFill>
                  <a:srgbClr val="102A43"/>
                </a:solidFill>
                <a:latin typeface="Arial"/>
                <a:cs typeface="Arial"/>
              </a:rPr>
              <a:t>المنحدرات البيضاء في دوفر (الشكل 19) طباشير من أصداف كائنات بحرية.</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3"/>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nextCondLst>
                <p:cond evt="onNext" delay="0">
                  <p:tgtEl>
                    <p:sldTgt/>
                  </p:tgtEl>
                </p:cond>
              </p:nextCondLst>
            </p:seq>
          </p:childTnLst>
        </p:cTn>
      </p:par>
    </p:tnLst>
    <p:bldLst>
      <p:bldP spid="32"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0" name="Oval 9"/>
          <p:cNvSpPr/>
          <p:nvPr/>
        </p:nvSpPr>
        <p:spPr>
          <a:xfrm>
            <a:off x="2020824" y="2061972"/>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مخازن الكربون طويلة المدى</a:t>
            </a:r>
          </a:p>
        </p:txBody>
      </p:sp>
      <p:sp>
        <p:nvSpPr>
          <p:cNvPr id="12" name="Oval 11"/>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581025" y="4152900"/>
            <a:ext cx="1333500"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1933575" y="4200525"/>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9761220" y="1344168"/>
            <a:ext cx="2098548" cy="365760"/>
          </a:xfrm>
          <a:prstGeom prst="roundRect">
            <a:avLst>
              <a:gd name="adj" fmla="val 50000"/>
            </a:avLst>
          </a:prstGeom>
          <a:solidFill>
            <a:srgbClr val="C8102E"/>
          </a:solidFill>
          <a:ln>
            <a:noFill/>
          </a:ln>
        </p:spPr>
        <p:txBody>
          <a:bodyPr rtlCol="0" anchor="ctr" lIns="36576" rIns="36576" tIns="0" bIns="0" wrap="square"/>
          <a:lstStyle/>
          <a:p>
            <a:pPr algn="ctr" rtl="1"/>
            <a:r>
              <a:rPr sz="1300" b="1" i="0" lang="ar-AE" altLang="en-US">
                <a:solidFill>
                  <a:srgbClr val="FFFFFF"/>
                </a:solidFill>
                <a:latin typeface="Arial"/>
                <a:cs typeface="Arial"/>
              </a:rPr>
              <a:t>تقويم الناتج الثاني</a:t>
            </a:r>
          </a:p>
        </p:txBody>
      </p:sp>
      <p:sp>
        <p:nvSpPr>
          <p:cNvPr id="22" name="TextBox 21"/>
          <p:cNvSpPr txBox="1"/>
          <p:nvPr/>
        </p:nvSpPr>
        <p:spPr>
          <a:xfrm>
            <a:off x="2606040" y="1280160"/>
            <a:ext cx="7045452" cy="502920"/>
          </a:xfrm>
          <a:prstGeom prst="rect">
            <a:avLst/>
          </a:prstGeom>
          <a:noFill/>
        </p:spPr>
        <p:txBody>
          <a:bodyPr wrap="square" lIns="18288" rIns="18288" tIns="0" bIns="0" anchor="ctr"/>
          <a:lstStyle/>
          <a:p>
            <a:pPr algn="r" rtl="1"/>
            <a:r>
              <a:rPr sz="2200" b="1" i="0" lang="ar-AE" altLang="en-US">
                <a:solidFill>
                  <a:srgbClr val="102A43"/>
                </a:solidFill>
                <a:latin typeface="Arial"/>
                <a:cs typeface="Arial"/>
              </a:rPr>
              <a:t>صنّفوا مخازن الكربون: قصيرة المدى أم طويلة المدى؟</a:t>
            </a:r>
          </a:p>
        </p:txBody>
      </p:sp>
      <p:sp>
        <p:nvSpPr>
          <p:cNvPr id="23" name="Rounded Rectangle 22"/>
          <p:cNvSpPr/>
          <p:nvPr/>
        </p:nvSpPr>
        <p:spPr>
          <a:xfrm>
            <a:off x="7315199" y="1901952"/>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24" name="Oval 23"/>
          <p:cNvSpPr/>
          <p:nvPr/>
        </p:nvSpPr>
        <p:spPr>
          <a:xfrm>
            <a:off x="11420855" y="2029968"/>
            <a:ext cx="329184" cy="329184"/>
          </a:xfrm>
          <a:prstGeom prst="ellipse">
            <a:avLst/>
          </a:prstGeom>
          <a:solidFill>
            <a:srgbClr val="2E7D32"/>
          </a:solidFill>
          <a:ln>
            <a:noFill/>
          </a:ln>
        </p:spPr>
        <p:txBody>
          <a:bodyPr rtlCol="0" anchor="ctr" lIns="0" rIns="0" tIns="0" bIns="0" wrap="square"/>
          <a:lstStyle/>
          <a:p>
            <a:pPr algn="ctr" rtl="1"/>
            <a:r>
              <a:rPr sz="1300" b="1" i="0" lang="ar-AE" altLang="en-US">
                <a:solidFill>
                  <a:srgbClr val="FFFFFF"/>
                </a:solidFill>
                <a:latin typeface="Arial"/>
                <a:cs typeface="Arial"/>
              </a:rPr>
              <a:t>1</a:t>
            </a:r>
          </a:p>
        </p:txBody>
      </p:sp>
      <p:sp>
        <p:nvSpPr>
          <p:cNvPr id="25" name="TextBox 24"/>
          <p:cNvSpPr txBox="1"/>
          <p:nvPr/>
        </p:nvSpPr>
        <p:spPr>
          <a:xfrm>
            <a:off x="8769096" y="1901952"/>
            <a:ext cx="2615184" cy="585216"/>
          </a:xfrm>
          <a:prstGeom prst="rect">
            <a:avLst/>
          </a:prstGeom>
          <a:noFill/>
        </p:spPr>
        <p:txBody>
          <a:bodyPr wrap="square" lIns="27432" rIns="27432" tIns="0" bIns="0" anchor="ctr"/>
          <a:lstStyle/>
          <a:p>
            <a:pPr algn="r" rtl="1"/>
            <a:r>
              <a:rPr sz="1400" b="1" i="0" lang="ar-AE" altLang="en-US">
                <a:solidFill>
                  <a:srgbClr val="102A43"/>
                </a:solidFill>
                <a:latin typeface="Arial"/>
                <a:cs typeface="Arial"/>
              </a:rPr>
              <a:t>ثاني أكسيد الكربون في الهواء</a:t>
            </a:r>
          </a:p>
        </p:txBody>
      </p:sp>
      <p:sp>
        <p:nvSpPr>
          <p:cNvPr id="26" name="Rounded Rectangle 25"/>
          <p:cNvSpPr/>
          <p:nvPr/>
        </p:nvSpPr>
        <p:spPr>
          <a:xfrm>
            <a:off x="7388351" y="2029968"/>
            <a:ext cx="1325880" cy="329184"/>
          </a:xfrm>
          <a:prstGeom prst="roundRect">
            <a:avLst>
              <a:gd name="adj" fmla="val 50000"/>
            </a:avLst>
          </a:prstGeom>
          <a:solidFill>
            <a:srgbClr val="2E9E5B"/>
          </a:solidFill>
          <a:ln>
            <a:noFill/>
          </a:ln>
        </p:spPr>
        <p:txBody>
          <a:bodyPr rtlCol="0" anchor="ctr" lIns="0" rIns="0" tIns="0" bIns="0" wrap="square"/>
          <a:lstStyle/>
          <a:p>
            <a:pPr algn="ctr" rtl="1"/>
            <a:r>
              <a:rPr sz="1250" b="1" i="0" lang="ar-AE" altLang="en-US">
                <a:solidFill>
                  <a:srgbClr val="FFFFFF"/>
                </a:solidFill>
                <a:latin typeface="Arial"/>
                <a:cs typeface="Arial"/>
              </a:rPr>
              <a:t>قصير المدى</a:t>
            </a:r>
          </a:p>
        </p:txBody>
      </p:sp>
      <p:sp>
        <p:nvSpPr>
          <p:cNvPr id="27" name="Rounded Rectangle 26"/>
          <p:cNvSpPr/>
          <p:nvPr/>
        </p:nvSpPr>
        <p:spPr>
          <a:xfrm>
            <a:off x="2651759" y="1901952"/>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28" name="Oval 27"/>
          <p:cNvSpPr/>
          <p:nvPr/>
        </p:nvSpPr>
        <p:spPr>
          <a:xfrm>
            <a:off x="6757416" y="2029968"/>
            <a:ext cx="329184" cy="329184"/>
          </a:xfrm>
          <a:prstGeom prst="ellipse">
            <a:avLst/>
          </a:prstGeom>
          <a:solidFill>
            <a:srgbClr val="2E7D32"/>
          </a:solidFill>
          <a:ln>
            <a:noFill/>
          </a:ln>
        </p:spPr>
        <p:txBody>
          <a:bodyPr rtlCol="0" anchor="ctr" lIns="0" rIns="0" tIns="0" bIns="0" wrap="square"/>
          <a:lstStyle/>
          <a:p>
            <a:pPr algn="ctr" rtl="1"/>
            <a:r>
              <a:rPr sz="1300" b="1" i="0" lang="ar-AE" altLang="en-US">
                <a:solidFill>
                  <a:srgbClr val="FFFFFF"/>
                </a:solidFill>
                <a:latin typeface="Arial"/>
                <a:cs typeface="Arial"/>
              </a:rPr>
              <a:t>2</a:t>
            </a:r>
          </a:p>
        </p:txBody>
      </p:sp>
      <p:sp>
        <p:nvSpPr>
          <p:cNvPr id="29" name="TextBox 28"/>
          <p:cNvSpPr txBox="1"/>
          <p:nvPr/>
        </p:nvSpPr>
        <p:spPr>
          <a:xfrm>
            <a:off x="4105655" y="1901952"/>
            <a:ext cx="2615184" cy="585216"/>
          </a:xfrm>
          <a:prstGeom prst="rect">
            <a:avLst/>
          </a:prstGeom>
          <a:noFill/>
        </p:spPr>
        <p:txBody>
          <a:bodyPr wrap="square" lIns="27432" rIns="27432" tIns="0" bIns="0" anchor="ctr"/>
          <a:lstStyle/>
          <a:p>
            <a:pPr algn="r" rtl="1"/>
            <a:r>
              <a:rPr sz="1400" b="1" i="0" lang="ar-AE" altLang="en-US">
                <a:solidFill>
                  <a:srgbClr val="102A43"/>
                </a:solidFill>
                <a:latin typeface="Arial"/>
                <a:cs typeface="Arial"/>
              </a:rPr>
              <a:t>نفط في باطن الأرض</a:t>
            </a:r>
          </a:p>
        </p:txBody>
      </p:sp>
      <p:sp>
        <p:nvSpPr>
          <p:cNvPr id="30" name="Rounded Rectangle 29"/>
          <p:cNvSpPr/>
          <p:nvPr/>
        </p:nvSpPr>
        <p:spPr>
          <a:xfrm>
            <a:off x="2724911" y="2029968"/>
            <a:ext cx="1325880" cy="329184"/>
          </a:xfrm>
          <a:prstGeom prst="roundRect">
            <a:avLst>
              <a:gd name="adj" fmla="val 50000"/>
            </a:avLst>
          </a:prstGeom>
          <a:solidFill>
            <a:srgbClr val="6E4E33"/>
          </a:solidFill>
          <a:ln>
            <a:noFill/>
          </a:ln>
        </p:spPr>
        <p:txBody>
          <a:bodyPr rtlCol="0" anchor="ctr" lIns="0" rIns="0" tIns="0" bIns="0" wrap="square"/>
          <a:lstStyle/>
          <a:p>
            <a:pPr algn="ctr" rtl="1"/>
            <a:r>
              <a:rPr sz="1250" b="1" i="0" lang="ar-AE" altLang="en-US">
                <a:solidFill>
                  <a:srgbClr val="FFFFFF"/>
                </a:solidFill>
                <a:latin typeface="Arial"/>
                <a:cs typeface="Arial"/>
              </a:rPr>
              <a:t>طويل المدى</a:t>
            </a:r>
          </a:p>
        </p:txBody>
      </p:sp>
      <p:sp>
        <p:nvSpPr>
          <p:cNvPr id="31" name="Rounded Rectangle 30"/>
          <p:cNvSpPr/>
          <p:nvPr/>
        </p:nvSpPr>
        <p:spPr>
          <a:xfrm>
            <a:off x="7315199" y="2578608"/>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32" name="Oval 31"/>
          <p:cNvSpPr/>
          <p:nvPr/>
        </p:nvSpPr>
        <p:spPr>
          <a:xfrm>
            <a:off x="11420855" y="2706624"/>
            <a:ext cx="329184" cy="329184"/>
          </a:xfrm>
          <a:prstGeom prst="ellipse">
            <a:avLst/>
          </a:prstGeom>
          <a:solidFill>
            <a:srgbClr val="2E7D32"/>
          </a:solidFill>
          <a:ln>
            <a:noFill/>
          </a:ln>
        </p:spPr>
        <p:txBody>
          <a:bodyPr rtlCol="0" anchor="ctr" lIns="0" rIns="0" tIns="0" bIns="0" wrap="square"/>
          <a:lstStyle/>
          <a:p>
            <a:pPr algn="ctr" rtl="1"/>
            <a:r>
              <a:rPr sz="1300" b="1" i="0" lang="ar-AE" altLang="en-US">
                <a:solidFill>
                  <a:srgbClr val="FFFFFF"/>
                </a:solidFill>
                <a:latin typeface="Arial"/>
                <a:cs typeface="Arial"/>
              </a:rPr>
              <a:t>3</a:t>
            </a:r>
          </a:p>
        </p:txBody>
      </p:sp>
      <p:sp>
        <p:nvSpPr>
          <p:cNvPr id="33" name="TextBox 32"/>
          <p:cNvSpPr txBox="1"/>
          <p:nvPr/>
        </p:nvSpPr>
        <p:spPr>
          <a:xfrm>
            <a:off x="8769096" y="2578608"/>
            <a:ext cx="2615184" cy="585216"/>
          </a:xfrm>
          <a:prstGeom prst="rect">
            <a:avLst/>
          </a:prstGeom>
          <a:noFill/>
        </p:spPr>
        <p:txBody>
          <a:bodyPr wrap="square" lIns="27432" rIns="27432" tIns="0" bIns="0" anchor="ctr"/>
          <a:lstStyle/>
          <a:p>
            <a:pPr algn="r" rtl="1"/>
            <a:r>
              <a:rPr sz="1400" b="1" i="0" lang="ar-AE" altLang="en-US">
                <a:solidFill>
                  <a:srgbClr val="102A43"/>
                </a:solidFill>
                <a:latin typeface="Arial"/>
                <a:cs typeface="Arial"/>
              </a:rPr>
              <a:t>سكر في أوراق الغاف</a:t>
            </a:r>
          </a:p>
        </p:txBody>
      </p:sp>
      <p:sp>
        <p:nvSpPr>
          <p:cNvPr id="34" name="Rounded Rectangle 33"/>
          <p:cNvSpPr/>
          <p:nvPr/>
        </p:nvSpPr>
        <p:spPr>
          <a:xfrm>
            <a:off x="7388351" y="2706624"/>
            <a:ext cx="1325880" cy="329184"/>
          </a:xfrm>
          <a:prstGeom prst="roundRect">
            <a:avLst>
              <a:gd name="adj" fmla="val 50000"/>
            </a:avLst>
          </a:prstGeom>
          <a:solidFill>
            <a:srgbClr val="2E9E5B"/>
          </a:solidFill>
          <a:ln>
            <a:noFill/>
          </a:ln>
        </p:spPr>
        <p:txBody>
          <a:bodyPr rtlCol="0" anchor="ctr" lIns="0" rIns="0" tIns="0" bIns="0" wrap="square"/>
          <a:lstStyle/>
          <a:p>
            <a:pPr algn="ctr" rtl="1"/>
            <a:r>
              <a:rPr sz="1250" b="1" i="0" lang="ar-AE" altLang="en-US">
                <a:solidFill>
                  <a:srgbClr val="FFFFFF"/>
                </a:solidFill>
                <a:latin typeface="Arial"/>
                <a:cs typeface="Arial"/>
              </a:rPr>
              <a:t>قصير المدى</a:t>
            </a:r>
          </a:p>
        </p:txBody>
      </p:sp>
      <p:sp>
        <p:nvSpPr>
          <p:cNvPr id="35" name="Rounded Rectangle 34"/>
          <p:cNvSpPr/>
          <p:nvPr/>
        </p:nvSpPr>
        <p:spPr>
          <a:xfrm>
            <a:off x="2651759" y="2578608"/>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36" name="Oval 35"/>
          <p:cNvSpPr/>
          <p:nvPr/>
        </p:nvSpPr>
        <p:spPr>
          <a:xfrm>
            <a:off x="6757416" y="2706624"/>
            <a:ext cx="329184" cy="329184"/>
          </a:xfrm>
          <a:prstGeom prst="ellipse">
            <a:avLst/>
          </a:prstGeom>
          <a:solidFill>
            <a:srgbClr val="2E7D32"/>
          </a:solidFill>
          <a:ln>
            <a:noFill/>
          </a:ln>
        </p:spPr>
        <p:txBody>
          <a:bodyPr rtlCol="0" anchor="ctr" lIns="0" rIns="0" tIns="0" bIns="0" wrap="square"/>
          <a:lstStyle/>
          <a:p>
            <a:pPr algn="ctr" rtl="1"/>
            <a:r>
              <a:rPr sz="1300" b="1" i="0" lang="ar-AE" altLang="en-US">
                <a:solidFill>
                  <a:srgbClr val="FFFFFF"/>
                </a:solidFill>
                <a:latin typeface="Arial"/>
                <a:cs typeface="Arial"/>
              </a:rPr>
              <a:t>4</a:t>
            </a:r>
          </a:p>
        </p:txBody>
      </p:sp>
      <p:sp>
        <p:nvSpPr>
          <p:cNvPr id="37" name="TextBox 36"/>
          <p:cNvSpPr txBox="1"/>
          <p:nvPr/>
        </p:nvSpPr>
        <p:spPr>
          <a:xfrm>
            <a:off x="4105655" y="2578608"/>
            <a:ext cx="2615184" cy="585216"/>
          </a:xfrm>
          <a:prstGeom prst="rect">
            <a:avLst/>
          </a:prstGeom>
          <a:noFill/>
        </p:spPr>
        <p:txBody>
          <a:bodyPr wrap="square" lIns="27432" rIns="27432" tIns="0" bIns="0" anchor="ctr"/>
          <a:lstStyle/>
          <a:p>
            <a:pPr algn="r" rtl="1"/>
            <a:r>
              <a:rPr sz="1400" b="1" i="0" lang="ar-AE" altLang="en-US">
                <a:solidFill>
                  <a:srgbClr val="102A43"/>
                </a:solidFill>
                <a:latin typeface="Arial"/>
                <a:cs typeface="Arial"/>
              </a:rPr>
              <a:t>صخور جبل حفيت الجيرية</a:t>
            </a:r>
          </a:p>
        </p:txBody>
      </p:sp>
      <p:sp>
        <p:nvSpPr>
          <p:cNvPr id="38" name="Rounded Rectangle 37"/>
          <p:cNvSpPr/>
          <p:nvPr/>
        </p:nvSpPr>
        <p:spPr>
          <a:xfrm>
            <a:off x="2724911" y="2706624"/>
            <a:ext cx="1325880" cy="329184"/>
          </a:xfrm>
          <a:prstGeom prst="roundRect">
            <a:avLst>
              <a:gd name="adj" fmla="val 50000"/>
            </a:avLst>
          </a:prstGeom>
          <a:solidFill>
            <a:srgbClr val="6E4E33"/>
          </a:solidFill>
          <a:ln>
            <a:noFill/>
          </a:ln>
        </p:spPr>
        <p:txBody>
          <a:bodyPr rtlCol="0" anchor="ctr" lIns="0" rIns="0" tIns="0" bIns="0" wrap="square"/>
          <a:lstStyle/>
          <a:p>
            <a:pPr algn="ctr" rtl="1"/>
            <a:r>
              <a:rPr sz="1250" b="1" i="0" lang="ar-AE" altLang="en-US">
                <a:solidFill>
                  <a:srgbClr val="FFFFFF"/>
                </a:solidFill>
                <a:latin typeface="Arial"/>
                <a:cs typeface="Arial"/>
              </a:rPr>
              <a:t>طويل المدى</a:t>
            </a:r>
          </a:p>
        </p:txBody>
      </p:sp>
      <p:sp>
        <p:nvSpPr>
          <p:cNvPr id="39" name="Rounded Rectangle 38"/>
          <p:cNvSpPr/>
          <p:nvPr/>
        </p:nvSpPr>
        <p:spPr>
          <a:xfrm>
            <a:off x="7315199" y="3255264"/>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40" name="Oval 39"/>
          <p:cNvSpPr/>
          <p:nvPr/>
        </p:nvSpPr>
        <p:spPr>
          <a:xfrm>
            <a:off x="11420855" y="3383280"/>
            <a:ext cx="329184" cy="329184"/>
          </a:xfrm>
          <a:prstGeom prst="ellipse">
            <a:avLst/>
          </a:prstGeom>
          <a:solidFill>
            <a:srgbClr val="2E7D32"/>
          </a:solidFill>
          <a:ln>
            <a:noFill/>
          </a:ln>
        </p:spPr>
        <p:txBody>
          <a:bodyPr rtlCol="0" anchor="ctr" lIns="0" rIns="0" tIns="0" bIns="0" wrap="square"/>
          <a:lstStyle/>
          <a:p>
            <a:pPr algn="ctr" rtl="1"/>
            <a:r>
              <a:rPr sz="1300" b="1" i="0" lang="ar-AE" altLang="en-US">
                <a:solidFill>
                  <a:srgbClr val="FFFFFF"/>
                </a:solidFill>
                <a:latin typeface="Arial"/>
                <a:cs typeface="Arial"/>
              </a:rPr>
              <a:t>5</a:t>
            </a:r>
          </a:p>
        </p:txBody>
      </p:sp>
      <p:sp>
        <p:nvSpPr>
          <p:cNvPr id="41" name="TextBox 40"/>
          <p:cNvSpPr txBox="1"/>
          <p:nvPr/>
        </p:nvSpPr>
        <p:spPr>
          <a:xfrm>
            <a:off x="8769096" y="3255264"/>
            <a:ext cx="2615184" cy="585216"/>
          </a:xfrm>
          <a:prstGeom prst="rect">
            <a:avLst/>
          </a:prstGeom>
          <a:noFill/>
        </p:spPr>
        <p:txBody>
          <a:bodyPr wrap="square" lIns="27432" rIns="27432" tIns="0" bIns="0" anchor="ctr"/>
          <a:lstStyle/>
          <a:p>
            <a:pPr algn="r" rtl="1"/>
            <a:r>
              <a:rPr sz="1400" b="1" i="0" lang="ar-AE" altLang="en-US">
                <a:solidFill>
                  <a:srgbClr val="102A43"/>
                </a:solidFill>
                <a:latin typeface="Arial"/>
                <a:cs typeface="Arial"/>
              </a:rPr>
              <a:t>جسم الغزالة مها</a:t>
            </a:r>
          </a:p>
        </p:txBody>
      </p:sp>
      <p:sp>
        <p:nvSpPr>
          <p:cNvPr id="42" name="Rounded Rectangle 41"/>
          <p:cNvSpPr/>
          <p:nvPr/>
        </p:nvSpPr>
        <p:spPr>
          <a:xfrm>
            <a:off x="7388351" y="3383280"/>
            <a:ext cx="1325880" cy="329184"/>
          </a:xfrm>
          <a:prstGeom prst="roundRect">
            <a:avLst>
              <a:gd name="adj" fmla="val 50000"/>
            </a:avLst>
          </a:prstGeom>
          <a:solidFill>
            <a:srgbClr val="2E9E5B"/>
          </a:solidFill>
          <a:ln>
            <a:noFill/>
          </a:ln>
        </p:spPr>
        <p:txBody>
          <a:bodyPr rtlCol="0" anchor="ctr" lIns="0" rIns="0" tIns="0" bIns="0" wrap="square"/>
          <a:lstStyle/>
          <a:p>
            <a:pPr algn="ctr" rtl="1"/>
            <a:r>
              <a:rPr sz="1250" b="1" i="0" lang="ar-AE" altLang="en-US">
                <a:solidFill>
                  <a:srgbClr val="FFFFFF"/>
                </a:solidFill>
                <a:latin typeface="Arial"/>
                <a:cs typeface="Arial"/>
              </a:rPr>
              <a:t>قصير المدى</a:t>
            </a:r>
          </a:p>
        </p:txBody>
      </p:sp>
      <p:sp>
        <p:nvSpPr>
          <p:cNvPr id="43" name="Rounded Rectangle 42"/>
          <p:cNvSpPr/>
          <p:nvPr/>
        </p:nvSpPr>
        <p:spPr>
          <a:xfrm>
            <a:off x="2651759" y="3255264"/>
            <a:ext cx="4526280" cy="585216"/>
          </a:xfrm>
          <a:prstGeom prst="roundRect">
            <a:avLst>
              <a:gd name="adj" fmla="val 18750"/>
            </a:avLst>
          </a:prstGeom>
          <a:solidFill>
            <a:srgbClr val="FFFFFF"/>
          </a:solidFill>
          <a:ln w="12700">
            <a:solidFill>
              <a:srgbClr val="D5DDE8"/>
            </a:solidFill>
          </a:ln>
        </p:spPr>
        <p:txBody>
          <a:bodyPr rtlCol="0" anchor="ctr" lIns="54864" rIns="54864" tIns="27432" bIns="27432"/>
          <a:lstStyle/>
          <a:p>
            <a:pPr algn="ctr"/>
          </a:p>
        </p:txBody>
      </p:sp>
      <p:sp>
        <p:nvSpPr>
          <p:cNvPr id="44" name="Oval 43"/>
          <p:cNvSpPr/>
          <p:nvPr/>
        </p:nvSpPr>
        <p:spPr>
          <a:xfrm>
            <a:off x="6757416" y="3383280"/>
            <a:ext cx="329184" cy="329184"/>
          </a:xfrm>
          <a:prstGeom prst="ellipse">
            <a:avLst/>
          </a:prstGeom>
          <a:solidFill>
            <a:srgbClr val="2E7D32"/>
          </a:solidFill>
          <a:ln>
            <a:noFill/>
          </a:ln>
        </p:spPr>
        <p:txBody>
          <a:bodyPr rtlCol="0" anchor="ctr" lIns="0" rIns="0" tIns="0" bIns="0" wrap="square"/>
          <a:lstStyle/>
          <a:p>
            <a:pPr algn="ctr" rtl="1"/>
            <a:r>
              <a:rPr sz="1300" b="1" i="0" lang="ar-AE" altLang="en-US">
                <a:solidFill>
                  <a:srgbClr val="FFFFFF"/>
                </a:solidFill>
                <a:latin typeface="Arial"/>
                <a:cs typeface="Arial"/>
              </a:rPr>
              <a:t>6</a:t>
            </a:r>
          </a:p>
        </p:txBody>
      </p:sp>
      <p:sp>
        <p:nvSpPr>
          <p:cNvPr id="45" name="TextBox 44"/>
          <p:cNvSpPr txBox="1"/>
          <p:nvPr/>
        </p:nvSpPr>
        <p:spPr>
          <a:xfrm>
            <a:off x="4105655" y="3255264"/>
            <a:ext cx="2615184" cy="585216"/>
          </a:xfrm>
          <a:prstGeom prst="rect">
            <a:avLst/>
          </a:prstGeom>
          <a:noFill/>
        </p:spPr>
        <p:txBody>
          <a:bodyPr wrap="square" lIns="27432" rIns="27432" tIns="0" bIns="0" anchor="ctr"/>
          <a:lstStyle/>
          <a:p>
            <a:pPr algn="r" rtl="1"/>
            <a:r>
              <a:rPr sz="1400" b="1" i="0" lang="ar-AE" altLang="en-US">
                <a:solidFill>
                  <a:srgbClr val="102A43"/>
                </a:solidFill>
                <a:latin typeface="Arial"/>
                <a:cs typeface="Arial"/>
              </a:rPr>
              <a:t>فحم في المناجم</a:t>
            </a:r>
          </a:p>
        </p:txBody>
      </p:sp>
      <p:sp>
        <p:nvSpPr>
          <p:cNvPr id="46" name="Rounded Rectangle 45"/>
          <p:cNvSpPr/>
          <p:nvPr/>
        </p:nvSpPr>
        <p:spPr>
          <a:xfrm>
            <a:off x="2724911" y="3383280"/>
            <a:ext cx="1325880" cy="329184"/>
          </a:xfrm>
          <a:prstGeom prst="roundRect">
            <a:avLst>
              <a:gd name="adj" fmla="val 50000"/>
            </a:avLst>
          </a:prstGeom>
          <a:solidFill>
            <a:srgbClr val="6E4E33"/>
          </a:solidFill>
          <a:ln>
            <a:noFill/>
          </a:ln>
        </p:spPr>
        <p:txBody>
          <a:bodyPr rtlCol="0" anchor="ctr" lIns="0" rIns="0" tIns="0" bIns="0" wrap="square"/>
          <a:lstStyle/>
          <a:p>
            <a:pPr algn="ctr" rtl="1"/>
            <a:r>
              <a:rPr sz="1250" b="1" i="0" lang="ar-AE" altLang="en-US">
                <a:solidFill>
                  <a:srgbClr val="FFFFFF"/>
                </a:solidFill>
                <a:latin typeface="Arial"/>
                <a:cs typeface="Arial"/>
              </a:rPr>
              <a:t>طويل المدى</a:t>
            </a:r>
          </a:p>
        </p:txBody>
      </p:sp>
      <p:pic>
        <p:nvPicPr>
          <p:cNvPr id="47" name="مؤقت 3 دقائق">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697480" y="4069080"/>
            <a:ext cx="1417320" cy="1417320"/>
          </a:xfrm>
          <a:prstGeom prst="rect">
            <a:avLst/>
          </a:prstGeom>
        </p:spPr>
      </p:pic>
      <p:sp>
        <p:nvSpPr>
          <p:cNvPr id="48" name="Rounded Rectangle 47"/>
          <p:cNvSpPr/>
          <p:nvPr/>
        </p:nvSpPr>
        <p:spPr>
          <a:xfrm>
            <a:off x="4251960" y="4023360"/>
            <a:ext cx="7589520" cy="1481328"/>
          </a:xfrm>
          <a:prstGeom prst="roundRect">
            <a:avLst>
              <a:gd name="adj" fmla="val 7407"/>
            </a:avLst>
          </a:prstGeom>
          <a:solidFill>
            <a:srgbClr val="FBF5E8"/>
          </a:solidFill>
          <a:ln w="12700">
            <a:solidFill>
              <a:srgbClr val="E6D5B0"/>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49" name="Picture 48" descr="badge_shaheen.png"/>
          <p:cNvPicPr>
            <a:picLocks noChangeAspect="1"/>
          </p:cNvPicPr>
          <p:nvPr/>
        </p:nvPicPr>
        <p:blipFill>
          <a:blip r:embed="rId6"/>
          <a:stretch>
            <a:fillRect/>
          </a:stretch>
        </p:blipFill>
        <p:spPr>
          <a:xfrm>
            <a:off x="10881360" y="4096512"/>
            <a:ext cx="868680" cy="898531"/>
          </a:xfrm>
          <a:prstGeom prst="rect">
            <a:avLst/>
          </a:prstGeom>
        </p:spPr>
      </p:pic>
      <p:sp>
        <p:nvSpPr>
          <p:cNvPr id="50" name="TextBox 49"/>
          <p:cNvSpPr txBox="1"/>
          <p:nvPr/>
        </p:nvSpPr>
        <p:spPr>
          <a:xfrm>
            <a:off x="4343400" y="4069080"/>
            <a:ext cx="6446520" cy="457200"/>
          </a:xfrm>
          <a:prstGeom prst="rect">
            <a:avLst/>
          </a:prstGeom>
          <a:noFill/>
        </p:spPr>
        <p:txBody>
          <a:bodyPr wrap="square" lIns="73152" rIns="73152" tIns="36576" bIns="36576" anchor="ctr"/>
          <a:lstStyle/>
          <a:p>
            <a:pPr algn="r" rtl="1"/>
            <a:r>
              <a:rPr sz="1500" b="1" i="0" lang="ar-AE" altLang="en-US">
                <a:solidFill>
                  <a:srgbClr val="6B3F1D"/>
                </a:solidFill>
                <a:latin typeface="Arial"/>
                <a:cs typeface="Arial"/>
              </a:rPr>
              <a:t>تحدّي شاهين </a:t>
            </a:r>
            <a:r>
              <a:rPr sz="1500" b="1" i="0" lang="ar-AE" altLang="en-US">
                <a:solidFill>
                  <a:srgbClr val="C8102E"/>
                </a:solidFill>
                <a:latin typeface="Arial"/>
                <a:cs typeface="Arial"/>
              </a:rPr>
              <a:t>■</a:t>
            </a:r>
          </a:p>
        </p:txBody>
      </p:sp>
      <p:sp>
        <p:nvSpPr>
          <p:cNvPr id="51" name="TextBox 50"/>
          <p:cNvSpPr txBox="1"/>
          <p:nvPr/>
        </p:nvSpPr>
        <p:spPr>
          <a:xfrm>
            <a:off x="4343400" y="4498848"/>
            <a:ext cx="6446520" cy="960120"/>
          </a:xfrm>
          <a:prstGeom prst="rect">
            <a:avLst/>
          </a:prstGeom>
          <a:noFill/>
        </p:spPr>
        <p:txBody>
          <a:bodyPr wrap="square" lIns="73152" rIns="73152" tIns="36576" bIns="36576" anchor="t"/>
          <a:lstStyle/>
          <a:p>
            <a:pPr algn="r" rtl="1"/>
            <a:r>
              <a:rPr sz="1400" b="1" i="0" lang="ar-AE" altLang="en-US">
                <a:solidFill>
                  <a:srgbClr val="102A43"/>
                </a:solidFill>
                <a:latin typeface="Arial"/>
                <a:cs typeface="Arial"/>
              </a:rPr>
              <a:t>لماذا يُعدّ حرق الوقود الأحفوري «تسريعًا» لدورة الكربون طويلة المدى؟</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4"/>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2"/>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40"/>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500"/>
                                        <p:tgtEl>
                                          <p:spTgt spid="42"/>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44"/>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47"/>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47"/>
                                        </p:tgtEl>
                                      </p:cBhvr>
                                    </p:cmd>
                                  </p:childTnLst>
                                </p:cTn>
                              </p:par>
                            </p:childTnLst>
                          </p:cTn>
                        </p:par>
                      </p:childTnLst>
                    </p:cTn>
                  </p:par>
                </p:childTnLst>
              </p:cTn>
              <p:nextCondLst>
                <p:cond evt="onNext" delay="0">
                  <p:tgtEl>
                    <p:sldTgt/>
                  </p:tgtEl>
                </p:cond>
              </p:nextCondLst>
            </p:seq>
            <p:video>
              <p:cMediaNode vol="80000">
                <p:cTn id="43" fill="hold" display="0">
                  <p:stCondLst>
                    <p:cond delay="indefinite"/>
                  </p:stCondLst>
                </p:cTn>
                <p:tgtEl>
                  <p:spTgt spid="47"/>
                </p:tgtEl>
              </p:cMediaNode>
            </p:video>
          </p:childTnLst>
        </p:cTn>
      </p:par>
    </p:tnLst>
    <p:bldLst>
      <p:bldP spid="26" grpId="0" animBg="1"/>
      <p:bldP spid="30" grpId="0" animBg="1"/>
      <p:bldP spid="34" grpId="0" animBg="1"/>
      <p:bldP spid="38" grpId="0" animBg="1"/>
      <p:bldP spid="42" grpId="0" animBg="1"/>
      <p:bldP spid="46"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2" name="Oval 11"/>
          <p:cNvSpPr/>
          <p:nvPr/>
        </p:nvSpPr>
        <p:spPr>
          <a:xfrm>
            <a:off x="2020824" y="2350008"/>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أثر الإنسان في دورة الكربون</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1809750" y="3952875"/>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337292" y="1344168"/>
            <a:ext cx="1522476" cy="365760"/>
          </a:xfrm>
          <a:prstGeom prst="roundRect">
            <a:avLst>
              <a:gd name="adj" fmla="val 50000"/>
            </a:avLst>
          </a:prstGeom>
          <a:solidFill>
            <a:srgbClr val="2E7D32"/>
          </a:solidFill>
          <a:ln>
            <a:noFill/>
          </a:ln>
        </p:spPr>
        <p:txBody>
          <a:bodyPr rtlCol="0" anchor="ctr" lIns="36576" rIns="36576" tIns="0" bIns="0" wrap="square"/>
          <a:lstStyle/>
          <a:p>
            <a:pPr algn="ctr" rtl="1"/>
            <a:r>
              <a:rPr sz="1300" b="1" i="0" lang="ar-AE" altLang="en-US">
                <a:solidFill>
                  <a:srgbClr val="FFFFFF"/>
                </a:solidFill>
                <a:latin typeface="Arial"/>
                <a:cs typeface="Arial"/>
              </a:rPr>
              <a:t>الناتج الثالث</a:t>
            </a:r>
          </a:p>
        </p:txBody>
      </p:sp>
      <p:sp>
        <p:nvSpPr>
          <p:cNvPr id="22" name="TextBox 21"/>
          <p:cNvSpPr txBox="1"/>
          <p:nvPr/>
        </p:nvSpPr>
        <p:spPr>
          <a:xfrm>
            <a:off x="2606040" y="1280160"/>
            <a:ext cx="7621524"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الإنسان ودورة الكربون</a:t>
            </a:r>
          </a:p>
        </p:txBody>
      </p:sp>
      <p:pic>
        <p:nvPicPr>
          <p:cNvPr id="23" name="carbon_human.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5440679" y="1901952"/>
            <a:ext cx="6400800" cy="3600450"/>
          </a:xfrm>
          <a:prstGeom prst="rect">
            <a:avLst/>
          </a:prstGeom>
          <a:ln w="28575">
            <a:solidFill>
              <a:srgbClr val="C9A96A"/>
            </a:solidFill>
          </a:ln>
        </p:spPr>
      </p:pic>
      <p:sp>
        <p:nvSpPr>
          <p:cNvPr id="24" name="Rounded Rectangle 23"/>
          <p:cNvSpPr/>
          <p:nvPr/>
        </p:nvSpPr>
        <p:spPr>
          <a:xfrm>
            <a:off x="2697480" y="1901952"/>
            <a:ext cx="2606039" cy="3602736"/>
          </a:xfrm>
          <a:prstGeom prst="roundRect">
            <a:avLst>
              <a:gd name="adj" fmla="val 4210"/>
            </a:avLst>
          </a:prstGeom>
          <a:solidFill>
            <a:srgbClr val="F3F5F8"/>
          </a:solidFill>
          <a:ln w="12700">
            <a:solidFill>
              <a:srgbClr val="D5DDE8"/>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sp>
        <p:nvSpPr>
          <p:cNvPr id="25" name="Oval 24"/>
          <p:cNvSpPr/>
          <p:nvPr/>
        </p:nvSpPr>
        <p:spPr>
          <a:xfrm>
            <a:off x="3634740" y="2011680"/>
            <a:ext cx="731520" cy="731520"/>
          </a:xfrm>
          <a:prstGeom prst="ellipse">
            <a:avLst/>
          </a:prstGeom>
          <a:solidFill>
            <a:srgbClr val="2E7D32"/>
          </a:solidFill>
          <a:ln>
            <a:noFill/>
          </a:ln>
        </p:spPr>
        <p:txBody>
          <a:bodyPr rtlCol="0" anchor="ctr" lIns="54864" rIns="54864" tIns="27432" bIns="27432"/>
          <a:lstStyle/>
          <a:p>
            <a:pPr algn="ctr"/>
          </a:p>
        </p:txBody>
      </p:sp>
      <p:pic>
        <p:nvPicPr>
          <p:cNvPr id="26" name="Picture 25" descr="eye_w.png"/>
          <p:cNvPicPr>
            <a:picLocks noChangeAspect="1"/>
          </p:cNvPicPr>
          <p:nvPr/>
        </p:nvPicPr>
        <p:blipFill>
          <a:blip r:embed="rId6"/>
          <a:stretch>
            <a:fillRect/>
          </a:stretch>
        </p:blipFill>
        <p:spPr>
          <a:xfrm>
            <a:off x="3795674" y="2172614"/>
            <a:ext cx="409651" cy="409651"/>
          </a:xfrm>
          <a:prstGeom prst="rect">
            <a:avLst/>
          </a:prstGeom>
        </p:spPr>
      </p:pic>
      <p:sp>
        <p:nvSpPr>
          <p:cNvPr id="27" name="TextBox 26"/>
          <p:cNvSpPr txBox="1"/>
          <p:nvPr/>
        </p:nvSpPr>
        <p:spPr>
          <a:xfrm>
            <a:off x="2761488" y="2816352"/>
            <a:ext cx="2478023" cy="411480"/>
          </a:xfrm>
          <a:prstGeom prst="rect">
            <a:avLst/>
          </a:prstGeom>
          <a:noFill/>
        </p:spPr>
        <p:txBody>
          <a:bodyPr wrap="square" lIns="73152" rIns="73152" tIns="36576" bIns="36576" anchor="ctr"/>
          <a:lstStyle/>
          <a:p>
            <a:pPr algn="ctr" rtl="1"/>
            <a:r>
              <a:rPr sz="1500" b="1" i="0" lang="ar-AE" altLang="en-US">
                <a:solidFill>
                  <a:srgbClr val="2E7D32"/>
                </a:solidFill>
                <a:latin typeface="Arial"/>
                <a:cs typeface="Arial"/>
              </a:rPr>
              <a:t>أثناء المشاهدة:</a:t>
            </a:r>
          </a:p>
        </p:txBody>
      </p:sp>
      <p:sp>
        <p:nvSpPr>
          <p:cNvPr id="28" name="TextBox 27"/>
          <p:cNvSpPr txBox="1"/>
          <p:nvPr/>
        </p:nvSpPr>
        <p:spPr>
          <a:xfrm>
            <a:off x="2788920" y="3246120"/>
            <a:ext cx="2423159" cy="2194560"/>
          </a:xfrm>
          <a:prstGeom prst="rect">
            <a:avLst/>
          </a:prstGeom>
          <a:noFill/>
        </p:spPr>
        <p:txBody>
          <a:bodyPr wrap="square" lIns="73152" rIns="73152" tIns="36576" bIns="36576" anchor="t"/>
          <a:lstStyle/>
          <a:p>
            <a:pPr algn="r" rtl="1">
              <a:spcAft>
                <a:spcPts val="600"/>
              </a:spcAft>
            </a:pPr>
            <a:r>
              <a:rPr sz="1300" b="1" i="0" lang="ar-AE" altLang="en-US">
                <a:solidFill>
                  <a:srgbClr val="102A43"/>
                </a:solidFill>
                <a:latin typeface="Arial"/>
                <a:cs typeface="Arial"/>
              </a:rPr>
              <a:t>1) ما النشاطان البشريان اللذان أخلّا بتوازن دورة الكربون؟</a:t>
            </a:r>
          </a:p>
          <a:p>
            <a:pPr algn="r" rtl="1">
              <a:spcAft>
                <a:spcPts val="600"/>
              </a:spcAft>
            </a:pPr>
            <a:r>
              <a:rPr sz="1300" b="1" i="0" lang="ar-AE" altLang="en-US">
                <a:solidFill>
                  <a:srgbClr val="102A43"/>
                </a:solidFill>
                <a:latin typeface="Arial"/>
                <a:cs typeface="Arial"/>
              </a:rPr>
              <a:t>2) كم ارتفع تركيز ثاني أكسيد الكربون خلال 150 عامًا؟</a:t>
            </a:r>
          </a:p>
          <a:p>
            <a:pPr algn="r" rtl="1">
              <a:spcAft>
                <a:spcPts val="600"/>
              </a:spcAft>
            </a:pPr>
            <a:r>
              <a:rPr sz="1300" b="1" i="0" lang="ar-AE" altLang="en-US">
                <a:solidFill>
                  <a:srgbClr val="102A43"/>
                </a:solidFill>
                <a:latin typeface="Arial"/>
                <a:cs typeface="Arial"/>
              </a:rPr>
              <a:t>3) ما أثر ذلك في مناخ الأرض؟</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3"/>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23"/>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2" name="Oval 11"/>
          <p:cNvSpPr/>
          <p:nvPr/>
        </p:nvSpPr>
        <p:spPr>
          <a:xfrm>
            <a:off x="2020824" y="2350008"/>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أثر الإنسان في دورة الكربون</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1809750" y="3952875"/>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337292" y="1344168"/>
            <a:ext cx="1522476" cy="365760"/>
          </a:xfrm>
          <a:prstGeom prst="roundRect">
            <a:avLst>
              <a:gd name="adj" fmla="val 50000"/>
            </a:avLst>
          </a:prstGeom>
          <a:solidFill>
            <a:srgbClr val="2E7D32"/>
          </a:solidFill>
          <a:ln>
            <a:noFill/>
          </a:ln>
        </p:spPr>
        <p:txBody>
          <a:bodyPr rtlCol="0" anchor="ctr" lIns="36576" rIns="36576" tIns="0" bIns="0" wrap="square"/>
          <a:lstStyle/>
          <a:p>
            <a:pPr algn="ctr" rtl="1"/>
            <a:r>
              <a:rPr sz="1300" b="1" i="0" lang="ar-AE" altLang="en-US">
                <a:solidFill>
                  <a:srgbClr val="FFFFFF"/>
                </a:solidFill>
                <a:latin typeface="Arial"/>
                <a:cs typeface="Arial"/>
              </a:rPr>
              <a:t>الناتج الثالث</a:t>
            </a:r>
          </a:p>
        </p:txBody>
      </p:sp>
      <p:sp>
        <p:nvSpPr>
          <p:cNvPr id="22" name="TextBox 21"/>
          <p:cNvSpPr txBox="1"/>
          <p:nvPr/>
        </p:nvSpPr>
        <p:spPr>
          <a:xfrm>
            <a:off x="2606040" y="1280160"/>
            <a:ext cx="7621524"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الأرقام تتحدث: ثاني أكسيد الكربون في الغلاف الجوي</a:t>
            </a:r>
          </a:p>
        </p:txBody>
      </p:sp>
      <p:graphicFrame>
        <p:nvGraphicFramePr>
          <p:cNvPr id="23" name="Chart 22"/>
          <p:cNvGraphicFramePr>
            <a:graphicFrameLocks noGrp="1"/>
          </p:cNvGraphicFramePr>
          <p:nvPr/>
        </p:nvGraphicFramePr>
        <p:xfrm>
          <a:off x="2697480" y="1874519"/>
          <a:ext cx="5669280" cy="3246120"/>
        </p:xfrm>
        <a:graphic>
          <a:graphicData uri="http://schemas.openxmlformats.org/drawingml/2006/chart">
            <c:chart xmlns:c="http://schemas.openxmlformats.org/drawingml/2006/chart" r:id="rId3"/>
          </a:graphicData>
        </a:graphic>
      </p:graphicFrame>
      <p:sp>
        <p:nvSpPr>
          <p:cNvPr id="24" name="TextBox 23"/>
          <p:cNvSpPr txBox="1"/>
          <p:nvPr/>
        </p:nvSpPr>
        <p:spPr>
          <a:xfrm>
            <a:off x="2697480" y="5157216"/>
            <a:ext cx="5669280" cy="365760"/>
          </a:xfrm>
          <a:prstGeom prst="rect">
            <a:avLst/>
          </a:prstGeom>
          <a:noFill/>
        </p:spPr>
        <p:txBody>
          <a:bodyPr wrap="square" lIns="73152" rIns="73152" tIns="36576" bIns="36576" anchor="ctr"/>
          <a:lstStyle/>
          <a:p>
            <a:pPr algn="ctr" rtl="1"/>
            <a:r>
              <a:rPr sz="1100" b="1" i="0" lang="ar-AE" altLang="en-US">
                <a:solidFill>
                  <a:srgbClr val="9A7B3F"/>
                </a:solidFill>
                <a:latin typeface="Arial"/>
                <a:cs typeface="Arial"/>
              </a:rPr>
              <a:t>قبل الثورة الصناعية: نحو 280 جزءًا في المليون  |  المصدر: NOAA، مرصد ماونا لوا</a:t>
            </a:r>
          </a:p>
        </p:txBody>
      </p:sp>
      <p:sp>
        <p:nvSpPr>
          <p:cNvPr id="25" name="Rounded Rectangle 24"/>
          <p:cNvSpPr/>
          <p:nvPr/>
        </p:nvSpPr>
        <p:spPr>
          <a:xfrm>
            <a:off x="8503920" y="1874519"/>
            <a:ext cx="3337560" cy="1783080"/>
          </a:xfrm>
          <a:prstGeom prst="roundRect">
            <a:avLst>
              <a:gd name="adj" fmla="val 6153"/>
            </a:avLst>
          </a:prstGeom>
          <a:solidFill>
            <a:srgbClr val="FBF5E8"/>
          </a:solidFill>
          <a:ln w="12700">
            <a:solidFill>
              <a:srgbClr val="E6D5B0"/>
            </a:solidFill>
          </a:ln>
        </p:spPr>
        <p:txBody>
          <a:bodyPr rtlCol="0" anchor="ctr" lIns="54864" rIns="54864" tIns="27432" bIns="27432"/>
          <a:lstStyle/>
          <a:p>
            <a:pPr algn="ctr"/>
          </a:p>
        </p:txBody>
      </p:sp>
      <p:pic>
        <p:nvPicPr>
          <p:cNvPr id="26" name="Picture 25" descr="calc_g.png"/>
          <p:cNvPicPr>
            <a:picLocks noChangeAspect="1"/>
          </p:cNvPicPr>
          <p:nvPr/>
        </p:nvPicPr>
        <p:blipFill>
          <a:blip r:embed="rId4"/>
          <a:stretch>
            <a:fillRect/>
          </a:stretch>
        </p:blipFill>
        <p:spPr>
          <a:xfrm>
            <a:off x="11356848" y="1938528"/>
            <a:ext cx="384048" cy="384048"/>
          </a:xfrm>
          <a:prstGeom prst="rect">
            <a:avLst/>
          </a:prstGeom>
        </p:spPr>
      </p:pic>
      <p:sp>
        <p:nvSpPr>
          <p:cNvPr id="27" name="TextBox 26"/>
          <p:cNvSpPr txBox="1"/>
          <p:nvPr/>
        </p:nvSpPr>
        <p:spPr>
          <a:xfrm>
            <a:off x="8577072" y="1920240"/>
            <a:ext cx="2743200" cy="457200"/>
          </a:xfrm>
          <a:prstGeom prst="rect">
            <a:avLst/>
          </a:prstGeom>
          <a:noFill/>
        </p:spPr>
        <p:txBody>
          <a:bodyPr wrap="square" lIns="73152" rIns="73152" tIns="36576" bIns="36576" anchor="ctr"/>
          <a:lstStyle/>
          <a:p>
            <a:pPr algn="r" rtl="1"/>
            <a:r>
              <a:rPr sz="1400" b="1" i="0" lang="ar-AE" altLang="en-US">
                <a:solidFill>
                  <a:srgbClr val="9A7B3F"/>
                </a:solidFill>
                <a:latin typeface="Arial"/>
                <a:cs typeface="Arial"/>
              </a:rPr>
              <a:t>ربط بالرياضيات</a:t>
            </a:r>
          </a:p>
        </p:txBody>
      </p:sp>
      <p:sp>
        <p:nvSpPr>
          <p:cNvPr id="28" name="TextBox 27"/>
          <p:cNvSpPr txBox="1"/>
          <p:nvPr/>
        </p:nvSpPr>
        <p:spPr>
          <a:xfrm>
            <a:off x="8577072" y="2359152"/>
            <a:ext cx="3200400" cy="822960"/>
          </a:xfrm>
          <a:prstGeom prst="rect">
            <a:avLst/>
          </a:prstGeom>
          <a:noFill/>
        </p:spPr>
        <p:txBody>
          <a:bodyPr wrap="square" lIns="73152" rIns="73152" tIns="36576" bIns="36576" anchor="t"/>
          <a:lstStyle/>
          <a:p>
            <a:pPr algn="r" rtl="1"/>
            <a:r>
              <a:rPr sz="1300" b="1" i="0" lang="ar-AE" altLang="en-US">
                <a:solidFill>
                  <a:srgbClr val="102A43"/>
                </a:solidFill>
                <a:latin typeface="Arial"/>
                <a:cs typeface="Arial"/>
              </a:rPr>
              <a:t>صِف اتجاه المنحنى، واحسب مقدار الزيادة بين عامي 1960 و2024.</a:t>
            </a:r>
          </a:p>
        </p:txBody>
      </p:sp>
      <p:sp>
        <p:nvSpPr>
          <p:cNvPr id="29" name="Rounded Rectangle 28"/>
          <p:cNvSpPr/>
          <p:nvPr/>
        </p:nvSpPr>
        <p:spPr>
          <a:xfrm>
            <a:off x="8641080" y="3200400"/>
            <a:ext cx="1463040" cy="347472"/>
          </a:xfrm>
          <a:prstGeom prst="roundRect">
            <a:avLst>
              <a:gd name="adj" fmla="val 50000"/>
            </a:avLst>
          </a:prstGeom>
          <a:solidFill>
            <a:srgbClr val="C9A96A"/>
          </a:solidFill>
          <a:ln>
            <a:noFill/>
          </a:ln>
          <a:effectLst>
            <a:outerShdw blurRad="76200" dist="31750" dir="5400000" algn="t" rotWithShape="0">
              <a:srgbClr val="1E2B3C">
                <a:alpha val="22000"/>
              </a:srgbClr>
            </a:outerShdw>
          </a:effectLst>
        </p:spPr>
        <p:txBody>
          <a:bodyPr rtlCol="0" anchor="ctr" lIns="36576" rIns="36576" tIns="0" bIns="0" wrap="square"/>
          <a:lstStyle/>
          <a:p>
            <a:pPr algn="ctr" rtl="1"/>
            <a:r>
              <a:rPr sz="1200" b="1" i="0" lang="ar-AE" altLang="en-US">
                <a:solidFill>
                  <a:srgbClr val="102A43"/>
                </a:solidFill>
                <a:latin typeface="Arial"/>
                <a:cs typeface="Arial"/>
              </a:rPr>
              <a:t>◄ </a:t>
            </a:r>
            <a:r>
              <a:rPr sz="1200" b="1" i="0" lang="ar-AE" altLang="en-US">
                <a:solidFill>
                  <a:srgbClr val="102A43"/>
                </a:solidFill>
                <a:latin typeface="Arial"/>
                <a:cs typeface="Arial"/>
              </a:rPr>
              <a:t>الإجابة</a:t>
            </a:r>
          </a:p>
        </p:txBody>
      </p:sp>
      <p:sp>
        <p:nvSpPr>
          <p:cNvPr id="30" name="Rounded Rectangle 29"/>
          <p:cNvSpPr/>
          <p:nvPr/>
        </p:nvSpPr>
        <p:spPr>
          <a:xfrm>
            <a:off x="8503920" y="3749039"/>
            <a:ext cx="3337560" cy="603504"/>
          </a:xfrm>
          <a:prstGeom prst="roundRect">
            <a:avLst>
              <a:gd name="adj" fmla="val 15151"/>
            </a:avLst>
          </a:prstGeom>
          <a:solidFill>
            <a:srgbClr val="EAF7EE"/>
          </a:solidFill>
          <a:ln w="19050">
            <a:solidFill>
              <a:srgbClr val="2E9E5B"/>
            </a:solidFill>
          </a:ln>
        </p:spPr>
        <p:txBody>
          <a:bodyPr rtlCol="0" anchor="ctr" lIns="109728" rIns="109728" tIns="54864" bIns="54864" wrap="square"/>
          <a:lstStyle/>
          <a:p>
            <a:pPr algn="r" rtl="1"/>
            <a:r>
              <a:rPr sz="1250" b="1" i="0" lang="ar-AE" altLang="en-US">
                <a:solidFill>
                  <a:srgbClr val="1B4D2E"/>
                </a:solidFill>
                <a:latin typeface="Arial"/>
                <a:cs typeface="Arial"/>
              </a:rPr>
              <a:t>تصاعدي… زيادة نحو 108 أجزاء في المليون</a:t>
            </a:r>
          </a:p>
        </p:txBody>
      </p:sp>
      <p:sp>
        <p:nvSpPr>
          <p:cNvPr id="31" name="Rounded Rectangle 30"/>
          <p:cNvSpPr/>
          <p:nvPr/>
        </p:nvSpPr>
        <p:spPr>
          <a:xfrm>
            <a:off x="8503920" y="4443984"/>
            <a:ext cx="3337560" cy="1078992"/>
          </a:xfrm>
          <a:prstGeom prst="roundRect">
            <a:avLst>
              <a:gd name="adj" fmla="val 10169"/>
            </a:avLst>
          </a:prstGeom>
          <a:solidFill>
            <a:srgbClr val="F6EFE9"/>
          </a:solidFill>
          <a:ln w="12700">
            <a:solidFill>
              <a:srgbClr val="D9C1A8"/>
            </a:solidFill>
          </a:ln>
        </p:spPr>
        <p:txBody>
          <a:bodyPr rtlCol="0" anchor="ctr" lIns="54864" rIns="54864" tIns="27432" bIns="27432"/>
          <a:lstStyle/>
          <a:p>
            <a:pPr algn="ctr"/>
          </a:p>
        </p:txBody>
      </p:sp>
      <p:sp>
        <p:nvSpPr>
          <p:cNvPr id="32" name="TextBox 31"/>
          <p:cNvSpPr txBox="1"/>
          <p:nvPr/>
        </p:nvSpPr>
        <p:spPr>
          <a:xfrm>
            <a:off x="8577072" y="4443984"/>
            <a:ext cx="3200400" cy="1078992"/>
          </a:xfrm>
          <a:prstGeom prst="rect">
            <a:avLst/>
          </a:prstGeom>
          <a:noFill/>
        </p:spPr>
        <p:txBody>
          <a:bodyPr wrap="square" lIns="73152" rIns="73152" tIns="36576" bIns="36576" anchor="ctr"/>
          <a:lstStyle/>
          <a:p>
            <a:pPr algn="r" rtl="1"/>
            <a:r>
              <a:rPr sz="1250" b="1" i="0" lang="ar-AE" altLang="en-US">
                <a:solidFill>
                  <a:srgbClr val="6B3F1D"/>
                </a:solidFill>
                <a:latin typeface="Arial"/>
                <a:cs typeface="Arial"/>
              </a:rPr>
              <a:t>تحدّي شاهين </a:t>
            </a:r>
            <a:r>
              <a:rPr sz="1250" b="1" i="0" lang="ar-AE" altLang="en-US">
                <a:solidFill>
                  <a:srgbClr val="C8102E"/>
                </a:solidFill>
                <a:latin typeface="Arial"/>
                <a:cs typeface="Arial"/>
              </a:rPr>
              <a:t>■</a:t>
            </a:r>
            <a:r>
              <a:rPr sz="1250" b="1" i="0" lang="ar-AE" altLang="en-US">
                <a:solidFill>
                  <a:srgbClr val="6B3F1D"/>
                </a:solidFill>
                <a:latin typeface="Arial"/>
                <a:cs typeface="Arial"/>
              </a:rPr>
              <a:t>: </a:t>
            </a:r>
            <a:r>
              <a:rPr sz="1200" b="1" i="0" lang="ar-AE" altLang="en-US">
                <a:solidFill>
                  <a:srgbClr val="102A43"/>
                </a:solidFill>
                <a:latin typeface="Arial"/>
                <a:cs typeface="Arial"/>
              </a:rPr>
              <a:t>توقّع ماذا يحدث لتركيز CO</a:t>
            </a:r>
            <a:r>
              <a:rPr sz="1200" b="1" i="0" lang="ar-AE" altLang="en-US" baseline="-25000">
                <a:solidFill>
                  <a:srgbClr val="102A43"/>
                </a:solidFill>
                <a:latin typeface="Arial"/>
                <a:cs typeface="Arial"/>
              </a:rPr>
              <a:t>2</a:t>
            </a:r>
            <a:r>
              <a:rPr sz="1200" b="1" i="0" lang="ar-AE" altLang="en-US">
                <a:solidFill>
                  <a:srgbClr val="102A43"/>
                </a:solidFill>
                <a:latin typeface="Arial"/>
                <a:cs typeface="Arial"/>
              </a:rPr>
              <a:t> إذا استمرت إزالة الغابات الاستوائية المطيرة؟ ولماذا؟</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9"/>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nextCondLst>
                <p:cond evt="onNext" delay="0">
                  <p:tgtEl>
                    <p:sldTgt/>
                  </p:tgtEl>
                </p:cond>
              </p:nextCondLst>
            </p:seq>
          </p:childTnLst>
        </p:cTn>
      </p:par>
    </p:tnLst>
    <p:bldLst>
      <p:bldP spid="30"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2" name="Oval 11"/>
          <p:cNvSpPr/>
          <p:nvPr/>
        </p:nvSpPr>
        <p:spPr>
          <a:xfrm>
            <a:off x="2020824" y="2350008"/>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أثر الإنسان في دورة الكربون</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866775" y="3657600"/>
            <a:ext cx="790575"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1676400" y="3705224"/>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10337292" y="1344168"/>
            <a:ext cx="1522476" cy="365760"/>
          </a:xfrm>
          <a:prstGeom prst="roundRect">
            <a:avLst>
              <a:gd name="adj" fmla="val 50000"/>
            </a:avLst>
          </a:prstGeom>
          <a:solidFill>
            <a:srgbClr val="2E7D32"/>
          </a:solidFill>
          <a:ln>
            <a:noFill/>
          </a:ln>
        </p:spPr>
        <p:txBody>
          <a:bodyPr rtlCol="0" anchor="ctr" lIns="36576" rIns="36576" tIns="0" bIns="0" wrap="square"/>
          <a:lstStyle/>
          <a:p>
            <a:pPr algn="ctr" rtl="1"/>
            <a:r>
              <a:rPr sz="1300" b="1" i="0" lang="ar-AE" altLang="en-US">
                <a:solidFill>
                  <a:srgbClr val="FFFFFF"/>
                </a:solidFill>
                <a:latin typeface="Arial"/>
                <a:cs typeface="Arial"/>
              </a:rPr>
              <a:t>الناتج الثالث</a:t>
            </a:r>
          </a:p>
        </p:txBody>
      </p:sp>
      <p:sp>
        <p:nvSpPr>
          <p:cNvPr id="22" name="TextBox 21"/>
          <p:cNvSpPr txBox="1"/>
          <p:nvPr/>
        </p:nvSpPr>
        <p:spPr>
          <a:xfrm>
            <a:off x="5928741" y="1280160"/>
            <a:ext cx="4298823"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الإمارات تقود الحل</a:t>
            </a:r>
          </a:p>
        </p:txBody>
      </p:sp>
      <p:pic>
        <p:nvPicPr>
          <p:cNvPr id="23" name="Picture 22" descr="badge_maha.png"/>
          <p:cNvPicPr>
            <a:picLocks noChangeAspect="1"/>
          </p:cNvPicPr>
          <p:nvPr/>
        </p:nvPicPr>
        <p:blipFill>
          <a:blip r:embed="rId3"/>
          <a:stretch>
            <a:fillRect/>
          </a:stretch>
        </p:blipFill>
        <p:spPr>
          <a:xfrm>
            <a:off x="2560320" y="1159811"/>
            <a:ext cx="566928" cy="650700"/>
          </a:xfrm>
          <a:prstGeom prst="rect">
            <a:avLst/>
          </a:prstGeom>
        </p:spPr>
      </p:pic>
      <p:sp>
        <p:nvSpPr>
          <p:cNvPr id="24" name="Rounded Rectangular Callout 23"/>
          <p:cNvSpPr/>
          <p:nvPr/>
        </p:nvSpPr>
        <p:spPr>
          <a:xfrm>
            <a:off x="3209544" y="1307592"/>
            <a:ext cx="2591181" cy="420624"/>
          </a:xfrm>
          <a:prstGeom prst="wedgeRoundRectCallout">
            <a:avLst>
              <a:gd name="adj1" fmla="val -54234"/>
              <a:gd name="adj2" fmla="val 18000"/>
              <a:gd name="adj3" fmla="val 16667"/>
            </a:avLst>
          </a:prstGeom>
          <a:solidFill>
            <a:srgbClr val="FFFFFF"/>
          </a:solidFill>
          <a:ln w="19050">
            <a:solidFill>
              <a:srgbClr val="0F7C73"/>
            </a:solidFill>
          </a:ln>
        </p:spPr>
        <p:txBody>
          <a:bodyPr rtlCol="0" anchor="ctr" lIns="54864" rIns="54864" tIns="27432" bIns="27432"/>
          <a:lstStyle/>
          <a:p>
            <a:pPr algn="ctr"/>
          </a:p>
        </p:txBody>
      </p:sp>
      <p:sp>
        <p:nvSpPr>
          <p:cNvPr id="25" name="TextBox 24"/>
          <p:cNvSpPr txBox="1"/>
          <p:nvPr/>
        </p:nvSpPr>
        <p:spPr>
          <a:xfrm>
            <a:off x="3246120" y="1307592"/>
            <a:ext cx="2518028" cy="420624"/>
          </a:xfrm>
          <a:prstGeom prst="rect">
            <a:avLst/>
          </a:prstGeom>
          <a:noFill/>
        </p:spPr>
        <p:txBody>
          <a:bodyPr wrap="square" lIns="36576" rIns="36576" tIns="0" bIns="0" anchor="ctr"/>
          <a:lstStyle/>
          <a:p>
            <a:pPr algn="r" rtl="1"/>
            <a:r>
              <a:rPr sz="1150" b="1" i="0" lang="ar-AE" altLang="en-US">
                <a:solidFill>
                  <a:srgbClr val="0F7C73"/>
                </a:solidFill>
                <a:latin typeface="Arial"/>
                <a:cs typeface="Arial"/>
              </a:rPr>
              <a:t>مها: </a:t>
            </a:r>
            <a:r>
              <a:rPr sz="1150" b="1" i="0" lang="ar-AE" altLang="en-US">
                <a:solidFill>
                  <a:srgbClr val="102A43"/>
                </a:solidFill>
                <a:latin typeface="Arial"/>
                <a:cs typeface="Arial"/>
              </a:rPr>
              <a:t>نحمي بيئتنا لأجيال قادمة!</a:t>
            </a:r>
          </a:p>
        </p:txBody>
      </p:sp>
      <p:pic>
        <p:nvPicPr>
          <p:cNvPr id="26" name="Picture 25" descr="still_mangrove.png"/>
          <p:cNvPicPr>
            <a:picLocks noChangeAspect="1"/>
          </p:cNvPicPr>
          <p:nvPr/>
        </p:nvPicPr>
        <p:blipFill>
          <a:blip r:embed="rId4"/>
          <a:stretch>
            <a:fillRect/>
          </a:stretch>
        </p:blipFill>
        <p:spPr>
          <a:xfrm>
            <a:off x="2697480" y="1901952"/>
            <a:ext cx="4206240" cy="2944368"/>
          </a:xfrm>
          <a:prstGeom prst="rect">
            <a:avLst/>
          </a:prstGeom>
          <a:ln w="25400">
            <a:solidFill>
              <a:srgbClr val="C9A96A"/>
            </a:solidFill>
          </a:ln>
          <a:effectLst>
            <a:outerShdw blurRad="76200" dist="31750" dir="5400000" algn="t" rotWithShape="0">
              <a:srgbClr val="1E2B3C">
                <a:alpha val="22000"/>
              </a:srgbClr>
            </a:outerShdw>
          </a:effectLst>
        </p:spPr>
      </p:pic>
      <p:sp>
        <p:nvSpPr>
          <p:cNvPr id="27" name="TextBox 26"/>
          <p:cNvSpPr txBox="1"/>
          <p:nvPr/>
        </p:nvSpPr>
        <p:spPr>
          <a:xfrm>
            <a:off x="2697480" y="4892040"/>
            <a:ext cx="4206240" cy="621792"/>
          </a:xfrm>
          <a:prstGeom prst="rect">
            <a:avLst/>
          </a:prstGeom>
          <a:noFill/>
        </p:spPr>
        <p:txBody>
          <a:bodyPr wrap="square" lIns="73152" rIns="73152" tIns="36576" bIns="36576" anchor="ctr"/>
          <a:lstStyle/>
          <a:p>
            <a:pPr algn="ctr" rtl="1"/>
            <a:r>
              <a:rPr sz="1250" b="1" i="0" lang="ar-AE" altLang="en-US">
                <a:solidFill>
                  <a:srgbClr val="0F7C73"/>
                </a:solidFill>
                <a:latin typeface="Arial"/>
                <a:cs typeface="Arial"/>
              </a:rPr>
              <a:t>أشجار القرم (المانغروف) تخزّن الكربون: «الكربون الأزرق»</a:t>
            </a:r>
          </a:p>
        </p:txBody>
      </p:sp>
      <p:sp>
        <p:nvSpPr>
          <p:cNvPr id="28" name="Rounded Rectangle 27"/>
          <p:cNvSpPr/>
          <p:nvPr/>
        </p:nvSpPr>
        <p:spPr>
          <a:xfrm>
            <a:off x="7040880" y="1901952"/>
            <a:ext cx="4800600" cy="676656"/>
          </a:xfrm>
          <a:prstGeom prst="roundRect">
            <a:avLst>
              <a:gd name="adj" fmla="val 16216"/>
            </a:avLst>
          </a:prstGeom>
          <a:solidFill>
            <a:srgbClr val="FFFFFF"/>
          </a:solidFill>
          <a:ln w="12700">
            <a:solidFill>
              <a:srgbClr val="D5DDE8"/>
            </a:solidFill>
          </a:ln>
        </p:spPr>
        <p:txBody>
          <a:bodyPr rtlCol="0" anchor="ctr" lIns="54864" rIns="54864" tIns="27432" bIns="27432"/>
          <a:lstStyle/>
          <a:p>
            <a:pPr algn="ctr"/>
          </a:p>
        </p:txBody>
      </p:sp>
      <p:sp>
        <p:nvSpPr>
          <p:cNvPr id="29" name="Oval 28"/>
          <p:cNvSpPr/>
          <p:nvPr/>
        </p:nvSpPr>
        <p:spPr>
          <a:xfrm>
            <a:off x="11247120" y="1975104"/>
            <a:ext cx="530352" cy="530352"/>
          </a:xfrm>
          <a:prstGeom prst="ellipse">
            <a:avLst/>
          </a:prstGeom>
          <a:solidFill>
            <a:srgbClr val="0F7C73"/>
          </a:solidFill>
          <a:ln>
            <a:noFill/>
          </a:ln>
        </p:spPr>
        <p:txBody>
          <a:bodyPr rtlCol="0" anchor="ctr" lIns="54864" rIns="54864" tIns="27432" bIns="27432"/>
          <a:lstStyle/>
          <a:p>
            <a:pPr algn="ctr"/>
          </a:p>
        </p:txBody>
      </p:sp>
      <p:pic>
        <p:nvPicPr>
          <p:cNvPr id="30" name="Picture 29" descr="flag_w.png"/>
          <p:cNvPicPr>
            <a:picLocks noChangeAspect="1"/>
          </p:cNvPicPr>
          <p:nvPr/>
        </p:nvPicPr>
        <p:blipFill>
          <a:blip r:embed="rId5"/>
          <a:stretch>
            <a:fillRect/>
          </a:stretch>
        </p:blipFill>
        <p:spPr>
          <a:xfrm>
            <a:off x="11363797" y="2091781"/>
            <a:ext cx="296997" cy="296997"/>
          </a:xfrm>
          <a:prstGeom prst="rect">
            <a:avLst/>
          </a:prstGeom>
        </p:spPr>
      </p:pic>
      <p:sp>
        <p:nvSpPr>
          <p:cNvPr id="31" name="TextBox 30"/>
          <p:cNvSpPr txBox="1"/>
          <p:nvPr/>
        </p:nvSpPr>
        <p:spPr>
          <a:xfrm>
            <a:off x="7114032" y="1901952"/>
            <a:ext cx="4069080" cy="676656"/>
          </a:xfrm>
          <a:prstGeom prst="rect">
            <a:avLst/>
          </a:prstGeom>
          <a:noFill/>
        </p:spPr>
        <p:txBody>
          <a:bodyPr wrap="square" lIns="73152" rIns="73152" tIns="36576" bIns="36576" anchor="ctr"/>
          <a:lstStyle/>
          <a:p>
            <a:pPr algn="r" rtl="1"/>
            <a:r>
              <a:rPr sz="1250" b="1" i="0" lang="ar-AE" altLang="en-US">
                <a:solidFill>
                  <a:srgbClr val="102A43"/>
                </a:solidFill>
                <a:latin typeface="Arial"/>
                <a:cs typeface="Arial"/>
              </a:rPr>
              <a:t>مبادرة الإمارات الاستراتيجية للحياد المناخي 2050: خفض صافي الانبعاثات إلى الصفر.</a:t>
            </a:r>
          </a:p>
        </p:txBody>
      </p:sp>
      <p:sp>
        <p:nvSpPr>
          <p:cNvPr id="32" name="Rounded Rectangle 31"/>
          <p:cNvSpPr/>
          <p:nvPr/>
        </p:nvSpPr>
        <p:spPr>
          <a:xfrm>
            <a:off x="7040880" y="2670048"/>
            <a:ext cx="4800600" cy="676656"/>
          </a:xfrm>
          <a:prstGeom prst="roundRect">
            <a:avLst>
              <a:gd name="adj" fmla="val 16216"/>
            </a:avLst>
          </a:prstGeom>
          <a:solidFill>
            <a:srgbClr val="FFFFFF"/>
          </a:solidFill>
          <a:ln w="12700">
            <a:solidFill>
              <a:srgbClr val="D5DDE8"/>
            </a:solidFill>
          </a:ln>
        </p:spPr>
        <p:txBody>
          <a:bodyPr rtlCol="0" anchor="ctr" lIns="54864" rIns="54864" tIns="27432" bIns="27432"/>
          <a:lstStyle/>
          <a:p>
            <a:pPr algn="ctr"/>
          </a:p>
        </p:txBody>
      </p:sp>
      <p:sp>
        <p:nvSpPr>
          <p:cNvPr id="33" name="Oval 32"/>
          <p:cNvSpPr/>
          <p:nvPr/>
        </p:nvSpPr>
        <p:spPr>
          <a:xfrm>
            <a:off x="11247120" y="2743200"/>
            <a:ext cx="530352" cy="530352"/>
          </a:xfrm>
          <a:prstGeom prst="ellipse">
            <a:avLst/>
          </a:prstGeom>
          <a:solidFill>
            <a:srgbClr val="2E7D32"/>
          </a:solidFill>
          <a:ln>
            <a:noFill/>
          </a:ln>
        </p:spPr>
        <p:txBody>
          <a:bodyPr rtlCol="0" anchor="ctr" lIns="54864" rIns="54864" tIns="27432" bIns="27432"/>
          <a:lstStyle/>
          <a:p>
            <a:pPr algn="ctr"/>
          </a:p>
        </p:txBody>
      </p:sp>
      <p:pic>
        <p:nvPicPr>
          <p:cNvPr id="34" name="Picture 33" descr="tree_w.png"/>
          <p:cNvPicPr>
            <a:picLocks noChangeAspect="1"/>
          </p:cNvPicPr>
          <p:nvPr/>
        </p:nvPicPr>
        <p:blipFill>
          <a:blip r:embed="rId6"/>
          <a:stretch>
            <a:fillRect/>
          </a:stretch>
        </p:blipFill>
        <p:spPr>
          <a:xfrm>
            <a:off x="11363797" y="2859877"/>
            <a:ext cx="296997" cy="296997"/>
          </a:xfrm>
          <a:prstGeom prst="rect">
            <a:avLst/>
          </a:prstGeom>
        </p:spPr>
      </p:pic>
      <p:sp>
        <p:nvSpPr>
          <p:cNvPr id="35" name="TextBox 34"/>
          <p:cNvSpPr txBox="1"/>
          <p:nvPr/>
        </p:nvSpPr>
        <p:spPr>
          <a:xfrm>
            <a:off x="7114032" y="2670048"/>
            <a:ext cx="4069080" cy="676656"/>
          </a:xfrm>
          <a:prstGeom prst="rect">
            <a:avLst/>
          </a:prstGeom>
          <a:noFill/>
        </p:spPr>
        <p:txBody>
          <a:bodyPr wrap="square" lIns="73152" rIns="73152" tIns="36576" bIns="36576" anchor="ctr"/>
          <a:lstStyle/>
          <a:p>
            <a:pPr algn="r" rtl="1"/>
            <a:r>
              <a:rPr sz="1250" b="1" i="0" lang="ar-AE" altLang="en-US">
                <a:solidFill>
                  <a:srgbClr val="102A43"/>
                </a:solidFill>
                <a:latin typeface="Arial"/>
                <a:cs typeface="Arial"/>
              </a:rPr>
              <a:t>زراعة 100 مليون شجرة قرم بحلول عام 2030 لامتصاص الكربون وتخزينه.</a:t>
            </a:r>
          </a:p>
        </p:txBody>
      </p:sp>
      <p:sp>
        <p:nvSpPr>
          <p:cNvPr id="36" name="Rounded Rectangle 35"/>
          <p:cNvSpPr/>
          <p:nvPr/>
        </p:nvSpPr>
        <p:spPr>
          <a:xfrm>
            <a:off x="7040880" y="3438144"/>
            <a:ext cx="4800600" cy="676656"/>
          </a:xfrm>
          <a:prstGeom prst="roundRect">
            <a:avLst>
              <a:gd name="adj" fmla="val 16216"/>
            </a:avLst>
          </a:prstGeom>
          <a:solidFill>
            <a:srgbClr val="FFFFFF"/>
          </a:solidFill>
          <a:ln w="12700">
            <a:solidFill>
              <a:srgbClr val="D5DDE8"/>
            </a:solidFill>
          </a:ln>
        </p:spPr>
        <p:txBody>
          <a:bodyPr rtlCol="0" anchor="ctr" lIns="54864" rIns="54864" tIns="27432" bIns="27432"/>
          <a:lstStyle/>
          <a:p>
            <a:pPr algn="ctr"/>
          </a:p>
        </p:txBody>
      </p:sp>
      <p:sp>
        <p:nvSpPr>
          <p:cNvPr id="37" name="Oval 36"/>
          <p:cNvSpPr/>
          <p:nvPr/>
        </p:nvSpPr>
        <p:spPr>
          <a:xfrm>
            <a:off x="11247120" y="3511296"/>
            <a:ext cx="530352" cy="530352"/>
          </a:xfrm>
          <a:prstGeom prst="ellipse">
            <a:avLst/>
          </a:prstGeom>
          <a:solidFill>
            <a:srgbClr val="E0A21B"/>
          </a:solidFill>
          <a:ln>
            <a:noFill/>
          </a:ln>
        </p:spPr>
        <p:txBody>
          <a:bodyPr rtlCol="0" anchor="ctr" lIns="54864" rIns="54864" tIns="27432" bIns="27432"/>
          <a:lstStyle/>
          <a:p>
            <a:pPr algn="ctr"/>
          </a:p>
        </p:txBody>
      </p:sp>
      <p:pic>
        <p:nvPicPr>
          <p:cNvPr id="38" name="Picture 37" descr="solar_w.png"/>
          <p:cNvPicPr>
            <a:picLocks noChangeAspect="1"/>
          </p:cNvPicPr>
          <p:nvPr/>
        </p:nvPicPr>
        <p:blipFill>
          <a:blip r:embed="rId7"/>
          <a:stretch>
            <a:fillRect/>
          </a:stretch>
        </p:blipFill>
        <p:spPr>
          <a:xfrm>
            <a:off x="11363797" y="3627973"/>
            <a:ext cx="296997" cy="296997"/>
          </a:xfrm>
          <a:prstGeom prst="rect">
            <a:avLst/>
          </a:prstGeom>
        </p:spPr>
      </p:pic>
      <p:sp>
        <p:nvSpPr>
          <p:cNvPr id="39" name="TextBox 38"/>
          <p:cNvSpPr txBox="1"/>
          <p:nvPr/>
        </p:nvSpPr>
        <p:spPr>
          <a:xfrm>
            <a:off x="7114032" y="3438144"/>
            <a:ext cx="4069080" cy="676656"/>
          </a:xfrm>
          <a:prstGeom prst="rect">
            <a:avLst/>
          </a:prstGeom>
          <a:noFill/>
        </p:spPr>
        <p:txBody>
          <a:bodyPr wrap="square" lIns="73152" rIns="73152" tIns="36576" bIns="36576" anchor="ctr"/>
          <a:lstStyle/>
          <a:p>
            <a:pPr algn="r" rtl="1"/>
            <a:r>
              <a:rPr sz="1250" b="1" i="0" lang="ar-AE" altLang="en-US">
                <a:solidFill>
                  <a:srgbClr val="102A43"/>
                </a:solidFill>
                <a:latin typeface="Arial"/>
                <a:cs typeface="Arial"/>
              </a:rPr>
              <a:t>طاقة نظيفة: مجمّع محمد بن راشد آل مكتوم للطاقة الشمسية في دبي.</a:t>
            </a:r>
          </a:p>
        </p:txBody>
      </p:sp>
      <p:sp>
        <p:nvSpPr>
          <p:cNvPr id="40" name="Rounded Rectangle 39"/>
          <p:cNvSpPr/>
          <p:nvPr/>
        </p:nvSpPr>
        <p:spPr>
          <a:xfrm>
            <a:off x="7040880" y="4206240"/>
            <a:ext cx="4800600" cy="676656"/>
          </a:xfrm>
          <a:prstGeom prst="roundRect">
            <a:avLst>
              <a:gd name="adj" fmla="val 16216"/>
            </a:avLst>
          </a:prstGeom>
          <a:solidFill>
            <a:srgbClr val="FFFFFF"/>
          </a:solidFill>
          <a:ln w="12700">
            <a:solidFill>
              <a:srgbClr val="D5DDE8"/>
            </a:solidFill>
          </a:ln>
        </p:spPr>
        <p:txBody>
          <a:bodyPr rtlCol="0" anchor="ctr" lIns="54864" rIns="54864" tIns="27432" bIns="27432"/>
          <a:lstStyle/>
          <a:p>
            <a:pPr algn="ctr"/>
          </a:p>
        </p:txBody>
      </p:sp>
      <p:sp>
        <p:nvSpPr>
          <p:cNvPr id="41" name="Oval 40"/>
          <p:cNvSpPr/>
          <p:nvPr/>
        </p:nvSpPr>
        <p:spPr>
          <a:xfrm>
            <a:off x="11247120" y="4279392"/>
            <a:ext cx="530352" cy="530352"/>
          </a:xfrm>
          <a:prstGeom prst="ellipse">
            <a:avLst/>
          </a:prstGeom>
          <a:solidFill>
            <a:srgbClr val="1E88C8"/>
          </a:solidFill>
          <a:ln>
            <a:noFill/>
          </a:ln>
        </p:spPr>
        <p:txBody>
          <a:bodyPr rtlCol="0" anchor="ctr" lIns="54864" rIns="54864" tIns="27432" bIns="27432"/>
          <a:lstStyle/>
          <a:p>
            <a:pPr algn="ctr"/>
          </a:p>
        </p:txBody>
      </p:sp>
      <p:pic>
        <p:nvPicPr>
          <p:cNvPr id="42" name="Picture 41" descr="globe_w.png"/>
          <p:cNvPicPr>
            <a:picLocks noChangeAspect="1"/>
          </p:cNvPicPr>
          <p:nvPr/>
        </p:nvPicPr>
        <p:blipFill>
          <a:blip r:embed="rId8"/>
          <a:stretch>
            <a:fillRect/>
          </a:stretch>
        </p:blipFill>
        <p:spPr>
          <a:xfrm>
            <a:off x="11363797" y="4396069"/>
            <a:ext cx="296997" cy="296997"/>
          </a:xfrm>
          <a:prstGeom prst="rect">
            <a:avLst/>
          </a:prstGeom>
        </p:spPr>
      </p:pic>
      <p:sp>
        <p:nvSpPr>
          <p:cNvPr id="43" name="TextBox 42"/>
          <p:cNvSpPr txBox="1"/>
          <p:nvPr/>
        </p:nvSpPr>
        <p:spPr>
          <a:xfrm>
            <a:off x="7114032" y="4206240"/>
            <a:ext cx="4069080" cy="676656"/>
          </a:xfrm>
          <a:prstGeom prst="rect">
            <a:avLst/>
          </a:prstGeom>
          <a:noFill/>
        </p:spPr>
        <p:txBody>
          <a:bodyPr wrap="square" lIns="73152" rIns="73152" tIns="36576" bIns="36576" anchor="ctr"/>
          <a:lstStyle/>
          <a:p>
            <a:pPr algn="r" rtl="1"/>
            <a:r>
              <a:rPr sz="1250" b="1" i="0" lang="ar-AE" altLang="en-US">
                <a:solidFill>
                  <a:srgbClr val="102A43"/>
                </a:solidFill>
                <a:latin typeface="Arial"/>
                <a:cs typeface="Arial"/>
              </a:rPr>
              <a:t>استضافت الإمارات مؤتمر الأطراف COP28 في دبي عام 2023.</a:t>
            </a:r>
          </a:p>
        </p:txBody>
      </p:sp>
      <p:sp>
        <p:nvSpPr>
          <p:cNvPr id="44" name="Rounded Rectangle 43"/>
          <p:cNvSpPr/>
          <p:nvPr/>
        </p:nvSpPr>
        <p:spPr>
          <a:xfrm>
            <a:off x="7040880" y="5001768"/>
            <a:ext cx="4800600" cy="512064"/>
          </a:xfrm>
          <a:prstGeom prst="roundRect">
            <a:avLst>
              <a:gd name="adj" fmla="val 21428"/>
            </a:avLst>
          </a:prstGeom>
          <a:solidFill>
            <a:srgbClr val="102A43"/>
          </a:solidFill>
          <a:ln>
            <a:noFill/>
          </a:ln>
        </p:spPr>
        <p:txBody>
          <a:bodyPr rtlCol="0" anchor="ctr" lIns="109728" rIns="109728" tIns="18288" bIns="18288" wrap="square"/>
          <a:lstStyle/>
          <a:p>
            <a:pPr algn="r" rtl="1"/>
            <a:r>
              <a:rPr sz="1250" b="1" i="0" lang="ar-AE" altLang="en-US">
                <a:solidFill>
                  <a:srgbClr val="C9A96A"/>
                </a:solidFill>
                <a:latin typeface="Arial"/>
                <a:cs typeface="Arial"/>
              </a:rPr>
              <a:t>وأنا؟ </a:t>
            </a:r>
            <a:r>
              <a:rPr sz="1250" b="1" i="0" lang="ar-AE" altLang="en-US">
                <a:solidFill>
                  <a:srgbClr val="FFFFFF"/>
                </a:solidFill>
                <a:latin typeface="Arial"/>
                <a:cs typeface="Arial"/>
              </a:rPr>
              <a:t>أطفئ الأجهزة غير المستخدمة، وأزرع شجرة، وأقلّل الهدر.</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rtlCol="0" anchor="ctr" lIns="54864" rIns="54864" tIns="27432" bIns="27432"/>
          <a:lstStyle/>
          <a:p>
            <a:pPr algn="ctr"/>
          </a:p>
        </p:txBody>
      </p:sp>
      <p:sp>
        <p:nvSpPr>
          <p:cNvPr id="12" name="Oval 11"/>
          <p:cNvSpPr/>
          <p:nvPr/>
        </p:nvSpPr>
        <p:spPr>
          <a:xfrm>
            <a:off x="2020824" y="2350008"/>
            <a:ext cx="201168" cy="201168"/>
          </a:xfrm>
          <a:prstGeom prst="ellipse">
            <a:avLst/>
          </a:prstGeom>
          <a:solidFill>
            <a:srgbClr val="C9A96A"/>
          </a:solidFill>
          <a:ln>
            <a:noFill/>
          </a:ln>
        </p:spPr>
        <p:txBody>
          <a:bodyPr rtlCol="0" anchor="ctr" lIns="0" rIns="0" tIns="0" bIns="0" wrap="square"/>
          <a:lstStyle/>
          <a:p>
            <a:pPr algn="ctr" rtl="1"/>
            <a:r>
              <a:rPr sz="900" b="1" i="0" lang="ar-AE" altLang="en-US">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FFFFFF"/>
                </a:solidFill>
                <a:latin typeface="Arial"/>
                <a:cs typeface="Arial"/>
              </a:rPr>
              <a:t>أثر الإنسان في دورة الكربون</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9" name="Rounded Rectangle 18"/>
          <p:cNvSpPr/>
          <p:nvPr/>
        </p:nvSpPr>
        <p:spPr>
          <a:xfrm>
            <a:off x="866775" y="3657600"/>
            <a:ext cx="790575"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20" name="Left Arrow 19"/>
          <p:cNvSpPr/>
          <p:nvPr/>
        </p:nvSpPr>
        <p:spPr>
          <a:xfrm>
            <a:off x="1676400" y="3705224"/>
            <a:ext cx="247649" cy="171450"/>
          </a:xfrm>
          <a:prstGeom prst="leftArrow">
            <a:avLst/>
          </a:prstGeom>
          <a:solidFill>
            <a:srgbClr val="C8102E"/>
          </a:solidFill>
          <a:ln>
            <a:noFill/>
          </a:ln>
        </p:spPr>
        <p:txBody>
          <a:bodyPr rtlCol="0" anchor="ctr" lIns="54864" rIns="54864" tIns="27432" bIns="27432"/>
          <a:lstStyle/>
          <a:p>
            <a:pPr algn="ctr"/>
          </a:p>
        </p:txBody>
      </p:sp>
      <p:sp>
        <p:nvSpPr>
          <p:cNvPr id="21" name="Rounded Rectangle 20"/>
          <p:cNvSpPr/>
          <p:nvPr/>
        </p:nvSpPr>
        <p:spPr>
          <a:xfrm>
            <a:off x="9761220" y="1344168"/>
            <a:ext cx="2098548" cy="365760"/>
          </a:xfrm>
          <a:prstGeom prst="roundRect">
            <a:avLst>
              <a:gd name="adj" fmla="val 50000"/>
            </a:avLst>
          </a:prstGeom>
          <a:solidFill>
            <a:srgbClr val="C8102E"/>
          </a:solidFill>
          <a:ln>
            <a:noFill/>
          </a:ln>
        </p:spPr>
        <p:txBody>
          <a:bodyPr rtlCol="0" anchor="ctr" lIns="36576" rIns="36576" tIns="0" bIns="0" wrap="square"/>
          <a:lstStyle/>
          <a:p>
            <a:pPr algn="ctr" rtl="1"/>
            <a:r>
              <a:rPr sz="1300" b="1" i="0" lang="ar-AE" altLang="en-US">
                <a:solidFill>
                  <a:srgbClr val="FFFFFF"/>
                </a:solidFill>
                <a:latin typeface="Arial"/>
                <a:cs typeface="Arial"/>
              </a:rPr>
              <a:t>تقويم الناتج الثالث</a:t>
            </a:r>
          </a:p>
        </p:txBody>
      </p:sp>
      <p:sp>
        <p:nvSpPr>
          <p:cNvPr id="22" name="TextBox 21"/>
          <p:cNvSpPr txBox="1"/>
          <p:nvPr/>
        </p:nvSpPr>
        <p:spPr>
          <a:xfrm>
            <a:off x="2606040" y="1280160"/>
            <a:ext cx="7045452"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مجلس الخبراء: مدينة تقطع غاباتها!</a:t>
            </a:r>
          </a:p>
        </p:txBody>
      </p:sp>
      <p:sp>
        <p:nvSpPr>
          <p:cNvPr id="23" name="Rounded Rectangle 22"/>
          <p:cNvSpPr/>
          <p:nvPr/>
        </p:nvSpPr>
        <p:spPr>
          <a:xfrm>
            <a:off x="4160520" y="1901952"/>
            <a:ext cx="7680960" cy="841248"/>
          </a:xfrm>
          <a:prstGeom prst="roundRect">
            <a:avLst>
              <a:gd name="adj" fmla="val 13043"/>
            </a:avLst>
          </a:prstGeom>
          <a:solidFill>
            <a:srgbClr val="FDECEC"/>
          </a:solidFill>
          <a:ln w="12700">
            <a:solidFill>
              <a:srgbClr val="F2B8B8"/>
            </a:solidFill>
          </a:ln>
        </p:spPr>
        <p:txBody>
          <a:bodyPr rtlCol="0" anchor="ctr" lIns="137160" rIns="137160" wrap="square"/>
          <a:lstStyle/>
          <a:p>
            <a:pPr algn="r" rtl="1"/>
            <a:r>
              <a:rPr sz="1550" b="1" i="0" lang="ar-AE" altLang="en-US">
                <a:solidFill>
                  <a:srgbClr val="C8102E"/>
                </a:solidFill>
                <a:latin typeface="Arial"/>
                <a:cs typeface="Arial"/>
              </a:rPr>
              <a:t>الموقف: </a:t>
            </a:r>
            <a:r>
              <a:rPr sz="1550" b="1" i="0" lang="ar-AE" altLang="en-US">
                <a:solidFill>
                  <a:srgbClr val="102A43"/>
                </a:solidFill>
                <a:latin typeface="Arial"/>
                <a:cs typeface="Arial"/>
              </a:rPr>
              <a:t>قرّرت مدينة قطع جزء كبير من غاباتها وبناء محطة كهرباء تعمل بحرق الفحم.</a:t>
            </a:r>
          </a:p>
        </p:txBody>
      </p:sp>
      <p:sp>
        <p:nvSpPr>
          <p:cNvPr id="24" name="Rounded Rectangle 23"/>
          <p:cNvSpPr/>
          <p:nvPr/>
        </p:nvSpPr>
        <p:spPr>
          <a:xfrm>
            <a:off x="4160520" y="2852928"/>
            <a:ext cx="7680960" cy="493776"/>
          </a:xfrm>
          <a:prstGeom prst="roundRect">
            <a:avLst>
              <a:gd name="adj" fmla="val 22222"/>
            </a:avLst>
          </a:prstGeom>
          <a:solidFill>
            <a:srgbClr val="FFFFFF"/>
          </a:solidFill>
          <a:ln w="12700">
            <a:solidFill>
              <a:srgbClr val="D5DDE8"/>
            </a:solidFill>
          </a:ln>
        </p:spPr>
        <p:txBody>
          <a:bodyPr rtlCol="0" anchor="ctr" lIns="54864" rIns="54864" tIns="27432" bIns="27432"/>
          <a:lstStyle/>
          <a:p>
            <a:pPr algn="ctr"/>
          </a:p>
        </p:txBody>
      </p:sp>
      <p:sp>
        <p:nvSpPr>
          <p:cNvPr id="25" name="TextBox 24"/>
          <p:cNvSpPr txBox="1"/>
          <p:nvPr/>
        </p:nvSpPr>
        <p:spPr>
          <a:xfrm>
            <a:off x="11475720" y="2962656"/>
            <a:ext cx="274320" cy="274320"/>
          </a:xfrm>
          <a:prstGeom prst="rect">
            <a:avLst/>
          </a:prstGeom>
          <a:noFill/>
        </p:spPr>
        <p:txBody>
          <a:bodyPr wrap="square" lIns="0" rIns="0" tIns="0" bIns="0" anchor="ctr"/>
          <a:lstStyle/>
          <a:p>
            <a:pPr algn="ctr"/>
            <a:r>
              <a:rPr sz="1500" b="1" i="0" lang="ar-AE" altLang="en-US">
                <a:solidFill>
                  <a:srgbClr val="2E9E5B"/>
                </a:solidFill>
                <a:latin typeface="Arial"/>
                <a:cs typeface="Arial"/>
              </a:rPr>
              <a:t>●</a:t>
            </a:r>
          </a:p>
        </p:txBody>
      </p:sp>
      <p:sp>
        <p:nvSpPr>
          <p:cNvPr id="26" name="TextBox 25"/>
          <p:cNvSpPr txBox="1"/>
          <p:nvPr/>
        </p:nvSpPr>
        <p:spPr>
          <a:xfrm>
            <a:off x="4251960" y="2852928"/>
            <a:ext cx="7132320" cy="493776"/>
          </a:xfrm>
          <a:prstGeom prst="rect">
            <a:avLst/>
          </a:prstGeom>
          <a:noFill/>
        </p:spPr>
        <p:txBody>
          <a:bodyPr wrap="square" lIns="73152" rIns="73152" tIns="36576" bIns="36576" anchor="ctr"/>
          <a:lstStyle/>
          <a:p>
            <a:pPr algn="r" rtl="1"/>
            <a:r>
              <a:rPr sz="1450" b="1" i="0" lang="ar-AE" altLang="en-US">
                <a:solidFill>
                  <a:srgbClr val="102A43"/>
                </a:solidFill>
                <a:latin typeface="Arial"/>
                <a:cs typeface="Arial"/>
              </a:rPr>
              <a:t>حدّدوا عمليتين من دورة الكربون ستتأثّران.</a:t>
            </a:r>
          </a:p>
        </p:txBody>
      </p:sp>
      <p:sp>
        <p:nvSpPr>
          <p:cNvPr id="27" name="Rounded Rectangle 26"/>
          <p:cNvSpPr/>
          <p:nvPr/>
        </p:nvSpPr>
        <p:spPr>
          <a:xfrm>
            <a:off x="4160520" y="3419856"/>
            <a:ext cx="7680960" cy="493776"/>
          </a:xfrm>
          <a:prstGeom prst="roundRect">
            <a:avLst>
              <a:gd name="adj" fmla="val 22222"/>
            </a:avLst>
          </a:prstGeom>
          <a:solidFill>
            <a:srgbClr val="FFFFFF"/>
          </a:solidFill>
          <a:ln w="12700">
            <a:solidFill>
              <a:srgbClr val="D5DDE8"/>
            </a:solidFill>
          </a:ln>
        </p:spPr>
        <p:txBody>
          <a:bodyPr rtlCol="0" anchor="ctr" lIns="54864" rIns="54864" tIns="27432" bIns="27432"/>
          <a:lstStyle/>
          <a:p>
            <a:pPr algn="ctr"/>
          </a:p>
        </p:txBody>
      </p:sp>
      <p:sp>
        <p:nvSpPr>
          <p:cNvPr id="28" name="TextBox 27"/>
          <p:cNvSpPr txBox="1"/>
          <p:nvPr/>
        </p:nvSpPr>
        <p:spPr>
          <a:xfrm>
            <a:off x="11475720" y="3529584"/>
            <a:ext cx="274320" cy="274320"/>
          </a:xfrm>
          <a:prstGeom prst="rect">
            <a:avLst/>
          </a:prstGeom>
          <a:noFill/>
        </p:spPr>
        <p:txBody>
          <a:bodyPr wrap="square" lIns="0" rIns="0" tIns="0" bIns="0" anchor="ctr"/>
          <a:lstStyle/>
          <a:p>
            <a:pPr algn="ctr"/>
            <a:r>
              <a:rPr sz="1500" b="1" i="0" lang="ar-AE" altLang="en-US">
                <a:solidFill>
                  <a:srgbClr val="E0A21B"/>
                </a:solidFill>
                <a:latin typeface="Arial"/>
                <a:cs typeface="Arial"/>
              </a:rPr>
              <a:t>▲</a:t>
            </a:r>
          </a:p>
        </p:txBody>
      </p:sp>
      <p:sp>
        <p:nvSpPr>
          <p:cNvPr id="29" name="TextBox 28"/>
          <p:cNvSpPr txBox="1"/>
          <p:nvPr/>
        </p:nvSpPr>
        <p:spPr>
          <a:xfrm>
            <a:off x="4251960" y="3419856"/>
            <a:ext cx="7132320" cy="493776"/>
          </a:xfrm>
          <a:prstGeom prst="rect">
            <a:avLst/>
          </a:prstGeom>
          <a:noFill/>
        </p:spPr>
        <p:txBody>
          <a:bodyPr wrap="square" lIns="73152" rIns="73152" tIns="36576" bIns="36576" anchor="ctr"/>
          <a:lstStyle/>
          <a:p>
            <a:pPr algn="r" rtl="1"/>
            <a:r>
              <a:rPr sz="1450" b="1" i="0" lang="ar-AE" altLang="en-US">
                <a:solidFill>
                  <a:srgbClr val="102A43"/>
                </a:solidFill>
                <a:latin typeface="Arial"/>
                <a:cs typeface="Arial"/>
              </a:rPr>
              <a:t>توقّعوا أثر ذلك في تركيز CO</a:t>
            </a:r>
            <a:r>
              <a:rPr sz="1450" b="1" i="0" lang="ar-AE" altLang="en-US" baseline="-25000">
                <a:solidFill>
                  <a:srgbClr val="102A43"/>
                </a:solidFill>
                <a:latin typeface="Arial"/>
                <a:cs typeface="Arial"/>
              </a:rPr>
              <a:t>2</a:t>
            </a:r>
            <a:r>
              <a:rPr sz="1450" b="1" i="0" lang="ar-AE" altLang="en-US">
                <a:solidFill>
                  <a:srgbClr val="102A43"/>
                </a:solidFill>
                <a:latin typeface="Arial"/>
                <a:cs typeface="Arial"/>
              </a:rPr>
              <a:t> في الغلاف الجوي، وفسّروا.</a:t>
            </a:r>
          </a:p>
        </p:txBody>
      </p:sp>
      <p:sp>
        <p:nvSpPr>
          <p:cNvPr id="30" name="Rounded Rectangle 29"/>
          <p:cNvSpPr/>
          <p:nvPr/>
        </p:nvSpPr>
        <p:spPr>
          <a:xfrm>
            <a:off x="4160520" y="3986784"/>
            <a:ext cx="7680960" cy="493776"/>
          </a:xfrm>
          <a:prstGeom prst="roundRect">
            <a:avLst>
              <a:gd name="adj" fmla="val 22222"/>
            </a:avLst>
          </a:prstGeom>
          <a:solidFill>
            <a:srgbClr val="FFFFFF"/>
          </a:solidFill>
          <a:ln w="12700">
            <a:solidFill>
              <a:srgbClr val="D5DDE8"/>
            </a:solidFill>
          </a:ln>
        </p:spPr>
        <p:txBody>
          <a:bodyPr rtlCol="0" anchor="ctr" lIns="54864" rIns="54864" tIns="27432" bIns="27432"/>
          <a:lstStyle/>
          <a:p>
            <a:pPr algn="ctr"/>
          </a:p>
        </p:txBody>
      </p:sp>
      <p:sp>
        <p:nvSpPr>
          <p:cNvPr id="31" name="TextBox 30"/>
          <p:cNvSpPr txBox="1"/>
          <p:nvPr/>
        </p:nvSpPr>
        <p:spPr>
          <a:xfrm>
            <a:off x="11475720" y="4096512"/>
            <a:ext cx="274320" cy="274320"/>
          </a:xfrm>
          <a:prstGeom prst="rect">
            <a:avLst/>
          </a:prstGeom>
          <a:noFill/>
        </p:spPr>
        <p:txBody>
          <a:bodyPr wrap="square" lIns="0" rIns="0" tIns="0" bIns="0" anchor="ctr"/>
          <a:lstStyle/>
          <a:p>
            <a:pPr algn="ctr"/>
            <a:r>
              <a:rPr sz="1500" b="1" i="0" lang="ar-AE" altLang="en-US">
                <a:solidFill>
                  <a:srgbClr val="C8102E"/>
                </a:solidFill>
                <a:latin typeface="Arial"/>
                <a:cs typeface="Arial"/>
              </a:rPr>
              <a:t>■</a:t>
            </a:r>
          </a:p>
        </p:txBody>
      </p:sp>
      <p:sp>
        <p:nvSpPr>
          <p:cNvPr id="32" name="TextBox 31"/>
          <p:cNvSpPr txBox="1"/>
          <p:nvPr/>
        </p:nvSpPr>
        <p:spPr>
          <a:xfrm>
            <a:off x="4251960" y="3986784"/>
            <a:ext cx="7132320" cy="493776"/>
          </a:xfrm>
          <a:prstGeom prst="rect">
            <a:avLst/>
          </a:prstGeom>
          <a:noFill/>
        </p:spPr>
        <p:txBody>
          <a:bodyPr wrap="square" lIns="73152" rIns="73152" tIns="36576" bIns="36576" anchor="ctr"/>
          <a:lstStyle/>
          <a:p>
            <a:pPr algn="r" rtl="1"/>
            <a:r>
              <a:rPr sz="1450" b="1" i="0" lang="ar-AE" altLang="en-US">
                <a:solidFill>
                  <a:srgbClr val="102A43"/>
                </a:solidFill>
                <a:latin typeface="Arial"/>
                <a:cs typeface="Arial"/>
              </a:rPr>
              <a:t>اقترحوا حلّين مستدامين مستفيدين من تجارب الإمارات.</a:t>
            </a:r>
          </a:p>
        </p:txBody>
      </p:sp>
      <p:sp>
        <p:nvSpPr>
          <p:cNvPr id="33" name="Rounded Rectangle 32"/>
          <p:cNvSpPr/>
          <p:nvPr/>
        </p:nvSpPr>
        <p:spPr>
          <a:xfrm>
            <a:off x="4160520" y="4572000"/>
            <a:ext cx="7680960" cy="932688"/>
          </a:xfrm>
          <a:prstGeom prst="roundRect">
            <a:avLst>
              <a:gd name="adj" fmla="val 9803"/>
            </a:avLst>
          </a:prstGeom>
          <a:solidFill>
            <a:srgbClr val="EAF7EE"/>
          </a:solidFill>
          <a:ln w="19050">
            <a:solidFill>
              <a:srgbClr val="2E9E5B"/>
            </a:solidFill>
          </a:ln>
        </p:spPr>
        <p:txBody>
          <a:bodyPr rtlCol="0" anchor="ctr" lIns="109728" rIns="109728" tIns="54864" bIns="54864" wrap="square"/>
          <a:lstStyle/>
          <a:p>
            <a:pPr algn="r" rtl="1"/>
            <a:r>
              <a:rPr sz="1300" b="1" i="0" lang="ar-AE" altLang="en-US">
                <a:solidFill>
                  <a:srgbClr val="1B4D2E"/>
                </a:solidFill>
                <a:latin typeface="Arial"/>
                <a:cs typeface="Arial"/>
              </a:rPr>
              <a:t>إجابة نموذجية: </a:t>
            </a:r>
            <a:r>
              <a:rPr sz="1250" b="1" i="0" lang="ar-AE" altLang="en-US">
                <a:solidFill>
                  <a:srgbClr val="1B4D2E"/>
                </a:solidFill>
                <a:latin typeface="Arial"/>
                <a:cs typeface="Arial"/>
              </a:rPr>
              <a:t>يقلّ البناء الضوئي ويزداد الاحتراق، فيرتفع تركيز CO</a:t>
            </a:r>
            <a:r>
              <a:rPr sz="1250" b="1" i="0" lang="ar-AE" altLang="en-US" baseline="-25000">
                <a:solidFill>
                  <a:srgbClr val="1B4D2E"/>
                </a:solidFill>
                <a:latin typeface="Arial"/>
                <a:cs typeface="Arial"/>
              </a:rPr>
              <a:t>2</a:t>
            </a:r>
            <a:r>
              <a:rPr sz="1250" b="1" i="0" lang="ar-AE" altLang="en-US">
                <a:solidFill>
                  <a:srgbClr val="1B4D2E"/>
                </a:solidFill>
                <a:latin typeface="Arial"/>
                <a:cs typeface="Arial"/>
              </a:rPr>
              <a:t> ويزداد الاحترار. الحلول: زراعة الأشجار وأشجار القرم، والتحوّل إلى الطاقة الشمسية والنظيفة.</a:t>
            </a:r>
          </a:p>
        </p:txBody>
      </p:sp>
      <p:sp>
        <p:nvSpPr>
          <p:cNvPr id="34" name="Rounded Rectangle 33"/>
          <p:cNvSpPr/>
          <p:nvPr/>
        </p:nvSpPr>
        <p:spPr>
          <a:xfrm>
            <a:off x="2697480" y="5074920"/>
            <a:ext cx="1371600" cy="384048"/>
          </a:xfrm>
          <a:prstGeom prst="roundRect">
            <a:avLst>
              <a:gd name="adj" fmla="val 47619"/>
            </a:avLst>
          </a:prstGeom>
          <a:solidFill>
            <a:srgbClr val="C9A96A"/>
          </a:solidFill>
          <a:ln>
            <a:noFill/>
          </a:ln>
          <a:effectLst>
            <a:outerShdw blurRad="76200" dist="31750" dir="5400000" algn="t" rotWithShape="0">
              <a:srgbClr val="1E2B3C">
                <a:alpha val="22000"/>
              </a:srgbClr>
            </a:outerShdw>
          </a:effectLst>
        </p:spPr>
        <p:txBody>
          <a:bodyPr rtlCol="0" anchor="ctr" lIns="36576" rIns="36576" tIns="0" bIns="0" wrap="square"/>
          <a:lstStyle/>
          <a:p>
            <a:pPr algn="ctr" rtl="1"/>
            <a:r>
              <a:rPr sz="1150" b="1" i="0" lang="ar-AE" altLang="en-US">
                <a:solidFill>
                  <a:srgbClr val="102A43"/>
                </a:solidFill>
                <a:latin typeface="Arial"/>
                <a:cs typeface="Arial"/>
              </a:rPr>
              <a:t>◄ </a:t>
            </a:r>
            <a:r>
              <a:rPr sz="1150" b="1" i="0" lang="ar-AE" altLang="en-US">
                <a:solidFill>
                  <a:srgbClr val="102A43"/>
                </a:solidFill>
                <a:latin typeface="Arial"/>
                <a:cs typeface="Arial"/>
              </a:rPr>
              <a:t>نموذج إجابة</a:t>
            </a:r>
          </a:p>
        </p:txBody>
      </p:sp>
      <p:pic>
        <p:nvPicPr>
          <p:cNvPr id="35" name="مؤقت 3 دقائق">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715768" y="1920240"/>
            <a:ext cx="1325880" cy="1325880"/>
          </a:xfrm>
          <a:prstGeom prst="rect">
            <a:avLst/>
          </a:prstGeom>
        </p:spPr>
      </p:pic>
      <p:sp>
        <p:nvSpPr>
          <p:cNvPr id="36" name="Oval 35"/>
          <p:cNvSpPr/>
          <p:nvPr/>
        </p:nvSpPr>
        <p:spPr>
          <a:xfrm>
            <a:off x="3017520" y="3429000"/>
            <a:ext cx="731520" cy="731520"/>
          </a:xfrm>
          <a:prstGeom prst="ellipse">
            <a:avLst/>
          </a:prstGeom>
          <a:solidFill>
            <a:srgbClr val="2E7D32"/>
          </a:solidFill>
          <a:ln>
            <a:noFill/>
          </a:ln>
        </p:spPr>
        <p:txBody>
          <a:bodyPr rtlCol="0" anchor="ctr" lIns="54864" rIns="54864" tIns="27432" bIns="27432"/>
          <a:lstStyle/>
          <a:p>
            <a:pPr algn="ctr"/>
          </a:p>
        </p:txBody>
      </p:sp>
      <p:pic>
        <p:nvPicPr>
          <p:cNvPr id="37" name="Picture 36" descr="comments_w.png"/>
          <p:cNvPicPr>
            <a:picLocks noChangeAspect="1"/>
          </p:cNvPicPr>
          <p:nvPr/>
        </p:nvPicPr>
        <p:blipFill>
          <a:blip r:embed="rId6"/>
          <a:stretch>
            <a:fillRect/>
          </a:stretch>
        </p:blipFill>
        <p:spPr>
          <a:xfrm>
            <a:off x="3178454" y="3589934"/>
            <a:ext cx="409651" cy="409651"/>
          </a:xfrm>
          <a:prstGeom prst="rect">
            <a:avLst/>
          </a:prstGeom>
        </p:spPr>
      </p:pic>
      <p:sp>
        <p:nvSpPr>
          <p:cNvPr id="38" name="TextBox 37"/>
          <p:cNvSpPr txBox="1"/>
          <p:nvPr/>
        </p:nvSpPr>
        <p:spPr>
          <a:xfrm>
            <a:off x="2651760" y="4206240"/>
            <a:ext cx="1463040" cy="731520"/>
          </a:xfrm>
          <a:prstGeom prst="rect">
            <a:avLst/>
          </a:prstGeom>
          <a:noFill/>
        </p:spPr>
        <p:txBody>
          <a:bodyPr wrap="square" lIns="73152" rIns="73152" tIns="36576" bIns="36576" anchor="ctr"/>
          <a:lstStyle/>
          <a:p>
            <a:pPr algn="ctr" rtl="1"/>
            <a:r>
              <a:rPr sz="1150" b="1" i="0" lang="ar-AE" altLang="en-US">
                <a:solidFill>
                  <a:srgbClr val="5A687D"/>
                </a:solidFill>
                <a:latin typeface="Arial"/>
                <a:cs typeface="Arial"/>
              </a:rPr>
              <a:t>تناقشوا… ثم نختار من يعرض</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4"/>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3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5"/>
                                        </p:tgtEl>
                                      </p:cBhvr>
                                    </p:cmd>
                                  </p:childTnLst>
                                </p:cTn>
                              </p:par>
                            </p:childTnLst>
                          </p:cTn>
                        </p:par>
                      </p:childTnLst>
                    </p:cTn>
                  </p:par>
                </p:childTnLst>
              </p:cTn>
              <p:nextCondLst>
                <p:cond evt="onNext" delay="0">
                  <p:tgtEl>
                    <p:sldTgt/>
                  </p:tgtEl>
                </p:cond>
              </p:nextCondLst>
            </p:seq>
            <p:video>
              <p:cMediaNode vol="80000">
                <p:cTn id="13" fill="hold" display="0">
                  <p:stCondLst>
                    <p:cond delay="indefinite"/>
                  </p:stCondLst>
                </p:cTn>
                <p:tgtEl>
                  <p:spTgt spid="35"/>
                </p:tgtEl>
              </p:cMediaNode>
            </p:video>
          </p:childTnLst>
        </p:cTn>
      </p:par>
    </p:tnLst>
    <p:bldLst>
      <p:bldP spid="33"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8" name="Rounded Rectangle 17"/>
          <p:cNvSpPr/>
          <p:nvPr/>
        </p:nvSpPr>
        <p:spPr>
          <a:xfrm>
            <a:off x="438150" y="4400550"/>
            <a:ext cx="1590675" cy="276225"/>
          </a:xfrm>
          <a:prstGeom prst="roundRect">
            <a:avLst>
              <a:gd name="adj" fmla="val 16551"/>
            </a:avLst>
          </a:prstGeom>
          <a:noFill/>
          <a:ln w="28575">
            <a:solidFill>
              <a:srgbClr val="C8102E"/>
            </a:solidFill>
          </a:ln>
        </p:spPr>
        <p:txBody>
          <a:bodyPr rtlCol="0" anchor="ctr" lIns="54864" rIns="54864" tIns="27432" bIns="27432"/>
          <a:lstStyle/>
          <a:p>
            <a:pPr algn="ctr"/>
          </a:p>
        </p:txBody>
      </p:sp>
      <p:sp>
        <p:nvSpPr>
          <p:cNvPr id="19" name="Left Arrow 18"/>
          <p:cNvSpPr/>
          <p:nvPr/>
        </p:nvSpPr>
        <p:spPr>
          <a:xfrm>
            <a:off x="2047875" y="4452937"/>
            <a:ext cx="247649" cy="171450"/>
          </a:xfrm>
          <a:prstGeom prst="leftArrow">
            <a:avLst/>
          </a:prstGeom>
          <a:solidFill>
            <a:srgbClr val="C8102E"/>
          </a:solidFill>
          <a:ln>
            <a:noFill/>
          </a:ln>
        </p:spPr>
        <p:txBody>
          <a:bodyPr rtlCol="0" anchor="ctr" lIns="54864" rIns="54864" tIns="27432" bIns="27432"/>
          <a:lstStyle/>
          <a:p>
            <a:pPr algn="ctr"/>
          </a:p>
        </p:txBody>
      </p:sp>
      <p:sp>
        <p:nvSpPr>
          <p:cNvPr id="20" name="Rounded Rectangle 19"/>
          <p:cNvSpPr/>
          <p:nvPr/>
        </p:nvSpPr>
        <p:spPr>
          <a:xfrm>
            <a:off x="10625328" y="1344168"/>
            <a:ext cx="1234440" cy="365760"/>
          </a:xfrm>
          <a:prstGeom prst="roundRect">
            <a:avLst>
              <a:gd name="adj" fmla="val 50000"/>
            </a:avLst>
          </a:prstGeom>
          <a:solidFill>
            <a:srgbClr val="2E7D32"/>
          </a:solidFill>
          <a:ln>
            <a:noFill/>
          </a:ln>
        </p:spPr>
        <p:txBody>
          <a:bodyPr rtlCol="0" anchor="ctr" lIns="36576" rIns="36576" tIns="0" bIns="0" wrap="square"/>
          <a:lstStyle/>
          <a:p>
            <a:pPr algn="ctr" rtl="1"/>
            <a:r>
              <a:rPr sz="1300" b="1" i="0" lang="ar-AE" altLang="en-US">
                <a:solidFill>
                  <a:srgbClr val="FFFFFF"/>
                </a:solidFill>
                <a:latin typeface="Arial"/>
                <a:cs typeface="Arial"/>
              </a:rPr>
              <a:t>الخلاصة</a:t>
            </a:r>
          </a:p>
        </p:txBody>
      </p:sp>
      <p:sp>
        <p:nvSpPr>
          <p:cNvPr id="21" name="TextBox 20"/>
          <p:cNvSpPr txBox="1"/>
          <p:nvPr/>
        </p:nvSpPr>
        <p:spPr>
          <a:xfrm>
            <a:off x="2606040" y="1280160"/>
            <a:ext cx="7909560"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خلاصة الحصة</a:t>
            </a:r>
          </a:p>
        </p:txBody>
      </p:sp>
      <p:pic>
        <p:nvPicPr>
          <p:cNvPr id="22" name="Picture 21" descr="fig18_carbon.png"/>
          <p:cNvPicPr>
            <a:picLocks noChangeAspect="1"/>
          </p:cNvPicPr>
          <p:nvPr/>
        </p:nvPicPr>
        <p:blipFill>
          <a:blip r:embed="rId3"/>
          <a:stretch>
            <a:fillRect/>
          </a:stretch>
        </p:blipFill>
        <p:spPr>
          <a:xfrm>
            <a:off x="2697480" y="1874519"/>
            <a:ext cx="3546134" cy="3611880"/>
          </a:xfrm>
          <a:prstGeom prst="rect">
            <a:avLst/>
          </a:prstGeom>
          <a:ln w="25400">
            <a:solidFill>
              <a:srgbClr val="C9A96A"/>
            </a:solidFill>
          </a:ln>
          <a:effectLst>
            <a:outerShdw blurRad="76200" dist="31750" dir="5400000" algn="t" rotWithShape="0">
              <a:srgbClr val="1E2B3C">
                <a:alpha val="22000"/>
              </a:srgbClr>
            </a:outerShdw>
          </a:effectLst>
        </p:spPr>
      </p:pic>
      <p:sp>
        <p:nvSpPr>
          <p:cNvPr id="23" name="Rounded Rectangle 22"/>
          <p:cNvSpPr/>
          <p:nvPr/>
        </p:nvSpPr>
        <p:spPr>
          <a:xfrm>
            <a:off x="6492240" y="1920240"/>
            <a:ext cx="5349240" cy="822960"/>
          </a:xfrm>
          <a:prstGeom prst="roundRect">
            <a:avLst>
              <a:gd name="adj" fmla="val 13333"/>
            </a:avLst>
          </a:prstGeom>
          <a:solidFill>
            <a:srgbClr val="FFFFFF"/>
          </a:solidFill>
          <a:ln w="25400">
            <a:solidFill>
              <a:srgbClr val="2E7D32"/>
            </a:solidFill>
          </a:ln>
        </p:spPr>
        <p:txBody>
          <a:bodyPr rtlCol="0" anchor="ctr" lIns="137160" rIns="137160" tIns="27432" bIns="27432" wrap="square"/>
          <a:lstStyle/>
          <a:p>
            <a:pPr algn="r" rtl="1"/>
            <a:r>
              <a:rPr sz="1400" b="1" i="0" lang="ar-AE" altLang="en-US">
                <a:solidFill>
                  <a:srgbClr val="102A43"/>
                </a:solidFill>
                <a:latin typeface="Arial"/>
                <a:cs typeface="Arial"/>
              </a:rPr>
              <a:t>تتداخل دورتا الكربون والأكسجين إلى حدٍّ كبير: البناء الضوئي والتنفس عمليتان متعاكستان.</a:t>
            </a:r>
          </a:p>
        </p:txBody>
      </p:sp>
      <p:sp>
        <p:nvSpPr>
          <p:cNvPr id="24" name="Rounded Rectangle 23"/>
          <p:cNvSpPr/>
          <p:nvPr/>
        </p:nvSpPr>
        <p:spPr>
          <a:xfrm>
            <a:off x="6492240" y="2852928"/>
            <a:ext cx="5349240" cy="822960"/>
          </a:xfrm>
          <a:prstGeom prst="roundRect">
            <a:avLst>
              <a:gd name="adj" fmla="val 13333"/>
            </a:avLst>
          </a:prstGeom>
          <a:solidFill>
            <a:srgbClr val="FFFFFF"/>
          </a:solidFill>
          <a:ln w="25400">
            <a:solidFill>
              <a:srgbClr val="6E4E33"/>
            </a:solidFill>
          </a:ln>
        </p:spPr>
        <p:txBody>
          <a:bodyPr rtlCol="0" anchor="ctr" lIns="137160" rIns="137160" tIns="27432" bIns="27432" wrap="square"/>
          <a:lstStyle/>
          <a:p>
            <a:pPr algn="r" rtl="1"/>
            <a:r>
              <a:rPr sz="1400" b="1" i="0" lang="ar-AE" altLang="en-US">
                <a:solidFill>
                  <a:srgbClr val="102A43"/>
                </a:solidFill>
                <a:latin typeface="Arial"/>
                <a:cs typeface="Arial"/>
              </a:rPr>
              <a:t>للكربون مسارات قصيرة المدى (الكائنات الحية) وأخرى طويلة المدى (الوقود الأحفوري والصخور الكلسية).</a:t>
            </a:r>
          </a:p>
        </p:txBody>
      </p:sp>
      <p:sp>
        <p:nvSpPr>
          <p:cNvPr id="25" name="Rounded Rectangle 24"/>
          <p:cNvSpPr/>
          <p:nvPr/>
        </p:nvSpPr>
        <p:spPr>
          <a:xfrm>
            <a:off x="6492240" y="3785616"/>
            <a:ext cx="5349240" cy="822960"/>
          </a:xfrm>
          <a:prstGeom prst="roundRect">
            <a:avLst>
              <a:gd name="adj" fmla="val 13333"/>
            </a:avLst>
          </a:prstGeom>
          <a:solidFill>
            <a:srgbClr val="FFFFFF"/>
          </a:solidFill>
          <a:ln w="25400">
            <a:solidFill>
              <a:srgbClr val="0F7C73"/>
            </a:solidFill>
          </a:ln>
        </p:spPr>
        <p:txBody>
          <a:bodyPr rtlCol="0" anchor="ctr" lIns="137160" rIns="137160" tIns="27432" bIns="27432" wrap="square"/>
          <a:lstStyle/>
          <a:p>
            <a:pPr algn="r" rtl="1"/>
            <a:r>
              <a:rPr sz="1400" b="1" i="0" lang="ar-AE" altLang="en-US">
                <a:solidFill>
                  <a:srgbClr val="102A43"/>
                </a:solidFill>
                <a:latin typeface="Arial"/>
                <a:cs typeface="Arial"/>
              </a:rPr>
              <a:t>حرق الوقود الأحفوري وإزالة الغابات يرفعان تركيز CO</a:t>
            </a:r>
            <a:r>
              <a:rPr sz="1400" b="1" i="0" lang="ar-AE" altLang="en-US" baseline="-25000">
                <a:solidFill>
                  <a:srgbClr val="102A43"/>
                </a:solidFill>
                <a:latin typeface="Arial"/>
                <a:cs typeface="Arial"/>
              </a:rPr>
              <a:t>2</a:t>
            </a:r>
            <a:r>
              <a:rPr sz="1400" b="1" i="0" lang="ar-AE" altLang="en-US">
                <a:solidFill>
                  <a:srgbClr val="102A43"/>
                </a:solidFill>
                <a:latin typeface="Arial"/>
                <a:cs typeface="Arial"/>
              </a:rPr>
              <a:t>… والحلول بين أيدينا.</a:t>
            </a:r>
          </a:p>
        </p:txBody>
      </p:sp>
      <p:sp>
        <p:nvSpPr>
          <p:cNvPr id="26" name="Rounded Rectangle 25"/>
          <p:cNvSpPr/>
          <p:nvPr/>
        </p:nvSpPr>
        <p:spPr>
          <a:xfrm>
            <a:off x="6492240" y="4754880"/>
            <a:ext cx="5349240" cy="749808"/>
          </a:xfrm>
          <a:prstGeom prst="roundRect">
            <a:avLst>
              <a:gd name="adj" fmla="val 14634"/>
            </a:avLst>
          </a:prstGeom>
          <a:solidFill>
            <a:srgbClr val="FBF5E8"/>
          </a:solidFill>
          <a:ln w="12700">
            <a:solidFill>
              <a:srgbClr val="E6D5B0"/>
            </a:solidFill>
          </a:ln>
        </p:spPr>
        <p:txBody>
          <a:bodyPr rtlCol="0" anchor="ctr" lIns="137160" rIns="137160" tIns="27432" bIns="27432" wrap="square"/>
          <a:lstStyle/>
          <a:p>
            <a:pPr algn="r" rtl="1"/>
            <a:r>
              <a:rPr sz="1350" b="1" i="0" lang="ar-AE" altLang="en-US">
                <a:solidFill>
                  <a:srgbClr val="C9A96A"/>
                </a:solidFill>
                <a:latin typeface="Arial"/>
                <a:cs typeface="Arial"/>
              </a:rPr>
              <a:t>غدًا: </a:t>
            </a:r>
            <a:r>
              <a:rPr sz="1350" b="1" i="0" lang="ar-AE" altLang="en-US">
                <a:solidFill>
                  <a:srgbClr val="102A43"/>
                </a:solidFill>
                <a:latin typeface="Arial"/>
                <a:cs typeface="Arial"/>
              </a:rPr>
              <a:t>لغز النيتروجين… 78% من الهواء، فلماذا قد تجوع النباتات إليه؟</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3" name="Rounded Rectangle 12"/>
          <p:cNvSpPr/>
          <p:nvPr/>
        </p:nvSpPr>
        <p:spPr>
          <a:xfrm>
            <a:off x="10241280" y="1344168"/>
            <a:ext cx="1618488" cy="365760"/>
          </a:xfrm>
          <a:prstGeom prst="roundRect">
            <a:avLst>
              <a:gd name="adj" fmla="val 50000"/>
            </a:avLst>
          </a:prstGeom>
          <a:solidFill>
            <a:srgbClr val="1C7B7D"/>
          </a:solidFill>
          <a:ln>
            <a:noFill/>
          </a:ln>
        </p:spPr>
        <p:txBody>
          <a:bodyPr rtlCol="0" anchor="ctr" lIns="36576" rIns="36576" tIns="0" bIns="0" wrap="square"/>
          <a:lstStyle/>
          <a:p>
            <a:pPr algn="ctr" rtl="1"/>
            <a:r>
              <a:rPr sz="1300" b="1" i="0" lang="ar-AE" altLang="en-US">
                <a:solidFill>
                  <a:srgbClr val="FFFFFF"/>
                </a:solidFill>
                <a:latin typeface="Arial"/>
                <a:cs typeface="Arial"/>
              </a:rPr>
              <a:t>التقويم الذاتي</a:t>
            </a:r>
          </a:p>
        </p:txBody>
      </p:sp>
      <p:sp>
        <p:nvSpPr>
          <p:cNvPr id="14" name="TextBox 13"/>
          <p:cNvSpPr txBox="1"/>
          <p:nvPr/>
        </p:nvSpPr>
        <p:spPr>
          <a:xfrm>
            <a:off x="5996178" y="1280160"/>
            <a:ext cx="4135374"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أين أنا من نواتج التعلم؟</a:t>
            </a:r>
          </a:p>
        </p:txBody>
      </p:sp>
      <p:pic>
        <p:nvPicPr>
          <p:cNvPr id="15" name="Picture 14" descr="badge_ahmed.png"/>
          <p:cNvPicPr>
            <a:picLocks noChangeAspect="1"/>
          </p:cNvPicPr>
          <p:nvPr/>
        </p:nvPicPr>
        <p:blipFill>
          <a:blip r:embed="rId3"/>
          <a:stretch>
            <a:fillRect/>
          </a:stretch>
        </p:blipFill>
        <p:spPr>
          <a:xfrm>
            <a:off x="2560320" y="1210464"/>
            <a:ext cx="566928" cy="600047"/>
          </a:xfrm>
          <a:prstGeom prst="rect">
            <a:avLst/>
          </a:prstGeom>
        </p:spPr>
      </p:pic>
      <p:sp>
        <p:nvSpPr>
          <p:cNvPr id="16" name="Rounded Rectangular Callout 15"/>
          <p:cNvSpPr/>
          <p:nvPr/>
        </p:nvSpPr>
        <p:spPr>
          <a:xfrm>
            <a:off x="3209544" y="1307592"/>
            <a:ext cx="2658618" cy="420624"/>
          </a:xfrm>
          <a:prstGeom prst="wedgeRoundRectCallout">
            <a:avLst>
              <a:gd name="adj1" fmla="val -54127"/>
              <a:gd name="adj2" fmla="val 18000"/>
              <a:gd name="adj3" fmla="val 16667"/>
            </a:avLst>
          </a:prstGeom>
          <a:solidFill>
            <a:srgbClr val="FFFFFF"/>
          </a:solidFill>
          <a:ln w="19050">
            <a:solidFill>
              <a:srgbClr val="1C2F5E"/>
            </a:solidFill>
          </a:ln>
        </p:spPr>
        <p:txBody>
          <a:bodyPr rtlCol="0" anchor="ctr" lIns="54864" rIns="54864" tIns="27432" bIns="27432"/>
          <a:lstStyle/>
          <a:p>
            <a:pPr algn="ctr"/>
          </a:p>
        </p:txBody>
      </p:sp>
      <p:sp>
        <p:nvSpPr>
          <p:cNvPr id="17" name="TextBox 16"/>
          <p:cNvSpPr txBox="1"/>
          <p:nvPr/>
        </p:nvSpPr>
        <p:spPr>
          <a:xfrm>
            <a:off x="3246120" y="1307592"/>
            <a:ext cx="2585465" cy="420624"/>
          </a:xfrm>
          <a:prstGeom prst="rect">
            <a:avLst/>
          </a:prstGeom>
          <a:noFill/>
        </p:spPr>
        <p:txBody>
          <a:bodyPr wrap="square" lIns="36576" rIns="36576" tIns="0" bIns="0" anchor="ctr"/>
          <a:lstStyle/>
          <a:p>
            <a:pPr algn="r" rtl="1"/>
            <a:r>
              <a:rPr sz="1150" b="1" i="0" lang="ar-AE" altLang="en-US">
                <a:solidFill>
                  <a:srgbClr val="1C2F5E"/>
                </a:solidFill>
                <a:latin typeface="Arial"/>
                <a:cs typeface="Arial"/>
              </a:rPr>
              <a:t>أحمد: </a:t>
            </a:r>
            <a:r>
              <a:rPr sz="1150" b="1" i="0" lang="ar-AE" altLang="en-US">
                <a:solidFill>
                  <a:srgbClr val="102A43"/>
                </a:solidFill>
                <a:latin typeface="Arial"/>
                <a:cs typeface="Arial"/>
              </a:rPr>
              <a:t>هل حقّقتُ أهدافي اليوم؟</a:t>
            </a:r>
          </a:p>
        </p:txBody>
      </p:sp>
      <p:sp>
        <p:nvSpPr>
          <p:cNvPr id="18" name="Oval 17"/>
          <p:cNvSpPr/>
          <p:nvPr/>
        </p:nvSpPr>
        <p:spPr>
          <a:xfrm>
            <a:off x="5824728" y="1938528"/>
            <a:ext cx="566928" cy="566928"/>
          </a:xfrm>
          <a:prstGeom prst="ellipse">
            <a:avLst/>
          </a:prstGeom>
          <a:solidFill>
            <a:srgbClr val="2E9E5B"/>
          </a:solidFill>
          <a:ln>
            <a:noFill/>
          </a:ln>
        </p:spPr>
        <p:txBody>
          <a:bodyPr rtlCol="0" anchor="ctr" lIns="54864" rIns="54864" tIns="27432" bIns="27432"/>
          <a:lstStyle/>
          <a:p>
            <a:pPr algn="ctr"/>
          </a:p>
        </p:txBody>
      </p:sp>
      <p:pic>
        <p:nvPicPr>
          <p:cNvPr id="19" name="Picture 18" descr="smile_w.png"/>
          <p:cNvPicPr>
            <a:picLocks noChangeAspect="1"/>
          </p:cNvPicPr>
          <p:nvPr/>
        </p:nvPicPr>
        <p:blipFill>
          <a:blip r:embed="rId4"/>
          <a:stretch>
            <a:fillRect/>
          </a:stretch>
        </p:blipFill>
        <p:spPr>
          <a:xfrm>
            <a:off x="5949452" y="2063252"/>
            <a:ext cx="317479" cy="317479"/>
          </a:xfrm>
          <a:prstGeom prst="rect">
            <a:avLst/>
          </a:prstGeom>
        </p:spPr>
      </p:pic>
      <p:sp>
        <p:nvSpPr>
          <p:cNvPr id="20" name="TextBox 19"/>
          <p:cNvSpPr txBox="1"/>
          <p:nvPr/>
        </p:nvSpPr>
        <p:spPr>
          <a:xfrm>
            <a:off x="5440680" y="2542032"/>
            <a:ext cx="1325880" cy="365760"/>
          </a:xfrm>
          <a:prstGeom prst="rect">
            <a:avLst/>
          </a:prstGeom>
          <a:noFill/>
        </p:spPr>
        <p:txBody>
          <a:bodyPr wrap="square" lIns="0" rIns="0" tIns="0" bIns="0" anchor="ctr"/>
          <a:lstStyle/>
          <a:p>
            <a:pPr algn="ctr" rtl="1"/>
            <a:r>
              <a:rPr sz="1250" b="1" i="0" lang="ar-AE" altLang="en-US">
                <a:solidFill>
                  <a:srgbClr val="2E9E5B"/>
                </a:solidFill>
                <a:latin typeface="Arial"/>
                <a:cs typeface="Arial"/>
              </a:rPr>
              <a:t>أتقنتُه</a:t>
            </a:r>
          </a:p>
        </p:txBody>
      </p:sp>
      <p:sp>
        <p:nvSpPr>
          <p:cNvPr id="21" name="TextBox 20"/>
          <p:cNvSpPr txBox="1"/>
          <p:nvPr/>
        </p:nvSpPr>
        <p:spPr>
          <a:xfrm>
            <a:off x="5440680" y="2907792"/>
            <a:ext cx="1325880" cy="274320"/>
          </a:xfrm>
          <a:prstGeom prst="rect">
            <a:avLst/>
          </a:prstGeom>
          <a:noFill/>
        </p:spPr>
        <p:txBody>
          <a:bodyPr wrap="square" lIns="0" rIns="0" tIns="0" bIns="0" anchor="ctr"/>
          <a:lstStyle/>
          <a:p>
            <a:pPr algn="ctr" rtl="1"/>
            <a:r>
              <a:rPr sz="1050" b="1" i="0" lang="ar-AE" altLang="en-US">
                <a:solidFill>
                  <a:srgbClr val="5A687D"/>
                </a:solidFill>
                <a:latin typeface="Arial"/>
                <a:cs typeface="Arial"/>
              </a:rPr>
              <a:t>إصبع واحد</a:t>
            </a:r>
          </a:p>
        </p:txBody>
      </p:sp>
      <p:sp>
        <p:nvSpPr>
          <p:cNvPr id="22" name="Oval 21"/>
          <p:cNvSpPr/>
          <p:nvPr/>
        </p:nvSpPr>
        <p:spPr>
          <a:xfrm>
            <a:off x="4407408" y="1938528"/>
            <a:ext cx="566928" cy="566928"/>
          </a:xfrm>
          <a:prstGeom prst="ellipse">
            <a:avLst/>
          </a:prstGeom>
          <a:solidFill>
            <a:srgbClr val="D9A21B"/>
          </a:solidFill>
          <a:ln>
            <a:noFill/>
          </a:ln>
        </p:spPr>
        <p:txBody>
          <a:bodyPr rtlCol="0" anchor="ctr" lIns="54864" rIns="54864" tIns="27432" bIns="27432"/>
          <a:lstStyle/>
          <a:p>
            <a:pPr algn="ctr"/>
          </a:p>
        </p:txBody>
      </p:sp>
      <p:pic>
        <p:nvPicPr>
          <p:cNvPr id="23" name="Picture 22" descr="meh_w.png"/>
          <p:cNvPicPr>
            <a:picLocks noChangeAspect="1"/>
          </p:cNvPicPr>
          <p:nvPr/>
        </p:nvPicPr>
        <p:blipFill>
          <a:blip r:embed="rId5"/>
          <a:stretch>
            <a:fillRect/>
          </a:stretch>
        </p:blipFill>
        <p:spPr>
          <a:xfrm>
            <a:off x="4532132" y="2063252"/>
            <a:ext cx="317479" cy="317479"/>
          </a:xfrm>
          <a:prstGeom prst="rect">
            <a:avLst/>
          </a:prstGeom>
        </p:spPr>
      </p:pic>
      <p:sp>
        <p:nvSpPr>
          <p:cNvPr id="24" name="TextBox 23"/>
          <p:cNvSpPr txBox="1"/>
          <p:nvPr/>
        </p:nvSpPr>
        <p:spPr>
          <a:xfrm>
            <a:off x="4023360" y="2542032"/>
            <a:ext cx="1325880" cy="365760"/>
          </a:xfrm>
          <a:prstGeom prst="rect">
            <a:avLst/>
          </a:prstGeom>
          <a:noFill/>
        </p:spPr>
        <p:txBody>
          <a:bodyPr wrap="square" lIns="0" rIns="0" tIns="0" bIns="0" anchor="ctr"/>
          <a:lstStyle/>
          <a:p>
            <a:pPr algn="ctr" rtl="1"/>
            <a:r>
              <a:rPr sz="1250" b="1" i="0" lang="ar-AE" altLang="en-US">
                <a:solidFill>
                  <a:srgbClr val="D9A21B"/>
                </a:solidFill>
                <a:latin typeface="Arial"/>
                <a:cs typeface="Arial"/>
              </a:rPr>
              <a:t>أحتاج إلى تدريب</a:t>
            </a:r>
          </a:p>
        </p:txBody>
      </p:sp>
      <p:sp>
        <p:nvSpPr>
          <p:cNvPr id="25" name="TextBox 24"/>
          <p:cNvSpPr txBox="1"/>
          <p:nvPr/>
        </p:nvSpPr>
        <p:spPr>
          <a:xfrm>
            <a:off x="4023360" y="2907792"/>
            <a:ext cx="1325880" cy="274320"/>
          </a:xfrm>
          <a:prstGeom prst="rect">
            <a:avLst/>
          </a:prstGeom>
          <a:noFill/>
        </p:spPr>
        <p:txBody>
          <a:bodyPr wrap="square" lIns="0" rIns="0" tIns="0" bIns="0" anchor="ctr"/>
          <a:lstStyle/>
          <a:p>
            <a:pPr algn="ctr" rtl="1"/>
            <a:r>
              <a:rPr sz="1050" b="1" i="0" lang="ar-AE" altLang="en-US">
                <a:solidFill>
                  <a:srgbClr val="5A687D"/>
                </a:solidFill>
                <a:latin typeface="Arial"/>
                <a:cs typeface="Arial"/>
              </a:rPr>
              <a:t>إصبعان</a:t>
            </a:r>
          </a:p>
        </p:txBody>
      </p:sp>
      <p:sp>
        <p:nvSpPr>
          <p:cNvPr id="26" name="Oval 25"/>
          <p:cNvSpPr/>
          <p:nvPr/>
        </p:nvSpPr>
        <p:spPr>
          <a:xfrm>
            <a:off x="2990088" y="1938528"/>
            <a:ext cx="566928" cy="566928"/>
          </a:xfrm>
          <a:prstGeom prst="ellipse">
            <a:avLst/>
          </a:prstGeom>
          <a:solidFill>
            <a:srgbClr val="C8102E"/>
          </a:solidFill>
          <a:ln>
            <a:noFill/>
          </a:ln>
        </p:spPr>
        <p:txBody>
          <a:bodyPr rtlCol="0" anchor="ctr" lIns="54864" rIns="54864" tIns="27432" bIns="27432"/>
          <a:lstStyle/>
          <a:p>
            <a:pPr algn="ctr"/>
          </a:p>
        </p:txBody>
      </p:sp>
      <p:pic>
        <p:nvPicPr>
          <p:cNvPr id="27" name="Picture 26" descr="frown_w.png"/>
          <p:cNvPicPr>
            <a:picLocks noChangeAspect="1"/>
          </p:cNvPicPr>
          <p:nvPr/>
        </p:nvPicPr>
        <p:blipFill>
          <a:blip r:embed="rId6"/>
          <a:stretch>
            <a:fillRect/>
          </a:stretch>
        </p:blipFill>
        <p:spPr>
          <a:xfrm>
            <a:off x="3114812" y="2063252"/>
            <a:ext cx="317479" cy="317479"/>
          </a:xfrm>
          <a:prstGeom prst="rect">
            <a:avLst/>
          </a:prstGeom>
        </p:spPr>
      </p:pic>
      <p:sp>
        <p:nvSpPr>
          <p:cNvPr id="28" name="TextBox 27"/>
          <p:cNvSpPr txBox="1"/>
          <p:nvPr/>
        </p:nvSpPr>
        <p:spPr>
          <a:xfrm>
            <a:off x="2606040" y="2542032"/>
            <a:ext cx="1325880" cy="365760"/>
          </a:xfrm>
          <a:prstGeom prst="rect">
            <a:avLst/>
          </a:prstGeom>
          <a:noFill/>
        </p:spPr>
        <p:txBody>
          <a:bodyPr wrap="square" lIns="0" rIns="0" tIns="0" bIns="0" anchor="ctr"/>
          <a:lstStyle/>
          <a:p>
            <a:pPr algn="ctr" rtl="1"/>
            <a:r>
              <a:rPr sz="1250" b="1" i="0" lang="ar-AE" altLang="en-US">
                <a:solidFill>
                  <a:srgbClr val="C8102E"/>
                </a:solidFill>
                <a:latin typeface="Arial"/>
                <a:cs typeface="Arial"/>
              </a:rPr>
              <a:t>أحتاج إلى مساعدة</a:t>
            </a:r>
          </a:p>
        </p:txBody>
      </p:sp>
      <p:sp>
        <p:nvSpPr>
          <p:cNvPr id="29" name="TextBox 28"/>
          <p:cNvSpPr txBox="1"/>
          <p:nvPr/>
        </p:nvSpPr>
        <p:spPr>
          <a:xfrm>
            <a:off x="2606040" y="2907792"/>
            <a:ext cx="1325880" cy="274320"/>
          </a:xfrm>
          <a:prstGeom prst="rect">
            <a:avLst/>
          </a:prstGeom>
          <a:noFill/>
        </p:spPr>
        <p:txBody>
          <a:bodyPr wrap="square" lIns="0" rIns="0" tIns="0" bIns="0" anchor="ctr"/>
          <a:lstStyle/>
          <a:p>
            <a:pPr algn="ctr" rtl="1"/>
            <a:r>
              <a:rPr sz="1050" b="1" i="0" lang="ar-AE" altLang="en-US">
                <a:solidFill>
                  <a:srgbClr val="5A687D"/>
                </a:solidFill>
                <a:latin typeface="Arial"/>
                <a:cs typeface="Arial"/>
              </a:rPr>
              <a:t>ثلاثة أصابع</a:t>
            </a:r>
          </a:p>
        </p:txBody>
      </p:sp>
      <p:sp>
        <p:nvSpPr>
          <p:cNvPr id="30" name="Rounded Rectangle 29"/>
          <p:cNvSpPr/>
          <p:nvPr/>
        </p:nvSpPr>
        <p:spPr>
          <a:xfrm>
            <a:off x="6903720" y="3310128"/>
            <a:ext cx="4937760" cy="621792"/>
          </a:xfrm>
          <a:prstGeom prst="roundRect">
            <a:avLst>
              <a:gd name="adj" fmla="val 14705"/>
            </a:avLst>
          </a:prstGeom>
          <a:solidFill>
            <a:srgbClr val="FFFFFF"/>
          </a:solidFill>
          <a:ln w="12700">
            <a:solidFill>
              <a:srgbClr val="D5DDE8"/>
            </a:solidFill>
          </a:ln>
        </p:spPr>
        <p:txBody>
          <a:bodyPr rtlCol="0" anchor="ctr" tIns="18288" bIns="18288" wrap="square"/>
          <a:lstStyle/>
          <a:p>
            <a:pPr algn="r" rtl="1"/>
            <a:r>
              <a:rPr sz="1300" b="1" i="0" lang="ar-AE" altLang="en-US">
                <a:solidFill>
                  <a:srgbClr val="2E7D32"/>
                </a:solidFill>
                <a:latin typeface="Arial"/>
                <a:cs typeface="Arial"/>
              </a:rPr>
              <a:t>1. </a:t>
            </a:r>
            <a:r>
              <a:rPr sz="1250" b="1" i="0" lang="ar-AE" altLang="en-US">
                <a:solidFill>
                  <a:srgbClr val="102A43"/>
                </a:solidFill>
                <a:latin typeface="Arial"/>
                <a:cs typeface="Arial"/>
              </a:rPr>
              <a:t>يوضّح دور البناء الضوئي والتنفس الخلوي في تدوير الكربون والأكسجين بين الأجزاء الحيوية وغير الحيوية.</a:t>
            </a:r>
          </a:p>
        </p:txBody>
      </p:sp>
      <p:sp>
        <p:nvSpPr>
          <p:cNvPr id="31" name="Rounded Rectangle 30"/>
          <p:cNvSpPr/>
          <p:nvPr/>
        </p:nvSpPr>
        <p:spPr>
          <a:xfrm>
            <a:off x="5897880" y="343814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2" name="Rounded Rectangle 31"/>
          <p:cNvSpPr/>
          <p:nvPr/>
        </p:nvSpPr>
        <p:spPr>
          <a:xfrm>
            <a:off x="4480560" y="343814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3" name="Rounded Rectangle 32"/>
          <p:cNvSpPr/>
          <p:nvPr/>
        </p:nvSpPr>
        <p:spPr>
          <a:xfrm>
            <a:off x="3063240" y="343814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4" name="Rounded Rectangle 33"/>
          <p:cNvSpPr/>
          <p:nvPr/>
        </p:nvSpPr>
        <p:spPr>
          <a:xfrm>
            <a:off x="6903720" y="4041648"/>
            <a:ext cx="4937760" cy="621792"/>
          </a:xfrm>
          <a:prstGeom prst="roundRect">
            <a:avLst>
              <a:gd name="adj" fmla="val 14705"/>
            </a:avLst>
          </a:prstGeom>
          <a:solidFill>
            <a:srgbClr val="FFFFFF"/>
          </a:solidFill>
          <a:ln w="12700">
            <a:solidFill>
              <a:srgbClr val="D5DDE8"/>
            </a:solidFill>
          </a:ln>
        </p:spPr>
        <p:txBody>
          <a:bodyPr rtlCol="0" anchor="ctr" tIns="18288" bIns="18288" wrap="square"/>
          <a:lstStyle/>
          <a:p>
            <a:pPr algn="r" rtl="1"/>
            <a:r>
              <a:rPr sz="1300" b="1" i="0" lang="ar-AE" altLang="en-US">
                <a:solidFill>
                  <a:srgbClr val="2E7D32"/>
                </a:solidFill>
                <a:latin typeface="Arial"/>
                <a:cs typeface="Arial"/>
              </a:rPr>
              <a:t>2. </a:t>
            </a:r>
            <a:r>
              <a:rPr sz="1250" b="1" i="0" lang="ar-AE" altLang="en-US">
                <a:solidFill>
                  <a:srgbClr val="102A43"/>
                </a:solidFill>
                <a:latin typeface="Arial"/>
                <a:cs typeface="Arial"/>
              </a:rPr>
              <a:t>يصف المسارات طويلة المدى للكربون: الوقود الأحفوري والصخور الكلسية.</a:t>
            </a:r>
          </a:p>
        </p:txBody>
      </p:sp>
      <p:sp>
        <p:nvSpPr>
          <p:cNvPr id="35" name="Rounded Rectangle 34"/>
          <p:cNvSpPr/>
          <p:nvPr/>
        </p:nvSpPr>
        <p:spPr>
          <a:xfrm>
            <a:off x="5897880" y="4169663"/>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6" name="Rounded Rectangle 35"/>
          <p:cNvSpPr/>
          <p:nvPr/>
        </p:nvSpPr>
        <p:spPr>
          <a:xfrm>
            <a:off x="4480560" y="4169663"/>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7" name="Rounded Rectangle 36"/>
          <p:cNvSpPr/>
          <p:nvPr/>
        </p:nvSpPr>
        <p:spPr>
          <a:xfrm>
            <a:off x="3063240" y="4169663"/>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38" name="Rounded Rectangle 37"/>
          <p:cNvSpPr/>
          <p:nvPr/>
        </p:nvSpPr>
        <p:spPr>
          <a:xfrm>
            <a:off x="6903720" y="4773168"/>
            <a:ext cx="4937760" cy="621792"/>
          </a:xfrm>
          <a:prstGeom prst="roundRect">
            <a:avLst>
              <a:gd name="adj" fmla="val 14705"/>
            </a:avLst>
          </a:prstGeom>
          <a:solidFill>
            <a:srgbClr val="FFFFFF"/>
          </a:solidFill>
          <a:ln w="12700">
            <a:solidFill>
              <a:srgbClr val="D5DDE8"/>
            </a:solidFill>
          </a:ln>
        </p:spPr>
        <p:txBody>
          <a:bodyPr rtlCol="0" anchor="ctr" tIns="18288" bIns="18288" wrap="square"/>
          <a:lstStyle/>
          <a:p>
            <a:pPr algn="r" rtl="1"/>
            <a:r>
              <a:rPr sz="1300" b="1" i="0" lang="ar-AE" altLang="en-US">
                <a:solidFill>
                  <a:srgbClr val="2E7D32"/>
                </a:solidFill>
                <a:latin typeface="Arial"/>
                <a:cs typeface="Arial"/>
              </a:rPr>
              <a:t>3. </a:t>
            </a:r>
            <a:r>
              <a:rPr sz="1250" b="1" i="0" lang="ar-AE" altLang="en-US">
                <a:solidFill>
                  <a:srgbClr val="102A43"/>
                </a:solidFill>
                <a:latin typeface="Arial"/>
                <a:cs typeface="Arial"/>
              </a:rPr>
              <a:t>يتنبّأ بأثر حرق الوقود الأحفوري وإزالة الغابات في دورة الكربون، ويقترح حلولًا.</a:t>
            </a:r>
          </a:p>
        </p:txBody>
      </p:sp>
      <p:sp>
        <p:nvSpPr>
          <p:cNvPr id="39" name="Rounded Rectangle 38"/>
          <p:cNvSpPr/>
          <p:nvPr/>
        </p:nvSpPr>
        <p:spPr>
          <a:xfrm>
            <a:off x="5897880" y="490118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40" name="Rounded Rectangle 39"/>
          <p:cNvSpPr/>
          <p:nvPr/>
        </p:nvSpPr>
        <p:spPr>
          <a:xfrm>
            <a:off x="4480560" y="490118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
        <p:nvSpPr>
          <p:cNvPr id="41" name="Rounded Rectangle 40"/>
          <p:cNvSpPr/>
          <p:nvPr/>
        </p:nvSpPr>
        <p:spPr>
          <a:xfrm>
            <a:off x="3063240" y="4901184"/>
            <a:ext cx="384048" cy="384048"/>
          </a:xfrm>
          <a:prstGeom prst="roundRect">
            <a:avLst>
              <a:gd name="adj" fmla="val 14285"/>
            </a:avLst>
          </a:prstGeom>
          <a:solidFill>
            <a:srgbClr val="FFFFFF"/>
          </a:solidFill>
          <a:ln w="19050">
            <a:solidFill>
              <a:srgbClr val="9AA8BA"/>
            </a:solidFill>
          </a:ln>
        </p:spPr>
        <p:txBody>
          <a:bodyPr rtlCol="0" anchor="ctr" lIns="54864" rIns="54864" tIns="27432" bIns="27432"/>
          <a:lstStyle/>
          <a:p>
            <a:pPr algn="ct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rtlCol="0" anchor="ctr" lIns="54864" rIns="54864" tIns="27432" bIns="27432"/>
          <a:lstStyle/>
          <a:p>
            <a:pPr algn="ct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rtlCol="0" anchor="ctr" lIns="54864" rIns="54864" tIns="27432" bIns="27432"/>
          <a:lstStyle/>
          <a:p>
            <a:pPr algn="ct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rtlCol="0" anchor="ctr" lIns="54864" rIns="54864" tIns="27432" bIns="27432"/>
          <a:lstStyle/>
          <a:p>
            <a:pPr algn="ctr"/>
          </a:p>
        </p:txBody>
      </p:sp>
      <p:sp>
        <p:nvSpPr>
          <p:cNvPr id="16" name="Rectangle 15"/>
          <p:cNvSpPr/>
          <p:nvPr/>
        </p:nvSpPr>
        <p:spPr>
          <a:xfrm>
            <a:off x="476250" y="4419600"/>
            <a:ext cx="1514475" cy="238125"/>
          </a:xfrm>
          <a:prstGeom prst="rect">
            <a:avLst/>
          </a:prstGeom>
          <a:solidFill>
            <a:srgbClr val="FFFFFF">
              <a:alpha val="58000"/>
            </a:srgbClr>
          </a:solidFill>
          <a:ln>
            <a:noFill/>
          </a:ln>
        </p:spPr>
        <p:txBody>
          <a:bodyPr rtlCol="0" anchor="ctr" lIns="54864" rIns="54864" tIns="27432" bIns="27432"/>
          <a:lstStyle/>
          <a:p>
            <a:pPr algn="ctr"/>
          </a:p>
        </p:txBody>
      </p:sp>
      <p:sp>
        <p:nvSpPr>
          <p:cNvPr id="17" name="Rectangle 16"/>
          <p:cNvSpPr/>
          <p:nvPr/>
        </p:nvSpPr>
        <p:spPr>
          <a:xfrm>
            <a:off x="342900" y="4676775"/>
            <a:ext cx="1819275" cy="314325"/>
          </a:xfrm>
          <a:prstGeom prst="rect">
            <a:avLst/>
          </a:prstGeom>
          <a:solidFill>
            <a:srgbClr val="FFFFFF">
              <a:alpha val="58000"/>
            </a:srgbClr>
          </a:solidFill>
          <a:ln>
            <a:noFill/>
          </a:ln>
        </p:spPr>
        <p:txBody>
          <a:bodyPr rtlCol="0" anchor="ctr" lIns="54864" rIns="54864" tIns="27432" bIns="27432"/>
          <a:lstStyle/>
          <a:p>
            <a:pPr algn="ctr"/>
          </a:p>
        </p:txBody>
      </p:sp>
      <p:sp>
        <p:nvSpPr>
          <p:cNvPr id="18" name="Rounded Rectangle 17"/>
          <p:cNvSpPr/>
          <p:nvPr/>
        </p:nvSpPr>
        <p:spPr>
          <a:xfrm>
            <a:off x="581025" y="4152900"/>
            <a:ext cx="1333500" cy="266700"/>
          </a:xfrm>
          <a:prstGeom prst="roundRect">
            <a:avLst>
              <a:gd name="adj" fmla="val 17142"/>
            </a:avLst>
          </a:prstGeom>
          <a:noFill/>
          <a:ln w="28575">
            <a:solidFill>
              <a:srgbClr val="C8102E"/>
            </a:solidFill>
          </a:ln>
        </p:spPr>
        <p:txBody>
          <a:bodyPr rtlCol="0" anchor="ctr" lIns="54864" rIns="54864" tIns="27432" bIns="27432"/>
          <a:lstStyle/>
          <a:p>
            <a:pPr algn="ctr"/>
          </a:p>
        </p:txBody>
      </p:sp>
      <p:sp>
        <p:nvSpPr>
          <p:cNvPr id="19" name="Left Arrow 18"/>
          <p:cNvSpPr/>
          <p:nvPr/>
        </p:nvSpPr>
        <p:spPr>
          <a:xfrm>
            <a:off x="1933575" y="4200525"/>
            <a:ext cx="247649" cy="171450"/>
          </a:xfrm>
          <a:prstGeom prst="leftArrow">
            <a:avLst/>
          </a:prstGeom>
          <a:solidFill>
            <a:srgbClr val="C8102E"/>
          </a:solidFill>
          <a:ln>
            <a:noFill/>
          </a:ln>
        </p:spPr>
        <p:txBody>
          <a:bodyPr rtlCol="0" anchor="ctr" lIns="54864" rIns="54864" tIns="27432" bIns="27432"/>
          <a:lstStyle/>
          <a:p>
            <a:pPr algn="ctr"/>
          </a:p>
        </p:txBody>
      </p:sp>
      <p:sp>
        <p:nvSpPr>
          <p:cNvPr id="20" name="Rounded Rectangle 19"/>
          <p:cNvSpPr/>
          <p:nvPr/>
        </p:nvSpPr>
        <p:spPr>
          <a:xfrm>
            <a:off x="10145268" y="1344168"/>
            <a:ext cx="1714500" cy="365760"/>
          </a:xfrm>
          <a:prstGeom prst="roundRect">
            <a:avLst>
              <a:gd name="adj" fmla="val 50000"/>
            </a:avLst>
          </a:prstGeom>
          <a:solidFill>
            <a:srgbClr val="C8102E"/>
          </a:solidFill>
          <a:ln>
            <a:noFill/>
          </a:ln>
        </p:spPr>
        <p:txBody>
          <a:bodyPr rtlCol="0" anchor="ctr" lIns="36576" rIns="36576" tIns="0" bIns="0" wrap="square"/>
          <a:lstStyle/>
          <a:p>
            <a:pPr algn="ctr" rtl="1"/>
            <a:r>
              <a:rPr sz="1300" b="1" i="0" lang="ar-AE" altLang="en-US">
                <a:solidFill>
                  <a:srgbClr val="FFFFFF"/>
                </a:solidFill>
                <a:latin typeface="Arial"/>
                <a:cs typeface="Arial"/>
              </a:rPr>
              <a:t>التقويم الختامي</a:t>
            </a:r>
          </a:p>
        </p:txBody>
      </p:sp>
      <p:sp>
        <p:nvSpPr>
          <p:cNvPr id="21" name="TextBox 20"/>
          <p:cNvSpPr txBox="1"/>
          <p:nvPr/>
        </p:nvSpPr>
        <p:spPr>
          <a:xfrm>
            <a:off x="2606040" y="1280160"/>
            <a:ext cx="7429500"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بطاقة الخروج</a:t>
            </a:r>
          </a:p>
        </p:txBody>
      </p:sp>
      <p:sp>
        <p:nvSpPr>
          <p:cNvPr id="22" name="Rounded Rectangle 21"/>
          <p:cNvSpPr/>
          <p:nvPr/>
        </p:nvSpPr>
        <p:spPr>
          <a:xfrm>
            <a:off x="4160520" y="1920240"/>
            <a:ext cx="7680960" cy="822960"/>
          </a:xfrm>
          <a:prstGeom prst="roundRect">
            <a:avLst>
              <a:gd name="adj" fmla="val 13333"/>
            </a:avLst>
          </a:prstGeom>
          <a:solidFill>
            <a:srgbClr val="FFFFFF"/>
          </a:solidFill>
          <a:ln w="12700">
            <a:solidFill>
              <a:srgbClr val="D5DDE8"/>
            </a:solidFill>
          </a:ln>
        </p:spPr>
        <p:txBody>
          <a:bodyPr rtlCol="0" anchor="ctr" lIns="54864" rIns="54864" tIns="27432" bIns="27432"/>
          <a:lstStyle/>
          <a:p>
            <a:pPr algn="ctr"/>
          </a:p>
        </p:txBody>
      </p:sp>
      <p:sp>
        <p:nvSpPr>
          <p:cNvPr id="23" name="TextBox 22"/>
          <p:cNvSpPr txBox="1"/>
          <p:nvPr/>
        </p:nvSpPr>
        <p:spPr>
          <a:xfrm>
            <a:off x="11430000" y="2194560"/>
            <a:ext cx="274320" cy="274320"/>
          </a:xfrm>
          <a:prstGeom prst="rect">
            <a:avLst/>
          </a:prstGeom>
          <a:noFill/>
        </p:spPr>
        <p:txBody>
          <a:bodyPr wrap="square" lIns="0" rIns="0" tIns="0" bIns="0" anchor="ctr"/>
          <a:lstStyle/>
          <a:p>
            <a:pPr algn="ctr"/>
            <a:r>
              <a:rPr sz="1500" b="1" i="0" lang="ar-AE" altLang="en-US">
                <a:solidFill>
                  <a:srgbClr val="2E9E5B"/>
                </a:solidFill>
                <a:latin typeface="Arial"/>
                <a:cs typeface="Arial"/>
              </a:rPr>
              <a:t>●</a:t>
            </a:r>
          </a:p>
        </p:txBody>
      </p:sp>
      <p:sp>
        <p:nvSpPr>
          <p:cNvPr id="24" name="TextBox 23"/>
          <p:cNvSpPr txBox="1"/>
          <p:nvPr/>
        </p:nvSpPr>
        <p:spPr>
          <a:xfrm>
            <a:off x="4251960" y="1920240"/>
            <a:ext cx="7132320" cy="822960"/>
          </a:xfrm>
          <a:prstGeom prst="rect">
            <a:avLst/>
          </a:prstGeom>
          <a:noFill/>
        </p:spPr>
        <p:txBody>
          <a:bodyPr wrap="square" lIns="73152" rIns="73152" tIns="36576" bIns="36576" anchor="ctr"/>
          <a:lstStyle/>
          <a:p>
            <a:pPr algn="r" rtl="1"/>
            <a:r>
              <a:rPr sz="1450" b="1" i="0" lang="ar-AE" altLang="en-US">
                <a:solidFill>
                  <a:srgbClr val="102A43"/>
                </a:solidFill>
                <a:latin typeface="Arial"/>
                <a:cs typeface="Arial"/>
              </a:rPr>
              <a:t>أكمل: تحوّل النباتات ثاني أكسيد الكربون والماء إلى ……………… في عملية ………………</a:t>
            </a:r>
          </a:p>
        </p:txBody>
      </p:sp>
      <p:sp>
        <p:nvSpPr>
          <p:cNvPr id="25" name="Rounded Rectangle 24"/>
          <p:cNvSpPr/>
          <p:nvPr/>
        </p:nvSpPr>
        <p:spPr>
          <a:xfrm>
            <a:off x="4160520" y="2852928"/>
            <a:ext cx="7680960" cy="822960"/>
          </a:xfrm>
          <a:prstGeom prst="roundRect">
            <a:avLst>
              <a:gd name="adj" fmla="val 13333"/>
            </a:avLst>
          </a:prstGeom>
          <a:solidFill>
            <a:srgbClr val="FFFFFF"/>
          </a:solidFill>
          <a:ln w="12700">
            <a:solidFill>
              <a:srgbClr val="D5DDE8"/>
            </a:solidFill>
          </a:ln>
        </p:spPr>
        <p:txBody>
          <a:bodyPr rtlCol="0" anchor="ctr" lIns="54864" rIns="54864" tIns="27432" bIns="27432"/>
          <a:lstStyle/>
          <a:p>
            <a:pPr algn="ctr"/>
          </a:p>
        </p:txBody>
      </p:sp>
      <p:sp>
        <p:nvSpPr>
          <p:cNvPr id="26" name="TextBox 25"/>
          <p:cNvSpPr txBox="1"/>
          <p:nvPr/>
        </p:nvSpPr>
        <p:spPr>
          <a:xfrm>
            <a:off x="11430000" y="3127248"/>
            <a:ext cx="274320" cy="274320"/>
          </a:xfrm>
          <a:prstGeom prst="rect">
            <a:avLst/>
          </a:prstGeom>
          <a:noFill/>
        </p:spPr>
        <p:txBody>
          <a:bodyPr wrap="square" lIns="0" rIns="0" tIns="0" bIns="0" anchor="ctr"/>
          <a:lstStyle/>
          <a:p>
            <a:pPr algn="ctr"/>
            <a:r>
              <a:rPr sz="1500" b="1" i="0" lang="ar-AE" altLang="en-US">
                <a:solidFill>
                  <a:srgbClr val="E0A21B"/>
                </a:solidFill>
                <a:latin typeface="Arial"/>
                <a:cs typeface="Arial"/>
              </a:rPr>
              <a:t>▲</a:t>
            </a:r>
          </a:p>
        </p:txBody>
      </p:sp>
      <p:sp>
        <p:nvSpPr>
          <p:cNvPr id="27" name="TextBox 26"/>
          <p:cNvSpPr txBox="1"/>
          <p:nvPr/>
        </p:nvSpPr>
        <p:spPr>
          <a:xfrm>
            <a:off x="4251960" y="2852928"/>
            <a:ext cx="7132320" cy="822960"/>
          </a:xfrm>
          <a:prstGeom prst="rect">
            <a:avLst/>
          </a:prstGeom>
          <a:noFill/>
        </p:spPr>
        <p:txBody>
          <a:bodyPr wrap="square" lIns="73152" rIns="73152" tIns="36576" bIns="36576" anchor="ctr"/>
          <a:lstStyle/>
          <a:p>
            <a:pPr algn="r" rtl="1"/>
            <a:r>
              <a:rPr sz="1450" b="1" i="0" lang="ar-AE" altLang="en-US">
                <a:solidFill>
                  <a:srgbClr val="102A43"/>
                </a:solidFill>
                <a:latin typeface="Arial"/>
                <a:cs typeface="Arial"/>
              </a:rPr>
              <a:t>سؤال بنمط TIMSS: أيّ مما يأتي مخزن </a:t>
            </a:r>
            <a:r>
              <a:rPr sz="1450" b="1" i="0" lang="ar-AE" altLang="en-US">
                <a:solidFill>
                  <a:srgbClr val="C8102E"/>
                </a:solidFill>
                <a:latin typeface="Arial"/>
                <a:cs typeface="Arial"/>
              </a:rPr>
              <a:t>طويل المدى</a:t>
            </a:r>
            <a:r>
              <a:rPr sz="1450" b="1" i="0" lang="ar-AE" altLang="en-US">
                <a:solidFill>
                  <a:srgbClr val="102A43"/>
                </a:solidFill>
                <a:latin typeface="Arial"/>
                <a:cs typeface="Arial"/>
              </a:rPr>
              <a:t> للكربون؟</a:t>
            </a:r>
          </a:p>
          <a:p>
            <a:pPr algn="r" rtl="1"/>
            <a:r>
              <a:rPr sz="1450" b="1" i="0" lang="ar-AE" altLang="en-US">
                <a:solidFill>
                  <a:srgbClr val="3E5570"/>
                </a:solidFill>
                <a:latin typeface="Arial"/>
                <a:cs typeface="Arial"/>
              </a:rPr>
              <a:t>(أ) الغلاف الجوي      (ب) أوراق النبات      (ج) الحجر الجيري      (د) جسم الحيوان</a:t>
            </a:r>
          </a:p>
        </p:txBody>
      </p:sp>
      <p:sp>
        <p:nvSpPr>
          <p:cNvPr id="28" name="Rounded Rectangle 27"/>
          <p:cNvSpPr/>
          <p:nvPr/>
        </p:nvSpPr>
        <p:spPr>
          <a:xfrm>
            <a:off x="4160520" y="3785616"/>
            <a:ext cx="7680960" cy="822960"/>
          </a:xfrm>
          <a:prstGeom prst="roundRect">
            <a:avLst>
              <a:gd name="adj" fmla="val 13333"/>
            </a:avLst>
          </a:prstGeom>
          <a:solidFill>
            <a:srgbClr val="FFFFFF"/>
          </a:solidFill>
          <a:ln w="12700">
            <a:solidFill>
              <a:srgbClr val="D5DDE8"/>
            </a:solidFill>
          </a:ln>
        </p:spPr>
        <p:txBody>
          <a:bodyPr rtlCol="0" anchor="ctr" lIns="54864" rIns="54864" tIns="27432" bIns="27432"/>
          <a:lstStyle/>
          <a:p>
            <a:pPr algn="ctr"/>
          </a:p>
        </p:txBody>
      </p:sp>
      <p:sp>
        <p:nvSpPr>
          <p:cNvPr id="29" name="TextBox 28"/>
          <p:cNvSpPr txBox="1"/>
          <p:nvPr/>
        </p:nvSpPr>
        <p:spPr>
          <a:xfrm>
            <a:off x="11430000" y="4059936"/>
            <a:ext cx="274320" cy="274320"/>
          </a:xfrm>
          <a:prstGeom prst="rect">
            <a:avLst/>
          </a:prstGeom>
          <a:noFill/>
        </p:spPr>
        <p:txBody>
          <a:bodyPr wrap="square" lIns="0" rIns="0" tIns="0" bIns="0" anchor="ctr"/>
          <a:lstStyle/>
          <a:p>
            <a:pPr algn="ctr"/>
            <a:r>
              <a:rPr sz="1500" b="1" i="0" lang="ar-AE" altLang="en-US">
                <a:solidFill>
                  <a:srgbClr val="C8102E"/>
                </a:solidFill>
                <a:latin typeface="Arial"/>
                <a:cs typeface="Arial"/>
              </a:rPr>
              <a:t>■</a:t>
            </a:r>
          </a:p>
        </p:txBody>
      </p:sp>
      <p:sp>
        <p:nvSpPr>
          <p:cNvPr id="30" name="TextBox 29"/>
          <p:cNvSpPr txBox="1"/>
          <p:nvPr/>
        </p:nvSpPr>
        <p:spPr>
          <a:xfrm>
            <a:off x="4251960" y="3785616"/>
            <a:ext cx="7132320" cy="822960"/>
          </a:xfrm>
          <a:prstGeom prst="rect">
            <a:avLst/>
          </a:prstGeom>
          <a:noFill/>
        </p:spPr>
        <p:txBody>
          <a:bodyPr wrap="square" lIns="73152" rIns="73152" tIns="36576" bIns="36576" anchor="ctr"/>
          <a:lstStyle/>
          <a:p>
            <a:pPr algn="r" rtl="1"/>
            <a:r>
              <a:rPr sz="1450" b="1" i="0" lang="ar-AE" altLang="en-US">
                <a:solidFill>
                  <a:srgbClr val="102A43"/>
                </a:solidFill>
                <a:latin typeface="Arial"/>
                <a:cs typeface="Arial"/>
              </a:rPr>
              <a:t>فسّر: كيف يؤدي قطع الأشجار إلى زيادة ثاني أكسيد الكربون في الغلاف الجوي؟</a:t>
            </a:r>
          </a:p>
        </p:txBody>
      </p:sp>
      <p:pic>
        <p:nvPicPr>
          <p:cNvPr id="31" name="مؤقت 3 دقائق">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697480" y="1920240"/>
            <a:ext cx="1371600" cy="1371600"/>
          </a:xfrm>
          <a:prstGeom prst="rect">
            <a:avLst/>
          </a:prstGeom>
        </p:spPr>
      </p:pic>
      <p:sp>
        <p:nvSpPr>
          <p:cNvPr id="32" name="Oval 31"/>
          <p:cNvSpPr/>
          <p:nvPr/>
        </p:nvSpPr>
        <p:spPr>
          <a:xfrm>
            <a:off x="3017520" y="3520440"/>
            <a:ext cx="731520" cy="731520"/>
          </a:xfrm>
          <a:prstGeom prst="ellipse">
            <a:avLst/>
          </a:prstGeom>
          <a:solidFill>
            <a:srgbClr val="C8102E"/>
          </a:solidFill>
          <a:ln>
            <a:noFill/>
          </a:ln>
        </p:spPr>
        <p:txBody>
          <a:bodyPr rtlCol="0" anchor="ctr" lIns="54864" rIns="54864" tIns="27432" bIns="27432"/>
          <a:lstStyle/>
          <a:p>
            <a:pPr algn="ctr"/>
          </a:p>
        </p:txBody>
      </p:sp>
      <p:pic>
        <p:nvPicPr>
          <p:cNvPr id="33" name="Picture 32" descr="ticket_w.png"/>
          <p:cNvPicPr>
            <a:picLocks noChangeAspect="1"/>
          </p:cNvPicPr>
          <p:nvPr/>
        </p:nvPicPr>
        <p:blipFill>
          <a:blip r:embed="rId6"/>
          <a:stretch>
            <a:fillRect/>
          </a:stretch>
        </p:blipFill>
        <p:spPr>
          <a:xfrm>
            <a:off x="3178454" y="3681374"/>
            <a:ext cx="409651" cy="409651"/>
          </a:xfrm>
          <a:prstGeom prst="rect">
            <a:avLst/>
          </a:prstGeom>
        </p:spPr>
      </p:pic>
      <p:sp>
        <p:nvSpPr>
          <p:cNvPr id="34" name="TextBox 33"/>
          <p:cNvSpPr txBox="1"/>
          <p:nvPr/>
        </p:nvSpPr>
        <p:spPr>
          <a:xfrm>
            <a:off x="2651760" y="4315968"/>
            <a:ext cx="1463040" cy="548640"/>
          </a:xfrm>
          <a:prstGeom prst="rect">
            <a:avLst/>
          </a:prstGeom>
          <a:noFill/>
        </p:spPr>
        <p:txBody>
          <a:bodyPr wrap="square" lIns="73152" rIns="73152" tIns="36576" bIns="36576" anchor="ctr"/>
          <a:lstStyle/>
          <a:p>
            <a:pPr algn="ctr" rtl="1"/>
            <a:r>
              <a:rPr sz="1200" b="1" i="0" lang="ar-AE" altLang="en-US">
                <a:solidFill>
                  <a:srgbClr val="5A687D"/>
                </a:solidFill>
                <a:latin typeface="Arial"/>
                <a:cs typeface="Arial"/>
              </a:rPr>
              <a:t>أجب بمفردك على الورقة</a:t>
            </a:r>
          </a:p>
        </p:txBody>
      </p:sp>
      <p:sp>
        <p:nvSpPr>
          <p:cNvPr id="35" name="Rounded Rectangle 34"/>
          <p:cNvSpPr/>
          <p:nvPr/>
        </p:nvSpPr>
        <p:spPr>
          <a:xfrm>
            <a:off x="4160520" y="4754880"/>
            <a:ext cx="7680960" cy="749808"/>
          </a:xfrm>
          <a:prstGeom prst="roundRect">
            <a:avLst>
              <a:gd name="adj" fmla="val 14634"/>
            </a:avLst>
          </a:prstGeom>
          <a:solidFill>
            <a:srgbClr val="FBF5E8"/>
          </a:solidFill>
          <a:ln w="12700">
            <a:solidFill>
              <a:srgbClr val="E6D5B0"/>
            </a:solidFill>
          </a:ln>
        </p:spPr>
        <p:txBody>
          <a:bodyPr rtlCol="0" anchor="ctr" lIns="54864" rIns="54864" tIns="27432" bIns="27432"/>
          <a:lstStyle/>
          <a:p>
            <a:pPr algn="ctr"/>
          </a:p>
        </p:txBody>
      </p:sp>
      <p:sp>
        <p:nvSpPr>
          <p:cNvPr id="36" name="TextBox 35"/>
          <p:cNvSpPr txBox="1"/>
          <p:nvPr/>
        </p:nvSpPr>
        <p:spPr>
          <a:xfrm>
            <a:off x="4251960" y="4754880"/>
            <a:ext cx="7498079" cy="749808"/>
          </a:xfrm>
          <a:prstGeom prst="rect">
            <a:avLst/>
          </a:prstGeom>
          <a:noFill/>
        </p:spPr>
        <p:txBody>
          <a:bodyPr wrap="square" lIns="73152" rIns="73152" tIns="36576" bIns="36576" anchor="ctr"/>
          <a:lstStyle/>
          <a:p>
            <a:pPr algn="r" rtl="1"/>
            <a:r>
              <a:rPr sz="1300" b="1" i="0" lang="ar-AE" altLang="en-US">
                <a:solidFill>
                  <a:srgbClr val="2E9E5B"/>
                </a:solidFill>
                <a:latin typeface="Arial"/>
                <a:cs typeface="Arial"/>
              </a:rPr>
              <a:t>● </a:t>
            </a:r>
            <a:r>
              <a:rPr sz="1300" b="1" i="0" lang="ar-AE" altLang="en-US">
                <a:solidFill>
                  <a:srgbClr val="102A43"/>
                </a:solidFill>
                <a:latin typeface="Arial"/>
                <a:cs typeface="Arial"/>
              </a:rPr>
              <a:t>أساسي    </a:t>
            </a:r>
            <a:r>
              <a:rPr sz="1300" b="1" i="0" lang="ar-AE" altLang="en-US">
                <a:solidFill>
                  <a:srgbClr val="E0A21B"/>
                </a:solidFill>
                <a:latin typeface="Arial"/>
                <a:cs typeface="Arial"/>
              </a:rPr>
              <a:t>▲ </a:t>
            </a:r>
            <a:r>
              <a:rPr sz="1300" b="1" i="0" lang="ar-AE" altLang="en-US">
                <a:solidFill>
                  <a:srgbClr val="102A43"/>
                </a:solidFill>
                <a:latin typeface="Arial"/>
                <a:cs typeface="Arial"/>
              </a:rPr>
              <a:t>متوسط    </a:t>
            </a:r>
            <a:r>
              <a:rPr sz="1300" b="1" i="0" lang="ar-AE" altLang="en-US">
                <a:solidFill>
                  <a:srgbClr val="C8102E"/>
                </a:solidFill>
                <a:latin typeface="Arial"/>
                <a:cs typeface="Arial"/>
              </a:rPr>
              <a:t>■ </a:t>
            </a:r>
            <a:r>
              <a:rPr sz="1300" b="1" i="0" lang="ar-AE" altLang="en-US">
                <a:solidFill>
                  <a:srgbClr val="102A43"/>
                </a:solidFill>
                <a:latin typeface="Arial"/>
                <a:cs typeface="Arial"/>
              </a:rPr>
              <a:t>متقدّم     —  أجب عن الأسئلة الثلاثة، وابدأ بما تستطيع!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1"/>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31"/>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الثلاثاء</a:t>
            </a:r>
          </a:p>
        </p:txBody>
      </p:sp>
      <p:sp>
        <p:nvSpPr>
          <p:cNvPr id="4" name="TextBox 3"/>
          <p:cNvSpPr txBox="1"/>
          <p:nvPr/>
        </p:nvSpPr>
        <p:spPr>
          <a:xfrm>
            <a:off x="7505700" y="676275"/>
            <a:ext cx="2114550" cy="304800"/>
          </a:xfrm>
          <a:prstGeom prst="rect">
            <a:avLst/>
          </a:prstGeom>
          <a:noFill/>
        </p:spPr>
        <p:txBody>
          <a:bodyPr wrap="square" lIns="18288" rIns="18288" tIns="0" bIns="0" anchor="ctr"/>
          <a:lstStyle/>
          <a:p>
            <a:pPr algn="ctr" rtl="1"/>
            <a:r>
              <a:rPr sz="1250" b="1" i="0" lang="ar-AE" altLang="en-US">
                <a:solidFill>
                  <a:srgbClr val="102A43"/>
                </a:solidFill>
                <a:latin typeface="Arial"/>
                <a:cs typeface="Arial"/>
              </a:rPr>
              <a:t>22/9/2026</a:t>
            </a:r>
          </a:p>
        </p:txBody>
      </p:sp>
      <p:sp>
        <p:nvSpPr>
          <p:cNvPr id="5" name="TextBox 4"/>
          <p:cNvSpPr txBox="1"/>
          <p:nvPr/>
        </p:nvSpPr>
        <p:spPr>
          <a:xfrm>
            <a:off x="3448050" y="676275"/>
            <a:ext cx="3771900" cy="304800"/>
          </a:xfrm>
          <a:prstGeom prst="rect">
            <a:avLst/>
          </a:prstGeom>
          <a:noFill/>
        </p:spPr>
        <p:txBody>
          <a:bodyPr wrap="square" lIns="18288" rIns="18288" tIns="0" bIns="0" anchor="ctr"/>
          <a:lstStyle/>
          <a:p>
            <a:pPr algn="ctr" rtl="1"/>
            <a:r>
              <a:rPr sz="1200" b="1" i="0" lang="ar-AE" altLang="en-US">
                <a:solidFill>
                  <a:srgbClr val="102A43"/>
                </a:solidFill>
                <a:latin typeface="Arial"/>
                <a:cs typeface="Arial"/>
              </a:rPr>
              <a:t>تدوير المادة – دورتا الكربون والأكسجين</a:t>
            </a:r>
          </a:p>
        </p:txBody>
      </p:sp>
      <p:sp>
        <p:nvSpPr>
          <p:cNvPr id="6" name="TextBox 5"/>
          <p:cNvSpPr txBox="1"/>
          <p:nvPr/>
        </p:nvSpPr>
        <p:spPr>
          <a:xfrm>
            <a:off x="1143000" y="676275"/>
            <a:ext cx="2019300" cy="304800"/>
          </a:xfrm>
          <a:prstGeom prst="rect">
            <a:avLst/>
          </a:prstGeom>
          <a:noFill/>
        </p:spPr>
        <p:txBody>
          <a:bodyPr wrap="square" lIns="18288" rIns="18288" tIns="0" bIns="0" anchor="ctr"/>
          <a:lstStyle/>
          <a:p>
            <a:pPr algn="ctr" rtl="1"/>
            <a:r>
              <a:rPr sz="1050" b="1" i="0" lang="ar-AE" altLang="en-US">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البناء الضوئي والتنفس</a:t>
            </a:r>
          </a:p>
        </p:txBody>
      </p:sp>
      <p:sp>
        <p:nvSpPr>
          <p:cNvPr id="9" name="Oval 8"/>
          <p:cNvSpPr/>
          <p:nvPr/>
        </p:nvSpPr>
        <p:spPr>
          <a:xfrm>
            <a:off x="2020824" y="2061972"/>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مخازن الكربون طويلة المدى</a:t>
            </a:r>
          </a:p>
        </p:txBody>
      </p:sp>
      <p:sp>
        <p:nvSpPr>
          <p:cNvPr id="11" name="Oval 10"/>
          <p:cNvSpPr/>
          <p:nvPr/>
        </p:nvSpPr>
        <p:spPr>
          <a:xfrm>
            <a:off x="2020824" y="2350008"/>
            <a:ext cx="201168" cy="201168"/>
          </a:xfrm>
          <a:prstGeom prst="ellipse">
            <a:avLst/>
          </a:prstGeom>
          <a:solidFill>
            <a:srgbClr val="8A9BB0"/>
          </a:solidFill>
          <a:ln>
            <a:noFill/>
          </a:ln>
        </p:spPr>
        <p:txBody>
          <a:bodyPr rtlCol="0" anchor="ctr" lIns="0" rIns="0" tIns="0" bIns="0" wrap="square"/>
          <a:lstStyle/>
          <a:p>
            <a:pPr algn="ctr" rtl="1"/>
            <a:r>
              <a:rPr sz="900" b="1" i="0" lang="ar-AE" altLang="en-US">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rIns="27432" tIns="0" bIns="0" anchor="ctr"/>
          <a:lstStyle/>
          <a:p>
            <a:pPr algn="r" rtl="1"/>
            <a:r>
              <a:rPr sz="850" b="1" i="0" lang="ar-AE" altLang="en-US">
                <a:solidFill>
                  <a:srgbClr val="44536A"/>
                </a:solidFill>
                <a:latin typeface="Arial"/>
                <a:cs typeface="Arial"/>
              </a:rPr>
              <a:t>أثر الإنسان في دورة الكربون</a:t>
            </a:r>
          </a:p>
        </p:txBody>
      </p:sp>
      <p:sp>
        <p:nvSpPr>
          <p:cNvPr id="13" name="Rounded Rectangle 12"/>
          <p:cNvSpPr/>
          <p:nvPr/>
        </p:nvSpPr>
        <p:spPr>
          <a:xfrm>
            <a:off x="10625328" y="1344168"/>
            <a:ext cx="1234440" cy="365760"/>
          </a:xfrm>
          <a:prstGeom prst="roundRect">
            <a:avLst>
              <a:gd name="adj" fmla="val 50000"/>
            </a:avLst>
          </a:prstGeom>
          <a:solidFill>
            <a:srgbClr val="102A43"/>
          </a:solidFill>
          <a:ln>
            <a:noFill/>
          </a:ln>
        </p:spPr>
        <p:txBody>
          <a:bodyPr rtlCol="0" anchor="ctr" lIns="36576" rIns="36576" tIns="0" bIns="0" wrap="square"/>
          <a:lstStyle/>
          <a:p>
            <a:pPr algn="ctr" rtl="1"/>
            <a:r>
              <a:rPr sz="1300" b="1" i="0" lang="ar-AE" altLang="en-US">
                <a:solidFill>
                  <a:srgbClr val="FFFFFF"/>
                </a:solidFill>
                <a:latin typeface="Arial"/>
                <a:cs typeface="Arial"/>
              </a:rPr>
              <a:t>ختام الحصة</a:t>
            </a:r>
          </a:p>
        </p:txBody>
      </p:sp>
      <p:sp>
        <p:nvSpPr>
          <p:cNvPr id="14" name="TextBox 13"/>
          <p:cNvSpPr txBox="1"/>
          <p:nvPr/>
        </p:nvSpPr>
        <p:spPr>
          <a:xfrm>
            <a:off x="2606040" y="1280160"/>
            <a:ext cx="7909560" cy="502920"/>
          </a:xfrm>
          <a:prstGeom prst="rect">
            <a:avLst/>
          </a:prstGeom>
          <a:noFill/>
        </p:spPr>
        <p:txBody>
          <a:bodyPr wrap="square" lIns="18288" rIns="18288" tIns="0" bIns="0" anchor="ctr"/>
          <a:lstStyle/>
          <a:p>
            <a:pPr algn="r" rtl="1"/>
            <a:r>
              <a:rPr sz="2400" b="1" i="0" lang="ar-AE" altLang="en-US">
                <a:solidFill>
                  <a:srgbClr val="102A43"/>
                </a:solidFill>
                <a:latin typeface="Arial"/>
                <a:cs typeface="Arial"/>
              </a:rPr>
              <a:t>أبطال اليوم… وإلى اللقاء!</a:t>
            </a:r>
          </a:p>
        </p:txBody>
      </p:sp>
      <p:pic>
        <p:nvPicPr>
          <p:cNvPr id="15" name="Picture 14" descr="badge_hessa.png"/>
          <p:cNvPicPr>
            <a:picLocks noChangeAspect="1"/>
          </p:cNvPicPr>
          <p:nvPr/>
        </p:nvPicPr>
        <p:blipFill>
          <a:blip r:embed="rId3"/>
          <a:stretch>
            <a:fillRect/>
          </a:stretch>
        </p:blipFill>
        <p:spPr>
          <a:xfrm>
            <a:off x="10543031" y="1874519"/>
            <a:ext cx="1097280" cy="1138757"/>
          </a:xfrm>
          <a:prstGeom prst="rect">
            <a:avLst/>
          </a:prstGeom>
        </p:spPr>
      </p:pic>
      <p:sp>
        <p:nvSpPr>
          <p:cNvPr id="16" name="TextBox 15"/>
          <p:cNvSpPr txBox="1"/>
          <p:nvPr/>
        </p:nvSpPr>
        <p:spPr>
          <a:xfrm>
            <a:off x="10360151" y="3063240"/>
            <a:ext cx="1463040" cy="310896"/>
          </a:xfrm>
          <a:prstGeom prst="rect">
            <a:avLst/>
          </a:prstGeom>
          <a:noFill/>
        </p:spPr>
        <p:txBody>
          <a:bodyPr wrap="square" lIns="0" rIns="0" tIns="0" bIns="0" anchor="ctr"/>
          <a:lstStyle/>
          <a:p>
            <a:pPr algn="ctr" rtl="1"/>
            <a:r>
              <a:rPr sz="1200" b="1" i="0" lang="ar-AE" altLang="en-US">
                <a:solidFill>
                  <a:srgbClr val="7D1F2E"/>
                </a:solidFill>
                <a:latin typeface="Arial"/>
                <a:cs typeface="Arial"/>
              </a:rPr>
              <a:t>وسام حصة</a:t>
            </a:r>
          </a:p>
        </p:txBody>
      </p:sp>
      <p:sp>
        <p:nvSpPr>
          <p:cNvPr id="17" name="TextBox 16"/>
          <p:cNvSpPr txBox="1"/>
          <p:nvPr/>
        </p:nvSpPr>
        <p:spPr>
          <a:xfrm>
            <a:off x="10497311" y="3383280"/>
            <a:ext cx="1188720" cy="310896"/>
          </a:xfrm>
          <a:prstGeom prst="rect">
            <a:avLst/>
          </a:prstGeom>
          <a:noFill/>
        </p:spPr>
        <p:txBody>
          <a:bodyPr wrap="square" lIns="0" rIns="0" tIns="0" bIns="0" anchor="ctr"/>
          <a:lstStyle/>
          <a:p>
            <a:pPr algn="ctr" rtl="1"/>
            <a:r>
              <a:rPr sz="1100" b="1" i="0" lang="ar-AE" altLang="en-US">
                <a:solidFill>
                  <a:srgbClr val="5A687D"/>
                </a:solidFill>
                <a:latin typeface="Arial"/>
                <a:cs typeface="Arial"/>
              </a:rPr>
              <a:t>المجموعة: ……</a:t>
            </a:r>
          </a:p>
        </p:txBody>
      </p:sp>
      <p:pic>
        <p:nvPicPr>
          <p:cNvPr id="18" name="Picture 17" descr="badge_ahmed.png"/>
          <p:cNvPicPr>
            <a:picLocks noChangeAspect="1"/>
          </p:cNvPicPr>
          <p:nvPr/>
        </p:nvPicPr>
        <p:blipFill>
          <a:blip r:embed="rId4"/>
          <a:stretch>
            <a:fillRect/>
          </a:stretch>
        </p:blipFill>
        <p:spPr>
          <a:xfrm>
            <a:off x="9061703" y="1874519"/>
            <a:ext cx="1097280" cy="1161382"/>
          </a:xfrm>
          <a:prstGeom prst="rect">
            <a:avLst/>
          </a:prstGeom>
        </p:spPr>
      </p:pic>
      <p:sp>
        <p:nvSpPr>
          <p:cNvPr id="19" name="TextBox 18"/>
          <p:cNvSpPr txBox="1"/>
          <p:nvPr/>
        </p:nvSpPr>
        <p:spPr>
          <a:xfrm>
            <a:off x="8878824" y="3063240"/>
            <a:ext cx="1463040" cy="310896"/>
          </a:xfrm>
          <a:prstGeom prst="rect">
            <a:avLst/>
          </a:prstGeom>
          <a:noFill/>
        </p:spPr>
        <p:txBody>
          <a:bodyPr wrap="square" lIns="0" rIns="0" tIns="0" bIns="0" anchor="ctr"/>
          <a:lstStyle/>
          <a:p>
            <a:pPr algn="ctr" rtl="1"/>
            <a:r>
              <a:rPr sz="1200" b="1" i="0" lang="ar-AE" altLang="en-US">
                <a:solidFill>
                  <a:srgbClr val="1C2F5E"/>
                </a:solidFill>
                <a:latin typeface="Arial"/>
                <a:cs typeface="Arial"/>
              </a:rPr>
              <a:t>وسام أحمد</a:t>
            </a:r>
          </a:p>
        </p:txBody>
      </p:sp>
      <p:sp>
        <p:nvSpPr>
          <p:cNvPr id="20" name="TextBox 19"/>
          <p:cNvSpPr txBox="1"/>
          <p:nvPr/>
        </p:nvSpPr>
        <p:spPr>
          <a:xfrm>
            <a:off x="9015984" y="3383280"/>
            <a:ext cx="1188720" cy="310896"/>
          </a:xfrm>
          <a:prstGeom prst="rect">
            <a:avLst/>
          </a:prstGeom>
          <a:noFill/>
        </p:spPr>
        <p:txBody>
          <a:bodyPr wrap="square" lIns="0" rIns="0" tIns="0" bIns="0" anchor="ctr"/>
          <a:lstStyle/>
          <a:p>
            <a:pPr algn="ctr" rtl="1"/>
            <a:r>
              <a:rPr sz="1100" b="1" i="0" lang="ar-AE" altLang="en-US">
                <a:solidFill>
                  <a:srgbClr val="5A687D"/>
                </a:solidFill>
                <a:latin typeface="Arial"/>
                <a:cs typeface="Arial"/>
              </a:rPr>
              <a:t>المجموعة: ……</a:t>
            </a:r>
          </a:p>
        </p:txBody>
      </p:sp>
      <p:pic>
        <p:nvPicPr>
          <p:cNvPr id="21" name="Picture 20" descr="badge_fahem.png"/>
          <p:cNvPicPr>
            <a:picLocks noChangeAspect="1"/>
          </p:cNvPicPr>
          <p:nvPr/>
        </p:nvPicPr>
        <p:blipFill>
          <a:blip r:embed="rId5"/>
          <a:stretch>
            <a:fillRect/>
          </a:stretch>
        </p:blipFill>
        <p:spPr>
          <a:xfrm>
            <a:off x="7580375" y="1874519"/>
            <a:ext cx="1097280" cy="1210401"/>
          </a:xfrm>
          <a:prstGeom prst="rect">
            <a:avLst/>
          </a:prstGeom>
        </p:spPr>
      </p:pic>
      <p:sp>
        <p:nvSpPr>
          <p:cNvPr id="22" name="TextBox 21"/>
          <p:cNvSpPr txBox="1"/>
          <p:nvPr/>
        </p:nvSpPr>
        <p:spPr>
          <a:xfrm>
            <a:off x="7397496" y="3063240"/>
            <a:ext cx="1463040" cy="310896"/>
          </a:xfrm>
          <a:prstGeom prst="rect">
            <a:avLst/>
          </a:prstGeom>
          <a:noFill/>
        </p:spPr>
        <p:txBody>
          <a:bodyPr wrap="square" lIns="0" rIns="0" tIns="0" bIns="0" anchor="ctr"/>
          <a:lstStyle/>
          <a:p>
            <a:pPr algn="ctr" rtl="1"/>
            <a:r>
              <a:rPr sz="1200" b="1" i="0" lang="ar-AE" altLang="en-US">
                <a:solidFill>
                  <a:srgbClr val="1E6B3A"/>
                </a:solidFill>
                <a:latin typeface="Arial"/>
                <a:cs typeface="Arial"/>
              </a:rPr>
              <a:t>وسام فاهم</a:t>
            </a:r>
          </a:p>
        </p:txBody>
      </p:sp>
      <p:sp>
        <p:nvSpPr>
          <p:cNvPr id="23" name="TextBox 22"/>
          <p:cNvSpPr txBox="1"/>
          <p:nvPr/>
        </p:nvSpPr>
        <p:spPr>
          <a:xfrm>
            <a:off x="7534656" y="3383280"/>
            <a:ext cx="1188720" cy="310896"/>
          </a:xfrm>
          <a:prstGeom prst="rect">
            <a:avLst/>
          </a:prstGeom>
          <a:noFill/>
        </p:spPr>
        <p:txBody>
          <a:bodyPr wrap="square" lIns="0" rIns="0" tIns="0" bIns="0" anchor="ctr"/>
          <a:lstStyle/>
          <a:p>
            <a:pPr algn="ctr" rtl="1"/>
            <a:r>
              <a:rPr sz="1100" b="1" i="0" lang="ar-AE" altLang="en-US">
                <a:solidFill>
                  <a:srgbClr val="5A687D"/>
                </a:solidFill>
                <a:latin typeface="Arial"/>
                <a:cs typeface="Arial"/>
              </a:rPr>
              <a:t>المجموعة: ……</a:t>
            </a:r>
          </a:p>
        </p:txBody>
      </p:sp>
      <p:pic>
        <p:nvPicPr>
          <p:cNvPr id="24" name="Picture 23" descr="badge_shaheen.png"/>
          <p:cNvPicPr>
            <a:picLocks noChangeAspect="1"/>
          </p:cNvPicPr>
          <p:nvPr/>
        </p:nvPicPr>
        <p:blipFill>
          <a:blip r:embed="rId6"/>
          <a:stretch>
            <a:fillRect/>
          </a:stretch>
        </p:blipFill>
        <p:spPr>
          <a:xfrm>
            <a:off x="6099047" y="1874519"/>
            <a:ext cx="1097280" cy="1134987"/>
          </a:xfrm>
          <a:prstGeom prst="rect">
            <a:avLst/>
          </a:prstGeom>
        </p:spPr>
      </p:pic>
      <p:sp>
        <p:nvSpPr>
          <p:cNvPr id="25" name="TextBox 24"/>
          <p:cNvSpPr txBox="1"/>
          <p:nvPr/>
        </p:nvSpPr>
        <p:spPr>
          <a:xfrm>
            <a:off x="5916167" y="3063240"/>
            <a:ext cx="1463040" cy="310896"/>
          </a:xfrm>
          <a:prstGeom prst="rect">
            <a:avLst/>
          </a:prstGeom>
          <a:noFill/>
        </p:spPr>
        <p:txBody>
          <a:bodyPr wrap="square" lIns="0" rIns="0" tIns="0" bIns="0" anchor="ctr"/>
          <a:lstStyle/>
          <a:p>
            <a:pPr algn="ctr" rtl="1"/>
            <a:r>
              <a:rPr sz="1200" b="1" i="0" lang="ar-AE" altLang="en-US">
                <a:solidFill>
                  <a:srgbClr val="6B3F1D"/>
                </a:solidFill>
                <a:latin typeface="Arial"/>
                <a:cs typeface="Arial"/>
              </a:rPr>
              <a:t>وسام شاهين</a:t>
            </a:r>
          </a:p>
        </p:txBody>
      </p:sp>
      <p:sp>
        <p:nvSpPr>
          <p:cNvPr id="26" name="TextBox 25"/>
          <p:cNvSpPr txBox="1"/>
          <p:nvPr/>
        </p:nvSpPr>
        <p:spPr>
          <a:xfrm>
            <a:off x="6053327" y="3383280"/>
            <a:ext cx="1188720" cy="310896"/>
          </a:xfrm>
          <a:prstGeom prst="rect">
            <a:avLst/>
          </a:prstGeom>
          <a:noFill/>
        </p:spPr>
        <p:txBody>
          <a:bodyPr wrap="square" lIns="0" rIns="0" tIns="0" bIns="0" anchor="ctr"/>
          <a:lstStyle/>
          <a:p>
            <a:pPr algn="ctr" rtl="1"/>
            <a:r>
              <a:rPr sz="1100" b="1" i="0" lang="ar-AE" altLang="en-US">
                <a:solidFill>
                  <a:srgbClr val="5A687D"/>
                </a:solidFill>
                <a:latin typeface="Arial"/>
                <a:cs typeface="Arial"/>
              </a:rPr>
              <a:t>المجموعة: ……</a:t>
            </a:r>
          </a:p>
        </p:txBody>
      </p:sp>
      <p:pic>
        <p:nvPicPr>
          <p:cNvPr id="27" name="Picture 26" descr="badge_maha.png"/>
          <p:cNvPicPr>
            <a:picLocks noChangeAspect="1"/>
          </p:cNvPicPr>
          <p:nvPr/>
        </p:nvPicPr>
        <p:blipFill>
          <a:blip r:embed="rId7"/>
          <a:stretch>
            <a:fillRect/>
          </a:stretch>
        </p:blipFill>
        <p:spPr>
          <a:xfrm>
            <a:off x="4617719" y="1874519"/>
            <a:ext cx="1097280" cy="1259421"/>
          </a:xfrm>
          <a:prstGeom prst="rect">
            <a:avLst/>
          </a:prstGeom>
        </p:spPr>
      </p:pic>
      <p:sp>
        <p:nvSpPr>
          <p:cNvPr id="28" name="TextBox 27"/>
          <p:cNvSpPr txBox="1"/>
          <p:nvPr/>
        </p:nvSpPr>
        <p:spPr>
          <a:xfrm>
            <a:off x="4434839" y="3063240"/>
            <a:ext cx="1463040" cy="310896"/>
          </a:xfrm>
          <a:prstGeom prst="rect">
            <a:avLst/>
          </a:prstGeom>
          <a:noFill/>
        </p:spPr>
        <p:txBody>
          <a:bodyPr wrap="square" lIns="0" rIns="0" tIns="0" bIns="0" anchor="ctr"/>
          <a:lstStyle/>
          <a:p>
            <a:pPr algn="ctr" rtl="1"/>
            <a:r>
              <a:rPr sz="1200" b="1" i="0" lang="ar-AE" altLang="en-US">
                <a:solidFill>
                  <a:srgbClr val="0F7C73"/>
                </a:solidFill>
                <a:latin typeface="Arial"/>
                <a:cs typeface="Arial"/>
              </a:rPr>
              <a:t>وسام مها</a:t>
            </a:r>
          </a:p>
        </p:txBody>
      </p:sp>
      <p:sp>
        <p:nvSpPr>
          <p:cNvPr id="29" name="TextBox 28"/>
          <p:cNvSpPr txBox="1"/>
          <p:nvPr/>
        </p:nvSpPr>
        <p:spPr>
          <a:xfrm>
            <a:off x="4571999" y="3383280"/>
            <a:ext cx="1188720" cy="310896"/>
          </a:xfrm>
          <a:prstGeom prst="rect">
            <a:avLst/>
          </a:prstGeom>
          <a:noFill/>
        </p:spPr>
        <p:txBody>
          <a:bodyPr wrap="square" lIns="0" rIns="0" tIns="0" bIns="0" anchor="ctr"/>
          <a:lstStyle/>
          <a:p>
            <a:pPr algn="ctr" rtl="1"/>
            <a:r>
              <a:rPr sz="1100" b="1" i="0" lang="ar-AE" altLang="en-US">
                <a:solidFill>
                  <a:srgbClr val="5A687D"/>
                </a:solidFill>
                <a:latin typeface="Arial"/>
                <a:cs typeface="Arial"/>
              </a:rPr>
              <a:t>المجموعة: ……</a:t>
            </a:r>
          </a:p>
        </p:txBody>
      </p:sp>
      <p:sp>
        <p:nvSpPr>
          <p:cNvPr id="30" name="Rounded Rectangle 29"/>
          <p:cNvSpPr/>
          <p:nvPr/>
        </p:nvSpPr>
        <p:spPr>
          <a:xfrm>
            <a:off x="2697480" y="1874519"/>
            <a:ext cx="1572768" cy="1819656"/>
          </a:xfrm>
          <a:prstGeom prst="roundRect">
            <a:avLst>
              <a:gd name="adj" fmla="val 6976"/>
            </a:avLst>
          </a:prstGeom>
          <a:solidFill>
            <a:srgbClr val="FBF5E8"/>
          </a:solidFill>
          <a:ln w="12700">
            <a:solidFill>
              <a:srgbClr val="E6D5B0"/>
            </a:solidFill>
          </a:ln>
          <a:effectLst>
            <a:outerShdw blurRad="76200" dist="31750" dir="5400000" algn="t" rotWithShape="0">
              <a:srgbClr val="1E2B3C">
                <a:alpha val="22000"/>
              </a:srgbClr>
            </a:outerShdw>
          </a:effectLst>
        </p:spPr>
        <p:txBody>
          <a:bodyPr rtlCol="0" anchor="ctr" lIns="54864" rIns="54864" tIns="27432" bIns="27432"/>
          <a:lstStyle/>
          <a:p>
            <a:pPr algn="ctr"/>
          </a:p>
        </p:txBody>
      </p:sp>
      <p:pic>
        <p:nvPicPr>
          <p:cNvPr id="31" name="Picture 30" descr="trophy_g.png"/>
          <p:cNvPicPr>
            <a:picLocks noChangeAspect="1"/>
          </p:cNvPicPr>
          <p:nvPr/>
        </p:nvPicPr>
        <p:blipFill>
          <a:blip r:embed="rId8"/>
          <a:stretch>
            <a:fillRect/>
          </a:stretch>
        </p:blipFill>
        <p:spPr>
          <a:xfrm>
            <a:off x="3163824" y="2011680"/>
            <a:ext cx="640080" cy="640080"/>
          </a:xfrm>
          <a:prstGeom prst="rect">
            <a:avLst/>
          </a:prstGeom>
        </p:spPr>
      </p:pic>
      <p:sp>
        <p:nvSpPr>
          <p:cNvPr id="32" name="TextBox 31"/>
          <p:cNvSpPr txBox="1"/>
          <p:nvPr/>
        </p:nvSpPr>
        <p:spPr>
          <a:xfrm>
            <a:off x="2743200" y="2697480"/>
            <a:ext cx="1481328" cy="914400"/>
          </a:xfrm>
          <a:prstGeom prst="rect">
            <a:avLst/>
          </a:prstGeom>
          <a:noFill/>
        </p:spPr>
        <p:txBody>
          <a:bodyPr wrap="square" lIns="73152" rIns="73152" tIns="36576" bIns="36576" anchor="ctr"/>
          <a:lstStyle/>
          <a:p>
            <a:pPr algn="ctr" rtl="1"/>
            <a:r>
              <a:rPr sz="1250" b="1" i="0" lang="ar-AE" altLang="en-US">
                <a:solidFill>
                  <a:srgbClr val="102A43"/>
                </a:solidFill>
                <a:latin typeface="Arial"/>
                <a:cs typeface="Arial"/>
              </a:rPr>
              <a:t>نصفّق للمجموعات الفائزة!</a:t>
            </a:r>
          </a:p>
        </p:txBody>
      </p:sp>
      <p:sp>
        <p:nvSpPr>
          <p:cNvPr id="33" name="Rounded Rectangle 32"/>
          <p:cNvSpPr/>
          <p:nvPr/>
        </p:nvSpPr>
        <p:spPr>
          <a:xfrm>
            <a:off x="6492240" y="3931920"/>
            <a:ext cx="5349240" cy="1572768"/>
          </a:xfrm>
          <a:prstGeom prst="roundRect">
            <a:avLst>
              <a:gd name="adj" fmla="val 8139"/>
            </a:avLst>
          </a:prstGeom>
          <a:solidFill>
            <a:srgbClr val="102A43"/>
          </a:solidFill>
          <a:ln>
            <a:noFill/>
          </a:ln>
        </p:spPr>
        <p:txBody>
          <a:bodyPr rtlCol="0" anchor="ctr" lIns="182880" rIns="182880" wrap="square"/>
          <a:lstStyle/>
          <a:p>
            <a:pPr algn="r" rtl="1"/>
            <a:r>
              <a:rPr sz="1500" b="1" i="0" lang="ar-AE" altLang="en-US">
                <a:solidFill>
                  <a:srgbClr val="C9A96A"/>
                </a:solidFill>
                <a:latin typeface="Arial"/>
                <a:cs typeface="Arial"/>
              </a:rPr>
              <a:t>غدًا: </a:t>
            </a:r>
            <a:r>
              <a:rPr sz="1500" b="1" i="0" lang="ar-AE" altLang="en-US">
                <a:solidFill>
                  <a:srgbClr val="FFFFFF"/>
                </a:solidFill>
                <a:latin typeface="Arial"/>
                <a:cs typeface="Arial"/>
              </a:rPr>
              <a:t>لغز النيتروجين… 78% من الهواء، فلماذا قد تجوع النباتات إليه؟ نتتبّع رحلة ذرة النيتروجين!</a:t>
            </a:r>
          </a:p>
        </p:txBody>
      </p:sp>
      <p:sp>
        <p:nvSpPr>
          <p:cNvPr id="34" name="Rounded Rectangle 33"/>
          <p:cNvSpPr/>
          <p:nvPr/>
        </p:nvSpPr>
        <p:spPr>
          <a:xfrm>
            <a:off x="2697480" y="3931920"/>
            <a:ext cx="3657600" cy="1572768"/>
          </a:xfrm>
          <a:prstGeom prst="roundRect">
            <a:avLst>
              <a:gd name="adj" fmla="val 8139"/>
            </a:avLst>
          </a:prstGeom>
          <a:solidFill>
            <a:srgbClr val="F3F5F8"/>
          </a:solidFill>
          <a:ln w="12700">
            <a:solidFill>
              <a:srgbClr val="D5DDE8"/>
            </a:solidFill>
          </a:ln>
        </p:spPr>
        <p:txBody>
          <a:bodyPr rtlCol="0" anchor="ctr" lIns="137160" rIns="137160" wrap="square"/>
          <a:lstStyle/>
          <a:p>
            <a:pPr algn="r" rtl="1"/>
            <a:r>
              <a:rPr sz="1400" b="1" i="0" lang="ar-AE" altLang="en-US">
                <a:solidFill>
                  <a:srgbClr val="2E7D32"/>
                </a:solidFill>
                <a:latin typeface="Arial"/>
                <a:cs typeface="Arial"/>
              </a:rPr>
              <a:t>مهمتي على منصة ألف / البوابة الذكية:</a:t>
            </a:r>
          </a:p>
          <a:p>
            <a:pPr algn="r" rtl="1"/>
            <a:r>
              <a:rPr sz="1300" b="1" i="0" lang="ar-AE" altLang="en-US">
                <a:solidFill>
                  <a:srgbClr val="102A43"/>
                </a:solidFill>
                <a:latin typeface="Arial"/>
                <a:cs typeface="Arial"/>
              </a:rPr>
              <a:t>صمّم ملصقًا: «رحلة ذرة كربون في يومي» من فطوري إلى أنفاسي، وشاركه على المنصة.</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