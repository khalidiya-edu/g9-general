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341" r:id="rId2"/>
    <p:sldId id="298" r:id="rId3"/>
    <p:sldId id="363" r:id="rId4"/>
    <p:sldId id="279" r:id="rId5"/>
    <p:sldId id="264" r:id="rId6"/>
    <p:sldId id="273" r:id="rId7"/>
    <p:sldId id="267" r:id="rId8"/>
    <p:sldId id="286" r:id="rId9"/>
    <p:sldId id="287" r:id="rId10"/>
    <p:sldId id="350" r:id="rId11"/>
    <p:sldId id="275" r:id="rId12"/>
    <p:sldId id="342" r:id="rId13"/>
    <p:sldId id="360" r:id="rId14"/>
    <p:sldId id="343" r:id="rId15"/>
    <p:sldId id="289" r:id="rId16"/>
    <p:sldId id="351" r:id="rId17"/>
    <p:sldId id="259" r:id="rId18"/>
    <p:sldId id="349" r:id="rId19"/>
    <p:sldId id="291" r:id="rId20"/>
    <p:sldId id="260" r:id="rId21"/>
    <p:sldId id="344" r:id="rId22"/>
    <p:sldId id="257" r:id="rId23"/>
    <p:sldId id="288" r:id="rId24"/>
    <p:sldId id="386" r:id="rId25"/>
    <p:sldId id="278" r:id="rId26"/>
    <p:sldId id="362" r:id="rId27"/>
    <p:sldId id="280" r:id="rId28"/>
    <p:sldId id="361" r:id="rId29"/>
    <p:sldId id="283" r:id="rId30"/>
    <p:sldId id="284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</p:sldIdLst>
  <p:sldSz cx="12192000" cy="6858000"/>
  <p:notesSz cx="6858000" cy="9144000"/>
  <p:defaultTextStyle>
    <a:defPPr>
      <a:defRPr lang="ar-AE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916" autoAdjust="0"/>
    <p:restoredTop sz="94660"/>
  </p:normalViewPr>
  <p:slideViewPr>
    <p:cSldViewPr snapToGrid="0">
      <p:cViewPr varScale="1">
        <p:scale>
          <a:sx n="81" d="100"/>
          <a:sy n="81" d="100"/>
        </p:scale>
        <p:origin x="97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8EDFF2C-304E-487F-81F6-6503120FB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F303983C-951D-4D55-8590-797371B89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4F2533D-644C-4B09-8DAD-79925332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25/11/1445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6E01427-E552-4488-8BE9-D8E23476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00AEF01-9072-4BE2-8E13-77C9F553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04929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AE3FF17-B5AB-481C-ACAF-12E403EC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EA45058-1F23-4989-863D-24D216C2A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A04DDF4-C53D-402D-BB33-09C99B97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25/11/1445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106CF2D-3DD9-4D4B-8CCC-0A92FADF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D66FDC3-59B9-4E02-8CAA-1A786B94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429640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877253B-4390-4FBD-8667-7ABD4D5F4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0E6F9FF-B28B-4C49-A1C2-3F67BA9C0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99025E9-E2D8-43CA-A23A-0BC6094B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25/11/1445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1184A0C-12E4-417F-81E7-95F28D72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EFEBCD4-4C9A-4CB1-9B85-BBC24706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854629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FAF49F4-9102-4585-822D-F2ECAB54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EF0ED8B-284F-42C6-9371-B088A47A2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A0B0486-CC55-4CB5-A5B2-005B81AE6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C8E57E0-C1D1-4AA8-9CC2-F5AA43F7E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25/11/1445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CAC8E913-52C7-4F17-8389-78F88A74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6E169CB-44A9-4C5B-845B-13CB4B1F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229527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7EB88F2-11C8-46BC-A9F9-53375A430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E2EF40F-90F6-4778-B456-FD43F81B5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FA43E5CF-361D-43FA-A7EE-0E2843E9E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AD60006A-220B-4728-B8BF-45127DEB5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950A8807-70E8-4DF8-A7E7-5CF477498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F6660CDE-60E5-4121-B90C-A05FD9DD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25/11/1445</a:t>
            </a:fld>
            <a:endParaRPr lang="ar-AE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9EAE9D7F-FC6F-449E-BFB1-65B2F62C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D2F4C6B0-80AB-4336-9D82-67BA5E83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93877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9344D27-4F8C-4F75-9A0A-07464B76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B17A858F-A2B7-4431-897E-8CC86A60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25/11/1445</a:t>
            </a:fld>
            <a:endParaRPr lang="ar-AE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092B2E00-B428-45B4-B6BE-1353800B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92740583-6361-49F6-BF48-159ECFE2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871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DB4F6025-8AAD-404F-9711-350F3614C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25/11/1445</a:t>
            </a:fld>
            <a:endParaRPr lang="ar-AE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23395B8B-58EF-49BC-BEFD-35AD5965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383AD81-8D27-48AF-8681-44BC9B0B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311178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0651EFA-4610-42CF-8368-7A1AD0DC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4E08F04-4D10-448A-BE36-80E513F7B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AE7FF1B9-5379-4F06-9AD2-7033BEF1C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758CAE4-5C96-4DC7-BA6F-31CD14A9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25/11/1445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56E4F24-DC8C-4ABC-96EA-2B9A1755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D95B873-8955-476A-9AD3-9A6F038A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4190498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450BA8D-5D71-4317-B054-9092B45D7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8D341872-ADC0-4E6A-B400-8A7B23859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2B845F6E-C117-443C-90B1-381DC3F57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A0A4ACCF-7807-46B6-B385-A239B68A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25/11/1445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64AD1C2-8310-4E91-A2A2-8E1E334B6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B70FFE1-DECC-414F-86FB-8D2B99C6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003383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BFA8A70-A6FC-4863-816F-ACC153E9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DE0D321-9A98-4FE6-98B7-505870537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CD00BC4-3033-44EF-8130-C83242EB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25/11/1445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D047D01-3DCB-4CE5-9AF5-3F6945AB3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A64E4B1-F3BD-4FC4-ACA1-1D1BECBB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860804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95066759-4B35-4045-8DBA-C0A3E02FF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C4070FA-09E4-4E9B-A224-3EE347C49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B36E2E5-4047-4C46-9736-C23675D89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25/11/1445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30893E4-DA68-4CDE-B8E9-C35BC774F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86097DE-8866-4B82-84D8-69EFDE687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966303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57B08401-0FB6-4B19-9205-DD87BD70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3657A82-7BEA-4D77-B28A-E9D1433AD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7BB527C-764D-4977-8744-FD1677D73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A47C5-F12D-4C69-9756-BCF883783F13}" type="datetimeFigureOut">
              <a:rPr lang="ar-AE" smtClean="0"/>
              <a:t>25/11/1445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7D04DED-DC42-4E86-A37B-1D09DFBF4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9A7E708-5E1B-4186-8A23-00EAFDB37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619202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AE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slide" Target="slide33.xml"/><Relationship Id="rId7" Type="http://schemas.openxmlformats.org/officeDocument/2006/relationships/slide" Target="slide32.xml"/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5" Type="http://schemas.openxmlformats.org/officeDocument/2006/relationships/slide" Target="slide36.xml"/><Relationship Id="rId4" Type="http://schemas.openxmlformats.org/officeDocument/2006/relationships/slide" Target="slide3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13039D5C-1376-43D0-9AC9-352C2F8DCFB8}"/>
              </a:ext>
            </a:extLst>
          </p:cNvPr>
          <p:cNvSpPr txBox="1"/>
          <p:nvPr/>
        </p:nvSpPr>
        <p:spPr>
          <a:xfrm>
            <a:off x="1858437" y="1929831"/>
            <a:ext cx="8605215" cy="3424784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 rtl="1" eaLnBrk="1" hangingPunct="1">
              <a:defRPr/>
            </a:pPr>
            <a:r>
              <a:rPr lang="ar-SA" sz="3200" b="1" u="sng" dirty="0">
                <a:solidFill>
                  <a:srgbClr val="C00000"/>
                </a:solidFill>
              </a:rPr>
              <a:t>نواتج التعلم</a:t>
            </a:r>
          </a:p>
          <a:p>
            <a:pPr marL="342900" indent="-342900" algn="r" rtl="1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ar-AE" sz="2400" b="1" dirty="0"/>
              <a:t>التعرف على أنواع التغذية في الكائنات الحية.</a:t>
            </a:r>
          </a:p>
          <a:p>
            <a:pPr marL="342900" indent="-342900" algn="r" rtl="1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ar-AE" sz="2400" b="1" dirty="0"/>
              <a:t>كيفية انتقال الطاقة في الكائنات الحية.</a:t>
            </a:r>
          </a:p>
          <a:p>
            <a:pPr marL="342900" indent="-342900" algn="r" rtl="1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ar-AE" sz="2400" b="1" dirty="0"/>
              <a:t>التمييز بين السلاسل الغذائية و الشبكات الغذائية و الأهرام الغذائية.</a:t>
            </a:r>
          </a:p>
          <a:p>
            <a:pPr marL="342900" indent="-342900" algn="r" rtl="1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ar-AE" sz="2400" b="1" dirty="0"/>
              <a:t>التمييز بين أنواع الأهرام الغذائية.</a:t>
            </a:r>
            <a:endParaRPr lang="ar-SA" sz="2400" b="1" dirty="0"/>
          </a:p>
        </p:txBody>
      </p:sp>
      <p:sp>
        <p:nvSpPr>
          <p:cNvPr id="5" name="مستطيل مستدير الزوايا 4">
            <a:hlinkClick r:id="" action="ppaction://hlinkshowjump?jump=endshow"/>
            <a:extLst>
              <a:ext uri="{FF2B5EF4-FFF2-40B4-BE49-F238E27FC236}">
                <a16:creationId xmlns:a16="http://schemas.microsoft.com/office/drawing/2014/main" id="{A23C0521-162B-4055-A33C-1F5B5935E5FB}"/>
              </a:ext>
            </a:extLst>
          </p:cNvPr>
          <p:cNvSpPr/>
          <p:nvPr/>
        </p:nvSpPr>
        <p:spPr>
          <a:xfrm>
            <a:off x="2207569" y="5949281"/>
            <a:ext cx="1071563" cy="42862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 eaLnBrk="1" hangingPunct="1">
              <a:defRPr/>
            </a:pPr>
            <a:r>
              <a:rPr lang="ar-AE" sz="3200" b="1" dirty="0">
                <a:solidFill>
                  <a:srgbClr val="000000"/>
                </a:solidFill>
              </a:rPr>
              <a:t>خروج</a:t>
            </a:r>
            <a:endParaRPr lang="ar-EG" b="1" dirty="0">
              <a:solidFill>
                <a:srgbClr val="000000"/>
              </a:solidFill>
            </a:endParaRPr>
          </a:p>
        </p:txBody>
      </p:sp>
      <p:sp>
        <p:nvSpPr>
          <p:cNvPr id="2" name="مستطيل: زوايا مستديرة 1">
            <a:extLst>
              <a:ext uri="{FF2B5EF4-FFF2-40B4-BE49-F238E27FC236}">
                <a16:creationId xmlns:a16="http://schemas.microsoft.com/office/drawing/2014/main" id="{03F10B06-3527-42AF-BB82-F092CAC619C2}"/>
              </a:ext>
            </a:extLst>
          </p:cNvPr>
          <p:cNvSpPr/>
          <p:nvPr/>
        </p:nvSpPr>
        <p:spPr>
          <a:xfrm>
            <a:off x="3663075" y="403188"/>
            <a:ext cx="4995936" cy="1152128"/>
          </a:xfrm>
          <a:prstGeom prst="round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2800" b="1" dirty="0">
                <a:solidFill>
                  <a:schemeClr val="tx1"/>
                </a:solidFill>
              </a:rPr>
              <a:t>القسم </a:t>
            </a:r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ar-SA" sz="2800" b="1" dirty="0">
              <a:solidFill>
                <a:schemeClr val="tx1"/>
              </a:solidFill>
            </a:endParaRPr>
          </a:p>
          <a:p>
            <a:pPr algn="ctr"/>
            <a:r>
              <a:rPr lang="ar-SA" sz="2800" b="1" dirty="0">
                <a:solidFill>
                  <a:schemeClr val="tx1"/>
                </a:solidFill>
              </a:rPr>
              <a:t>انتقال الطاقة في النظام البيئي</a:t>
            </a:r>
            <a:endParaRPr lang="ar-AE" sz="2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مربع نص 3">
            <a:extLst>
              <a:ext uri="{FF2B5EF4-FFF2-40B4-BE49-F238E27FC236}">
                <a16:creationId xmlns:a16="http://schemas.microsoft.com/office/drawing/2014/main" id="{F968FAE6-01EA-4719-A443-7722EC14D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75" y="714375"/>
            <a:ext cx="7429500" cy="535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ar-SA" altLang="ar-AE" sz="3600" b="1" dirty="0">
                <a:solidFill>
                  <a:srgbClr val="FF0000"/>
                </a:solidFill>
                <a:latin typeface="Verdana" panose="020B0604030504040204" pitchFamily="34" charset="0"/>
              </a:rPr>
              <a:t>وزارة التربية و التعليم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ar-AE" altLang="ar-AE" sz="3600" b="1" dirty="0">
                <a:solidFill>
                  <a:srgbClr val="FF0000"/>
                </a:solidFill>
                <a:latin typeface="Verdana" panose="020B0604030504040204" pitchFamily="34" charset="0"/>
              </a:rPr>
              <a:t>مجلس تعليمي (</a:t>
            </a:r>
            <a:r>
              <a:rPr lang="en-US" altLang="ar-AE" sz="3600" b="1" dirty="0">
                <a:solidFill>
                  <a:srgbClr val="FF0000"/>
                </a:solidFill>
                <a:latin typeface="Verdana" panose="020B0604030504040204" pitchFamily="34" charset="0"/>
              </a:rPr>
              <a:t>3</a:t>
            </a:r>
            <a:r>
              <a:rPr lang="ar-AE" altLang="ar-AE" sz="3600" b="1" dirty="0">
                <a:solidFill>
                  <a:srgbClr val="FF0000"/>
                </a:solidFill>
                <a:latin typeface="Verdana" panose="020B0604030504040204" pitchFamily="34" charset="0"/>
              </a:rPr>
              <a:t>) </a:t>
            </a:r>
            <a:r>
              <a:rPr lang="en-US" altLang="ar-AE" sz="3600" b="1" dirty="0">
                <a:solidFill>
                  <a:srgbClr val="FF0000"/>
                </a:solidFill>
                <a:latin typeface="Verdana" panose="020B0604030504040204" pitchFamily="34" charset="0"/>
              </a:rPr>
              <a:t>1</a:t>
            </a:r>
            <a:endParaRPr lang="ar-SA" altLang="ar-AE" sz="3600" b="1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ar-SA" altLang="ar-AE" sz="3600" b="1" dirty="0">
                <a:solidFill>
                  <a:srgbClr val="FF0000"/>
                </a:solidFill>
                <a:latin typeface="Verdana" panose="020B0604030504040204" pitchFamily="34" charset="0"/>
              </a:rPr>
              <a:t>مدرسة الخالدية للتعليم</a:t>
            </a:r>
            <a:r>
              <a:rPr lang="ar-AE" altLang="ar-AE" sz="3600" b="1" dirty="0">
                <a:solidFill>
                  <a:srgbClr val="FF0000"/>
                </a:solidFill>
                <a:latin typeface="Verdana" panose="020B0604030504040204" pitchFamily="34" charset="0"/>
              </a:rPr>
              <a:t> الأساسي و</a:t>
            </a:r>
            <a:r>
              <a:rPr lang="ar-SA" altLang="ar-AE" sz="3600" b="1" dirty="0">
                <a:solidFill>
                  <a:srgbClr val="FF0000"/>
                </a:solidFill>
                <a:latin typeface="Verdana" panose="020B0604030504040204" pitchFamily="34" charset="0"/>
              </a:rPr>
              <a:t> الثانوي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ar-SA" altLang="ar-AE" sz="3600" b="1" i="1" u="sng" dirty="0">
              <a:solidFill>
                <a:srgbClr val="0000FF"/>
              </a:solidFill>
              <a:latin typeface="Verdan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ar-AE" altLang="ar-AE" sz="3600" b="1" i="1" u="sng" dirty="0">
                <a:solidFill>
                  <a:srgbClr val="0000FF"/>
                </a:solidFill>
                <a:latin typeface="Verdana" panose="020B0604030504040204" pitchFamily="34" charset="0"/>
              </a:rPr>
              <a:t>مادة ال</a:t>
            </a:r>
            <a:r>
              <a:rPr lang="ar-SA" altLang="ar-AE" sz="3600" b="1" i="1" u="sng" dirty="0">
                <a:solidFill>
                  <a:srgbClr val="0000FF"/>
                </a:solidFill>
                <a:latin typeface="Verdana" panose="020B0604030504040204" pitchFamily="34" charset="0"/>
              </a:rPr>
              <a:t>أحياء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ar-SA" altLang="ar-AE" sz="3600" b="1" i="1" u="sng" dirty="0">
              <a:solidFill>
                <a:srgbClr val="0000FF"/>
              </a:solidFill>
              <a:latin typeface="Verdan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ar-SA" altLang="ar-AE" sz="3600" b="1" u="sng" dirty="0" err="1">
                <a:solidFill>
                  <a:srgbClr val="0000FF"/>
                </a:solidFill>
                <a:latin typeface="Verdana" panose="020B0604030504040204" pitchFamily="34" charset="0"/>
              </a:rPr>
              <a:t>مباديء</a:t>
            </a:r>
            <a:r>
              <a:rPr lang="ar-SA" altLang="ar-AE" sz="3600" b="1" u="sng" dirty="0">
                <a:solidFill>
                  <a:srgbClr val="0000FF"/>
                </a:solidFill>
                <a:latin typeface="Verdana" panose="020B0604030504040204" pitchFamily="34" charset="0"/>
              </a:rPr>
              <a:t> علم البيئة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ar-SA" altLang="ar-AE" sz="180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ar-AE" altLang="ar-AE" sz="3600" b="1" dirty="0">
                <a:solidFill>
                  <a:srgbClr val="0000FF"/>
                </a:solidFill>
                <a:latin typeface="Verdana" panose="020B0604030504040204" pitchFamily="34" charset="0"/>
              </a:rPr>
              <a:t>        </a:t>
            </a:r>
            <a:r>
              <a:rPr lang="ar-SA" altLang="ar-AE" sz="3600" b="1" dirty="0">
                <a:solidFill>
                  <a:srgbClr val="0000FF"/>
                </a:solidFill>
                <a:latin typeface="Verdana" panose="020B0604030504040204" pitchFamily="34" charset="0"/>
              </a:rPr>
              <a:t>إعداد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ar-AE" altLang="ar-AE" sz="3600" b="1" dirty="0">
                <a:solidFill>
                  <a:srgbClr val="0000FF"/>
                </a:solidFill>
                <a:latin typeface="Verdana" panose="020B0604030504040204" pitchFamily="34" charset="0"/>
              </a:rPr>
              <a:t>الأستاذ: </a:t>
            </a:r>
            <a:r>
              <a:rPr lang="ar-SA" altLang="ar-AE" sz="3600" b="1" dirty="0">
                <a:solidFill>
                  <a:srgbClr val="0000FF"/>
                </a:solidFill>
                <a:latin typeface="Verdana" panose="020B0604030504040204" pitchFamily="34" charset="0"/>
              </a:rPr>
              <a:t>رضا زوحل</a:t>
            </a:r>
          </a:p>
        </p:txBody>
      </p:sp>
      <p:sp>
        <p:nvSpPr>
          <p:cNvPr id="3" name="شكل بيضاوي 2">
            <a:hlinkClick r:id="" action="ppaction://hlinkshowjump?jump=endshow"/>
            <a:extLst>
              <a:ext uri="{FF2B5EF4-FFF2-40B4-BE49-F238E27FC236}">
                <a16:creationId xmlns:a16="http://schemas.microsoft.com/office/drawing/2014/main" id="{D857FFF6-0941-4CF7-B25B-141F156DD511}"/>
              </a:ext>
            </a:extLst>
          </p:cNvPr>
          <p:cNvSpPr/>
          <p:nvPr/>
        </p:nvSpPr>
        <p:spPr>
          <a:xfrm>
            <a:off x="1775520" y="6079133"/>
            <a:ext cx="1143000" cy="6096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 eaLnBrk="1" hangingPunct="1">
              <a:defRPr/>
            </a:pPr>
            <a:r>
              <a:rPr lang="ar-SA" sz="2400" b="1" dirty="0">
                <a:solidFill>
                  <a:schemeClr val="tx2"/>
                </a:solidFill>
              </a:rPr>
              <a:t>خروج</a:t>
            </a:r>
            <a:endParaRPr lang="ar-EG" sz="2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13039D5C-1376-43D0-9AC9-352C2F8DCFB8}"/>
              </a:ext>
            </a:extLst>
          </p:cNvPr>
          <p:cNvSpPr txBox="1"/>
          <p:nvPr/>
        </p:nvSpPr>
        <p:spPr>
          <a:xfrm>
            <a:off x="1858437" y="1929831"/>
            <a:ext cx="8605215" cy="268612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 rtl="1" eaLnBrk="1" hangingPunct="1">
              <a:defRPr/>
            </a:pPr>
            <a:r>
              <a:rPr lang="ar-SA" sz="3200" b="1" u="sng" dirty="0">
                <a:solidFill>
                  <a:srgbClr val="C00000"/>
                </a:solidFill>
              </a:rPr>
              <a:t>نواتج التعلم</a:t>
            </a:r>
          </a:p>
          <a:p>
            <a:pPr marL="342900" indent="-342900" algn="r" rtl="1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ar-AE" sz="2400" b="1" dirty="0"/>
              <a:t>التعرف على أنواع التغذية في الكائنات الحية.</a:t>
            </a:r>
          </a:p>
          <a:p>
            <a:pPr marL="342900" indent="-342900" algn="r" rtl="1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ar-AE" sz="2400" b="1" dirty="0"/>
              <a:t>كيفية انتقال الطاقة في الكائنات الحية.</a:t>
            </a:r>
          </a:p>
          <a:p>
            <a:pPr marL="342900" indent="-342900" algn="r" rtl="1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ar-AE" sz="2400" b="1" dirty="0"/>
              <a:t>التمييز بين السلاسل الغذائية و الشبكات الغذائية و الأهرام الغذائية.</a:t>
            </a:r>
          </a:p>
        </p:txBody>
      </p:sp>
      <p:sp>
        <p:nvSpPr>
          <p:cNvPr id="5" name="مستطيل مستدير الزوايا 4">
            <a:hlinkClick r:id="" action="ppaction://hlinkshowjump?jump=endshow"/>
            <a:extLst>
              <a:ext uri="{FF2B5EF4-FFF2-40B4-BE49-F238E27FC236}">
                <a16:creationId xmlns:a16="http://schemas.microsoft.com/office/drawing/2014/main" id="{A23C0521-162B-4055-A33C-1F5B5935E5FB}"/>
              </a:ext>
            </a:extLst>
          </p:cNvPr>
          <p:cNvSpPr/>
          <p:nvPr/>
        </p:nvSpPr>
        <p:spPr>
          <a:xfrm>
            <a:off x="2207569" y="5949281"/>
            <a:ext cx="1071563" cy="42862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 eaLnBrk="1" hangingPunct="1">
              <a:defRPr/>
            </a:pPr>
            <a:r>
              <a:rPr lang="ar-AE" sz="3200" b="1" dirty="0">
                <a:solidFill>
                  <a:srgbClr val="000000"/>
                </a:solidFill>
              </a:rPr>
              <a:t>خروج</a:t>
            </a:r>
            <a:endParaRPr lang="ar-EG" b="1" dirty="0">
              <a:solidFill>
                <a:srgbClr val="000000"/>
              </a:solidFill>
            </a:endParaRPr>
          </a:p>
        </p:txBody>
      </p:sp>
      <p:sp>
        <p:nvSpPr>
          <p:cNvPr id="2" name="مستطيل: زوايا مستديرة 1">
            <a:extLst>
              <a:ext uri="{FF2B5EF4-FFF2-40B4-BE49-F238E27FC236}">
                <a16:creationId xmlns:a16="http://schemas.microsoft.com/office/drawing/2014/main" id="{03F10B06-3527-42AF-BB82-F092CAC619C2}"/>
              </a:ext>
            </a:extLst>
          </p:cNvPr>
          <p:cNvSpPr/>
          <p:nvPr/>
        </p:nvSpPr>
        <p:spPr>
          <a:xfrm>
            <a:off x="3663075" y="403188"/>
            <a:ext cx="4995936" cy="1152128"/>
          </a:xfrm>
          <a:prstGeom prst="round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2800" b="1" dirty="0">
                <a:solidFill>
                  <a:schemeClr val="tx1"/>
                </a:solidFill>
              </a:rPr>
              <a:t>القسم </a:t>
            </a:r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ar-SA" sz="2800" b="1" dirty="0">
              <a:solidFill>
                <a:schemeClr val="tx1"/>
              </a:solidFill>
            </a:endParaRPr>
          </a:p>
          <a:p>
            <a:pPr algn="ctr"/>
            <a:r>
              <a:rPr lang="ar-SA" sz="2800" b="1" dirty="0">
                <a:solidFill>
                  <a:schemeClr val="tx1"/>
                </a:solidFill>
              </a:rPr>
              <a:t>انتقال الطاقة في النظام البيئي</a:t>
            </a:r>
            <a:endParaRPr lang="ar-AE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670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753627" y="172249"/>
            <a:ext cx="3389009" cy="1156998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>
              <a:lnSpc>
                <a:spcPct val="200000"/>
              </a:lnSpc>
            </a:pPr>
            <a:r>
              <a:rPr lang="ar-AE" sz="2800" b="1" dirty="0">
                <a:solidFill>
                  <a:srgbClr val="002060"/>
                </a:solidFill>
                <a:cs typeface="+mj-cs"/>
              </a:rPr>
              <a:t>مفردات وجمل للمراجعة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3915" y="1885223"/>
            <a:ext cx="11636828" cy="2554674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002060"/>
                </a:solidFill>
                <a:cs typeface="+mj-cs"/>
              </a:rPr>
              <a:t>1</a:t>
            </a:r>
            <a:r>
              <a:rPr lang="ar-AE" sz="2800" b="1" dirty="0">
                <a:solidFill>
                  <a:srgbClr val="002060"/>
                </a:solidFill>
                <a:cs typeface="+mj-cs"/>
              </a:rPr>
              <a:t>- الدورة: سلسلة من الاحداث التي تجري في نمط متكرر ومنتظم تبدأ وتنتهي في نفس النقطة.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002060"/>
                </a:solidFill>
                <a:cs typeface="+mj-cs"/>
              </a:rPr>
              <a:t>2</a:t>
            </a:r>
            <a:r>
              <a:rPr lang="ar-AE" sz="2800" b="1" dirty="0">
                <a:solidFill>
                  <a:srgbClr val="002060"/>
                </a:solidFill>
                <a:cs typeface="+mj-cs"/>
              </a:rPr>
              <a:t>- الشمس هي المصدر الأول والأساسي للطاقة.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002060"/>
                </a:solidFill>
                <a:cs typeface="+mj-cs"/>
              </a:rPr>
              <a:t>3</a:t>
            </a:r>
            <a:r>
              <a:rPr lang="ar-AE" sz="2800" b="1" dirty="0">
                <a:solidFill>
                  <a:srgbClr val="002060"/>
                </a:solidFill>
                <a:cs typeface="+mj-cs"/>
              </a:rPr>
              <a:t>- تحصل الكائنات ذاتية التغذية على الطاقة وتوفرها لكل أفراد الشبكة الغذائية.</a:t>
            </a:r>
          </a:p>
        </p:txBody>
      </p:sp>
    </p:spTree>
    <p:extLst>
      <p:ext uri="{BB962C8B-B14F-4D97-AF65-F5344CB8AC3E}">
        <p14:creationId xmlns:p14="http://schemas.microsoft.com/office/powerpoint/2010/main" val="399876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"/>
            <a:ext cx="2457450" cy="24952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642" y="1622240"/>
            <a:ext cx="2032827" cy="17460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809" y="3040406"/>
            <a:ext cx="2594919" cy="2490787"/>
          </a:xfrm>
          <a:prstGeom prst="rect">
            <a:avLst/>
          </a:prstGeom>
        </p:spPr>
      </p:pic>
      <p:sp>
        <p:nvSpPr>
          <p:cNvPr id="12" name="Curved Left Arrow 11"/>
          <p:cNvSpPr/>
          <p:nvPr/>
        </p:nvSpPr>
        <p:spPr>
          <a:xfrm rot="17520190">
            <a:off x="3711364" y="383562"/>
            <a:ext cx="966755" cy="1960156"/>
          </a:xfrm>
          <a:prstGeom prst="curvedLef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Left Arrow 12"/>
          <p:cNvSpPr/>
          <p:nvPr/>
        </p:nvSpPr>
        <p:spPr>
          <a:xfrm rot="17520190">
            <a:off x="5710366" y="1851216"/>
            <a:ext cx="966755" cy="1960156"/>
          </a:xfrm>
          <a:prstGeom prst="curved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949" y="5495839"/>
            <a:ext cx="2084694" cy="13534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1814" y="2098887"/>
            <a:ext cx="1854326" cy="27780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174" y="4375858"/>
            <a:ext cx="1355641" cy="17175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ight Arrow 16"/>
          <p:cNvSpPr/>
          <p:nvPr/>
        </p:nvSpPr>
        <p:spPr>
          <a:xfrm rot="1813308">
            <a:off x="6705586" y="4573539"/>
            <a:ext cx="2002701" cy="328843"/>
          </a:xfrm>
          <a:prstGeom prst="rightArrow">
            <a:avLst/>
          </a:prstGeom>
          <a:solidFill>
            <a:srgbClr val="C66A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 rot="3365039">
            <a:off x="5829876" y="5056252"/>
            <a:ext cx="1496331" cy="328843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 rot="20904559">
            <a:off x="6662464" y="3494295"/>
            <a:ext cx="1598823" cy="32884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3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4052235" y="3168365"/>
            <a:ext cx="7928009" cy="9649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C39B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AE" sz="3200" b="1" dirty="0">
                <a:solidFill>
                  <a:srgbClr val="7030A0"/>
                </a:solidFill>
                <a:cs typeface="+mj-cs"/>
              </a:rPr>
              <a:t>     قسم </a:t>
            </a:r>
            <a:r>
              <a:rPr lang="en-US" sz="3200" b="1" dirty="0">
                <a:solidFill>
                  <a:srgbClr val="7030A0"/>
                </a:solidFill>
                <a:cs typeface="+mj-cs"/>
              </a:rPr>
              <a:t>2</a:t>
            </a:r>
            <a:r>
              <a:rPr lang="ar-AE" sz="3200" b="1" dirty="0">
                <a:solidFill>
                  <a:srgbClr val="7030A0"/>
                </a:solidFill>
                <a:cs typeface="+mj-cs"/>
              </a:rPr>
              <a:t>: انتقال الطاقة في النظام البيئي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8" y="1135780"/>
            <a:ext cx="5972175" cy="503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64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انتقال الطاقة في النظام البيئي">
            <a:hlinkClick r:id="" action="ppaction://media"/>
            <a:extLst>
              <a:ext uri="{FF2B5EF4-FFF2-40B4-BE49-F238E27FC236}">
                <a16:creationId xmlns:a16="http://schemas.microsoft.com/office/drawing/2014/main" id="{FA6D401A-39FE-4127-80E7-93F65684F0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0371" y="109247"/>
            <a:ext cx="11853801" cy="6667763"/>
          </a:xfrm>
          <a:prstGeom prst="rect">
            <a:avLst/>
          </a:prstGeom>
        </p:spPr>
      </p:pic>
      <p:sp>
        <p:nvSpPr>
          <p:cNvPr id="2" name="مستطيل 1">
            <a:extLst>
              <a:ext uri="{FF2B5EF4-FFF2-40B4-BE49-F238E27FC236}">
                <a16:creationId xmlns:a16="http://schemas.microsoft.com/office/drawing/2014/main" id="{C9CF470C-48F8-4D8C-A10D-53A9E4BA05B6}"/>
              </a:ext>
            </a:extLst>
          </p:cNvPr>
          <p:cNvSpPr/>
          <p:nvPr/>
        </p:nvSpPr>
        <p:spPr>
          <a:xfrm>
            <a:off x="152399" y="109248"/>
            <a:ext cx="3788229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ar-AE" sz="2800" b="1" dirty="0">
                <a:solidFill>
                  <a:srgbClr val="3E3E3E"/>
                </a:solidFill>
                <a:latin typeface="Roboto"/>
              </a:rPr>
              <a:t>انتقال الطاقة في النظام البيئي</a:t>
            </a:r>
            <a:endParaRPr lang="ar-AE" sz="2800" b="1" dirty="0"/>
          </a:p>
        </p:txBody>
      </p:sp>
    </p:spTree>
    <p:extLst>
      <p:ext uri="{BB962C8B-B14F-4D97-AF65-F5344CB8AC3E}">
        <p14:creationId xmlns:p14="http://schemas.microsoft.com/office/powerpoint/2010/main" val="178693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31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638002" y="0"/>
            <a:ext cx="615553" cy="6857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39BE1"/>
            </a:solidFill>
          </a:ln>
        </p:spPr>
        <p:txBody>
          <a:bodyPr vert="vert270" wrap="square" rtlCol="1">
            <a:spAutoFit/>
          </a:bodyPr>
          <a:lstStyle/>
          <a:p>
            <a:pPr algn="ctr"/>
            <a:r>
              <a:rPr lang="ar-AE" sz="2800" b="1" dirty="0">
                <a:solidFill>
                  <a:srgbClr val="A365D1"/>
                </a:solidFill>
                <a:cs typeface="+mj-cs"/>
              </a:rPr>
              <a:t>الطاقــــــة في النظــــــام البيئي</a:t>
            </a:r>
          </a:p>
        </p:txBody>
      </p:sp>
      <p:pic>
        <p:nvPicPr>
          <p:cNvPr id="11" name="videoplayback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99920" end="129869.6666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62527" y="960161"/>
            <a:ext cx="10318282" cy="525775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95436" y="212833"/>
            <a:ext cx="327258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AE" sz="3200" b="1" dirty="0">
                <a:solidFill>
                  <a:srgbClr val="FF4B4B"/>
                </a:solidFill>
              </a:rPr>
              <a:t>لماذا نحتـــاج الغـــذاء؟</a:t>
            </a:r>
          </a:p>
        </p:txBody>
      </p:sp>
    </p:spTree>
    <p:extLst>
      <p:ext uri="{BB962C8B-B14F-4D97-AF65-F5344CB8AC3E}">
        <p14:creationId xmlns:p14="http://schemas.microsoft.com/office/powerpoint/2010/main" val="380291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638002" y="0"/>
            <a:ext cx="615553" cy="6857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39BE1"/>
            </a:solidFill>
          </a:ln>
        </p:spPr>
        <p:txBody>
          <a:bodyPr vert="vert270" wrap="square" rtlCol="1">
            <a:spAutoFit/>
          </a:bodyPr>
          <a:lstStyle/>
          <a:p>
            <a:pPr algn="ctr"/>
            <a:r>
              <a:rPr lang="ar-AE" sz="2800" b="1" dirty="0">
                <a:solidFill>
                  <a:srgbClr val="A365D1"/>
                </a:solidFill>
                <a:cs typeface="+mj-cs"/>
              </a:rPr>
              <a:t>الطاقــــــة في النظــــــام البيئي</a:t>
            </a:r>
          </a:p>
        </p:txBody>
      </p:sp>
      <p:pic>
        <p:nvPicPr>
          <p:cNvPr id="10" name="videoplayback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8639" end="212291.6666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3887" y="1132445"/>
            <a:ext cx="10780294" cy="53997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50618" y="442761"/>
            <a:ext cx="706547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AE" sz="2800" b="1" dirty="0">
                <a:solidFill>
                  <a:srgbClr val="FF4B4B"/>
                </a:solidFill>
              </a:rPr>
              <a:t>كيف تنتقل الطاقة من النباتات الى الكائنات الحية الأخرى؟</a:t>
            </a:r>
          </a:p>
        </p:txBody>
      </p:sp>
    </p:spTree>
    <p:extLst>
      <p:ext uri="{BB962C8B-B14F-4D97-AF65-F5344CB8AC3E}">
        <p14:creationId xmlns:p14="http://schemas.microsoft.com/office/powerpoint/2010/main" val="231496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ستطيل: زوايا مستديرة 1">
            <a:extLst>
              <a:ext uri="{FF2B5EF4-FFF2-40B4-BE49-F238E27FC236}">
                <a16:creationId xmlns:a16="http://schemas.microsoft.com/office/drawing/2014/main" id="{429E2EE0-4522-4C5B-8E78-F43345C201C4}"/>
              </a:ext>
            </a:extLst>
          </p:cNvPr>
          <p:cNvSpPr/>
          <p:nvPr/>
        </p:nvSpPr>
        <p:spPr>
          <a:xfrm>
            <a:off x="5247303" y="0"/>
            <a:ext cx="2170545" cy="85290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أنواع التغذية</a:t>
            </a:r>
          </a:p>
        </p:txBody>
      </p:sp>
      <p:sp>
        <p:nvSpPr>
          <p:cNvPr id="4" name="مستطيل: زوايا مستديرة 3">
            <a:extLst>
              <a:ext uri="{FF2B5EF4-FFF2-40B4-BE49-F238E27FC236}">
                <a16:creationId xmlns:a16="http://schemas.microsoft.com/office/drawing/2014/main" id="{CC3E1046-C7D7-4089-9DC2-2DA3CEF240F8}"/>
              </a:ext>
            </a:extLst>
          </p:cNvPr>
          <p:cNvSpPr/>
          <p:nvPr/>
        </p:nvSpPr>
        <p:spPr>
          <a:xfrm>
            <a:off x="8923898" y="1116645"/>
            <a:ext cx="2170545" cy="785091"/>
          </a:xfrm>
          <a:prstGeom prst="roundRect">
            <a:avLst/>
          </a:prstGeom>
          <a:solidFill>
            <a:schemeClr val="accent5">
              <a:alpha val="7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تغذية ذاتية</a:t>
            </a:r>
          </a:p>
        </p:txBody>
      </p:sp>
      <p:sp>
        <p:nvSpPr>
          <p:cNvPr id="5" name="مستطيل: زوايا مستديرة 4">
            <a:extLst>
              <a:ext uri="{FF2B5EF4-FFF2-40B4-BE49-F238E27FC236}">
                <a16:creationId xmlns:a16="http://schemas.microsoft.com/office/drawing/2014/main" id="{2901BD49-47CD-41A6-B29F-982484671622}"/>
              </a:ext>
            </a:extLst>
          </p:cNvPr>
          <p:cNvSpPr/>
          <p:nvPr/>
        </p:nvSpPr>
        <p:spPr>
          <a:xfrm>
            <a:off x="1680111" y="1059556"/>
            <a:ext cx="2170545" cy="785091"/>
          </a:xfrm>
          <a:prstGeom prst="roundRect">
            <a:avLst/>
          </a:prstGeom>
          <a:solidFill>
            <a:srgbClr val="FF505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تغذية غير ذاتية</a:t>
            </a:r>
          </a:p>
        </p:txBody>
      </p:sp>
      <p:sp>
        <p:nvSpPr>
          <p:cNvPr id="7" name="مستطيل: زوايا مستديرة 6">
            <a:extLst>
              <a:ext uri="{FF2B5EF4-FFF2-40B4-BE49-F238E27FC236}">
                <a16:creationId xmlns:a16="http://schemas.microsoft.com/office/drawing/2014/main" id="{C7EDBA10-447F-4075-BAE9-19B7CECF7285}"/>
              </a:ext>
            </a:extLst>
          </p:cNvPr>
          <p:cNvSpPr/>
          <p:nvPr/>
        </p:nvSpPr>
        <p:spPr>
          <a:xfrm>
            <a:off x="8351890" y="2775145"/>
            <a:ext cx="3506421" cy="967781"/>
          </a:xfrm>
          <a:prstGeom prst="roundRect">
            <a:avLst/>
          </a:prstGeom>
          <a:solidFill>
            <a:schemeClr val="accent5">
              <a:alpha val="7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ضوئية</a:t>
            </a:r>
          </a:p>
        </p:txBody>
      </p:sp>
      <p:sp>
        <p:nvSpPr>
          <p:cNvPr id="8" name="مستطيل: زوايا مستديرة 7">
            <a:extLst>
              <a:ext uri="{FF2B5EF4-FFF2-40B4-BE49-F238E27FC236}">
                <a16:creationId xmlns:a16="http://schemas.microsoft.com/office/drawing/2014/main" id="{14F096E8-FCC1-4F09-9885-A4BC9B16237D}"/>
              </a:ext>
            </a:extLst>
          </p:cNvPr>
          <p:cNvSpPr/>
          <p:nvPr/>
        </p:nvSpPr>
        <p:spPr>
          <a:xfrm>
            <a:off x="8351890" y="4061769"/>
            <a:ext cx="3506421" cy="967781"/>
          </a:xfrm>
          <a:prstGeom prst="roundRect">
            <a:avLst/>
          </a:prstGeom>
          <a:solidFill>
            <a:schemeClr val="accent5">
              <a:alpha val="7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كيميائية</a:t>
            </a:r>
          </a:p>
        </p:txBody>
      </p:sp>
      <p:sp>
        <p:nvSpPr>
          <p:cNvPr id="9" name="مستطيل: زوايا مستديرة 8">
            <a:extLst>
              <a:ext uri="{FF2B5EF4-FFF2-40B4-BE49-F238E27FC236}">
                <a16:creationId xmlns:a16="http://schemas.microsoft.com/office/drawing/2014/main" id="{B39D280C-E9D7-4D4F-922C-E295C05A420C}"/>
              </a:ext>
            </a:extLst>
          </p:cNvPr>
          <p:cNvSpPr/>
          <p:nvPr/>
        </p:nvSpPr>
        <p:spPr>
          <a:xfrm>
            <a:off x="489858" y="2166644"/>
            <a:ext cx="3350252" cy="785091"/>
          </a:xfrm>
          <a:prstGeom prst="roundRect">
            <a:avLst/>
          </a:prstGeom>
          <a:solidFill>
            <a:srgbClr val="FF505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آكلات النباتات</a:t>
            </a:r>
          </a:p>
        </p:txBody>
      </p:sp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137468A5-6800-44C1-864A-5408754DD8FD}"/>
              </a:ext>
            </a:extLst>
          </p:cNvPr>
          <p:cNvSpPr/>
          <p:nvPr/>
        </p:nvSpPr>
        <p:spPr>
          <a:xfrm>
            <a:off x="489858" y="3090934"/>
            <a:ext cx="3350252" cy="785091"/>
          </a:xfrm>
          <a:prstGeom prst="roundRect">
            <a:avLst/>
          </a:prstGeom>
          <a:solidFill>
            <a:srgbClr val="FF505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آكلات اللحوم</a:t>
            </a:r>
          </a:p>
        </p:txBody>
      </p:sp>
      <p:sp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1B76C945-AB4C-4DFE-ADAD-BCE8E15BC697}"/>
              </a:ext>
            </a:extLst>
          </p:cNvPr>
          <p:cNvSpPr/>
          <p:nvPr/>
        </p:nvSpPr>
        <p:spPr>
          <a:xfrm>
            <a:off x="500405" y="4052117"/>
            <a:ext cx="3350252" cy="785091"/>
          </a:xfrm>
          <a:prstGeom prst="roundRect">
            <a:avLst/>
          </a:prstGeom>
          <a:solidFill>
            <a:srgbClr val="FF505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آكلات النباتات و اللحوم</a:t>
            </a:r>
          </a:p>
        </p:txBody>
      </p:sp>
      <p:sp>
        <p:nvSpPr>
          <p:cNvPr id="12" name="مستطيل: زوايا مستديرة 11">
            <a:extLst>
              <a:ext uri="{FF2B5EF4-FFF2-40B4-BE49-F238E27FC236}">
                <a16:creationId xmlns:a16="http://schemas.microsoft.com/office/drawing/2014/main" id="{2593DA8F-C3B0-4A02-90B7-F93E6D833357}"/>
              </a:ext>
            </a:extLst>
          </p:cNvPr>
          <p:cNvSpPr/>
          <p:nvPr/>
        </p:nvSpPr>
        <p:spPr>
          <a:xfrm>
            <a:off x="489859" y="5910984"/>
            <a:ext cx="3350252" cy="785091"/>
          </a:xfrm>
          <a:prstGeom prst="roundRect">
            <a:avLst/>
          </a:prstGeom>
          <a:solidFill>
            <a:srgbClr val="FF505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المحللات</a:t>
            </a:r>
          </a:p>
        </p:txBody>
      </p:sp>
      <p:sp>
        <p:nvSpPr>
          <p:cNvPr id="13" name="مستطيل: زوايا مستديرة 12">
            <a:extLst>
              <a:ext uri="{FF2B5EF4-FFF2-40B4-BE49-F238E27FC236}">
                <a16:creationId xmlns:a16="http://schemas.microsoft.com/office/drawing/2014/main" id="{C2C23C37-2229-452F-859D-299C6D27B4B3}"/>
              </a:ext>
            </a:extLst>
          </p:cNvPr>
          <p:cNvSpPr/>
          <p:nvPr/>
        </p:nvSpPr>
        <p:spPr>
          <a:xfrm>
            <a:off x="461985" y="5002146"/>
            <a:ext cx="3350252" cy="785091"/>
          </a:xfrm>
          <a:prstGeom prst="roundRect">
            <a:avLst/>
          </a:prstGeom>
          <a:solidFill>
            <a:srgbClr val="FF505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 err="1">
                <a:solidFill>
                  <a:schemeClr val="tx1"/>
                </a:solidFill>
              </a:rPr>
              <a:t>الكانسة</a:t>
            </a:r>
            <a:endParaRPr lang="ar-AE" sz="2800" b="1" dirty="0">
              <a:solidFill>
                <a:schemeClr val="tx1"/>
              </a:solidFill>
            </a:endParaRPr>
          </a:p>
        </p:txBody>
      </p:sp>
      <p:sp>
        <p:nvSpPr>
          <p:cNvPr id="3" name="قوس كبير أيسر 2">
            <a:extLst>
              <a:ext uri="{FF2B5EF4-FFF2-40B4-BE49-F238E27FC236}">
                <a16:creationId xmlns:a16="http://schemas.microsoft.com/office/drawing/2014/main" id="{F40E0681-6864-40C7-925A-2A2E348773FD}"/>
              </a:ext>
            </a:extLst>
          </p:cNvPr>
          <p:cNvSpPr/>
          <p:nvPr/>
        </p:nvSpPr>
        <p:spPr>
          <a:xfrm rot="5400000">
            <a:off x="6122862" y="-2675219"/>
            <a:ext cx="141333" cy="7391399"/>
          </a:xfrm>
          <a:prstGeom prst="leftBrace">
            <a:avLst>
              <a:gd name="adj1" fmla="val 8333"/>
              <a:gd name="adj2" fmla="val 47349"/>
            </a:avLst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AE"/>
          </a:p>
        </p:txBody>
      </p:sp>
      <p:sp>
        <p:nvSpPr>
          <p:cNvPr id="14" name="سهم: لأسفل 13">
            <a:extLst>
              <a:ext uri="{FF2B5EF4-FFF2-40B4-BE49-F238E27FC236}">
                <a16:creationId xmlns:a16="http://schemas.microsoft.com/office/drawing/2014/main" id="{7BAA6A33-5A93-4DAA-A199-C400A8282BB2}"/>
              </a:ext>
            </a:extLst>
          </p:cNvPr>
          <p:cNvSpPr/>
          <p:nvPr/>
        </p:nvSpPr>
        <p:spPr>
          <a:xfrm>
            <a:off x="9889228" y="1954389"/>
            <a:ext cx="648143" cy="78509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AE"/>
          </a:p>
        </p:txBody>
      </p:sp>
      <p:sp>
        <p:nvSpPr>
          <p:cNvPr id="15" name="سهم: لأسفل 14">
            <a:extLst>
              <a:ext uri="{FF2B5EF4-FFF2-40B4-BE49-F238E27FC236}">
                <a16:creationId xmlns:a16="http://schemas.microsoft.com/office/drawing/2014/main" id="{37C3463F-1B4B-465B-9740-12D8638C9633}"/>
              </a:ext>
            </a:extLst>
          </p:cNvPr>
          <p:cNvSpPr/>
          <p:nvPr/>
        </p:nvSpPr>
        <p:spPr>
          <a:xfrm>
            <a:off x="2497829" y="1764905"/>
            <a:ext cx="648143" cy="45236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AE" dirty="0"/>
          </a:p>
        </p:txBody>
      </p:sp>
    </p:spTree>
    <p:extLst>
      <p:ext uri="{BB962C8B-B14F-4D97-AF65-F5344CB8AC3E}">
        <p14:creationId xmlns:p14="http://schemas.microsoft.com/office/powerpoint/2010/main" val="378909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940211"/>
              </p:ext>
            </p:extLst>
          </p:nvPr>
        </p:nvGraphicFramePr>
        <p:xfrm>
          <a:off x="533400" y="118472"/>
          <a:ext cx="11042301" cy="515207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1042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5399">
                <a:tc>
                  <a:txBody>
                    <a:bodyPr/>
                    <a:lstStyle/>
                    <a:p>
                      <a:pPr algn="ctr" rtl="1"/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ما المنتجات والمستهلكات في نظام بيئي ما؟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479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sz="3200" b="1" u="sng" dirty="0">
                          <a:solidFill>
                            <a:srgbClr val="FF0000"/>
                          </a:solidFill>
                          <a:cs typeface="+mj-cs"/>
                        </a:rPr>
                        <a:t>ذاتية التغذية </a:t>
                      </a: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هي التي تنتج غذاءها بنفسها، وتسمى </a:t>
                      </a:r>
                      <a:r>
                        <a:rPr lang="ar-AE" sz="3200" b="1" u="sng" dirty="0">
                          <a:solidFill>
                            <a:srgbClr val="002060"/>
                          </a:solidFill>
                          <a:cs typeface="+mj-cs"/>
                        </a:rPr>
                        <a:t>المنتجات</a:t>
                      </a: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 الأولية</a:t>
                      </a:r>
                      <a:r>
                        <a:rPr lang="ar-AE" sz="3200" b="1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وهي أساس </a:t>
                      </a:r>
                      <a:r>
                        <a:rPr lang="ar-AE" sz="32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لكل الأنظمة البيئية لأنها توفر الطاقة لجميع الكائنات الحية الأخرى في النظام البيئي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6108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u="sng" dirty="0">
                          <a:solidFill>
                            <a:srgbClr val="002060"/>
                          </a:solidFill>
                          <a:cs typeface="+mj-cs"/>
                        </a:rPr>
                        <a:t>(بناء ضوئي) </a:t>
                      </a: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تمتص النباتات و الطحالب الطاقة أثناء عملية </a:t>
                      </a:r>
                      <a:r>
                        <a:rPr lang="ar-AE" sz="2800" b="1" u="sng" dirty="0">
                          <a:solidFill>
                            <a:srgbClr val="FF5050"/>
                          </a:solidFill>
                          <a:cs typeface="+mj-cs"/>
                        </a:rPr>
                        <a:t>البناء الضوئي </a:t>
                      </a: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وتستخدمها في</a:t>
                      </a:r>
                      <a:r>
                        <a:rPr lang="ar-AE" sz="2800" b="1" baseline="0" dirty="0">
                          <a:solidFill>
                            <a:srgbClr val="002060"/>
                          </a:solidFill>
                          <a:cs typeface="+mj-cs"/>
                        </a:rPr>
                        <a:t> تحويل المواد غير العضوية المتمثلة في ثاني أكسيد الكربون والمياه إلى جزيئات عضوية.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u="sng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(بناء كيمائي) </a:t>
                      </a: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في الأماكن حيث لا يتوفر ضوء الشمس، تستخدم بعض أنواع البكتيريا كبريتيد الهيدروجين وثاني</a:t>
                      </a:r>
                      <a:r>
                        <a:rPr lang="ar-AE" sz="2800" b="1" baseline="0" dirty="0">
                          <a:solidFill>
                            <a:srgbClr val="002060"/>
                          </a:solidFill>
                          <a:cs typeface="+mj-cs"/>
                        </a:rPr>
                        <a:t> أكسيد الكربون لبناء جزيئات عضوية تستخدمها كغذاء.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صورة 4">
            <a:extLst>
              <a:ext uri="{FF2B5EF4-FFF2-40B4-BE49-F238E27FC236}">
                <a16:creationId xmlns:a16="http://schemas.microsoft.com/office/drawing/2014/main" id="{CFA8CAC7-F152-4B2F-86F6-3D26499BE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165234"/>
            <a:ext cx="11042301" cy="457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59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488558"/>
              </p:ext>
            </p:extLst>
          </p:nvPr>
        </p:nvGraphicFramePr>
        <p:xfrm>
          <a:off x="80387" y="71119"/>
          <a:ext cx="11746524" cy="631133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401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4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0487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400" b="1" u="sng" dirty="0">
                          <a:solidFill>
                            <a:srgbClr val="FF0000"/>
                          </a:solidFill>
                          <a:cs typeface="+mj-cs"/>
                        </a:rPr>
                        <a:t>غير ذاتي التغذية </a:t>
                      </a:r>
                      <a:r>
                        <a:rPr lang="ar-AE" sz="2400" b="1" dirty="0">
                          <a:solidFill>
                            <a:srgbClr val="002060"/>
                          </a:solidFill>
                          <a:cs typeface="+mj-cs"/>
                        </a:rPr>
                        <a:t>هو الذي يحصل على احتياجاته من الطاقة بالتهام كائنات حية أخرى، وتسمى المستهلكات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AE" sz="1400" dirty="0">
                        <a:cs typeface="+mj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AE" sz="1400" dirty="0">
                        <a:cs typeface="+mj-cs"/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rtl="1"/>
                      <a:endParaRPr lang="ar-AE" sz="1400" dirty="0"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1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آكلات النباتات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آكلات اللحوم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كائنات متنوعة التغذية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endParaRPr lang="ar-AE" sz="2400" b="1" dirty="0">
                        <a:solidFill>
                          <a:srgbClr val="002060"/>
                        </a:solidFill>
                        <a:cs typeface="+mj-cs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1893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هي التي تتغذى على النباتات فقط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هي التي تفترس كائنات أخرى غير ذاتية التغذية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تتغذى على النباتات</a:t>
                      </a:r>
                      <a:r>
                        <a:rPr lang="ar-AE" sz="3200" b="1" baseline="0" dirty="0">
                          <a:solidFill>
                            <a:srgbClr val="002060"/>
                          </a:solidFill>
                          <a:cs typeface="+mj-cs"/>
                        </a:rPr>
                        <a:t> والحيوانات</a:t>
                      </a:r>
                      <a:endParaRPr lang="ar-AE" sz="3200" b="1" dirty="0">
                        <a:solidFill>
                          <a:srgbClr val="002060"/>
                        </a:solidFill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endParaRPr lang="ar-AE" sz="2400" b="1" dirty="0">
                        <a:solidFill>
                          <a:srgbClr val="002060"/>
                        </a:solidFill>
                        <a:cs typeface="+mj-cs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362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البقرة والارنب والجراد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الذئاب والأسود والوشق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الدب والانسان والطائر المحاكي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endParaRPr lang="ar-AE" sz="2400" b="1" dirty="0">
                        <a:solidFill>
                          <a:srgbClr val="002060"/>
                        </a:solidFill>
                        <a:cs typeface="+mj-cs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مستطيل 1">
            <a:extLst>
              <a:ext uri="{FF2B5EF4-FFF2-40B4-BE49-F238E27FC236}">
                <a16:creationId xmlns:a16="http://schemas.microsoft.com/office/drawing/2014/main" id="{9F1584AB-8DE9-4E90-850C-1C7A8BCE00EC}"/>
              </a:ext>
            </a:extLst>
          </p:cNvPr>
          <p:cNvSpPr/>
          <p:nvPr/>
        </p:nvSpPr>
        <p:spPr>
          <a:xfrm>
            <a:off x="4991518" y="1066799"/>
            <a:ext cx="4397829" cy="51489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AE" dirty="0"/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523D0D25-FB90-4E4B-B4D5-032274336F91}"/>
              </a:ext>
            </a:extLst>
          </p:cNvPr>
          <p:cNvSpPr/>
          <p:nvPr/>
        </p:nvSpPr>
        <p:spPr>
          <a:xfrm>
            <a:off x="365089" y="1066800"/>
            <a:ext cx="4397829" cy="51489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29287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5591" t="22886" r="1224" b="25662"/>
          <a:stretch/>
        </p:blipFill>
        <p:spPr>
          <a:xfrm>
            <a:off x="-424543" y="3287313"/>
            <a:ext cx="9184738" cy="31955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38002" y="0"/>
            <a:ext cx="615553" cy="6857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39BE1"/>
            </a:solidFill>
          </a:ln>
        </p:spPr>
        <p:txBody>
          <a:bodyPr vert="vert270" wrap="square" rtlCol="1">
            <a:spAutoFit/>
          </a:bodyPr>
          <a:lstStyle/>
          <a:p>
            <a:pPr algn="ctr"/>
            <a:r>
              <a:rPr lang="ar-AE" sz="2800" b="1" dirty="0">
                <a:solidFill>
                  <a:srgbClr val="A365D1"/>
                </a:solidFill>
                <a:cs typeface="+mj-cs"/>
              </a:rPr>
              <a:t>الطاقــــــة في النظــــــام البيئي</a:t>
            </a:r>
          </a:p>
        </p:txBody>
      </p:sp>
      <p:sp>
        <p:nvSpPr>
          <p:cNvPr id="7" name="Line Callout 1 6"/>
          <p:cNvSpPr/>
          <p:nvPr/>
        </p:nvSpPr>
        <p:spPr>
          <a:xfrm flipH="1">
            <a:off x="7596132" y="5054723"/>
            <a:ext cx="2498580" cy="480978"/>
          </a:xfrm>
          <a:prstGeom prst="borderCallout1">
            <a:avLst>
              <a:gd name="adj1" fmla="val 52933"/>
              <a:gd name="adj2" fmla="val 86"/>
              <a:gd name="adj3" fmla="val 270111"/>
              <a:gd name="adj4" fmla="val 55869"/>
            </a:avLst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dirty="0">
                <a:solidFill>
                  <a:srgbClr val="FF0000"/>
                </a:solidFill>
                <a:cs typeface="+mj-cs"/>
              </a:rPr>
              <a:t>آكل نبات وآكل حيوان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117" y="375099"/>
            <a:ext cx="2820201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ar-AE" b="1" dirty="0">
                <a:solidFill>
                  <a:schemeClr val="accent5">
                    <a:lumMod val="50000"/>
                  </a:schemeClr>
                </a:solidFill>
              </a:rPr>
              <a:t>التأكد من فهم النص: </a:t>
            </a:r>
            <a:r>
              <a:rPr lang="ar-AE" dirty="0">
                <a:solidFill>
                  <a:srgbClr val="FF0000"/>
                </a:solidFill>
              </a:rPr>
              <a:t>قارن وقابل بين أربعة أنواع مختلفة من الكائنات غير ذاتية التغذية؟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185" y="1590650"/>
            <a:ext cx="447416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ar-AE" b="1" dirty="0">
                <a:solidFill>
                  <a:schemeClr val="accent5">
                    <a:lumMod val="50000"/>
                  </a:schemeClr>
                </a:solidFill>
              </a:rPr>
              <a:t>الإجابة: </a:t>
            </a:r>
            <a:r>
              <a:rPr lang="ar-AE" dirty="0">
                <a:solidFill>
                  <a:srgbClr val="FF0000"/>
                </a:solidFill>
              </a:rPr>
              <a:t>الكائنات ذاتية التغذية تصنع غذائها بنفسها، الكائنات </a:t>
            </a:r>
            <a:r>
              <a:rPr lang="ar-AE" b="1" u="sng" dirty="0">
                <a:solidFill>
                  <a:srgbClr val="FF0000"/>
                </a:solidFill>
              </a:rPr>
              <a:t>آكلة النباتات </a:t>
            </a:r>
            <a:r>
              <a:rPr lang="ar-AE" dirty="0">
                <a:solidFill>
                  <a:srgbClr val="FF0000"/>
                </a:solidFill>
              </a:rPr>
              <a:t>تتغذى على الكائنات ذاتية التغذية، الكائنات </a:t>
            </a:r>
            <a:r>
              <a:rPr lang="ar-AE" b="1" u="sng" dirty="0">
                <a:solidFill>
                  <a:srgbClr val="FF0000"/>
                </a:solidFill>
              </a:rPr>
              <a:t>آكلة اللحوم </a:t>
            </a:r>
            <a:r>
              <a:rPr lang="ar-AE" dirty="0">
                <a:solidFill>
                  <a:srgbClr val="FF0000"/>
                </a:solidFill>
              </a:rPr>
              <a:t>تتغذى على الكائنات آكلة النبات، الكائنات </a:t>
            </a:r>
            <a:r>
              <a:rPr lang="ar-AE" b="1" u="sng" dirty="0">
                <a:solidFill>
                  <a:srgbClr val="FF0000"/>
                </a:solidFill>
              </a:rPr>
              <a:t>متنوعة التغذية </a:t>
            </a:r>
            <a:r>
              <a:rPr lang="ar-AE" dirty="0">
                <a:solidFill>
                  <a:srgbClr val="FF0000"/>
                </a:solidFill>
              </a:rPr>
              <a:t>تتغذى على الكائنات آكلة النبات والكائنات آكلة اللحوم، </a:t>
            </a:r>
            <a:r>
              <a:rPr lang="ar-AE" b="1" u="sng" dirty="0" err="1">
                <a:solidFill>
                  <a:srgbClr val="FF0000"/>
                </a:solidFill>
              </a:rPr>
              <a:t>الكانسات</a:t>
            </a:r>
            <a:r>
              <a:rPr lang="ar-AE" dirty="0">
                <a:solidFill>
                  <a:srgbClr val="FF0000"/>
                </a:solidFill>
              </a:rPr>
              <a:t> تتغذى على الكائنات الميته.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635" y="304523"/>
            <a:ext cx="2905077" cy="20607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04688" y="375099"/>
            <a:ext cx="1416485" cy="664257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ar-AE" b="1" dirty="0">
                <a:solidFill>
                  <a:srgbClr val="FF0000"/>
                </a:solidFill>
              </a:rPr>
              <a:t>الطائر المحاكي  متنوع التغذية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A431AC6E-D537-4946-97E2-666385BF2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002" y="304523"/>
            <a:ext cx="3434451" cy="2264747"/>
          </a:xfrm>
          <a:prstGeom prst="rect">
            <a:avLst/>
          </a:prstGeom>
        </p:spPr>
      </p:pic>
      <p:sp>
        <p:nvSpPr>
          <p:cNvPr id="8" name="تمرير: أفقي 7">
            <a:extLst>
              <a:ext uri="{FF2B5EF4-FFF2-40B4-BE49-F238E27FC236}">
                <a16:creationId xmlns:a16="http://schemas.microsoft.com/office/drawing/2014/main" id="{3A896584-62EA-46D0-BFAC-5BD288AD22ED}"/>
              </a:ext>
            </a:extLst>
          </p:cNvPr>
          <p:cNvSpPr/>
          <p:nvPr/>
        </p:nvSpPr>
        <p:spPr>
          <a:xfrm>
            <a:off x="7988632" y="2421989"/>
            <a:ext cx="3434451" cy="1295159"/>
          </a:xfrm>
          <a:prstGeom prst="horizont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AE" sz="2400" b="1" dirty="0"/>
              <a:t>النبات ذاتي التغذية</a:t>
            </a:r>
          </a:p>
          <a:p>
            <a:pPr algn="ctr"/>
            <a:r>
              <a:rPr lang="ar-AE" sz="2400" b="1" dirty="0"/>
              <a:t>و البقرة من آكلات الأعشاب</a:t>
            </a:r>
          </a:p>
        </p:txBody>
      </p:sp>
      <p:sp>
        <p:nvSpPr>
          <p:cNvPr id="12" name="مستطيل: زوايا مستديرة 11">
            <a:extLst>
              <a:ext uri="{FF2B5EF4-FFF2-40B4-BE49-F238E27FC236}">
                <a16:creationId xmlns:a16="http://schemas.microsoft.com/office/drawing/2014/main" id="{D563696B-48FD-46CE-86DC-88F5401FE291}"/>
              </a:ext>
            </a:extLst>
          </p:cNvPr>
          <p:cNvSpPr/>
          <p:nvPr/>
        </p:nvSpPr>
        <p:spPr>
          <a:xfrm>
            <a:off x="6193971" y="6215743"/>
            <a:ext cx="2651451" cy="33773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AE" dirty="0"/>
          </a:p>
        </p:txBody>
      </p:sp>
    </p:spTree>
    <p:extLst>
      <p:ext uri="{BB962C8B-B14F-4D97-AF65-F5344CB8AC3E}">
        <p14:creationId xmlns:p14="http://schemas.microsoft.com/office/powerpoint/2010/main" val="280728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3" grpId="0" animBg="1"/>
      <p:bldP spid="10" grpId="0" animBg="1"/>
      <p:bldP spid="8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908273"/>
              </p:ext>
            </p:extLst>
          </p:nvPr>
        </p:nvGraphicFramePr>
        <p:xfrm>
          <a:off x="66987" y="131408"/>
          <a:ext cx="12058024" cy="6345591"/>
        </p:xfrm>
        <a:graphic>
          <a:graphicData uri="http://schemas.openxmlformats.org/drawingml/2006/table">
            <a:tbl>
              <a:tblPr rtl="1" firstRow="1" bandRow="1">
                <a:effectLst>
                  <a:outerShdw blurRad="50800" dist="50800" dir="5400000" algn="ctr" rotWithShape="0">
                    <a:schemeClr val="accent4"/>
                  </a:outerShdw>
                </a:effectLst>
                <a:tableStyleId>{5C22544A-7EE6-4342-B048-85BDC9FD1C3A}</a:tableStyleId>
              </a:tblPr>
              <a:tblGrid>
                <a:gridCol w="4431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7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2402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كائنات كانسه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المحللات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737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هي التي</a:t>
                      </a:r>
                      <a:r>
                        <a:rPr lang="ar-AE" sz="2800" b="1" baseline="0" dirty="0">
                          <a:solidFill>
                            <a:srgbClr val="002060"/>
                          </a:solidFill>
                          <a:cs typeface="+mj-cs"/>
                        </a:rPr>
                        <a:t> تتغذى على أجزاء من المواد الميتة في النظام البيئي المواد المغذية الى التربة والهواء والماء لتعيد كائنات حية أخرى استخدامها</a:t>
                      </a:r>
                      <a:endParaRPr lang="ar-AE" sz="2800" b="1" dirty="0">
                        <a:solidFill>
                          <a:srgbClr val="002060"/>
                        </a:solidFill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تحلل الكائنات الميته عن طريق</a:t>
                      </a:r>
                      <a:r>
                        <a:rPr lang="ar-AE" sz="2800" b="1" baseline="0" dirty="0">
                          <a:solidFill>
                            <a:srgbClr val="002060"/>
                          </a:solidFill>
                          <a:cs typeface="+mj-cs"/>
                        </a:rPr>
                        <a:t> إفراز إنزيمات هاضمة، وهي الوسيلة والاداة الأساسية المستخدمة لتحليل المركبات العضوية وتوفير المواد المغذية إلى المنتجات لتستخدمها مرة أخرى.</a:t>
                      </a:r>
                      <a:endParaRPr lang="ar-AE" sz="2800" b="1" dirty="0">
                        <a:solidFill>
                          <a:srgbClr val="002060"/>
                        </a:solidFill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9226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الديدان والعديد من الحشرات المائية التي تعيش في قاع الجداول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الفطريات والبكتيريا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9226">
                <a:tc gridSpan="2"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ومن دون وجود الكائنات </a:t>
                      </a:r>
                      <a:r>
                        <a:rPr lang="ar-AE" sz="2800" b="1" dirty="0" err="1">
                          <a:solidFill>
                            <a:srgbClr val="002060"/>
                          </a:solidFill>
                          <a:cs typeface="+mj-cs"/>
                        </a:rPr>
                        <a:t>الكانسه</a:t>
                      </a: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 والمحللات لن تتحلل المواد العضوية ولن تتوافر المواد المغذية لكائنات حية اخرى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AE" sz="14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مستطيل 2">
            <a:extLst>
              <a:ext uri="{FF2B5EF4-FFF2-40B4-BE49-F238E27FC236}">
                <a16:creationId xmlns:a16="http://schemas.microsoft.com/office/drawing/2014/main" id="{7FE3B0ED-F130-4830-8D6F-397A6B280CB6}"/>
              </a:ext>
            </a:extLst>
          </p:cNvPr>
          <p:cNvSpPr/>
          <p:nvPr/>
        </p:nvSpPr>
        <p:spPr>
          <a:xfrm>
            <a:off x="66987" y="5127171"/>
            <a:ext cx="12058024" cy="13498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AE"/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EAE498D9-40D2-44DE-A6B6-72B4F863F0BF}"/>
              </a:ext>
            </a:extLst>
          </p:cNvPr>
          <p:cNvSpPr/>
          <p:nvPr/>
        </p:nvSpPr>
        <p:spPr>
          <a:xfrm>
            <a:off x="66988" y="131408"/>
            <a:ext cx="7583996" cy="63455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35407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468797" y="52514"/>
            <a:ext cx="615553" cy="6857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39BE1"/>
            </a:solidFill>
          </a:ln>
        </p:spPr>
        <p:txBody>
          <a:bodyPr vert="vert270" wrap="square" rtlCol="1">
            <a:spAutoFit/>
          </a:bodyPr>
          <a:lstStyle/>
          <a:p>
            <a:pPr algn="ctr"/>
            <a:r>
              <a:rPr lang="ar-AE" sz="2800" b="1" dirty="0">
                <a:solidFill>
                  <a:srgbClr val="A365D1"/>
                </a:solidFill>
                <a:cs typeface="+mj-cs"/>
              </a:rPr>
              <a:t>الطاقــــــة في النظــــــام البيئي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0455" t="13426" r="34752" b="7510"/>
          <a:stretch/>
        </p:blipFill>
        <p:spPr>
          <a:xfrm>
            <a:off x="6316198" y="185462"/>
            <a:ext cx="5067996" cy="6592102"/>
          </a:xfrm>
          <a:prstGeom prst="rect">
            <a:avLst/>
          </a:prstGeom>
        </p:spPr>
      </p:pic>
      <p:sp>
        <p:nvSpPr>
          <p:cNvPr id="9" name="Line Callout 1 8"/>
          <p:cNvSpPr/>
          <p:nvPr/>
        </p:nvSpPr>
        <p:spPr>
          <a:xfrm flipH="1">
            <a:off x="611884" y="3320144"/>
            <a:ext cx="5619712" cy="3269466"/>
          </a:xfrm>
          <a:prstGeom prst="borderCallout1">
            <a:avLst>
              <a:gd name="adj1" fmla="val 52933"/>
              <a:gd name="adj2" fmla="val 86"/>
              <a:gd name="adj3" fmla="val 88441"/>
              <a:gd name="adj4" fmla="val -13613"/>
            </a:avLst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rgbClr val="FF0000"/>
                </a:solidFill>
                <a:cs typeface="+mj-cs"/>
              </a:rPr>
              <a:t>تكمن أهمية المحللات في الأنظمة البيئية في قيامها بتحليل الكائنات الميتة، لتتمكن المنتجات من استخدام المواد المغذية المخزنة فيها مرة اخرى</a:t>
            </a:r>
          </a:p>
        </p:txBody>
      </p:sp>
    </p:spTree>
    <p:extLst>
      <p:ext uri="{BB962C8B-B14F-4D97-AF65-F5344CB8AC3E}">
        <p14:creationId xmlns:p14="http://schemas.microsoft.com/office/powerpoint/2010/main" val="91712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: زوايا مستديرة 3">
            <a:extLst>
              <a:ext uri="{FF2B5EF4-FFF2-40B4-BE49-F238E27FC236}">
                <a16:creationId xmlns:a16="http://schemas.microsoft.com/office/drawing/2014/main" id="{CB524840-51AA-4C3F-B796-5AD5CB0F1884}"/>
              </a:ext>
            </a:extLst>
          </p:cNvPr>
          <p:cNvSpPr/>
          <p:nvPr/>
        </p:nvSpPr>
        <p:spPr>
          <a:xfrm>
            <a:off x="8582372" y="4963400"/>
            <a:ext cx="3350253" cy="4796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تغذية ذاتية ضوئية</a:t>
            </a:r>
          </a:p>
        </p:txBody>
      </p:sp>
      <p:sp>
        <p:nvSpPr>
          <p:cNvPr id="5" name="مستطيل: زوايا مستديرة 4">
            <a:extLst>
              <a:ext uri="{FF2B5EF4-FFF2-40B4-BE49-F238E27FC236}">
                <a16:creationId xmlns:a16="http://schemas.microsoft.com/office/drawing/2014/main" id="{92023936-5FD8-4FDE-A950-616D1CCFBD06}"/>
              </a:ext>
            </a:extLst>
          </p:cNvPr>
          <p:cNvSpPr/>
          <p:nvPr/>
        </p:nvSpPr>
        <p:spPr>
          <a:xfrm>
            <a:off x="8582374" y="2717267"/>
            <a:ext cx="3350251" cy="4710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تغذية ذاتية كيميائية</a:t>
            </a:r>
          </a:p>
        </p:txBody>
      </p:sp>
      <p:sp>
        <p:nvSpPr>
          <p:cNvPr id="6" name="مستطيل: زوايا مستديرة 5">
            <a:extLst>
              <a:ext uri="{FF2B5EF4-FFF2-40B4-BE49-F238E27FC236}">
                <a16:creationId xmlns:a16="http://schemas.microsoft.com/office/drawing/2014/main" id="{4E58387D-E36B-4D82-B276-7FEE342ED8EA}"/>
              </a:ext>
            </a:extLst>
          </p:cNvPr>
          <p:cNvSpPr/>
          <p:nvPr/>
        </p:nvSpPr>
        <p:spPr>
          <a:xfrm>
            <a:off x="8504289" y="6296860"/>
            <a:ext cx="3350252" cy="45795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آكلات النباتات</a:t>
            </a:r>
          </a:p>
        </p:txBody>
      </p:sp>
      <p:sp>
        <p:nvSpPr>
          <p:cNvPr id="7" name="مستطيل: زوايا مستديرة 6">
            <a:extLst>
              <a:ext uri="{FF2B5EF4-FFF2-40B4-BE49-F238E27FC236}">
                <a16:creationId xmlns:a16="http://schemas.microsoft.com/office/drawing/2014/main" id="{11DEA925-EF48-43DA-973F-67DD42A6DACA}"/>
              </a:ext>
            </a:extLst>
          </p:cNvPr>
          <p:cNvSpPr/>
          <p:nvPr/>
        </p:nvSpPr>
        <p:spPr>
          <a:xfrm>
            <a:off x="8582374" y="4243240"/>
            <a:ext cx="3350252" cy="5107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آكلات اللحوم</a:t>
            </a:r>
          </a:p>
        </p:txBody>
      </p:sp>
      <p:sp>
        <p:nvSpPr>
          <p:cNvPr id="8" name="مستطيل: زوايا مستديرة 7">
            <a:extLst>
              <a:ext uri="{FF2B5EF4-FFF2-40B4-BE49-F238E27FC236}">
                <a16:creationId xmlns:a16="http://schemas.microsoft.com/office/drawing/2014/main" id="{6973E754-B27D-4D8E-AC4D-A53EE412C805}"/>
              </a:ext>
            </a:extLst>
          </p:cNvPr>
          <p:cNvSpPr/>
          <p:nvPr/>
        </p:nvSpPr>
        <p:spPr>
          <a:xfrm>
            <a:off x="8660458" y="1870548"/>
            <a:ext cx="3272167" cy="5107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آكلات النباتات و اللحوم</a:t>
            </a:r>
          </a:p>
        </p:txBody>
      </p:sp>
      <p:sp>
        <p:nvSpPr>
          <p:cNvPr id="9" name="مستطيل: زوايا مستديرة 8">
            <a:extLst>
              <a:ext uri="{FF2B5EF4-FFF2-40B4-BE49-F238E27FC236}">
                <a16:creationId xmlns:a16="http://schemas.microsoft.com/office/drawing/2014/main" id="{713A4000-6DFC-4455-96F5-A312FB7E1927}"/>
              </a:ext>
            </a:extLst>
          </p:cNvPr>
          <p:cNvSpPr/>
          <p:nvPr/>
        </p:nvSpPr>
        <p:spPr>
          <a:xfrm>
            <a:off x="8504289" y="5620087"/>
            <a:ext cx="3350252" cy="4952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المحللات</a:t>
            </a:r>
          </a:p>
        </p:txBody>
      </p:sp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6B870193-1D26-4F1C-B917-8D26F1467020}"/>
              </a:ext>
            </a:extLst>
          </p:cNvPr>
          <p:cNvSpPr/>
          <p:nvPr/>
        </p:nvSpPr>
        <p:spPr>
          <a:xfrm>
            <a:off x="8582373" y="3446034"/>
            <a:ext cx="3350252" cy="4952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 err="1">
                <a:solidFill>
                  <a:schemeClr val="tx1"/>
                </a:solidFill>
              </a:rPr>
              <a:t>الكانسة</a:t>
            </a:r>
            <a:endParaRPr lang="ar-AE" sz="2800" b="1" dirty="0">
              <a:solidFill>
                <a:schemeClr val="tx1"/>
              </a:solidFill>
            </a:endParaRPr>
          </a:p>
        </p:txBody>
      </p:sp>
      <p:sp>
        <p:nvSpPr>
          <p:cNvPr id="11" name="مستطيل: زوايا مستديرة 10">
            <a:hlinkClick r:id="rId2" action="ppaction://hlinksldjump"/>
            <a:extLst>
              <a:ext uri="{FF2B5EF4-FFF2-40B4-BE49-F238E27FC236}">
                <a16:creationId xmlns:a16="http://schemas.microsoft.com/office/drawing/2014/main" id="{343F3734-362B-4914-BC22-865D9DEA83B3}"/>
              </a:ext>
            </a:extLst>
          </p:cNvPr>
          <p:cNvSpPr/>
          <p:nvPr/>
        </p:nvSpPr>
        <p:spPr>
          <a:xfrm>
            <a:off x="679344" y="4963400"/>
            <a:ext cx="3350253" cy="4796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الفطريات</a:t>
            </a:r>
          </a:p>
        </p:txBody>
      </p:sp>
      <p:sp>
        <p:nvSpPr>
          <p:cNvPr id="12" name="مستطيل: زوايا مستديرة 11">
            <a:hlinkClick r:id="rId3" action="ppaction://hlinksldjump"/>
            <a:extLst>
              <a:ext uri="{FF2B5EF4-FFF2-40B4-BE49-F238E27FC236}">
                <a16:creationId xmlns:a16="http://schemas.microsoft.com/office/drawing/2014/main" id="{1A660429-5FD6-4467-88C6-BA0F486B3862}"/>
              </a:ext>
            </a:extLst>
          </p:cNvPr>
          <p:cNvSpPr/>
          <p:nvPr/>
        </p:nvSpPr>
        <p:spPr>
          <a:xfrm>
            <a:off x="679346" y="2717267"/>
            <a:ext cx="3350251" cy="4710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أسد</a:t>
            </a:r>
          </a:p>
        </p:txBody>
      </p:sp>
      <p:sp>
        <p:nvSpPr>
          <p:cNvPr id="13" name="مستطيل: زوايا مستديرة 12">
            <a:hlinkClick r:id="rId4" action="ppaction://hlinksldjump"/>
            <a:extLst>
              <a:ext uri="{FF2B5EF4-FFF2-40B4-BE49-F238E27FC236}">
                <a16:creationId xmlns:a16="http://schemas.microsoft.com/office/drawing/2014/main" id="{0D293557-A2D5-4700-8FF1-E40BDA377F23}"/>
              </a:ext>
            </a:extLst>
          </p:cNvPr>
          <p:cNvSpPr/>
          <p:nvPr/>
        </p:nvSpPr>
        <p:spPr>
          <a:xfrm>
            <a:off x="601261" y="6296860"/>
            <a:ext cx="3350252" cy="45795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البكتيريا القديمة</a:t>
            </a:r>
          </a:p>
        </p:txBody>
      </p:sp>
      <p:sp>
        <p:nvSpPr>
          <p:cNvPr id="14" name="مستطيل: زوايا مستديرة 13">
            <a:hlinkClick r:id="rId5" action="ppaction://hlinksldjump"/>
            <a:extLst>
              <a:ext uri="{FF2B5EF4-FFF2-40B4-BE49-F238E27FC236}">
                <a16:creationId xmlns:a16="http://schemas.microsoft.com/office/drawing/2014/main" id="{0D510CAE-CB45-4DAC-A9FB-300D495AFC36}"/>
              </a:ext>
            </a:extLst>
          </p:cNvPr>
          <p:cNvSpPr/>
          <p:nvPr/>
        </p:nvSpPr>
        <p:spPr>
          <a:xfrm>
            <a:off x="640303" y="5668652"/>
            <a:ext cx="3350252" cy="5107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بقرة</a:t>
            </a:r>
          </a:p>
        </p:txBody>
      </p:sp>
      <p:sp>
        <p:nvSpPr>
          <p:cNvPr id="15" name="مستطيل: زوايا مستديرة 14">
            <a:hlinkClick r:id="rId6" action="ppaction://hlinksldjump"/>
            <a:extLst>
              <a:ext uri="{FF2B5EF4-FFF2-40B4-BE49-F238E27FC236}">
                <a16:creationId xmlns:a16="http://schemas.microsoft.com/office/drawing/2014/main" id="{D2A1EC2F-B9B0-4E00-ADFE-FEFF764D012C}"/>
              </a:ext>
            </a:extLst>
          </p:cNvPr>
          <p:cNvSpPr/>
          <p:nvPr/>
        </p:nvSpPr>
        <p:spPr>
          <a:xfrm>
            <a:off x="799089" y="4199412"/>
            <a:ext cx="3272167" cy="5107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إنسان</a:t>
            </a:r>
          </a:p>
        </p:txBody>
      </p:sp>
      <p:sp>
        <p:nvSpPr>
          <p:cNvPr id="16" name="مستطيل: زوايا مستديرة 15">
            <a:hlinkClick r:id="rId7" action="ppaction://hlinksldjump"/>
            <a:extLst>
              <a:ext uri="{FF2B5EF4-FFF2-40B4-BE49-F238E27FC236}">
                <a16:creationId xmlns:a16="http://schemas.microsoft.com/office/drawing/2014/main" id="{74E51D76-C35F-4BCD-B7B5-8A1EAEC70E2C}"/>
              </a:ext>
            </a:extLst>
          </p:cNvPr>
          <p:cNvSpPr/>
          <p:nvPr/>
        </p:nvSpPr>
        <p:spPr>
          <a:xfrm>
            <a:off x="727388" y="1922484"/>
            <a:ext cx="3350252" cy="4952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الديدان</a:t>
            </a:r>
          </a:p>
        </p:txBody>
      </p:sp>
      <p:sp>
        <p:nvSpPr>
          <p:cNvPr id="17" name="مستطيل: زوايا مستديرة 16">
            <a:hlinkClick r:id="rId8" action="ppaction://hlinksldjump"/>
            <a:extLst>
              <a:ext uri="{FF2B5EF4-FFF2-40B4-BE49-F238E27FC236}">
                <a16:creationId xmlns:a16="http://schemas.microsoft.com/office/drawing/2014/main" id="{B0852776-F997-4DA2-8B5F-2615C430C700}"/>
              </a:ext>
            </a:extLst>
          </p:cNvPr>
          <p:cNvSpPr/>
          <p:nvPr/>
        </p:nvSpPr>
        <p:spPr>
          <a:xfrm>
            <a:off x="679345" y="3446034"/>
            <a:ext cx="3350252" cy="4952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طحالب</a:t>
            </a:r>
          </a:p>
        </p:txBody>
      </p:sp>
      <p:sp>
        <p:nvSpPr>
          <p:cNvPr id="18" name="مستطيل: زوايا مستديرة 17">
            <a:extLst>
              <a:ext uri="{FF2B5EF4-FFF2-40B4-BE49-F238E27FC236}">
                <a16:creationId xmlns:a16="http://schemas.microsoft.com/office/drawing/2014/main" id="{C529ECD2-DD45-4876-BBA3-C143021B0B39}"/>
              </a:ext>
            </a:extLst>
          </p:cNvPr>
          <p:cNvSpPr/>
          <p:nvPr/>
        </p:nvSpPr>
        <p:spPr>
          <a:xfrm>
            <a:off x="3407229" y="346548"/>
            <a:ext cx="5253229" cy="5107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800" b="1" dirty="0">
                <a:solidFill>
                  <a:schemeClr val="tx1"/>
                </a:solidFill>
              </a:rPr>
              <a:t>صل بين اسم الكائن الحي و طريقة تغذيته</a:t>
            </a:r>
          </a:p>
        </p:txBody>
      </p:sp>
      <p:cxnSp>
        <p:nvCxnSpPr>
          <p:cNvPr id="20" name="رابط كسهم مستقيم 19">
            <a:extLst>
              <a:ext uri="{FF2B5EF4-FFF2-40B4-BE49-F238E27FC236}">
                <a16:creationId xmlns:a16="http://schemas.microsoft.com/office/drawing/2014/main" id="{6DC27A15-8653-4797-B106-66BC38B0EAF6}"/>
              </a:ext>
            </a:extLst>
          </p:cNvPr>
          <p:cNvCxnSpPr>
            <a:cxnSpLocks/>
            <a:stCxn id="8" idx="1"/>
            <a:endCxn id="15" idx="3"/>
          </p:cNvCxnSpPr>
          <p:nvPr/>
        </p:nvCxnSpPr>
        <p:spPr>
          <a:xfrm flipH="1">
            <a:off x="4071256" y="2125938"/>
            <a:ext cx="4589202" cy="23288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رابط كسهم مستقيم 20">
            <a:extLst>
              <a:ext uri="{FF2B5EF4-FFF2-40B4-BE49-F238E27FC236}">
                <a16:creationId xmlns:a16="http://schemas.microsoft.com/office/drawing/2014/main" id="{86CC747E-2D58-4FCA-8B37-40B7FB81C7DC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3951513" y="2998543"/>
            <a:ext cx="4630862" cy="352729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رابط كسهم مستقيم 22">
            <a:extLst>
              <a:ext uri="{FF2B5EF4-FFF2-40B4-BE49-F238E27FC236}">
                <a16:creationId xmlns:a16="http://schemas.microsoft.com/office/drawing/2014/main" id="{5644329C-4A28-4211-97DF-325D094AEFC5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4077640" y="2170120"/>
            <a:ext cx="4540586" cy="15925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رابط كسهم مستقيم 26">
            <a:extLst>
              <a:ext uri="{FF2B5EF4-FFF2-40B4-BE49-F238E27FC236}">
                <a16:creationId xmlns:a16="http://schemas.microsoft.com/office/drawing/2014/main" id="{B564E8D5-1394-409A-BD20-2C0F7BA81432}"/>
              </a:ext>
            </a:extLst>
          </p:cNvPr>
          <p:cNvCxnSpPr>
            <a:cxnSpLocks/>
          </p:cNvCxnSpPr>
          <p:nvPr/>
        </p:nvCxnSpPr>
        <p:spPr>
          <a:xfrm flipH="1" flipV="1">
            <a:off x="4029597" y="3080737"/>
            <a:ext cx="4552778" cy="14692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رابط كسهم مستقيم 30">
            <a:extLst>
              <a:ext uri="{FF2B5EF4-FFF2-40B4-BE49-F238E27FC236}">
                <a16:creationId xmlns:a16="http://schemas.microsoft.com/office/drawing/2014/main" id="{5CC8AD0E-C0C7-4D71-8CF5-21A5142D2F0A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4029597" y="3693670"/>
            <a:ext cx="4533258" cy="15615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رابط كسهم مستقيم 32">
            <a:extLst>
              <a:ext uri="{FF2B5EF4-FFF2-40B4-BE49-F238E27FC236}">
                <a16:creationId xmlns:a16="http://schemas.microsoft.com/office/drawing/2014/main" id="{F04A90E9-DCCA-4BB4-BDA3-CF5E51D13520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4029597" y="5203242"/>
            <a:ext cx="4474694" cy="67817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رابط كسهم مستقيم 34">
            <a:extLst>
              <a:ext uri="{FF2B5EF4-FFF2-40B4-BE49-F238E27FC236}">
                <a16:creationId xmlns:a16="http://schemas.microsoft.com/office/drawing/2014/main" id="{4B1D4B9B-0A63-4A5A-948C-7F5AD7857759}"/>
              </a:ext>
            </a:extLst>
          </p:cNvPr>
          <p:cNvCxnSpPr>
            <a:cxnSpLocks/>
            <a:endCxn id="14" idx="3"/>
          </p:cNvCxnSpPr>
          <p:nvPr/>
        </p:nvCxnSpPr>
        <p:spPr>
          <a:xfrm flipH="1" flipV="1">
            <a:off x="3990555" y="5924042"/>
            <a:ext cx="4552778" cy="6439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السلسله الغذائيه">
            <a:hlinkClick r:id="" action="ppaction://media"/>
            <a:extLst>
              <a:ext uri="{FF2B5EF4-FFF2-40B4-BE49-F238E27FC236}">
                <a16:creationId xmlns:a16="http://schemas.microsoft.com/office/drawing/2014/main" id="{55FD3544-5CEE-4B07-9875-8EAC29896B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5847" y="191654"/>
            <a:ext cx="11662190" cy="65599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26" y="106364"/>
            <a:ext cx="2718510" cy="536731"/>
          </a:xfrm>
          <a:solidFill>
            <a:schemeClr val="accent2"/>
          </a:solidFill>
        </p:spPr>
        <p:txBody>
          <a:bodyPr>
            <a:noAutofit/>
          </a:bodyPr>
          <a:lstStyle/>
          <a:p>
            <a:pPr algn="ctr"/>
            <a:r>
              <a:rPr lang="ar-AE" sz="3200" b="1" dirty="0"/>
              <a:t>السلاسل الغذائية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4993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279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9680" y="151039"/>
            <a:ext cx="2849554" cy="621846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ar-AE" sz="3600" b="1" dirty="0">
                <a:solidFill>
                  <a:srgbClr val="FF0000"/>
                </a:solidFill>
              </a:rPr>
              <a:t>السلاسل الغذائية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9772CAA-7B01-4E49-91ED-D1A715EC6281}"/>
              </a:ext>
            </a:extLst>
          </p:cNvPr>
          <p:cNvSpPr txBox="1">
            <a:spLocks/>
          </p:cNvSpPr>
          <p:nvPr/>
        </p:nvSpPr>
        <p:spPr>
          <a:xfrm>
            <a:off x="903514" y="4178753"/>
            <a:ext cx="11046497" cy="6218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AE" sz="2800" b="1" dirty="0">
                <a:solidFill>
                  <a:srgbClr val="FF0000"/>
                </a:solidFill>
              </a:rPr>
              <a:t>استناداً للسلاسل الغذائية الموضحة: أي منها تنتمي إلى المنتجات؟ و أيها مستهلكات؟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7DE5CE-8654-4227-97D2-89352CD51020}"/>
              </a:ext>
            </a:extLst>
          </p:cNvPr>
          <p:cNvSpPr txBox="1">
            <a:spLocks/>
          </p:cNvSpPr>
          <p:nvPr/>
        </p:nvSpPr>
        <p:spPr>
          <a:xfrm>
            <a:off x="8153400" y="5026477"/>
            <a:ext cx="3796611" cy="6218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AE" sz="2800" b="1" dirty="0">
                <a:solidFill>
                  <a:srgbClr val="FF0000"/>
                </a:solidFill>
              </a:rPr>
              <a:t>ما المقصود بالسلسلة الغذائية؟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70BFDE-51EC-4230-BA7C-5E8EE38D7262}"/>
              </a:ext>
            </a:extLst>
          </p:cNvPr>
          <p:cNvSpPr txBox="1">
            <a:spLocks/>
          </p:cNvSpPr>
          <p:nvPr/>
        </p:nvSpPr>
        <p:spPr>
          <a:xfrm>
            <a:off x="1045029" y="5026477"/>
            <a:ext cx="6836228" cy="6218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AE" sz="2800" b="1" dirty="0">
                <a:solidFill>
                  <a:srgbClr val="002060"/>
                </a:solidFill>
              </a:rPr>
              <a:t>هي مسار مفرد يوضح انتقال الطاقة في الكائنات الحية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646ABA-7413-40BC-BECB-C1BA58F22F4C}"/>
              </a:ext>
            </a:extLst>
          </p:cNvPr>
          <p:cNvSpPr txBox="1">
            <a:spLocks/>
          </p:cNvSpPr>
          <p:nvPr/>
        </p:nvSpPr>
        <p:spPr>
          <a:xfrm>
            <a:off x="8142516" y="5853793"/>
            <a:ext cx="3796611" cy="6218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AE" sz="2800" b="1" dirty="0">
                <a:solidFill>
                  <a:srgbClr val="FF0000"/>
                </a:solidFill>
              </a:rPr>
              <a:t>ما المقصود بالمستوى الغذائي؟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552873-2A06-4F36-92A2-B9736B10047B}"/>
              </a:ext>
            </a:extLst>
          </p:cNvPr>
          <p:cNvSpPr txBox="1">
            <a:spLocks/>
          </p:cNvSpPr>
          <p:nvPr/>
        </p:nvSpPr>
        <p:spPr>
          <a:xfrm>
            <a:off x="1034145" y="5853793"/>
            <a:ext cx="6836228" cy="6218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AE" sz="2800" b="1" dirty="0">
                <a:solidFill>
                  <a:srgbClr val="002060"/>
                </a:solidFill>
              </a:rPr>
              <a:t>هو كل خطوة في السلسلة الغذائية</a:t>
            </a:r>
            <a:endParaRPr lang="en-US" sz="2800" b="1" dirty="0">
              <a:solidFill>
                <a:srgbClr val="002060"/>
              </a:solidFill>
            </a:endParaRPr>
          </a:p>
        </p:txBody>
      </p:sp>
      <p:grpSp>
        <p:nvGrpSpPr>
          <p:cNvPr id="10" name="مجموعة 9">
            <a:extLst>
              <a:ext uri="{FF2B5EF4-FFF2-40B4-BE49-F238E27FC236}">
                <a16:creationId xmlns:a16="http://schemas.microsoft.com/office/drawing/2014/main" id="{3976D627-2C8A-499A-B14D-43EF4B67E4DF}"/>
              </a:ext>
            </a:extLst>
          </p:cNvPr>
          <p:cNvGrpSpPr/>
          <p:nvPr/>
        </p:nvGrpSpPr>
        <p:grpSpPr>
          <a:xfrm>
            <a:off x="261257" y="151039"/>
            <a:ext cx="8839200" cy="3811361"/>
            <a:chOff x="261257" y="151039"/>
            <a:chExt cx="8839200" cy="381136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1257" y="151039"/>
              <a:ext cx="8839200" cy="3811361"/>
            </a:xfrm>
            <a:prstGeom prst="rect">
              <a:avLst/>
            </a:prstGeom>
          </p:spPr>
        </p:pic>
        <p:sp>
          <p:nvSpPr>
            <p:cNvPr id="3" name="مستطيل 2">
              <a:extLst>
                <a:ext uri="{FF2B5EF4-FFF2-40B4-BE49-F238E27FC236}">
                  <a16:creationId xmlns:a16="http://schemas.microsoft.com/office/drawing/2014/main" id="{E36D6C2E-711C-4955-8784-8D4BB3D6C22E}"/>
                </a:ext>
              </a:extLst>
            </p:cNvPr>
            <p:cNvSpPr/>
            <p:nvPr/>
          </p:nvSpPr>
          <p:spPr>
            <a:xfrm>
              <a:off x="6578082" y="1446245"/>
              <a:ext cx="2360645" cy="128762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AE"/>
            </a:p>
          </p:txBody>
        </p:sp>
      </p:grpSp>
    </p:spTree>
    <p:extLst>
      <p:ext uri="{BB962C8B-B14F-4D97-AF65-F5344CB8AC3E}">
        <p14:creationId xmlns:p14="http://schemas.microsoft.com/office/powerpoint/2010/main" val="179928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rot="5400000">
            <a:off x="8350516" y="-2471057"/>
            <a:ext cx="615553" cy="6857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39BE1"/>
            </a:solidFill>
          </a:ln>
        </p:spPr>
        <p:txBody>
          <a:bodyPr vert="vert270" wrap="square" rtlCol="1">
            <a:spAutoFit/>
          </a:bodyPr>
          <a:lstStyle/>
          <a:p>
            <a:pPr algn="ctr"/>
            <a:r>
              <a:rPr lang="ar-AE" sz="2800" b="1" dirty="0">
                <a:solidFill>
                  <a:srgbClr val="002060"/>
                </a:solidFill>
                <a:cs typeface="+mj-cs"/>
              </a:rPr>
              <a:t>صورة توضح السلاسل الغذائية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3359" t="16694" r="25288" b="7249"/>
          <a:stretch/>
        </p:blipFill>
        <p:spPr>
          <a:xfrm>
            <a:off x="282683" y="449438"/>
            <a:ext cx="4539688" cy="6194624"/>
          </a:xfrm>
          <a:prstGeom prst="rect">
            <a:avLst/>
          </a:prstGeom>
        </p:spPr>
      </p:pic>
      <p:sp>
        <p:nvSpPr>
          <p:cNvPr id="2" name="مستطيل: زوايا مستديرة 1">
            <a:extLst>
              <a:ext uri="{FF2B5EF4-FFF2-40B4-BE49-F238E27FC236}">
                <a16:creationId xmlns:a16="http://schemas.microsoft.com/office/drawing/2014/main" id="{D4DDF2B6-573C-4876-B8AF-10731C760FCB}"/>
              </a:ext>
            </a:extLst>
          </p:cNvPr>
          <p:cNvSpPr/>
          <p:nvPr/>
        </p:nvSpPr>
        <p:spPr>
          <a:xfrm>
            <a:off x="6487886" y="1611086"/>
            <a:ext cx="5214257" cy="7075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400" b="1" dirty="0">
                <a:solidFill>
                  <a:srgbClr val="002060"/>
                </a:solidFill>
              </a:rPr>
              <a:t>استناداً للشكل: ما المقصور بالسلسلة الغذائية؟</a:t>
            </a:r>
          </a:p>
        </p:txBody>
      </p:sp>
      <p:sp>
        <p:nvSpPr>
          <p:cNvPr id="8" name="مستطيل: زوايا مستديرة 7">
            <a:extLst>
              <a:ext uri="{FF2B5EF4-FFF2-40B4-BE49-F238E27FC236}">
                <a16:creationId xmlns:a16="http://schemas.microsoft.com/office/drawing/2014/main" id="{D88E25A7-C841-4D80-9EA7-3AC52D0851F7}"/>
              </a:ext>
            </a:extLst>
          </p:cNvPr>
          <p:cNvSpPr/>
          <p:nvPr/>
        </p:nvSpPr>
        <p:spPr>
          <a:xfrm>
            <a:off x="5229294" y="2939144"/>
            <a:ext cx="6857998" cy="20247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ct val="150000"/>
              </a:lnSpc>
            </a:pPr>
            <a:r>
              <a:rPr lang="ar-AE" sz="2400" b="1" u="sng" dirty="0">
                <a:solidFill>
                  <a:srgbClr val="002060"/>
                </a:solidFill>
              </a:rPr>
              <a:t>السلسلة الغذائية:</a:t>
            </a:r>
          </a:p>
          <a:p>
            <a:pPr>
              <a:lnSpc>
                <a:spcPct val="150000"/>
              </a:lnSpc>
            </a:pPr>
            <a:endParaRPr lang="ar-AE" sz="2400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ar-AE" sz="2400" b="1" dirty="0">
                <a:solidFill>
                  <a:srgbClr val="002060"/>
                </a:solidFill>
              </a:rPr>
              <a:t>هي نموذج بسيط يبين كيف تنتقل الطاقة عبر نظام بيئي ما.</a:t>
            </a:r>
          </a:p>
        </p:txBody>
      </p:sp>
    </p:spTree>
    <p:extLst>
      <p:ext uri="{BB962C8B-B14F-4D97-AF65-F5344CB8AC3E}">
        <p14:creationId xmlns:p14="http://schemas.microsoft.com/office/powerpoint/2010/main" val="448128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7212"/>
            <a:ext cx="8401051" cy="630078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1"/>
            <a:ext cx="3581400" cy="84908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AE" b="1" dirty="0">
                <a:solidFill>
                  <a:srgbClr val="FF0000"/>
                </a:solidFill>
              </a:rPr>
              <a:t>الشبكات  الغذائية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51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6891" t="11882" r="12400" b="5370"/>
          <a:stretch/>
        </p:blipFill>
        <p:spPr>
          <a:xfrm>
            <a:off x="104708" y="0"/>
            <a:ext cx="5756251" cy="6581524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6C13BC5C-BAF8-416E-9813-8AA494DCE806}"/>
              </a:ext>
            </a:extLst>
          </p:cNvPr>
          <p:cNvSpPr txBox="1"/>
          <p:nvPr/>
        </p:nvSpPr>
        <p:spPr>
          <a:xfrm rot="5400000">
            <a:off x="8787238" y="-1859893"/>
            <a:ext cx="615553" cy="44045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39BE1"/>
            </a:solidFill>
          </a:ln>
        </p:spPr>
        <p:txBody>
          <a:bodyPr vert="vert270" wrap="square" rtlCol="1">
            <a:spAutoFit/>
          </a:bodyPr>
          <a:lstStyle/>
          <a:p>
            <a:pPr algn="ctr"/>
            <a:r>
              <a:rPr lang="ar-AE" sz="2800" b="1" dirty="0">
                <a:solidFill>
                  <a:srgbClr val="002060"/>
                </a:solidFill>
                <a:cs typeface="+mj-cs"/>
              </a:rPr>
              <a:t>صورة توضح الشبكة الغذائية </a:t>
            </a:r>
          </a:p>
        </p:txBody>
      </p:sp>
      <p:sp>
        <p:nvSpPr>
          <p:cNvPr id="7" name="مستطيل: زوايا مستديرة 6">
            <a:extLst>
              <a:ext uri="{FF2B5EF4-FFF2-40B4-BE49-F238E27FC236}">
                <a16:creationId xmlns:a16="http://schemas.microsoft.com/office/drawing/2014/main" id="{6D9F689C-7F1E-43C5-A545-7B850830CFFB}"/>
              </a:ext>
            </a:extLst>
          </p:cNvPr>
          <p:cNvSpPr/>
          <p:nvPr/>
        </p:nvSpPr>
        <p:spPr>
          <a:xfrm>
            <a:off x="6892732" y="925286"/>
            <a:ext cx="5214257" cy="7075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2400" b="1" dirty="0">
                <a:solidFill>
                  <a:srgbClr val="002060"/>
                </a:solidFill>
              </a:rPr>
              <a:t>استناداً للشكل: ما المقصور بالشبكة الغذائية؟</a:t>
            </a:r>
          </a:p>
        </p:txBody>
      </p:sp>
      <p:sp>
        <p:nvSpPr>
          <p:cNvPr id="8" name="مستطيل: زوايا مستديرة 7">
            <a:extLst>
              <a:ext uri="{FF2B5EF4-FFF2-40B4-BE49-F238E27FC236}">
                <a16:creationId xmlns:a16="http://schemas.microsoft.com/office/drawing/2014/main" id="{B59C2504-69F7-4A15-A4F4-A47E1D840737}"/>
              </a:ext>
            </a:extLst>
          </p:cNvPr>
          <p:cNvSpPr/>
          <p:nvPr/>
        </p:nvSpPr>
        <p:spPr>
          <a:xfrm>
            <a:off x="6204856" y="2939144"/>
            <a:ext cx="5882435" cy="31350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ct val="150000"/>
              </a:lnSpc>
            </a:pPr>
            <a:r>
              <a:rPr lang="ar-AE" sz="2400" b="1" u="sng" dirty="0">
                <a:solidFill>
                  <a:srgbClr val="002060"/>
                </a:solidFill>
              </a:rPr>
              <a:t>الشبكة الغذائية:</a:t>
            </a:r>
          </a:p>
          <a:p>
            <a:pPr>
              <a:lnSpc>
                <a:spcPct val="150000"/>
              </a:lnSpc>
            </a:pPr>
            <a:endParaRPr lang="ar-AE" sz="2400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ar-AE" sz="2400" b="1" dirty="0">
                <a:solidFill>
                  <a:srgbClr val="002060"/>
                </a:solidFill>
              </a:rPr>
              <a:t>هي نموذج يمثل الكثير من السلاسل الغذائية المتداخلة والمسارات التي تنتقل فيها الطاقة عبر مجموعة من الكائنات الحية.</a:t>
            </a:r>
          </a:p>
        </p:txBody>
      </p:sp>
    </p:spTree>
    <p:extLst>
      <p:ext uri="{BB962C8B-B14F-4D97-AF65-F5344CB8AC3E}">
        <p14:creationId xmlns:p14="http://schemas.microsoft.com/office/powerpoint/2010/main" val="3606457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775" y="25821"/>
            <a:ext cx="7734300" cy="648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267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videoplayback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24168" end="41835.6666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04511" y="151167"/>
            <a:ext cx="11292262" cy="63518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5400000">
            <a:off x="4196072" y="-2755180"/>
            <a:ext cx="615553" cy="64282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39BE1"/>
            </a:solidFill>
          </a:ln>
        </p:spPr>
        <p:txBody>
          <a:bodyPr vert="vert270" wrap="square" rtlCol="1">
            <a:spAutoFit/>
          </a:bodyPr>
          <a:lstStyle/>
          <a:p>
            <a:pPr algn="ctr"/>
            <a:r>
              <a:rPr lang="ar-AE" sz="2800" b="1" dirty="0">
                <a:solidFill>
                  <a:srgbClr val="002060"/>
                </a:solidFill>
                <a:cs typeface="+mj-cs"/>
              </a:rPr>
              <a:t>هرم الطاقــــــــــــة</a:t>
            </a:r>
          </a:p>
        </p:txBody>
      </p:sp>
    </p:spTree>
    <p:extLst>
      <p:ext uri="{BB962C8B-B14F-4D97-AF65-F5344CB8AC3E}">
        <p14:creationId xmlns:p14="http://schemas.microsoft.com/office/powerpoint/2010/main" val="323529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8CCE7D1B-732E-5366-3748-E88746258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289" y="1113457"/>
            <a:ext cx="10087231" cy="5766983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901D4589-3C38-1FFB-3BD1-3BF3F6A6575A}"/>
              </a:ext>
            </a:extLst>
          </p:cNvPr>
          <p:cNvSpPr txBox="1"/>
          <p:nvPr/>
        </p:nvSpPr>
        <p:spPr>
          <a:xfrm>
            <a:off x="89655" y="42470"/>
            <a:ext cx="2010139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ar-AE" b="1" dirty="0">
                <a:solidFill>
                  <a:srgbClr val="002060"/>
                </a:solidFill>
              </a:rPr>
              <a:t>ما أوجه المقارنة بين نماذج الاهرام البيئية الثلاثة؟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2952920F-8B6B-2558-51AD-DCE4D33F3168}"/>
              </a:ext>
            </a:extLst>
          </p:cNvPr>
          <p:cNvSpPr txBox="1"/>
          <p:nvPr/>
        </p:nvSpPr>
        <p:spPr>
          <a:xfrm>
            <a:off x="0" y="3638530"/>
            <a:ext cx="1756373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>
            <a:defPPr>
              <a:defRPr lang="ar-SA"/>
            </a:defPPr>
            <a:lvl1pPr algn="ctr">
              <a:defRPr b="1">
                <a:solidFill>
                  <a:srgbClr val="002060"/>
                </a:solidFill>
              </a:defRPr>
            </a:lvl1pPr>
          </a:lstStyle>
          <a:p>
            <a:r>
              <a:rPr lang="ar-AE" dirty="0"/>
              <a:t>تعرض جميع النماذج الثلاثة كيفية انتقال المادة والطاقة عبر نظام بيئي.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8DEB930-683D-B215-B907-12971049AF6B}"/>
              </a:ext>
            </a:extLst>
          </p:cNvPr>
          <p:cNvSpPr/>
          <p:nvPr/>
        </p:nvSpPr>
        <p:spPr>
          <a:xfrm>
            <a:off x="3764771" y="42470"/>
            <a:ext cx="8245229" cy="10019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r-AE" sz="2100" b="1" dirty="0">
                <a:cs typeface="+mj-cs"/>
              </a:rPr>
              <a:t>الاهرام البيئية </a:t>
            </a:r>
            <a:r>
              <a:rPr lang="ar-AE" sz="2100" b="1" dirty="0">
                <a:solidFill>
                  <a:srgbClr val="C00000"/>
                </a:solidFill>
                <a:cs typeface="+mj-cs"/>
              </a:rPr>
              <a:t>هي عبارة عن مخطط يوضح الكميات النسبية من الطاقة أو الكتلة الاحيائية أو عدد الكائنات الحية في كل مستوى غذائي في نظام بيئي معين. 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76EC6864-152E-0D47-81DE-EDBF2A9007C3}"/>
              </a:ext>
            </a:extLst>
          </p:cNvPr>
          <p:cNvSpPr txBox="1"/>
          <p:nvPr/>
        </p:nvSpPr>
        <p:spPr>
          <a:xfrm>
            <a:off x="11595520" y="1300346"/>
            <a:ext cx="507831" cy="46687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39BE1"/>
            </a:solidFill>
          </a:ln>
        </p:spPr>
        <p:txBody>
          <a:bodyPr vert="vert270" wrap="square" rtlCol="1">
            <a:spAutoFit/>
          </a:bodyPr>
          <a:lstStyle/>
          <a:p>
            <a:pPr algn="ctr"/>
            <a:r>
              <a:rPr lang="ar-AE" sz="2100" b="1" dirty="0">
                <a:solidFill>
                  <a:srgbClr val="002060"/>
                </a:solidFill>
                <a:cs typeface="+mj-cs"/>
              </a:rPr>
              <a:t>صورة توضح الاهرام البيئية</a:t>
            </a:r>
          </a:p>
        </p:txBody>
      </p:sp>
    </p:spTree>
    <p:extLst>
      <p:ext uri="{BB962C8B-B14F-4D97-AF65-F5344CB8AC3E}">
        <p14:creationId xmlns:p14="http://schemas.microsoft.com/office/powerpoint/2010/main" val="337424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0156451" y="109811"/>
            <a:ext cx="1960345" cy="4705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C39B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AE" sz="2000" b="1" dirty="0">
                <a:solidFill>
                  <a:srgbClr val="7030A0"/>
                </a:solidFill>
                <a:cs typeface="+mj-cs"/>
              </a:rPr>
              <a:t>أجوبة الأسئلة المهمة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144" y="628244"/>
            <a:ext cx="11893652" cy="6119945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cs typeface="+mj-cs"/>
              </a:rPr>
              <a:t>1</a:t>
            </a:r>
            <a:r>
              <a:rPr lang="ar-AE" sz="2400" b="1" dirty="0">
                <a:solidFill>
                  <a:schemeClr val="accent6">
                    <a:lumMod val="75000"/>
                  </a:schemeClr>
                </a:solidFill>
                <a:cs typeface="+mj-cs"/>
              </a:rPr>
              <a:t>- ما المنتجات والمستهلكات في نظام بيئي ما؟</a:t>
            </a:r>
          </a:p>
          <a:p>
            <a:pPr>
              <a:lnSpc>
                <a:spcPct val="150000"/>
              </a:lnSpc>
            </a:pPr>
            <a:r>
              <a:rPr lang="ar-AE" sz="2400" b="1" dirty="0">
                <a:solidFill>
                  <a:schemeClr val="accent6">
                    <a:lumMod val="75000"/>
                  </a:schemeClr>
                </a:solidFill>
                <a:cs typeface="+mj-cs"/>
              </a:rPr>
              <a:t>المنتجات هي الكائنات التي تصنع غذائها بنفسها داخل اجسامها، اما المستهلكات هي الكائنات التي تتغذى على كائنات أخرى.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cs typeface="+mj-cs"/>
              </a:rPr>
              <a:t>2</a:t>
            </a:r>
            <a:r>
              <a:rPr lang="ar-AE" sz="2400" b="1" dirty="0">
                <a:solidFill>
                  <a:schemeClr val="accent5">
                    <a:lumMod val="75000"/>
                  </a:schemeClr>
                </a:solidFill>
                <a:cs typeface="+mj-cs"/>
              </a:rPr>
              <a:t>- كيف تنتقل الطاقة في نظام بيئي ما؟</a:t>
            </a:r>
          </a:p>
          <a:p>
            <a:pPr>
              <a:lnSpc>
                <a:spcPct val="150000"/>
              </a:lnSpc>
            </a:pPr>
            <a:r>
              <a:rPr lang="ar-AE" sz="2400" b="1" dirty="0">
                <a:solidFill>
                  <a:schemeClr val="accent5">
                    <a:lumMod val="75000"/>
                  </a:schemeClr>
                </a:solidFill>
                <a:cs typeface="+mj-cs"/>
              </a:rPr>
              <a:t>تنتقل الطاقة في اتجاه واحد من مستوى الى اخر عبر النظام البيئي، وان كمية كبيرة منها تصبح غير </a:t>
            </a:r>
            <a:r>
              <a:rPr lang="ar-AE" sz="2400" b="1" dirty="0" err="1">
                <a:solidFill>
                  <a:schemeClr val="accent5">
                    <a:lumMod val="75000"/>
                  </a:schemeClr>
                </a:solidFill>
                <a:cs typeface="+mj-cs"/>
              </a:rPr>
              <a:t>متوفره</a:t>
            </a:r>
            <a:r>
              <a:rPr lang="ar-AE" sz="2400" b="1" dirty="0">
                <a:solidFill>
                  <a:schemeClr val="accent5">
                    <a:lumMod val="75000"/>
                  </a:schemeClr>
                </a:solidFill>
                <a:cs typeface="+mj-cs"/>
              </a:rPr>
              <a:t> عند كل مستوى غذائي.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3</a:t>
            </a:r>
            <a:r>
              <a:rPr lang="ar-AE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- ما المقصود بالسلاسل الغذائية والشبكات الغذائية ونماذج الهرم البيئي؟</a:t>
            </a:r>
          </a:p>
          <a:p>
            <a:pPr>
              <a:lnSpc>
                <a:spcPct val="150000"/>
              </a:lnSpc>
            </a:pPr>
            <a:r>
              <a:rPr lang="ar-AE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هرم الطاقة: يمثل كل مستوى غذائي كمية الطاقة </a:t>
            </a:r>
            <a:r>
              <a:rPr lang="ar-AE" sz="2400" b="1" dirty="0" err="1">
                <a:solidFill>
                  <a:schemeClr val="accent2">
                    <a:lumMod val="75000"/>
                  </a:schemeClr>
                </a:solidFill>
                <a:cs typeface="+mj-cs"/>
              </a:rPr>
              <a:t>المتوافره</a:t>
            </a:r>
            <a:r>
              <a:rPr lang="ar-AE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 فيه، ومع الارتفاع خطوة إلى أعلى يفقد ما نسبته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90%</a:t>
            </a:r>
            <a:r>
              <a:rPr lang="ar-AE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 من الطاقة.</a:t>
            </a:r>
          </a:p>
          <a:p>
            <a:pPr>
              <a:lnSpc>
                <a:spcPct val="150000"/>
              </a:lnSpc>
            </a:pPr>
            <a:r>
              <a:rPr lang="ar-AE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هرم الكتلة الاحيائية: يمثل كل مستوى كمية الكتلة الاحيائية التي يستهلكها المستوى الذي يعلوه.</a:t>
            </a:r>
          </a:p>
          <a:p>
            <a:pPr>
              <a:lnSpc>
                <a:spcPct val="150000"/>
              </a:lnSpc>
            </a:pPr>
            <a:r>
              <a:rPr lang="ar-AE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هرم الاعداد: يمثل كل مستوى في هرم الاعداد عدد الكائنات الحية التي يستهلكها المستوى الذي يعلوه</a:t>
            </a:r>
          </a:p>
        </p:txBody>
      </p:sp>
    </p:spTree>
    <p:extLst>
      <p:ext uri="{BB962C8B-B14F-4D97-AF65-F5344CB8AC3E}">
        <p14:creationId xmlns:p14="http://schemas.microsoft.com/office/powerpoint/2010/main" val="4039101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0156451" y="109811"/>
            <a:ext cx="1960345" cy="4705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C39B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AE" sz="2000" b="1" dirty="0">
                <a:solidFill>
                  <a:srgbClr val="7030A0"/>
                </a:solidFill>
                <a:cs typeface="+mj-cs"/>
              </a:rPr>
              <a:t>أجوبة الأسئلة المهمة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144" y="628244"/>
            <a:ext cx="11893652" cy="6119945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cs typeface="+mj-cs"/>
              </a:rPr>
              <a:t>1</a:t>
            </a:r>
            <a:r>
              <a:rPr lang="ar-AE" sz="2400" b="1" dirty="0">
                <a:solidFill>
                  <a:schemeClr val="accent6">
                    <a:lumMod val="75000"/>
                  </a:schemeClr>
                </a:solidFill>
                <a:cs typeface="+mj-cs"/>
              </a:rPr>
              <a:t>- ما المنتجات والمستهلكات في نظام بيئي ما؟</a:t>
            </a:r>
          </a:p>
          <a:p>
            <a:pPr>
              <a:lnSpc>
                <a:spcPct val="150000"/>
              </a:lnSpc>
            </a:pPr>
            <a:r>
              <a:rPr lang="ar-AE" sz="2400" b="1" dirty="0">
                <a:solidFill>
                  <a:schemeClr val="accent6">
                    <a:lumMod val="75000"/>
                  </a:schemeClr>
                </a:solidFill>
                <a:cs typeface="+mj-cs"/>
              </a:rPr>
              <a:t>المنتجات هي الكائنات التي تصنع غذائها بنفسها داخل اجسامها، اما المستهلكات هي الكائنات التي تتغذى على كائنات أخرى.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cs typeface="+mj-cs"/>
              </a:rPr>
              <a:t>2</a:t>
            </a:r>
            <a:r>
              <a:rPr lang="ar-AE" sz="2400" b="1" dirty="0">
                <a:solidFill>
                  <a:schemeClr val="accent5">
                    <a:lumMod val="75000"/>
                  </a:schemeClr>
                </a:solidFill>
                <a:cs typeface="+mj-cs"/>
              </a:rPr>
              <a:t>- كيف تنتقل الطاقة في نظام بيئي ما؟</a:t>
            </a:r>
          </a:p>
          <a:p>
            <a:pPr>
              <a:lnSpc>
                <a:spcPct val="150000"/>
              </a:lnSpc>
            </a:pPr>
            <a:r>
              <a:rPr lang="ar-AE" sz="2400" b="1" dirty="0">
                <a:solidFill>
                  <a:schemeClr val="accent5">
                    <a:lumMod val="75000"/>
                  </a:schemeClr>
                </a:solidFill>
                <a:cs typeface="+mj-cs"/>
              </a:rPr>
              <a:t>تنتقل الطاقة في اتجاه واحد من مستوى الى اخر عبر النظام البيئي، وان كمية كبيرة منها تصبح غير </a:t>
            </a:r>
            <a:r>
              <a:rPr lang="ar-AE" sz="2400" b="1" dirty="0" err="1">
                <a:solidFill>
                  <a:schemeClr val="accent5">
                    <a:lumMod val="75000"/>
                  </a:schemeClr>
                </a:solidFill>
                <a:cs typeface="+mj-cs"/>
              </a:rPr>
              <a:t>متوفره</a:t>
            </a:r>
            <a:r>
              <a:rPr lang="ar-AE" sz="2400" b="1" dirty="0">
                <a:solidFill>
                  <a:schemeClr val="accent5">
                    <a:lumMod val="75000"/>
                  </a:schemeClr>
                </a:solidFill>
                <a:cs typeface="+mj-cs"/>
              </a:rPr>
              <a:t> عند كل مستوى غذائي.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3</a:t>
            </a:r>
            <a:r>
              <a:rPr lang="ar-AE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- ما المقصود بالسلاسل الغذائية والشبكات الغذائية ونماذج الهرم البيئي؟</a:t>
            </a:r>
          </a:p>
          <a:p>
            <a:pPr>
              <a:lnSpc>
                <a:spcPct val="150000"/>
              </a:lnSpc>
            </a:pPr>
            <a:r>
              <a:rPr lang="ar-AE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هرم الطاقة: يمثل كل مستوى غذائي كمية الطاقة </a:t>
            </a:r>
            <a:r>
              <a:rPr lang="ar-AE" sz="2400" b="1" dirty="0" err="1">
                <a:solidFill>
                  <a:schemeClr val="accent2">
                    <a:lumMod val="75000"/>
                  </a:schemeClr>
                </a:solidFill>
                <a:cs typeface="+mj-cs"/>
              </a:rPr>
              <a:t>المتوافره</a:t>
            </a:r>
            <a:r>
              <a:rPr lang="ar-AE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 فيه، ومع الارتفاع خطوة إلى أعلى يفقد ما نسبته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90%</a:t>
            </a:r>
            <a:r>
              <a:rPr lang="ar-AE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 من الطاقة.</a:t>
            </a:r>
          </a:p>
          <a:p>
            <a:pPr>
              <a:lnSpc>
                <a:spcPct val="150000"/>
              </a:lnSpc>
            </a:pPr>
            <a:r>
              <a:rPr lang="ar-AE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هرم الكتلة الاحيائية: يمثل كل مستوى كمية الكتلة الاحيائية التي يستهلكها المستوى الذي يعلوه.</a:t>
            </a:r>
          </a:p>
          <a:p>
            <a:pPr>
              <a:lnSpc>
                <a:spcPct val="150000"/>
              </a:lnSpc>
            </a:pPr>
            <a:r>
              <a:rPr lang="ar-AE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هرم الاعداد: يمثل كل مستوى في هرم الاعداد عدد الكائنات الحية التي يستهلكها المستوى الذي يعلوه</a:t>
            </a:r>
          </a:p>
        </p:txBody>
      </p:sp>
    </p:spTree>
    <p:extLst>
      <p:ext uri="{BB962C8B-B14F-4D97-AF65-F5344CB8AC3E}">
        <p14:creationId xmlns:p14="http://schemas.microsoft.com/office/powerpoint/2010/main" val="2265127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0254713" y="105357"/>
            <a:ext cx="1498332" cy="4801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C39B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ar-AE" sz="2000" b="1" dirty="0">
                <a:solidFill>
                  <a:srgbClr val="7030A0"/>
                </a:solidFill>
                <a:cs typeface="+mj-cs"/>
              </a:rPr>
              <a:t>مفردات الدرس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5516"/>
            <a:ext cx="12047974" cy="5573129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cs typeface="+mj-cs"/>
              </a:rPr>
              <a:t>1</a:t>
            </a:r>
            <a:r>
              <a:rPr lang="ar-AE" sz="2400" b="1" dirty="0">
                <a:solidFill>
                  <a:schemeClr val="accent6">
                    <a:lumMod val="75000"/>
                  </a:schemeClr>
                </a:solidFill>
                <a:cs typeface="+mj-cs"/>
              </a:rPr>
              <a:t>- ذاتي التغذية:.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cs typeface="+mj-cs"/>
              </a:rPr>
              <a:t>2</a:t>
            </a:r>
            <a:r>
              <a:rPr lang="ar-AE" sz="2400" b="1" dirty="0">
                <a:solidFill>
                  <a:schemeClr val="accent5">
                    <a:lumMod val="75000"/>
                  </a:schemeClr>
                </a:solidFill>
                <a:cs typeface="+mj-cs"/>
              </a:rPr>
              <a:t>- غير ذاتي التغذية:.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cs typeface="+mj-cs"/>
              </a:rPr>
              <a:t>3</a:t>
            </a:r>
            <a:r>
              <a:rPr lang="ar-AE" sz="2400" b="1" dirty="0">
                <a:solidFill>
                  <a:schemeClr val="accent4">
                    <a:lumMod val="75000"/>
                  </a:schemeClr>
                </a:solidFill>
                <a:cs typeface="+mj-cs"/>
              </a:rPr>
              <a:t>- آكل النباتات:.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cs typeface="+mj-cs"/>
              </a:rPr>
              <a:t>4</a:t>
            </a:r>
            <a:r>
              <a:rPr lang="ar-AE" sz="2400" b="1" dirty="0">
                <a:solidFill>
                  <a:schemeClr val="accent3">
                    <a:lumMod val="75000"/>
                  </a:schemeClr>
                </a:solidFill>
                <a:cs typeface="+mj-cs"/>
              </a:rPr>
              <a:t>- آكل اللحوم:.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5</a:t>
            </a:r>
            <a:r>
              <a:rPr lang="ar-AE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- الكائنات متنوعة التغذية:.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6</a:t>
            </a:r>
            <a:r>
              <a:rPr lang="ar-AE" sz="2400" b="1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- </a:t>
            </a:r>
            <a:r>
              <a:rPr lang="ar-AE" sz="2400" b="1" dirty="0">
                <a:solidFill>
                  <a:schemeClr val="accent1">
                    <a:lumMod val="50000"/>
                  </a:schemeClr>
                </a:solidFill>
                <a:cs typeface="+mj-cs"/>
              </a:rPr>
              <a:t>الكائنات </a:t>
            </a:r>
            <a:r>
              <a:rPr lang="ar-AE" sz="2400" b="1" dirty="0" err="1">
                <a:solidFill>
                  <a:schemeClr val="accent1">
                    <a:lumMod val="50000"/>
                  </a:schemeClr>
                </a:solidFill>
                <a:cs typeface="+mj-cs"/>
              </a:rPr>
              <a:t>الكانسة</a:t>
            </a:r>
            <a:r>
              <a:rPr lang="ar-AE" sz="2400" b="1" dirty="0">
                <a:solidFill>
                  <a:schemeClr val="accent1">
                    <a:lumMod val="50000"/>
                  </a:schemeClr>
                </a:solidFill>
                <a:cs typeface="+mj-cs"/>
              </a:rPr>
              <a:t>:</a:t>
            </a:r>
            <a:r>
              <a:rPr lang="ar-AE" sz="2400" b="1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cs typeface="+mj-cs"/>
              </a:rPr>
              <a:t>7</a:t>
            </a:r>
            <a:r>
              <a:rPr lang="ar-AE" sz="2400" b="1" dirty="0">
                <a:solidFill>
                  <a:schemeClr val="tx2">
                    <a:lumMod val="75000"/>
                  </a:schemeClr>
                </a:solidFill>
                <a:cs typeface="+mj-cs"/>
              </a:rPr>
              <a:t>- المستوى الغذائي: هي.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cs typeface="+mj-cs"/>
              </a:rPr>
              <a:t>8</a:t>
            </a:r>
            <a:r>
              <a:rPr lang="ar-AE" sz="2400" b="1" dirty="0">
                <a:solidFill>
                  <a:schemeClr val="accent6">
                    <a:lumMod val="75000"/>
                  </a:schemeClr>
                </a:solidFill>
                <a:cs typeface="+mj-cs"/>
              </a:rPr>
              <a:t>- السلسلة الغذائية: هي.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9</a:t>
            </a:r>
            <a:r>
              <a:rPr lang="ar-AE" sz="2400" b="1" dirty="0">
                <a:solidFill>
                  <a:schemeClr val="accent2">
                    <a:lumMod val="75000"/>
                  </a:schemeClr>
                </a:solidFill>
                <a:cs typeface="+mj-cs"/>
              </a:rPr>
              <a:t>- الشبكة الغذائية: هي ة.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cs typeface="+mj-cs"/>
              </a:rPr>
              <a:t>10</a:t>
            </a:r>
            <a:r>
              <a:rPr lang="ar-AE" sz="2400" b="1" dirty="0">
                <a:solidFill>
                  <a:schemeClr val="accent4">
                    <a:lumMod val="75000"/>
                  </a:schemeClr>
                </a:solidFill>
                <a:cs typeface="+mj-cs"/>
              </a:rPr>
              <a:t>- الكتلة الاحيائية: هي الكتلة الاجمالية للمادة الحية عند كل مستوى غذائي.</a:t>
            </a:r>
          </a:p>
        </p:txBody>
      </p:sp>
    </p:spTree>
    <p:extLst>
      <p:ext uri="{BB962C8B-B14F-4D97-AF65-F5344CB8AC3E}">
        <p14:creationId xmlns:p14="http://schemas.microsoft.com/office/powerpoint/2010/main" val="90832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جدول 2">
            <a:extLst>
              <a:ext uri="{FF2B5EF4-FFF2-40B4-BE49-F238E27FC236}">
                <a16:creationId xmlns:a16="http://schemas.microsoft.com/office/drawing/2014/main" id="{C80227AD-AA83-4370-A74A-83BA173DE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434739"/>
              </p:ext>
            </p:extLst>
          </p:nvPr>
        </p:nvGraphicFramePr>
        <p:xfrm>
          <a:off x="119742" y="220557"/>
          <a:ext cx="11952515" cy="653947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22128">
                  <a:extLst>
                    <a:ext uri="{9D8B030D-6E8A-4147-A177-3AD203B41FA5}">
                      <a16:colId xmlns:a16="http://schemas.microsoft.com/office/drawing/2014/main" val="905686107"/>
                    </a:ext>
                  </a:extLst>
                </a:gridCol>
                <a:gridCol w="10330387">
                  <a:extLst>
                    <a:ext uri="{9D8B030D-6E8A-4147-A177-3AD203B41FA5}">
                      <a16:colId xmlns:a16="http://schemas.microsoft.com/office/drawing/2014/main" val="2468313732"/>
                    </a:ext>
                  </a:extLst>
                </a:gridCol>
              </a:tblGrid>
              <a:tr h="653947">
                <a:tc gridSpan="2">
                  <a:txBody>
                    <a:bodyPr/>
                    <a:lstStyle/>
                    <a:p>
                      <a:pPr algn="ctr" rtl="1"/>
                      <a:r>
                        <a:rPr lang="ar-AE" sz="3200" b="1" dirty="0">
                          <a:solidFill>
                            <a:srgbClr val="002060"/>
                          </a:solidFill>
                        </a:rPr>
                        <a:t>اكتب المصطلح العلمي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60491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ذاتي التغذية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هو الذي يجمع الطاقة من ضوء الشمس أو المواد غير العضوية لينتج غذاءه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329878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غير ذاتي التغذية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هو الذي يحصل على احتياجاته من الطاقة بالتهام كائنات حية أخرى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180966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آكل النباتات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الكائنات الحية التي تتغذى على النباتات فقط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422133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آكل اللحوم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الكائنات الحية التي تفترس كائنات حية أخرى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368180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متنوع التغذية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هي الكائنات التي تتغذى على النباتات والحيوانات معا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5427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الكائنات </a:t>
                      </a:r>
                      <a:r>
                        <a:rPr lang="ar-AE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الكانسة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هي الكائنات التي تتغذى على أجزاء من المواد الميتة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721404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المستوى الغذائي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كل خطوة في السلسة الغذائية أو الشبكة الغذائية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646053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السلسلة الغذائية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نموذج بسيط يبين كيف تنتقل الطاقة عبر نظام بيئي ما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69396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الشبكة الغذائية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نموذج يمثل الكثير من السلاسل الغذائية المتداخلة والمسارات التي تنتقل فيها الطاقة عبر مجموعة من الكائنات الحية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853908"/>
                  </a:ext>
                </a:extLst>
              </a:tr>
            </a:tbl>
          </a:graphicData>
        </a:graphic>
      </p:graphicFrame>
      <p:sp>
        <p:nvSpPr>
          <p:cNvPr id="4" name="مستطيل 3">
            <a:extLst>
              <a:ext uri="{FF2B5EF4-FFF2-40B4-BE49-F238E27FC236}">
                <a16:creationId xmlns:a16="http://schemas.microsoft.com/office/drawing/2014/main" id="{0AFB96B6-25A6-4DD6-8FA5-C6805FC2E4D9}"/>
              </a:ext>
            </a:extLst>
          </p:cNvPr>
          <p:cNvSpPr/>
          <p:nvPr/>
        </p:nvSpPr>
        <p:spPr>
          <a:xfrm>
            <a:off x="10570029" y="936171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AE"/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F7E2EBD8-F78C-454F-8007-95F297F2182B}"/>
              </a:ext>
            </a:extLst>
          </p:cNvPr>
          <p:cNvSpPr/>
          <p:nvPr/>
        </p:nvSpPr>
        <p:spPr>
          <a:xfrm>
            <a:off x="10570029" y="1611086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AE"/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936F530B-1122-4AD0-B37B-931B7F9D9245}"/>
              </a:ext>
            </a:extLst>
          </p:cNvPr>
          <p:cNvSpPr/>
          <p:nvPr/>
        </p:nvSpPr>
        <p:spPr>
          <a:xfrm>
            <a:off x="10570029" y="2206957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AE"/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E94DAEF8-372B-42B3-8D37-0DEBF757280C}"/>
              </a:ext>
            </a:extLst>
          </p:cNvPr>
          <p:cNvSpPr/>
          <p:nvPr/>
        </p:nvSpPr>
        <p:spPr>
          <a:xfrm>
            <a:off x="10570029" y="2906485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AE"/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02BA00BB-A1FA-4CCA-9F34-DBEA20893DEA}"/>
              </a:ext>
            </a:extLst>
          </p:cNvPr>
          <p:cNvSpPr/>
          <p:nvPr/>
        </p:nvSpPr>
        <p:spPr>
          <a:xfrm>
            <a:off x="10570029" y="3537857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AE"/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FE1D6FD1-1F0F-4F12-A602-BEA7FBD07B4A}"/>
              </a:ext>
            </a:extLst>
          </p:cNvPr>
          <p:cNvSpPr/>
          <p:nvPr/>
        </p:nvSpPr>
        <p:spPr>
          <a:xfrm>
            <a:off x="10570029" y="4169229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AE" dirty="0"/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DC837A90-B0DF-4455-9C70-18073239AD3D}"/>
              </a:ext>
            </a:extLst>
          </p:cNvPr>
          <p:cNvSpPr/>
          <p:nvPr/>
        </p:nvSpPr>
        <p:spPr>
          <a:xfrm>
            <a:off x="10570029" y="4833256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AE"/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BF54A674-0682-4CA2-BB65-E98700EEACA6}"/>
              </a:ext>
            </a:extLst>
          </p:cNvPr>
          <p:cNvSpPr/>
          <p:nvPr/>
        </p:nvSpPr>
        <p:spPr>
          <a:xfrm>
            <a:off x="10570029" y="5497283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AE"/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61833B47-7138-4F4A-9553-726B14C41B83}"/>
              </a:ext>
            </a:extLst>
          </p:cNvPr>
          <p:cNvSpPr/>
          <p:nvPr/>
        </p:nvSpPr>
        <p:spPr>
          <a:xfrm>
            <a:off x="10570029" y="6161310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93321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3918" t="27225" r="7773" b="12515"/>
          <a:stretch/>
        </p:blipFill>
        <p:spPr>
          <a:xfrm>
            <a:off x="654517" y="1039527"/>
            <a:ext cx="10722545" cy="506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105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5552" t="35037" r="357" b="21810"/>
          <a:stretch/>
        </p:blipFill>
        <p:spPr>
          <a:xfrm>
            <a:off x="86628" y="1876926"/>
            <a:ext cx="11454063" cy="373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007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4783BC8-EF68-48BD-A1D8-03FFABD1F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513" y="391204"/>
            <a:ext cx="7612516" cy="5065783"/>
          </a:xfrm>
          <a:prstGeom prst="rect">
            <a:avLst/>
          </a:prstGeom>
        </p:spPr>
      </p:pic>
      <p:sp>
        <p:nvSpPr>
          <p:cNvPr id="4" name="مستطيل: زوايا مستديرة 3">
            <a:hlinkClick r:id="rId3" action="ppaction://hlinksldjump"/>
            <a:extLst>
              <a:ext uri="{FF2B5EF4-FFF2-40B4-BE49-F238E27FC236}">
                <a16:creationId xmlns:a16="http://schemas.microsoft.com/office/drawing/2014/main" id="{238AF4C2-8A22-4C0B-981F-9853B8E31150}"/>
              </a:ext>
            </a:extLst>
          </p:cNvPr>
          <p:cNvSpPr/>
          <p:nvPr/>
        </p:nvSpPr>
        <p:spPr>
          <a:xfrm>
            <a:off x="9996487" y="2177142"/>
            <a:ext cx="1948542" cy="12518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4800" b="1" dirty="0">
                <a:solidFill>
                  <a:schemeClr val="tx1"/>
                </a:solidFill>
              </a:rPr>
              <a:t>عودة</a:t>
            </a:r>
          </a:p>
        </p:txBody>
      </p:sp>
    </p:spTree>
    <p:extLst>
      <p:ext uri="{BB962C8B-B14F-4D97-AF65-F5344CB8AC3E}">
        <p14:creationId xmlns:p14="http://schemas.microsoft.com/office/powerpoint/2010/main" val="7018110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: زوايا مستديرة 3">
            <a:hlinkClick r:id="rId2" action="ppaction://hlinksldjump"/>
            <a:extLst>
              <a:ext uri="{FF2B5EF4-FFF2-40B4-BE49-F238E27FC236}">
                <a16:creationId xmlns:a16="http://schemas.microsoft.com/office/drawing/2014/main" id="{238AF4C2-8A22-4C0B-981F-9853B8E31150}"/>
              </a:ext>
            </a:extLst>
          </p:cNvPr>
          <p:cNvSpPr/>
          <p:nvPr/>
        </p:nvSpPr>
        <p:spPr>
          <a:xfrm>
            <a:off x="9996487" y="2177142"/>
            <a:ext cx="1948542" cy="12518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4800" b="1" dirty="0">
                <a:solidFill>
                  <a:schemeClr val="tx1"/>
                </a:solidFill>
              </a:rPr>
              <a:t>عودة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9AF12A8B-91D8-4BDF-AAB1-7347DD99A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28" y="768123"/>
            <a:ext cx="4909457" cy="493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91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: زوايا مستديرة 3">
            <a:hlinkClick r:id="rId2" action="ppaction://hlinksldjump"/>
            <a:extLst>
              <a:ext uri="{FF2B5EF4-FFF2-40B4-BE49-F238E27FC236}">
                <a16:creationId xmlns:a16="http://schemas.microsoft.com/office/drawing/2014/main" id="{238AF4C2-8A22-4C0B-981F-9853B8E31150}"/>
              </a:ext>
            </a:extLst>
          </p:cNvPr>
          <p:cNvSpPr/>
          <p:nvPr/>
        </p:nvSpPr>
        <p:spPr>
          <a:xfrm>
            <a:off x="9996487" y="2177142"/>
            <a:ext cx="1948542" cy="12518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4800" b="1" dirty="0">
                <a:solidFill>
                  <a:schemeClr val="tx1"/>
                </a:solidFill>
              </a:rPr>
              <a:t>عودة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D656D834-3E87-4E85-AA0F-62C57B4531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06" b="12901"/>
          <a:stretch/>
        </p:blipFill>
        <p:spPr>
          <a:xfrm>
            <a:off x="943653" y="402771"/>
            <a:ext cx="8557699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612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: زوايا مستديرة 3">
            <a:hlinkClick r:id="rId2" action="ppaction://hlinksldjump"/>
            <a:extLst>
              <a:ext uri="{FF2B5EF4-FFF2-40B4-BE49-F238E27FC236}">
                <a16:creationId xmlns:a16="http://schemas.microsoft.com/office/drawing/2014/main" id="{238AF4C2-8A22-4C0B-981F-9853B8E31150}"/>
              </a:ext>
            </a:extLst>
          </p:cNvPr>
          <p:cNvSpPr/>
          <p:nvPr/>
        </p:nvSpPr>
        <p:spPr>
          <a:xfrm>
            <a:off x="9996487" y="2177142"/>
            <a:ext cx="1948542" cy="12518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4800" b="1" dirty="0">
                <a:solidFill>
                  <a:schemeClr val="tx1"/>
                </a:solidFill>
              </a:rPr>
              <a:t>عودة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71099934-C577-49B2-9793-AF4F3B4B4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67" y="339499"/>
            <a:ext cx="8650059" cy="411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634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: زوايا مستديرة 3">
            <a:hlinkClick r:id="rId2" action="ppaction://hlinksldjump"/>
            <a:extLst>
              <a:ext uri="{FF2B5EF4-FFF2-40B4-BE49-F238E27FC236}">
                <a16:creationId xmlns:a16="http://schemas.microsoft.com/office/drawing/2014/main" id="{238AF4C2-8A22-4C0B-981F-9853B8E31150}"/>
              </a:ext>
            </a:extLst>
          </p:cNvPr>
          <p:cNvSpPr/>
          <p:nvPr/>
        </p:nvSpPr>
        <p:spPr>
          <a:xfrm>
            <a:off x="9996487" y="2177142"/>
            <a:ext cx="1948542" cy="12518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4800" b="1" dirty="0">
                <a:solidFill>
                  <a:schemeClr val="tx1"/>
                </a:solidFill>
              </a:rPr>
              <a:t>عودة</a:t>
            </a:r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297EA6F2-5446-46B4-87E4-148944530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01" y="1366497"/>
            <a:ext cx="8897072" cy="41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457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: زوايا مستديرة 3">
            <a:hlinkClick r:id="rId2" action="ppaction://hlinksldjump"/>
            <a:extLst>
              <a:ext uri="{FF2B5EF4-FFF2-40B4-BE49-F238E27FC236}">
                <a16:creationId xmlns:a16="http://schemas.microsoft.com/office/drawing/2014/main" id="{238AF4C2-8A22-4C0B-981F-9853B8E31150}"/>
              </a:ext>
            </a:extLst>
          </p:cNvPr>
          <p:cNvSpPr/>
          <p:nvPr/>
        </p:nvSpPr>
        <p:spPr>
          <a:xfrm>
            <a:off x="9996487" y="2177142"/>
            <a:ext cx="1948542" cy="12518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4800" b="1" dirty="0">
                <a:solidFill>
                  <a:schemeClr val="tx1"/>
                </a:solidFill>
              </a:rPr>
              <a:t>عودة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E059CCAB-D2F3-4C8C-A2D1-7D27C666C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064" y="740517"/>
            <a:ext cx="8154079" cy="537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4473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: زوايا مستديرة 3">
            <a:hlinkClick r:id="rId2" action="ppaction://hlinksldjump"/>
            <a:extLst>
              <a:ext uri="{FF2B5EF4-FFF2-40B4-BE49-F238E27FC236}">
                <a16:creationId xmlns:a16="http://schemas.microsoft.com/office/drawing/2014/main" id="{238AF4C2-8A22-4C0B-981F-9853B8E31150}"/>
              </a:ext>
            </a:extLst>
          </p:cNvPr>
          <p:cNvSpPr/>
          <p:nvPr/>
        </p:nvSpPr>
        <p:spPr>
          <a:xfrm>
            <a:off x="9996487" y="2177142"/>
            <a:ext cx="1948542" cy="12518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4800" b="1" dirty="0">
                <a:solidFill>
                  <a:schemeClr val="tx1"/>
                </a:solidFill>
              </a:rPr>
              <a:t>عودة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57F3C43D-BC3E-4CEA-A1E0-244536A77A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458" y="779689"/>
            <a:ext cx="6072791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46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: زوايا مستديرة 3">
            <a:hlinkClick r:id="rId2" action="ppaction://hlinksldjump"/>
            <a:extLst>
              <a:ext uri="{FF2B5EF4-FFF2-40B4-BE49-F238E27FC236}">
                <a16:creationId xmlns:a16="http://schemas.microsoft.com/office/drawing/2014/main" id="{238AF4C2-8A22-4C0B-981F-9853B8E31150}"/>
              </a:ext>
            </a:extLst>
          </p:cNvPr>
          <p:cNvSpPr/>
          <p:nvPr/>
        </p:nvSpPr>
        <p:spPr>
          <a:xfrm>
            <a:off x="9996487" y="2177142"/>
            <a:ext cx="1948542" cy="12518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AE" sz="4800" b="1" dirty="0">
                <a:solidFill>
                  <a:schemeClr val="tx1"/>
                </a:solidFill>
              </a:rPr>
              <a:t>عودة</a:t>
            </a:r>
          </a:p>
        </p:txBody>
      </p:sp>
    </p:spTree>
    <p:extLst>
      <p:ext uri="{BB962C8B-B14F-4D97-AF65-F5344CB8AC3E}">
        <p14:creationId xmlns:p14="http://schemas.microsoft.com/office/powerpoint/2010/main" val="3133881128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1198</Words>
  <Application>Microsoft Office PowerPoint</Application>
  <PresentationFormat>شاشة عريضة</PresentationFormat>
  <Paragraphs>170</Paragraphs>
  <Slides>38</Slides>
  <Notes>0</Notes>
  <HiddenSlides>0</HiddenSlides>
  <MMClips>5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Roboto</vt:lpstr>
      <vt:lpstr>Verdana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السلاسل الغذائية</vt:lpstr>
      <vt:lpstr>السلاسل الغذائية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رضا زوحل</dc:creator>
  <cp:lastModifiedBy>Reda Ali Ali  Zouhal</cp:lastModifiedBy>
  <cp:revision>31</cp:revision>
  <dcterms:created xsi:type="dcterms:W3CDTF">2020-04-13T19:35:58Z</dcterms:created>
  <dcterms:modified xsi:type="dcterms:W3CDTF">2024-06-01T07:41:46Z</dcterms:modified>
</cp:coreProperties>
</file>