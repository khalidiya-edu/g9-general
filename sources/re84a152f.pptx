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48"/>
  </p:notesMasterIdLst>
  <p:sldIdLst>
    <p:sldId id="256" r:id="rId3"/>
    <p:sldId id="257" r:id="rId4"/>
    <p:sldId id="258" r:id="rId5"/>
    <p:sldId id="259" r:id="rId6"/>
    <p:sldId id="260" r:id="rId7"/>
    <p:sldId id="322" r:id="rId8"/>
    <p:sldId id="261" r:id="rId9"/>
    <p:sldId id="262" r:id="rId10"/>
    <p:sldId id="323" r:id="rId11"/>
    <p:sldId id="263" r:id="rId12"/>
    <p:sldId id="311" r:id="rId13"/>
    <p:sldId id="264" r:id="rId14"/>
    <p:sldId id="315" r:id="rId15"/>
    <p:sldId id="312" r:id="rId16"/>
    <p:sldId id="313" r:id="rId17"/>
    <p:sldId id="314" r:id="rId18"/>
    <p:sldId id="316" r:id="rId19"/>
    <p:sldId id="350" r:id="rId20"/>
    <p:sldId id="265" r:id="rId21"/>
    <p:sldId id="332" r:id="rId22"/>
    <p:sldId id="266" r:id="rId23"/>
    <p:sldId id="334" r:id="rId24"/>
    <p:sldId id="333" r:id="rId25"/>
    <p:sldId id="337" r:id="rId26"/>
    <p:sldId id="336" r:id="rId27"/>
    <p:sldId id="300" r:id="rId28"/>
    <p:sldId id="302" r:id="rId29"/>
    <p:sldId id="344" r:id="rId30"/>
    <p:sldId id="303" r:id="rId31"/>
    <p:sldId id="345" r:id="rId32"/>
    <p:sldId id="346" r:id="rId33"/>
    <p:sldId id="347" r:id="rId34"/>
    <p:sldId id="306" r:id="rId35"/>
    <p:sldId id="348" r:id="rId36"/>
    <p:sldId id="307" r:id="rId37"/>
    <p:sldId id="349" r:id="rId38"/>
    <p:sldId id="301" r:id="rId39"/>
    <p:sldId id="267" r:id="rId40"/>
    <p:sldId id="268" r:id="rId41"/>
    <p:sldId id="270" r:id="rId42"/>
    <p:sldId id="269" r:id="rId43"/>
    <p:sldId id="290" r:id="rId44"/>
    <p:sldId id="295" r:id="rId45"/>
    <p:sldId id="296" r:id="rId46"/>
    <p:sldId id="297"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3" d="100"/>
          <a:sy n="63" d="100"/>
        </p:scale>
        <p:origin x="99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677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افتتاح الحصة: الترحيب بالطلاب، أخذ الحضور والغياب، وربط سريع بما سبق دراسته في الحصة الأولى (علم البيئة، العوامل الحيوية وغير الحيوية، مستويات التنظيم البيئي). 1 دقيقة.</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الميثاق الوطني للتعليم: طقس افتتاحي يومي يقرأ فيه المعلم مع الطلاب الغاية العليا للميثاق، ويربطها اليوم بقيمة التعاون والتكافل بين أفراد المجتمع كما بين الكائنات الحية في الطبيعة. دقيقتان.</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شغّل المقطع (57 ثانية) ثم اجمع إجابات سريعة شفهية دون تصحيح، تمهيداً لموضوع أنواع التفاعلات بين الكائنات الحية. 4 دقائق.</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اعرض النواتج الثلاثة واقرأها بصوت مرتفع، واطلب من طالب إعادة صياغتها بلغته (معيار: عرض نواتج التعلم ووعي الطلاب بها). صنّف المفردات مع الترجمة الإنجليزية لدعم لغة العلوم. دقيقتان.</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استخدم تشبيه: الموطن هو 'عنوان منزل' الكائن الحي، والموقع الملائم هو 'مهنته' فيه (استراتيجية التشبيهات). اربط بمثال إماراتي: موطن المها العربي صحراء الإمارات، وموقعه الملائم الرعي على النباتات الصحراوية القليلة. 4 دقائق.</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عنصر نائب لصورة الشريحة 1"/>
          <p:cNvSpPr>
            <a:spLocks noGrp="1" noRot="1" noChangeAspect="1" noTextEdit="1"/>
          </p:cNvSpPr>
          <p:nvPr>
            <p:ph type="sldImg"/>
          </p:nvPr>
        </p:nvSpPr>
        <p:spPr>
          <a:ln/>
        </p:spPr>
      </p:sp>
      <p:sp>
        <p:nvSpPr>
          <p:cNvPr id="19459" name="عنصر نائب للملاحظات 2"/>
          <p:cNvSpPr>
            <a:spLocks noGrp="1"/>
          </p:cNvSpPr>
          <p:nvPr>
            <p:ph type="body" idx="1"/>
          </p:nvPr>
        </p:nvSpPr>
        <p:spPr>
          <a:noFill/>
          <a:ln/>
        </p:spPr>
        <p:txBody>
          <a:bodyPr/>
          <a:lstStyle/>
          <a:p>
            <a:pPr eaLnBrk="1" hangingPunct="1"/>
            <a:endParaRPr lang="ar-AE"/>
          </a:p>
        </p:txBody>
      </p:sp>
      <p:sp>
        <p:nvSpPr>
          <p:cNvPr id="19460" name="عنصر نائب لرقم الشريحة 3"/>
          <p:cNvSpPr>
            <a:spLocks noGrp="1"/>
          </p:cNvSpPr>
          <p:nvPr>
            <p:ph type="sldNum" sz="quarter" idx="5"/>
          </p:nvPr>
        </p:nvSpPr>
        <p:spPr>
          <a:noFill/>
        </p:spPr>
        <p:txBody>
          <a:bodyPr/>
          <a:lstStyle/>
          <a:p>
            <a:pPr marL="0" marR="0" lvl="0" indent="0" algn="l" defTabSz="914400" rtl="1" eaLnBrk="1" fontAlgn="base" latinLnBrk="0" hangingPunct="1">
              <a:lnSpc>
                <a:spcPct val="100000"/>
              </a:lnSpc>
              <a:spcBef>
                <a:spcPct val="0"/>
              </a:spcBef>
              <a:spcAft>
                <a:spcPct val="0"/>
              </a:spcAft>
              <a:buClrTx/>
              <a:buSzTx/>
              <a:buFontTx/>
              <a:buNone/>
              <a:tabLst/>
              <a:defRPr/>
            </a:pPr>
            <a:fld id="{4AE0C6E2-6F41-4AA2-827C-9A6CFEAE3235}" type="slidenum">
              <a:rPr kumimoji="0" lang="ar-SA" sz="1200" b="0" i="0" u="none" strike="noStrike" kern="1200" cap="none" spc="0" normalizeH="0" baseline="0" noProof="0" smtClean="0">
                <a:ln>
                  <a:noFill/>
                </a:ln>
                <a:solidFill>
                  <a:srgbClr val="000000"/>
                </a:solidFill>
                <a:effectLst/>
                <a:uLnTx/>
                <a:uFillTx/>
                <a:latin typeface="Times New Roman" pitchFamily="18" charset="0"/>
                <a:ea typeface="+mn-ea"/>
                <a:cs typeface="Arial" pitchFamily="34" charset="0"/>
              </a:rPr>
              <a:pPr marL="0" marR="0" lvl="0" indent="0" algn="l" defTabSz="914400" rtl="1"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srgbClr val="000000"/>
              </a:solidFill>
              <a:effectLst/>
              <a:uLnTx/>
              <a:uFillTx/>
              <a:latin typeface="Times New Roman" pitchFamily="18" charset="0"/>
              <a:ea typeface="+mn-ea"/>
              <a:cs typeface="Arial" pitchFamily="34" charset="0"/>
            </a:endParaRPr>
          </a:p>
        </p:txBody>
      </p:sp>
    </p:spTree>
    <p:extLst>
      <p:ext uri="{BB962C8B-B14F-4D97-AF65-F5344CB8AC3E}">
        <p14:creationId xmlns:p14="http://schemas.microsoft.com/office/powerpoint/2010/main" val="579863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استخدم إستراتيجية 'ارفع بطاقتك' (أخضر=فهمت، أصفر=بحاجة لمراجعة) لقياس فهم الصف خلال ثوانٍ، وقدّم تغذية راجعة فورية موجزة. تقييم تكويني مستمر رقم 1. دقيقتان.</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التمايز: شجّع الطلاب دون المستوى بأمثلة مساعدة بسيطة (كالطيور والحشرات)؛ اطلب من الطلاب فوق المستوى أمثلة من البيئة البحرية أو الصحراوية الإماراتية. هذه هي الإستراتيجية الموحّدة للحصة (عصف ذهني) وتُستخدم مرة أخرى لاحقاً لضمان عدم تشتت الطلاب بين أساليب متعددة. 5 دقائق.</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عنصر نائب لصورة الشريحة 1"/>
          <p:cNvSpPr>
            <a:spLocks noGrp="1" noRot="1" noChangeAspect="1" noTextEdit="1"/>
          </p:cNvSpPr>
          <p:nvPr>
            <p:ph type="sldImg"/>
          </p:nvPr>
        </p:nvSpPr>
        <p:spPr>
          <a:ln/>
        </p:spPr>
      </p:sp>
      <p:sp>
        <p:nvSpPr>
          <p:cNvPr id="19459" name="عنصر نائب للملاحظات 2"/>
          <p:cNvSpPr>
            <a:spLocks noGrp="1"/>
          </p:cNvSpPr>
          <p:nvPr>
            <p:ph type="body" idx="1"/>
          </p:nvPr>
        </p:nvSpPr>
        <p:spPr>
          <a:noFill/>
          <a:ln/>
        </p:spPr>
        <p:txBody>
          <a:bodyPr/>
          <a:lstStyle/>
          <a:p>
            <a:pPr eaLnBrk="1" hangingPunct="1"/>
            <a:endParaRPr lang="ar-AE"/>
          </a:p>
        </p:txBody>
      </p:sp>
      <p:sp>
        <p:nvSpPr>
          <p:cNvPr id="19460" name="عنصر نائب لرقم الشريحة 3"/>
          <p:cNvSpPr>
            <a:spLocks noGrp="1"/>
          </p:cNvSpPr>
          <p:nvPr>
            <p:ph type="sldNum" sz="quarter" idx="5"/>
          </p:nvPr>
        </p:nvSpPr>
        <p:spPr>
          <a:noFill/>
        </p:spPr>
        <p:txBody>
          <a:bodyPr/>
          <a:lstStyle/>
          <a:p>
            <a:pPr marL="0" marR="0" lvl="0" indent="0" algn="l" defTabSz="914400" rtl="1" eaLnBrk="1" fontAlgn="base" latinLnBrk="0" hangingPunct="1">
              <a:lnSpc>
                <a:spcPct val="100000"/>
              </a:lnSpc>
              <a:spcBef>
                <a:spcPct val="0"/>
              </a:spcBef>
              <a:spcAft>
                <a:spcPct val="0"/>
              </a:spcAft>
              <a:buClrTx/>
              <a:buSzTx/>
              <a:buFontTx/>
              <a:buNone/>
              <a:tabLst/>
              <a:defRPr/>
            </a:pPr>
            <a:fld id="{4AE0C6E2-6F41-4AA2-827C-9A6CFEAE3235}" type="slidenum">
              <a:rPr kumimoji="0" lang="ar-SA" sz="1200" b="0" i="0" u="none" strike="noStrike" kern="1200" cap="none" spc="0" normalizeH="0" baseline="0" noProof="0" smtClean="0">
                <a:ln>
                  <a:noFill/>
                </a:ln>
                <a:solidFill>
                  <a:srgbClr val="000000"/>
                </a:solidFill>
                <a:effectLst/>
                <a:uLnTx/>
                <a:uFillTx/>
                <a:latin typeface="Times New Roman" pitchFamily="18" charset="0"/>
                <a:ea typeface="+mn-ea"/>
                <a:cs typeface="Arial" pitchFamily="34" charset="0"/>
              </a:rPr>
              <a:pPr marL="0" marR="0" lvl="0" indent="0" algn="l" defTabSz="914400" rtl="1" eaLnBrk="1" fontAlgn="base" latinLnBrk="0" hangingPunct="1">
                <a:lnSpc>
                  <a:spcPct val="100000"/>
                </a:lnSpc>
                <a:spcBef>
                  <a:spcPct val="0"/>
                </a:spcBef>
                <a:spcAft>
                  <a:spcPct val="0"/>
                </a:spcAft>
                <a:buClrTx/>
                <a:buSzTx/>
                <a:buFontTx/>
                <a:buNone/>
                <a:tabLst/>
                <a:defRPr/>
              </a:pPr>
              <a:t>9</a:t>
            </a:fld>
            <a:endParaRPr kumimoji="0" lang="en-US" sz="1200" b="0" i="0" u="none" strike="noStrike" kern="1200" cap="none" spc="0" normalizeH="0" baseline="0" noProof="0">
              <a:ln>
                <a:noFill/>
              </a:ln>
              <a:solidFill>
                <a:srgbClr val="000000"/>
              </a:solidFill>
              <a:effectLst/>
              <a:uLnTx/>
              <a:uFillTx/>
              <a:latin typeface="Times New Roman" pitchFamily="18" charset="0"/>
              <a:ea typeface="+mn-ea"/>
              <a:cs typeface="Arial" pitchFamily="34" charset="0"/>
            </a:endParaRPr>
          </a:p>
        </p:txBody>
      </p:sp>
    </p:spTree>
    <p:extLst>
      <p:ext uri="{BB962C8B-B14F-4D97-AF65-F5344CB8AC3E}">
        <p14:creationId xmlns:p14="http://schemas.microsoft.com/office/powerpoint/2010/main" val="28266252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اربط بأمثلة أفكار الطلاب من نشاط العصف الذهني السابق وصنّفها هنا تحت 'تنافس' لتعزيز الربط بين النشاط والمحتوى. 3 دقائق.</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أعد عرض لقطة النمر والغزال من فيديو التهيئة كمرجع بصري لتثبيت المفهوم. اسأل: ماذا يحدث لأعداد الفرائس لو اختفى المفترس؟ (تفكير عليا – تحليل). 3 دقائق.</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اطلب إجابات فردية سريعة على السبورة أو شفهياً، وصحّح فورياً (تقييم تكويني مستمر رقم 2). دقيقتان.</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المقطع (60 ثانية) يعرض تعريف أنواع التكافل الثلاثة. أوقفه بعد كل تعريف واطلب من الطلاب إعادة صياغته بأسلوبهم (استراتيجية الثقافة المرئية). 3 دقائق.</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معالجة المفهوم الخاطئ الشائع بوضوح وصراحة (كما ورد في دليل المنهج): كثير من الطلاب يعتقدون أن الطفيلي يقتل عائله دائماً، وهذا غير صحيح غالباً؛ بقاء العائل حياً يخدم مصلحة الطفيلي نفسه. اطرح سؤال تفكير عليا: ماذا يحدث للطفيلي إن مات عائله؟ 5 دقائق.</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هذا يُغلق حلقة العصف الذهني الذي بدأ في التهيئة، ويحقق معيار (تنويع الأسئلة وإشراك أكبر عدد من الطلاب) دون تحويل الإستراتيجية عن العصف الذهني. جوّل بين الطلاب وقدّم دعماً موجّهاً لمن يخطئ التصنيف. 4 دقائق.</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اعرض فيديو الملخص القصير (21 ثانية) لترسيخ الصورة الكلية للتفاعلات، ثم لخّص القسم بأكمله (الحصتين معاً) شفهياً، وزّع التعزيز الإيجابي، واذكر الواجب بوضوح. اربط بالوحدة القادمة إن وُجدت. 3 دقائق.</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اطلب من كل طالب رفع إشارة أو بطاقة وجه تعبيري لتقييم فهمه ذاتياً، وسجّل من يحتاج متابعة فردية. 3 دقائق.</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عنصر نائب لصورة الشريحة 1"/>
          <p:cNvSpPr>
            <a:spLocks noGrp="1" noRot="1" noChangeAspect="1" noTextEdit="1"/>
          </p:cNvSpPr>
          <p:nvPr>
            <p:ph type="sldImg"/>
          </p:nvPr>
        </p:nvSpPr>
        <p:spPr>
          <a:ln/>
        </p:spPr>
      </p:sp>
      <p:sp>
        <p:nvSpPr>
          <p:cNvPr id="27651" name="عنصر نائب للملاحظات 2"/>
          <p:cNvSpPr>
            <a:spLocks noGrp="1"/>
          </p:cNvSpPr>
          <p:nvPr>
            <p:ph type="body" idx="1"/>
          </p:nvPr>
        </p:nvSpPr>
        <p:spPr>
          <a:noFill/>
          <a:ln/>
        </p:spPr>
        <p:txBody>
          <a:bodyPr/>
          <a:lstStyle/>
          <a:p>
            <a:endParaRPr lang="ar-AE"/>
          </a:p>
        </p:txBody>
      </p:sp>
      <p:sp>
        <p:nvSpPr>
          <p:cNvPr id="27652" name="عنصر نائب لرقم الشريحة 3"/>
          <p:cNvSpPr>
            <a:spLocks noGrp="1"/>
          </p:cNvSpPr>
          <p:nvPr>
            <p:ph type="sldNum" sz="quarter" idx="5"/>
          </p:nvPr>
        </p:nvSpPr>
        <p:spPr>
          <a:noFill/>
        </p:spPr>
        <p:txBody>
          <a:bodyPr/>
          <a:lstStyle/>
          <a:p>
            <a:pPr marL="0" marR="0" lvl="0" indent="0" algn="l" defTabSz="914400" rtl="1" eaLnBrk="1" fontAlgn="base" latinLnBrk="0" hangingPunct="1">
              <a:lnSpc>
                <a:spcPct val="100000"/>
              </a:lnSpc>
              <a:spcBef>
                <a:spcPct val="0"/>
              </a:spcBef>
              <a:spcAft>
                <a:spcPct val="0"/>
              </a:spcAft>
              <a:buClrTx/>
              <a:buSzTx/>
              <a:buFontTx/>
              <a:buNone/>
              <a:tabLst/>
              <a:defRPr/>
            </a:pPr>
            <a:fld id="{04224C5B-B918-4D6E-9017-4717756C90D1}" type="slidenum">
              <a:rPr kumimoji="0" lang="ar-SA" sz="1200" b="0" i="0" u="none" strike="noStrike" kern="1200" cap="none" spc="0" normalizeH="0" baseline="0" noProof="0" smtClean="0">
                <a:ln>
                  <a:noFill/>
                </a:ln>
                <a:solidFill>
                  <a:srgbClr val="000000"/>
                </a:solidFill>
                <a:effectLst/>
                <a:uLnTx/>
                <a:uFillTx/>
                <a:latin typeface="Times New Roman" pitchFamily="18" charset="0"/>
                <a:ea typeface="+mn-ea"/>
                <a:cs typeface="Arial" pitchFamily="34" charset="0"/>
              </a:rPr>
              <a:pPr marL="0" marR="0" lvl="0" indent="0" algn="l" defTabSz="914400" rtl="1" eaLnBrk="1" fontAlgn="base" latinLnBrk="0" hangingPunct="1">
                <a:lnSpc>
                  <a:spcPct val="100000"/>
                </a:lnSpc>
                <a:spcBef>
                  <a:spcPct val="0"/>
                </a:spcBef>
                <a:spcAft>
                  <a:spcPct val="0"/>
                </a:spcAft>
                <a:buClrTx/>
                <a:buSzTx/>
                <a:buFontTx/>
                <a:buNone/>
                <a:tabLst/>
                <a:defRPr/>
              </a:pPr>
              <a:t>42</a:t>
            </a:fld>
            <a:endParaRPr kumimoji="0" lang="en-US" sz="1200" b="0" i="0" u="none" strike="noStrike" kern="1200" cap="none" spc="0" normalizeH="0" baseline="0" noProof="0">
              <a:ln>
                <a:noFill/>
              </a:ln>
              <a:solidFill>
                <a:srgbClr val="000000"/>
              </a:solidFill>
              <a:effectLst/>
              <a:uLnTx/>
              <a:uFillTx/>
              <a:latin typeface="Times New Roman" pitchFamily="18" charset="0"/>
              <a:ea typeface="+mn-ea"/>
              <a:cs typeface="Arial" pitchFamily="34" charset="0"/>
            </a:endParaRPr>
          </a:p>
        </p:txBody>
      </p:sp>
    </p:spTree>
    <p:extLst>
      <p:ext uri="{BB962C8B-B14F-4D97-AF65-F5344CB8AC3E}">
        <p14:creationId xmlns:p14="http://schemas.microsoft.com/office/powerpoint/2010/main" val="30214781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عنصر نائب لصورة الشريحة 1"/>
          <p:cNvSpPr>
            <a:spLocks noGrp="1" noRot="1" noChangeAspect="1" noTextEdit="1"/>
          </p:cNvSpPr>
          <p:nvPr>
            <p:ph type="sldImg"/>
          </p:nvPr>
        </p:nvSpPr>
        <p:spPr>
          <a:ln/>
        </p:spPr>
      </p:sp>
      <p:sp>
        <p:nvSpPr>
          <p:cNvPr id="28675" name="عنصر نائب للملاحظات 2"/>
          <p:cNvSpPr>
            <a:spLocks noGrp="1"/>
          </p:cNvSpPr>
          <p:nvPr>
            <p:ph type="body" idx="1"/>
          </p:nvPr>
        </p:nvSpPr>
        <p:spPr>
          <a:noFill/>
          <a:ln/>
        </p:spPr>
        <p:txBody>
          <a:bodyPr/>
          <a:lstStyle/>
          <a:p>
            <a:endParaRPr lang="ar-AE"/>
          </a:p>
        </p:txBody>
      </p:sp>
      <p:sp>
        <p:nvSpPr>
          <p:cNvPr id="28676" name="عنصر نائب لرقم الشريحة 3"/>
          <p:cNvSpPr>
            <a:spLocks noGrp="1"/>
          </p:cNvSpPr>
          <p:nvPr>
            <p:ph type="sldNum" sz="quarter" idx="5"/>
          </p:nvPr>
        </p:nvSpPr>
        <p:spPr>
          <a:noFill/>
        </p:spPr>
        <p:txBody>
          <a:bodyPr/>
          <a:lstStyle/>
          <a:p>
            <a:pPr marL="0" marR="0" lvl="0" indent="0" algn="l" defTabSz="914400" rtl="1" eaLnBrk="1" fontAlgn="base" latinLnBrk="0" hangingPunct="1">
              <a:lnSpc>
                <a:spcPct val="100000"/>
              </a:lnSpc>
              <a:spcBef>
                <a:spcPct val="0"/>
              </a:spcBef>
              <a:spcAft>
                <a:spcPct val="0"/>
              </a:spcAft>
              <a:buClrTx/>
              <a:buSzTx/>
              <a:buFontTx/>
              <a:buNone/>
              <a:tabLst/>
              <a:defRPr/>
            </a:pPr>
            <a:fld id="{9CAF01A3-47C6-4897-B9D7-25F9CA050921}" type="slidenum">
              <a:rPr kumimoji="0" lang="ar-SA" sz="1200" b="0" i="0" u="none" strike="noStrike" kern="1200" cap="none" spc="0" normalizeH="0" baseline="0" noProof="0" smtClean="0">
                <a:ln>
                  <a:noFill/>
                </a:ln>
                <a:solidFill>
                  <a:srgbClr val="000000"/>
                </a:solidFill>
                <a:effectLst/>
                <a:uLnTx/>
                <a:uFillTx/>
                <a:latin typeface="Times New Roman" pitchFamily="18" charset="0"/>
                <a:ea typeface="+mn-ea"/>
                <a:cs typeface="Arial" pitchFamily="34" charset="0"/>
              </a:rPr>
              <a:pPr marL="0" marR="0" lvl="0" indent="0" algn="l" defTabSz="914400" rtl="1" eaLnBrk="1" fontAlgn="base" latinLnBrk="0" hangingPunct="1">
                <a:lnSpc>
                  <a:spcPct val="100000"/>
                </a:lnSpc>
                <a:spcBef>
                  <a:spcPct val="0"/>
                </a:spcBef>
                <a:spcAft>
                  <a:spcPct val="0"/>
                </a:spcAft>
                <a:buClrTx/>
                <a:buSzTx/>
                <a:buFontTx/>
                <a:buNone/>
                <a:tabLst/>
                <a:defRPr/>
              </a:pPr>
              <a:t>43</a:t>
            </a:fld>
            <a:endParaRPr kumimoji="0" lang="en-US" sz="1200" b="0" i="0" u="none" strike="noStrike" kern="1200" cap="none" spc="0" normalizeH="0" baseline="0" noProof="0">
              <a:ln>
                <a:noFill/>
              </a:ln>
              <a:solidFill>
                <a:srgbClr val="000000"/>
              </a:solidFill>
              <a:effectLst/>
              <a:uLnTx/>
              <a:uFillTx/>
              <a:latin typeface="Times New Roman" pitchFamily="18" charset="0"/>
              <a:ea typeface="+mn-ea"/>
              <a:cs typeface="Arial" pitchFamily="34" charset="0"/>
            </a:endParaRPr>
          </a:p>
        </p:txBody>
      </p:sp>
    </p:spTree>
    <p:extLst>
      <p:ext uri="{BB962C8B-B14F-4D97-AF65-F5344CB8AC3E}">
        <p14:creationId xmlns:p14="http://schemas.microsoft.com/office/powerpoint/2010/main" val="26508888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عنصر نائب لصورة الشريحة 1"/>
          <p:cNvSpPr>
            <a:spLocks noGrp="1" noRot="1" noChangeAspect="1" noTextEdit="1"/>
          </p:cNvSpPr>
          <p:nvPr>
            <p:ph type="sldImg"/>
          </p:nvPr>
        </p:nvSpPr>
        <p:spPr>
          <a:ln/>
        </p:spPr>
      </p:sp>
      <p:sp>
        <p:nvSpPr>
          <p:cNvPr id="29699" name="عنصر نائب للملاحظات 2"/>
          <p:cNvSpPr>
            <a:spLocks noGrp="1"/>
          </p:cNvSpPr>
          <p:nvPr>
            <p:ph type="body" idx="1"/>
          </p:nvPr>
        </p:nvSpPr>
        <p:spPr>
          <a:noFill/>
          <a:ln/>
        </p:spPr>
        <p:txBody>
          <a:bodyPr/>
          <a:lstStyle/>
          <a:p>
            <a:endParaRPr lang="ar-AE"/>
          </a:p>
        </p:txBody>
      </p:sp>
      <p:sp>
        <p:nvSpPr>
          <p:cNvPr id="29700" name="عنصر نائب لرقم الشريحة 3"/>
          <p:cNvSpPr>
            <a:spLocks noGrp="1"/>
          </p:cNvSpPr>
          <p:nvPr>
            <p:ph type="sldNum" sz="quarter" idx="5"/>
          </p:nvPr>
        </p:nvSpPr>
        <p:spPr>
          <a:noFill/>
        </p:spPr>
        <p:txBody>
          <a:bodyPr/>
          <a:lstStyle/>
          <a:p>
            <a:pPr marL="0" marR="0" lvl="0" indent="0" algn="l" defTabSz="914400" rtl="1" eaLnBrk="1" fontAlgn="base" latinLnBrk="0" hangingPunct="1">
              <a:lnSpc>
                <a:spcPct val="100000"/>
              </a:lnSpc>
              <a:spcBef>
                <a:spcPct val="0"/>
              </a:spcBef>
              <a:spcAft>
                <a:spcPct val="0"/>
              </a:spcAft>
              <a:buClrTx/>
              <a:buSzTx/>
              <a:buFontTx/>
              <a:buNone/>
              <a:tabLst/>
              <a:defRPr/>
            </a:pPr>
            <a:fld id="{5CACE47B-457F-4EFB-9FA0-53DD498E37AB}" type="slidenum">
              <a:rPr kumimoji="0" lang="ar-SA" sz="1200" b="0" i="0" u="none" strike="noStrike" kern="1200" cap="none" spc="0" normalizeH="0" baseline="0" noProof="0" smtClean="0">
                <a:ln>
                  <a:noFill/>
                </a:ln>
                <a:solidFill>
                  <a:srgbClr val="000000"/>
                </a:solidFill>
                <a:effectLst/>
                <a:uLnTx/>
                <a:uFillTx/>
                <a:latin typeface="Times New Roman" pitchFamily="18" charset="0"/>
                <a:ea typeface="+mn-ea"/>
                <a:cs typeface="Arial" pitchFamily="34" charset="0"/>
              </a:rPr>
              <a:pPr marL="0" marR="0" lvl="0" indent="0" algn="l" defTabSz="914400" rtl="1" eaLnBrk="1" fontAlgn="base" latinLnBrk="0" hangingPunct="1">
                <a:lnSpc>
                  <a:spcPct val="100000"/>
                </a:lnSpc>
                <a:spcBef>
                  <a:spcPct val="0"/>
                </a:spcBef>
                <a:spcAft>
                  <a:spcPct val="0"/>
                </a:spcAft>
                <a:buClrTx/>
                <a:buSzTx/>
                <a:buFontTx/>
                <a:buNone/>
                <a:tabLst/>
                <a:defRPr/>
              </a:pPr>
              <a:t>44</a:t>
            </a:fld>
            <a:endParaRPr kumimoji="0" lang="en-US" sz="1200" b="0" i="0" u="none" strike="noStrike" kern="1200" cap="none" spc="0" normalizeH="0" baseline="0" noProof="0">
              <a:ln>
                <a:noFill/>
              </a:ln>
              <a:solidFill>
                <a:srgbClr val="000000"/>
              </a:solidFill>
              <a:effectLst/>
              <a:uLnTx/>
              <a:uFillTx/>
              <a:latin typeface="Times New Roman" pitchFamily="18" charset="0"/>
              <a:ea typeface="+mn-ea"/>
              <a:cs typeface="Arial" pitchFamily="34" charset="0"/>
            </a:endParaRPr>
          </a:p>
        </p:txBody>
      </p:sp>
    </p:spTree>
    <p:extLst>
      <p:ext uri="{BB962C8B-B14F-4D97-AF65-F5344CB8AC3E}">
        <p14:creationId xmlns:p14="http://schemas.microsoft.com/office/powerpoint/2010/main" val="18327215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عنصر نائب لصورة الشريحة 1"/>
          <p:cNvSpPr>
            <a:spLocks noGrp="1" noRot="1" noChangeAspect="1" noTextEdit="1"/>
          </p:cNvSpPr>
          <p:nvPr>
            <p:ph type="sldImg"/>
          </p:nvPr>
        </p:nvSpPr>
        <p:spPr>
          <a:ln/>
        </p:spPr>
      </p:sp>
      <p:sp>
        <p:nvSpPr>
          <p:cNvPr id="30723" name="عنصر نائب للملاحظات 2"/>
          <p:cNvSpPr>
            <a:spLocks noGrp="1"/>
          </p:cNvSpPr>
          <p:nvPr>
            <p:ph type="body" idx="1"/>
          </p:nvPr>
        </p:nvSpPr>
        <p:spPr>
          <a:noFill/>
          <a:ln/>
        </p:spPr>
        <p:txBody>
          <a:bodyPr/>
          <a:lstStyle/>
          <a:p>
            <a:endParaRPr lang="ar-AE"/>
          </a:p>
        </p:txBody>
      </p:sp>
      <p:sp>
        <p:nvSpPr>
          <p:cNvPr id="30724" name="عنصر نائب لرقم الشريحة 3"/>
          <p:cNvSpPr>
            <a:spLocks noGrp="1"/>
          </p:cNvSpPr>
          <p:nvPr>
            <p:ph type="sldNum" sz="quarter" idx="5"/>
          </p:nvPr>
        </p:nvSpPr>
        <p:spPr>
          <a:noFill/>
        </p:spPr>
        <p:txBody>
          <a:bodyPr/>
          <a:lstStyle/>
          <a:p>
            <a:pPr marL="0" marR="0" lvl="0" indent="0" algn="l" defTabSz="914400" rtl="1" eaLnBrk="1" fontAlgn="base" latinLnBrk="0" hangingPunct="1">
              <a:lnSpc>
                <a:spcPct val="100000"/>
              </a:lnSpc>
              <a:spcBef>
                <a:spcPct val="0"/>
              </a:spcBef>
              <a:spcAft>
                <a:spcPct val="0"/>
              </a:spcAft>
              <a:buClrTx/>
              <a:buSzTx/>
              <a:buFontTx/>
              <a:buNone/>
              <a:tabLst/>
              <a:defRPr/>
            </a:pPr>
            <a:fld id="{170BE418-1706-4AC3-8031-50F9F884C00A}" type="slidenum">
              <a:rPr kumimoji="0" lang="ar-SA" sz="1200" b="0" i="0" u="none" strike="noStrike" kern="1200" cap="none" spc="0" normalizeH="0" baseline="0" noProof="0" smtClean="0">
                <a:ln>
                  <a:noFill/>
                </a:ln>
                <a:solidFill>
                  <a:srgbClr val="000000"/>
                </a:solidFill>
                <a:effectLst/>
                <a:uLnTx/>
                <a:uFillTx/>
                <a:latin typeface="Times New Roman" pitchFamily="18" charset="0"/>
                <a:ea typeface="+mn-ea"/>
                <a:cs typeface="Arial" pitchFamily="34" charset="0"/>
              </a:rPr>
              <a:pPr marL="0" marR="0" lvl="0" indent="0" algn="l" defTabSz="914400" rtl="1" eaLnBrk="1" fontAlgn="base" latinLnBrk="0" hangingPunct="1">
                <a:lnSpc>
                  <a:spcPct val="100000"/>
                </a:lnSpc>
                <a:spcBef>
                  <a:spcPct val="0"/>
                </a:spcBef>
                <a:spcAft>
                  <a:spcPct val="0"/>
                </a:spcAft>
                <a:buClrTx/>
                <a:buSzTx/>
                <a:buFontTx/>
                <a:buNone/>
                <a:tabLst/>
                <a:defRPr/>
              </a:pPr>
              <a:t>45</a:t>
            </a:fld>
            <a:endParaRPr kumimoji="0" lang="en-US" sz="1200" b="0" i="0" u="none" strike="noStrike" kern="1200" cap="none" spc="0" normalizeH="0" baseline="0" noProof="0">
              <a:ln>
                <a:noFill/>
              </a:ln>
              <a:solidFill>
                <a:srgbClr val="000000"/>
              </a:solidFill>
              <a:effectLst/>
              <a:uLnTx/>
              <a:uFillTx/>
              <a:latin typeface="Times New Roman" pitchFamily="18" charset="0"/>
              <a:ea typeface="+mn-ea"/>
              <a:cs typeface="Arial" pitchFamily="34" charset="0"/>
            </a:endParaRPr>
          </a:p>
        </p:txBody>
      </p:sp>
    </p:spTree>
    <p:extLst>
      <p:ext uri="{BB962C8B-B14F-4D97-AF65-F5344CB8AC3E}">
        <p14:creationId xmlns:p14="http://schemas.microsoft.com/office/powerpoint/2010/main" val="1190970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p:cNvSpPr>
            <a:spLocks noGrp="1"/>
          </p:cNvSpPr>
          <p:nvPr>
            <p:ph type="ctrTitle"/>
          </p:nvPr>
        </p:nvSpPr>
        <p:spPr>
          <a:xfrm>
            <a:off x="914400" y="2130426"/>
            <a:ext cx="10363200" cy="1470025"/>
          </a:xfrm>
        </p:spPr>
        <p:txBody>
          <a:bodyPr/>
          <a:lstStyle/>
          <a:p>
            <a:r>
              <a:rPr lang="ar-SA"/>
              <a:t>انقر لتحرير نمط العنوان الرئيسي</a:t>
            </a:r>
            <a:endParaRPr lang="ar-AE"/>
          </a:p>
        </p:txBody>
      </p:sp>
      <p:sp>
        <p:nvSpPr>
          <p:cNvPr id="3" name="عنوان فرعي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ar-SA"/>
              <a:t>انقر لتحرير نمط العنوان الثانوي الرئيسي</a:t>
            </a:r>
            <a:endParaRPr lang="ar-AE"/>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25AF74C-8398-478F-AEF3-24A059E0EBFC}" type="slidenum">
              <a:rPr lang="ar-SA"/>
              <a:pPr>
                <a:defRPr/>
              </a:pPr>
              <a:t>‹#›</a:t>
            </a:fld>
            <a:endParaRPr lang="en-US"/>
          </a:p>
        </p:txBody>
      </p:sp>
    </p:spTree>
    <p:extLst>
      <p:ext uri="{BB962C8B-B14F-4D97-AF65-F5344CB8AC3E}">
        <p14:creationId xmlns:p14="http://schemas.microsoft.com/office/powerpoint/2010/main" val="10800226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ar-AE"/>
          </a:p>
        </p:txBody>
      </p:sp>
      <p:sp>
        <p:nvSpPr>
          <p:cNvPr id="3" name="عنصر نائب للمحتوى 2"/>
          <p:cNvSpPr>
            <a:spLocks noGrp="1"/>
          </p:cNvSpPr>
          <p:nvPr>
            <p:ph idx="1"/>
          </p:nvPr>
        </p:nvSpPr>
        <p:spPr/>
        <p:txBody>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AD427C3-7855-4A3D-AE2C-AB419E267F15}" type="slidenum">
              <a:rPr lang="ar-SA"/>
              <a:pPr>
                <a:defRPr/>
              </a:pPr>
              <a:t>‹#›</a:t>
            </a:fld>
            <a:endParaRPr lang="en-US"/>
          </a:p>
        </p:txBody>
      </p:sp>
    </p:spTree>
    <p:extLst>
      <p:ext uri="{BB962C8B-B14F-4D97-AF65-F5344CB8AC3E}">
        <p14:creationId xmlns:p14="http://schemas.microsoft.com/office/powerpoint/2010/main" val="22548501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p:cNvSpPr>
            <a:spLocks noGrp="1"/>
          </p:cNvSpPr>
          <p:nvPr>
            <p:ph type="title"/>
          </p:nvPr>
        </p:nvSpPr>
        <p:spPr>
          <a:xfrm>
            <a:off x="963084" y="4406901"/>
            <a:ext cx="10363200" cy="1362075"/>
          </a:xfrm>
        </p:spPr>
        <p:txBody>
          <a:bodyPr anchor="t"/>
          <a:lstStyle>
            <a:lvl1pPr algn="r">
              <a:defRPr sz="4000" b="1" cap="all"/>
            </a:lvl1pPr>
          </a:lstStyle>
          <a:p>
            <a:r>
              <a:rPr lang="ar-SA"/>
              <a:t>انقر لتحرير نمط العنوان الرئيسي</a:t>
            </a:r>
            <a:endParaRPr lang="ar-AE"/>
          </a:p>
        </p:txBody>
      </p:sp>
      <p:sp>
        <p:nvSpPr>
          <p:cNvPr id="3" name="عنصر نائب للنص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ar-SA"/>
              <a:t>انقر لتحرير أنماط النص الرئيسي</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8AA13A3-406F-4A9C-8C23-54E79C699CC0}" type="slidenum">
              <a:rPr lang="ar-SA"/>
              <a:pPr>
                <a:defRPr/>
              </a:pPr>
              <a:t>‹#›</a:t>
            </a:fld>
            <a:endParaRPr lang="en-US"/>
          </a:p>
        </p:txBody>
      </p:sp>
    </p:spTree>
    <p:extLst>
      <p:ext uri="{BB962C8B-B14F-4D97-AF65-F5344CB8AC3E}">
        <p14:creationId xmlns:p14="http://schemas.microsoft.com/office/powerpoint/2010/main" val="8898344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محتويين">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ar-AE"/>
          </a:p>
        </p:txBody>
      </p:sp>
      <p:sp>
        <p:nvSpPr>
          <p:cNvPr id="3" name="عنصر نائب للمحتوى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
        <p:nvSpPr>
          <p:cNvPr id="4" name="عنصر نائب للمحتوى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88E3F24-F6F5-4DBA-8994-BEEFCEF7D18B}" type="slidenum">
              <a:rPr lang="ar-SA"/>
              <a:pPr>
                <a:defRPr/>
              </a:pPr>
              <a:t>‹#›</a:t>
            </a:fld>
            <a:endParaRPr lang="en-US"/>
          </a:p>
        </p:txBody>
      </p:sp>
    </p:spTree>
    <p:extLst>
      <p:ext uri="{BB962C8B-B14F-4D97-AF65-F5344CB8AC3E}">
        <p14:creationId xmlns:p14="http://schemas.microsoft.com/office/powerpoint/2010/main" val="31226077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p:cNvSpPr>
            <a:spLocks noGrp="1"/>
          </p:cNvSpPr>
          <p:nvPr>
            <p:ph type="title"/>
          </p:nvPr>
        </p:nvSpPr>
        <p:spPr>
          <a:xfrm>
            <a:off x="609600" y="274638"/>
            <a:ext cx="10972800" cy="1143000"/>
          </a:xfrm>
        </p:spPr>
        <p:txBody>
          <a:bodyPr/>
          <a:lstStyle>
            <a:lvl1pPr>
              <a:defRPr/>
            </a:lvl1pPr>
          </a:lstStyle>
          <a:p>
            <a:r>
              <a:rPr lang="ar-SA"/>
              <a:t>انقر لتحرير نمط العنوان الرئيسي</a:t>
            </a:r>
            <a:endParaRPr lang="ar-AE"/>
          </a:p>
        </p:txBody>
      </p:sp>
      <p:sp>
        <p:nvSpPr>
          <p:cNvPr id="3" name="عنصر نائب للنص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النص الرئيسي</a:t>
            </a:r>
          </a:p>
        </p:txBody>
      </p:sp>
      <p:sp>
        <p:nvSpPr>
          <p:cNvPr id="4" name="عنصر نائب للمحتوى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
        <p:nvSpPr>
          <p:cNvPr id="5" name="عنصر نائب للنص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النص الرئيسي</a:t>
            </a:r>
          </a:p>
        </p:txBody>
      </p:sp>
      <p:sp>
        <p:nvSpPr>
          <p:cNvPr id="6" name="عنصر نائب للمحتوى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4F7089D2-8F26-4FE1-84EB-F946AF81C365}" type="slidenum">
              <a:rPr lang="ar-SA"/>
              <a:pPr>
                <a:defRPr/>
              </a:pPr>
              <a:t>‹#›</a:t>
            </a:fld>
            <a:endParaRPr lang="en-US"/>
          </a:p>
        </p:txBody>
      </p:sp>
    </p:spTree>
    <p:extLst>
      <p:ext uri="{BB962C8B-B14F-4D97-AF65-F5344CB8AC3E}">
        <p14:creationId xmlns:p14="http://schemas.microsoft.com/office/powerpoint/2010/main" val="6035150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ar-AE"/>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DF626150-312F-4E6E-BCBF-E4554C680EBF}" type="slidenum">
              <a:rPr lang="ar-SA"/>
              <a:pPr>
                <a:defRPr/>
              </a:pPr>
              <a:t>‹#›</a:t>
            </a:fld>
            <a:endParaRPr lang="en-US"/>
          </a:p>
        </p:txBody>
      </p:sp>
    </p:spTree>
    <p:extLst>
      <p:ext uri="{BB962C8B-B14F-4D97-AF65-F5344CB8AC3E}">
        <p14:creationId xmlns:p14="http://schemas.microsoft.com/office/powerpoint/2010/main" val="9946038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B5E0C5D8-B9FD-422D-B96C-14928DF3C2B5}" type="slidenum">
              <a:rPr lang="ar-SA"/>
              <a:pPr>
                <a:defRPr/>
              </a:pPr>
              <a:t>‹#›</a:t>
            </a:fld>
            <a:endParaRPr lang="en-US"/>
          </a:p>
        </p:txBody>
      </p:sp>
    </p:spTree>
    <p:extLst>
      <p:ext uri="{BB962C8B-B14F-4D97-AF65-F5344CB8AC3E}">
        <p14:creationId xmlns:p14="http://schemas.microsoft.com/office/powerpoint/2010/main" val="28420252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محتوى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609601" y="273050"/>
            <a:ext cx="4011084" cy="1162050"/>
          </a:xfrm>
        </p:spPr>
        <p:txBody>
          <a:bodyPr anchor="b"/>
          <a:lstStyle>
            <a:lvl1pPr algn="r">
              <a:defRPr sz="2000" b="1"/>
            </a:lvl1pPr>
          </a:lstStyle>
          <a:p>
            <a:r>
              <a:rPr lang="ar-SA"/>
              <a:t>انقر لتحرير نمط العنوان الرئيسي</a:t>
            </a:r>
            <a:endParaRPr lang="ar-AE"/>
          </a:p>
        </p:txBody>
      </p:sp>
      <p:sp>
        <p:nvSpPr>
          <p:cNvPr id="3" name="عنصر نائب للمحتوى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
        <p:nvSpPr>
          <p:cNvPr id="4" name="عنصر نائب للنص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النص الرئيسي</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276897F7-4045-441C-B198-A5EB788B3DC6}" type="slidenum">
              <a:rPr lang="ar-SA"/>
              <a:pPr>
                <a:defRPr/>
              </a:pPr>
              <a:t>‹#›</a:t>
            </a:fld>
            <a:endParaRPr lang="en-US"/>
          </a:p>
        </p:txBody>
      </p:sp>
    </p:spTree>
    <p:extLst>
      <p:ext uri="{BB962C8B-B14F-4D97-AF65-F5344CB8AC3E}">
        <p14:creationId xmlns:p14="http://schemas.microsoft.com/office/powerpoint/2010/main" val="41063046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صورة ذو تسمية توضيحية">
    <p:spTree>
      <p:nvGrpSpPr>
        <p:cNvPr id="1" name=""/>
        <p:cNvGrpSpPr/>
        <p:nvPr/>
      </p:nvGrpSpPr>
      <p:grpSpPr>
        <a:xfrm>
          <a:off x="0" y="0"/>
          <a:ext cx="0" cy="0"/>
          <a:chOff x="0" y="0"/>
          <a:chExt cx="0" cy="0"/>
        </a:xfrm>
      </p:grpSpPr>
      <p:sp>
        <p:nvSpPr>
          <p:cNvPr id="2" name="عنوان 1"/>
          <p:cNvSpPr>
            <a:spLocks noGrp="1"/>
          </p:cNvSpPr>
          <p:nvPr>
            <p:ph type="title"/>
          </p:nvPr>
        </p:nvSpPr>
        <p:spPr>
          <a:xfrm>
            <a:off x="2389717" y="4800600"/>
            <a:ext cx="7315200" cy="566738"/>
          </a:xfrm>
        </p:spPr>
        <p:txBody>
          <a:bodyPr anchor="b"/>
          <a:lstStyle>
            <a:lvl1pPr algn="r">
              <a:defRPr sz="2000" b="1"/>
            </a:lvl1pPr>
          </a:lstStyle>
          <a:p>
            <a:r>
              <a:rPr lang="ar-SA"/>
              <a:t>انقر لتحرير نمط العنوان الرئيسي</a:t>
            </a:r>
            <a:endParaRPr lang="ar-AE"/>
          </a:p>
        </p:txBody>
      </p:sp>
      <p:sp>
        <p:nvSpPr>
          <p:cNvPr id="3" name="عنصر نائب للصورة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AE" noProof="0"/>
          </a:p>
        </p:txBody>
      </p:sp>
      <p:sp>
        <p:nvSpPr>
          <p:cNvPr id="4" name="عنصر نائب للنص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النص الرئيسي</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F24D1E1-E963-40AE-BD81-A738621D4386}" type="slidenum">
              <a:rPr lang="ar-SA"/>
              <a:pPr>
                <a:defRPr/>
              </a:pPr>
              <a:t>‹#›</a:t>
            </a:fld>
            <a:endParaRPr lang="en-US"/>
          </a:p>
        </p:txBody>
      </p:sp>
    </p:spTree>
    <p:extLst>
      <p:ext uri="{BB962C8B-B14F-4D97-AF65-F5344CB8AC3E}">
        <p14:creationId xmlns:p14="http://schemas.microsoft.com/office/powerpoint/2010/main" val="11530494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r>
              <a:rPr lang="ar-SA"/>
              <a:t>انقر لتحرير نمط العنوان الرئيسي</a:t>
            </a:r>
            <a:endParaRPr lang="ar-AE"/>
          </a:p>
        </p:txBody>
      </p:sp>
      <p:sp>
        <p:nvSpPr>
          <p:cNvPr id="3" name="عنصر نائب للعنوان العمودي 2"/>
          <p:cNvSpPr>
            <a:spLocks noGrp="1"/>
          </p:cNvSpPr>
          <p:nvPr>
            <p:ph type="body" orient="vert" idx="1"/>
          </p:nvPr>
        </p:nvSpPr>
        <p:spPr/>
        <p:txBody>
          <a:bodyPr vert="eaVert"/>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66DEE6F-850C-4982-B074-62197088907C}" type="slidenum">
              <a:rPr lang="ar-SA"/>
              <a:pPr>
                <a:defRPr/>
              </a:pPr>
              <a:t>‹#›</a:t>
            </a:fld>
            <a:endParaRPr lang="en-US"/>
          </a:p>
        </p:txBody>
      </p:sp>
    </p:spTree>
    <p:extLst>
      <p:ext uri="{BB962C8B-B14F-4D97-AF65-F5344CB8AC3E}">
        <p14:creationId xmlns:p14="http://schemas.microsoft.com/office/powerpoint/2010/main" val="24991816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p:cNvSpPr>
            <a:spLocks noGrp="1"/>
          </p:cNvSpPr>
          <p:nvPr>
            <p:ph type="title" orient="vert"/>
          </p:nvPr>
        </p:nvSpPr>
        <p:spPr>
          <a:xfrm>
            <a:off x="8686800" y="609600"/>
            <a:ext cx="2590800" cy="5486400"/>
          </a:xfrm>
        </p:spPr>
        <p:txBody>
          <a:bodyPr vert="eaVert"/>
          <a:lstStyle/>
          <a:p>
            <a:r>
              <a:rPr lang="ar-SA"/>
              <a:t>انقر لتحرير نمط العنوان الرئيسي</a:t>
            </a:r>
            <a:endParaRPr lang="ar-AE"/>
          </a:p>
        </p:txBody>
      </p:sp>
      <p:sp>
        <p:nvSpPr>
          <p:cNvPr id="3" name="عنصر نائب للعنوان العمودي 2"/>
          <p:cNvSpPr>
            <a:spLocks noGrp="1"/>
          </p:cNvSpPr>
          <p:nvPr>
            <p:ph type="body" orient="vert" idx="1"/>
          </p:nvPr>
        </p:nvSpPr>
        <p:spPr>
          <a:xfrm>
            <a:off x="914400" y="609600"/>
            <a:ext cx="7569200" cy="5486400"/>
          </a:xfrm>
        </p:spPr>
        <p:txBody>
          <a:bodyPr vert="eaVert"/>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C80B702-2F26-4C27-A368-FE54847AC5FA}" type="slidenum">
              <a:rPr lang="ar-SA"/>
              <a:pPr>
                <a:defRPr/>
              </a:pPr>
              <a:t>‹#›</a:t>
            </a:fld>
            <a:endParaRPr lang="en-US"/>
          </a:p>
        </p:txBody>
      </p:sp>
    </p:spTree>
    <p:extLst>
      <p:ext uri="{BB962C8B-B14F-4D97-AF65-F5344CB8AC3E}">
        <p14:creationId xmlns:p14="http://schemas.microsoft.com/office/powerpoint/2010/main" val="4241009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mediaAndTx" preserve="1">
  <p:cSld name="عنوان، وقصاصة وسائط، ونص">
    <p:spTree>
      <p:nvGrpSpPr>
        <p:cNvPr id="1" name=""/>
        <p:cNvGrpSpPr/>
        <p:nvPr/>
      </p:nvGrpSpPr>
      <p:grpSpPr>
        <a:xfrm>
          <a:off x="0" y="0"/>
          <a:ext cx="0" cy="0"/>
          <a:chOff x="0" y="0"/>
          <a:chExt cx="0" cy="0"/>
        </a:xfrm>
      </p:grpSpPr>
      <p:sp>
        <p:nvSpPr>
          <p:cNvPr id="2" name="عنوان 1"/>
          <p:cNvSpPr>
            <a:spLocks noGrp="1"/>
          </p:cNvSpPr>
          <p:nvPr>
            <p:ph type="title"/>
          </p:nvPr>
        </p:nvSpPr>
        <p:spPr>
          <a:xfrm>
            <a:off x="914400" y="609600"/>
            <a:ext cx="10363200" cy="1143000"/>
          </a:xfrm>
        </p:spPr>
        <p:txBody>
          <a:bodyPr/>
          <a:lstStyle/>
          <a:p>
            <a:r>
              <a:rPr lang="ar-SA"/>
              <a:t>انقر لتحرير نمط العنوان الرئيسي</a:t>
            </a:r>
            <a:endParaRPr lang="ar-AE"/>
          </a:p>
        </p:txBody>
      </p:sp>
      <p:sp>
        <p:nvSpPr>
          <p:cNvPr id="3" name="عنصر نائب للوسائط 2"/>
          <p:cNvSpPr>
            <a:spLocks noGrp="1"/>
          </p:cNvSpPr>
          <p:nvPr>
            <p:ph type="media" sz="half" idx="1"/>
          </p:nvPr>
        </p:nvSpPr>
        <p:spPr>
          <a:xfrm>
            <a:off x="914400" y="1981200"/>
            <a:ext cx="5080000" cy="4114800"/>
          </a:xfrm>
        </p:spPr>
        <p:txBody>
          <a:bodyPr/>
          <a:lstStyle/>
          <a:p>
            <a:pPr lvl="0"/>
            <a:endParaRPr lang="ar-AE" noProof="0"/>
          </a:p>
        </p:txBody>
      </p:sp>
      <p:sp>
        <p:nvSpPr>
          <p:cNvPr id="4" name="عنصر نائب للنص 3"/>
          <p:cNvSpPr>
            <a:spLocks noGrp="1"/>
          </p:cNvSpPr>
          <p:nvPr>
            <p:ph type="body" sz="half" idx="2"/>
          </p:nvPr>
        </p:nvSpPr>
        <p:spPr>
          <a:xfrm>
            <a:off x="6197600" y="1981200"/>
            <a:ext cx="5080000" cy="4114800"/>
          </a:xfrm>
        </p:spPr>
        <p:txBody>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AE"/>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31F04CE-F11D-4C19-BF7F-70C4B147C1A0}" type="slidenum">
              <a:rPr lang="ar-SA"/>
              <a:pPr>
                <a:defRPr/>
              </a:pPr>
              <a:t>‹#›</a:t>
            </a:fld>
            <a:endParaRPr lang="en-US"/>
          </a:p>
        </p:txBody>
      </p:sp>
    </p:spTree>
    <p:extLst>
      <p:ext uri="{BB962C8B-B14F-4D97-AF65-F5344CB8AC3E}">
        <p14:creationId xmlns:p14="http://schemas.microsoft.com/office/powerpoint/2010/main" val="1553231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srcRect/>
          <a:tile tx="0" ty="0" sx="100000" sy="100000" flip="none" algn="tl"/>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ar-SA"/>
              <a:t>انقر لتحرير نمط العنوان الرئيسي</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rtl="0">
              <a:defRPr sz="1400">
                <a:cs typeface="Arial" pitchFamily="34" charset="0"/>
              </a:defRPr>
            </a:lvl1pPr>
          </a:lstStyle>
          <a:p>
            <a:pPr>
              <a:defRPr/>
            </a:pPr>
            <a:endParaRPr lang="en-US"/>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rtl="0">
              <a:defRPr sz="1400">
                <a:cs typeface="Arial" pitchFamily="34" charset="0"/>
              </a:defRPr>
            </a:lvl1pPr>
          </a:lstStyle>
          <a:p>
            <a:pPr>
              <a:defRPr/>
            </a:pPr>
            <a:endParaRPr lang="en-US"/>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rtl="0">
              <a:defRPr sz="1400">
                <a:cs typeface="Arial" pitchFamily="34" charset="0"/>
              </a:defRPr>
            </a:lvl1pPr>
          </a:lstStyle>
          <a:p>
            <a:pPr>
              <a:defRPr/>
            </a:pPr>
            <a:fld id="{F14AD8A9-8492-4575-9CBC-CF9CEFC3D134}" type="slidenum">
              <a:rPr lang="ar-SA"/>
              <a:pPr>
                <a:defRPr/>
              </a:pPr>
              <a:t>‹#›</a:t>
            </a:fld>
            <a:endParaRPr lang="en-US"/>
          </a:p>
        </p:txBody>
      </p:sp>
    </p:spTree>
    <p:extLst>
      <p:ext uri="{BB962C8B-B14F-4D97-AF65-F5344CB8AC3E}">
        <p14:creationId xmlns:p14="http://schemas.microsoft.com/office/powerpoint/2010/main" val="31828081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1" eaLnBrk="0" fontAlgn="base" hangingPunct="0">
        <a:spcBef>
          <a:spcPct val="0"/>
        </a:spcBef>
        <a:spcAft>
          <a:spcPct val="0"/>
        </a:spcAft>
        <a:defRPr sz="4400">
          <a:solidFill>
            <a:schemeClr val="tx2"/>
          </a:solidFill>
          <a:latin typeface="+mj-lt"/>
          <a:ea typeface="+mj-ea"/>
          <a:cs typeface="+mj-cs"/>
        </a:defRPr>
      </a:lvl1pPr>
      <a:lvl2pPr algn="ctr" rtl="1" eaLnBrk="0" fontAlgn="base" hangingPunct="0">
        <a:spcBef>
          <a:spcPct val="0"/>
        </a:spcBef>
        <a:spcAft>
          <a:spcPct val="0"/>
        </a:spcAft>
        <a:defRPr sz="4400">
          <a:solidFill>
            <a:schemeClr val="tx2"/>
          </a:solidFill>
          <a:latin typeface="Times New Roman" pitchFamily="18" charset="0"/>
          <a:cs typeface="Arial" pitchFamily="34" charset="0"/>
        </a:defRPr>
      </a:lvl2pPr>
      <a:lvl3pPr algn="ctr" rtl="1" eaLnBrk="0" fontAlgn="base" hangingPunct="0">
        <a:spcBef>
          <a:spcPct val="0"/>
        </a:spcBef>
        <a:spcAft>
          <a:spcPct val="0"/>
        </a:spcAft>
        <a:defRPr sz="4400">
          <a:solidFill>
            <a:schemeClr val="tx2"/>
          </a:solidFill>
          <a:latin typeface="Times New Roman" pitchFamily="18" charset="0"/>
          <a:cs typeface="Arial" pitchFamily="34" charset="0"/>
        </a:defRPr>
      </a:lvl3pPr>
      <a:lvl4pPr algn="ctr" rtl="1" eaLnBrk="0" fontAlgn="base" hangingPunct="0">
        <a:spcBef>
          <a:spcPct val="0"/>
        </a:spcBef>
        <a:spcAft>
          <a:spcPct val="0"/>
        </a:spcAft>
        <a:defRPr sz="4400">
          <a:solidFill>
            <a:schemeClr val="tx2"/>
          </a:solidFill>
          <a:latin typeface="Times New Roman" pitchFamily="18" charset="0"/>
          <a:cs typeface="Arial" pitchFamily="34" charset="0"/>
        </a:defRPr>
      </a:lvl4pPr>
      <a:lvl5pPr algn="ctr" rtl="1" eaLnBrk="0" fontAlgn="base" hangingPunct="0">
        <a:spcBef>
          <a:spcPct val="0"/>
        </a:spcBef>
        <a:spcAft>
          <a:spcPct val="0"/>
        </a:spcAft>
        <a:defRPr sz="4400">
          <a:solidFill>
            <a:schemeClr val="tx2"/>
          </a:solidFill>
          <a:latin typeface="Times New Roman" pitchFamily="18" charset="0"/>
          <a:cs typeface="Arial" pitchFamily="34" charset="0"/>
        </a:defRPr>
      </a:lvl5pPr>
      <a:lvl6pPr marL="457200" algn="ctr" rtl="1" fontAlgn="base">
        <a:spcBef>
          <a:spcPct val="0"/>
        </a:spcBef>
        <a:spcAft>
          <a:spcPct val="0"/>
        </a:spcAft>
        <a:defRPr sz="4400">
          <a:solidFill>
            <a:schemeClr val="tx2"/>
          </a:solidFill>
          <a:latin typeface="Times New Roman" pitchFamily="18" charset="0"/>
          <a:cs typeface="Arial" pitchFamily="34" charset="0"/>
        </a:defRPr>
      </a:lvl6pPr>
      <a:lvl7pPr marL="914400" algn="ctr" rtl="1" fontAlgn="base">
        <a:spcBef>
          <a:spcPct val="0"/>
        </a:spcBef>
        <a:spcAft>
          <a:spcPct val="0"/>
        </a:spcAft>
        <a:defRPr sz="4400">
          <a:solidFill>
            <a:schemeClr val="tx2"/>
          </a:solidFill>
          <a:latin typeface="Times New Roman" pitchFamily="18" charset="0"/>
          <a:cs typeface="Arial" pitchFamily="34" charset="0"/>
        </a:defRPr>
      </a:lvl7pPr>
      <a:lvl8pPr marL="1371600" algn="ctr" rtl="1" fontAlgn="base">
        <a:spcBef>
          <a:spcPct val="0"/>
        </a:spcBef>
        <a:spcAft>
          <a:spcPct val="0"/>
        </a:spcAft>
        <a:defRPr sz="4400">
          <a:solidFill>
            <a:schemeClr val="tx2"/>
          </a:solidFill>
          <a:latin typeface="Times New Roman" pitchFamily="18" charset="0"/>
          <a:cs typeface="Arial" pitchFamily="34" charset="0"/>
        </a:defRPr>
      </a:lvl8pPr>
      <a:lvl9pPr marL="1828800" algn="ctr" rtl="1" fontAlgn="base">
        <a:spcBef>
          <a:spcPct val="0"/>
        </a:spcBef>
        <a:spcAft>
          <a:spcPct val="0"/>
        </a:spcAft>
        <a:defRPr sz="4400">
          <a:solidFill>
            <a:schemeClr val="tx2"/>
          </a:solidFill>
          <a:latin typeface="Times New Roman" pitchFamily="18" charset="0"/>
          <a:cs typeface="Arial" pitchFamily="34" charset="0"/>
        </a:defRPr>
      </a:lvl9pPr>
    </p:titleStyle>
    <p:bodyStyle>
      <a:lvl1pPr marL="342900" indent="-342900" algn="r" rtl="1" eaLnBrk="0" fontAlgn="base" hangingPunct="0">
        <a:spcBef>
          <a:spcPct val="20000"/>
        </a:spcBef>
        <a:spcAft>
          <a:spcPct val="0"/>
        </a:spcAft>
        <a:buChar char="•"/>
        <a:defRPr sz="3200">
          <a:solidFill>
            <a:schemeClr val="tx1"/>
          </a:solidFill>
          <a:latin typeface="+mn-lt"/>
          <a:ea typeface="+mn-ea"/>
          <a:cs typeface="+mn-cs"/>
        </a:defRPr>
      </a:lvl1pPr>
      <a:lvl2pPr marL="742950" indent="-285750" algn="r" rtl="1" eaLnBrk="0" fontAlgn="base" hangingPunct="0">
        <a:spcBef>
          <a:spcPct val="20000"/>
        </a:spcBef>
        <a:spcAft>
          <a:spcPct val="0"/>
        </a:spcAft>
        <a:buChar char="–"/>
        <a:defRPr sz="2800">
          <a:solidFill>
            <a:schemeClr val="tx1"/>
          </a:solidFill>
          <a:latin typeface="+mn-lt"/>
          <a:cs typeface="+mn-cs"/>
        </a:defRPr>
      </a:lvl2pPr>
      <a:lvl3pPr marL="1143000" indent="-228600" algn="r" rtl="1" eaLnBrk="0" fontAlgn="base" hangingPunct="0">
        <a:spcBef>
          <a:spcPct val="20000"/>
        </a:spcBef>
        <a:spcAft>
          <a:spcPct val="0"/>
        </a:spcAft>
        <a:buChar char="•"/>
        <a:defRPr sz="2400">
          <a:solidFill>
            <a:schemeClr val="tx1"/>
          </a:solidFill>
          <a:latin typeface="+mn-lt"/>
          <a:cs typeface="+mn-cs"/>
        </a:defRPr>
      </a:lvl3pPr>
      <a:lvl4pPr marL="1600200" indent="-228600" algn="r" rtl="1" eaLnBrk="0" fontAlgn="base" hangingPunct="0">
        <a:spcBef>
          <a:spcPct val="20000"/>
        </a:spcBef>
        <a:spcAft>
          <a:spcPct val="0"/>
        </a:spcAft>
        <a:buChar char="–"/>
        <a:defRPr sz="2000">
          <a:solidFill>
            <a:schemeClr val="tx1"/>
          </a:solidFill>
          <a:latin typeface="+mn-lt"/>
          <a:cs typeface="+mn-cs"/>
        </a:defRPr>
      </a:lvl4pPr>
      <a:lvl5pPr marL="2057400" indent="-228600" algn="r" rtl="1" eaLnBrk="0" fontAlgn="base" hangingPunct="0">
        <a:spcBef>
          <a:spcPct val="20000"/>
        </a:spcBef>
        <a:spcAft>
          <a:spcPct val="0"/>
        </a:spcAft>
        <a:buChar char="»"/>
        <a:defRPr sz="2000">
          <a:solidFill>
            <a:schemeClr val="tx1"/>
          </a:solidFill>
          <a:latin typeface="+mn-lt"/>
          <a:cs typeface="+mn-cs"/>
        </a:defRPr>
      </a:lvl5pPr>
      <a:lvl6pPr marL="2514600" indent="-228600" algn="r" rtl="1" fontAlgn="base">
        <a:spcBef>
          <a:spcPct val="20000"/>
        </a:spcBef>
        <a:spcAft>
          <a:spcPct val="0"/>
        </a:spcAft>
        <a:buChar char="»"/>
        <a:defRPr sz="2000">
          <a:solidFill>
            <a:schemeClr val="tx1"/>
          </a:solidFill>
          <a:latin typeface="+mn-lt"/>
          <a:cs typeface="+mn-cs"/>
        </a:defRPr>
      </a:lvl6pPr>
      <a:lvl7pPr marL="2971800" indent="-228600" algn="r" rtl="1" fontAlgn="base">
        <a:spcBef>
          <a:spcPct val="20000"/>
        </a:spcBef>
        <a:spcAft>
          <a:spcPct val="0"/>
        </a:spcAft>
        <a:buChar char="»"/>
        <a:defRPr sz="2000">
          <a:solidFill>
            <a:schemeClr val="tx1"/>
          </a:solidFill>
          <a:latin typeface="+mn-lt"/>
          <a:cs typeface="+mn-cs"/>
        </a:defRPr>
      </a:lvl7pPr>
      <a:lvl8pPr marL="3429000" indent="-228600" algn="r" rtl="1" fontAlgn="base">
        <a:spcBef>
          <a:spcPct val="20000"/>
        </a:spcBef>
        <a:spcAft>
          <a:spcPct val="0"/>
        </a:spcAft>
        <a:buChar char="»"/>
        <a:defRPr sz="2000">
          <a:solidFill>
            <a:schemeClr val="tx1"/>
          </a:solidFill>
          <a:latin typeface="+mn-lt"/>
          <a:cs typeface="+mn-cs"/>
        </a:defRPr>
      </a:lvl8pPr>
      <a:lvl9pPr marL="3886200" indent="-228600" algn="r" rtl="1" fontAlgn="base">
        <a:spcBef>
          <a:spcPct val="20000"/>
        </a:spcBef>
        <a:spcAft>
          <a:spcPct val="0"/>
        </a:spcAft>
        <a:buChar char="»"/>
        <a:defRPr sz="2000">
          <a:solidFill>
            <a:schemeClr val="tx1"/>
          </a:solidFill>
          <a:latin typeface="+mn-lt"/>
          <a:cs typeface="+mn-cs"/>
        </a:defRPr>
      </a:lvl9pPr>
    </p:bodyStyle>
    <p:otherStyle>
      <a:defPPr>
        <a:defRPr lang="ar-AE"/>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jpg"/><Relationship Id="rId5" Type="http://schemas.openxmlformats.org/officeDocument/2006/relationships/image" Target="../media/image2.jp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12.jpg"/><Relationship Id="rId5" Type="http://schemas.openxmlformats.org/officeDocument/2006/relationships/image" Target="../media/image2.jpg"/><Relationship Id="rId4"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25.jpg"/><Relationship Id="rId5" Type="http://schemas.openxmlformats.org/officeDocument/2006/relationships/image" Target="../media/image2.jpg"/><Relationship Id="rId4" Type="http://schemas.openxmlformats.org/officeDocument/2006/relationships/notesSlide" Target="../notesSlides/notesSlide16.xml"/></Relationships>
</file>

<file path=ppt/slides/_rels/slide4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(٢)</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2590800" y="1447800"/>
            <a:ext cx="9458325" cy="857250"/>
          </a:xfrm>
          <a:prstGeom prst="rect">
            <a:avLst/>
          </a:prstGeom>
          <a:noFill/>
        </p:spPr>
        <p:txBody>
          <a:bodyPr wrap="square" lIns="0" tIns="0" rIns="0" bIns="0" anchor="ctr">
            <a:noAutofit/>
          </a:bodyPr>
          <a:lstStyle/>
          <a:p>
            <a:pPr algn="ctr" rtl="1"/>
            <a:r>
              <a:rPr lang="ar-AE" sz="3400" b="1" i="0">
                <a:solidFill>
                  <a:srgbClr val="173754"/>
                </a:solidFill>
                <a:latin typeface="Arial"/>
                <a:ea typeface="Arial"/>
                <a:cs typeface="Arial"/>
              </a:rPr>
              <a:t>الكائنات الحية وعلاقاتها المتبادلة</a:t>
            </a:r>
          </a:p>
        </p:txBody>
      </p:sp>
      <p:sp>
        <p:nvSpPr>
          <p:cNvPr id="8" name="TextBox 7"/>
          <p:cNvSpPr txBox="1"/>
          <p:nvPr/>
        </p:nvSpPr>
        <p:spPr>
          <a:xfrm>
            <a:off x="2590800" y="2400300"/>
            <a:ext cx="9458325" cy="476250"/>
          </a:xfrm>
          <a:prstGeom prst="rect">
            <a:avLst/>
          </a:prstGeom>
          <a:noFill/>
        </p:spPr>
        <p:txBody>
          <a:bodyPr wrap="square" lIns="0" tIns="0" rIns="0" bIns="0" anchor="ctr">
            <a:noAutofit/>
          </a:bodyPr>
          <a:lstStyle/>
          <a:p>
            <a:pPr algn="ctr" rtl="1"/>
            <a:r>
              <a:rPr lang="ar-AE" sz="1800" b="1" i="0">
                <a:solidFill>
                  <a:srgbClr val="A87B2E"/>
                </a:solidFill>
                <a:latin typeface="Arial"/>
                <a:ea typeface="Arial"/>
                <a:cs typeface="Arial"/>
              </a:rPr>
              <a:t>الحصة الثانية: الموطن والموقع الملائم  •  التنافس والافتراس  •  أنواع التكافل</a:t>
            </a:r>
          </a:p>
        </p:txBody>
      </p:sp>
      <p:sp>
        <p:nvSpPr>
          <p:cNvPr id="9" name="TextBox 8"/>
          <p:cNvSpPr txBox="1"/>
          <p:nvPr/>
        </p:nvSpPr>
        <p:spPr>
          <a:xfrm>
            <a:off x="2590800" y="3162300"/>
            <a:ext cx="9458325" cy="1714500"/>
          </a:xfrm>
          <a:prstGeom prst="rect">
            <a:avLst/>
          </a:prstGeom>
          <a:noFill/>
        </p:spPr>
        <p:txBody>
          <a:bodyPr wrap="square" lIns="0" tIns="0" rIns="0" bIns="0" anchor="ctr">
            <a:noAutofit/>
          </a:bodyPr>
          <a:lstStyle/>
          <a:p>
            <a:pPr algn="ctr" rtl="1"/>
            <a:r>
              <a:rPr lang="ar-AE" sz="1500" b="0" i="0">
                <a:solidFill>
                  <a:srgbClr val="10243B"/>
                </a:solidFill>
                <a:latin typeface="Arial"/>
                <a:ea typeface="Arial"/>
                <a:cs typeface="Arial"/>
              </a:rPr>
              <a:t>الصف: التاسع عام</a:t>
            </a:r>
          </a:p>
          <a:p>
            <a:pPr algn="ctr" rtl="1"/>
            <a:r>
              <a:rPr lang="ar-AE" sz="1500" b="0" i="0">
                <a:solidFill>
                  <a:srgbClr val="10243B"/>
                </a:solidFill>
                <a:latin typeface="Arial"/>
                <a:ea typeface="Arial"/>
                <a:cs typeface="Arial"/>
              </a:rPr>
              <a:t>إعداد المعلم: أحمد مصطفى</a:t>
            </a:r>
          </a:p>
          <a:p>
            <a:pPr algn="ctr" rtl="1"/>
            <a:r>
              <a:rPr lang="ar-AE" sz="1500" b="0" i="0">
                <a:solidFill>
                  <a:srgbClr val="10243B"/>
                </a:solidFill>
                <a:latin typeface="Arial"/>
                <a:ea typeface="Arial"/>
                <a:cs typeface="Arial"/>
              </a:rPr>
              <a:t>مدة الحصة: 45 دقيقة</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21a9907-image.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(٢)</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1. أُفرّق بين الموطن البيئي والموقع الملائم لكائن حي.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2. أُصنّف أنواع التفاعلات بين الكائنات الحية (تنافس، افتراس، تكافل).</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3. أُميّز بين أنواع التكافل الثلاثة، وأُصحّح المفهوم الخاطئ عن التطفل.</a:t>
            </a:r>
          </a:p>
        </p:txBody>
      </p:sp>
      <p:sp>
        <p:nvSpPr>
          <p:cNvPr id="10" name="TextBox 9"/>
          <p:cNvSpPr txBox="1"/>
          <p:nvPr/>
        </p:nvSpPr>
        <p:spPr>
          <a:xfrm>
            <a:off x="2590801" y="1162050"/>
            <a:ext cx="9458325" cy="438150"/>
          </a:xfrm>
          <a:prstGeom prst="rect">
            <a:avLst/>
          </a:prstGeom>
          <a:noFill/>
        </p:spPr>
        <p:txBody>
          <a:bodyPr wrap="square" lIns="0" tIns="0" rIns="0" bIns="0" anchor="ctr">
            <a:noAutofit/>
          </a:bodyPr>
          <a:lstStyle/>
          <a:p>
            <a:pPr algn="r" rtl="1"/>
            <a:r>
              <a:rPr lang="ar-AE" sz="2500" b="1" i="0">
                <a:solidFill>
                  <a:srgbClr val="173754"/>
                </a:solidFill>
                <a:latin typeface="Arial"/>
                <a:ea typeface="Arial"/>
                <a:cs typeface="Arial"/>
              </a:rPr>
              <a:t>تهيئة حافزة 🐆</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4 د</a:t>
            </a:r>
          </a:p>
        </p:txBody>
      </p:sp>
      <p:sp>
        <p:nvSpPr>
          <p:cNvPr id="12" name="Rounded Rectangle 11"/>
          <p:cNvSpPr/>
          <p:nvPr/>
        </p:nvSpPr>
        <p:spPr>
          <a:xfrm>
            <a:off x="2590800" y="1619250"/>
            <a:ext cx="9458325" cy="438150"/>
          </a:xfrm>
          <a:prstGeom prst="roundRect">
            <a:avLst/>
          </a:prstGeom>
          <a:solidFill>
            <a:srgbClr val="F7F4EE"/>
          </a:solidFill>
          <a:ln w="12700">
            <a:solidFill>
              <a:srgbClr val="A87B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r" rtl="1"/>
            <a:r>
              <a:rPr lang="ar-AE" sz="1450" b="1" i="0">
                <a:solidFill>
                  <a:srgbClr val="173754"/>
                </a:solidFill>
                <a:latin typeface="Arial"/>
                <a:ea typeface="Arial"/>
                <a:cs typeface="Arial"/>
              </a:rPr>
              <a:t>سؤال مثير: لماذا يطارد النمر الغزال؟ وهل كل علاقة بين كائنين تنتهي بضرر أحدهما؟</a:t>
            </a:r>
          </a:p>
        </p:txBody>
      </p:sp>
      <p:pic>
        <p:nvPicPr>
          <p:cNvPr id="13" name="clip3_hook_s2.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019550" y="2162175"/>
            <a:ext cx="6858000" cy="3143250"/>
          </a:xfrm>
          <a:prstGeom prst="rect">
            <a:avLst/>
          </a:prstGeom>
        </p:spPr>
      </p:pic>
      <p:sp>
        <p:nvSpPr>
          <p:cNvPr id="14" name="TextBox 13"/>
          <p:cNvSpPr txBox="1"/>
          <p:nvPr/>
        </p:nvSpPr>
        <p:spPr>
          <a:xfrm>
            <a:off x="2590800" y="2162175"/>
            <a:ext cx="1333500" cy="3143250"/>
          </a:xfrm>
          <a:prstGeom prst="rect">
            <a:avLst/>
          </a:prstGeom>
          <a:noFill/>
        </p:spPr>
        <p:txBody>
          <a:bodyPr wrap="square" lIns="0" tIns="0" rIns="0" bIns="0" anchor="ctr">
            <a:noAutofit/>
          </a:bodyPr>
          <a:lstStyle/>
          <a:p>
            <a:pPr algn="r" rtl="1"/>
            <a:r>
              <a:rPr lang="ar-AE" sz="1300" b="1" i="0">
                <a:solidFill>
                  <a:srgbClr val="A87B2E"/>
                </a:solidFill>
                <a:latin typeface="Arial"/>
                <a:ea typeface="Arial"/>
                <a:cs typeface="Arial"/>
              </a:rPr>
              <a:t>شاهد ثم أجب:</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3"/>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(٢)</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1. أُفرّق بين الموطن البيئي والموقع الملائم لكائن حي.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2. أُصنّف أنواع التفاعلات بين الكائنات الحية (تنافس، افتراس، تكافل).</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3. أُميّز بين أنواع التكافل الثلاثة، وأُصحّح المفهوم الخاطئ عن التطفل.</a:t>
            </a:r>
          </a:p>
        </p:txBody>
      </p:sp>
      <p:sp>
        <p:nvSpPr>
          <p:cNvPr id="10" name="TextBox 9"/>
          <p:cNvSpPr txBox="1"/>
          <p:nvPr/>
        </p:nvSpPr>
        <p:spPr>
          <a:xfrm>
            <a:off x="2590802" y="1162050"/>
            <a:ext cx="9458325" cy="438150"/>
          </a:xfrm>
          <a:prstGeom prst="rect">
            <a:avLst/>
          </a:prstGeom>
          <a:noFill/>
        </p:spPr>
        <p:txBody>
          <a:bodyPr wrap="square" lIns="0" tIns="0" rIns="0" bIns="0" anchor="ctr">
            <a:noAutofit/>
          </a:bodyPr>
          <a:lstStyle/>
          <a:p>
            <a:pPr algn="r" rtl="1"/>
            <a:r>
              <a:rPr lang="ar-AE" sz="2200" b="1" i="0">
                <a:solidFill>
                  <a:srgbClr val="173754"/>
                </a:solidFill>
                <a:latin typeface="Arial"/>
                <a:ea typeface="Arial"/>
                <a:cs typeface="Arial"/>
              </a:rPr>
              <a:t>نواتج التعلم والمفردات الجديدة 🎯</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2 د</a:t>
            </a:r>
          </a:p>
        </p:txBody>
      </p:sp>
      <p:sp>
        <p:nvSpPr>
          <p:cNvPr id="12" name="TextBox 11"/>
          <p:cNvSpPr txBox="1"/>
          <p:nvPr/>
        </p:nvSpPr>
        <p:spPr>
          <a:xfrm>
            <a:off x="2590800" y="1619250"/>
            <a:ext cx="9458325" cy="1143000"/>
          </a:xfrm>
          <a:prstGeom prst="rect">
            <a:avLst/>
          </a:prstGeom>
          <a:noFill/>
        </p:spPr>
        <p:txBody>
          <a:bodyPr wrap="square" lIns="0" tIns="0" rIns="0" bIns="0" anchor="t">
            <a:noAutofit/>
          </a:bodyPr>
          <a:lstStyle/>
          <a:p>
            <a:pPr algn="r" rtl="1"/>
            <a:r>
              <a:rPr lang="ar-AE" sz="1500" b="1" i="0">
                <a:solidFill>
                  <a:srgbClr val="A87B2E"/>
                </a:solidFill>
                <a:latin typeface="Arial"/>
                <a:ea typeface="Arial"/>
                <a:cs typeface="Arial"/>
              </a:rPr>
              <a:t>بنهاية الحصة سأكون قادراً على:</a:t>
            </a:r>
          </a:p>
          <a:p>
            <a:pPr algn="r" rtl="1">
              <a:spcAft>
                <a:spcPts val="400"/>
              </a:spcAft>
            </a:pPr>
            <a:r>
              <a:rPr lang="ar-AE" sz="1500" b="0" i="0">
                <a:solidFill>
                  <a:srgbClr val="10243B"/>
                </a:solidFill>
                <a:latin typeface="Arial"/>
                <a:ea typeface="Arial"/>
                <a:cs typeface="Arial"/>
              </a:rPr>
              <a:t>1. أُفرّق بين الموطن البيئي والموقع الملائم لكائن حي.</a:t>
            </a:r>
          </a:p>
          <a:p>
            <a:pPr algn="r" rtl="1">
              <a:spcAft>
                <a:spcPts val="400"/>
              </a:spcAft>
            </a:pPr>
            <a:r>
              <a:rPr lang="ar-AE" sz="1500" b="0" i="0">
                <a:solidFill>
                  <a:srgbClr val="10243B"/>
                </a:solidFill>
                <a:latin typeface="Arial"/>
                <a:ea typeface="Arial"/>
                <a:cs typeface="Arial"/>
              </a:rPr>
              <a:t>2. أُصنّف أنواع التفاعلات بين الكائنات الحية (تنافس، افتراس، تكافل).</a:t>
            </a:r>
          </a:p>
          <a:p>
            <a:pPr algn="r" rtl="1">
              <a:spcAft>
                <a:spcPts val="400"/>
              </a:spcAft>
            </a:pPr>
            <a:r>
              <a:rPr lang="ar-AE" sz="1500" b="0" i="0">
                <a:solidFill>
                  <a:srgbClr val="10243B"/>
                </a:solidFill>
                <a:latin typeface="Arial"/>
                <a:ea typeface="Arial"/>
                <a:cs typeface="Arial"/>
              </a:rPr>
              <a:t>3. أُميّز بين أنواع التكافل الثلاثة، وأُصحّح المفهوم الخاطئ عن التطفل.</a:t>
            </a:r>
          </a:p>
        </p:txBody>
      </p:sp>
      <p:sp>
        <p:nvSpPr>
          <p:cNvPr id="13" name="Rounded Rectangle 12"/>
          <p:cNvSpPr/>
          <p:nvPr/>
        </p:nvSpPr>
        <p:spPr>
          <a:xfrm>
            <a:off x="2590800" y="3162300"/>
            <a:ext cx="9458325" cy="1428750"/>
          </a:xfrm>
          <a:prstGeom prst="roundRect">
            <a:avLst/>
          </a:prstGeom>
          <a:solidFill>
            <a:srgbClr val="F7F4EE"/>
          </a:solidFill>
          <a:ln w="12700">
            <a:solidFill>
              <a:srgbClr val="173754"/>
            </a:solidFill>
          </a:ln>
          <a:effectLst/>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r" rtl="1"/>
            <a:r>
              <a:rPr lang="ar-AE" sz="1350" b="1" i="0">
                <a:solidFill>
                  <a:srgbClr val="173754"/>
                </a:solidFill>
                <a:latin typeface="Arial"/>
                <a:ea typeface="Arial"/>
                <a:cs typeface="Arial"/>
              </a:rPr>
              <a:t>المفردات الجديدة  New Vocabulary:</a:t>
            </a:r>
          </a:p>
          <a:p>
            <a:pPr algn="r" rtl="1">
              <a:spcBef>
                <a:spcPts val="600"/>
              </a:spcBef>
            </a:pPr>
            <a:r>
              <a:rPr lang="ar-AE" sz="1250" b="0" i="0">
                <a:solidFill>
                  <a:srgbClr val="10243B"/>
                </a:solidFill>
                <a:latin typeface="Arial"/>
                <a:ea typeface="Arial"/>
                <a:cs typeface="Arial"/>
              </a:rPr>
              <a:t>الموطن البيئي Habitat  •  الموقع الملائم Niche  •  التنافس Competition  •  الافتراس Predation  •  المفترس Predator  •  الفريسة Prey  •  التكافل Symbiosis  •  تبادل المنفعة Mutualism  •  التعايش Commensalism  •  التطفل Parasitism</a:t>
            </a:r>
          </a:p>
          <a:p>
            <a:pPr algn="r" rtl="1">
              <a:spcBef>
                <a:spcPts val="600"/>
              </a:spcBef>
            </a:pPr>
            <a:r>
              <a:rPr lang="ar-AE" sz="1200" b="0" i="1">
                <a:solidFill>
                  <a:srgbClr val="0E6E6E"/>
                </a:solidFill>
                <a:latin typeface="Arial"/>
                <a:ea typeface="Arial"/>
                <a:cs typeface="Arial"/>
              </a:rPr>
              <a:t>مراجعة: المجتمع الأحيائي Biological community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(٢)</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1" i="0">
                <a:solidFill>
                  <a:srgbClr val="A87B2E"/>
                </a:solidFill>
                <a:latin typeface="Arial"/>
                <a:ea typeface="Arial"/>
                <a:cs typeface="Arial"/>
              </a:rPr>
              <a:t>✦ 1. أُفرّق بين الموطن البيئي والموقع الملائم لكائن حي.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2. أُصنّف أنواع التفاعلات بين الكائنات الحية (تنافس، افتراس، تكافل).</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3. أُميّز بين أنواع التكافل الثلاثة، وأُصحّح المفهوم الخاطئ عن التطفل.</a:t>
            </a:r>
          </a:p>
        </p:txBody>
      </p:sp>
      <p:sp>
        <p:nvSpPr>
          <p:cNvPr id="10" name="TextBox 9"/>
          <p:cNvSpPr txBox="1"/>
          <p:nvPr/>
        </p:nvSpPr>
        <p:spPr>
          <a:xfrm>
            <a:off x="2590803" y="1162050"/>
            <a:ext cx="9458325" cy="438150"/>
          </a:xfrm>
          <a:prstGeom prst="rect">
            <a:avLst/>
          </a:prstGeom>
          <a:noFill/>
        </p:spPr>
        <p:txBody>
          <a:bodyPr wrap="square" lIns="0" tIns="0" rIns="0" bIns="0" anchor="ctr">
            <a:noAutofit/>
          </a:bodyPr>
          <a:lstStyle/>
          <a:p>
            <a:pPr algn="r" rtl="1"/>
            <a:r>
              <a:rPr lang="ar-AE" sz="2500" b="1" i="0">
                <a:solidFill>
                  <a:srgbClr val="173754"/>
                </a:solidFill>
                <a:latin typeface="Arial"/>
                <a:ea typeface="Arial"/>
                <a:cs typeface="Arial"/>
              </a:rPr>
              <a:t>الموطن البيئي والموقع الملائم</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4 د</a:t>
            </a:r>
          </a:p>
        </p:txBody>
      </p:sp>
      <p:sp>
        <p:nvSpPr>
          <p:cNvPr id="12" name="TextBox 11"/>
          <p:cNvSpPr txBox="1"/>
          <p:nvPr/>
        </p:nvSpPr>
        <p:spPr>
          <a:xfrm>
            <a:off x="2590800" y="1619250"/>
            <a:ext cx="9458325" cy="3952875"/>
          </a:xfrm>
          <a:prstGeom prst="rect">
            <a:avLst/>
          </a:prstGeom>
          <a:noFill/>
        </p:spPr>
        <p:txBody>
          <a:bodyPr wrap="square" lIns="0" tIns="0" rIns="0" bIns="0" anchor="t">
            <a:noAutofit/>
          </a:bodyPr>
          <a:lstStyle/>
          <a:p>
            <a:pPr algn="r" rtl="1">
              <a:lnSpc>
                <a:spcPct val="115000"/>
              </a:lnSpc>
              <a:spcAft>
                <a:spcPts val="600"/>
              </a:spcAft>
            </a:pPr>
            <a:r>
              <a:rPr lang="ar-AE" sz="1550" b="0" i="0">
                <a:solidFill>
                  <a:srgbClr val="10243B"/>
                </a:solidFill>
                <a:latin typeface="Arial"/>
                <a:ea typeface="Arial"/>
                <a:cs typeface="Arial"/>
              </a:rPr>
              <a:t>◆ الموطن البيئي (Habitat): المكان الذي يعيش فيه الكائن الحي ويوفر له ما يحتاجه من غذاء وماء ومأوى.</a:t>
            </a:r>
          </a:p>
          <a:p>
            <a:pPr algn="r" rtl="1">
              <a:lnSpc>
                <a:spcPct val="115000"/>
              </a:lnSpc>
              <a:spcAft>
                <a:spcPts val="600"/>
              </a:spcAft>
            </a:pPr>
            <a:r>
              <a:rPr lang="ar-AE" sz="1550" b="0" i="0">
                <a:solidFill>
                  <a:srgbClr val="10243B"/>
                </a:solidFill>
                <a:latin typeface="Arial"/>
                <a:ea typeface="Arial"/>
                <a:cs typeface="Arial"/>
              </a:rPr>
              <a:t>◆ الموقع الملائم (Niche): دور الكائن الحي ووظيفته داخل موطنه؛ كيف يحصل على غذائه، وأين يعيش، ومتى ينشط، وكيف يتفاعل مع الكائنات الأخرى.</a:t>
            </a:r>
          </a:p>
          <a:p>
            <a:pPr algn="r" rtl="1">
              <a:lnSpc>
                <a:spcPct val="115000"/>
              </a:lnSpc>
              <a:spcAft>
                <a:spcPts val="600"/>
              </a:spcAft>
            </a:pPr>
            <a:r>
              <a:rPr lang="ar-AE" sz="1400" b="0" i="0">
                <a:solidFill>
                  <a:srgbClr val="10243B"/>
                </a:solidFill>
                <a:latin typeface="Arial"/>
                <a:ea typeface="Arial"/>
                <a:cs typeface="Arial"/>
              </a:rPr>
              <a:t>     – مثال: موطن الأسد السافانا الإفريقية، أما موقعه الملائم فهو كونه مفترساً رئيسياً يصطاد الحيوانات العاشبة نهاراً.</a:t>
            </a:r>
          </a:p>
          <a:p>
            <a:pPr algn="r" rtl="1">
              <a:lnSpc>
                <a:spcPct val="115000"/>
              </a:lnSpc>
              <a:spcAft>
                <a:spcPts val="600"/>
              </a:spcAft>
            </a:pPr>
            <a:r>
              <a:rPr lang="ar-AE" sz="1400" b="0" i="0">
                <a:solidFill>
                  <a:srgbClr val="10243B"/>
                </a:solidFill>
                <a:latin typeface="Arial"/>
                <a:ea typeface="Arial"/>
                <a:cs typeface="Arial"/>
              </a:rPr>
              <a:t>     – لا يمكن لكائنين من النوع نفسه أن يشغلا الموقع الملائم نفسه في الموطن نفسه دون تنافس.</a:t>
            </a:r>
          </a:p>
        </p:txBody>
      </p:sp>
      <p:pic>
        <p:nvPicPr>
          <p:cNvPr id="13" name="Picture 12" descr="clip3_hook_s2_poster.jpg"/>
          <p:cNvPicPr>
            <a:picLocks noChangeAspect="1"/>
          </p:cNvPicPr>
          <p:nvPr/>
        </p:nvPicPr>
        <p:blipFill>
          <a:blip r:embed="rId4"/>
          <a:stretch>
            <a:fillRect/>
          </a:stretch>
        </p:blipFill>
        <p:spPr>
          <a:xfrm>
            <a:off x="8454961" y="3247346"/>
            <a:ext cx="3404997" cy="19153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ChangeArrowheads="1"/>
          </p:cNvSpPr>
          <p:nvPr/>
        </p:nvSpPr>
        <p:spPr bwMode="auto">
          <a:xfrm>
            <a:off x="3215680" y="336152"/>
            <a:ext cx="5760640" cy="769441"/>
          </a:xfrm>
          <a:prstGeom prst="rect">
            <a:avLst/>
          </a:prstGeom>
          <a:solidFill>
            <a:srgbClr val="92D050"/>
          </a:solidFill>
          <a:ln w="9525">
            <a:noFill/>
            <a:miter lim="800000"/>
            <a:headEnd/>
            <a:tailEnd/>
          </a:ln>
        </p:spPr>
        <p:txBody>
          <a:bodyPr wrap="square" anchor="ctr">
            <a:spAutoFit/>
          </a:bodyPr>
          <a:lstStyle/>
          <a:p>
            <a:pPr algn="ctr" defTabSz="914400" rtl="1" fontAlgn="base">
              <a:spcBef>
                <a:spcPct val="0"/>
              </a:spcBef>
              <a:spcAft>
                <a:spcPct val="0"/>
              </a:spcAft>
            </a:pPr>
            <a:r>
              <a:rPr lang="ar-AE" sz="4400" dirty="0">
                <a:solidFill>
                  <a:srgbClr val="000000"/>
                </a:solidFill>
                <a:latin typeface="Times New Roman" pitchFamily="18" charset="0"/>
                <a:cs typeface="PT Simple Bold Ruled" pitchFamily="2" charset="-78"/>
              </a:rPr>
              <a:t>التفاعلات في النظام البيئي</a:t>
            </a:r>
            <a:endParaRPr lang="en-US" sz="4400" dirty="0">
              <a:solidFill>
                <a:srgbClr val="000000"/>
              </a:solidFill>
              <a:latin typeface="Times New Roman" pitchFamily="18" charset="0"/>
              <a:cs typeface="PT Simple Bold Ruled" pitchFamily="2" charset="-78"/>
            </a:endParaRPr>
          </a:p>
        </p:txBody>
      </p:sp>
      <p:sp>
        <p:nvSpPr>
          <p:cNvPr id="11" name="Rectangle 2"/>
          <p:cNvSpPr>
            <a:spLocks noChangeArrowheads="1"/>
          </p:cNvSpPr>
          <p:nvPr/>
        </p:nvSpPr>
        <p:spPr bwMode="auto">
          <a:xfrm>
            <a:off x="6960096" y="2045748"/>
            <a:ext cx="3387228" cy="707886"/>
          </a:xfrm>
          <a:prstGeom prst="rect">
            <a:avLst/>
          </a:prstGeom>
          <a:solidFill>
            <a:srgbClr val="FFFF00"/>
          </a:solidFill>
          <a:ln w="9525">
            <a:noFill/>
            <a:miter lim="800000"/>
            <a:headEnd/>
            <a:tailEnd/>
          </a:ln>
        </p:spPr>
        <p:txBody>
          <a:bodyPr wrap="square" anchor="ctr">
            <a:spAutoFit/>
          </a:bodyPr>
          <a:lstStyle/>
          <a:p>
            <a:pPr marL="457200" indent="-457200" algn="ctr" defTabSz="914400" rtl="1" fontAlgn="base">
              <a:spcBef>
                <a:spcPct val="0"/>
              </a:spcBef>
              <a:spcAft>
                <a:spcPct val="0"/>
              </a:spcAft>
              <a:buFont typeface="Arial" panose="020B0604020202020204" pitchFamily="34" charset="0"/>
              <a:buChar char="•"/>
            </a:pPr>
            <a:r>
              <a:rPr lang="ar-AE" sz="4000" dirty="0">
                <a:solidFill>
                  <a:srgbClr val="000000"/>
                </a:solidFill>
                <a:latin typeface="Times New Roman" pitchFamily="18" charset="0"/>
                <a:cs typeface="MCS Erwah S_U normal." pitchFamily="2" charset="-78"/>
              </a:rPr>
              <a:t>الموطن البيئي</a:t>
            </a:r>
            <a:endParaRPr lang="en-US" sz="4000" dirty="0">
              <a:solidFill>
                <a:srgbClr val="000000"/>
              </a:solidFill>
              <a:latin typeface="Times New Roman" pitchFamily="18" charset="0"/>
              <a:cs typeface="MCS Erwah S_U normal." pitchFamily="2" charset="-78"/>
            </a:endParaRPr>
          </a:p>
        </p:txBody>
      </p:sp>
      <p:sp>
        <p:nvSpPr>
          <p:cNvPr id="18" name="Rectangle 2"/>
          <p:cNvSpPr>
            <a:spLocks noChangeArrowheads="1"/>
          </p:cNvSpPr>
          <p:nvPr/>
        </p:nvSpPr>
        <p:spPr bwMode="auto">
          <a:xfrm>
            <a:off x="6405134" y="3866272"/>
            <a:ext cx="3942190" cy="1938992"/>
          </a:xfrm>
          <a:prstGeom prst="rect">
            <a:avLst/>
          </a:prstGeom>
          <a:solidFill>
            <a:schemeClr val="bg1"/>
          </a:solidFill>
          <a:ln w="9525">
            <a:noFill/>
            <a:miter lim="800000"/>
            <a:headEnd/>
            <a:tailEnd/>
          </a:ln>
        </p:spPr>
        <p:txBody>
          <a:bodyPr wrap="square" anchor="ctr">
            <a:spAutoFit/>
          </a:bodyPr>
          <a:lstStyle/>
          <a:p>
            <a:pPr algn="ctr" defTabSz="914400" rtl="1" fontAlgn="base">
              <a:spcBef>
                <a:spcPct val="0"/>
              </a:spcBef>
              <a:spcAft>
                <a:spcPct val="0"/>
              </a:spcAft>
            </a:pPr>
            <a:r>
              <a:rPr lang="ar-AE" sz="4000" b="1" dirty="0">
                <a:solidFill>
                  <a:srgbClr val="C00000"/>
                </a:solidFill>
                <a:latin typeface="Times New Roman" pitchFamily="18" charset="0"/>
                <a:cs typeface="MCS Nask S_U normal." pitchFamily="2" charset="-78"/>
              </a:rPr>
              <a:t>المنطقة أو المساحة </a:t>
            </a:r>
            <a:r>
              <a:rPr lang="ar-AE" sz="4000" b="1" dirty="0">
                <a:solidFill>
                  <a:srgbClr val="000000"/>
                </a:solidFill>
                <a:latin typeface="Times New Roman" pitchFamily="18" charset="0"/>
                <a:cs typeface="MCS Nask S_U normal." pitchFamily="2" charset="-78"/>
              </a:rPr>
              <a:t>التي يعيش فيهاالكائن الحي.</a:t>
            </a:r>
            <a:endParaRPr lang="en-US" sz="4000" b="1" dirty="0">
              <a:solidFill>
                <a:srgbClr val="000000"/>
              </a:solidFill>
              <a:latin typeface="Times New Roman" pitchFamily="18" charset="0"/>
              <a:cs typeface="MCS Nask S_U normal." pitchFamily="2" charset="-78"/>
            </a:endParaRPr>
          </a:p>
        </p:txBody>
      </p:sp>
      <p:sp>
        <p:nvSpPr>
          <p:cNvPr id="10" name="Rectangle 2"/>
          <p:cNvSpPr>
            <a:spLocks noChangeArrowheads="1"/>
          </p:cNvSpPr>
          <p:nvPr/>
        </p:nvSpPr>
        <p:spPr bwMode="auto">
          <a:xfrm>
            <a:off x="1703512" y="2000087"/>
            <a:ext cx="3168353" cy="707886"/>
          </a:xfrm>
          <a:prstGeom prst="rect">
            <a:avLst/>
          </a:prstGeom>
          <a:solidFill>
            <a:srgbClr val="FFFF00"/>
          </a:solidFill>
          <a:ln w="9525">
            <a:noFill/>
            <a:miter lim="800000"/>
            <a:headEnd/>
            <a:tailEnd/>
          </a:ln>
        </p:spPr>
        <p:txBody>
          <a:bodyPr wrap="square" anchor="ctr">
            <a:spAutoFit/>
          </a:bodyPr>
          <a:lstStyle/>
          <a:p>
            <a:pPr marL="457200" indent="-457200" algn="r" defTabSz="914400" rtl="1" fontAlgn="base">
              <a:spcBef>
                <a:spcPct val="0"/>
              </a:spcBef>
              <a:spcAft>
                <a:spcPct val="0"/>
              </a:spcAft>
              <a:buFont typeface="Arial" panose="020B0604020202020204" pitchFamily="34" charset="0"/>
              <a:buChar char="•"/>
            </a:pPr>
            <a:r>
              <a:rPr lang="ar-AE" sz="4000" dirty="0">
                <a:solidFill>
                  <a:srgbClr val="000000"/>
                </a:solidFill>
                <a:latin typeface="Times New Roman" pitchFamily="18" charset="0"/>
                <a:cs typeface="MCS Erwah S_U normal." pitchFamily="2" charset="-78"/>
              </a:rPr>
              <a:t>الموقع الملائم</a:t>
            </a:r>
            <a:endParaRPr lang="en-US" sz="4000" dirty="0">
              <a:solidFill>
                <a:srgbClr val="000000"/>
              </a:solidFill>
              <a:latin typeface="Times New Roman" pitchFamily="18" charset="0"/>
              <a:cs typeface="MCS Erwah S_U normal." pitchFamily="2" charset="-78"/>
            </a:endParaRPr>
          </a:p>
        </p:txBody>
      </p:sp>
      <p:sp>
        <p:nvSpPr>
          <p:cNvPr id="12" name="Down Arrow 11"/>
          <p:cNvSpPr/>
          <p:nvPr/>
        </p:nvSpPr>
        <p:spPr>
          <a:xfrm>
            <a:off x="8328248" y="2905534"/>
            <a:ext cx="505482" cy="811499"/>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rtl="1" fontAlgn="base">
              <a:spcBef>
                <a:spcPct val="0"/>
              </a:spcBef>
              <a:spcAft>
                <a:spcPct val="0"/>
              </a:spcAft>
            </a:pPr>
            <a:endParaRPr lang="en-US">
              <a:solidFill>
                <a:srgbClr val="FFFFFF"/>
              </a:solidFill>
              <a:latin typeface="Times New Roman"/>
              <a:cs typeface="Arial"/>
            </a:endParaRPr>
          </a:p>
        </p:txBody>
      </p:sp>
      <p:sp>
        <p:nvSpPr>
          <p:cNvPr id="14" name="Down Arrow 13"/>
          <p:cNvSpPr/>
          <p:nvPr/>
        </p:nvSpPr>
        <p:spPr>
          <a:xfrm>
            <a:off x="3178963" y="2833526"/>
            <a:ext cx="505482" cy="811499"/>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rtl="1" fontAlgn="base">
              <a:spcBef>
                <a:spcPct val="0"/>
              </a:spcBef>
              <a:spcAft>
                <a:spcPct val="0"/>
              </a:spcAft>
            </a:pPr>
            <a:endParaRPr lang="en-US">
              <a:solidFill>
                <a:srgbClr val="FFFFFF"/>
              </a:solidFill>
              <a:latin typeface="Times New Roman"/>
              <a:cs typeface="Arial"/>
            </a:endParaRPr>
          </a:p>
        </p:txBody>
      </p:sp>
      <p:sp>
        <p:nvSpPr>
          <p:cNvPr id="20" name="Rectangle 2"/>
          <p:cNvSpPr>
            <a:spLocks noChangeArrowheads="1"/>
          </p:cNvSpPr>
          <p:nvPr/>
        </p:nvSpPr>
        <p:spPr bwMode="auto">
          <a:xfrm>
            <a:off x="1703512" y="4096817"/>
            <a:ext cx="3384377" cy="1323439"/>
          </a:xfrm>
          <a:prstGeom prst="rect">
            <a:avLst/>
          </a:prstGeom>
          <a:solidFill>
            <a:schemeClr val="bg1"/>
          </a:solidFill>
          <a:ln w="9525">
            <a:noFill/>
            <a:miter lim="800000"/>
            <a:headEnd/>
            <a:tailEnd/>
          </a:ln>
        </p:spPr>
        <p:txBody>
          <a:bodyPr wrap="square" anchor="ctr">
            <a:spAutoFit/>
          </a:bodyPr>
          <a:lstStyle/>
          <a:p>
            <a:pPr algn="ctr" defTabSz="914400" rtl="1" fontAlgn="base">
              <a:spcBef>
                <a:spcPct val="0"/>
              </a:spcBef>
              <a:spcAft>
                <a:spcPct val="0"/>
              </a:spcAft>
            </a:pPr>
            <a:r>
              <a:rPr lang="ar-AE" sz="4000" b="1" dirty="0">
                <a:solidFill>
                  <a:srgbClr val="C00000"/>
                </a:solidFill>
                <a:latin typeface="Times New Roman" pitchFamily="18" charset="0"/>
                <a:cs typeface="MCS Nask S_U normal." pitchFamily="2" charset="-78"/>
              </a:rPr>
              <a:t>دور </a:t>
            </a:r>
            <a:r>
              <a:rPr lang="ar-AE" sz="4000" b="1" dirty="0">
                <a:solidFill>
                  <a:srgbClr val="000000"/>
                </a:solidFill>
                <a:latin typeface="Times New Roman" pitchFamily="18" charset="0"/>
                <a:cs typeface="MCS Nask S_U normal." pitchFamily="2" charset="-78"/>
              </a:rPr>
              <a:t>الكائن الحي </a:t>
            </a:r>
            <a:r>
              <a:rPr lang="ar-AE" sz="4000" b="1" dirty="0">
                <a:solidFill>
                  <a:srgbClr val="C00000"/>
                </a:solidFill>
                <a:latin typeface="Times New Roman" pitchFamily="18" charset="0"/>
                <a:cs typeface="MCS Nask S_U normal." pitchFamily="2" charset="-78"/>
              </a:rPr>
              <a:t>أو موضعه </a:t>
            </a:r>
            <a:r>
              <a:rPr lang="ar-AE" sz="4000" b="1" dirty="0">
                <a:solidFill>
                  <a:srgbClr val="000000"/>
                </a:solidFill>
                <a:latin typeface="Times New Roman" pitchFamily="18" charset="0"/>
                <a:cs typeface="MCS Nask S_U normal." pitchFamily="2" charset="-78"/>
              </a:rPr>
              <a:t>في بيئته.</a:t>
            </a:r>
            <a:endParaRPr lang="en-US" sz="4000" b="1" dirty="0">
              <a:solidFill>
                <a:srgbClr val="000000"/>
              </a:solidFill>
              <a:latin typeface="Times New Roman" pitchFamily="18" charset="0"/>
              <a:cs typeface="MCS Nask S_U normal." pitchFamily="2" charset="-78"/>
            </a:endParaRPr>
          </a:p>
        </p:txBody>
      </p:sp>
    </p:spTree>
    <p:extLst>
      <p:ext uri="{BB962C8B-B14F-4D97-AF65-F5344CB8AC3E}">
        <p14:creationId xmlns:p14="http://schemas.microsoft.com/office/powerpoint/2010/main" val="16293863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circle(in)">
                                      <p:cBhvr>
                                        <p:cTn id="37" dur="20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circle(in)">
                                      <p:cBhvr>
                                        <p:cTn id="42"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8" grpId="0" animBg="1"/>
      <p:bldP spid="10" grpId="0" animBg="1"/>
      <p:bldP spid="12" grpId="0" animBg="1"/>
      <p:bldP spid="14" grpId="0" animBg="1"/>
      <p:bldP spid="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(٢)</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1" i="0">
                <a:solidFill>
                  <a:srgbClr val="A87B2E"/>
                </a:solidFill>
                <a:latin typeface="Arial"/>
                <a:ea typeface="Arial"/>
                <a:cs typeface="Arial"/>
              </a:rPr>
              <a:t>✦ 1. أُفرّق بين الموطن البيئي والموقع الملائم لكائن حي.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2. أُصنّف أنواع التفاعلات بين الكائنات الحية (تنافس، افتراس، تكافل).</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3. أُميّز بين أنواع التكافل الثلاثة، وأُصحّح المفهوم الخاطئ عن التطفل.</a:t>
            </a:r>
          </a:p>
        </p:txBody>
      </p:sp>
      <p:sp>
        <p:nvSpPr>
          <p:cNvPr id="10" name="TextBox 9"/>
          <p:cNvSpPr txBox="1"/>
          <p:nvPr/>
        </p:nvSpPr>
        <p:spPr>
          <a:xfrm>
            <a:off x="2590804" y="1162050"/>
            <a:ext cx="9458325" cy="438150"/>
          </a:xfrm>
          <a:prstGeom prst="rect">
            <a:avLst/>
          </a:prstGeom>
          <a:noFill/>
        </p:spPr>
        <p:txBody>
          <a:bodyPr wrap="square" lIns="0" tIns="0" rIns="0" bIns="0" anchor="ctr">
            <a:noAutofit/>
          </a:bodyPr>
          <a:lstStyle/>
          <a:p>
            <a:pPr algn="r" rtl="1"/>
            <a:r>
              <a:rPr lang="ar-AE" sz="2500" b="1" i="0">
                <a:solidFill>
                  <a:srgbClr val="173754"/>
                </a:solidFill>
                <a:latin typeface="Arial"/>
                <a:ea typeface="Arial"/>
                <a:cs typeface="Arial"/>
              </a:rPr>
              <a:t>تقييم تكويني ١ ✓</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2 د</a:t>
            </a:r>
          </a:p>
        </p:txBody>
      </p:sp>
      <p:sp>
        <p:nvSpPr>
          <p:cNvPr id="12" name="Rounded Rectangle 11"/>
          <p:cNvSpPr/>
          <p:nvPr/>
        </p:nvSpPr>
        <p:spPr>
          <a:xfrm>
            <a:off x="2590800" y="4524376"/>
            <a:ext cx="9458325" cy="1047749"/>
          </a:xfrm>
          <a:prstGeom prst="roundRect">
            <a:avLst/>
          </a:prstGeom>
          <a:solidFill>
            <a:srgbClr val="EAF3EC"/>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lstStyle/>
          <a:p>
            <a:pPr algn="r" rtl="1"/>
            <a:r>
              <a:rPr lang="ar-AE" sz="1200" b="1" i="0">
                <a:solidFill>
                  <a:srgbClr val="2E7D32"/>
                </a:solidFill>
                <a:latin typeface="Arial"/>
                <a:ea typeface="Arial"/>
                <a:cs typeface="Arial"/>
              </a:rPr>
              <a:t>تقييم تكويني ✓</a:t>
            </a:r>
          </a:p>
          <a:p>
            <a:pPr algn="r" rtl="1"/>
            <a:r>
              <a:rPr lang="ar-AE" sz="1450" b="0" i="0">
                <a:solidFill>
                  <a:srgbClr val="10243B"/>
                </a:solidFill>
                <a:latin typeface="Arial"/>
                <a:ea typeface="Arial"/>
                <a:cs typeface="Arial"/>
              </a:rPr>
              <a:t>وضّح الفرق بين الموطن البيئي والموقع الملائم لكائن حي من اختيارك.</a:t>
            </a:r>
          </a:p>
        </p:txBody>
      </p:sp>
      <p:sp>
        <p:nvSpPr>
          <p:cNvPr id="13" name="TextBox 12"/>
          <p:cNvSpPr txBox="1"/>
          <p:nvPr/>
        </p:nvSpPr>
        <p:spPr>
          <a:xfrm>
            <a:off x="2590800" y="1733550"/>
            <a:ext cx="9458325" cy="1524000"/>
          </a:xfrm>
          <a:prstGeom prst="rect">
            <a:avLst/>
          </a:prstGeom>
          <a:noFill/>
        </p:spPr>
        <p:txBody>
          <a:bodyPr wrap="square" lIns="0" tIns="0" rIns="0" bIns="0" anchor="t">
            <a:noAutofit/>
          </a:bodyPr>
          <a:lstStyle/>
          <a:p>
            <a:pPr algn="r" rtl="1"/>
            <a:r>
              <a:rPr lang="ar-AE" sz="1400" b="0" i="0">
                <a:solidFill>
                  <a:srgbClr val="10243B"/>
                </a:solidFill>
                <a:latin typeface="Arial"/>
                <a:ea typeface="Arial"/>
                <a:cs typeface="Arial"/>
              </a:rPr>
              <a:t>أداة التقييم: سؤال شفهي سريع (بطاقة إجابة مرفوعة) لجميع الطلاب في آنٍ واحد لقياس فهم الصف ككل.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(٢)</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1. أُفرّق بين الموطن البيئي والموقع الملائم لكائن حي.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1" i="0">
                <a:solidFill>
                  <a:srgbClr val="A87B2E"/>
                </a:solidFill>
                <a:latin typeface="Arial"/>
                <a:ea typeface="Arial"/>
                <a:cs typeface="Arial"/>
              </a:rPr>
              <a:t>✦ 2. أُصنّف أنواع التفاعلات بين الكائنات الحية (تنافس، افتراس، تكافل).</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3. أُميّز بين أنواع التكافل الثلاثة، وأُصحّح المفهوم الخاطئ عن التطفل.</a:t>
            </a:r>
          </a:p>
        </p:txBody>
      </p:sp>
      <p:sp>
        <p:nvSpPr>
          <p:cNvPr id="10" name="TextBox 9"/>
          <p:cNvSpPr txBox="1"/>
          <p:nvPr/>
        </p:nvSpPr>
        <p:spPr>
          <a:xfrm>
            <a:off x="2590805" y="1162050"/>
            <a:ext cx="9458325" cy="438150"/>
          </a:xfrm>
          <a:prstGeom prst="rect">
            <a:avLst/>
          </a:prstGeom>
          <a:noFill/>
        </p:spPr>
        <p:txBody>
          <a:bodyPr wrap="square" lIns="0" tIns="0" rIns="0" bIns="0" anchor="ctr">
            <a:noAutofit/>
          </a:bodyPr>
          <a:lstStyle/>
          <a:p>
            <a:pPr algn="r" rtl="1"/>
            <a:r>
              <a:rPr lang="ar-AE" sz="2500" b="1" i="0">
                <a:solidFill>
                  <a:srgbClr val="173754"/>
                </a:solidFill>
                <a:latin typeface="Arial"/>
                <a:ea typeface="Arial"/>
                <a:cs typeface="Arial"/>
              </a:rPr>
              <a:t>أنواع التفاعلات: العصف الذهني</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5 د – عصف ذهني</a:t>
            </a:r>
          </a:p>
        </p:txBody>
      </p:sp>
      <p:sp>
        <p:nvSpPr>
          <p:cNvPr id="12" name="Rounded Rectangle 11"/>
          <p:cNvSpPr/>
          <p:nvPr/>
        </p:nvSpPr>
        <p:spPr>
          <a:xfrm>
            <a:off x="2590800" y="1619250"/>
            <a:ext cx="9458325" cy="2857500"/>
          </a:xfrm>
          <a:prstGeom prst="roundRect">
            <a:avLst/>
          </a:prstGeom>
          <a:solidFill>
            <a:srgbClr val="EFF3F8"/>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r" rtl="1"/>
            <a:r>
              <a:rPr lang="ar-AE" sz="1500" b="1" i="0">
                <a:solidFill>
                  <a:srgbClr val="0E6E6E"/>
                </a:solidFill>
                <a:latin typeface="Arial"/>
                <a:ea typeface="Arial"/>
                <a:cs typeface="Arial"/>
              </a:rPr>
              <a:t>🧠 عصف ذهني: كيف تتفاعل الكائنات الحية؟</a:t>
            </a:r>
          </a:p>
          <a:p>
            <a:pPr algn="r" rtl="1">
              <a:spcBef>
                <a:spcPts val="600"/>
              </a:spcBef>
            </a:pPr>
            <a:r>
              <a:rPr lang="ar-AE" sz="1350" b="0" i="0">
                <a:solidFill>
                  <a:srgbClr val="10243B"/>
                </a:solidFill>
                <a:latin typeface="Arial"/>
                <a:ea typeface="Arial"/>
                <a:cs typeface="Arial"/>
              </a:rPr>
              <a:t>•  اذكر بسرعة أي علاقة تعرفها بين كائنين حيين (من الطبيعة أو من حياتك اليومية) — بلا نقد أو تصحيح.</a:t>
            </a:r>
          </a:p>
          <a:p>
            <a:pPr algn="r" rtl="1">
              <a:spcBef>
                <a:spcPts val="600"/>
              </a:spcBef>
            </a:pPr>
            <a:r>
              <a:rPr lang="ar-AE" sz="1350" b="0" i="0">
                <a:solidFill>
                  <a:srgbClr val="10243B"/>
                </a:solidFill>
                <a:latin typeface="Arial"/>
                <a:ea typeface="Arial"/>
                <a:cs typeface="Arial"/>
              </a:rPr>
              <a:t>•  يدوّن المعلم كل الأفكار على السبورة كما تُقال.</a:t>
            </a:r>
          </a:p>
          <a:p>
            <a:pPr algn="r" rtl="1">
              <a:spcBef>
                <a:spcPts val="600"/>
              </a:spcBef>
            </a:pPr>
            <a:r>
              <a:rPr lang="ar-AE" sz="1350" b="0" i="0">
                <a:solidFill>
                  <a:srgbClr val="10243B"/>
                </a:solidFill>
                <a:latin typeface="Arial"/>
                <a:ea typeface="Arial"/>
                <a:cs typeface="Arial"/>
              </a:rPr>
              <a:t>•  بعد جمع الأفكار، نُصنّفها معاً إلى: تنافس – افتراس – تكافل.</a:t>
            </a:r>
          </a:p>
          <a:p>
            <a:pPr algn="r" rtl="1">
              <a:spcBef>
                <a:spcPts val="600"/>
              </a:spcBef>
            </a:pPr>
            <a:r>
              <a:rPr lang="ar-AE" sz="1350" b="0" i="0">
                <a:solidFill>
                  <a:srgbClr val="10243B"/>
                </a:solidFill>
                <a:latin typeface="Arial"/>
                <a:ea typeface="Arial"/>
                <a:cs typeface="Arial"/>
              </a:rPr>
              <a:t>•  🏆 يُكافأ كل طالب شارك بفكرة بتعزيز إيجابي فوري (كلمة تشجيع أو نجمة).</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ChangeArrowheads="1"/>
          </p:cNvSpPr>
          <p:nvPr/>
        </p:nvSpPr>
        <p:spPr bwMode="auto">
          <a:xfrm>
            <a:off x="3178963" y="565077"/>
            <a:ext cx="5760640" cy="707886"/>
          </a:xfrm>
          <a:prstGeom prst="rect">
            <a:avLst/>
          </a:prstGeom>
          <a:solidFill>
            <a:srgbClr val="92D050"/>
          </a:solidFill>
          <a:ln w="9525">
            <a:noFill/>
            <a:miter lim="800000"/>
            <a:headEnd/>
            <a:tailEnd/>
          </a:ln>
        </p:spPr>
        <p:txBody>
          <a:bodyPr wrap="square" anchor="ctr">
            <a:spAutoFit/>
          </a:bodyPr>
          <a:lstStyle/>
          <a:p>
            <a:pPr algn="ctr" defTabSz="914400" rtl="1" fontAlgn="base">
              <a:spcBef>
                <a:spcPct val="0"/>
              </a:spcBef>
              <a:spcAft>
                <a:spcPct val="0"/>
              </a:spcAft>
            </a:pPr>
            <a:r>
              <a:rPr lang="ar-AE" sz="4000" dirty="0">
                <a:solidFill>
                  <a:srgbClr val="000000"/>
                </a:solidFill>
                <a:latin typeface="Times New Roman" pitchFamily="18" charset="0"/>
                <a:cs typeface="PT Simple Bold Ruled" pitchFamily="2" charset="-78"/>
              </a:rPr>
              <a:t>التفاعلات في المجتمع الأحيائي</a:t>
            </a:r>
            <a:endParaRPr lang="en-US" sz="4000" dirty="0">
              <a:solidFill>
                <a:srgbClr val="000000"/>
              </a:solidFill>
              <a:latin typeface="Times New Roman" pitchFamily="18" charset="0"/>
              <a:cs typeface="PT Simple Bold Ruled" pitchFamily="2" charset="-78"/>
            </a:endParaRPr>
          </a:p>
        </p:txBody>
      </p:sp>
      <p:sp>
        <p:nvSpPr>
          <p:cNvPr id="11" name="Rectangle 2"/>
          <p:cNvSpPr>
            <a:spLocks noChangeArrowheads="1"/>
          </p:cNvSpPr>
          <p:nvPr/>
        </p:nvSpPr>
        <p:spPr bwMode="auto">
          <a:xfrm>
            <a:off x="8040216" y="2294241"/>
            <a:ext cx="1893062" cy="707886"/>
          </a:xfrm>
          <a:prstGeom prst="rect">
            <a:avLst/>
          </a:prstGeom>
          <a:solidFill>
            <a:srgbClr val="FFFF00"/>
          </a:solidFill>
          <a:ln w="9525">
            <a:noFill/>
            <a:miter lim="800000"/>
            <a:headEnd/>
            <a:tailEnd/>
          </a:ln>
        </p:spPr>
        <p:txBody>
          <a:bodyPr wrap="square" anchor="ctr">
            <a:spAutoFit/>
          </a:bodyPr>
          <a:lstStyle/>
          <a:p>
            <a:pPr marL="457200" indent="-457200" algn="r" defTabSz="914400" rtl="1" fontAlgn="base">
              <a:spcBef>
                <a:spcPct val="0"/>
              </a:spcBef>
              <a:spcAft>
                <a:spcPct val="0"/>
              </a:spcAft>
              <a:buFont typeface="Arial" panose="020B0604020202020204" pitchFamily="34" charset="0"/>
              <a:buChar char="•"/>
            </a:pPr>
            <a:r>
              <a:rPr lang="ar-AE" sz="4000" dirty="0">
                <a:solidFill>
                  <a:srgbClr val="000000"/>
                </a:solidFill>
                <a:latin typeface="Times New Roman" pitchFamily="18" charset="0"/>
                <a:cs typeface="MCS Erwah S_U normal." pitchFamily="2" charset="-78"/>
              </a:rPr>
              <a:t>التنافس</a:t>
            </a:r>
            <a:endParaRPr lang="en-US" sz="4000" dirty="0">
              <a:solidFill>
                <a:srgbClr val="000000"/>
              </a:solidFill>
              <a:latin typeface="Times New Roman" pitchFamily="18" charset="0"/>
              <a:cs typeface="MCS Erwah S_U normal." pitchFamily="2" charset="-78"/>
            </a:endParaRPr>
          </a:p>
        </p:txBody>
      </p:sp>
      <p:sp>
        <p:nvSpPr>
          <p:cNvPr id="10" name="Rectangle 2"/>
          <p:cNvSpPr>
            <a:spLocks noChangeArrowheads="1"/>
          </p:cNvSpPr>
          <p:nvPr/>
        </p:nvSpPr>
        <p:spPr bwMode="auto">
          <a:xfrm>
            <a:off x="2279576" y="2276872"/>
            <a:ext cx="2088232" cy="707886"/>
          </a:xfrm>
          <a:prstGeom prst="rect">
            <a:avLst/>
          </a:prstGeom>
          <a:solidFill>
            <a:srgbClr val="FFFF00"/>
          </a:solidFill>
          <a:ln w="9525">
            <a:noFill/>
            <a:miter lim="800000"/>
            <a:headEnd/>
            <a:tailEnd/>
          </a:ln>
        </p:spPr>
        <p:txBody>
          <a:bodyPr wrap="square" anchor="ctr">
            <a:spAutoFit/>
          </a:bodyPr>
          <a:lstStyle/>
          <a:p>
            <a:pPr marL="457200" indent="-457200" algn="r" defTabSz="914400" rtl="1" fontAlgn="base">
              <a:spcBef>
                <a:spcPct val="0"/>
              </a:spcBef>
              <a:spcAft>
                <a:spcPct val="0"/>
              </a:spcAft>
              <a:buFont typeface="Arial" panose="020B0604020202020204" pitchFamily="34" charset="0"/>
              <a:buChar char="•"/>
            </a:pPr>
            <a:r>
              <a:rPr lang="ar-AE" sz="4000" dirty="0">
                <a:solidFill>
                  <a:srgbClr val="000000"/>
                </a:solidFill>
                <a:latin typeface="Times New Roman" pitchFamily="18" charset="0"/>
                <a:cs typeface="MCS Erwah S_U normal." pitchFamily="2" charset="-78"/>
              </a:rPr>
              <a:t>الافتراس</a:t>
            </a:r>
            <a:endParaRPr lang="en-US" sz="4000" dirty="0">
              <a:solidFill>
                <a:srgbClr val="000000"/>
              </a:solidFill>
              <a:latin typeface="Times New Roman" pitchFamily="18" charset="0"/>
              <a:cs typeface="MCS Erwah S_U normal." pitchFamily="2" charset="-78"/>
            </a:endParaRPr>
          </a:p>
        </p:txBody>
      </p:sp>
      <p:sp>
        <p:nvSpPr>
          <p:cNvPr id="12" name="Down Arrow 11"/>
          <p:cNvSpPr/>
          <p:nvPr/>
        </p:nvSpPr>
        <p:spPr>
          <a:xfrm>
            <a:off x="8544272" y="1429922"/>
            <a:ext cx="505482" cy="811499"/>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rtl="1" fontAlgn="base">
              <a:spcBef>
                <a:spcPct val="0"/>
              </a:spcBef>
              <a:spcAft>
                <a:spcPct val="0"/>
              </a:spcAft>
            </a:pPr>
            <a:endParaRPr lang="en-US">
              <a:solidFill>
                <a:srgbClr val="FFFFFF"/>
              </a:solidFill>
              <a:latin typeface="Times New Roman"/>
              <a:cs typeface="Arial"/>
            </a:endParaRPr>
          </a:p>
        </p:txBody>
      </p:sp>
      <p:sp>
        <p:nvSpPr>
          <p:cNvPr id="14" name="Down Arrow 13"/>
          <p:cNvSpPr/>
          <p:nvPr/>
        </p:nvSpPr>
        <p:spPr>
          <a:xfrm>
            <a:off x="3057047" y="1390698"/>
            <a:ext cx="505482" cy="811499"/>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rtl="1" fontAlgn="base">
              <a:spcBef>
                <a:spcPct val="0"/>
              </a:spcBef>
              <a:spcAft>
                <a:spcPct val="0"/>
              </a:spcAft>
            </a:pPr>
            <a:endParaRPr lang="en-US">
              <a:solidFill>
                <a:srgbClr val="FFFFFF"/>
              </a:solidFill>
              <a:latin typeface="Times New Roman"/>
              <a:cs typeface="Arial"/>
            </a:endParaRPr>
          </a:p>
        </p:txBody>
      </p:sp>
      <p:sp>
        <p:nvSpPr>
          <p:cNvPr id="9" name="Down Arrow 8"/>
          <p:cNvSpPr/>
          <p:nvPr/>
        </p:nvSpPr>
        <p:spPr>
          <a:xfrm>
            <a:off x="5745584" y="1438802"/>
            <a:ext cx="505482" cy="1918191"/>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rtl="1" fontAlgn="base">
              <a:spcBef>
                <a:spcPct val="0"/>
              </a:spcBef>
              <a:spcAft>
                <a:spcPct val="0"/>
              </a:spcAft>
            </a:pPr>
            <a:endParaRPr lang="en-US">
              <a:solidFill>
                <a:srgbClr val="FFFFFF"/>
              </a:solidFill>
              <a:latin typeface="Times New Roman"/>
              <a:cs typeface="Arial"/>
            </a:endParaRPr>
          </a:p>
        </p:txBody>
      </p:sp>
      <p:sp>
        <p:nvSpPr>
          <p:cNvPr id="13" name="Rectangle 2"/>
          <p:cNvSpPr>
            <a:spLocks noChangeArrowheads="1"/>
          </p:cNvSpPr>
          <p:nvPr/>
        </p:nvSpPr>
        <p:spPr bwMode="auto">
          <a:xfrm>
            <a:off x="4655841" y="3441194"/>
            <a:ext cx="2591575" cy="707886"/>
          </a:xfrm>
          <a:prstGeom prst="rect">
            <a:avLst/>
          </a:prstGeom>
          <a:solidFill>
            <a:srgbClr val="FFFF00"/>
          </a:solidFill>
          <a:ln w="9525">
            <a:noFill/>
            <a:miter lim="800000"/>
            <a:headEnd/>
            <a:tailEnd/>
          </a:ln>
        </p:spPr>
        <p:txBody>
          <a:bodyPr wrap="square" anchor="ctr">
            <a:spAutoFit/>
          </a:bodyPr>
          <a:lstStyle/>
          <a:p>
            <a:pPr marL="457200" indent="-457200" algn="ctr" defTabSz="914400" rtl="1" fontAlgn="base">
              <a:spcBef>
                <a:spcPct val="0"/>
              </a:spcBef>
              <a:spcAft>
                <a:spcPct val="0"/>
              </a:spcAft>
              <a:buFont typeface="Arial" panose="020B0604020202020204" pitchFamily="34" charset="0"/>
              <a:buChar char="•"/>
            </a:pPr>
            <a:r>
              <a:rPr lang="ar-AE" sz="4000" dirty="0">
                <a:solidFill>
                  <a:srgbClr val="000000"/>
                </a:solidFill>
                <a:latin typeface="Times New Roman" pitchFamily="18" charset="0"/>
                <a:cs typeface="MCS Erwah S_U normal." pitchFamily="2" charset="-78"/>
              </a:rPr>
              <a:t>التكافل</a:t>
            </a:r>
            <a:endParaRPr lang="en-US" sz="4000" dirty="0">
              <a:solidFill>
                <a:srgbClr val="000000"/>
              </a:solidFill>
              <a:latin typeface="Times New Roman" pitchFamily="18" charset="0"/>
              <a:cs typeface="MCS Erwah S_U normal." pitchFamily="2" charset="-78"/>
            </a:endParaRPr>
          </a:p>
        </p:txBody>
      </p:sp>
      <p:sp>
        <p:nvSpPr>
          <p:cNvPr id="16" name="Down Arrow 15"/>
          <p:cNvSpPr/>
          <p:nvPr/>
        </p:nvSpPr>
        <p:spPr>
          <a:xfrm rot="1918663">
            <a:off x="4223971" y="4173314"/>
            <a:ext cx="324036" cy="811499"/>
          </a:xfrm>
          <a:prstGeom prst="downArrow">
            <a:avLst/>
          </a:prstGeom>
          <a:solidFill>
            <a:srgbClr val="92D05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rtl="1" fontAlgn="base">
              <a:spcBef>
                <a:spcPct val="0"/>
              </a:spcBef>
              <a:spcAft>
                <a:spcPct val="0"/>
              </a:spcAft>
            </a:pPr>
            <a:endParaRPr lang="en-US">
              <a:solidFill>
                <a:srgbClr val="FFFFFF"/>
              </a:solidFill>
              <a:latin typeface="Times New Roman"/>
              <a:cs typeface="Arial"/>
            </a:endParaRPr>
          </a:p>
        </p:txBody>
      </p:sp>
      <p:sp>
        <p:nvSpPr>
          <p:cNvPr id="19" name="Down Arrow 18"/>
          <p:cNvSpPr/>
          <p:nvPr/>
        </p:nvSpPr>
        <p:spPr>
          <a:xfrm rot="19976835">
            <a:off x="7378732" y="4183130"/>
            <a:ext cx="324036" cy="811499"/>
          </a:xfrm>
          <a:prstGeom prst="downArrow">
            <a:avLst/>
          </a:prstGeom>
          <a:solidFill>
            <a:srgbClr val="92D05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rtl="1" fontAlgn="base">
              <a:spcBef>
                <a:spcPct val="0"/>
              </a:spcBef>
              <a:spcAft>
                <a:spcPct val="0"/>
              </a:spcAft>
            </a:pPr>
            <a:endParaRPr lang="en-US">
              <a:solidFill>
                <a:srgbClr val="FFFFFF"/>
              </a:solidFill>
              <a:latin typeface="Times New Roman"/>
              <a:cs typeface="Arial"/>
            </a:endParaRPr>
          </a:p>
        </p:txBody>
      </p:sp>
      <p:sp>
        <p:nvSpPr>
          <p:cNvPr id="21" name="Down Arrow 20"/>
          <p:cNvSpPr/>
          <p:nvPr/>
        </p:nvSpPr>
        <p:spPr>
          <a:xfrm>
            <a:off x="5735248" y="4293097"/>
            <a:ext cx="324036" cy="811499"/>
          </a:xfrm>
          <a:prstGeom prst="downArrow">
            <a:avLst/>
          </a:prstGeom>
          <a:solidFill>
            <a:srgbClr val="92D050"/>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rtl="1" fontAlgn="base">
              <a:spcBef>
                <a:spcPct val="0"/>
              </a:spcBef>
              <a:spcAft>
                <a:spcPct val="0"/>
              </a:spcAft>
            </a:pPr>
            <a:endParaRPr lang="en-US">
              <a:solidFill>
                <a:srgbClr val="FFFFFF"/>
              </a:solidFill>
              <a:latin typeface="Times New Roman"/>
              <a:cs typeface="Arial"/>
            </a:endParaRPr>
          </a:p>
        </p:txBody>
      </p:sp>
      <p:sp>
        <p:nvSpPr>
          <p:cNvPr id="22" name="Rectangle 2"/>
          <p:cNvSpPr>
            <a:spLocks noChangeArrowheads="1"/>
          </p:cNvSpPr>
          <p:nvPr/>
        </p:nvSpPr>
        <p:spPr bwMode="auto">
          <a:xfrm>
            <a:off x="7104112" y="5097378"/>
            <a:ext cx="1440160" cy="70788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square" anchor="ctr">
            <a:spAutoFit/>
          </a:bodyPr>
          <a:lstStyle/>
          <a:p>
            <a:pPr algn="ctr" defTabSz="914400" rtl="1" fontAlgn="base">
              <a:spcBef>
                <a:spcPct val="0"/>
              </a:spcBef>
              <a:spcAft>
                <a:spcPct val="0"/>
              </a:spcAft>
            </a:pPr>
            <a:r>
              <a:rPr lang="ar-AE" sz="4000" dirty="0">
                <a:solidFill>
                  <a:srgbClr val="000000"/>
                </a:solidFill>
                <a:latin typeface="Times New Roman"/>
                <a:cs typeface="MCS Erwah S_U normal." pitchFamily="2" charset="-78"/>
              </a:rPr>
              <a:t>التعايش</a:t>
            </a:r>
            <a:endParaRPr lang="en-US" sz="4000" dirty="0">
              <a:solidFill>
                <a:srgbClr val="000000"/>
              </a:solidFill>
              <a:latin typeface="Times New Roman"/>
              <a:cs typeface="MCS Erwah S_U normal." pitchFamily="2" charset="-78"/>
            </a:endParaRPr>
          </a:p>
        </p:txBody>
      </p:sp>
      <p:sp>
        <p:nvSpPr>
          <p:cNvPr id="23" name="Rectangle 2"/>
          <p:cNvSpPr>
            <a:spLocks noChangeArrowheads="1"/>
          </p:cNvSpPr>
          <p:nvPr/>
        </p:nvSpPr>
        <p:spPr bwMode="auto">
          <a:xfrm>
            <a:off x="5015881" y="5229201"/>
            <a:ext cx="1556787" cy="1323439"/>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square" anchor="ctr">
            <a:spAutoFit/>
          </a:bodyPr>
          <a:lstStyle/>
          <a:p>
            <a:pPr algn="ctr" defTabSz="914400" rtl="1" fontAlgn="base">
              <a:spcBef>
                <a:spcPct val="0"/>
              </a:spcBef>
              <a:spcAft>
                <a:spcPct val="0"/>
              </a:spcAft>
            </a:pPr>
            <a:r>
              <a:rPr lang="ar-AE" sz="4000" dirty="0">
                <a:solidFill>
                  <a:srgbClr val="000000"/>
                </a:solidFill>
                <a:latin typeface="Times New Roman"/>
                <a:cs typeface="MCS Erwah S_U normal." pitchFamily="2" charset="-78"/>
              </a:rPr>
              <a:t>تبادل المنفعة</a:t>
            </a:r>
            <a:endParaRPr lang="en-US" sz="4000" dirty="0">
              <a:solidFill>
                <a:srgbClr val="000000"/>
              </a:solidFill>
              <a:latin typeface="Times New Roman"/>
              <a:cs typeface="MCS Erwah S_U normal." pitchFamily="2" charset="-78"/>
            </a:endParaRPr>
          </a:p>
        </p:txBody>
      </p:sp>
      <p:sp>
        <p:nvSpPr>
          <p:cNvPr id="24" name="Rectangle 2"/>
          <p:cNvSpPr>
            <a:spLocks noChangeArrowheads="1"/>
          </p:cNvSpPr>
          <p:nvPr/>
        </p:nvSpPr>
        <p:spPr bwMode="auto">
          <a:xfrm>
            <a:off x="2988848" y="5085184"/>
            <a:ext cx="1522977" cy="707886"/>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square" anchor="ctr">
            <a:spAutoFit/>
          </a:bodyPr>
          <a:lstStyle/>
          <a:p>
            <a:pPr algn="ctr" defTabSz="914400" rtl="1" fontAlgn="base">
              <a:spcBef>
                <a:spcPct val="0"/>
              </a:spcBef>
              <a:spcAft>
                <a:spcPct val="0"/>
              </a:spcAft>
            </a:pPr>
            <a:r>
              <a:rPr lang="ar-AE" sz="4000" dirty="0">
                <a:solidFill>
                  <a:srgbClr val="000000"/>
                </a:solidFill>
                <a:latin typeface="Times New Roman"/>
                <a:cs typeface="MCS Erwah S_U normal." pitchFamily="2" charset="-78"/>
              </a:rPr>
              <a:t>التطفل</a:t>
            </a:r>
            <a:endParaRPr lang="en-US" sz="4000" dirty="0">
              <a:solidFill>
                <a:srgbClr val="000000"/>
              </a:solidFill>
              <a:latin typeface="Times New Roman"/>
              <a:cs typeface="MCS Erwah S_U normal." pitchFamily="2" charset="-78"/>
            </a:endParaRPr>
          </a:p>
        </p:txBody>
      </p:sp>
    </p:spTree>
    <p:extLst>
      <p:ext uri="{BB962C8B-B14F-4D97-AF65-F5344CB8AC3E}">
        <p14:creationId xmlns:p14="http://schemas.microsoft.com/office/powerpoint/2010/main" val="37163689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ppt_x"/>
                                          </p:val>
                                        </p:tav>
                                        <p:tav tm="100000">
                                          <p:val>
                                            <p:strVal val="#ppt_x"/>
                                          </p:val>
                                        </p:tav>
                                      </p:tavLst>
                                    </p:anim>
                                    <p:anim calcmode="lin" valueType="num">
                                      <p:cBhvr additive="base">
                                        <p:cTn id="32" dur="500" fill="hold"/>
                                        <p:tgtEl>
                                          <p:spTgt spid="19"/>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 calcmode="lin" valueType="num">
                                      <p:cBhvr additive="base">
                                        <p:cTn id="35" dur="500" fill="hold"/>
                                        <p:tgtEl>
                                          <p:spTgt spid="21"/>
                                        </p:tgtEl>
                                        <p:attrNameLst>
                                          <p:attrName>ppt_x</p:attrName>
                                        </p:attrNameLst>
                                      </p:cBhvr>
                                      <p:tavLst>
                                        <p:tav tm="0">
                                          <p:val>
                                            <p:strVal val="#ppt_x"/>
                                          </p:val>
                                        </p:tav>
                                        <p:tav tm="100000">
                                          <p:val>
                                            <p:strVal val="#ppt_x"/>
                                          </p:val>
                                        </p:tav>
                                      </p:tavLst>
                                    </p:anim>
                                    <p:anim calcmode="lin" valueType="num">
                                      <p:cBhvr additive="base">
                                        <p:cTn id="36" dur="500" fill="hold"/>
                                        <p:tgtEl>
                                          <p:spTgt spid="21"/>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additive="base">
                                        <p:cTn id="39" dur="500" fill="hold"/>
                                        <p:tgtEl>
                                          <p:spTgt spid="16"/>
                                        </p:tgtEl>
                                        <p:attrNameLst>
                                          <p:attrName>ppt_x</p:attrName>
                                        </p:attrNameLst>
                                      </p:cBhvr>
                                      <p:tavLst>
                                        <p:tav tm="0">
                                          <p:val>
                                            <p:strVal val="#ppt_x"/>
                                          </p:val>
                                        </p:tav>
                                        <p:tav tm="100000">
                                          <p:val>
                                            <p:strVal val="#ppt_x"/>
                                          </p:val>
                                        </p:tav>
                                      </p:tavLst>
                                    </p:anim>
                                    <p:anim calcmode="lin" valueType="num">
                                      <p:cBhvr additive="base">
                                        <p:cTn id="4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anim calcmode="lin" valueType="num">
                                      <p:cBhvr additive="base">
                                        <p:cTn id="45" dur="500" fill="hold"/>
                                        <p:tgtEl>
                                          <p:spTgt spid="22"/>
                                        </p:tgtEl>
                                        <p:attrNameLst>
                                          <p:attrName>ppt_x</p:attrName>
                                        </p:attrNameLst>
                                      </p:cBhvr>
                                      <p:tavLst>
                                        <p:tav tm="0">
                                          <p:val>
                                            <p:strVal val="#ppt_x"/>
                                          </p:val>
                                        </p:tav>
                                        <p:tav tm="100000">
                                          <p:val>
                                            <p:strVal val="#ppt_x"/>
                                          </p:val>
                                        </p:tav>
                                      </p:tavLst>
                                    </p:anim>
                                    <p:anim calcmode="lin" valueType="num">
                                      <p:cBhvr additive="base">
                                        <p:cTn id="4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anim calcmode="lin" valueType="num">
                                      <p:cBhvr additive="base">
                                        <p:cTn id="51" dur="500" fill="hold"/>
                                        <p:tgtEl>
                                          <p:spTgt spid="23"/>
                                        </p:tgtEl>
                                        <p:attrNameLst>
                                          <p:attrName>ppt_x</p:attrName>
                                        </p:attrNameLst>
                                      </p:cBhvr>
                                      <p:tavLst>
                                        <p:tav tm="0">
                                          <p:val>
                                            <p:strVal val="#ppt_x"/>
                                          </p:val>
                                        </p:tav>
                                        <p:tav tm="100000">
                                          <p:val>
                                            <p:strVal val="#ppt_x"/>
                                          </p:val>
                                        </p:tav>
                                      </p:tavLst>
                                    </p:anim>
                                    <p:anim calcmode="lin" valueType="num">
                                      <p:cBhvr additive="base">
                                        <p:cTn id="5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24"/>
                                        </p:tgtEl>
                                        <p:attrNameLst>
                                          <p:attrName>style.visibility</p:attrName>
                                        </p:attrNameLst>
                                      </p:cBhvr>
                                      <p:to>
                                        <p:strVal val="visible"/>
                                      </p:to>
                                    </p:set>
                                    <p:anim calcmode="lin" valueType="num">
                                      <p:cBhvr additive="base">
                                        <p:cTn id="57" dur="500" fill="hold"/>
                                        <p:tgtEl>
                                          <p:spTgt spid="24"/>
                                        </p:tgtEl>
                                        <p:attrNameLst>
                                          <p:attrName>ppt_x</p:attrName>
                                        </p:attrNameLst>
                                      </p:cBhvr>
                                      <p:tavLst>
                                        <p:tav tm="0">
                                          <p:val>
                                            <p:strVal val="#ppt_x"/>
                                          </p:val>
                                        </p:tav>
                                        <p:tav tm="100000">
                                          <p:val>
                                            <p:strVal val="#ppt_x"/>
                                          </p:val>
                                        </p:tav>
                                      </p:tavLst>
                                    </p:anim>
                                    <p:anim calcmode="lin" valueType="num">
                                      <p:cBhvr additive="base">
                                        <p:cTn id="5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0" grpId="0" animBg="1"/>
      <p:bldP spid="13" grpId="0" animBg="1"/>
      <p:bldP spid="16" grpId="0" animBg="1"/>
      <p:bldP spid="19" grpId="0" animBg="1"/>
      <p:bldP spid="21" grpId="0" animBg="1"/>
      <p:bldP spid="22" grpId="0" animBg="1"/>
      <p:bldP spid="23" grpId="0" animBg="1"/>
      <p:bldP spid="2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(٢)</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1. أُفرّق بين الموطن البيئي والموقع الملائم لكائن حي.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1" i="0">
                <a:solidFill>
                  <a:srgbClr val="A87B2E"/>
                </a:solidFill>
                <a:latin typeface="Arial"/>
                <a:ea typeface="Arial"/>
                <a:cs typeface="Arial"/>
              </a:rPr>
              <a:t>✦ 2. أُصنّف أنواع التفاعلات بين الكائنات الحية (تنافس، افتراس، تكافل).</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3. أُميّز بين أنواع التكافل الثلاثة، وأُصحّح المفهوم الخاطئ عن التطفل.</a:t>
            </a:r>
          </a:p>
        </p:txBody>
      </p:sp>
      <p:sp>
        <p:nvSpPr>
          <p:cNvPr id="10" name="TextBox 9"/>
          <p:cNvSpPr txBox="1"/>
          <p:nvPr/>
        </p:nvSpPr>
        <p:spPr>
          <a:xfrm>
            <a:off x="2590806" y="1162050"/>
            <a:ext cx="9458325" cy="438150"/>
          </a:xfrm>
          <a:prstGeom prst="rect">
            <a:avLst/>
          </a:prstGeom>
          <a:noFill/>
        </p:spPr>
        <p:txBody>
          <a:bodyPr wrap="square" lIns="0" tIns="0" rIns="0" bIns="0" anchor="ctr">
            <a:noAutofit/>
          </a:bodyPr>
          <a:lstStyle/>
          <a:p>
            <a:pPr algn="r" rtl="1"/>
            <a:r>
              <a:rPr lang="ar-AE" sz="2500" b="1" i="0">
                <a:solidFill>
                  <a:srgbClr val="173754"/>
                </a:solidFill>
                <a:latin typeface="Arial"/>
                <a:ea typeface="Arial"/>
                <a:cs typeface="Arial"/>
              </a:rPr>
              <a:t>التنافس (Competition)</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3 د</a:t>
            </a:r>
          </a:p>
        </p:txBody>
      </p:sp>
      <p:sp>
        <p:nvSpPr>
          <p:cNvPr id="12" name="TextBox 11"/>
          <p:cNvSpPr txBox="1"/>
          <p:nvPr/>
        </p:nvSpPr>
        <p:spPr>
          <a:xfrm>
            <a:off x="2590800" y="1619250"/>
            <a:ext cx="9458325" cy="2095499"/>
          </a:xfrm>
          <a:prstGeom prst="rect">
            <a:avLst/>
          </a:prstGeom>
          <a:noFill/>
        </p:spPr>
        <p:txBody>
          <a:bodyPr wrap="square" lIns="0" tIns="0" rIns="0" bIns="0" anchor="t">
            <a:noAutofit/>
          </a:bodyPr>
          <a:lstStyle/>
          <a:p>
            <a:pPr algn="r" rtl="1">
              <a:lnSpc>
                <a:spcPct val="115000"/>
              </a:lnSpc>
              <a:spcAft>
                <a:spcPts val="600"/>
              </a:spcAft>
            </a:pPr>
            <a:r>
              <a:rPr lang="ar-AE" sz="1550" b="0" i="0">
                <a:solidFill>
                  <a:srgbClr val="10243B"/>
                </a:solidFill>
                <a:latin typeface="Arial"/>
                <a:ea typeface="Arial"/>
                <a:cs typeface="Arial"/>
              </a:rPr>
              <a:t>◆ التنافس: علاقة بين كائنين أو أكثر يحتاجان إلى المصدر نفسه (الغذاء، الماء، المأوى، الموقع الملائم) في الوقت نفسه.</a:t>
            </a:r>
          </a:p>
          <a:p>
            <a:pPr algn="r" rtl="1">
              <a:lnSpc>
                <a:spcPct val="115000"/>
              </a:lnSpc>
              <a:spcAft>
                <a:spcPts val="600"/>
              </a:spcAft>
            </a:pPr>
            <a:r>
              <a:rPr lang="ar-AE" sz="1550" b="0" i="0">
                <a:solidFill>
                  <a:srgbClr val="10243B"/>
                </a:solidFill>
                <a:latin typeface="Arial"/>
                <a:ea typeface="Arial"/>
                <a:cs typeface="Arial"/>
              </a:rPr>
              <a:t>◆ يكون التنافس أشد بين أفراد النوع نفسه لأن احتياجاتهم متطابقة تماماً.</a:t>
            </a:r>
          </a:p>
          <a:p>
            <a:pPr algn="r" rtl="1">
              <a:lnSpc>
                <a:spcPct val="115000"/>
              </a:lnSpc>
              <a:spcAft>
                <a:spcPts val="600"/>
              </a:spcAft>
            </a:pPr>
            <a:r>
              <a:rPr lang="ar-AE" sz="1400" b="0" i="0">
                <a:solidFill>
                  <a:srgbClr val="10243B"/>
                </a:solidFill>
                <a:latin typeface="Arial"/>
                <a:ea typeface="Arial"/>
                <a:cs typeface="Arial"/>
              </a:rPr>
              <a:t>     – مثال: تنافس الأسود والضباع على الفريسة نفسها في السافانا، أو تنافس نباتات الصحراء على الماء القليل.</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Text Box 5">
            <a:extLst>
              <a:ext uri="{FF2B5EF4-FFF2-40B4-BE49-F238E27FC236}">
                <a16:creationId xmlns:a16="http://schemas.microsoft.com/office/drawing/2014/main" id="{DB63F85A-D10D-4C98-AFE6-4D61C82D25BA}"/>
              </a:ext>
            </a:extLst>
          </p:cNvPr>
          <p:cNvSpPr txBox="1">
            <a:spLocks noChangeArrowheads="1"/>
          </p:cNvSpPr>
          <p:nvPr/>
        </p:nvSpPr>
        <p:spPr bwMode="auto">
          <a:xfrm>
            <a:off x="1905000" y="2895601"/>
            <a:ext cx="8064500" cy="1076325"/>
          </a:xfrm>
          <a:prstGeom prst="rect">
            <a:avLst/>
          </a:prstGeom>
          <a:solidFill>
            <a:schemeClr val="hlink"/>
          </a:solid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defTabSz="914400" rtl="1" eaLnBrk="1" fontAlgn="base" hangingPunct="1">
              <a:spcBef>
                <a:spcPct val="50000"/>
              </a:spcBef>
              <a:spcAft>
                <a:spcPct val="0"/>
              </a:spcAft>
            </a:pPr>
            <a:r>
              <a:rPr lang="ar-SA" altLang="ar-AE" sz="3200" b="1">
                <a:solidFill>
                  <a:srgbClr val="2D2DB9"/>
                </a:solidFill>
              </a:rPr>
              <a:t>* ينتج من استخدام نوعين متنافسين أو أكثر من الكائنات الحية في الآن ذاته موردا محدودا واحدا .</a:t>
            </a:r>
            <a:endParaRPr lang="en-US" altLang="ar-AE" sz="3200" b="1">
              <a:solidFill>
                <a:srgbClr val="2D2DB9"/>
              </a:solidFill>
            </a:endParaRPr>
          </a:p>
        </p:txBody>
      </p:sp>
      <p:sp>
        <p:nvSpPr>
          <p:cNvPr id="14342" name="Text Box 6">
            <a:extLst>
              <a:ext uri="{FF2B5EF4-FFF2-40B4-BE49-F238E27FC236}">
                <a16:creationId xmlns:a16="http://schemas.microsoft.com/office/drawing/2014/main" id="{B68A70EE-65AD-4CA7-B7C4-22BD295B6DE0}"/>
              </a:ext>
            </a:extLst>
          </p:cNvPr>
          <p:cNvSpPr txBox="1">
            <a:spLocks noChangeArrowheads="1"/>
          </p:cNvSpPr>
          <p:nvPr/>
        </p:nvSpPr>
        <p:spPr bwMode="auto">
          <a:xfrm>
            <a:off x="1981200" y="4343401"/>
            <a:ext cx="8064500" cy="1749425"/>
          </a:xfrm>
          <a:prstGeom prst="rect">
            <a:avLst/>
          </a:prstGeom>
          <a:solidFill>
            <a:schemeClr val="hlink"/>
          </a:solid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defTabSz="914400" rtl="1" eaLnBrk="1" fontAlgn="base" hangingPunct="1">
              <a:spcBef>
                <a:spcPct val="50000"/>
              </a:spcBef>
              <a:spcAft>
                <a:spcPct val="0"/>
              </a:spcAft>
            </a:pPr>
            <a:r>
              <a:rPr lang="ar-SA" altLang="ar-AE" sz="3600" b="1" u="sng">
                <a:solidFill>
                  <a:srgbClr val="2D2DB9"/>
                </a:solidFill>
                <a:cs typeface="Kufi Extended Outline" panose="04010401010101010101" pitchFamily="82" charset="-78"/>
              </a:rPr>
              <a:t>أمثلة :</a:t>
            </a:r>
            <a:r>
              <a:rPr lang="ar-SA" altLang="ar-AE" sz="3600" b="1">
                <a:solidFill>
                  <a:srgbClr val="2D2DB9"/>
                </a:solidFill>
              </a:rPr>
              <a:t> تفرز بعض أنواع الكائنات الحية السموم في التربة فتمنع بذلك أنواع أخرى من الاستفادة من موارد تلك التربة .</a:t>
            </a:r>
            <a:endParaRPr lang="en-US" altLang="ar-AE" sz="3600" b="1">
              <a:solidFill>
                <a:srgbClr val="2D2DB9"/>
              </a:solidFill>
            </a:endParaRPr>
          </a:p>
        </p:txBody>
      </p:sp>
      <p:sp>
        <p:nvSpPr>
          <p:cNvPr id="5124" name="WordArt 6">
            <a:extLst>
              <a:ext uri="{FF2B5EF4-FFF2-40B4-BE49-F238E27FC236}">
                <a16:creationId xmlns:a16="http://schemas.microsoft.com/office/drawing/2014/main" id="{932C3766-9AB9-4F60-B864-764FD0678D74}"/>
              </a:ext>
            </a:extLst>
          </p:cNvPr>
          <p:cNvSpPr>
            <a:spLocks noChangeArrowheads="1" noChangeShapeType="1" noTextEdit="1"/>
          </p:cNvSpPr>
          <p:nvPr/>
        </p:nvSpPr>
        <p:spPr bwMode="auto">
          <a:xfrm>
            <a:off x="4495800" y="457200"/>
            <a:ext cx="3352800" cy="2133600"/>
          </a:xfrm>
          <a:prstGeom prst="rect">
            <a:avLst/>
          </a:prstGeom>
        </p:spPr>
        <p:txBody>
          <a:bodyPr wrap="none" fromWordArt="1">
            <a:prstTxWarp prst="textPlain">
              <a:avLst>
                <a:gd name="adj" fmla="val 50000"/>
              </a:avLst>
            </a:prstTxWarp>
          </a:bodyPr>
          <a:lstStyle/>
          <a:p>
            <a:pPr algn="ctr" defTabSz="914400" rtl="1" fontAlgn="base">
              <a:spcBef>
                <a:spcPct val="0"/>
              </a:spcBef>
              <a:spcAft>
                <a:spcPct val="0"/>
              </a:spcAft>
            </a:pPr>
            <a:r>
              <a:rPr lang="ar-AE" sz="3600" kern="10">
                <a:ln w="9525">
                  <a:solidFill>
                    <a:srgbClr val="000000"/>
                  </a:solidFill>
                  <a:round/>
                  <a:headEnd/>
                  <a:tailEnd/>
                </a:ln>
                <a:gradFill rotWithShape="1">
                  <a:gsLst>
                    <a:gs pos="0">
                      <a:srgbClr val="DCEBF5"/>
                    </a:gs>
                    <a:gs pos="8000">
                      <a:srgbClr val="83A7C3"/>
                    </a:gs>
                    <a:gs pos="13000">
                      <a:srgbClr val="768FB9"/>
                    </a:gs>
                    <a:gs pos="21001">
                      <a:srgbClr val="83A7C3"/>
                    </a:gs>
                    <a:gs pos="52000">
                      <a:srgbClr val="FFFFFF"/>
                    </a:gs>
                    <a:gs pos="56000">
                      <a:srgbClr val="9C6563"/>
                    </a:gs>
                    <a:gs pos="58000">
                      <a:srgbClr val="80302D"/>
                    </a:gs>
                    <a:gs pos="71001">
                      <a:srgbClr val="C0524E"/>
                    </a:gs>
                    <a:gs pos="94000">
                      <a:srgbClr val="EBDAD4"/>
                    </a:gs>
                    <a:gs pos="100000">
                      <a:srgbClr val="55261C"/>
                    </a:gs>
                  </a:gsLst>
                  <a:lin ang="5400000" scaled="1"/>
                </a:gradFill>
                <a:effectLst>
                  <a:outerShdw sy="50000" kx="2453608" rotWithShape="0">
                    <a:srgbClr val="868686">
                      <a:alpha val="50000"/>
                    </a:srgbClr>
                  </a:outerShdw>
                </a:effectLst>
                <a:latin typeface="Times New Roman" pitchFamily="18" charset="0"/>
                <a:cs typeface="Arial" pitchFamily="34" charset="0"/>
              </a:rPr>
              <a:t>التنافس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8" presetClass="entr" presetSubtype="0" accel="100000" fill="hold" grpId="0" nodeType="clickEffect">
                                  <p:stCondLst>
                                    <p:cond delay="0"/>
                                  </p:stCondLst>
                                  <p:childTnLst>
                                    <p:set>
                                      <p:cBhvr>
                                        <p:cTn id="6" dur="1" fill="hold">
                                          <p:stCondLst>
                                            <p:cond delay="0"/>
                                          </p:stCondLst>
                                        </p:cTn>
                                        <p:tgtEl>
                                          <p:spTgt spid="14341"/>
                                        </p:tgtEl>
                                        <p:attrNameLst>
                                          <p:attrName>style.visibility</p:attrName>
                                        </p:attrNameLst>
                                      </p:cBhvr>
                                      <p:to>
                                        <p:strVal val="visible"/>
                                      </p:to>
                                    </p:set>
                                    <p:anim calcmode="lin" valueType="num">
                                      <p:cBhvr>
                                        <p:cTn id="7" dur="500" fill="hold"/>
                                        <p:tgtEl>
                                          <p:spTgt spid="14341"/>
                                        </p:tgtEl>
                                        <p:attrNameLst>
                                          <p:attrName>ppt_w</p:attrName>
                                        </p:attrNameLst>
                                      </p:cBhvr>
                                      <p:tavLst>
                                        <p:tav tm="0">
                                          <p:val>
                                            <p:strVal val="#ppt_w*2.5"/>
                                          </p:val>
                                        </p:tav>
                                        <p:tav tm="100000">
                                          <p:val>
                                            <p:strVal val="#ppt_w"/>
                                          </p:val>
                                        </p:tav>
                                      </p:tavLst>
                                    </p:anim>
                                    <p:anim calcmode="lin" valueType="num">
                                      <p:cBhvr>
                                        <p:cTn id="8" dur="500" fill="hold"/>
                                        <p:tgtEl>
                                          <p:spTgt spid="14341"/>
                                        </p:tgtEl>
                                        <p:attrNameLst>
                                          <p:attrName>ppt_h</p:attrName>
                                        </p:attrNameLst>
                                      </p:cBhvr>
                                      <p:tavLst>
                                        <p:tav tm="0">
                                          <p:val>
                                            <p:strVal val="#ppt_h*0.01"/>
                                          </p:val>
                                        </p:tav>
                                        <p:tav tm="100000">
                                          <p:val>
                                            <p:strVal val="#ppt_h"/>
                                          </p:val>
                                        </p:tav>
                                      </p:tavLst>
                                    </p:anim>
                                    <p:anim calcmode="lin" valueType="num">
                                      <p:cBhvr>
                                        <p:cTn id="9" dur="500" fill="hold"/>
                                        <p:tgtEl>
                                          <p:spTgt spid="14341"/>
                                        </p:tgtEl>
                                        <p:attrNameLst>
                                          <p:attrName>ppt_x</p:attrName>
                                        </p:attrNameLst>
                                      </p:cBhvr>
                                      <p:tavLst>
                                        <p:tav tm="0">
                                          <p:val>
                                            <p:strVal val="#ppt_x"/>
                                          </p:val>
                                        </p:tav>
                                        <p:tav tm="100000">
                                          <p:val>
                                            <p:strVal val="#ppt_x"/>
                                          </p:val>
                                        </p:tav>
                                      </p:tavLst>
                                    </p:anim>
                                    <p:anim calcmode="lin" valueType="num">
                                      <p:cBhvr>
                                        <p:cTn id="10" dur="500" fill="hold"/>
                                        <p:tgtEl>
                                          <p:spTgt spid="14341"/>
                                        </p:tgtEl>
                                        <p:attrNameLst>
                                          <p:attrName>ppt_y</p:attrName>
                                        </p:attrNameLst>
                                      </p:cBhvr>
                                      <p:tavLst>
                                        <p:tav tm="0">
                                          <p:val>
                                            <p:strVal val="#ppt_h+1"/>
                                          </p:val>
                                        </p:tav>
                                        <p:tav tm="100000">
                                          <p:val>
                                            <p:strVal val="#ppt_y"/>
                                          </p:val>
                                        </p:tav>
                                      </p:tavLst>
                                    </p:anim>
                                    <p:animEffect transition="in" filter="fade">
                                      <p:cBhvr>
                                        <p:cTn id="11" dur="500"/>
                                        <p:tgtEl>
                                          <p:spTgt spid="14341"/>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53" presetClass="entr" presetSubtype="0" fill="hold" grpId="0" nodeType="clickEffect">
                                  <p:stCondLst>
                                    <p:cond delay="0"/>
                                  </p:stCondLst>
                                  <p:childTnLst>
                                    <p:set>
                                      <p:cBhvr>
                                        <p:cTn id="15" dur="1" fill="hold">
                                          <p:stCondLst>
                                            <p:cond delay="0"/>
                                          </p:stCondLst>
                                        </p:cTn>
                                        <p:tgtEl>
                                          <p:spTgt spid="14342"/>
                                        </p:tgtEl>
                                        <p:attrNameLst>
                                          <p:attrName>style.visibility</p:attrName>
                                        </p:attrNameLst>
                                      </p:cBhvr>
                                      <p:to>
                                        <p:strVal val="visible"/>
                                      </p:to>
                                    </p:set>
                                    <p:anim calcmode="lin" valueType="num">
                                      <p:cBhvr>
                                        <p:cTn id="16" dur="500" fill="hold"/>
                                        <p:tgtEl>
                                          <p:spTgt spid="14342"/>
                                        </p:tgtEl>
                                        <p:attrNameLst>
                                          <p:attrName>ppt_w</p:attrName>
                                        </p:attrNameLst>
                                      </p:cBhvr>
                                      <p:tavLst>
                                        <p:tav tm="0">
                                          <p:val>
                                            <p:fltVal val="0"/>
                                          </p:val>
                                        </p:tav>
                                        <p:tav tm="100000">
                                          <p:val>
                                            <p:strVal val="#ppt_w"/>
                                          </p:val>
                                        </p:tav>
                                      </p:tavLst>
                                    </p:anim>
                                    <p:anim calcmode="lin" valueType="num">
                                      <p:cBhvr>
                                        <p:cTn id="17" dur="500" fill="hold"/>
                                        <p:tgtEl>
                                          <p:spTgt spid="14342"/>
                                        </p:tgtEl>
                                        <p:attrNameLst>
                                          <p:attrName>ppt_h</p:attrName>
                                        </p:attrNameLst>
                                      </p:cBhvr>
                                      <p:tavLst>
                                        <p:tav tm="0">
                                          <p:val>
                                            <p:fltVal val="0"/>
                                          </p:val>
                                        </p:tav>
                                        <p:tav tm="100000">
                                          <p:val>
                                            <p:strVal val="#ppt_h"/>
                                          </p:val>
                                        </p:tav>
                                      </p:tavLst>
                                    </p:anim>
                                    <p:animEffect transition="in" filter="fade">
                                      <p:cBhvr>
                                        <p:cTn id="18" dur="500"/>
                                        <p:tgtEl>
                                          <p:spTgt spid="14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1" grpId="0" animBg="1"/>
      <p:bldP spid="1434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(٢)</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1. أُفرّق بين الموطن البيئي والموقع الملائم لكائن حي.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1" i="0">
                <a:solidFill>
                  <a:srgbClr val="A87B2E"/>
                </a:solidFill>
                <a:latin typeface="Arial"/>
                <a:ea typeface="Arial"/>
                <a:cs typeface="Arial"/>
              </a:rPr>
              <a:t>✦ 2. أُصنّف أنواع التفاعلات بين الكائنات الحية (تنافس، افتراس، تكافل).</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3. أُميّز بين أنواع التكافل الثلاثة، وأُصحّح المفهوم الخاطئ عن التطفل.</a:t>
            </a:r>
          </a:p>
        </p:txBody>
      </p:sp>
      <p:sp>
        <p:nvSpPr>
          <p:cNvPr id="10" name="TextBox 9"/>
          <p:cNvSpPr txBox="1"/>
          <p:nvPr/>
        </p:nvSpPr>
        <p:spPr>
          <a:xfrm>
            <a:off x="2590800" y="1162050"/>
            <a:ext cx="9458325" cy="438150"/>
          </a:xfrm>
          <a:prstGeom prst="rect">
            <a:avLst/>
          </a:prstGeom>
          <a:noFill/>
        </p:spPr>
        <p:txBody>
          <a:bodyPr wrap="square" lIns="0" tIns="0" rIns="0" bIns="0" anchor="ctr">
            <a:noAutofit/>
          </a:bodyPr>
          <a:lstStyle/>
          <a:p>
            <a:pPr algn="r" rtl="1"/>
            <a:r>
              <a:rPr lang="ar-AE" sz="2500" b="1" i="0">
                <a:solidFill>
                  <a:srgbClr val="173754"/>
                </a:solidFill>
                <a:latin typeface="Arial"/>
                <a:ea typeface="Arial"/>
                <a:cs typeface="Arial"/>
              </a:rPr>
              <a:t>الافتراس (Predation)</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3 د</a:t>
            </a:r>
          </a:p>
        </p:txBody>
      </p:sp>
      <p:sp>
        <p:nvSpPr>
          <p:cNvPr id="12" name="TextBox 11"/>
          <p:cNvSpPr txBox="1"/>
          <p:nvPr/>
        </p:nvSpPr>
        <p:spPr>
          <a:xfrm>
            <a:off x="2590800" y="1619250"/>
            <a:ext cx="9458325" cy="1714500"/>
          </a:xfrm>
          <a:prstGeom prst="rect">
            <a:avLst/>
          </a:prstGeom>
          <a:noFill/>
        </p:spPr>
        <p:txBody>
          <a:bodyPr wrap="square" lIns="0" tIns="0" rIns="0" bIns="0" anchor="t">
            <a:noAutofit/>
          </a:bodyPr>
          <a:lstStyle/>
          <a:p>
            <a:pPr algn="r" rtl="1">
              <a:lnSpc>
                <a:spcPct val="115000"/>
              </a:lnSpc>
              <a:spcAft>
                <a:spcPts val="600"/>
              </a:spcAft>
            </a:pPr>
            <a:r>
              <a:rPr lang="ar-AE" sz="1550" b="0" i="0">
                <a:solidFill>
                  <a:srgbClr val="10243B"/>
                </a:solidFill>
                <a:latin typeface="Arial"/>
                <a:ea typeface="Arial"/>
                <a:cs typeface="Arial"/>
              </a:rPr>
              <a:t>◆ الافتراس: علاقة يقتل فيها كائن حي (المفترس Predator) كائناً آخر (الفريسة Prey) ويتغذى عليه.</a:t>
            </a:r>
          </a:p>
          <a:p>
            <a:pPr algn="r" rtl="1">
              <a:lnSpc>
                <a:spcPct val="115000"/>
              </a:lnSpc>
              <a:spcAft>
                <a:spcPts val="600"/>
              </a:spcAft>
            </a:pPr>
            <a:r>
              <a:rPr lang="ar-AE" sz="1550" b="0" i="0">
                <a:solidFill>
                  <a:srgbClr val="10243B"/>
                </a:solidFill>
                <a:latin typeface="Arial"/>
                <a:ea typeface="Arial"/>
                <a:cs typeface="Arial"/>
              </a:rPr>
              <a:t>◆ يمتلك المفترس غالباً تكيّفات تساعده على الصيد (سرعة، مخالب، أنياب)، بينما تمتلك الفريسة تكيّفات للهروب أو التمويه.</a:t>
            </a:r>
          </a:p>
          <a:p>
            <a:pPr algn="r" rtl="1">
              <a:lnSpc>
                <a:spcPct val="115000"/>
              </a:lnSpc>
              <a:spcAft>
                <a:spcPts val="600"/>
              </a:spcAft>
            </a:pPr>
            <a:r>
              <a:rPr lang="ar-AE" sz="1400" b="0" i="0">
                <a:solidFill>
                  <a:srgbClr val="10243B"/>
                </a:solidFill>
                <a:latin typeface="Arial"/>
                <a:ea typeface="Arial"/>
                <a:cs typeface="Arial"/>
              </a:rPr>
              <a:t>     – مثال: النمر والغزال، الصقر والأرنب، أسد البحر وسمك الهامور.</a:t>
            </a:r>
          </a:p>
        </p:txBody>
      </p:sp>
      <p:pic>
        <p:nvPicPr>
          <p:cNvPr id="13" name="Picture 12" descr="clip3_hook_s2_poster.jpg"/>
          <p:cNvPicPr>
            <a:picLocks noChangeAspect="1"/>
          </p:cNvPicPr>
          <p:nvPr/>
        </p:nvPicPr>
        <p:blipFill>
          <a:blip r:embed="rId4"/>
          <a:stretch>
            <a:fillRect/>
          </a:stretch>
        </p:blipFill>
        <p:spPr>
          <a:xfrm>
            <a:off x="8511032" y="3367087"/>
            <a:ext cx="3292855" cy="18522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4">
            <a:extLst>
              <a:ext uri="{FF2B5EF4-FFF2-40B4-BE49-F238E27FC236}">
                <a16:creationId xmlns:a16="http://schemas.microsoft.com/office/drawing/2014/main" id="{19DFE026-30A4-4C7F-99C5-F266D214E7DA}"/>
              </a:ext>
            </a:extLst>
          </p:cNvPr>
          <p:cNvSpPr txBox="1">
            <a:spLocks noChangeArrowheads="1"/>
          </p:cNvSpPr>
          <p:nvPr/>
        </p:nvSpPr>
        <p:spPr bwMode="auto">
          <a:xfrm>
            <a:off x="4953001" y="476251"/>
            <a:ext cx="2881313" cy="1108075"/>
          </a:xfrm>
          <a:prstGeom prst="rect">
            <a:avLst/>
          </a:prstGeom>
          <a:solidFill>
            <a:srgbClr val="FF99CC"/>
          </a:solid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914400" rtl="1" eaLnBrk="1" fontAlgn="base" hangingPunct="1">
              <a:spcBef>
                <a:spcPct val="50000"/>
              </a:spcBef>
              <a:spcAft>
                <a:spcPct val="0"/>
              </a:spcAft>
            </a:pPr>
            <a:r>
              <a:rPr lang="ar-SA" altLang="ar-AE" sz="6600" b="1">
                <a:solidFill>
                  <a:srgbClr val="000000"/>
                </a:solidFill>
                <a:cs typeface="Old Antic Outline Shaded" panose="02010400000000000000" pitchFamily="2" charset="-78"/>
              </a:rPr>
              <a:t>ال</a:t>
            </a:r>
            <a:r>
              <a:rPr lang="ar-AE" altLang="ar-AE" sz="6600" b="1">
                <a:solidFill>
                  <a:srgbClr val="000000"/>
                </a:solidFill>
                <a:cs typeface="Old Antic Outline Shaded" panose="02010400000000000000" pitchFamily="2" charset="-78"/>
              </a:rPr>
              <a:t>إ</a:t>
            </a:r>
            <a:r>
              <a:rPr lang="ar-SA" altLang="ar-AE" sz="6600" b="1">
                <a:solidFill>
                  <a:srgbClr val="000000"/>
                </a:solidFill>
                <a:cs typeface="Old Antic Outline Shaded" panose="02010400000000000000" pitchFamily="2" charset="-78"/>
              </a:rPr>
              <a:t>فتراس</a:t>
            </a:r>
            <a:r>
              <a:rPr lang="ar-SA" altLang="ar-AE" sz="2400" b="1">
                <a:solidFill>
                  <a:srgbClr val="000000"/>
                </a:solidFill>
              </a:rPr>
              <a:t> </a:t>
            </a:r>
            <a:endParaRPr lang="en-US" altLang="ar-AE" sz="2400" b="1">
              <a:solidFill>
                <a:srgbClr val="000000"/>
              </a:solidFill>
            </a:endParaRPr>
          </a:p>
        </p:txBody>
      </p:sp>
      <p:sp>
        <p:nvSpPr>
          <p:cNvPr id="7173" name="Text Box 5">
            <a:extLst>
              <a:ext uri="{FF2B5EF4-FFF2-40B4-BE49-F238E27FC236}">
                <a16:creationId xmlns:a16="http://schemas.microsoft.com/office/drawing/2014/main" id="{9DA9A483-9928-4946-9900-EAB5DA3CB7F7}"/>
              </a:ext>
            </a:extLst>
          </p:cNvPr>
          <p:cNvSpPr txBox="1">
            <a:spLocks noChangeArrowheads="1"/>
          </p:cNvSpPr>
          <p:nvPr/>
        </p:nvSpPr>
        <p:spPr bwMode="auto">
          <a:xfrm>
            <a:off x="1919288" y="2719948"/>
            <a:ext cx="8280400" cy="4093428"/>
          </a:xfrm>
          <a:prstGeom prst="rect">
            <a:avLst/>
          </a:prstGeom>
          <a:solidFill>
            <a:schemeClr val="bg1"/>
          </a:solid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defTabSz="914400" rtl="1" eaLnBrk="1" fontAlgn="base" hangingPunct="1">
              <a:spcBef>
                <a:spcPct val="50000"/>
              </a:spcBef>
              <a:spcAft>
                <a:spcPct val="0"/>
              </a:spcAft>
            </a:pPr>
            <a:r>
              <a:rPr lang="ar-SA" altLang="ar-AE" sz="4000" b="1" dirty="0">
                <a:solidFill>
                  <a:srgbClr val="2D2DB9"/>
                </a:solidFill>
                <a:cs typeface="PT Bold Heading" panose="02010400000000000000" pitchFamily="2" charset="-78"/>
              </a:rPr>
              <a:t>_ قوة جبارة قائمة ضمن مجتمع أحيائي .</a:t>
            </a:r>
          </a:p>
          <a:p>
            <a:pPr algn="r" defTabSz="914400" rtl="1" eaLnBrk="1" fontAlgn="base" hangingPunct="1">
              <a:spcBef>
                <a:spcPct val="50000"/>
              </a:spcBef>
              <a:spcAft>
                <a:spcPct val="0"/>
              </a:spcAft>
            </a:pPr>
            <a:r>
              <a:rPr lang="ar-SA" altLang="ar-AE" sz="4000" b="1" dirty="0">
                <a:solidFill>
                  <a:srgbClr val="2D2DB9"/>
                </a:solidFill>
                <a:cs typeface="PT Bold Heading" panose="02010400000000000000" pitchFamily="2" charset="-78"/>
              </a:rPr>
              <a:t>_ فيه فرد واحد و هو </a:t>
            </a:r>
            <a:r>
              <a:rPr lang="ar-SA" altLang="ar-AE" sz="4000" b="1" dirty="0">
                <a:solidFill>
                  <a:srgbClr val="2D2DB9"/>
                </a:solidFill>
                <a:cs typeface="Old Antic Outline Shaded" panose="02010400000000000000" pitchFamily="2" charset="-78"/>
              </a:rPr>
              <a:t>المفترس</a:t>
            </a:r>
            <a:r>
              <a:rPr lang="ar-SA" altLang="ar-AE" sz="4000" b="1" dirty="0">
                <a:solidFill>
                  <a:srgbClr val="2D2DB9"/>
                </a:solidFill>
                <a:cs typeface="PT Bold Heading" panose="02010400000000000000" pitchFamily="2" charset="-78"/>
              </a:rPr>
              <a:t> الذي يقتل فرد آخر </a:t>
            </a:r>
            <a:r>
              <a:rPr lang="ar-SA" altLang="ar-AE" sz="4000" b="1" dirty="0">
                <a:solidFill>
                  <a:srgbClr val="2D2DB9"/>
                </a:solidFill>
                <a:cs typeface="Old Antic Outline Shaded" panose="02010400000000000000" pitchFamily="2" charset="-78"/>
              </a:rPr>
              <a:t>الفريسة</a:t>
            </a:r>
            <a:r>
              <a:rPr lang="ar-SA" altLang="ar-AE" sz="4000" b="1" dirty="0">
                <a:solidFill>
                  <a:srgbClr val="2D2DB9"/>
                </a:solidFill>
                <a:cs typeface="PT Bold Heading" panose="02010400000000000000" pitchFamily="2" charset="-78"/>
              </a:rPr>
              <a:t> و يتغذى عليه .</a:t>
            </a:r>
          </a:p>
          <a:p>
            <a:pPr algn="r" defTabSz="914400" rtl="1" eaLnBrk="1" fontAlgn="base" hangingPunct="1">
              <a:spcBef>
                <a:spcPct val="50000"/>
              </a:spcBef>
              <a:spcAft>
                <a:spcPct val="0"/>
              </a:spcAft>
            </a:pPr>
            <a:r>
              <a:rPr lang="ar-SA" altLang="ar-AE" sz="4000" b="1" dirty="0">
                <a:solidFill>
                  <a:srgbClr val="2D2DB9"/>
                </a:solidFill>
                <a:cs typeface="PT Bold Heading" panose="02010400000000000000" pitchFamily="2" charset="-78"/>
              </a:rPr>
              <a:t>_ يؤثر على مكان وعيش أنواع الكائنات الحية </a:t>
            </a:r>
          </a:p>
          <a:p>
            <a:pPr algn="r" defTabSz="914400" rtl="1" eaLnBrk="1" fontAlgn="base" hangingPunct="1">
              <a:spcBef>
                <a:spcPct val="50000"/>
              </a:spcBef>
              <a:spcAft>
                <a:spcPct val="0"/>
              </a:spcAft>
            </a:pPr>
            <a:r>
              <a:rPr lang="ar-SA" altLang="ar-AE" sz="4000" b="1" dirty="0">
                <a:solidFill>
                  <a:srgbClr val="2D2DB9"/>
                </a:solidFill>
                <a:cs typeface="PT Bold Heading" panose="02010400000000000000" pitchFamily="2" charset="-78"/>
              </a:rPr>
              <a:t>_ منظم فعال لحجم الجماعة الأحيائية .</a:t>
            </a:r>
            <a:endParaRPr lang="en-US" altLang="ar-AE" sz="4000" b="1" dirty="0">
              <a:solidFill>
                <a:srgbClr val="2D2DB9"/>
              </a:solidFill>
              <a:cs typeface="PT Bold Heading" panose="02010400000000000000" pitchFamily="2" charset="-78"/>
            </a:endParaRPr>
          </a:p>
        </p:txBody>
      </p:sp>
      <p:pic>
        <p:nvPicPr>
          <p:cNvPr id="9220" name="Picture 5" descr="tz_nser_lionkill5_in">
            <a:extLst>
              <a:ext uri="{FF2B5EF4-FFF2-40B4-BE49-F238E27FC236}">
                <a16:creationId xmlns:a16="http://schemas.microsoft.com/office/drawing/2014/main" id="{93CF3F4F-ABD9-493A-8604-F606D91780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500064"/>
            <a:ext cx="3032125"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F51196B5-4457-4C07-91D6-29300D7C245E}"/>
              </a:ext>
            </a:extLst>
          </p:cNvPr>
          <p:cNvPicPr>
            <a:picLocks noChangeAspect="1"/>
          </p:cNvPicPr>
          <p:nvPr/>
        </p:nvPicPr>
        <p:blipFill>
          <a:blip r:embed="rId3"/>
          <a:stretch>
            <a:fillRect/>
          </a:stretch>
        </p:blipFill>
        <p:spPr>
          <a:xfrm>
            <a:off x="8017828" y="-262864"/>
            <a:ext cx="3977083" cy="2982812"/>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8" presetClass="entr" presetSubtype="0" accel="100000" fill="hold" grpId="0" nodeType="clickEffect">
                                  <p:stCondLst>
                                    <p:cond delay="0"/>
                                  </p:stCondLst>
                                  <p:childTnLst>
                                    <p:set>
                                      <p:cBhvr>
                                        <p:cTn id="6" dur="1" fill="hold">
                                          <p:stCondLst>
                                            <p:cond delay="0"/>
                                          </p:stCondLst>
                                        </p:cTn>
                                        <p:tgtEl>
                                          <p:spTgt spid="7173"/>
                                        </p:tgtEl>
                                        <p:attrNameLst>
                                          <p:attrName>style.visibility</p:attrName>
                                        </p:attrNameLst>
                                      </p:cBhvr>
                                      <p:to>
                                        <p:strVal val="visible"/>
                                      </p:to>
                                    </p:set>
                                    <p:anim calcmode="lin" valueType="num">
                                      <p:cBhvr>
                                        <p:cTn id="7" dur="500" fill="hold"/>
                                        <p:tgtEl>
                                          <p:spTgt spid="7173"/>
                                        </p:tgtEl>
                                        <p:attrNameLst>
                                          <p:attrName>ppt_w</p:attrName>
                                        </p:attrNameLst>
                                      </p:cBhvr>
                                      <p:tavLst>
                                        <p:tav tm="0">
                                          <p:val>
                                            <p:strVal val="#ppt_w*2.5"/>
                                          </p:val>
                                        </p:tav>
                                        <p:tav tm="100000">
                                          <p:val>
                                            <p:strVal val="#ppt_w"/>
                                          </p:val>
                                        </p:tav>
                                      </p:tavLst>
                                    </p:anim>
                                    <p:anim calcmode="lin" valueType="num">
                                      <p:cBhvr>
                                        <p:cTn id="8" dur="500" fill="hold"/>
                                        <p:tgtEl>
                                          <p:spTgt spid="7173"/>
                                        </p:tgtEl>
                                        <p:attrNameLst>
                                          <p:attrName>ppt_h</p:attrName>
                                        </p:attrNameLst>
                                      </p:cBhvr>
                                      <p:tavLst>
                                        <p:tav tm="0">
                                          <p:val>
                                            <p:strVal val="#ppt_h*0.01"/>
                                          </p:val>
                                        </p:tav>
                                        <p:tav tm="100000">
                                          <p:val>
                                            <p:strVal val="#ppt_h"/>
                                          </p:val>
                                        </p:tav>
                                      </p:tavLst>
                                    </p:anim>
                                    <p:anim calcmode="lin" valueType="num">
                                      <p:cBhvr>
                                        <p:cTn id="9" dur="500" fill="hold"/>
                                        <p:tgtEl>
                                          <p:spTgt spid="7173"/>
                                        </p:tgtEl>
                                        <p:attrNameLst>
                                          <p:attrName>ppt_x</p:attrName>
                                        </p:attrNameLst>
                                      </p:cBhvr>
                                      <p:tavLst>
                                        <p:tav tm="0">
                                          <p:val>
                                            <p:strVal val="#ppt_x"/>
                                          </p:val>
                                        </p:tav>
                                        <p:tav tm="100000">
                                          <p:val>
                                            <p:strVal val="#ppt_x"/>
                                          </p:val>
                                        </p:tav>
                                      </p:tavLst>
                                    </p:anim>
                                    <p:anim calcmode="lin" valueType="num">
                                      <p:cBhvr>
                                        <p:cTn id="10" dur="500" fill="hold"/>
                                        <p:tgtEl>
                                          <p:spTgt spid="7173"/>
                                        </p:tgtEl>
                                        <p:attrNameLst>
                                          <p:attrName>ppt_y</p:attrName>
                                        </p:attrNameLst>
                                      </p:cBhvr>
                                      <p:tavLst>
                                        <p:tav tm="0">
                                          <p:val>
                                            <p:strVal val="#ppt_h+1"/>
                                          </p:val>
                                        </p:tav>
                                        <p:tav tm="100000">
                                          <p:val>
                                            <p:strVal val="#ppt_y"/>
                                          </p:val>
                                        </p:tav>
                                      </p:tavLst>
                                    </p:anim>
                                    <p:animEffect transition="in" filter="fade">
                                      <p:cBhvr>
                                        <p:cTn id="11" dur="500"/>
                                        <p:tgtEl>
                                          <p:spTgt spid="7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5" descr="Lion_Zebra">
            <a:extLst>
              <a:ext uri="{FF2B5EF4-FFF2-40B4-BE49-F238E27FC236}">
                <a16:creationId xmlns:a16="http://schemas.microsoft.com/office/drawing/2014/main" id="{56AA1C31-BE4C-4719-B3E2-51DD853A71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7714" y="981076"/>
            <a:ext cx="5832475"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5" descr="Lion_Zebra">
            <a:extLst>
              <a:ext uri="{FF2B5EF4-FFF2-40B4-BE49-F238E27FC236}">
                <a16:creationId xmlns:a16="http://schemas.microsoft.com/office/drawing/2014/main" id="{C972CAD2-B333-48CB-A154-08BEB9C709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7714" y="981076"/>
            <a:ext cx="5832475"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C4D4FBBD-049A-492A-8BA0-E660F96C0721}"/>
              </a:ext>
            </a:extLst>
          </p:cNvPr>
          <p:cNvSpPr/>
          <p:nvPr/>
        </p:nvSpPr>
        <p:spPr>
          <a:xfrm>
            <a:off x="7752184" y="1"/>
            <a:ext cx="2915816" cy="1015663"/>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glow" dir="tl">
                <a:rot lat="0" lon="0" rev="5400000"/>
              </a:lightRig>
            </a:scene3d>
            <a:sp3d contourW="12700">
              <a:bevelT w="25400" h="25400"/>
              <a:contourClr>
                <a:schemeClr val="accent6">
                  <a:shade val="73000"/>
                </a:schemeClr>
              </a:contourClr>
            </a:sp3d>
          </a:bodyPr>
          <a:lstStyle/>
          <a:p>
            <a:pPr algn="ctr" defTabSz="914400" rtl="1" fontAlgn="base">
              <a:spcBef>
                <a:spcPct val="0"/>
              </a:spcBef>
              <a:spcAft>
                <a:spcPct val="0"/>
              </a:spcAft>
              <a:defRPr/>
            </a:pPr>
            <a:r>
              <a:rPr lang="ar-AE" sz="6000" b="1" dirty="0">
                <a:ln w="11430"/>
                <a:gradFill>
                  <a:gsLst>
                    <a:gs pos="0">
                      <a:srgbClr val="2D2DB9">
                        <a:tint val="90000"/>
                        <a:satMod val="120000"/>
                      </a:srgbClr>
                    </a:gs>
                    <a:gs pos="25000">
                      <a:srgbClr val="2D2DB9">
                        <a:tint val="93000"/>
                        <a:satMod val="120000"/>
                      </a:srgbClr>
                    </a:gs>
                    <a:gs pos="50000">
                      <a:srgbClr val="2D2DB9">
                        <a:shade val="89000"/>
                        <a:satMod val="110000"/>
                      </a:srgbClr>
                    </a:gs>
                    <a:gs pos="75000">
                      <a:srgbClr val="2D2DB9">
                        <a:tint val="93000"/>
                        <a:satMod val="120000"/>
                      </a:srgbClr>
                    </a:gs>
                    <a:gs pos="100000">
                      <a:srgbClr val="2D2DB9">
                        <a:tint val="90000"/>
                        <a:satMod val="120000"/>
                      </a:srgbClr>
                    </a:gs>
                  </a:gsLst>
                  <a:lin ang="5400000"/>
                </a:gradFill>
                <a:effectLst>
                  <a:outerShdw blurRad="80000" dist="40000" dir="5040000" algn="tl">
                    <a:srgbClr val="000000">
                      <a:alpha val="30000"/>
                    </a:srgbClr>
                  </a:outerShdw>
                </a:effectLst>
                <a:latin typeface="Times New Roman"/>
                <a:cs typeface="Arial"/>
              </a:rPr>
              <a:t>المفترس</a:t>
            </a:r>
            <a:endParaRPr lang="en-US" sz="6000" b="1" dirty="0">
              <a:ln w="11430"/>
              <a:gradFill>
                <a:gsLst>
                  <a:gs pos="0">
                    <a:srgbClr val="2D2DB9">
                      <a:tint val="90000"/>
                      <a:satMod val="120000"/>
                    </a:srgbClr>
                  </a:gs>
                  <a:gs pos="25000">
                    <a:srgbClr val="2D2DB9">
                      <a:tint val="93000"/>
                      <a:satMod val="120000"/>
                    </a:srgbClr>
                  </a:gs>
                  <a:gs pos="50000">
                    <a:srgbClr val="2D2DB9">
                      <a:shade val="89000"/>
                      <a:satMod val="110000"/>
                    </a:srgbClr>
                  </a:gs>
                  <a:gs pos="75000">
                    <a:srgbClr val="2D2DB9">
                      <a:tint val="93000"/>
                      <a:satMod val="120000"/>
                    </a:srgbClr>
                  </a:gs>
                  <a:gs pos="100000">
                    <a:srgbClr val="2D2DB9">
                      <a:tint val="90000"/>
                      <a:satMod val="120000"/>
                    </a:srgbClr>
                  </a:gs>
                </a:gsLst>
                <a:lin ang="5400000"/>
              </a:gradFill>
              <a:effectLst>
                <a:outerShdw blurRad="80000" dist="40000" dir="5040000" algn="tl">
                  <a:srgbClr val="000000">
                    <a:alpha val="30000"/>
                  </a:srgbClr>
                </a:outerShdw>
              </a:effectLst>
              <a:latin typeface="Times New Roman"/>
              <a:cs typeface="Arial"/>
            </a:endParaRPr>
          </a:p>
        </p:txBody>
      </p:sp>
      <p:sp>
        <p:nvSpPr>
          <p:cNvPr id="4" name="Rectangle 3">
            <a:extLst>
              <a:ext uri="{FF2B5EF4-FFF2-40B4-BE49-F238E27FC236}">
                <a16:creationId xmlns:a16="http://schemas.microsoft.com/office/drawing/2014/main" id="{C7545E1E-F806-42AD-99CA-37B7AEFAE0A2}"/>
              </a:ext>
            </a:extLst>
          </p:cNvPr>
          <p:cNvSpPr/>
          <p:nvPr/>
        </p:nvSpPr>
        <p:spPr>
          <a:xfrm>
            <a:off x="1524000" y="5842338"/>
            <a:ext cx="2915816" cy="1015663"/>
          </a:xfrm>
          <a:prstGeom prst="rect">
            <a:avLst/>
          </a:prstGeom>
        </p:spPr>
        <p:style>
          <a:lnRef idx="1">
            <a:schemeClr val="accent1"/>
          </a:lnRef>
          <a:fillRef idx="3">
            <a:schemeClr val="accent1"/>
          </a:fillRef>
          <a:effectRef idx="2">
            <a:schemeClr val="accent1"/>
          </a:effectRef>
          <a:fontRef idx="minor">
            <a:schemeClr val="lt1"/>
          </a:fontRef>
        </p:style>
        <p:txBody>
          <a:bodyPr>
            <a:spAutoFit/>
            <a:scene3d>
              <a:camera prst="orthographicFront"/>
              <a:lightRig rig="glow" dir="tl">
                <a:rot lat="0" lon="0" rev="5400000"/>
              </a:lightRig>
            </a:scene3d>
            <a:sp3d contourW="12700">
              <a:bevelT w="25400" h="25400"/>
              <a:contourClr>
                <a:schemeClr val="accent6">
                  <a:shade val="73000"/>
                </a:schemeClr>
              </a:contourClr>
            </a:sp3d>
          </a:bodyPr>
          <a:lstStyle/>
          <a:p>
            <a:pPr algn="ctr" defTabSz="914400" rtl="1" fontAlgn="base">
              <a:spcBef>
                <a:spcPct val="0"/>
              </a:spcBef>
              <a:spcAft>
                <a:spcPct val="0"/>
              </a:spcAft>
              <a:defRPr/>
            </a:pPr>
            <a:r>
              <a:rPr lang="ar-AE" sz="6000" b="1" dirty="0">
                <a:ln w="11430"/>
                <a:gradFill>
                  <a:gsLst>
                    <a:gs pos="0">
                      <a:srgbClr val="2D2DB9">
                        <a:tint val="90000"/>
                        <a:satMod val="120000"/>
                      </a:srgbClr>
                    </a:gs>
                    <a:gs pos="25000">
                      <a:srgbClr val="2D2DB9">
                        <a:tint val="93000"/>
                        <a:satMod val="120000"/>
                      </a:srgbClr>
                    </a:gs>
                    <a:gs pos="50000">
                      <a:srgbClr val="2D2DB9">
                        <a:shade val="89000"/>
                        <a:satMod val="110000"/>
                      </a:srgbClr>
                    </a:gs>
                    <a:gs pos="75000">
                      <a:srgbClr val="2D2DB9">
                        <a:tint val="93000"/>
                        <a:satMod val="120000"/>
                      </a:srgbClr>
                    </a:gs>
                    <a:gs pos="100000">
                      <a:srgbClr val="2D2DB9">
                        <a:tint val="90000"/>
                        <a:satMod val="120000"/>
                      </a:srgbClr>
                    </a:gs>
                  </a:gsLst>
                  <a:lin ang="5400000"/>
                </a:gradFill>
                <a:effectLst>
                  <a:outerShdw blurRad="80000" dist="40000" dir="5040000" algn="tl">
                    <a:srgbClr val="000000">
                      <a:alpha val="30000"/>
                    </a:srgbClr>
                  </a:outerShdw>
                </a:effectLst>
                <a:latin typeface="Times New Roman"/>
                <a:cs typeface="Arial"/>
              </a:rPr>
              <a:t>الفريسة</a:t>
            </a:r>
            <a:endParaRPr lang="en-US" sz="6000" b="1" dirty="0">
              <a:ln w="11430"/>
              <a:gradFill>
                <a:gsLst>
                  <a:gs pos="0">
                    <a:srgbClr val="2D2DB9">
                      <a:tint val="90000"/>
                      <a:satMod val="120000"/>
                    </a:srgbClr>
                  </a:gs>
                  <a:gs pos="25000">
                    <a:srgbClr val="2D2DB9">
                      <a:tint val="93000"/>
                      <a:satMod val="120000"/>
                    </a:srgbClr>
                  </a:gs>
                  <a:gs pos="50000">
                    <a:srgbClr val="2D2DB9">
                      <a:shade val="89000"/>
                      <a:satMod val="110000"/>
                    </a:srgbClr>
                  </a:gs>
                  <a:gs pos="75000">
                    <a:srgbClr val="2D2DB9">
                      <a:tint val="93000"/>
                      <a:satMod val="120000"/>
                    </a:srgbClr>
                  </a:gs>
                  <a:gs pos="100000">
                    <a:srgbClr val="2D2DB9">
                      <a:tint val="90000"/>
                      <a:satMod val="120000"/>
                    </a:srgbClr>
                  </a:gs>
                </a:gsLst>
                <a:lin ang="5400000"/>
              </a:gradFill>
              <a:effectLst>
                <a:outerShdw blurRad="80000" dist="40000" dir="5040000" algn="tl">
                  <a:srgbClr val="000000">
                    <a:alpha val="30000"/>
                  </a:srgbClr>
                </a:outerShdw>
              </a:effectLst>
              <a:latin typeface="Times New Roman"/>
              <a:cs typeface="Arial"/>
            </a:endParaRPr>
          </a:p>
        </p:txBody>
      </p:sp>
      <p:cxnSp>
        <p:nvCxnSpPr>
          <p:cNvPr id="7173" name="Straight Arrow Connector 5">
            <a:extLst>
              <a:ext uri="{FF2B5EF4-FFF2-40B4-BE49-F238E27FC236}">
                <a16:creationId xmlns:a16="http://schemas.microsoft.com/office/drawing/2014/main" id="{65F975AE-E484-435A-A2F6-B5E9A6C51670}"/>
              </a:ext>
            </a:extLst>
          </p:cNvPr>
          <p:cNvCxnSpPr>
            <a:cxnSpLocks noChangeShapeType="1"/>
          </p:cNvCxnSpPr>
          <p:nvPr/>
        </p:nvCxnSpPr>
        <p:spPr bwMode="auto">
          <a:xfrm rot="10800000" flipV="1">
            <a:off x="6456364" y="765175"/>
            <a:ext cx="3024187" cy="1511300"/>
          </a:xfrm>
          <a:prstGeom prst="straightConnector1">
            <a:avLst/>
          </a:prstGeom>
          <a:noFill/>
          <a:ln w="57150" algn="ctr">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7174" name="Straight Arrow Connector 6">
            <a:extLst>
              <a:ext uri="{FF2B5EF4-FFF2-40B4-BE49-F238E27FC236}">
                <a16:creationId xmlns:a16="http://schemas.microsoft.com/office/drawing/2014/main" id="{F3A89422-97C9-422C-A98C-EB4F897FC404}"/>
              </a:ext>
            </a:extLst>
          </p:cNvPr>
          <p:cNvCxnSpPr>
            <a:cxnSpLocks noChangeShapeType="1"/>
          </p:cNvCxnSpPr>
          <p:nvPr/>
        </p:nvCxnSpPr>
        <p:spPr bwMode="auto">
          <a:xfrm flipV="1">
            <a:off x="2782888" y="4005263"/>
            <a:ext cx="2520950" cy="2087562"/>
          </a:xfrm>
          <a:prstGeom prst="straightConnector1">
            <a:avLst/>
          </a:prstGeom>
          <a:noFill/>
          <a:ln w="57150" algn="ctr">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7175" name="Straight Arrow Connector 9">
            <a:extLst>
              <a:ext uri="{FF2B5EF4-FFF2-40B4-BE49-F238E27FC236}">
                <a16:creationId xmlns:a16="http://schemas.microsoft.com/office/drawing/2014/main" id="{104CABBF-4332-4DF4-9CC9-FFDD41689947}"/>
              </a:ext>
            </a:extLst>
          </p:cNvPr>
          <p:cNvCxnSpPr>
            <a:cxnSpLocks noChangeShapeType="1"/>
          </p:cNvCxnSpPr>
          <p:nvPr/>
        </p:nvCxnSpPr>
        <p:spPr bwMode="auto">
          <a:xfrm rot="5400000">
            <a:off x="6564313" y="1736726"/>
            <a:ext cx="3887788" cy="1944687"/>
          </a:xfrm>
          <a:prstGeom prst="straightConnector1">
            <a:avLst/>
          </a:prstGeom>
          <a:noFill/>
          <a:ln w="57150" algn="ctr">
            <a:solidFill>
              <a:srgbClr val="C00000"/>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5499305-F686-4789-97EB-DD96C401C616}"/>
              </a:ext>
            </a:extLst>
          </p:cNvPr>
          <p:cNvSpPr/>
          <p:nvPr/>
        </p:nvSpPr>
        <p:spPr>
          <a:xfrm>
            <a:off x="7752184" y="1"/>
            <a:ext cx="2915816" cy="1015663"/>
          </a:xfrm>
          <a:prstGeom prst="rect">
            <a:avLst/>
          </a:prstGeom>
        </p:spPr>
        <p:style>
          <a:lnRef idx="1">
            <a:schemeClr val="accent1"/>
          </a:lnRef>
          <a:fillRef idx="2">
            <a:schemeClr val="accent1"/>
          </a:fillRef>
          <a:effectRef idx="1">
            <a:schemeClr val="accent1"/>
          </a:effectRef>
          <a:fontRef idx="minor">
            <a:schemeClr val="dk1"/>
          </a:fontRef>
        </p:style>
        <p:txBody>
          <a:bodyPr>
            <a:spAutoFit/>
            <a:scene3d>
              <a:camera prst="orthographicFront"/>
              <a:lightRig rig="glow" dir="tl">
                <a:rot lat="0" lon="0" rev="5400000"/>
              </a:lightRig>
            </a:scene3d>
            <a:sp3d contourW="12700">
              <a:bevelT w="25400" h="25400"/>
              <a:contourClr>
                <a:schemeClr val="accent6">
                  <a:shade val="73000"/>
                </a:schemeClr>
              </a:contourClr>
            </a:sp3d>
          </a:bodyPr>
          <a:lstStyle/>
          <a:p>
            <a:pPr algn="ctr" defTabSz="914400" rtl="1" fontAlgn="base">
              <a:spcBef>
                <a:spcPct val="0"/>
              </a:spcBef>
              <a:spcAft>
                <a:spcPct val="0"/>
              </a:spcAft>
              <a:defRPr/>
            </a:pPr>
            <a:r>
              <a:rPr lang="ar-AE" sz="6000" b="1" dirty="0">
                <a:ln w="11430"/>
                <a:gradFill>
                  <a:gsLst>
                    <a:gs pos="0">
                      <a:srgbClr val="2D2DB9">
                        <a:tint val="90000"/>
                        <a:satMod val="120000"/>
                      </a:srgbClr>
                    </a:gs>
                    <a:gs pos="25000">
                      <a:srgbClr val="2D2DB9">
                        <a:tint val="93000"/>
                        <a:satMod val="120000"/>
                      </a:srgbClr>
                    </a:gs>
                    <a:gs pos="50000">
                      <a:srgbClr val="2D2DB9">
                        <a:shade val="89000"/>
                        <a:satMod val="110000"/>
                      </a:srgbClr>
                    </a:gs>
                    <a:gs pos="75000">
                      <a:srgbClr val="2D2DB9">
                        <a:tint val="93000"/>
                        <a:satMod val="120000"/>
                      </a:srgbClr>
                    </a:gs>
                    <a:gs pos="100000">
                      <a:srgbClr val="2D2DB9">
                        <a:tint val="90000"/>
                        <a:satMod val="120000"/>
                      </a:srgbClr>
                    </a:gs>
                  </a:gsLst>
                  <a:lin ang="5400000"/>
                </a:gradFill>
                <a:effectLst>
                  <a:outerShdw blurRad="80000" dist="40000" dir="5040000" algn="tl">
                    <a:srgbClr val="000000">
                      <a:alpha val="30000"/>
                    </a:srgbClr>
                  </a:outerShdw>
                </a:effectLst>
                <a:latin typeface="Times New Roman"/>
                <a:cs typeface="Arial"/>
              </a:rPr>
              <a:t>المفترس</a:t>
            </a:r>
            <a:endParaRPr lang="en-US" sz="6000" b="1" dirty="0">
              <a:ln w="11430"/>
              <a:gradFill>
                <a:gsLst>
                  <a:gs pos="0">
                    <a:srgbClr val="2D2DB9">
                      <a:tint val="90000"/>
                      <a:satMod val="120000"/>
                    </a:srgbClr>
                  </a:gs>
                  <a:gs pos="25000">
                    <a:srgbClr val="2D2DB9">
                      <a:tint val="93000"/>
                      <a:satMod val="120000"/>
                    </a:srgbClr>
                  </a:gs>
                  <a:gs pos="50000">
                    <a:srgbClr val="2D2DB9">
                      <a:shade val="89000"/>
                      <a:satMod val="110000"/>
                    </a:srgbClr>
                  </a:gs>
                  <a:gs pos="75000">
                    <a:srgbClr val="2D2DB9">
                      <a:tint val="93000"/>
                      <a:satMod val="120000"/>
                    </a:srgbClr>
                  </a:gs>
                  <a:gs pos="100000">
                    <a:srgbClr val="2D2DB9">
                      <a:tint val="90000"/>
                      <a:satMod val="120000"/>
                    </a:srgbClr>
                  </a:gs>
                </a:gsLst>
                <a:lin ang="5400000"/>
              </a:gradFill>
              <a:effectLst>
                <a:outerShdw blurRad="80000" dist="40000" dir="5040000" algn="tl">
                  <a:srgbClr val="000000">
                    <a:alpha val="30000"/>
                  </a:srgbClr>
                </a:outerShdw>
              </a:effectLst>
              <a:latin typeface="Times New Roman"/>
              <a:cs typeface="Arial"/>
            </a:endParaRPr>
          </a:p>
        </p:txBody>
      </p:sp>
      <p:sp>
        <p:nvSpPr>
          <p:cNvPr id="4" name="Rectangle 3">
            <a:extLst>
              <a:ext uri="{FF2B5EF4-FFF2-40B4-BE49-F238E27FC236}">
                <a16:creationId xmlns:a16="http://schemas.microsoft.com/office/drawing/2014/main" id="{19079006-AC1E-4F57-BF54-F6FC73618A4D}"/>
              </a:ext>
            </a:extLst>
          </p:cNvPr>
          <p:cNvSpPr/>
          <p:nvPr/>
        </p:nvSpPr>
        <p:spPr>
          <a:xfrm>
            <a:off x="1524000" y="5842338"/>
            <a:ext cx="2915816" cy="1015663"/>
          </a:xfrm>
          <a:prstGeom prst="rect">
            <a:avLst/>
          </a:prstGeom>
        </p:spPr>
        <p:style>
          <a:lnRef idx="1">
            <a:schemeClr val="accent1"/>
          </a:lnRef>
          <a:fillRef idx="3">
            <a:schemeClr val="accent1"/>
          </a:fillRef>
          <a:effectRef idx="2">
            <a:schemeClr val="accent1"/>
          </a:effectRef>
          <a:fontRef idx="minor">
            <a:schemeClr val="lt1"/>
          </a:fontRef>
        </p:style>
        <p:txBody>
          <a:bodyPr>
            <a:spAutoFit/>
            <a:scene3d>
              <a:camera prst="orthographicFront"/>
              <a:lightRig rig="glow" dir="tl">
                <a:rot lat="0" lon="0" rev="5400000"/>
              </a:lightRig>
            </a:scene3d>
            <a:sp3d contourW="12700">
              <a:bevelT w="25400" h="25400"/>
              <a:contourClr>
                <a:schemeClr val="accent6">
                  <a:shade val="73000"/>
                </a:schemeClr>
              </a:contourClr>
            </a:sp3d>
          </a:bodyPr>
          <a:lstStyle/>
          <a:p>
            <a:pPr algn="ctr" defTabSz="914400" rtl="1" fontAlgn="base">
              <a:spcBef>
                <a:spcPct val="0"/>
              </a:spcBef>
              <a:spcAft>
                <a:spcPct val="0"/>
              </a:spcAft>
              <a:defRPr/>
            </a:pPr>
            <a:r>
              <a:rPr lang="ar-AE" sz="6000" b="1" dirty="0">
                <a:ln w="11430"/>
                <a:gradFill>
                  <a:gsLst>
                    <a:gs pos="0">
                      <a:srgbClr val="2D2DB9">
                        <a:tint val="90000"/>
                        <a:satMod val="120000"/>
                      </a:srgbClr>
                    </a:gs>
                    <a:gs pos="25000">
                      <a:srgbClr val="2D2DB9">
                        <a:tint val="93000"/>
                        <a:satMod val="120000"/>
                      </a:srgbClr>
                    </a:gs>
                    <a:gs pos="50000">
                      <a:srgbClr val="2D2DB9">
                        <a:shade val="89000"/>
                        <a:satMod val="110000"/>
                      </a:srgbClr>
                    </a:gs>
                    <a:gs pos="75000">
                      <a:srgbClr val="2D2DB9">
                        <a:tint val="93000"/>
                        <a:satMod val="120000"/>
                      </a:srgbClr>
                    </a:gs>
                    <a:gs pos="100000">
                      <a:srgbClr val="2D2DB9">
                        <a:tint val="90000"/>
                        <a:satMod val="120000"/>
                      </a:srgbClr>
                    </a:gs>
                  </a:gsLst>
                  <a:lin ang="5400000"/>
                </a:gradFill>
                <a:effectLst>
                  <a:outerShdw blurRad="80000" dist="40000" dir="5040000" algn="tl">
                    <a:srgbClr val="000000">
                      <a:alpha val="30000"/>
                    </a:srgbClr>
                  </a:outerShdw>
                </a:effectLst>
                <a:latin typeface="Times New Roman"/>
                <a:cs typeface="Arial"/>
              </a:rPr>
              <a:t>الفريسة</a:t>
            </a:r>
            <a:endParaRPr lang="en-US" sz="6000" b="1" dirty="0">
              <a:ln w="11430"/>
              <a:gradFill>
                <a:gsLst>
                  <a:gs pos="0">
                    <a:srgbClr val="2D2DB9">
                      <a:tint val="90000"/>
                      <a:satMod val="120000"/>
                    </a:srgbClr>
                  </a:gs>
                  <a:gs pos="25000">
                    <a:srgbClr val="2D2DB9">
                      <a:tint val="93000"/>
                      <a:satMod val="120000"/>
                    </a:srgbClr>
                  </a:gs>
                  <a:gs pos="50000">
                    <a:srgbClr val="2D2DB9">
                      <a:shade val="89000"/>
                      <a:satMod val="110000"/>
                    </a:srgbClr>
                  </a:gs>
                  <a:gs pos="75000">
                    <a:srgbClr val="2D2DB9">
                      <a:tint val="93000"/>
                      <a:satMod val="120000"/>
                    </a:srgbClr>
                  </a:gs>
                  <a:gs pos="100000">
                    <a:srgbClr val="2D2DB9">
                      <a:tint val="90000"/>
                      <a:satMod val="120000"/>
                    </a:srgbClr>
                  </a:gs>
                </a:gsLst>
                <a:lin ang="5400000"/>
              </a:gradFill>
              <a:effectLst>
                <a:outerShdw blurRad="80000" dist="40000" dir="5040000" algn="tl">
                  <a:srgbClr val="000000">
                    <a:alpha val="30000"/>
                  </a:srgbClr>
                </a:outerShdw>
              </a:effectLst>
              <a:latin typeface="Times New Roman"/>
              <a:cs typeface="Arial"/>
            </a:endParaRPr>
          </a:p>
        </p:txBody>
      </p:sp>
      <p:pic>
        <p:nvPicPr>
          <p:cNvPr id="8196" name="Picture 5" descr="lion%20kill%20small">
            <a:extLst>
              <a:ext uri="{FF2B5EF4-FFF2-40B4-BE49-F238E27FC236}">
                <a16:creationId xmlns:a16="http://schemas.microsoft.com/office/drawing/2014/main" id="{9EBDD468-B9E8-4A42-B0EC-73FE37F4D2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1450" y="1125539"/>
            <a:ext cx="6942138" cy="460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197" name="Straight Arrow Connector 8">
            <a:extLst>
              <a:ext uri="{FF2B5EF4-FFF2-40B4-BE49-F238E27FC236}">
                <a16:creationId xmlns:a16="http://schemas.microsoft.com/office/drawing/2014/main" id="{CCE28A7F-B0A2-4416-A191-7C6EC963CF02}"/>
              </a:ext>
            </a:extLst>
          </p:cNvPr>
          <p:cNvCxnSpPr>
            <a:cxnSpLocks noChangeShapeType="1"/>
          </p:cNvCxnSpPr>
          <p:nvPr/>
        </p:nvCxnSpPr>
        <p:spPr bwMode="auto">
          <a:xfrm rot="10800000" flipV="1">
            <a:off x="6456364" y="765175"/>
            <a:ext cx="3024187" cy="1511300"/>
          </a:xfrm>
          <a:prstGeom prst="straightConnector1">
            <a:avLst/>
          </a:prstGeom>
          <a:noFill/>
          <a:ln w="57150" algn="ctr">
            <a:solidFill>
              <a:srgbClr val="C00000"/>
            </a:solidFill>
            <a:round/>
            <a:headEnd/>
            <a:tailEnd type="arrow" w="med" len="med"/>
          </a:ln>
          <a:extLst>
            <a:ext uri="{909E8E84-426E-40DD-AFC4-6F175D3DCCD1}">
              <a14:hiddenFill xmlns:a14="http://schemas.microsoft.com/office/drawing/2010/main">
                <a:noFill/>
              </a14:hiddenFill>
            </a:ext>
          </a:extLst>
        </p:spPr>
      </p:cxnSp>
      <p:cxnSp>
        <p:nvCxnSpPr>
          <p:cNvPr id="8198" name="Straight Arrow Connector 10">
            <a:extLst>
              <a:ext uri="{FF2B5EF4-FFF2-40B4-BE49-F238E27FC236}">
                <a16:creationId xmlns:a16="http://schemas.microsoft.com/office/drawing/2014/main" id="{41D142EC-C140-421B-BA6E-C517A53D538F}"/>
              </a:ext>
            </a:extLst>
          </p:cNvPr>
          <p:cNvCxnSpPr>
            <a:cxnSpLocks noChangeShapeType="1"/>
          </p:cNvCxnSpPr>
          <p:nvPr/>
        </p:nvCxnSpPr>
        <p:spPr bwMode="auto">
          <a:xfrm flipV="1">
            <a:off x="2782888" y="3933825"/>
            <a:ext cx="3744912" cy="2159000"/>
          </a:xfrm>
          <a:prstGeom prst="straightConnector1">
            <a:avLst/>
          </a:prstGeom>
          <a:noFill/>
          <a:ln w="57150" algn="ctr">
            <a:solidFill>
              <a:schemeClr val="bg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5" descr="F:\صور الدروس\260684.jpg">
            <a:extLst>
              <a:ext uri="{FF2B5EF4-FFF2-40B4-BE49-F238E27FC236}">
                <a16:creationId xmlns:a16="http://schemas.microsoft.com/office/drawing/2014/main" id="{524F7A7C-AFD5-4968-9A9D-F1D0275623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622550"/>
            <a:ext cx="5067300" cy="423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3" name="Picture 2" descr="F:\صور الدروس\1227194915_6.jpg">
            <a:extLst>
              <a:ext uri="{FF2B5EF4-FFF2-40B4-BE49-F238E27FC236}">
                <a16:creationId xmlns:a16="http://schemas.microsoft.com/office/drawing/2014/main" id="{318CBAFB-687F-4A30-990C-89D851DA5D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0826" y="2622550"/>
            <a:ext cx="4067175" cy="423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6FB69287-1D9D-4798-BC09-FD34E3378AA1}"/>
              </a:ext>
            </a:extLst>
          </p:cNvPr>
          <p:cNvSpPr/>
          <p:nvPr/>
        </p:nvSpPr>
        <p:spPr>
          <a:xfrm>
            <a:off x="3143673" y="476672"/>
            <a:ext cx="5997155" cy="1754326"/>
          </a:xfrm>
          <a:prstGeom prst="rect">
            <a:avLst/>
          </a:prstGeom>
          <a:solidFill>
            <a:schemeClr val="bg1"/>
          </a:solidFill>
        </p:spPr>
        <p:txBody>
          <a:bodyPr wrap="none">
            <a:spAutoFit/>
          </a:bodyPr>
          <a:lstStyle/>
          <a:p>
            <a:pPr algn="ctr" defTabSz="914400" rtl="1" fontAlgn="base">
              <a:spcBef>
                <a:spcPct val="0"/>
              </a:spcBef>
              <a:spcAft>
                <a:spcPct val="0"/>
              </a:spcAft>
              <a:defRPr/>
            </a:pPr>
            <a:r>
              <a:rPr lang="ar-AE" sz="5400" b="1" dirty="0">
                <a:ln w="18415" cmpd="sng">
                  <a:solidFill>
                    <a:srgbClr val="FFFFFF"/>
                  </a:solidFill>
                  <a:prstDash val="solid"/>
                </a:ln>
                <a:solidFill>
                  <a:srgbClr val="3333CC">
                    <a:lumMod val="75000"/>
                  </a:srgbClr>
                </a:solidFill>
                <a:effectLst>
                  <a:outerShdw blurRad="63500" dir="3600000" algn="tl" rotWithShape="0">
                    <a:srgbClr val="000000">
                      <a:alpha val="70000"/>
                    </a:srgbClr>
                  </a:outerShdw>
                </a:effectLst>
                <a:latin typeface="Arial" charset="0"/>
                <a:cs typeface="Arial" charset="0"/>
              </a:rPr>
              <a:t>فينوس نبات آكل الحشرات</a:t>
            </a:r>
          </a:p>
          <a:p>
            <a:pPr algn="ctr" defTabSz="914400" rtl="1" fontAlgn="base">
              <a:spcBef>
                <a:spcPct val="0"/>
              </a:spcBef>
              <a:spcAft>
                <a:spcPct val="0"/>
              </a:spcAft>
              <a:defRPr/>
            </a:pPr>
            <a:r>
              <a:rPr lang="ar-AE" sz="5400" b="1" dirty="0">
                <a:ln w="18415" cmpd="sng">
                  <a:solidFill>
                    <a:srgbClr val="FFFFFF"/>
                  </a:solidFill>
                  <a:prstDash val="solid"/>
                </a:ln>
                <a:solidFill>
                  <a:srgbClr val="3333CC">
                    <a:lumMod val="75000"/>
                  </a:srgbClr>
                </a:solidFill>
                <a:effectLst>
                  <a:outerShdw blurRad="63500" dir="3600000" algn="tl" rotWithShape="0">
                    <a:srgbClr val="000000">
                      <a:alpha val="70000"/>
                    </a:srgbClr>
                  </a:outerShdw>
                </a:effectLst>
                <a:latin typeface="Arial" charset="0"/>
                <a:cs typeface="Arial" charset="0"/>
              </a:rPr>
              <a:t>تعتبر مفترس </a:t>
            </a:r>
            <a:endParaRPr lang="en-US" sz="5400" b="1" dirty="0">
              <a:ln w="18415" cmpd="sng">
                <a:solidFill>
                  <a:srgbClr val="FFFFFF"/>
                </a:solidFill>
                <a:prstDash val="solid"/>
              </a:ln>
              <a:solidFill>
                <a:srgbClr val="3333CC">
                  <a:lumMod val="75000"/>
                </a:srgbClr>
              </a:solidFill>
              <a:effectLst>
                <a:outerShdw blurRad="63500" dir="3600000" algn="tl" rotWithShape="0">
                  <a:srgbClr val="000000">
                    <a:alpha val="70000"/>
                  </a:srgbClr>
                </a:outerShdw>
              </a:effectLst>
              <a:latin typeface="Arial" charset="0"/>
              <a:cs typeface="Arial"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ماهي النباتات اللاحمة _ نباتات تتغذى على الحشرات _ كيف تدافع النباتات عن نفسها">
            <a:hlinkClick r:id="" action="ppaction://media"/>
            <a:extLst>
              <a:ext uri="{FF2B5EF4-FFF2-40B4-BE49-F238E27FC236}">
                <a16:creationId xmlns:a16="http://schemas.microsoft.com/office/drawing/2014/main" id="{37904061-1B25-408A-84B5-8E0C89BA778A}"/>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98425" y="98425"/>
            <a:ext cx="11270615" cy="6858000"/>
          </a:xfrm>
          <a:prstGeom prst="rect">
            <a:avLst/>
          </a:prstGeom>
        </p:spPr>
      </p:pic>
    </p:spTree>
    <p:extLst>
      <p:ext uri="{BB962C8B-B14F-4D97-AF65-F5344CB8AC3E}">
        <p14:creationId xmlns:p14="http://schemas.microsoft.com/office/powerpoint/2010/main" val="1704876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1015"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(٢)</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1. أُفرّق بين الموطن البيئي والموقع الملائم لكائن حي.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1" i="0">
                <a:solidFill>
                  <a:srgbClr val="A87B2E"/>
                </a:solidFill>
                <a:latin typeface="Arial"/>
                <a:ea typeface="Arial"/>
                <a:cs typeface="Arial"/>
              </a:rPr>
              <a:t>✦ 2. أُصنّف أنواع التفاعلات بين الكائنات الحية (تنافس، افتراس، تكافل).</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3. أُميّز بين أنواع التكافل الثلاثة، وأُصحّح المفهوم الخاطئ عن التطفل.</a:t>
            </a:r>
          </a:p>
        </p:txBody>
      </p:sp>
      <p:sp>
        <p:nvSpPr>
          <p:cNvPr id="10" name="TextBox 9"/>
          <p:cNvSpPr txBox="1"/>
          <p:nvPr/>
        </p:nvSpPr>
        <p:spPr>
          <a:xfrm>
            <a:off x="2590801" y="1162050"/>
            <a:ext cx="9458325" cy="438150"/>
          </a:xfrm>
          <a:prstGeom prst="rect">
            <a:avLst/>
          </a:prstGeom>
          <a:noFill/>
        </p:spPr>
        <p:txBody>
          <a:bodyPr wrap="square" lIns="0" tIns="0" rIns="0" bIns="0" anchor="ctr">
            <a:noAutofit/>
          </a:bodyPr>
          <a:lstStyle/>
          <a:p>
            <a:pPr algn="r" rtl="1"/>
            <a:r>
              <a:rPr lang="ar-AE" sz="2500" b="1" i="0">
                <a:solidFill>
                  <a:srgbClr val="173754"/>
                </a:solidFill>
                <a:latin typeface="Arial"/>
                <a:ea typeface="Arial"/>
                <a:cs typeface="Arial"/>
              </a:rPr>
              <a:t>تقييم تكويني ٢ ✓</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2 د</a:t>
            </a:r>
          </a:p>
        </p:txBody>
      </p:sp>
      <p:sp>
        <p:nvSpPr>
          <p:cNvPr id="12" name="Rounded Rectangle 11"/>
          <p:cNvSpPr/>
          <p:nvPr/>
        </p:nvSpPr>
        <p:spPr>
          <a:xfrm>
            <a:off x="2590800" y="4524376"/>
            <a:ext cx="9458325" cy="1047749"/>
          </a:xfrm>
          <a:prstGeom prst="roundRect">
            <a:avLst/>
          </a:prstGeom>
          <a:solidFill>
            <a:srgbClr val="EAF3EC"/>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lstStyle/>
          <a:p>
            <a:pPr algn="r" rtl="1"/>
            <a:r>
              <a:rPr lang="ar-AE" sz="1200" b="1" i="0">
                <a:solidFill>
                  <a:srgbClr val="2E7D32"/>
                </a:solidFill>
                <a:latin typeface="Arial"/>
                <a:ea typeface="Arial"/>
                <a:cs typeface="Arial"/>
              </a:rPr>
              <a:t>تقييم تكويني ✓</a:t>
            </a:r>
          </a:p>
          <a:p>
            <a:pPr algn="r" rtl="1"/>
            <a:r>
              <a:rPr lang="ar-AE" sz="1450" b="0" i="0">
                <a:solidFill>
                  <a:srgbClr val="10243B"/>
                </a:solidFill>
                <a:latin typeface="Arial"/>
                <a:ea typeface="Arial"/>
                <a:cs typeface="Arial"/>
              </a:rPr>
              <a:t>في العلاقة بين الصقر والأرنب: أيّهما المفترس وأيّهما الفريسة؟ وما نوع هذا التفاعل؟</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WordArt 6">
            <a:extLst>
              <a:ext uri="{FF2B5EF4-FFF2-40B4-BE49-F238E27FC236}">
                <a16:creationId xmlns:a16="http://schemas.microsoft.com/office/drawing/2014/main" id="{179F4F4F-9A81-4E53-BDAD-822D498E66A4}"/>
              </a:ext>
            </a:extLst>
          </p:cNvPr>
          <p:cNvSpPr>
            <a:spLocks noChangeArrowheads="1" noChangeShapeType="1" noTextEdit="1"/>
          </p:cNvSpPr>
          <p:nvPr/>
        </p:nvSpPr>
        <p:spPr bwMode="auto">
          <a:xfrm>
            <a:off x="2133600" y="1752600"/>
            <a:ext cx="8229600" cy="2706688"/>
          </a:xfrm>
          <a:prstGeom prst="rect">
            <a:avLst/>
          </a:prstGeom>
        </p:spPr>
        <p:txBody>
          <a:bodyPr wrap="none" fromWordArt="1">
            <a:prstTxWarp prst="textPlain">
              <a:avLst>
                <a:gd name="adj" fmla="val 50000"/>
              </a:avLst>
            </a:prstTxWarp>
          </a:bodyPr>
          <a:lstStyle/>
          <a:p>
            <a:pPr algn="ctr" defTabSz="914400" rtl="1" fontAlgn="base">
              <a:spcBef>
                <a:spcPct val="0"/>
              </a:spcBef>
              <a:spcAft>
                <a:spcPct val="0"/>
              </a:spcAft>
            </a:pPr>
            <a:r>
              <a:rPr lang="ar-AE" sz="800" b="1"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Times New Roman" pitchFamily="18" charset="0"/>
                <a:cs typeface="Arial" pitchFamily="34" charset="0"/>
              </a:rPr>
              <a:t>علاقات التكافل</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(٢)</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1. أُفرّق بين الموطن البيئي والموقع الملائم لكائن حي.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2. أُصنّف أنواع التفاعلات بين الكائنات الحية (تنافس، افتراس، تكافل).</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1" i="0">
                <a:solidFill>
                  <a:srgbClr val="A87B2E"/>
                </a:solidFill>
                <a:latin typeface="Arial"/>
                <a:ea typeface="Arial"/>
                <a:cs typeface="Arial"/>
              </a:rPr>
              <a:t>✦ 3. أُميّز بين أنواع التكافل الثلاثة، وأُصحّح المفهوم الخاطئ عن التطفل.</a:t>
            </a:r>
          </a:p>
        </p:txBody>
      </p:sp>
      <p:sp>
        <p:nvSpPr>
          <p:cNvPr id="10" name="TextBox 9"/>
          <p:cNvSpPr txBox="1"/>
          <p:nvPr/>
        </p:nvSpPr>
        <p:spPr>
          <a:xfrm>
            <a:off x="2590802" y="1162050"/>
            <a:ext cx="9458325" cy="438150"/>
          </a:xfrm>
          <a:prstGeom prst="rect">
            <a:avLst/>
          </a:prstGeom>
          <a:noFill/>
        </p:spPr>
        <p:txBody>
          <a:bodyPr wrap="square" lIns="0" tIns="0" rIns="0" bIns="0" anchor="ctr">
            <a:noAutofit/>
          </a:bodyPr>
          <a:lstStyle/>
          <a:p>
            <a:pPr algn="r" rtl="1"/>
            <a:r>
              <a:rPr lang="ar-AE" sz="2500" b="1" i="0">
                <a:solidFill>
                  <a:srgbClr val="173754"/>
                </a:solidFill>
                <a:latin typeface="Arial"/>
                <a:ea typeface="Arial"/>
                <a:cs typeface="Arial"/>
              </a:rPr>
              <a:t>التكافل (Symbiosis) – مقدمة</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3 د</a:t>
            </a:r>
          </a:p>
        </p:txBody>
      </p:sp>
      <p:pic>
        <p:nvPicPr>
          <p:cNvPr id="12" name="clip4_symbiosis_s2.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114800" y="1685924"/>
            <a:ext cx="6667500" cy="3143250"/>
          </a:xfrm>
          <a:prstGeom prst="rect">
            <a:avLst/>
          </a:prstGeom>
        </p:spPr>
      </p:pic>
      <p:sp>
        <p:nvSpPr>
          <p:cNvPr id="13" name="TextBox 12"/>
          <p:cNvSpPr txBox="1"/>
          <p:nvPr/>
        </p:nvSpPr>
        <p:spPr>
          <a:xfrm>
            <a:off x="2590800" y="1685924"/>
            <a:ext cx="1428750" cy="3143250"/>
          </a:xfrm>
          <a:prstGeom prst="rect">
            <a:avLst/>
          </a:prstGeom>
          <a:noFill/>
        </p:spPr>
        <p:txBody>
          <a:bodyPr wrap="square" lIns="0" tIns="0" rIns="0" bIns="0" anchor="ctr">
            <a:noAutofit/>
          </a:bodyPr>
          <a:lstStyle/>
          <a:p>
            <a:pPr algn="r" rtl="1"/>
            <a:r>
              <a:rPr lang="ar-AE" sz="1300" b="1" i="0">
                <a:solidFill>
                  <a:srgbClr val="A87B2E"/>
                </a:solidFill>
                <a:latin typeface="Arial"/>
                <a:ea typeface="Arial"/>
                <a:cs typeface="Arial"/>
              </a:rPr>
              <a:t>شاهد ثم صنّف:</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2"/>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4">
            <a:extLst>
              <a:ext uri="{FF2B5EF4-FFF2-40B4-BE49-F238E27FC236}">
                <a16:creationId xmlns:a16="http://schemas.microsoft.com/office/drawing/2014/main" id="{8413EBF5-01ED-4025-BBEA-181D7F88ED97}"/>
              </a:ext>
            </a:extLst>
          </p:cNvPr>
          <p:cNvSpPr txBox="1">
            <a:spLocks noChangeArrowheads="1"/>
          </p:cNvSpPr>
          <p:nvPr/>
        </p:nvSpPr>
        <p:spPr bwMode="auto">
          <a:xfrm>
            <a:off x="6383339" y="333376"/>
            <a:ext cx="36734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en-US" altLang="ar-AE"/>
          </a:p>
        </p:txBody>
      </p:sp>
      <p:sp>
        <p:nvSpPr>
          <p:cNvPr id="16389" name="Text Box 5">
            <a:extLst>
              <a:ext uri="{FF2B5EF4-FFF2-40B4-BE49-F238E27FC236}">
                <a16:creationId xmlns:a16="http://schemas.microsoft.com/office/drawing/2014/main" id="{58920D8D-D1D7-489E-B099-87EA520CF5A3}"/>
              </a:ext>
            </a:extLst>
          </p:cNvPr>
          <p:cNvSpPr txBox="1">
            <a:spLocks noChangeArrowheads="1"/>
          </p:cNvSpPr>
          <p:nvPr/>
        </p:nvSpPr>
        <p:spPr bwMode="auto">
          <a:xfrm>
            <a:off x="2743201" y="333375"/>
            <a:ext cx="6911975" cy="923330"/>
          </a:xfrm>
          <a:prstGeom prst="rect">
            <a:avLst/>
          </a:prstGeom>
          <a:solidFill>
            <a:srgbClr val="FFFF00"/>
          </a:solid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ar-SA" altLang="ar-AE" sz="5400" b="1" u="sng" dirty="0">
                <a:cs typeface="Kufi Extended Outline" panose="04010401010101010101" pitchFamily="82" charset="-78"/>
              </a:rPr>
              <a:t>تبادل المنفعة</a:t>
            </a:r>
            <a:endParaRPr lang="en-US" altLang="ar-AE" sz="7200" b="1" dirty="0"/>
          </a:p>
        </p:txBody>
      </p:sp>
      <p:sp>
        <p:nvSpPr>
          <p:cNvPr id="16390" name="Text Box 6">
            <a:extLst>
              <a:ext uri="{FF2B5EF4-FFF2-40B4-BE49-F238E27FC236}">
                <a16:creationId xmlns:a16="http://schemas.microsoft.com/office/drawing/2014/main" id="{436D1536-E9A6-49BF-955E-801FA1D7F3E3}"/>
              </a:ext>
            </a:extLst>
          </p:cNvPr>
          <p:cNvSpPr txBox="1">
            <a:spLocks noChangeArrowheads="1"/>
          </p:cNvSpPr>
          <p:nvPr/>
        </p:nvSpPr>
        <p:spPr bwMode="auto">
          <a:xfrm>
            <a:off x="6600825" y="1905001"/>
            <a:ext cx="3455988" cy="3478213"/>
          </a:xfrm>
          <a:prstGeom prst="rect">
            <a:avLst/>
          </a:prstGeom>
          <a:solidFill>
            <a:srgbClr val="FFCC66"/>
          </a:solidFill>
          <a:ln w="9525">
            <a:solidFill>
              <a:schemeClr val="tx1"/>
            </a:solidFill>
            <a:miter lim="800000"/>
            <a:headEnd/>
            <a:tailEnd/>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ar-SA" altLang="ar-AE" sz="4000" b="1" u="sng">
                <a:solidFill>
                  <a:srgbClr val="C00000"/>
                </a:solidFill>
                <a:cs typeface="Monotype Koufi" pitchFamily="2" charset="-78"/>
              </a:rPr>
              <a:t>تبادل المنفعة :</a:t>
            </a:r>
            <a:r>
              <a:rPr lang="ar-SA" altLang="ar-AE" sz="3600" b="1">
                <a:solidFill>
                  <a:srgbClr val="C00000"/>
                </a:solidFill>
              </a:rPr>
              <a:t> </a:t>
            </a:r>
            <a:r>
              <a:rPr lang="ar-AE" altLang="ar-AE" sz="3600" b="1">
                <a:solidFill>
                  <a:srgbClr val="C00000"/>
                </a:solidFill>
              </a:rPr>
              <a:t> </a:t>
            </a:r>
            <a:r>
              <a:rPr lang="ar-AE" altLang="ar-AE" sz="3600" b="1"/>
              <a:t>يطلق</a:t>
            </a:r>
            <a:r>
              <a:rPr lang="ar-SA" altLang="ar-AE" sz="3600" b="1"/>
              <a:t> </a:t>
            </a:r>
            <a:r>
              <a:rPr lang="ar-AE" altLang="ar-AE" sz="3600" b="1"/>
              <a:t>علي العلاقة </a:t>
            </a:r>
            <a:r>
              <a:rPr lang="ar-SA" altLang="ar-AE" sz="3600" b="1"/>
              <a:t>بين </a:t>
            </a:r>
            <a:r>
              <a:rPr lang="ar-AE" altLang="ar-AE" sz="3600" b="1"/>
              <a:t>اثنين أو اكثر من الكائنات الحية التي تعيش معاَ و تستفيد كل منها من الاخري</a:t>
            </a:r>
            <a:r>
              <a:rPr lang="ar-SA" altLang="ar-AE" sz="3600" b="1"/>
              <a:t>.</a:t>
            </a:r>
            <a:endParaRPr lang="en-US" altLang="ar-AE" sz="3600" b="1"/>
          </a:p>
        </p:txBody>
      </p:sp>
      <p:sp>
        <p:nvSpPr>
          <p:cNvPr id="16391" name="Text Box 7">
            <a:extLst>
              <a:ext uri="{FF2B5EF4-FFF2-40B4-BE49-F238E27FC236}">
                <a16:creationId xmlns:a16="http://schemas.microsoft.com/office/drawing/2014/main" id="{204E0F81-31EB-45DC-8D68-14E2E4FE03E1}"/>
              </a:ext>
            </a:extLst>
          </p:cNvPr>
          <p:cNvSpPr txBox="1">
            <a:spLocks noChangeArrowheads="1"/>
          </p:cNvSpPr>
          <p:nvPr/>
        </p:nvSpPr>
        <p:spPr bwMode="auto">
          <a:xfrm>
            <a:off x="1992313" y="1844676"/>
            <a:ext cx="4391025" cy="1878013"/>
          </a:xfrm>
          <a:prstGeom prst="rect">
            <a:avLst/>
          </a:prstGeom>
          <a:solidFill>
            <a:srgbClr val="FFCC66"/>
          </a:solidFill>
          <a:ln w="9525">
            <a:solidFill>
              <a:schemeClr val="tx1"/>
            </a:solidFill>
            <a:miter lim="800000"/>
            <a:headEnd/>
            <a:tailEnd/>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ar-SA" altLang="ar-AE" sz="4400" b="1" u="sng" dirty="0">
                <a:solidFill>
                  <a:srgbClr val="C00000"/>
                </a:solidFill>
                <a:cs typeface="Monotype Koufi" pitchFamily="2" charset="-78"/>
              </a:rPr>
              <a:t>أمثلة :</a:t>
            </a:r>
            <a:r>
              <a:rPr lang="ar-SA" altLang="ar-AE" sz="3600" b="1" dirty="0">
                <a:solidFill>
                  <a:srgbClr val="C00000"/>
                </a:solidFill>
              </a:rPr>
              <a:t> </a:t>
            </a:r>
            <a:r>
              <a:rPr lang="ar-AE" altLang="ar-AE" sz="3600" b="1" dirty="0"/>
              <a:t>علاقة تبادل المنفعة بين الفطريات و الطحالب التي تعرف </a:t>
            </a:r>
            <a:r>
              <a:rPr lang="ar-AE" altLang="ar-AE" sz="3600" b="1" dirty="0" err="1"/>
              <a:t>بالاشنات</a:t>
            </a:r>
            <a:r>
              <a:rPr lang="ar-SA" altLang="ar-AE" sz="3600" b="1" dirty="0"/>
              <a:t>.</a:t>
            </a:r>
            <a:endParaRPr lang="en-US" altLang="ar-AE" sz="3600" b="1" dirty="0"/>
          </a:p>
        </p:txBody>
      </p:sp>
      <p:pic>
        <p:nvPicPr>
          <p:cNvPr id="37890" name="Picture 2">
            <a:extLst>
              <a:ext uri="{FF2B5EF4-FFF2-40B4-BE49-F238E27FC236}">
                <a16:creationId xmlns:a16="http://schemas.microsoft.com/office/drawing/2014/main" id="{6CC99FB2-1FFA-4FF8-BEEF-1BFB694A24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8463" y="4354514"/>
            <a:ext cx="2366962" cy="25034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891" name="Picture 3">
            <a:extLst>
              <a:ext uri="{FF2B5EF4-FFF2-40B4-BE49-F238E27FC236}">
                <a16:creationId xmlns:a16="http://schemas.microsoft.com/office/drawing/2014/main" id="{C5B5FC2B-08CE-441C-9B5A-85FB3B45A1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4354514"/>
            <a:ext cx="2852738" cy="25034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16389"/>
                                        </p:tgtEl>
                                        <p:attrNameLst>
                                          <p:attrName>style.visibility</p:attrName>
                                        </p:attrNameLst>
                                      </p:cBhvr>
                                      <p:to>
                                        <p:strVal val="visible"/>
                                      </p:to>
                                    </p:set>
                                    <p:anim calcmode="lin" valueType="num">
                                      <p:cBhvr>
                                        <p:cTn id="7" dur="500" fill="hold"/>
                                        <p:tgtEl>
                                          <p:spTgt spid="16389"/>
                                        </p:tgtEl>
                                        <p:attrNameLst>
                                          <p:attrName>ppt_w</p:attrName>
                                        </p:attrNameLst>
                                      </p:cBhvr>
                                      <p:tavLst>
                                        <p:tav tm="0">
                                          <p:val>
                                            <p:fltVal val="0"/>
                                          </p:val>
                                        </p:tav>
                                        <p:tav tm="100000">
                                          <p:val>
                                            <p:strVal val="#ppt_w"/>
                                          </p:val>
                                        </p:tav>
                                      </p:tavLst>
                                    </p:anim>
                                    <p:anim calcmode="lin" valueType="num">
                                      <p:cBhvr>
                                        <p:cTn id="8" dur="500" fill="hold"/>
                                        <p:tgtEl>
                                          <p:spTgt spid="16389"/>
                                        </p:tgtEl>
                                        <p:attrNameLst>
                                          <p:attrName>ppt_h</p:attrName>
                                        </p:attrNameLst>
                                      </p:cBhvr>
                                      <p:tavLst>
                                        <p:tav tm="0">
                                          <p:val>
                                            <p:fltVal val="0"/>
                                          </p:val>
                                        </p:tav>
                                        <p:tav tm="100000">
                                          <p:val>
                                            <p:strVal val="#ppt_h"/>
                                          </p:val>
                                        </p:tav>
                                      </p:tavLst>
                                    </p:anim>
                                    <p:anim calcmode="lin" valueType="num">
                                      <p:cBhvr>
                                        <p:cTn id="9" dur="500" fill="hold"/>
                                        <p:tgtEl>
                                          <p:spTgt spid="16389"/>
                                        </p:tgtEl>
                                        <p:attrNameLst>
                                          <p:attrName>style.rotation</p:attrName>
                                        </p:attrNameLst>
                                      </p:cBhvr>
                                      <p:tavLst>
                                        <p:tav tm="0">
                                          <p:val>
                                            <p:fltVal val="360"/>
                                          </p:val>
                                        </p:tav>
                                        <p:tav tm="100000">
                                          <p:val>
                                            <p:fltVal val="0"/>
                                          </p:val>
                                        </p:tav>
                                      </p:tavLst>
                                    </p:anim>
                                    <p:animEffect transition="in" filter="fade">
                                      <p:cBhvr>
                                        <p:cTn id="10" dur="500"/>
                                        <p:tgtEl>
                                          <p:spTgt spid="1638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16390"/>
                                        </p:tgtEl>
                                        <p:attrNameLst>
                                          <p:attrName>style.visibility</p:attrName>
                                        </p:attrNameLst>
                                      </p:cBhvr>
                                      <p:to>
                                        <p:strVal val="visible"/>
                                      </p:to>
                                    </p:set>
                                    <p:anim calcmode="lin" valueType="num">
                                      <p:cBhvr>
                                        <p:cTn id="15" dur="1000" fill="hold"/>
                                        <p:tgtEl>
                                          <p:spTgt spid="16390"/>
                                        </p:tgtEl>
                                        <p:attrNameLst>
                                          <p:attrName>ppt_w</p:attrName>
                                        </p:attrNameLst>
                                      </p:cBhvr>
                                      <p:tavLst>
                                        <p:tav tm="0">
                                          <p:val>
                                            <p:fltVal val="0"/>
                                          </p:val>
                                        </p:tav>
                                        <p:tav tm="100000">
                                          <p:val>
                                            <p:strVal val="#ppt_w"/>
                                          </p:val>
                                        </p:tav>
                                      </p:tavLst>
                                    </p:anim>
                                    <p:anim calcmode="lin" valueType="num">
                                      <p:cBhvr>
                                        <p:cTn id="16" dur="1000" fill="hold"/>
                                        <p:tgtEl>
                                          <p:spTgt spid="16390"/>
                                        </p:tgtEl>
                                        <p:attrNameLst>
                                          <p:attrName>ppt_h</p:attrName>
                                        </p:attrNameLst>
                                      </p:cBhvr>
                                      <p:tavLst>
                                        <p:tav tm="0">
                                          <p:val>
                                            <p:fltVal val="0"/>
                                          </p:val>
                                        </p:tav>
                                        <p:tav tm="100000">
                                          <p:val>
                                            <p:strVal val="#ppt_h"/>
                                          </p:val>
                                        </p:tav>
                                      </p:tavLst>
                                    </p:anim>
                                    <p:anim calcmode="lin" valueType="num">
                                      <p:cBhvr>
                                        <p:cTn id="17" dur="1000" fill="hold"/>
                                        <p:tgtEl>
                                          <p:spTgt spid="16390"/>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1639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6" presetClass="entr" presetSubtype="0" fill="hold" grpId="0" nodeType="clickEffect">
                                  <p:stCondLst>
                                    <p:cond delay="0"/>
                                  </p:stCondLst>
                                  <p:childTnLst>
                                    <p:set>
                                      <p:cBhvr>
                                        <p:cTn id="22" dur="1" fill="hold">
                                          <p:stCondLst>
                                            <p:cond delay="0"/>
                                          </p:stCondLst>
                                        </p:cTn>
                                        <p:tgtEl>
                                          <p:spTgt spid="16391"/>
                                        </p:tgtEl>
                                        <p:attrNameLst>
                                          <p:attrName>style.visibility</p:attrName>
                                        </p:attrNameLst>
                                      </p:cBhvr>
                                      <p:to>
                                        <p:strVal val="visible"/>
                                      </p:to>
                                    </p:set>
                                    <p:animEffect transition="in" filter="wipe(down)">
                                      <p:cBhvr>
                                        <p:cTn id="23" dur="580">
                                          <p:stCondLst>
                                            <p:cond delay="0"/>
                                          </p:stCondLst>
                                        </p:cTn>
                                        <p:tgtEl>
                                          <p:spTgt spid="16391"/>
                                        </p:tgtEl>
                                      </p:cBhvr>
                                    </p:animEffect>
                                    <p:anim calcmode="lin" valueType="num">
                                      <p:cBhvr>
                                        <p:cTn id="24" dur="1822" tmFilter="0,0; 0.14,0.36; 0.43,0.73; 0.71,0.91; 1.0,1.0">
                                          <p:stCondLst>
                                            <p:cond delay="0"/>
                                          </p:stCondLst>
                                        </p:cTn>
                                        <p:tgtEl>
                                          <p:spTgt spid="16391"/>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16391"/>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16391"/>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16391"/>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16391"/>
                                        </p:tgtEl>
                                        <p:attrNameLst>
                                          <p:attrName>ppt_y</p:attrName>
                                        </p:attrNameLst>
                                      </p:cBhvr>
                                      <p:tavLst>
                                        <p:tav tm="0" fmla="#ppt_y-sin(pi*$)/81">
                                          <p:val>
                                            <p:fltVal val="0"/>
                                          </p:val>
                                        </p:tav>
                                        <p:tav tm="100000">
                                          <p:val>
                                            <p:fltVal val="1"/>
                                          </p:val>
                                        </p:tav>
                                      </p:tavLst>
                                    </p:anim>
                                    <p:animScale>
                                      <p:cBhvr>
                                        <p:cTn id="29" dur="26">
                                          <p:stCondLst>
                                            <p:cond delay="650"/>
                                          </p:stCondLst>
                                        </p:cTn>
                                        <p:tgtEl>
                                          <p:spTgt spid="16391"/>
                                        </p:tgtEl>
                                      </p:cBhvr>
                                      <p:to x="100000" y="60000"/>
                                    </p:animScale>
                                    <p:animScale>
                                      <p:cBhvr>
                                        <p:cTn id="30" dur="166" decel="50000">
                                          <p:stCondLst>
                                            <p:cond delay="676"/>
                                          </p:stCondLst>
                                        </p:cTn>
                                        <p:tgtEl>
                                          <p:spTgt spid="16391"/>
                                        </p:tgtEl>
                                      </p:cBhvr>
                                      <p:to x="100000" y="100000"/>
                                    </p:animScale>
                                    <p:animScale>
                                      <p:cBhvr>
                                        <p:cTn id="31" dur="26">
                                          <p:stCondLst>
                                            <p:cond delay="1312"/>
                                          </p:stCondLst>
                                        </p:cTn>
                                        <p:tgtEl>
                                          <p:spTgt spid="16391"/>
                                        </p:tgtEl>
                                      </p:cBhvr>
                                      <p:to x="100000" y="80000"/>
                                    </p:animScale>
                                    <p:animScale>
                                      <p:cBhvr>
                                        <p:cTn id="32" dur="166" decel="50000">
                                          <p:stCondLst>
                                            <p:cond delay="1338"/>
                                          </p:stCondLst>
                                        </p:cTn>
                                        <p:tgtEl>
                                          <p:spTgt spid="16391"/>
                                        </p:tgtEl>
                                      </p:cBhvr>
                                      <p:to x="100000" y="100000"/>
                                    </p:animScale>
                                    <p:animScale>
                                      <p:cBhvr>
                                        <p:cTn id="33" dur="26">
                                          <p:stCondLst>
                                            <p:cond delay="1642"/>
                                          </p:stCondLst>
                                        </p:cTn>
                                        <p:tgtEl>
                                          <p:spTgt spid="16391"/>
                                        </p:tgtEl>
                                      </p:cBhvr>
                                      <p:to x="100000" y="90000"/>
                                    </p:animScale>
                                    <p:animScale>
                                      <p:cBhvr>
                                        <p:cTn id="34" dur="166" decel="50000">
                                          <p:stCondLst>
                                            <p:cond delay="1668"/>
                                          </p:stCondLst>
                                        </p:cTn>
                                        <p:tgtEl>
                                          <p:spTgt spid="16391"/>
                                        </p:tgtEl>
                                      </p:cBhvr>
                                      <p:to x="100000" y="100000"/>
                                    </p:animScale>
                                    <p:animScale>
                                      <p:cBhvr>
                                        <p:cTn id="35" dur="26">
                                          <p:stCondLst>
                                            <p:cond delay="1808"/>
                                          </p:stCondLst>
                                        </p:cTn>
                                        <p:tgtEl>
                                          <p:spTgt spid="16391"/>
                                        </p:tgtEl>
                                      </p:cBhvr>
                                      <p:to x="100000" y="95000"/>
                                    </p:animScale>
                                    <p:animScale>
                                      <p:cBhvr>
                                        <p:cTn id="36" dur="166" decel="50000">
                                          <p:stCondLst>
                                            <p:cond delay="1834"/>
                                          </p:stCondLst>
                                        </p:cTn>
                                        <p:tgtEl>
                                          <p:spTgt spid="16391"/>
                                        </p:tgtEl>
                                      </p:cBhvr>
                                      <p:to x="100000" y="100000"/>
                                    </p:animScale>
                                  </p:childTnLst>
                                </p:cTn>
                              </p:par>
                            </p:childTnLst>
                          </p:cTn>
                        </p:par>
                      </p:childTnLst>
                    </p:cTn>
                  </p:par>
                  <p:par>
                    <p:cTn id="37" fill="hold" nodeType="clickPar">
                      <p:stCondLst>
                        <p:cond delay="indefinite"/>
                      </p:stCondLst>
                      <p:childTnLst>
                        <p:par>
                          <p:cTn id="38" fill="hold" nodeType="withGroup">
                            <p:stCondLst>
                              <p:cond delay="0"/>
                            </p:stCondLst>
                            <p:childTnLst>
                              <p:par>
                                <p:cTn id="39" presetID="10" presetClass="entr" presetSubtype="0" fill="hold" nodeType="clickEffect">
                                  <p:stCondLst>
                                    <p:cond delay="0"/>
                                  </p:stCondLst>
                                  <p:childTnLst>
                                    <p:set>
                                      <p:cBhvr>
                                        <p:cTn id="40" dur="1" fill="hold">
                                          <p:stCondLst>
                                            <p:cond delay="0"/>
                                          </p:stCondLst>
                                        </p:cTn>
                                        <p:tgtEl>
                                          <p:spTgt spid="37890"/>
                                        </p:tgtEl>
                                        <p:attrNameLst>
                                          <p:attrName>style.visibility</p:attrName>
                                        </p:attrNameLst>
                                      </p:cBhvr>
                                      <p:to>
                                        <p:strVal val="visible"/>
                                      </p:to>
                                    </p:set>
                                    <p:animEffect transition="in" filter="fade">
                                      <p:cBhvr>
                                        <p:cTn id="41" dur="500"/>
                                        <p:tgtEl>
                                          <p:spTgt spid="37890"/>
                                        </p:tgtEl>
                                      </p:cBhvr>
                                    </p:animEffect>
                                  </p:childTnLst>
                                </p:cTn>
                              </p:par>
                              <p:par>
                                <p:cTn id="42" presetID="10" presetClass="entr" presetSubtype="0" fill="hold" nodeType="withEffect">
                                  <p:stCondLst>
                                    <p:cond delay="0"/>
                                  </p:stCondLst>
                                  <p:childTnLst>
                                    <p:set>
                                      <p:cBhvr>
                                        <p:cTn id="43" dur="1" fill="hold">
                                          <p:stCondLst>
                                            <p:cond delay="0"/>
                                          </p:stCondLst>
                                        </p:cTn>
                                        <p:tgtEl>
                                          <p:spTgt spid="37891"/>
                                        </p:tgtEl>
                                        <p:attrNameLst>
                                          <p:attrName>style.visibility</p:attrName>
                                        </p:attrNameLst>
                                      </p:cBhvr>
                                      <p:to>
                                        <p:strVal val="visible"/>
                                      </p:to>
                                    </p:set>
                                    <p:animEffect transition="in" filter="fade">
                                      <p:cBhvr>
                                        <p:cTn id="44" dur="500"/>
                                        <p:tgtEl>
                                          <p:spTgt spid="37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animBg="1"/>
      <p:bldP spid="16390" grpId="0" animBg="1"/>
      <p:bldP spid="1639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5" descr="3-way-mutualismTN">
            <a:extLst>
              <a:ext uri="{FF2B5EF4-FFF2-40B4-BE49-F238E27FC236}">
                <a16:creationId xmlns:a16="http://schemas.microsoft.com/office/drawing/2014/main" id="{F3B62814-8C98-4600-AB04-5B20F3D0B1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0"/>
            <a:ext cx="4456113"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1" name="Picture 7" descr="bee_flower">
            <a:extLst>
              <a:ext uri="{FF2B5EF4-FFF2-40B4-BE49-F238E27FC236}">
                <a16:creationId xmlns:a16="http://schemas.microsoft.com/office/drawing/2014/main" id="{1D89797C-FA70-4B2D-AA41-7DF4C040A5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3630614"/>
            <a:ext cx="4267200" cy="322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2" name="Picture 9" descr="skipper">
            <a:extLst>
              <a:ext uri="{FF2B5EF4-FFF2-40B4-BE49-F238E27FC236}">
                <a16:creationId xmlns:a16="http://schemas.microsoft.com/office/drawing/2014/main" id="{098320C9-6219-4A5C-8FBB-3B7FFA540A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0"/>
            <a:ext cx="41910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WordArt 10">
            <a:extLst>
              <a:ext uri="{FF2B5EF4-FFF2-40B4-BE49-F238E27FC236}">
                <a16:creationId xmlns:a16="http://schemas.microsoft.com/office/drawing/2014/main" id="{372FF94B-6DBC-49B4-910D-33F64B65AF30}"/>
              </a:ext>
            </a:extLst>
          </p:cNvPr>
          <p:cNvSpPr>
            <a:spLocks noChangeArrowheads="1" noChangeShapeType="1" noTextEdit="1"/>
          </p:cNvSpPr>
          <p:nvPr/>
        </p:nvSpPr>
        <p:spPr bwMode="auto">
          <a:xfrm>
            <a:off x="1828800" y="4114800"/>
            <a:ext cx="4267200" cy="1676400"/>
          </a:xfrm>
          <a:prstGeom prst="rect">
            <a:avLst/>
          </a:prstGeom>
        </p:spPr>
        <p:txBody>
          <a:bodyPr wrap="none" fromWordArt="1">
            <a:prstTxWarp prst="textPlain">
              <a:avLst>
                <a:gd name="adj" fmla="val 50000"/>
              </a:avLst>
            </a:prstTxWarp>
          </a:bodyPr>
          <a:lstStyle/>
          <a:p>
            <a:pPr algn="ctr"/>
            <a:r>
              <a:rPr lang="ar-AE" sz="3600" kern="10">
                <a:ln w="9525">
                  <a:solidFill>
                    <a:srgbClr val="000000"/>
                  </a:solidFill>
                  <a:round/>
                  <a:headEnd/>
                  <a:tailEnd/>
                </a:ln>
                <a:gradFill rotWithShape="1">
                  <a:gsLst>
                    <a:gs pos="0">
                      <a:srgbClr val="DCEBF5"/>
                    </a:gs>
                    <a:gs pos="8000">
                      <a:srgbClr val="83A7C3"/>
                    </a:gs>
                    <a:gs pos="13000">
                      <a:srgbClr val="768FB9"/>
                    </a:gs>
                    <a:gs pos="21001">
                      <a:srgbClr val="83A7C3"/>
                    </a:gs>
                    <a:gs pos="52000">
                      <a:srgbClr val="FFFFFF"/>
                    </a:gs>
                    <a:gs pos="56000">
                      <a:srgbClr val="9C6563"/>
                    </a:gs>
                    <a:gs pos="58000">
                      <a:srgbClr val="80302D"/>
                    </a:gs>
                    <a:gs pos="71001">
                      <a:srgbClr val="C0524E"/>
                    </a:gs>
                    <a:gs pos="94000">
                      <a:srgbClr val="EBDAD4"/>
                    </a:gs>
                    <a:gs pos="100000">
                      <a:srgbClr val="55261C"/>
                    </a:gs>
                  </a:gsLst>
                  <a:lin ang="5400000" scaled="1"/>
                </a:gradFill>
                <a:effectLst>
                  <a:outerShdw sy="50000" kx="2453608" rotWithShape="0">
                    <a:srgbClr val="868686">
                      <a:alpha val="50000"/>
                    </a:srgbClr>
                  </a:outerShdw>
                </a:effectLst>
              </a:rPr>
              <a:t>تبادل المنفعة</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AutoShape 4">
            <a:extLst>
              <a:ext uri="{FF2B5EF4-FFF2-40B4-BE49-F238E27FC236}">
                <a16:creationId xmlns:a16="http://schemas.microsoft.com/office/drawing/2014/main" id="{07032A07-8654-4E5A-B7C8-45DBF5C4D0D2}"/>
              </a:ext>
            </a:extLst>
          </p:cNvPr>
          <p:cNvSpPr>
            <a:spLocks noChangeArrowheads="1"/>
          </p:cNvSpPr>
          <p:nvPr/>
        </p:nvSpPr>
        <p:spPr bwMode="auto">
          <a:xfrm>
            <a:off x="1529114" y="3254657"/>
            <a:ext cx="8928992" cy="1764109"/>
          </a:xfrm>
          <a:prstGeom prst="verticalScroll">
            <a:avLst>
              <a:gd name="adj" fmla="val 11778"/>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914400" rtl="1" eaLnBrk="1" fontAlgn="base" hangingPunct="1">
              <a:spcBef>
                <a:spcPct val="0"/>
              </a:spcBef>
              <a:spcAft>
                <a:spcPct val="0"/>
              </a:spcAft>
            </a:pPr>
            <a:r>
              <a:rPr lang="ar-SA" altLang="ar-AE" sz="2400" b="1" u="sng" dirty="0">
                <a:solidFill>
                  <a:srgbClr val="C00000"/>
                </a:solidFill>
                <a:cs typeface="Bold Italic Art" panose="02010400000000000000" pitchFamily="2" charset="-78"/>
              </a:rPr>
              <a:t>أمثلة :</a:t>
            </a:r>
          </a:p>
          <a:p>
            <a:pPr algn="r" defTabSz="914400" rtl="1" eaLnBrk="1" fontAlgn="base" hangingPunct="1">
              <a:spcBef>
                <a:spcPct val="0"/>
              </a:spcBef>
              <a:spcAft>
                <a:spcPct val="0"/>
              </a:spcAft>
            </a:pPr>
            <a:r>
              <a:rPr lang="ar-SA" altLang="ar-AE" sz="2400" b="1" dirty="0">
                <a:solidFill>
                  <a:srgbClr val="000000"/>
                </a:solidFill>
              </a:rPr>
              <a:t> يقتات طائر </a:t>
            </a:r>
            <a:r>
              <a:rPr lang="ar-SA" altLang="ar-AE" sz="2400" b="1" dirty="0" err="1">
                <a:solidFill>
                  <a:srgbClr val="000000"/>
                </a:solidFill>
              </a:rPr>
              <a:t>البلشون</a:t>
            </a:r>
            <a:r>
              <a:rPr lang="ar-SA" altLang="ar-AE" sz="2400" b="1" dirty="0">
                <a:solidFill>
                  <a:srgbClr val="000000"/>
                </a:solidFill>
              </a:rPr>
              <a:t> الأبيض بالحيوانات الصغيرة كالحشرات و السحالي التي يرغمها </a:t>
            </a:r>
          </a:p>
          <a:p>
            <a:pPr algn="r" defTabSz="914400" rtl="1" eaLnBrk="1" fontAlgn="base" hangingPunct="1">
              <a:spcBef>
                <a:spcPct val="0"/>
              </a:spcBef>
              <a:spcAft>
                <a:spcPct val="0"/>
              </a:spcAft>
            </a:pPr>
            <a:r>
              <a:rPr lang="ar-SA" altLang="ar-AE" sz="2400" b="1" dirty="0">
                <a:solidFill>
                  <a:srgbClr val="000000"/>
                </a:solidFill>
              </a:rPr>
              <a:t>تحرك جاموس الكاب بين الأعشاب على الخروج من مخابئها .</a:t>
            </a:r>
            <a:endParaRPr lang="en-US" altLang="ar-AE" sz="2400" b="1" dirty="0">
              <a:solidFill>
                <a:srgbClr val="000000"/>
              </a:solidFill>
            </a:endParaRPr>
          </a:p>
        </p:txBody>
      </p:sp>
      <p:sp>
        <p:nvSpPr>
          <p:cNvPr id="2" name="مستطيل: زوايا مستديرة 1">
            <a:extLst>
              <a:ext uri="{FF2B5EF4-FFF2-40B4-BE49-F238E27FC236}">
                <a16:creationId xmlns:a16="http://schemas.microsoft.com/office/drawing/2014/main" id="{1B63E699-89AD-411A-B8C6-20EA7F1C10BE}"/>
              </a:ext>
            </a:extLst>
          </p:cNvPr>
          <p:cNvSpPr/>
          <p:nvPr/>
        </p:nvSpPr>
        <p:spPr>
          <a:xfrm>
            <a:off x="2207568" y="1772817"/>
            <a:ext cx="7920880" cy="109549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defTabSz="914400" rtl="1" fontAlgn="base">
              <a:spcBef>
                <a:spcPct val="0"/>
              </a:spcBef>
              <a:spcAft>
                <a:spcPct val="0"/>
              </a:spcAft>
            </a:pPr>
            <a:r>
              <a:rPr lang="ar-SA" altLang="ar-AE" sz="2400" b="1" dirty="0">
                <a:solidFill>
                  <a:srgbClr val="2D2DB9"/>
                </a:solidFill>
                <a:latin typeface="Times New Roman"/>
                <a:cs typeface="Arial"/>
              </a:rPr>
              <a:t>تفاعل ينتفع  به نوع من  الكائنات الحية بينما لا يتأذى الطرف الآخر.</a:t>
            </a:r>
            <a:endParaRPr lang="en-US" altLang="ar-AE" sz="2400" b="1" dirty="0">
              <a:solidFill>
                <a:srgbClr val="2D2DB9"/>
              </a:solidFill>
              <a:latin typeface="Times New Roman"/>
              <a:cs typeface="Arial"/>
            </a:endParaRPr>
          </a:p>
        </p:txBody>
      </p:sp>
      <p:sp>
        <p:nvSpPr>
          <p:cNvPr id="5" name="WordArt 7">
            <a:extLst>
              <a:ext uri="{FF2B5EF4-FFF2-40B4-BE49-F238E27FC236}">
                <a16:creationId xmlns:a16="http://schemas.microsoft.com/office/drawing/2014/main" id="{BBDE70B8-0661-4261-AE28-03CA9766D655}"/>
              </a:ext>
            </a:extLst>
          </p:cNvPr>
          <p:cNvSpPr>
            <a:spLocks noChangeArrowheads="1" noChangeShapeType="1" noTextEdit="1"/>
          </p:cNvSpPr>
          <p:nvPr/>
        </p:nvSpPr>
        <p:spPr bwMode="auto">
          <a:xfrm>
            <a:off x="4367808" y="458181"/>
            <a:ext cx="4392488" cy="896784"/>
          </a:xfrm>
          <a:prstGeom prst="rect">
            <a:avLst/>
          </a:prstGeom>
          <a:solidFill>
            <a:schemeClr val="bg1"/>
          </a:solidFill>
        </p:spPr>
        <p:txBody>
          <a:bodyPr wrap="none" fromWordArt="1">
            <a:prstTxWarp prst="textPlain">
              <a:avLst>
                <a:gd name="adj" fmla="val 50000"/>
              </a:avLst>
            </a:prstTxWarp>
          </a:bodyPr>
          <a:lstStyle/>
          <a:p>
            <a:pPr algn="ctr" defTabSz="914400" rtl="1" fontAlgn="base">
              <a:spcBef>
                <a:spcPct val="0"/>
              </a:spcBef>
              <a:spcAft>
                <a:spcPct val="0"/>
              </a:spcAft>
            </a:pPr>
            <a:r>
              <a:rPr lang="ar-AE" sz="2000" kern="10" dirty="0">
                <a:ln w="12700">
                  <a:solidFill>
                    <a:srgbClr val="3333CC"/>
                  </a:solidFill>
                  <a:round/>
                  <a:headEnd/>
                  <a:tailEnd/>
                </a:ln>
                <a:solidFill>
                  <a:srgbClr val="2D2DB9">
                    <a:alpha val="50195"/>
                  </a:srgbClr>
                </a:solidFill>
                <a:effectLst>
                  <a:outerShdw dist="45791" dir="2021404" algn="ctr" rotWithShape="0">
                    <a:srgbClr val="9999FF"/>
                  </a:outerShdw>
                </a:effectLst>
                <a:latin typeface="Times New Roman" pitchFamily="18" charset="0"/>
                <a:cs typeface="Arial" pitchFamily="34" charset="0"/>
              </a:rPr>
              <a:t>التعايش</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18436"/>
                                        </p:tgtEl>
                                        <p:attrNameLst>
                                          <p:attrName>style.visibility</p:attrName>
                                        </p:attrNameLst>
                                      </p:cBhvr>
                                      <p:to>
                                        <p:strVal val="visible"/>
                                      </p:to>
                                    </p:set>
                                    <p:animEffect transition="in" filter="fade">
                                      <p:cBhvr>
                                        <p:cTn id="7" dur="2000"/>
                                        <p:tgtEl>
                                          <p:spTgt spid="18436"/>
                                        </p:tgtEl>
                                      </p:cBhvr>
                                    </p:animEffect>
                                    <p:anim calcmode="lin" valueType="num">
                                      <p:cBhvr>
                                        <p:cTn id="8" dur="2000" fill="hold"/>
                                        <p:tgtEl>
                                          <p:spTgt spid="18436"/>
                                        </p:tgtEl>
                                        <p:attrNameLst>
                                          <p:attrName>style.rotation</p:attrName>
                                        </p:attrNameLst>
                                      </p:cBhvr>
                                      <p:tavLst>
                                        <p:tav tm="0">
                                          <p:val>
                                            <p:fltVal val="720"/>
                                          </p:val>
                                        </p:tav>
                                        <p:tav tm="100000">
                                          <p:val>
                                            <p:fltVal val="0"/>
                                          </p:val>
                                        </p:tav>
                                      </p:tavLst>
                                    </p:anim>
                                    <p:anim calcmode="lin" valueType="num">
                                      <p:cBhvr>
                                        <p:cTn id="9" dur="2000" fill="hold"/>
                                        <p:tgtEl>
                                          <p:spTgt spid="18436"/>
                                        </p:tgtEl>
                                        <p:attrNameLst>
                                          <p:attrName>ppt_h</p:attrName>
                                        </p:attrNameLst>
                                      </p:cBhvr>
                                      <p:tavLst>
                                        <p:tav tm="0">
                                          <p:val>
                                            <p:fltVal val="0"/>
                                          </p:val>
                                        </p:tav>
                                        <p:tav tm="100000">
                                          <p:val>
                                            <p:strVal val="#ppt_h"/>
                                          </p:val>
                                        </p:tav>
                                      </p:tavLst>
                                    </p:anim>
                                    <p:anim calcmode="lin" valueType="num">
                                      <p:cBhvr>
                                        <p:cTn id="10" dur="2000" fill="hold"/>
                                        <p:tgtEl>
                                          <p:spTgt spid="18436"/>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5" descr="1197754468clip_3_%28custom%29">
            <a:extLst>
              <a:ext uri="{FF2B5EF4-FFF2-40B4-BE49-F238E27FC236}">
                <a16:creationId xmlns:a16="http://schemas.microsoft.com/office/drawing/2014/main" id="{FA11045B-F342-4868-AF7B-0513ACA609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457201"/>
            <a:ext cx="6781800" cy="449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WordArt 6">
            <a:extLst>
              <a:ext uri="{FF2B5EF4-FFF2-40B4-BE49-F238E27FC236}">
                <a16:creationId xmlns:a16="http://schemas.microsoft.com/office/drawing/2014/main" id="{7C24D12A-D922-493C-BD8F-31DFA4BCFF3A}"/>
              </a:ext>
            </a:extLst>
          </p:cNvPr>
          <p:cNvSpPr>
            <a:spLocks noChangeArrowheads="1" noChangeShapeType="1" noTextEdit="1"/>
          </p:cNvSpPr>
          <p:nvPr/>
        </p:nvSpPr>
        <p:spPr bwMode="auto">
          <a:xfrm>
            <a:off x="1676400" y="5410200"/>
            <a:ext cx="8839200" cy="1143000"/>
          </a:xfrm>
          <a:prstGeom prst="rect">
            <a:avLst/>
          </a:prstGeom>
          <a:solidFill>
            <a:schemeClr val="bg1"/>
          </a:solidFill>
        </p:spPr>
        <p:txBody>
          <a:bodyPr wrap="none" fromWordArt="1">
            <a:prstTxWarp prst="textPlain">
              <a:avLst>
                <a:gd name="adj" fmla="val 50000"/>
              </a:avLst>
            </a:prstTxWarp>
          </a:bodyPr>
          <a:lstStyle/>
          <a:p>
            <a:pPr algn="ctr" defTabSz="914400" rtl="1" fontAlgn="base">
              <a:spcBef>
                <a:spcPct val="0"/>
              </a:spcBef>
              <a:spcAft>
                <a:spcPct val="0"/>
              </a:spcAft>
            </a:pPr>
            <a:r>
              <a:rPr lang="ar-AE" sz="3600" kern="10" dirty="0">
                <a:ln w="19050">
                  <a:solidFill>
                    <a:srgbClr val="99CCFF"/>
                  </a:solidFill>
                  <a:round/>
                  <a:headEnd/>
                  <a:tailEnd/>
                </a:ln>
                <a:solidFill>
                  <a:srgbClr val="0066CC"/>
                </a:solidFill>
                <a:effectLst>
                  <a:outerShdw dist="35921" dir="2700000" algn="ctr" rotWithShape="0">
                    <a:srgbClr val="990000"/>
                  </a:outerShdw>
                </a:effectLst>
                <a:latin typeface="Times New Roman" pitchFamily="18" charset="0"/>
                <a:cs typeface="Arial" pitchFamily="34" charset="0"/>
              </a:rPr>
              <a:t>تتغذي الاسماك على ما يعلق على ظهر السلحفاة</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3" name="Text Box 5">
            <a:extLst>
              <a:ext uri="{FF2B5EF4-FFF2-40B4-BE49-F238E27FC236}">
                <a16:creationId xmlns:a16="http://schemas.microsoft.com/office/drawing/2014/main" id="{D14A5CA8-35C5-4F84-9C33-8B64386B5221}"/>
              </a:ext>
            </a:extLst>
          </p:cNvPr>
          <p:cNvSpPr txBox="1">
            <a:spLocks noChangeArrowheads="1"/>
          </p:cNvSpPr>
          <p:nvPr/>
        </p:nvSpPr>
        <p:spPr bwMode="auto">
          <a:xfrm>
            <a:off x="2423592" y="2852937"/>
            <a:ext cx="7567736" cy="2092881"/>
          </a:xfrm>
          <a:prstGeom prst="rect">
            <a:avLst/>
          </a:prstGeom>
          <a:solidFill>
            <a:schemeClr val="bg1"/>
          </a:solidFill>
          <a:ln w="9525">
            <a:solidFill>
              <a:schemeClr val="tx1"/>
            </a:solidFill>
            <a:miter lim="800000"/>
            <a:headEnd/>
            <a:tailEnd/>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defTabSz="914400" rtl="1" eaLnBrk="1" fontAlgn="base" hangingPunct="1">
              <a:spcBef>
                <a:spcPct val="50000"/>
              </a:spcBef>
              <a:spcAft>
                <a:spcPct val="0"/>
              </a:spcAft>
            </a:pPr>
            <a:r>
              <a:rPr lang="ar-SA" altLang="ar-AE" sz="3200">
                <a:solidFill>
                  <a:srgbClr val="000000"/>
                </a:solidFill>
              </a:rPr>
              <a:t>_ تفاعل بين أنواع من الكائنات الحية يشبه الافتراس يتأذى به أحد الأفراد بينما يستفيد به الفرد الآخر .</a:t>
            </a:r>
          </a:p>
          <a:p>
            <a:pPr algn="r" defTabSz="914400" rtl="1" eaLnBrk="1" fontAlgn="base" hangingPunct="1">
              <a:spcBef>
                <a:spcPct val="50000"/>
              </a:spcBef>
              <a:spcAft>
                <a:spcPct val="0"/>
              </a:spcAft>
            </a:pPr>
            <a:r>
              <a:rPr lang="ar-SA" altLang="ar-AE" sz="3200">
                <a:solidFill>
                  <a:srgbClr val="000000"/>
                </a:solidFill>
              </a:rPr>
              <a:t>_ فيه </a:t>
            </a:r>
            <a:r>
              <a:rPr lang="ar-SA" altLang="ar-AE" sz="4400" u="sng">
                <a:solidFill>
                  <a:srgbClr val="000000"/>
                </a:solidFill>
                <a:cs typeface="Diwani Outline Shaded" panose="02010400000000000000" pitchFamily="2" charset="-78"/>
              </a:rPr>
              <a:t>الطفيلي</a:t>
            </a:r>
            <a:r>
              <a:rPr lang="ar-SA" altLang="ar-AE" sz="3200" u="sng">
                <a:solidFill>
                  <a:srgbClr val="000000"/>
                </a:solidFill>
              </a:rPr>
              <a:t> </a:t>
            </a:r>
            <a:r>
              <a:rPr lang="ar-SA" altLang="ar-AE" sz="3200">
                <a:solidFill>
                  <a:srgbClr val="000000"/>
                </a:solidFill>
              </a:rPr>
              <a:t>الذي يقتات بفرد آخر يعرف </a:t>
            </a:r>
            <a:r>
              <a:rPr lang="ar-SA" altLang="ar-AE" sz="4400" u="sng">
                <a:solidFill>
                  <a:srgbClr val="000000"/>
                </a:solidFill>
                <a:cs typeface="Diwani Outline Shaded" panose="02010400000000000000" pitchFamily="2" charset="-78"/>
              </a:rPr>
              <a:t>بالعائل .</a:t>
            </a:r>
            <a:endParaRPr lang="en-US" altLang="ar-AE" sz="4400" u="sng">
              <a:solidFill>
                <a:srgbClr val="000000"/>
              </a:solidFill>
              <a:cs typeface="Diwani Outline Shaded" panose="02010400000000000000" pitchFamily="2" charset="-78"/>
            </a:endParaRPr>
          </a:p>
        </p:txBody>
      </p:sp>
      <p:sp>
        <p:nvSpPr>
          <p:cNvPr id="27651" name="WordArt 6">
            <a:extLst>
              <a:ext uri="{FF2B5EF4-FFF2-40B4-BE49-F238E27FC236}">
                <a16:creationId xmlns:a16="http://schemas.microsoft.com/office/drawing/2014/main" id="{659BB934-9EA7-4D4B-9416-B6490D32B3F5}"/>
              </a:ext>
            </a:extLst>
          </p:cNvPr>
          <p:cNvSpPr>
            <a:spLocks noChangeArrowheads="1" noChangeShapeType="1" noTextEdit="1"/>
          </p:cNvSpPr>
          <p:nvPr/>
        </p:nvSpPr>
        <p:spPr bwMode="auto">
          <a:xfrm>
            <a:off x="4114800" y="228600"/>
            <a:ext cx="3886200" cy="2133600"/>
          </a:xfrm>
          <a:prstGeom prst="rect">
            <a:avLst/>
          </a:prstGeom>
        </p:spPr>
        <p:txBody>
          <a:bodyPr wrap="none" fromWordArt="1">
            <a:prstTxWarp prst="textPlain">
              <a:avLst>
                <a:gd name="adj" fmla="val 50000"/>
              </a:avLst>
            </a:prstTxWarp>
          </a:bodyPr>
          <a:lstStyle/>
          <a:p>
            <a:pPr algn="ctr" defTabSz="914400" rtl="1" fontAlgn="base">
              <a:spcBef>
                <a:spcPct val="0"/>
              </a:spcBef>
              <a:spcAft>
                <a:spcPct val="0"/>
              </a:spcAft>
            </a:pPr>
            <a:r>
              <a:rPr lang="ar-AE" sz="3600" kern="10">
                <a:ln w="9525">
                  <a:solidFill>
                    <a:srgbClr val="000000"/>
                  </a:solidFill>
                  <a:round/>
                  <a:headEnd/>
                  <a:tailEnd/>
                </a:ln>
                <a:gradFill rotWithShape="1">
                  <a:gsLst>
                    <a:gs pos="0">
                      <a:srgbClr val="DCEBF5"/>
                    </a:gs>
                    <a:gs pos="8000">
                      <a:srgbClr val="83A7C3"/>
                    </a:gs>
                    <a:gs pos="13000">
                      <a:srgbClr val="768FB9"/>
                    </a:gs>
                    <a:gs pos="21001">
                      <a:srgbClr val="83A7C3"/>
                    </a:gs>
                    <a:gs pos="52000">
                      <a:srgbClr val="FFFFFF"/>
                    </a:gs>
                    <a:gs pos="56000">
                      <a:srgbClr val="9C6563"/>
                    </a:gs>
                    <a:gs pos="58000">
                      <a:srgbClr val="80302D"/>
                    </a:gs>
                    <a:gs pos="71001">
                      <a:srgbClr val="C0524E"/>
                    </a:gs>
                    <a:gs pos="94000">
                      <a:srgbClr val="EBDAD4"/>
                    </a:gs>
                    <a:gs pos="100000">
                      <a:srgbClr val="55261C"/>
                    </a:gs>
                  </a:gsLst>
                  <a:lin ang="5400000" scaled="1"/>
                </a:gradFill>
                <a:effectLst>
                  <a:outerShdw sy="50000" kx="2453608" rotWithShape="0">
                    <a:srgbClr val="868686">
                      <a:alpha val="50000"/>
                    </a:srgbClr>
                  </a:outerShdw>
                </a:effectLst>
                <a:latin typeface="Times New Roman" pitchFamily="18" charset="0"/>
                <a:cs typeface="Arial" pitchFamily="34" charset="0"/>
              </a:rPr>
              <a:t>التطفل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8" presetClass="entr" presetSubtype="0" accel="50000" fill="hold" grpId="0" nodeType="clickEffect">
                                  <p:stCondLst>
                                    <p:cond delay="0"/>
                                  </p:stCondLst>
                                  <p:childTnLst>
                                    <p:set>
                                      <p:cBhvr>
                                        <p:cTn id="6" dur="1" fill="hold">
                                          <p:stCondLst>
                                            <p:cond delay="0"/>
                                          </p:stCondLst>
                                        </p:cTn>
                                        <p:tgtEl>
                                          <p:spTgt spid="12293"/>
                                        </p:tgtEl>
                                        <p:attrNameLst>
                                          <p:attrName>style.visibility</p:attrName>
                                        </p:attrNameLst>
                                      </p:cBhvr>
                                      <p:to>
                                        <p:strVal val="visible"/>
                                      </p:to>
                                    </p:set>
                                    <p:anim calcmode="lin" valueType="num">
                                      <p:cBhvr>
                                        <p:cTn id="7" dur="1000" fill="hold"/>
                                        <p:tgtEl>
                                          <p:spTgt spid="12293"/>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8" dur="1000" fill="hold"/>
                                        <p:tgtEl>
                                          <p:spTgt spid="12293"/>
                                        </p:tgtEl>
                                        <p:attrNameLst>
                                          <p:attrName>ppt_x</p:attrName>
                                        </p:attrNameLst>
                                      </p:cBhvr>
                                      <p:tavLst>
                                        <p:tav tm="0">
                                          <p:val>
                                            <p:fltVal val="-1"/>
                                          </p:val>
                                        </p:tav>
                                        <p:tav tm="50000">
                                          <p:val>
                                            <p:fltVal val="0.95"/>
                                          </p:val>
                                        </p:tav>
                                        <p:tav tm="100000">
                                          <p:val>
                                            <p:strVal val="#ppt_x"/>
                                          </p:val>
                                        </p:tav>
                                      </p:tavLst>
                                    </p:anim>
                                    <p:anim calcmode="lin" valueType="num">
                                      <p:cBhvr>
                                        <p:cTn id="9" dur="1000" fill="hold"/>
                                        <p:tgtEl>
                                          <p:spTgt spid="12293"/>
                                        </p:tgtEl>
                                        <p:attrNameLst>
                                          <p:attrName>ppt_y</p:attrName>
                                        </p:attrNameLst>
                                      </p:cBhvr>
                                      <p:tavLst>
                                        <p:tav tm="0">
                                          <p:val>
                                            <p:strVal val="#ppt_y"/>
                                          </p:val>
                                        </p:tav>
                                        <p:tav tm="100000">
                                          <p:val>
                                            <p:strVal val="#ppt_y"/>
                                          </p:val>
                                        </p:tav>
                                      </p:tavLst>
                                    </p:anim>
                                    <p:animEffect transition="in" filter="fade">
                                      <p:cBhvr>
                                        <p:cTn id="10" dur="1000"/>
                                        <p:tgtEl>
                                          <p:spTgt spid="12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5" descr="image008">
            <a:extLst>
              <a:ext uri="{FF2B5EF4-FFF2-40B4-BE49-F238E27FC236}">
                <a16:creationId xmlns:a16="http://schemas.microsoft.com/office/drawing/2014/main" id="{FFF061CF-ED96-4F33-BDEA-ECFBC346A0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533400"/>
            <a:ext cx="5183188"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5" descr="image008">
            <a:extLst>
              <a:ext uri="{FF2B5EF4-FFF2-40B4-BE49-F238E27FC236}">
                <a16:creationId xmlns:a16="http://schemas.microsoft.com/office/drawing/2014/main" id="{91C2145E-0190-420B-B3F0-4C57EF54BB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533400"/>
            <a:ext cx="5183188"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WordArt 6">
            <a:extLst>
              <a:ext uri="{FF2B5EF4-FFF2-40B4-BE49-F238E27FC236}">
                <a16:creationId xmlns:a16="http://schemas.microsoft.com/office/drawing/2014/main" id="{993CABF3-6848-4A9E-8FCE-84BA581F101C}"/>
              </a:ext>
            </a:extLst>
          </p:cNvPr>
          <p:cNvSpPr>
            <a:spLocks noChangeArrowheads="1" noChangeShapeType="1" noTextEdit="1"/>
          </p:cNvSpPr>
          <p:nvPr/>
        </p:nvSpPr>
        <p:spPr bwMode="auto">
          <a:xfrm>
            <a:off x="2819400" y="5029200"/>
            <a:ext cx="6781800" cy="1066800"/>
          </a:xfrm>
          <a:prstGeom prst="rect">
            <a:avLst/>
          </a:prstGeom>
        </p:spPr>
        <p:txBody>
          <a:bodyPr wrap="none" fromWordArt="1">
            <a:prstTxWarp prst="textPlain">
              <a:avLst>
                <a:gd name="adj" fmla="val 50000"/>
              </a:avLst>
            </a:prstTxWarp>
          </a:bodyPr>
          <a:lstStyle/>
          <a:p>
            <a:pPr algn="ctr">
              <a:defRPr/>
            </a:pPr>
            <a:r>
              <a:rPr lang="ar-AE" sz="3600" kern="10" dirty="0">
                <a:ln w="19050">
                  <a:solidFill>
                    <a:srgbClr val="99CCFF"/>
                  </a:solidFill>
                  <a:round/>
                  <a:headEnd/>
                  <a:tailEnd/>
                </a:ln>
                <a:solidFill>
                  <a:srgbClr val="0066CC"/>
                </a:solidFill>
                <a:effectLst>
                  <a:outerShdw dist="35921" dir="2700000" algn="ctr" rotWithShape="0">
                    <a:srgbClr val="990000"/>
                  </a:outerShdw>
                </a:effectLst>
                <a:latin typeface="Arial"/>
                <a:cs typeface="Arial"/>
              </a:rPr>
              <a:t>البعوض (</a:t>
            </a:r>
            <a:r>
              <a:rPr lang="en-US" sz="3600" kern="10" dirty="0">
                <a:ln w="19050">
                  <a:solidFill>
                    <a:srgbClr val="99CCFF"/>
                  </a:solidFill>
                  <a:round/>
                  <a:headEnd/>
                  <a:tailEnd/>
                </a:ln>
                <a:solidFill>
                  <a:srgbClr val="0066CC"/>
                </a:solidFill>
                <a:effectLst>
                  <a:outerShdw dist="35921" dir="2700000" algn="ctr" rotWithShape="0">
                    <a:srgbClr val="990000"/>
                  </a:outerShdw>
                </a:effectLst>
                <a:latin typeface="Arial"/>
                <a:cs typeface="Arial"/>
              </a:rPr>
              <a:t> </a:t>
            </a:r>
            <a:r>
              <a:rPr lang="ar-AE" sz="3600" kern="10" dirty="0">
                <a:ln w="19050">
                  <a:solidFill>
                    <a:srgbClr val="99CCFF"/>
                  </a:solidFill>
                  <a:round/>
                  <a:headEnd/>
                  <a:tailEnd/>
                </a:ln>
                <a:solidFill>
                  <a:srgbClr val="0066CC"/>
                </a:solidFill>
                <a:effectLst>
                  <a:outerShdw dist="35921" dir="2700000" algn="ctr" rotWithShape="0">
                    <a:srgbClr val="990000"/>
                  </a:outerShdw>
                </a:effectLst>
                <a:latin typeface="Arial"/>
                <a:cs typeface="Arial"/>
              </a:rPr>
              <a:t>متطفل خارجي)</a:t>
            </a:r>
            <a:endParaRPr lang="en-US" sz="3600" kern="10" dirty="0">
              <a:ln w="19050">
                <a:solidFill>
                  <a:srgbClr val="99CCFF"/>
                </a:solidFill>
                <a:round/>
                <a:headEnd/>
                <a:tailEnd/>
              </a:ln>
              <a:solidFill>
                <a:srgbClr val="0066CC"/>
              </a:solidFill>
              <a:effectLst>
                <a:outerShdw dist="35921" dir="2700000" algn="ctr" rotWithShape="0">
                  <a:srgbClr val="990000"/>
                </a:outerShdw>
              </a:effectLst>
              <a:latin typeface="Arial"/>
              <a:cs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5" descr="A photo of a flea magnified 50 times. Fleas are common parasitic insects that are known to carry a variety of devastating diseases, including the plague. (Reproduced by permission of The Stock Market.)">
            <a:extLst>
              <a:ext uri="{FF2B5EF4-FFF2-40B4-BE49-F238E27FC236}">
                <a16:creationId xmlns:a16="http://schemas.microsoft.com/office/drawing/2014/main" id="{D9210984-27F0-4D63-9CC3-6CAF82A4DD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1" y="914400"/>
            <a:ext cx="4576763" cy="345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5" descr="A photo of a flea magnified 50 times. Fleas are common parasitic insects that are known to carry a variety of devastating diseases, including the plague. (Reproduced by permission of The Stock Market.)">
            <a:extLst>
              <a:ext uri="{FF2B5EF4-FFF2-40B4-BE49-F238E27FC236}">
                <a16:creationId xmlns:a16="http://schemas.microsoft.com/office/drawing/2014/main" id="{41E597D4-C01F-45AC-AE97-F680C8254B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1" y="914400"/>
            <a:ext cx="4576763" cy="345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WordArt 6">
            <a:extLst>
              <a:ext uri="{FF2B5EF4-FFF2-40B4-BE49-F238E27FC236}">
                <a16:creationId xmlns:a16="http://schemas.microsoft.com/office/drawing/2014/main" id="{756829BA-C999-4AD0-8C0E-DD717B58BF10}"/>
              </a:ext>
            </a:extLst>
          </p:cNvPr>
          <p:cNvSpPr>
            <a:spLocks noChangeArrowheads="1" noChangeShapeType="1" noTextEdit="1"/>
          </p:cNvSpPr>
          <p:nvPr/>
        </p:nvSpPr>
        <p:spPr bwMode="auto">
          <a:xfrm>
            <a:off x="2819400" y="4800600"/>
            <a:ext cx="6781800" cy="1066800"/>
          </a:xfrm>
          <a:prstGeom prst="rect">
            <a:avLst/>
          </a:prstGeom>
        </p:spPr>
        <p:txBody>
          <a:bodyPr wrap="none" fromWordArt="1">
            <a:prstTxWarp prst="textPlain">
              <a:avLst>
                <a:gd name="adj" fmla="val 50000"/>
              </a:avLst>
            </a:prstTxWarp>
          </a:bodyPr>
          <a:lstStyle/>
          <a:p>
            <a:pPr algn="ctr">
              <a:defRPr/>
            </a:pPr>
            <a:r>
              <a:rPr lang="ar-AE" sz="3600" kern="10" dirty="0">
                <a:ln w="19050">
                  <a:solidFill>
                    <a:srgbClr val="99CCFF"/>
                  </a:solidFill>
                  <a:round/>
                  <a:headEnd/>
                  <a:tailEnd/>
                </a:ln>
                <a:effectLst>
                  <a:outerShdw dist="35921" dir="2700000" algn="ctr" rotWithShape="0">
                    <a:srgbClr val="990000"/>
                  </a:outerShdw>
                </a:effectLst>
                <a:latin typeface="Arial"/>
                <a:cs typeface="Arial"/>
              </a:rPr>
              <a:t>البرغوث (</a:t>
            </a:r>
            <a:r>
              <a:rPr lang="en-US" sz="3600" kern="10" dirty="0">
                <a:ln w="19050">
                  <a:solidFill>
                    <a:srgbClr val="99CCFF"/>
                  </a:solidFill>
                  <a:round/>
                  <a:headEnd/>
                  <a:tailEnd/>
                </a:ln>
                <a:effectLst>
                  <a:outerShdw dist="35921" dir="2700000" algn="ctr" rotWithShape="0">
                    <a:srgbClr val="990000"/>
                  </a:outerShdw>
                </a:effectLst>
                <a:latin typeface="Arial"/>
                <a:cs typeface="Arial"/>
              </a:rPr>
              <a:t> </a:t>
            </a:r>
            <a:r>
              <a:rPr lang="ar-AE" sz="3600" kern="10" dirty="0">
                <a:ln w="19050">
                  <a:solidFill>
                    <a:srgbClr val="99CCFF"/>
                  </a:solidFill>
                  <a:round/>
                  <a:headEnd/>
                  <a:tailEnd/>
                </a:ln>
                <a:effectLst>
                  <a:outerShdw dist="35921" dir="2700000" algn="ctr" rotWithShape="0">
                    <a:srgbClr val="990000"/>
                  </a:outerShdw>
                </a:effectLst>
                <a:latin typeface="Arial"/>
                <a:cs typeface="Arial"/>
              </a:rPr>
              <a:t>متطفل خارجي)</a:t>
            </a:r>
            <a:endParaRPr lang="en-US" sz="3600" kern="10" dirty="0">
              <a:ln w="19050">
                <a:solidFill>
                  <a:srgbClr val="99CCFF"/>
                </a:solidFill>
                <a:round/>
                <a:headEnd/>
                <a:tailEnd/>
              </a:ln>
              <a:effectLst>
                <a:outerShdw dist="35921" dir="2700000" algn="ctr" rotWithShape="0">
                  <a:srgbClr val="990000"/>
                </a:outerShdw>
              </a:effectLst>
              <a:latin typeface="Arial"/>
              <a:cs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6" descr="ص7-7">
            <a:extLst>
              <a:ext uri="{FF2B5EF4-FFF2-40B4-BE49-F238E27FC236}">
                <a16:creationId xmlns:a16="http://schemas.microsoft.com/office/drawing/2014/main" id="{0B3D8792-2537-4A6D-8706-D5383E7492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5314" y="762000"/>
            <a:ext cx="5932487" cy="5029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6" descr="ص7-7">
            <a:extLst>
              <a:ext uri="{FF2B5EF4-FFF2-40B4-BE49-F238E27FC236}">
                <a16:creationId xmlns:a16="http://schemas.microsoft.com/office/drawing/2014/main" id="{4DE67E3C-C94B-46AE-B04F-8236F16F8D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1" y="685801"/>
            <a:ext cx="4557713" cy="38639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3" name="WordArt 6">
            <a:extLst>
              <a:ext uri="{FF2B5EF4-FFF2-40B4-BE49-F238E27FC236}">
                <a16:creationId xmlns:a16="http://schemas.microsoft.com/office/drawing/2014/main" id="{2E98115D-2E65-44C1-9EEE-19E8AC23C4E6}"/>
              </a:ext>
            </a:extLst>
          </p:cNvPr>
          <p:cNvSpPr>
            <a:spLocks noChangeArrowheads="1" noChangeShapeType="1" noTextEdit="1"/>
          </p:cNvSpPr>
          <p:nvPr/>
        </p:nvSpPr>
        <p:spPr bwMode="auto">
          <a:xfrm>
            <a:off x="2819400" y="4953000"/>
            <a:ext cx="6781800" cy="1066800"/>
          </a:xfrm>
          <a:prstGeom prst="rect">
            <a:avLst/>
          </a:prstGeom>
        </p:spPr>
        <p:txBody>
          <a:bodyPr wrap="none" fromWordArt="1">
            <a:prstTxWarp prst="textPlain">
              <a:avLst>
                <a:gd name="adj" fmla="val 50000"/>
              </a:avLst>
            </a:prstTxWarp>
          </a:bodyPr>
          <a:lstStyle/>
          <a:p>
            <a:pPr algn="ctr">
              <a:defRPr/>
            </a:pPr>
            <a:r>
              <a:rPr lang="ar-AE" sz="3600" kern="10" dirty="0">
                <a:ln w="19050">
                  <a:solidFill>
                    <a:srgbClr val="99CCFF"/>
                  </a:solidFill>
                  <a:round/>
                  <a:headEnd/>
                  <a:tailEnd/>
                </a:ln>
                <a:effectLst>
                  <a:outerShdw dist="35921" dir="2700000" algn="ctr" rotWithShape="0">
                    <a:srgbClr val="990000"/>
                  </a:outerShdw>
                </a:effectLst>
                <a:latin typeface="Arial"/>
                <a:cs typeface="Arial"/>
              </a:rPr>
              <a:t>القرادة (</a:t>
            </a:r>
            <a:r>
              <a:rPr lang="en-US" sz="3600" kern="10" dirty="0">
                <a:ln w="19050">
                  <a:solidFill>
                    <a:srgbClr val="99CCFF"/>
                  </a:solidFill>
                  <a:round/>
                  <a:headEnd/>
                  <a:tailEnd/>
                </a:ln>
                <a:effectLst>
                  <a:outerShdw dist="35921" dir="2700000" algn="ctr" rotWithShape="0">
                    <a:srgbClr val="990000"/>
                  </a:outerShdw>
                </a:effectLst>
                <a:latin typeface="Arial"/>
                <a:cs typeface="Arial"/>
              </a:rPr>
              <a:t> </a:t>
            </a:r>
            <a:r>
              <a:rPr lang="ar-AE" sz="3600" kern="10" dirty="0">
                <a:ln w="19050">
                  <a:solidFill>
                    <a:srgbClr val="99CCFF"/>
                  </a:solidFill>
                  <a:round/>
                  <a:headEnd/>
                  <a:tailEnd/>
                </a:ln>
                <a:effectLst>
                  <a:outerShdw dist="35921" dir="2700000" algn="ctr" rotWithShape="0">
                    <a:srgbClr val="990000"/>
                  </a:outerShdw>
                </a:effectLst>
                <a:latin typeface="Arial"/>
                <a:cs typeface="Arial"/>
              </a:rPr>
              <a:t>متطفل خارجي)</a:t>
            </a:r>
            <a:endParaRPr lang="en-US" sz="3600" kern="10" dirty="0">
              <a:ln w="19050">
                <a:solidFill>
                  <a:srgbClr val="99CCFF"/>
                </a:solidFill>
                <a:round/>
                <a:headEnd/>
                <a:tailEnd/>
              </a:ln>
              <a:effectLst>
                <a:outerShdw dist="35921" dir="2700000" algn="ctr" rotWithShape="0">
                  <a:srgbClr val="990000"/>
                </a:outerShdw>
              </a:effectLst>
              <a:latin typeface="Arial"/>
              <a:cs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5" descr="A liver fluke seen from above. There are more than 6,000 species of parasitic flatworms. (Reproduced by permission of JLM Visuals.)">
            <a:extLst>
              <a:ext uri="{FF2B5EF4-FFF2-40B4-BE49-F238E27FC236}">
                <a16:creationId xmlns:a16="http://schemas.microsoft.com/office/drawing/2014/main" id="{A4922D62-6069-463A-9F63-A93A3368AA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9238" y="1371600"/>
            <a:ext cx="6811962"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5" descr="A liver fluke seen from above. There are more than 6,000 species of parasitic flatworms. (Reproduced by permission of JLM Visuals.)">
            <a:extLst>
              <a:ext uri="{FF2B5EF4-FFF2-40B4-BE49-F238E27FC236}">
                <a16:creationId xmlns:a16="http://schemas.microsoft.com/office/drawing/2014/main" id="{91D68863-5793-4A17-B04E-306CBC9361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838200"/>
            <a:ext cx="5119688" cy="297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WordArt 6">
            <a:extLst>
              <a:ext uri="{FF2B5EF4-FFF2-40B4-BE49-F238E27FC236}">
                <a16:creationId xmlns:a16="http://schemas.microsoft.com/office/drawing/2014/main" id="{CB786FF9-1E18-4D9F-88F5-4248A4A26C48}"/>
              </a:ext>
            </a:extLst>
          </p:cNvPr>
          <p:cNvSpPr>
            <a:spLocks noChangeArrowheads="1" noChangeShapeType="1" noTextEdit="1"/>
          </p:cNvSpPr>
          <p:nvPr/>
        </p:nvSpPr>
        <p:spPr bwMode="auto">
          <a:xfrm>
            <a:off x="3200400" y="4419600"/>
            <a:ext cx="6096000" cy="1143000"/>
          </a:xfrm>
          <a:prstGeom prst="rect">
            <a:avLst/>
          </a:prstGeom>
        </p:spPr>
        <p:txBody>
          <a:bodyPr wrap="none" fromWordArt="1">
            <a:prstTxWarp prst="textPlain">
              <a:avLst>
                <a:gd name="adj" fmla="val 50000"/>
              </a:avLst>
            </a:prstTxWarp>
          </a:bodyPr>
          <a:lstStyle/>
          <a:p>
            <a:pPr algn="ctr"/>
            <a:r>
              <a:rPr lang="ar-AE" sz="3600" kern="10" dirty="0">
                <a:ln w="19050">
                  <a:solidFill>
                    <a:srgbClr val="99CCFF"/>
                  </a:solidFill>
                  <a:round/>
                  <a:headEnd/>
                  <a:tailEnd/>
                </a:ln>
                <a:effectLst>
                  <a:outerShdw dist="35921" dir="2700000" algn="ctr" rotWithShape="0">
                    <a:srgbClr val="990000"/>
                  </a:outerShdw>
                </a:effectLst>
              </a:rPr>
              <a:t>الدودة الكبدية ( متطفل داخلي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5" descr="أحد أنواع الديدان في الأمعاء">
            <a:extLst>
              <a:ext uri="{FF2B5EF4-FFF2-40B4-BE49-F238E27FC236}">
                <a16:creationId xmlns:a16="http://schemas.microsoft.com/office/drawing/2014/main" id="{C85413FB-8C2C-49D4-AFC5-B0F80DAB70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6338" y="0"/>
            <a:ext cx="5681662"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3" name="Picture 7" descr="ص8-7">
            <a:extLst>
              <a:ext uri="{FF2B5EF4-FFF2-40B4-BE49-F238E27FC236}">
                <a16:creationId xmlns:a16="http://schemas.microsoft.com/office/drawing/2014/main" id="{708C7250-DC4F-4B5E-B3E6-DE4D0F9CF0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8450" y="2225676"/>
            <a:ext cx="3384550" cy="31845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5" descr="أحد أنواع الديدان في الأمعاء">
            <a:extLst>
              <a:ext uri="{FF2B5EF4-FFF2-40B4-BE49-F238E27FC236}">
                <a16:creationId xmlns:a16="http://schemas.microsoft.com/office/drawing/2014/main" id="{A37E9208-4071-4C14-9D12-64F91B317D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86338" y="0"/>
            <a:ext cx="5681662"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WordArt 6">
            <a:extLst>
              <a:ext uri="{FF2B5EF4-FFF2-40B4-BE49-F238E27FC236}">
                <a16:creationId xmlns:a16="http://schemas.microsoft.com/office/drawing/2014/main" id="{31CD7906-7D6D-4376-9190-B48FFAB878B1}"/>
              </a:ext>
            </a:extLst>
          </p:cNvPr>
          <p:cNvSpPr>
            <a:spLocks noChangeArrowheads="1" noChangeShapeType="1" noTextEdit="1"/>
          </p:cNvSpPr>
          <p:nvPr/>
        </p:nvSpPr>
        <p:spPr bwMode="auto">
          <a:xfrm>
            <a:off x="2819400" y="5486400"/>
            <a:ext cx="6781800" cy="1066800"/>
          </a:xfrm>
          <a:prstGeom prst="rect">
            <a:avLst/>
          </a:prstGeom>
        </p:spPr>
        <p:txBody>
          <a:bodyPr wrap="none" fromWordArt="1">
            <a:prstTxWarp prst="textPlain">
              <a:avLst>
                <a:gd name="adj" fmla="val 50000"/>
              </a:avLst>
            </a:prstTxWarp>
          </a:bodyPr>
          <a:lstStyle/>
          <a:p>
            <a:pPr algn="ctr">
              <a:defRPr/>
            </a:pPr>
            <a:r>
              <a:rPr lang="ar-AE" sz="3600" kern="10" dirty="0">
                <a:ln w="19050">
                  <a:solidFill>
                    <a:srgbClr val="99CCFF"/>
                  </a:solidFill>
                  <a:round/>
                  <a:headEnd/>
                  <a:tailEnd/>
                </a:ln>
                <a:effectLst>
                  <a:outerShdw dist="35921" dir="2700000" algn="ctr" rotWithShape="0">
                    <a:srgbClr val="990000"/>
                  </a:outerShdw>
                </a:effectLst>
                <a:latin typeface="Arial"/>
                <a:cs typeface="Arial"/>
              </a:rPr>
              <a:t>الدودة الشريطية (</a:t>
            </a:r>
            <a:r>
              <a:rPr lang="en-US" sz="3600" kern="10" dirty="0">
                <a:ln w="19050">
                  <a:solidFill>
                    <a:srgbClr val="99CCFF"/>
                  </a:solidFill>
                  <a:round/>
                  <a:headEnd/>
                  <a:tailEnd/>
                </a:ln>
                <a:effectLst>
                  <a:outerShdw dist="35921" dir="2700000" algn="ctr" rotWithShape="0">
                    <a:srgbClr val="990000"/>
                  </a:outerShdw>
                </a:effectLst>
                <a:latin typeface="Arial"/>
                <a:cs typeface="Arial"/>
              </a:rPr>
              <a:t> </a:t>
            </a:r>
            <a:r>
              <a:rPr lang="ar-AE" sz="3600" kern="10" dirty="0">
                <a:ln w="19050">
                  <a:solidFill>
                    <a:srgbClr val="99CCFF"/>
                  </a:solidFill>
                  <a:round/>
                  <a:headEnd/>
                  <a:tailEnd/>
                </a:ln>
                <a:effectLst>
                  <a:outerShdw dist="35921" dir="2700000" algn="ctr" rotWithShape="0">
                    <a:srgbClr val="990000"/>
                  </a:outerShdw>
                </a:effectLst>
                <a:latin typeface="Arial"/>
                <a:cs typeface="Arial"/>
              </a:rPr>
              <a:t>متطفل داخلي)</a:t>
            </a:r>
            <a:endParaRPr lang="en-US" sz="3600" kern="10" dirty="0">
              <a:ln w="19050">
                <a:solidFill>
                  <a:srgbClr val="99CCFF"/>
                </a:solidFill>
                <a:round/>
                <a:headEnd/>
                <a:tailEnd/>
              </a:ln>
              <a:effectLst>
                <a:outerShdw dist="35921" dir="2700000" algn="ctr" rotWithShape="0">
                  <a:srgbClr val="990000"/>
                </a:outerShdw>
              </a:effectLst>
              <a:latin typeface="Arial"/>
              <a:cs typeface="Arial"/>
            </a:endParaRPr>
          </a:p>
        </p:txBody>
      </p:sp>
      <p:pic>
        <p:nvPicPr>
          <p:cNvPr id="26628" name="Picture 7" descr="ص8-7">
            <a:extLst>
              <a:ext uri="{FF2B5EF4-FFF2-40B4-BE49-F238E27FC236}">
                <a16:creationId xmlns:a16="http://schemas.microsoft.com/office/drawing/2014/main" id="{7440F89C-7188-4D48-AFAE-C6F042823E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8450" y="2225676"/>
            <a:ext cx="3384550" cy="31845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AutoShape 4">
            <a:extLst>
              <a:ext uri="{FF2B5EF4-FFF2-40B4-BE49-F238E27FC236}">
                <a16:creationId xmlns:a16="http://schemas.microsoft.com/office/drawing/2014/main" id="{34AA8D0E-C720-4217-9E27-6C155B72E04E}"/>
              </a:ext>
            </a:extLst>
          </p:cNvPr>
          <p:cNvSpPr>
            <a:spLocks noChangeArrowheads="1"/>
          </p:cNvSpPr>
          <p:nvPr/>
        </p:nvSpPr>
        <p:spPr bwMode="auto">
          <a:xfrm>
            <a:off x="3719513" y="333376"/>
            <a:ext cx="4824412" cy="1800225"/>
          </a:xfrm>
          <a:prstGeom prst="flowChartDecision">
            <a:avLst/>
          </a:prstGeom>
          <a:solidFill>
            <a:schemeClr val="bg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914400" rtl="1" eaLnBrk="1" fontAlgn="base" hangingPunct="1">
              <a:spcBef>
                <a:spcPct val="0"/>
              </a:spcBef>
              <a:spcAft>
                <a:spcPct val="0"/>
              </a:spcAft>
            </a:pPr>
            <a:r>
              <a:rPr lang="ar-SA" altLang="ar-AE" sz="4800" u="sng" dirty="0">
                <a:solidFill>
                  <a:srgbClr val="3333CC"/>
                </a:solidFill>
              </a:rPr>
              <a:t>الطفيليات</a:t>
            </a:r>
            <a:r>
              <a:rPr lang="ar-SA" altLang="ar-AE" sz="4800" u="sng" dirty="0">
                <a:solidFill>
                  <a:srgbClr val="000000"/>
                </a:solidFill>
              </a:rPr>
              <a:t> </a:t>
            </a:r>
            <a:endParaRPr lang="en-US" altLang="ar-AE" sz="4800" u="sng" dirty="0">
              <a:solidFill>
                <a:srgbClr val="000000"/>
              </a:solidFill>
            </a:endParaRPr>
          </a:p>
        </p:txBody>
      </p:sp>
      <p:sp>
        <p:nvSpPr>
          <p:cNvPr id="13317" name="AutoShape 5">
            <a:extLst>
              <a:ext uri="{FF2B5EF4-FFF2-40B4-BE49-F238E27FC236}">
                <a16:creationId xmlns:a16="http://schemas.microsoft.com/office/drawing/2014/main" id="{C89CB970-2691-4CA9-8583-B961CD9CE5D8}"/>
              </a:ext>
            </a:extLst>
          </p:cNvPr>
          <p:cNvSpPr>
            <a:spLocks noChangeArrowheads="1"/>
          </p:cNvSpPr>
          <p:nvPr/>
        </p:nvSpPr>
        <p:spPr bwMode="auto">
          <a:xfrm rot="9457191">
            <a:off x="8134350" y="981076"/>
            <a:ext cx="2533650" cy="2162175"/>
          </a:xfrm>
          <a:prstGeom prst="triangle">
            <a:avLst>
              <a:gd name="adj" fmla="val 46079"/>
            </a:avLst>
          </a:prstGeom>
          <a:solidFill>
            <a:schemeClr val="bg1"/>
          </a:solidFill>
          <a:ln w="9525">
            <a:solidFill>
              <a:schemeClr val="tx1"/>
            </a:solidFill>
            <a:miter lim="800000"/>
            <a:headEnd/>
            <a:tailEnd/>
          </a:ln>
        </p:spPr>
        <p:txBody>
          <a:bodyPr rot="10800000"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914400" rtl="1" eaLnBrk="1" fontAlgn="base" hangingPunct="1">
              <a:spcBef>
                <a:spcPct val="0"/>
              </a:spcBef>
              <a:spcAft>
                <a:spcPct val="0"/>
              </a:spcAft>
            </a:pPr>
            <a:r>
              <a:rPr lang="ar-SA" altLang="ar-AE" sz="4400" u="sng">
                <a:solidFill>
                  <a:srgbClr val="3333CC"/>
                </a:solidFill>
              </a:rPr>
              <a:t>داخلية </a:t>
            </a:r>
            <a:endParaRPr lang="en-US" altLang="ar-AE" sz="4400" u="sng">
              <a:solidFill>
                <a:srgbClr val="3333CC"/>
              </a:solidFill>
            </a:endParaRPr>
          </a:p>
        </p:txBody>
      </p:sp>
      <p:sp>
        <p:nvSpPr>
          <p:cNvPr id="13318" name="AutoShape 6">
            <a:extLst>
              <a:ext uri="{FF2B5EF4-FFF2-40B4-BE49-F238E27FC236}">
                <a16:creationId xmlns:a16="http://schemas.microsoft.com/office/drawing/2014/main" id="{5F9F39A9-AE92-48D0-95BA-821DC605006A}"/>
              </a:ext>
            </a:extLst>
          </p:cNvPr>
          <p:cNvSpPr>
            <a:spLocks noChangeArrowheads="1"/>
          </p:cNvSpPr>
          <p:nvPr/>
        </p:nvSpPr>
        <p:spPr bwMode="auto">
          <a:xfrm rot="-9628511">
            <a:off x="1524001" y="981076"/>
            <a:ext cx="2517775" cy="1851025"/>
          </a:xfrm>
          <a:prstGeom prst="triangle">
            <a:avLst>
              <a:gd name="adj" fmla="val 50000"/>
            </a:avLst>
          </a:prstGeom>
          <a:solidFill>
            <a:schemeClr val="bg1"/>
          </a:solidFill>
          <a:ln w="9525">
            <a:solidFill>
              <a:schemeClr val="tx1"/>
            </a:solidFill>
            <a:miter lim="800000"/>
            <a:headEnd/>
            <a:tailEnd/>
          </a:ln>
        </p:spPr>
        <p:txBody>
          <a:bodyPr rot="10800000"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914400" rtl="1" eaLnBrk="1" fontAlgn="base" hangingPunct="1">
              <a:spcBef>
                <a:spcPct val="0"/>
              </a:spcBef>
              <a:spcAft>
                <a:spcPct val="0"/>
              </a:spcAft>
            </a:pPr>
            <a:r>
              <a:rPr lang="ar-SA" altLang="ar-AE" sz="4000" u="sng">
                <a:solidFill>
                  <a:srgbClr val="3333CC"/>
                </a:solidFill>
              </a:rPr>
              <a:t>خارجية </a:t>
            </a:r>
            <a:endParaRPr lang="en-US" altLang="ar-AE" sz="4000" u="sng">
              <a:solidFill>
                <a:srgbClr val="3333CC"/>
              </a:solidFill>
            </a:endParaRPr>
          </a:p>
        </p:txBody>
      </p:sp>
      <p:sp>
        <p:nvSpPr>
          <p:cNvPr id="13319" name="AutoShape 7">
            <a:extLst>
              <a:ext uri="{FF2B5EF4-FFF2-40B4-BE49-F238E27FC236}">
                <a16:creationId xmlns:a16="http://schemas.microsoft.com/office/drawing/2014/main" id="{69232C31-3AE3-4FD2-98B8-9D4B94FE36B3}"/>
              </a:ext>
            </a:extLst>
          </p:cNvPr>
          <p:cNvSpPr>
            <a:spLocks noChangeArrowheads="1"/>
          </p:cNvSpPr>
          <p:nvPr/>
        </p:nvSpPr>
        <p:spPr bwMode="auto">
          <a:xfrm>
            <a:off x="1919288" y="3200401"/>
            <a:ext cx="3719512" cy="3108325"/>
          </a:xfrm>
          <a:prstGeom prst="foldedCorner">
            <a:avLst>
              <a:gd name="adj" fmla="val 12500"/>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914400" rtl="1" eaLnBrk="1" fontAlgn="base" hangingPunct="1">
              <a:spcBef>
                <a:spcPct val="0"/>
              </a:spcBef>
              <a:spcAft>
                <a:spcPct val="0"/>
              </a:spcAft>
            </a:pPr>
            <a:r>
              <a:rPr lang="ar-SA" altLang="ar-AE" sz="3200" u="sng" dirty="0">
                <a:solidFill>
                  <a:srgbClr val="000000"/>
                </a:solidFill>
              </a:rPr>
              <a:t>* تعيش على السطح </a:t>
            </a:r>
          </a:p>
          <a:p>
            <a:pPr algn="ctr" defTabSz="914400" rtl="1" eaLnBrk="1" fontAlgn="base" hangingPunct="1">
              <a:spcBef>
                <a:spcPct val="0"/>
              </a:spcBef>
              <a:spcAft>
                <a:spcPct val="0"/>
              </a:spcAft>
            </a:pPr>
            <a:r>
              <a:rPr lang="ar-SA" altLang="ar-AE" sz="3200" u="sng" dirty="0">
                <a:solidFill>
                  <a:srgbClr val="3333CC"/>
                </a:solidFill>
              </a:rPr>
              <a:t>الخارجي لجسم العائل .</a:t>
            </a:r>
          </a:p>
          <a:p>
            <a:pPr algn="ctr" defTabSz="914400" rtl="1" eaLnBrk="1" fontAlgn="base" hangingPunct="1">
              <a:spcBef>
                <a:spcPct val="0"/>
              </a:spcBef>
              <a:spcAft>
                <a:spcPct val="0"/>
              </a:spcAft>
            </a:pPr>
            <a:r>
              <a:rPr lang="ar-SA" altLang="ar-AE" sz="3200" dirty="0">
                <a:solidFill>
                  <a:srgbClr val="2D2DB9"/>
                </a:solidFill>
              </a:rPr>
              <a:t>* أمثلة : القرادة </a:t>
            </a:r>
          </a:p>
          <a:p>
            <a:pPr algn="ctr" defTabSz="914400" rtl="1" eaLnBrk="1" fontAlgn="base" hangingPunct="1">
              <a:spcBef>
                <a:spcPct val="0"/>
              </a:spcBef>
              <a:spcAft>
                <a:spcPct val="0"/>
              </a:spcAft>
            </a:pPr>
            <a:r>
              <a:rPr lang="ar-SA" altLang="ar-AE" sz="3200" dirty="0">
                <a:solidFill>
                  <a:srgbClr val="2D2DB9"/>
                </a:solidFill>
              </a:rPr>
              <a:t>_  البراغيث _ القمل </a:t>
            </a:r>
          </a:p>
          <a:p>
            <a:pPr algn="ctr" defTabSz="914400" rtl="1" eaLnBrk="1" fontAlgn="base" hangingPunct="1">
              <a:spcBef>
                <a:spcPct val="0"/>
              </a:spcBef>
              <a:spcAft>
                <a:spcPct val="0"/>
              </a:spcAft>
            </a:pPr>
            <a:r>
              <a:rPr lang="ar-SA" altLang="ar-AE" sz="3200" dirty="0">
                <a:solidFill>
                  <a:srgbClr val="2D2DB9"/>
                </a:solidFill>
              </a:rPr>
              <a:t>_ العلق _ البعوض.</a:t>
            </a:r>
            <a:endParaRPr lang="en-US" altLang="ar-AE" sz="3200" dirty="0">
              <a:solidFill>
                <a:srgbClr val="2D2DB9"/>
              </a:solidFill>
            </a:endParaRPr>
          </a:p>
        </p:txBody>
      </p:sp>
      <p:sp>
        <p:nvSpPr>
          <p:cNvPr id="13320" name="AutoShape 8">
            <a:extLst>
              <a:ext uri="{FF2B5EF4-FFF2-40B4-BE49-F238E27FC236}">
                <a16:creationId xmlns:a16="http://schemas.microsoft.com/office/drawing/2014/main" id="{34F71814-F48A-4ACA-AC85-0DB8ECB9F9DA}"/>
              </a:ext>
            </a:extLst>
          </p:cNvPr>
          <p:cNvSpPr>
            <a:spLocks noChangeArrowheads="1"/>
          </p:cNvSpPr>
          <p:nvPr/>
        </p:nvSpPr>
        <p:spPr bwMode="auto">
          <a:xfrm>
            <a:off x="5951538" y="3141664"/>
            <a:ext cx="4392612" cy="3240087"/>
          </a:xfrm>
          <a:prstGeom prst="foldedCorner">
            <a:avLst>
              <a:gd name="adj" fmla="val 12500"/>
            </a:avLst>
          </a:prstGeom>
          <a:solidFill>
            <a:schemeClr val="bg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defTabSz="914400" rtl="1" eaLnBrk="1" fontAlgn="base" hangingPunct="1">
              <a:spcBef>
                <a:spcPct val="0"/>
              </a:spcBef>
              <a:spcAft>
                <a:spcPct val="0"/>
              </a:spcAft>
            </a:pPr>
            <a:r>
              <a:rPr lang="ar-SA" altLang="ar-AE" sz="3600" u="sng" dirty="0">
                <a:solidFill>
                  <a:srgbClr val="000000"/>
                </a:solidFill>
              </a:rPr>
              <a:t>* تعيش داخل جسم العائل .</a:t>
            </a:r>
          </a:p>
          <a:p>
            <a:pPr algn="ctr" defTabSz="914400" rtl="1" eaLnBrk="1" fontAlgn="base" hangingPunct="1">
              <a:spcBef>
                <a:spcPct val="0"/>
              </a:spcBef>
              <a:spcAft>
                <a:spcPct val="0"/>
              </a:spcAft>
            </a:pPr>
            <a:r>
              <a:rPr lang="ar-SA" altLang="ar-AE" sz="3600" dirty="0">
                <a:solidFill>
                  <a:srgbClr val="2D2DB9"/>
                </a:solidFill>
              </a:rPr>
              <a:t>*أمثلة : _ البكتيريا الضارة </a:t>
            </a:r>
          </a:p>
          <a:p>
            <a:pPr algn="ctr" defTabSz="914400" rtl="1" eaLnBrk="1" fontAlgn="base" hangingPunct="1">
              <a:spcBef>
                <a:spcPct val="0"/>
              </a:spcBef>
              <a:spcAft>
                <a:spcPct val="0"/>
              </a:spcAft>
            </a:pPr>
            <a:r>
              <a:rPr lang="ar-SA" altLang="ar-AE" sz="3600" dirty="0">
                <a:solidFill>
                  <a:srgbClr val="2D2DB9"/>
                </a:solidFill>
              </a:rPr>
              <a:t>_ الطلائعيات </a:t>
            </a:r>
            <a:r>
              <a:rPr lang="ar-AE" altLang="ar-AE" sz="3600" dirty="0" err="1">
                <a:solidFill>
                  <a:srgbClr val="2D2DB9"/>
                </a:solidFill>
              </a:rPr>
              <a:t>التريبانوسواما</a:t>
            </a:r>
            <a:r>
              <a:rPr lang="ar-SA" altLang="ar-AE" sz="3600" dirty="0">
                <a:solidFill>
                  <a:srgbClr val="2D2DB9"/>
                </a:solidFill>
              </a:rPr>
              <a:t> </a:t>
            </a:r>
          </a:p>
          <a:p>
            <a:pPr algn="ctr" defTabSz="914400" rtl="1" eaLnBrk="1" fontAlgn="base" hangingPunct="1">
              <a:spcBef>
                <a:spcPct val="0"/>
              </a:spcBef>
              <a:spcAft>
                <a:spcPct val="0"/>
              </a:spcAft>
            </a:pPr>
            <a:r>
              <a:rPr lang="ar-SA" altLang="ar-AE" sz="3600" dirty="0">
                <a:solidFill>
                  <a:srgbClr val="2D2DB9"/>
                </a:solidFill>
              </a:rPr>
              <a:t>و الديدان الشريطية </a:t>
            </a:r>
            <a:endParaRPr lang="ar-AE" altLang="ar-AE" sz="3600" dirty="0">
              <a:solidFill>
                <a:srgbClr val="2D2DB9"/>
              </a:solidFill>
            </a:endParaRPr>
          </a:p>
          <a:p>
            <a:pPr algn="ctr" defTabSz="914400" rtl="1" eaLnBrk="1" fontAlgn="base" hangingPunct="1">
              <a:spcBef>
                <a:spcPct val="0"/>
              </a:spcBef>
              <a:spcAft>
                <a:spcPct val="0"/>
              </a:spcAft>
            </a:pPr>
            <a:r>
              <a:rPr lang="ar-AE" altLang="ar-AE" sz="3600" dirty="0">
                <a:solidFill>
                  <a:srgbClr val="2D2DB9"/>
                </a:solidFill>
              </a:rPr>
              <a:t>و الديدان الكبدية</a:t>
            </a:r>
            <a:r>
              <a:rPr lang="ar-SA" altLang="ar-AE" sz="3600" dirty="0">
                <a:solidFill>
                  <a:srgbClr val="2D2DB9"/>
                </a:solidFill>
              </a:rPr>
              <a:t>.</a:t>
            </a:r>
            <a:endParaRPr lang="en-US" altLang="ar-AE" sz="3600" dirty="0">
              <a:solidFill>
                <a:srgbClr val="2D2DB9"/>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13317"/>
                                        </p:tgtEl>
                                        <p:attrNameLst>
                                          <p:attrName>style.visibility</p:attrName>
                                        </p:attrNameLst>
                                      </p:cBhvr>
                                      <p:to>
                                        <p:strVal val="visible"/>
                                      </p:to>
                                    </p:set>
                                    <p:animEffect transition="in" filter="fade">
                                      <p:cBhvr>
                                        <p:cTn id="7" dur="770" decel="100000"/>
                                        <p:tgtEl>
                                          <p:spTgt spid="13317"/>
                                        </p:tgtEl>
                                      </p:cBhvr>
                                    </p:animEffect>
                                    <p:animScale>
                                      <p:cBhvr>
                                        <p:cTn id="8" dur="770" decel="100000"/>
                                        <p:tgtEl>
                                          <p:spTgt spid="13317"/>
                                        </p:tgtEl>
                                      </p:cBhvr>
                                      <p:from x="10000" y="10000"/>
                                      <p:to x="200000" y="450000"/>
                                    </p:animScale>
                                    <p:animScale>
                                      <p:cBhvr>
                                        <p:cTn id="9" dur="1230" accel="100000" fill="hold">
                                          <p:stCondLst>
                                            <p:cond delay="770"/>
                                          </p:stCondLst>
                                        </p:cTn>
                                        <p:tgtEl>
                                          <p:spTgt spid="13317"/>
                                        </p:tgtEl>
                                      </p:cBhvr>
                                      <p:from x="200000" y="450000"/>
                                      <p:to x="100000" y="100000"/>
                                    </p:animScale>
                                    <p:set>
                                      <p:cBhvr>
                                        <p:cTn id="10" dur="770" fill="hold"/>
                                        <p:tgtEl>
                                          <p:spTgt spid="13317"/>
                                        </p:tgtEl>
                                        <p:attrNameLst>
                                          <p:attrName>ppt_x</p:attrName>
                                        </p:attrNameLst>
                                      </p:cBhvr>
                                      <p:to>
                                        <p:strVal val="(0.5)"/>
                                      </p:to>
                                    </p:set>
                                    <p:anim from="(0.5)" to="(#ppt_x)" calcmode="lin" valueType="num">
                                      <p:cBhvr>
                                        <p:cTn id="11" dur="1230" accel="100000" fill="hold">
                                          <p:stCondLst>
                                            <p:cond delay="770"/>
                                          </p:stCondLst>
                                        </p:cTn>
                                        <p:tgtEl>
                                          <p:spTgt spid="13317"/>
                                        </p:tgtEl>
                                        <p:attrNameLst>
                                          <p:attrName>ppt_x</p:attrName>
                                        </p:attrNameLst>
                                      </p:cBhvr>
                                    </p:anim>
                                    <p:set>
                                      <p:cBhvr>
                                        <p:cTn id="12" dur="770" fill="hold"/>
                                        <p:tgtEl>
                                          <p:spTgt spid="13317"/>
                                        </p:tgtEl>
                                        <p:attrNameLst>
                                          <p:attrName>ppt_y</p:attrName>
                                        </p:attrNameLst>
                                      </p:cBhvr>
                                      <p:to>
                                        <p:strVal val="(#ppt_y+0.4)"/>
                                      </p:to>
                                    </p:set>
                                    <p:anim from="(#ppt_y+0.4)" to="(#ppt_y)" calcmode="lin" valueType="num">
                                      <p:cBhvr>
                                        <p:cTn id="13" dur="1230" accel="100000" fill="hold">
                                          <p:stCondLst>
                                            <p:cond delay="770"/>
                                          </p:stCondLst>
                                        </p:cTn>
                                        <p:tgtEl>
                                          <p:spTgt spid="13317"/>
                                        </p:tgtEl>
                                        <p:attrNameLst>
                                          <p:attrName>ppt_y</p:attrName>
                                        </p:attrNameLst>
                                      </p:cBhvr>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5" presetClass="entr" presetSubtype="0" fill="hold" grpId="0" nodeType="clickEffect">
                                  <p:stCondLst>
                                    <p:cond delay="0"/>
                                  </p:stCondLst>
                                  <p:childTnLst>
                                    <p:set>
                                      <p:cBhvr>
                                        <p:cTn id="17" dur="1" fill="hold">
                                          <p:stCondLst>
                                            <p:cond delay="0"/>
                                          </p:stCondLst>
                                        </p:cTn>
                                        <p:tgtEl>
                                          <p:spTgt spid="13320"/>
                                        </p:tgtEl>
                                        <p:attrNameLst>
                                          <p:attrName>style.visibility</p:attrName>
                                        </p:attrNameLst>
                                      </p:cBhvr>
                                      <p:to>
                                        <p:strVal val="visible"/>
                                      </p:to>
                                    </p:set>
                                    <p:anim calcmode="lin" valueType="num">
                                      <p:cBhvr>
                                        <p:cTn id="18" dur="1000" fill="hold"/>
                                        <p:tgtEl>
                                          <p:spTgt spid="13320"/>
                                        </p:tgtEl>
                                        <p:attrNameLst>
                                          <p:attrName>ppt_w</p:attrName>
                                        </p:attrNameLst>
                                      </p:cBhvr>
                                      <p:tavLst>
                                        <p:tav tm="0">
                                          <p:val>
                                            <p:fltVal val="0"/>
                                          </p:val>
                                        </p:tav>
                                        <p:tav tm="100000">
                                          <p:val>
                                            <p:strVal val="#ppt_w"/>
                                          </p:val>
                                        </p:tav>
                                      </p:tavLst>
                                    </p:anim>
                                    <p:anim calcmode="lin" valueType="num">
                                      <p:cBhvr>
                                        <p:cTn id="19" dur="1000" fill="hold"/>
                                        <p:tgtEl>
                                          <p:spTgt spid="13320"/>
                                        </p:tgtEl>
                                        <p:attrNameLst>
                                          <p:attrName>ppt_h</p:attrName>
                                        </p:attrNameLst>
                                      </p:cBhvr>
                                      <p:tavLst>
                                        <p:tav tm="0">
                                          <p:val>
                                            <p:fltVal val="0"/>
                                          </p:val>
                                        </p:tav>
                                        <p:tav tm="100000">
                                          <p:val>
                                            <p:strVal val="#ppt_h"/>
                                          </p:val>
                                        </p:tav>
                                      </p:tavLst>
                                    </p:anim>
                                    <p:anim calcmode="lin" valueType="num">
                                      <p:cBhvr>
                                        <p:cTn id="20" dur="1000" fill="hold"/>
                                        <p:tgtEl>
                                          <p:spTgt spid="13320"/>
                                        </p:tgtEl>
                                        <p:attrNameLst>
                                          <p:attrName>ppt_x</p:attrName>
                                        </p:attrNameLst>
                                      </p:cBhvr>
                                      <p:tavLst>
                                        <p:tav tm="0" fmla="#ppt_x+(cos(-2*pi*(1-$))*-#ppt_x-sin(-2*pi*(1-$))*(1-#ppt_y))*(1-$)">
                                          <p:val>
                                            <p:fltVal val="0"/>
                                          </p:val>
                                        </p:tav>
                                        <p:tav tm="100000">
                                          <p:val>
                                            <p:fltVal val="1"/>
                                          </p:val>
                                        </p:tav>
                                      </p:tavLst>
                                    </p:anim>
                                    <p:anim calcmode="lin" valueType="num">
                                      <p:cBhvr>
                                        <p:cTn id="21" dur="1000" fill="hold"/>
                                        <p:tgtEl>
                                          <p:spTgt spid="1332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48" presetClass="entr" presetSubtype="0" accel="50000" fill="hold" grpId="0" nodeType="clickEffect">
                                  <p:stCondLst>
                                    <p:cond delay="0"/>
                                  </p:stCondLst>
                                  <p:childTnLst>
                                    <p:set>
                                      <p:cBhvr>
                                        <p:cTn id="25" dur="1" fill="hold">
                                          <p:stCondLst>
                                            <p:cond delay="0"/>
                                          </p:stCondLst>
                                        </p:cTn>
                                        <p:tgtEl>
                                          <p:spTgt spid="13318"/>
                                        </p:tgtEl>
                                        <p:attrNameLst>
                                          <p:attrName>style.visibility</p:attrName>
                                        </p:attrNameLst>
                                      </p:cBhvr>
                                      <p:to>
                                        <p:strVal val="visible"/>
                                      </p:to>
                                    </p:set>
                                    <p:anim calcmode="lin" valueType="num">
                                      <p:cBhvr>
                                        <p:cTn id="26" dur="1000" fill="hold"/>
                                        <p:tgtEl>
                                          <p:spTgt spid="13318"/>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27" dur="1000" fill="hold"/>
                                        <p:tgtEl>
                                          <p:spTgt spid="13318"/>
                                        </p:tgtEl>
                                        <p:attrNameLst>
                                          <p:attrName>ppt_x</p:attrName>
                                        </p:attrNameLst>
                                      </p:cBhvr>
                                      <p:tavLst>
                                        <p:tav tm="0">
                                          <p:val>
                                            <p:fltVal val="-1"/>
                                          </p:val>
                                        </p:tav>
                                        <p:tav tm="50000">
                                          <p:val>
                                            <p:fltVal val="0.95"/>
                                          </p:val>
                                        </p:tav>
                                        <p:tav tm="100000">
                                          <p:val>
                                            <p:strVal val="#ppt_x"/>
                                          </p:val>
                                        </p:tav>
                                      </p:tavLst>
                                    </p:anim>
                                    <p:anim calcmode="lin" valueType="num">
                                      <p:cBhvr>
                                        <p:cTn id="28" dur="1000" fill="hold"/>
                                        <p:tgtEl>
                                          <p:spTgt spid="13318"/>
                                        </p:tgtEl>
                                        <p:attrNameLst>
                                          <p:attrName>ppt_y</p:attrName>
                                        </p:attrNameLst>
                                      </p:cBhvr>
                                      <p:tavLst>
                                        <p:tav tm="0">
                                          <p:val>
                                            <p:strVal val="#ppt_y"/>
                                          </p:val>
                                        </p:tav>
                                        <p:tav tm="100000">
                                          <p:val>
                                            <p:strVal val="#ppt_y"/>
                                          </p:val>
                                        </p:tav>
                                      </p:tavLst>
                                    </p:anim>
                                    <p:animEffect transition="in" filter="fade">
                                      <p:cBhvr>
                                        <p:cTn id="29" dur="1000"/>
                                        <p:tgtEl>
                                          <p:spTgt spid="1331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6" presetClass="entr" presetSubtype="0" fill="hold" grpId="0" nodeType="clickEffect">
                                  <p:stCondLst>
                                    <p:cond delay="0"/>
                                  </p:stCondLst>
                                  <p:childTnLst>
                                    <p:set>
                                      <p:cBhvr>
                                        <p:cTn id="33" dur="1" fill="hold">
                                          <p:stCondLst>
                                            <p:cond delay="0"/>
                                          </p:stCondLst>
                                        </p:cTn>
                                        <p:tgtEl>
                                          <p:spTgt spid="13319"/>
                                        </p:tgtEl>
                                        <p:attrNameLst>
                                          <p:attrName>style.visibility</p:attrName>
                                        </p:attrNameLst>
                                      </p:cBhvr>
                                      <p:to>
                                        <p:strVal val="visible"/>
                                      </p:to>
                                    </p:set>
                                    <p:animEffect transition="in" filter="wipe(down)">
                                      <p:cBhvr>
                                        <p:cTn id="34" dur="580">
                                          <p:stCondLst>
                                            <p:cond delay="0"/>
                                          </p:stCondLst>
                                        </p:cTn>
                                        <p:tgtEl>
                                          <p:spTgt spid="13319"/>
                                        </p:tgtEl>
                                      </p:cBhvr>
                                    </p:animEffect>
                                    <p:anim calcmode="lin" valueType="num">
                                      <p:cBhvr>
                                        <p:cTn id="35" dur="1822" tmFilter="0,0; 0.14,0.36; 0.43,0.73; 0.71,0.91; 1.0,1.0">
                                          <p:stCondLst>
                                            <p:cond delay="0"/>
                                          </p:stCondLst>
                                        </p:cTn>
                                        <p:tgtEl>
                                          <p:spTgt spid="13319"/>
                                        </p:tgtEl>
                                        <p:attrNameLst>
                                          <p:attrName>ppt_x</p:attrName>
                                        </p:attrNameLst>
                                      </p:cBhvr>
                                      <p:tavLst>
                                        <p:tav tm="0">
                                          <p:val>
                                            <p:strVal val="#ppt_x-0.25"/>
                                          </p:val>
                                        </p:tav>
                                        <p:tav tm="100000">
                                          <p:val>
                                            <p:strVal val="#ppt_x"/>
                                          </p:val>
                                        </p:tav>
                                      </p:tavLst>
                                    </p:anim>
                                    <p:anim calcmode="lin" valueType="num">
                                      <p:cBhvr>
                                        <p:cTn id="36" dur="664" tmFilter="0.0,0.0; 0.25,0.07; 0.50,0.2; 0.75,0.467; 1.0,1.0">
                                          <p:stCondLst>
                                            <p:cond delay="0"/>
                                          </p:stCondLst>
                                        </p:cTn>
                                        <p:tgtEl>
                                          <p:spTgt spid="13319"/>
                                        </p:tgtEl>
                                        <p:attrNameLst>
                                          <p:attrName>ppt_y</p:attrName>
                                        </p:attrNameLst>
                                      </p:cBhvr>
                                      <p:tavLst>
                                        <p:tav tm="0" fmla="#ppt_y-sin(pi*$)/3">
                                          <p:val>
                                            <p:fltVal val="0.5"/>
                                          </p:val>
                                        </p:tav>
                                        <p:tav tm="100000">
                                          <p:val>
                                            <p:fltVal val="1"/>
                                          </p:val>
                                        </p:tav>
                                      </p:tavLst>
                                    </p:anim>
                                    <p:anim calcmode="lin" valueType="num">
                                      <p:cBhvr>
                                        <p:cTn id="37" dur="664" tmFilter="0, 0; 0.125,0.2665; 0.25,0.4; 0.375,0.465; 0.5,0.5;  0.625,0.535; 0.75,0.6; 0.875,0.7335; 1,1">
                                          <p:stCondLst>
                                            <p:cond delay="664"/>
                                          </p:stCondLst>
                                        </p:cTn>
                                        <p:tgtEl>
                                          <p:spTgt spid="13319"/>
                                        </p:tgtEl>
                                        <p:attrNameLst>
                                          <p:attrName>ppt_y</p:attrName>
                                        </p:attrNameLst>
                                      </p:cBhvr>
                                      <p:tavLst>
                                        <p:tav tm="0" fmla="#ppt_y-sin(pi*$)/9">
                                          <p:val>
                                            <p:fltVal val="0"/>
                                          </p:val>
                                        </p:tav>
                                        <p:tav tm="100000">
                                          <p:val>
                                            <p:fltVal val="1"/>
                                          </p:val>
                                        </p:tav>
                                      </p:tavLst>
                                    </p:anim>
                                    <p:anim calcmode="lin" valueType="num">
                                      <p:cBhvr>
                                        <p:cTn id="38" dur="332" tmFilter="0, 0; 0.125,0.2665; 0.25,0.4; 0.375,0.465; 0.5,0.5;  0.625,0.535; 0.75,0.6; 0.875,0.7335; 1,1">
                                          <p:stCondLst>
                                            <p:cond delay="1324"/>
                                          </p:stCondLst>
                                        </p:cTn>
                                        <p:tgtEl>
                                          <p:spTgt spid="13319"/>
                                        </p:tgtEl>
                                        <p:attrNameLst>
                                          <p:attrName>ppt_y</p:attrName>
                                        </p:attrNameLst>
                                      </p:cBhvr>
                                      <p:tavLst>
                                        <p:tav tm="0" fmla="#ppt_y-sin(pi*$)/27">
                                          <p:val>
                                            <p:fltVal val="0"/>
                                          </p:val>
                                        </p:tav>
                                        <p:tav tm="100000">
                                          <p:val>
                                            <p:fltVal val="1"/>
                                          </p:val>
                                        </p:tav>
                                      </p:tavLst>
                                    </p:anim>
                                    <p:anim calcmode="lin" valueType="num">
                                      <p:cBhvr>
                                        <p:cTn id="39" dur="164" tmFilter="0, 0; 0.125,0.2665; 0.25,0.4; 0.375,0.465; 0.5,0.5;  0.625,0.535; 0.75,0.6; 0.875,0.7335; 1,1">
                                          <p:stCondLst>
                                            <p:cond delay="1656"/>
                                          </p:stCondLst>
                                        </p:cTn>
                                        <p:tgtEl>
                                          <p:spTgt spid="13319"/>
                                        </p:tgtEl>
                                        <p:attrNameLst>
                                          <p:attrName>ppt_y</p:attrName>
                                        </p:attrNameLst>
                                      </p:cBhvr>
                                      <p:tavLst>
                                        <p:tav tm="0" fmla="#ppt_y-sin(pi*$)/81">
                                          <p:val>
                                            <p:fltVal val="0"/>
                                          </p:val>
                                        </p:tav>
                                        <p:tav tm="100000">
                                          <p:val>
                                            <p:fltVal val="1"/>
                                          </p:val>
                                        </p:tav>
                                      </p:tavLst>
                                    </p:anim>
                                    <p:animScale>
                                      <p:cBhvr>
                                        <p:cTn id="40" dur="26">
                                          <p:stCondLst>
                                            <p:cond delay="650"/>
                                          </p:stCondLst>
                                        </p:cTn>
                                        <p:tgtEl>
                                          <p:spTgt spid="13319"/>
                                        </p:tgtEl>
                                      </p:cBhvr>
                                      <p:to x="100000" y="60000"/>
                                    </p:animScale>
                                    <p:animScale>
                                      <p:cBhvr>
                                        <p:cTn id="41" dur="166" decel="50000">
                                          <p:stCondLst>
                                            <p:cond delay="676"/>
                                          </p:stCondLst>
                                        </p:cTn>
                                        <p:tgtEl>
                                          <p:spTgt spid="13319"/>
                                        </p:tgtEl>
                                      </p:cBhvr>
                                      <p:to x="100000" y="100000"/>
                                    </p:animScale>
                                    <p:animScale>
                                      <p:cBhvr>
                                        <p:cTn id="42" dur="26">
                                          <p:stCondLst>
                                            <p:cond delay="1312"/>
                                          </p:stCondLst>
                                        </p:cTn>
                                        <p:tgtEl>
                                          <p:spTgt spid="13319"/>
                                        </p:tgtEl>
                                      </p:cBhvr>
                                      <p:to x="100000" y="80000"/>
                                    </p:animScale>
                                    <p:animScale>
                                      <p:cBhvr>
                                        <p:cTn id="43" dur="166" decel="50000">
                                          <p:stCondLst>
                                            <p:cond delay="1338"/>
                                          </p:stCondLst>
                                        </p:cTn>
                                        <p:tgtEl>
                                          <p:spTgt spid="13319"/>
                                        </p:tgtEl>
                                      </p:cBhvr>
                                      <p:to x="100000" y="100000"/>
                                    </p:animScale>
                                    <p:animScale>
                                      <p:cBhvr>
                                        <p:cTn id="44" dur="26">
                                          <p:stCondLst>
                                            <p:cond delay="1642"/>
                                          </p:stCondLst>
                                        </p:cTn>
                                        <p:tgtEl>
                                          <p:spTgt spid="13319"/>
                                        </p:tgtEl>
                                      </p:cBhvr>
                                      <p:to x="100000" y="90000"/>
                                    </p:animScale>
                                    <p:animScale>
                                      <p:cBhvr>
                                        <p:cTn id="45" dur="166" decel="50000">
                                          <p:stCondLst>
                                            <p:cond delay="1668"/>
                                          </p:stCondLst>
                                        </p:cTn>
                                        <p:tgtEl>
                                          <p:spTgt spid="13319"/>
                                        </p:tgtEl>
                                      </p:cBhvr>
                                      <p:to x="100000" y="100000"/>
                                    </p:animScale>
                                    <p:animScale>
                                      <p:cBhvr>
                                        <p:cTn id="46" dur="26">
                                          <p:stCondLst>
                                            <p:cond delay="1808"/>
                                          </p:stCondLst>
                                        </p:cTn>
                                        <p:tgtEl>
                                          <p:spTgt spid="13319"/>
                                        </p:tgtEl>
                                      </p:cBhvr>
                                      <p:to x="100000" y="95000"/>
                                    </p:animScale>
                                    <p:animScale>
                                      <p:cBhvr>
                                        <p:cTn id="47" dur="166" decel="50000">
                                          <p:stCondLst>
                                            <p:cond delay="1834"/>
                                          </p:stCondLst>
                                        </p:cTn>
                                        <p:tgtEl>
                                          <p:spTgt spid="1331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7" grpId="0" animBg="1"/>
      <p:bldP spid="13318" grpId="0" animBg="1"/>
      <p:bldP spid="13319" grpId="0" animBg="1"/>
      <p:bldP spid="1332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(٢)</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1. أُفرّق بين الموطن البيئي والموقع الملائم لكائن حي.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2. أُصنّف أنواع التفاعلات بين الكائنات الحية (تنافس، افتراس، تكافل).</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1" i="0">
                <a:solidFill>
                  <a:srgbClr val="A87B2E"/>
                </a:solidFill>
                <a:latin typeface="Arial"/>
                <a:ea typeface="Arial"/>
                <a:cs typeface="Arial"/>
              </a:rPr>
              <a:t>✦ 3. أُميّز بين أنواع التكافل الثلاثة، وأُصحّح المفهوم الخاطئ عن التطفل.</a:t>
            </a:r>
          </a:p>
        </p:txBody>
      </p:sp>
      <p:sp>
        <p:nvSpPr>
          <p:cNvPr id="10" name="TextBox 9"/>
          <p:cNvSpPr txBox="1"/>
          <p:nvPr/>
        </p:nvSpPr>
        <p:spPr>
          <a:xfrm>
            <a:off x="2590803" y="1162050"/>
            <a:ext cx="9458325" cy="438150"/>
          </a:xfrm>
          <a:prstGeom prst="rect">
            <a:avLst/>
          </a:prstGeom>
          <a:noFill/>
        </p:spPr>
        <p:txBody>
          <a:bodyPr wrap="square" lIns="0" tIns="0" rIns="0" bIns="0" anchor="ctr">
            <a:noAutofit/>
          </a:bodyPr>
          <a:lstStyle/>
          <a:p>
            <a:pPr algn="r" rtl="1"/>
            <a:r>
              <a:rPr lang="ar-AE" sz="2500" b="1" i="0">
                <a:solidFill>
                  <a:srgbClr val="173754"/>
                </a:solidFill>
                <a:latin typeface="Arial"/>
                <a:ea typeface="Arial"/>
                <a:cs typeface="Arial"/>
              </a:rPr>
              <a:t>أنواع التكافل الثلاثة</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5 د</a:t>
            </a:r>
          </a:p>
        </p:txBody>
      </p:sp>
      <p:sp>
        <p:nvSpPr>
          <p:cNvPr id="12" name="Rounded Rectangle 11"/>
          <p:cNvSpPr/>
          <p:nvPr/>
        </p:nvSpPr>
        <p:spPr>
          <a:xfrm>
            <a:off x="2590800" y="1600200"/>
            <a:ext cx="9458325" cy="952500"/>
          </a:xfrm>
          <a:prstGeom prst="roundRect">
            <a:avLst/>
          </a:prstGeom>
          <a:solidFill>
            <a:srgbClr val="F6F7F8"/>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r" rtl="1"/>
            <a:r>
              <a:rPr lang="ar-AE" sz="1450" b="1" i="0">
                <a:solidFill>
                  <a:srgbClr val="2E7D32"/>
                </a:solidFill>
                <a:latin typeface="Arial"/>
                <a:ea typeface="Arial"/>
                <a:cs typeface="Arial"/>
              </a:rPr>
              <a:t>تبادل المنفعة (Mutualism)</a:t>
            </a:r>
          </a:p>
          <a:p>
            <a:pPr algn="r" rtl="1">
              <a:spcBef>
                <a:spcPts val="300"/>
              </a:spcBef>
            </a:pPr>
            <a:r>
              <a:rPr lang="ar-AE" sz="1250" b="0" i="0">
                <a:solidFill>
                  <a:srgbClr val="10243B"/>
                </a:solidFill>
                <a:latin typeface="Arial"/>
                <a:ea typeface="Arial"/>
                <a:cs typeface="Arial"/>
              </a:rPr>
              <a:t>يستفيد كلا الكائنين من العلاقة.</a:t>
            </a:r>
          </a:p>
          <a:p>
            <a:pPr algn="r" rtl="1">
              <a:spcBef>
                <a:spcPts val="300"/>
              </a:spcBef>
            </a:pPr>
            <a:r>
              <a:rPr lang="ar-AE" sz="1150" b="0" i="1">
                <a:solidFill>
                  <a:srgbClr val="10243B"/>
                </a:solidFill>
                <a:latin typeface="Arial"/>
                <a:ea typeface="Arial"/>
                <a:cs typeface="Arial"/>
              </a:rPr>
              <a:t>مثال: النحلة والزهرة — النحلة تحصل على الرحيق والزهرة يُنقل غبار طلعها.</a:t>
            </a:r>
          </a:p>
        </p:txBody>
      </p:sp>
      <p:sp>
        <p:nvSpPr>
          <p:cNvPr id="13" name="Rounded Rectangle 12"/>
          <p:cNvSpPr/>
          <p:nvPr/>
        </p:nvSpPr>
        <p:spPr>
          <a:xfrm>
            <a:off x="2590800" y="2628900"/>
            <a:ext cx="9458325" cy="952500"/>
          </a:xfrm>
          <a:prstGeom prst="roundRect">
            <a:avLst/>
          </a:prstGeom>
          <a:solidFill>
            <a:srgbClr val="F6F7F8"/>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r" rtl="1"/>
            <a:r>
              <a:rPr lang="ar-AE" sz="1450" b="1" i="0">
                <a:solidFill>
                  <a:srgbClr val="0E6E6E"/>
                </a:solidFill>
                <a:latin typeface="Arial"/>
                <a:ea typeface="Arial"/>
                <a:cs typeface="Arial"/>
              </a:rPr>
              <a:t>التعايش (Commensalism)</a:t>
            </a:r>
          </a:p>
          <a:p>
            <a:pPr algn="r" rtl="1">
              <a:spcBef>
                <a:spcPts val="300"/>
              </a:spcBef>
            </a:pPr>
            <a:r>
              <a:rPr lang="ar-AE" sz="1250" b="0" i="0">
                <a:solidFill>
                  <a:srgbClr val="10243B"/>
                </a:solidFill>
                <a:latin typeface="Arial"/>
                <a:ea typeface="Arial"/>
                <a:cs typeface="Arial"/>
              </a:rPr>
              <a:t>يستفيد أحد الكائنين، بينما لا يتأثر الآخر (لا ضرر ولا نفع).</a:t>
            </a:r>
          </a:p>
          <a:p>
            <a:pPr algn="r" rtl="1">
              <a:spcBef>
                <a:spcPts val="300"/>
              </a:spcBef>
            </a:pPr>
            <a:r>
              <a:rPr lang="ar-AE" sz="1150" b="0" i="1">
                <a:solidFill>
                  <a:srgbClr val="10243B"/>
                </a:solidFill>
                <a:latin typeface="Arial"/>
                <a:ea typeface="Arial"/>
                <a:cs typeface="Arial"/>
              </a:rPr>
              <a:t>مثال: سمكة الريمورا وسمك القرش — تتنقل الريمورا وتتغذى على الفتات دون أن تؤذي القرش.</a:t>
            </a:r>
          </a:p>
        </p:txBody>
      </p:sp>
      <p:sp>
        <p:nvSpPr>
          <p:cNvPr id="14" name="Rounded Rectangle 13"/>
          <p:cNvSpPr/>
          <p:nvPr/>
        </p:nvSpPr>
        <p:spPr>
          <a:xfrm>
            <a:off x="2590800" y="3657600"/>
            <a:ext cx="9458325" cy="952500"/>
          </a:xfrm>
          <a:prstGeom prst="roundRect">
            <a:avLst/>
          </a:prstGeom>
          <a:solidFill>
            <a:srgbClr val="F6F7F8"/>
          </a:solidFill>
          <a:ln w="127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r" rtl="1"/>
            <a:r>
              <a:rPr lang="ar-AE" sz="1450" b="1" i="0">
                <a:solidFill>
                  <a:srgbClr val="B02A2A"/>
                </a:solidFill>
                <a:latin typeface="Arial"/>
                <a:ea typeface="Arial"/>
                <a:cs typeface="Arial"/>
              </a:rPr>
              <a:t>التطفل (Parasitism)</a:t>
            </a:r>
          </a:p>
          <a:p>
            <a:pPr algn="r" rtl="1">
              <a:spcBef>
                <a:spcPts val="300"/>
              </a:spcBef>
            </a:pPr>
            <a:r>
              <a:rPr lang="ar-AE" sz="1250" b="0" i="0">
                <a:solidFill>
                  <a:srgbClr val="10243B"/>
                </a:solidFill>
                <a:latin typeface="Arial"/>
                <a:ea typeface="Arial"/>
                <a:cs typeface="Arial"/>
              </a:rPr>
              <a:t>يستفيد الطفيلي ويتضرر عائله؛ لكنه غالباً لا يقتله (فموته يفقد الطفيلي مصدر غذائه).</a:t>
            </a:r>
          </a:p>
          <a:p>
            <a:pPr algn="r" rtl="1">
              <a:spcBef>
                <a:spcPts val="300"/>
              </a:spcBef>
            </a:pPr>
            <a:r>
              <a:rPr lang="ar-AE" sz="1150" b="0" i="1">
                <a:solidFill>
                  <a:srgbClr val="10243B"/>
                </a:solidFill>
                <a:latin typeface="Arial"/>
                <a:ea typeface="Arial"/>
                <a:cs typeface="Arial"/>
              </a:rPr>
              <a:t>مثال: القُراد والكلب. ⚠ تصحيح مفهوم خاطئ: لا يقتل الطفيلي عائله دائماً — بل يحرص عادة على بقائه حياً.</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(٢)</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1. أُفرّق بين الموطن البيئي والموقع الملائم لكائن حي.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2. أُصنّف أنواع التفاعلات بين الكائنات الحية (تنافس، افتراس، تكافل).</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1" i="0">
                <a:solidFill>
                  <a:srgbClr val="A87B2E"/>
                </a:solidFill>
                <a:latin typeface="Arial"/>
                <a:ea typeface="Arial"/>
                <a:cs typeface="Arial"/>
              </a:rPr>
              <a:t>✦ 3. أُميّز بين أنواع التكافل الثلاثة، وأُصحّح المفهوم الخاطئ عن التطفل.</a:t>
            </a:r>
          </a:p>
        </p:txBody>
      </p:sp>
      <p:sp>
        <p:nvSpPr>
          <p:cNvPr id="10" name="TextBox 9"/>
          <p:cNvSpPr txBox="1"/>
          <p:nvPr/>
        </p:nvSpPr>
        <p:spPr>
          <a:xfrm>
            <a:off x="2590804" y="1162050"/>
            <a:ext cx="9458325" cy="438150"/>
          </a:xfrm>
          <a:prstGeom prst="rect">
            <a:avLst/>
          </a:prstGeom>
          <a:noFill/>
        </p:spPr>
        <p:txBody>
          <a:bodyPr wrap="square" lIns="0" tIns="0" rIns="0" bIns="0" anchor="ctr">
            <a:noAutofit/>
          </a:bodyPr>
          <a:lstStyle/>
          <a:p>
            <a:pPr algn="r" rtl="1"/>
            <a:r>
              <a:rPr lang="ar-AE" sz="2500" b="1" i="0">
                <a:solidFill>
                  <a:srgbClr val="173754"/>
                </a:solidFill>
                <a:latin typeface="Arial"/>
                <a:ea typeface="Arial"/>
                <a:cs typeface="Arial"/>
              </a:rPr>
              <a:t>عصف ذهني: صنّف العلاقة</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4 د – عصف ذهني</a:t>
            </a:r>
          </a:p>
        </p:txBody>
      </p:sp>
      <p:sp>
        <p:nvSpPr>
          <p:cNvPr id="12" name="Rounded Rectangle 11"/>
          <p:cNvSpPr/>
          <p:nvPr/>
        </p:nvSpPr>
        <p:spPr>
          <a:xfrm>
            <a:off x="2590800" y="1619250"/>
            <a:ext cx="9458325" cy="2857500"/>
          </a:xfrm>
          <a:prstGeom prst="roundRect">
            <a:avLst/>
          </a:prstGeom>
          <a:solidFill>
            <a:srgbClr val="EFF3F8"/>
          </a:solidFill>
          <a:ln w="12700">
            <a:solidFill>
              <a:srgbClr val="0E6E6E"/>
            </a:solidFill>
          </a:ln>
          <a:effectLst/>
        </p:spPr>
        <p:style>
          <a:lnRef idx="1">
            <a:schemeClr val="accent1"/>
          </a:lnRef>
          <a:fillRef idx="3">
            <a:schemeClr val="accent1"/>
          </a:fillRef>
          <a:effectRef idx="2">
            <a:schemeClr val="accent1"/>
          </a:effectRef>
          <a:fontRef idx="minor">
            <a:schemeClr val="lt1"/>
          </a:fontRef>
        </p:style>
        <p:txBody>
          <a:bodyPr wrap="square" lIns="137160" tIns="91440" rtlCol="0" anchor="ctr"/>
          <a:lstStyle/>
          <a:p>
            <a:pPr algn="r" rtl="1"/>
            <a:r>
              <a:rPr lang="ar-AE" sz="1500" b="1" i="0">
                <a:solidFill>
                  <a:srgbClr val="0E6E6E"/>
                </a:solidFill>
                <a:latin typeface="Arial"/>
                <a:ea typeface="Arial"/>
                <a:cs typeface="Arial"/>
              </a:rPr>
              <a:t>🧠 بالعودة إلى أفكاركم من بداية الحصة:</a:t>
            </a:r>
          </a:p>
          <a:p>
            <a:pPr algn="r" rtl="1">
              <a:spcBef>
                <a:spcPts val="600"/>
              </a:spcBef>
            </a:pPr>
            <a:r>
              <a:rPr lang="ar-AE" sz="1350" b="0" i="0">
                <a:solidFill>
                  <a:srgbClr val="10243B"/>
                </a:solidFill>
                <a:latin typeface="Arial"/>
                <a:ea typeface="Arial"/>
                <a:cs typeface="Arial"/>
              </a:rPr>
              <a:t>•  راجعوا العلاقات التي ذكرتموها في العصف الذهني الأول.</a:t>
            </a:r>
          </a:p>
          <a:p>
            <a:pPr algn="r" rtl="1">
              <a:spcBef>
                <a:spcPts val="600"/>
              </a:spcBef>
            </a:pPr>
            <a:r>
              <a:rPr lang="ar-AE" sz="1350" b="0" i="0">
                <a:solidFill>
                  <a:srgbClr val="10243B"/>
                </a:solidFill>
                <a:latin typeface="Arial"/>
                <a:ea typeface="Arial"/>
                <a:cs typeface="Arial"/>
              </a:rPr>
              <a:t>•  أعيدوا تصنيف كل علاقة: تنافس؟ افتراس؟ أم أحد أنواع التكافل الثلاثة؟</a:t>
            </a:r>
          </a:p>
          <a:p>
            <a:pPr algn="r" rtl="1">
              <a:spcBef>
                <a:spcPts val="600"/>
              </a:spcBef>
            </a:pPr>
            <a:r>
              <a:rPr lang="ar-AE" sz="1350" b="0" i="0">
                <a:solidFill>
                  <a:srgbClr val="10243B"/>
                </a:solidFill>
                <a:latin typeface="Arial"/>
                <a:ea typeface="Arial"/>
                <a:cs typeface="Arial"/>
              </a:rPr>
              <a:t>•  لكل طالب فرصة لاقتراح تصنيف فكرة واحدة بصوت مرتفع، والصف يوافق أو يصحّح معاً.</a:t>
            </a:r>
          </a:p>
          <a:p>
            <a:pPr algn="r" rtl="1">
              <a:spcBef>
                <a:spcPts val="600"/>
              </a:spcBef>
            </a:pPr>
            <a:r>
              <a:rPr lang="ar-AE" sz="1350" b="0" i="0">
                <a:solidFill>
                  <a:srgbClr val="10243B"/>
                </a:solidFill>
                <a:latin typeface="Arial"/>
                <a:ea typeface="Arial"/>
                <a:cs typeface="Arial"/>
              </a:rPr>
              <a:t>•  🏆 تعزيز إيجابي فوري لكل تصنيف صحيح.</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5"/>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(٢)</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1. أُفرّق بين الموطن البيئي والموقع الملائم لكائن حي.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2. أُصنّف أنواع التفاعلات بين الكائنات الحية (تنافس، افتراس، تكافل).</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3. أُميّز بين أنواع التكافل الثلاثة، وأُصحّح المفهوم الخاطئ عن التطفل.</a:t>
            </a:r>
          </a:p>
        </p:txBody>
      </p:sp>
      <p:sp>
        <p:nvSpPr>
          <p:cNvPr id="10" name="TextBox 9"/>
          <p:cNvSpPr txBox="1"/>
          <p:nvPr/>
        </p:nvSpPr>
        <p:spPr>
          <a:xfrm>
            <a:off x="2590806" y="1162050"/>
            <a:ext cx="9458325" cy="438150"/>
          </a:xfrm>
          <a:prstGeom prst="rect">
            <a:avLst/>
          </a:prstGeom>
          <a:noFill/>
        </p:spPr>
        <p:txBody>
          <a:bodyPr wrap="square" lIns="0" tIns="0" rIns="0" bIns="0" anchor="ctr">
            <a:noAutofit/>
          </a:bodyPr>
          <a:lstStyle/>
          <a:p>
            <a:pPr algn="r" rtl="1"/>
            <a:r>
              <a:rPr lang="ar-AE" sz="2500" b="1" i="0">
                <a:solidFill>
                  <a:srgbClr val="173754"/>
                </a:solidFill>
                <a:latin typeface="Arial"/>
                <a:ea typeface="Arial"/>
                <a:cs typeface="Arial"/>
              </a:rPr>
              <a:t>الخاتمة والملخص العام 🏁</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3 د</a:t>
            </a:r>
          </a:p>
        </p:txBody>
      </p:sp>
      <p:pic>
        <p:nvPicPr>
          <p:cNvPr id="12" name="clip5_summary_s2.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8265795" y="1600200"/>
            <a:ext cx="3594163" cy="1809750"/>
          </a:xfrm>
          <a:prstGeom prst="rect">
            <a:avLst/>
          </a:prstGeom>
        </p:spPr>
      </p:pic>
      <p:sp>
        <p:nvSpPr>
          <p:cNvPr id="13" name="TextBox 12"/>
          <p:cNvSpPr txBox="1"/>
          <p:nvPr/>
        </p:nvSpPr>
        <p:spPr>
          <a:xfrm>
            <a:off x="2590800" y="1600200"/>
            <a:ext cx="5202078" cy="2857500"/>
          </a:xfrm>
          <a:prstGeom prst="rect">
            <a:avLst/>
          </a:prstGeom>
          <a:noFill/>
        </p:spPr>
        <p:txBody>
          <a:bodyPr wrap="square" lIns="0" tIns="0" rIns="0" bIns="0" anchor="t">
            <a:noAutofit/>
          </a:bodyPr>
          <a:lstStyle/>
          <a:p>
            <a:pPr algn="r" rtl="1"/>
            <a:r>
              <a:rPr lang="ar-AE" sz="1500" b="1" i="0">
                <a:solidFill>
                  <a:srgbClr val="A87B2E"/>
                </a:solidFill>
                <a:latin typeface="Arial"/>
                <a:ea typeface="Arial"/>
                <a:cs typeface="Arial"/>
              </a:rPr>
              <a:t>📌 ملخص القسم كاملاً:</a:t>
            </a:r>
          </a:p>
          <a:p>
            <a:pPr algn="r" rtl="1">
              <a:spcBef>
                <a:spcPts val="400"/>
              </a:spcBef>
            </a:pPr>
            <a:r>
              <a:rPr lang="ar-AE" sz="1250" b="0" i="0">
                <a:solidFill>
                  <a:srgbClr val="10243B"/>
                </a:solidFill>
                <a:latin typeface="Arial"/>
                <a:ea typeface="Arial"/>
                <a:cs typeface="Arial"/>
              </a:rPr>
              <a:t>✔ علم البيئة يدرس علاقات الكائنات الحية ببيئتها ضمن الغلاف الحيوي، بعواملها الحيوية وغير الحيوية.</a:t>
            </a:r>
          </a:p>
          <a:p>
            <a:pPr algn="r" rtl="1">
              <a:spcBef>
                <a:spcPts val="400"/>
              </a:spcBef>
            </a:pPr>
            <a:r>
              <a:rPr lang="ar-AE" sz="1250" b="0" i="0">
                <a:solidFill>
                  <a:srgbClr val="10243B"/>
                </a:solidFill>
                <a:latin typeface="Arial"/>
                <a:ea typeface="Arial"/>
                <a:cs typeface="Arial"/>
              </a:rPr>
              <a:t>✔ تتدرّج مستويات التنظيم البيئي من الكائن الحي إلى الغلاف الحيوي.</a:t>
            </a:r>
          </a:p>
          <a:p>
            <a:pPr algn="r" rtl="1">
              <a:spcBef>
                <a:spcPts val="400"/>
              </a:spcBef>
            </a:pPr>
            <a:r>
              <a:rPr lang="ar-AE" sz="1250" b="0" i="0">
                <a:solidFill>
                  <a:srgbClr val="10243B"/>
                </a:solidFill>
                <a:latin typeface="Arial"/>
                <a:ea typeface="Arial"/>
                <a:cs typeface="Arial"/>
              </a:rPr>
              <a:t>✔ لكل كائن موطن بيئي وموقع ملائم خاص به.</a:t>
            </a:r>
          </a:p>
          <a:p>
            <a:pPr algn="r" rtl="1">
              <a:spcBef>
                <a:spcPts val="400"/>
              </a:spcBef>
            </a:pPr>
            <a:r>
              <a:rPr lang="ar-AE" sz="1250" b="0" i="0">
                <a:solidFill>
                  <a:srgbClr val="10243B"/>
                </a:solidFill>
                <a:latin typeface="Arial"/>
                <a:ea typeface="Arial"/>
                <a:cs typeface="Arial"/>
              </a:rPr>
              <a:t>✔ تتفاعل الكائنات الحية عبر: التنافس، الافتراس، أو أحد أنواع التكافل الثلاثة.</a:t>
            </a:r>
          </a:p>
          <a:p>
            <a:pPr algn="r" rtl="1">
              <a:spcBef>
                <a:spcPts val="800"/>
              </a:spcBef>
            </a:pPr>
            <a:r>
              <a:rPr lang="ar-AE" sz="1300" b="1" i="0">
                <a:solidFill>
                  <a:srgbClr val="2E7D32"/>
                </a:solidFill>
                <a:latin typeface="Arial"/>
                <a:ea typeface="Arial"/>
                <a:cs typeface="Arial"/>
              </a:rPr>
              <a:t>🏆 تكريم أكثر المشاركين تميّزاً في العصف الذهني.</a:t>
            </a:r>
          </a:p>
          <a:p>
            <a:pPr algn="r" rtl="1">
              <a:spcBef>
                <a:spcPts val="600"/>
              </a:spcBef>
            </a:pPr>
            <a:r>
              <a:rPr lang="ar-AE" sz="1250" b="0" i="0">
                <a:solidFill>
                  <a:srgbClr val="10243B"/>
                </a:solidFill>
                <a:latin typeface="Arial"/>
                <a:ea typeface="Arial"/>
                <a:cs typeface="Arial"/>
              </a:rPr>
              <a:t>📝 الواجب: اختر علاقتين من بيئتك المحلية وصنّفهما مع التعليل.</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12"/>
                </p:tgtEl>
              </p:cMediaNode>
            </p:video>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50afe0fb-image.jp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1123950" y="781050"/>
            <a:ext cx="2200275"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الوحدة 1: مبادئ علم البيئة</a:t>
            </a:r>
          </a:p>
        </p:txBody>
      </p:sp>
      <p:sp>
        <p:nvSpPr>
          <p:cNvPr id="4" name="TextBox 3"/>
          <p:cNvSpPr txBox="1"/>
          <p:nvPr/>
        </p:nvSpPr>
        <p:spPr>
          <a:xfrm>
            <a:off x="3476625" y="781050"/>
            <a:ext cx="3933824" cy="190500"/>
          </a:xfrm>
          <a:prstGeom prst="rect">
            <a:avLst/>
          </a:prstGeom>
          <a:noFill/>
        </p:spPr>
        <p:txBody>
          <a:bodyPr wrap="square" lIns="0" tIns="0" rIns="0" bIns="0" anchor="ctr">
            <a:noAutofit/>
          </a:bodyPr>
          <a:lstStyle/>
          <a:p>
            <a:pPr algn="ctr" rtl="1"/>
            <a:r>
              <a:rPr lang="ar-AE" sz="1050" b="1" i="0">
                <a:solidFill>
                  <a:srgbClr val="173754"/>
                </a:solidFill>
                <a:latin typeface="Arial"/>
                <a:ea typeface="Arial"/>
                <a:cs typeface="Arial"/>
              </a:rPr>
              <a:t>القسم 1: الكائنات الحية وعلاقاتها المتبادلة (٢)</a:t>
            </a:r>
          </a:p>
        </p:txBody>
      </p:sp>
      <p:sp>
        <p:nvSpPr>
          <p:cNvPr id="5" name="TextBox 4"/>
          <p:cNvSpPr txBox="1"/>
          <p:nvPr/>
        </p:nvSpPr>
        <p:spPr>
          <a:xfrm>
            <a:off x="7562850" y="781050"/>
            <a:ext cx="2076450" cy="190500"/>
          </a:xfrm>
          <a:prstGeom prst="rect">
            <a:avLst/>
          </a:prstGeom>
          <a:noFill/>
        </p:spPr>
        <p:txBody>
          <a:bodyPr wrap="square" lIns="0" tIns="0" rIns="0" bIns="0" anchor="ctr">
            <a:noAutofit/>
          </a:bodyPr>
          <a:lstStyle/>
          <a:p>
            <a:pPr algn="ctr" rtl="1"/>
            <a:endParaRPr/>
          </a:p>
        </p:txBody>
      </p:sp>
      <p:sp>
        <p:nvSpPr>
          <p:cNvPr id="6" name="TextBox 5"/>
          <p:cNvSpPr txBox="1"/>
          <p:nvPr/>
        </p:nvSpPr>
        <p:spPr>
          <a:xfrm>
            <a:off x="9810750" y="781050"/>
            <a:ext cx="2076450" cy="190500"/>
          </a:xfrm>
          <a:prstGeom prst="rect">
            <a:avLst/>
          </a:prstGeom>
          <a:noFill/>
        </p:spPr>
        <p:txBody>
          <a:bodyPr wrap="square" lIns="0" tIns="0" rIns="0" bIns="0" anchor="ctr">
            <a:noAutofit/>
          </a:bodyPr>
          <a:lstStyle/>
          <a:p>
            <a:pPr algn="ctr" rtl="1"/>
            <a:endParaRPr/>
          </a:p>
        </p:txBody>
      </p:sp>
      <p:sp>
        <p:nvSpPr>
          <p:cNvPr id="7" name="TextBox 6"/>
          <p:cNvSpPr txBox="1"/>
          <p:nvPr/>
        </p:nvSpPr>
        <p:spPr>
          <a:xfrm>
            <a:off x="457200" y="1800225"/>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1. أُفرّق بين الموطن البيئي والموقع الملائم لكائن حي.</a:t>
            </a:r>
          </a:p>
        </p:txBody>
      </p:sp>
      <p:sp>
        <p:nvSpPr>
          <p:cNvPr id="8" name="TextBox 7"/>
          <p:cNvSpPr txBox="1"/>
          <p:nvPr/>
        </p:nvSpPr>
        <p:spPr>
          <a:xfrm>
            <a:off x="457200" y="2095499"/>
            <a:ext cx="1876425" cy="228600"/>
          </a:xfrm>
          <a:prstGeom prst="rect">
            <a:avLst/>
          </a:prstGeom>
          <a:noFill/>
        </p:spPr>
        <p:txBody>
          <a:bodyPr wrap="square" lIns="0" tIns="0" rIns="0" bIns="0" anchor="ctr">
            <a:noAutofit/>
          </a:bodyPr>
          <a:lstStyle/>
          <a:p>
            <a:pPr algn="r" rtl="1"/>
            <a:r>
              <a:rPr lang="ar-AE" sz="830" b="0" i="0">
                <a:solidFill>
                  <a:srgbClr val="173754"/>
                </a:solidFill>
                <a:latin typeface="Arial"/>
                <a:ea typeface="Arial"/>
                <a:cs typeface="Arial"/>
              </a:rPr>
              <a:t>2. أُصنّف أنواع التفاعلات بين الكائنات الحية (تنافس، افتراس، تكافل).</a:t>
            </a:r>
          </a:p>
        </p:txBody>
      </p:sp>
      <p:sp>
        <p:nvSpPr>
          <p:cNvPr id="9" name="TextBox 8"/>
          <p:cNvSpPr txBox="1"/>
          <p:nvPr/>
        </p:nvSpPr>
        <p:spPr>
          <a:xfrm>
            <a:off x="457200" y="2390775"/>
            <a:ext cx="1876425" cy="228600"/>
          </a:xfrm>
          <a:prstGeom prst="rect">
            <a:avLst/>
          </a:prstGeom>
          <a:noFill/>
        </p:spPr>
        <p:txBody>
          <a:bodyPr wrap="square" lIns="0" tIns="0" rIns="0" bIns="0" anchor="ctr">
            <a:noAutofit/>
          </a:bodyPr>
          <a:lstStyle/>
          <a:p>
            <a:pPr algn="r" rtl="1"/>
            <a:r>
              <a:rPr lang="ar-AE" sz="830" b="1" i="0">
                <a:solidFill>
                  <a:srgbClr val="A87B2E"/>
                </a:solidFill>
                <a:latin typeface="Arial"/>
                <a:ea typeface="Arial"/>
                <a:cs typeface="Arial"/>
              </a:rPr>
              <a:t>✦ 3. أُميّز بين أنواع التكافل الثلاثة، وأُصحّح المفهوم الخاطئ عن التطفل.</a:t>
            </a:r>
          </a:p>
        </p:txBody>
      </p:sp>
      <p:sp>
        <p:nvSpPr>
          <p:cNvPr id="10" name="TextBox 9"/>
          <p:cNvSpPr txBox="1"/>
          <p:nvPr/>
        </p:nvSpPr>
        <p:spPr>
          <a:xfrm>
            <a:off x="2590805" y="1162050"/>
            <a:ext cx="9458325" cy="438150"/>
          </a:xfrm>
          <a:prstGeom prst="rect">
            <a:avLst/>
          </a:prstGeom>
          <a:noFill/>
        </p:spPr>
        <p:txBody>
          <a:bodyPr wrap="square" lIns="0" tIns="0" rIns="0" bIns="0" anchor="ctr">
            <a:noAutofit/>
          </a:bodyPr>
          <a:lstStyle/>
          <a:p>
            <a:pPr algn="r" rtl="1"/>
            <a:r>
              <a:rPr lang="ar-AE" sz="2500" b="1" i="0">
                <a:solidFill>
                  <a:srgbClr val="173754"/>
                </a:solidFill>
                <a:latin typeface="Arial"/>
                <a:ea typeface="Arial"/>
                <a:cs typeface="Arial"/>
              </a:rPr>
              <a:t>تقييم تكويني ٣ + تقييم ذاتي ✓</a:t>
            </a:r>
          </a:p>
        </p:txBody>
      </p:sp>
      <p:sp>
        <p:nvSpPr>
          <p:cNvPr id="11" name="Rounded Rectangle 10"/>
          <p:cNvSpPr/>
          <p:nvPr/>
        </p:nvSpPr>
        <p:spPr>
          <a:xfrm>
            <a:off x="2590800" y="1162050"/>
            <a:ext cx="1428750" cy="266700"/>
          </a:xfrm>
          <a:prstGeom prst="roundRect">
            <a:avLst/>
          </a:prstGeom>
          <a:solidFill>
            <a:srgbClr val="173754"/>
          </a:solidFill>
          <a:ln>
            <a:noFill/>
          </a:ln>
          <a:effectLst/>
        </p:spPr>
        <p:style>
          <a:lnRef idx="1">
            <a:schemeClr val="accent1"/>
          </a:lnRef>
          <a:fillRef idx="3">
            <a:schemeClr val="accent1"/>
          </a:fillRef>
          <a:effectRef idx="2">
            <a:schemeClr val="accent1"/>
          </a:effectRef>
          <a:fontRef idx="minor">
            <a:schemeClr val="lt1"/>
          </a:fontRef>
        </p:style>
        <p:txBody>
          <a:bodyPr lIns="45720" rIns="45720" rtlCol="0" anchor="ctr"/>
          <a:lstStyle/>
          <a:p>
            <a:pPr algn="ctr" rtl="1"/>
            <a:r>
              <a:rPr lang="ar-AE" sz="1050" b="1" i="0">
                <a:solidFill>
                  <a:srgbClr val="FFFFFF"/>
                </a:solidFill>
                <a:latin typeface="Arial"/>
                <a:ea typeface="Arial"/>
                <a:cs typeface="Arial"/>
              </a:rPr>
              <a:t>⏱ 3 د</a:t>
            </a:r>
          </a:p>
        </p:txBody>
      </p:sp>
      <p:sp>
        <p:nvSpPr>
          <p:cNvPr id="12" name="Rounded Rectangle 11"/>
          <p:cNvSpPr/>
          <p:nvPr/>
        </p:nvSpPr>
        <p:spPr>
          <a:xfrm>
            <a:off x="2590800" y="4667250"/>
            <a:ext cx="9458325" cy="904875"/>
          </a:xfrm>
          <a:prstGeom prst="roundRect">
            <a:avLst/>
          </a:prstGeom>
          <a:solidFill>
            <a:srgbClr val="EAF3EC"/>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37160" tIns="54864" rIns="137160" bIns="54864" rtlCol="0" anchor="ctr"/>
          <a:lstStyle/>
          <a:p>
            <a:pPr algn="r" rtl="1"/>
            <a:r>
              <a:rPr lang="ar-AE" sz="1200" b="1" i="0">
                <a:solidFill>
                  <a:srgbClr val="2E7D32"/>
                </a:solidFill>
                <a:latin typeface="Arial"/>
                <a:ea typeface="Arial"/>
                <a:cs typeface="Arial"/>
              </a:rPr>
              <a:t>تقييم تكويني ✓</a:t>
            </a:r>
          </a:p>
          <a:p>
            <a:pPr algn="r" rtl="1"/>
            <a:r>
              <a:rPr lang="ar-AE" sz="1450" b="0" i="0">
                <a:solidFill>
                  <a:srgbClr val="10243B"/>
                </a:solidFill>
                <a:latin typeface="Arial"/>
                <a:ea typeface="Arial"/>
                <a:cs typeface="Arial"/>
              </a:rPr>
              <a:t>صنّف: (نحلة وزهرة) – (قُراد وكلب) – (ريمورا وقرش) إلى نوع التكافل المناسب.</a:t>
            </a:r>
          </a:p>
        </p:txBody>
      </p:sp>
      <p:sp>
        <p:nvSpPr>
          <p:cNvPr id="13" name="Rounded Rectangle 12"/>
          <p:cNvSpPr/>
          <p:nvPr/>
        </p:nvSpPr>
        <p:spPr>
          <a:xfrm>
            <a:off x="2590800" y="2590800"/>
            <a:ext cx="9458325" cy="1428750"/>
          </a:xfrm>
          <a:prstGeom prst="roundRect">
            <a:avLst/>
          </a:prstGeom>
          <a:solidFill>
            <a:srgbClr val="FBF3E3"/>
          </a:solidFill>
          <a:ln w="12700">
            <a:solidFill>
              <a:srgbClr val="A87B2E"/>
            </a:solidFill>
          </a:ln>
          <a:effectLst/>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r" rtl="1"/>
            <a:r>
              <a:rPr lang="ar-AE" sz="1400" b="1" i="0">
                <a:solidFill>
                  <a:srgbClr val="A87B2E"/>
                </a:solidFill>
                <a:latin typeface="Arial"/>
                <a:ea typeface="Arial"/>
                <a:cs typeface="Arial"/>
              </a:rPr>
              <a:t>🌡️ قيّم فهمك لنفسك:</a:t>
            </a:r>
          </a:p>
          <a:p>
            <a:pPr algn="r" rtl="1">
              <a:spcBef>
                <a:spcPts val="600"/>
              </a:spcBef>
            </a:pPr>
            <a:r>
              <a:rPr lang="ar-AE" sz="1450" b="0" i="0">
                <a:solidFill>
                  <a:srgbClr val="10243B"/>
                </a:solidFill>
                <a:latin typeface="Arial"/>
                <a:ea typeface="Arial"/>
                <a:cs typeface="Arial"/>
              </a:rPr>
              <a:t>😀 فهمت جيداً      😐 بحاجة لمراجعة بسيطة      😕 أحتاج مساعدة إضافية</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6"/>
          <p:cNvPicPr>
            <a:picLocks noChangeAspect="1" noChangeArrowheads="1"/>
          </p:cNvPicPr>
          <p:nvPr/>
        </p:nvPicPr>
        <p:blipFill rotWithShape="1">
          <a:blip r:embed="rId3" cstate="print"/>
          <a:srcRect t="15350"/>
          <a:stretch/>
        </p:blipFill>
        <p:spPr bwMode="auto">
          <a:xfrm>
            <a:off x="1736564" y="814400"/>
            <a:ext cx="8786813" cy="5805264"/>
          </a:xfrm>
          <a:prstGeom prst="rect">
            <a:avLst/>
          </a:prstGeom>
          <a:noFill/>
          <a:ln w="9525">
            <a:noFill/>
            <a:miter lim="800000"/>
            <a:headEnd/>
            <a:tailEnd/>
          </a:ln>
        </p:spPr>
      </p:pic>
      <p:sp>
        <p:nvSpPr>
          <p:cNvPr id="26" name="Rectangle 3"/>
          <p:cNvSpPr>
            <a:spLocks noChangeArrowheads="1"/>
          </p:cNvSpPr>
          <p:nvPr/>
        </p:nvSpPr>
        <p:spPr bwMode="auto">
          <a:xfrm>
            <a:off x="1844551" y="2276873"/>
            <a:ext cx="7599363" cy="731837"/>
          </a:xfrm>
          <a:prstGeom prst="rect">
            <a:avLst/>
          </a:prstGeom>
          <a:noFill/>
          <a:ln w="9525">
            <a:noFill/>
            <a:miter lim="800000"/>
            <a:headEnd/>
            <a:tailEnd/>
          </a:ln>
        </p:spPr>
        <p:txBody>
          <a:bodyPr/>
          <a:lstStyle/>
          <a:p>
            <a:pPr algn="r" defTabSz="914400" rtl="1" fontAlgn="base">
              <a:spcBef>
                <a:spcPct val="0"/>
              </a:spcBef>
              <a:spcAft>
                <a:spcPct val="0"/>
              </a:spcAft>
            </a:pPr>
            <a:r>
              <a:rPr lang="ar-EG" sz="2400" b="1" dirty="0">
                <a:solidFill>
                  <a:srgbClr val="FF0000"/>
                </a:solidFill>
                <a:latin typeface="Times New Roman" pitchFamily="18" charset="0"/>
                <a:cs typeface="Arial" pitchFamily="34" charset="0"/>
              </a:rPr>
              <a:t>هو</a:t>
            </a:r>
            <a:r>
              <a:rPr lang="ar-AE" sz="2400" b="1" dirty="0">
                <a:solidFill>
                  <a:srgbClr val="FF0000"/>
                </a:solidFill>
                <a:latin typeface="Times New Roman" pitchFamily="18" charset="0"/>
                <a:cs typeface="Arial" pitchFamily="34" charset="0"/>
              </a:rPr>
              <a:t> فرع متخصص من العلوم يدرس العلاقات المتبادلة بين الكائنات الحية وتفاعلاتها مع بيئاته </a:t>
            </a:r>
            <a:r>
              <a:rPr lang="ar-EG" sz="2400" b="1" dirty="0">
                <a:solidFill>
                  <a:srgbClr val="FF0000"/>
                </a:solidFill>
                <a:latin typeface="Times New Roman" pitchFamily="18" charset="0"/>
                <a:cs typeface="Arial" pitchFamily="34" charset="0"/>
              </a:rPr>
              <a:t>.</a:t>
            </a:r>
            <a:endParaRPr lang="en-US" sz="2400" b="1" dirty="0">
              <a:solidFill>
                <a:srgbClr val="FF0000"/>
              </a:solidFill>
              <a:latin typeface="Times New Roman" pitchFamily="18" charset="0"/>
              <a:cs typeface="Arial" pitchFamily="34" charset="0"/>
            </a:endParaRPr>
          </a:p>
        </p:txBody>
      </p:sp>
      <p:sp>
        <p:nvSpPr>
          <p:cNvPr id="27" name="Rectangle 3"/>
          <p:cNvSpPr>
            <a:spLocks noChangeArrowheads="1"/>
          </p:cNvSpPr>
          <p:nvPr/>
        </p:nvSpPr>
        <p:spPr bwMode="auto">
          <a:xfrm>
            <a:off x="4042568" y="3145532"/>
            <a:ext cx="4945732" cy="571500"/>
          </a:xfrm>
          <a:prstGeom prst="rect">
            <a:avLst/>
          </a:prstGeom>
          <a:noFill/>
          <a:ln w="9525">
            <a:noFill/>
            <a:miter lim="800000"/>
            <a:headEnd/>
            <a:tailEnd/>
          </a:ln>
        </p:spPr>
        <p:txBody>
          <a:bodyPr/>
          <a:lstStyle/>
          <a:p>
            <a:pPr algn="ctr" defTabSz="914400" rtl="1" fontAlgn="base">
              <a:spcBef>
                <a:spcPct val="0"/>
              </a:spcBef>
              <a:spcAft>
                <a:spcPct val="0"/>
              </a:spcAft>
            </a:pPr>
            <a:r>
              <a:rPr lang="ar-AE" sz="2400" b="1" dirty="0">
                <a:solidFill>
                  <a:srgbClr val="FF0000"/>
                </a:solidFill>
                <a:latin typeface="Times New Roman" pitchFamily="18" charset="0"/>
                <a:cs typeface="Arial" pitchFamily="34" charset="0"/>
              </a:rPr>
              <a:t>الجزء من الكرة الأرضية الذي يدعم الحياة</a:t>
            </a:r>
            <a:r>
              <a:rPr lang="ar-EG" sz="2400" b="1" dirty="0">
                <a:solidFill>
                  <a:srgbClr val="FF0000"/>
                </a:solidFill>
                <a:latin typeface="Times New Roman" pitchFamily="18" charset="0"/>
                <a:cs typeface="Arial" pitchFamily="34" charset="0"/>
              </a:rPr>
              <a:t>.</a:t>
            </a:r>
            <a:endParaRPr lang="en-US" sz="2400" b="1" dirty="0">
              <a:solidFill>
                <a:srgbClr val="FF0000"/>
              </a:solidFill>
              <a:latin typeface="Times New Roman" pitchFamily="18" charset="0"/>
              <a:cs typeface="Arial" pitchFamily="34" charset="0"/>
            </a:endParaRPr>
          </a:p>
        </p:txBody>
      </p:sp>
      <p:sp>
        <p:nvSpPr>
          <p:cNvPr id="28" name="Rectangle 3"/>
          <p:cNvSpPr>
            <a:spLocks noChangeArrowheads="1"/>
          </p:cNvSpPr>
          <p:nvPr/>
        </p:nvSpPr>
        <p:spPr bwMode="auto">
          <a:xfrm>
            <a:off x="1558801" y="3950741"/>
            <a:ext cx="7572375" cy="857250"/>
          </a:xfrm>
          <a:prstGeom prst="rect">
            <a:avLst/>
          </a:prstGeom>
          <a:noFill/>
          <a:ln w="9525">
            <a:noFill/>
            <a:miter lim="800000"/>
            <a:headEnd/>
            <a:tailEnd/>
          </a:ln>
        </p:spPr>
        <p:txBody>
          <a:bodyPr/>
          <a:lstStyle/>
          <a:p>
            <a:pPr marL="342900" indent="-342900" algn="r" defTabSz="914400" rtl="1" fontAlgn="base">
              <a:spcBef>
                <a:spcPct val="20000"/>
              </a:spcBef>
              <a:spcAft>
                <a:spcPct val="0"/>
              </a:spcAft>
            </a:pPr>
            <a:r>
              <a:rPr lang="ar-AE" sz="2400" b="1" dirty="0">
                <a:solidFill>
                  <a:srgbClr val="FF0000"/>
                </a:solidFill>
                <a:latin typeface="Times New Roman" pitchFamily="18" charset="0"/>
                <a:cs typeface="Arial" pitchFamily="34" charset="0"/>
              </a:rPr>
              <a:t>هو أي جزء في الطبيعة يتكون من مكونات غير حية وكائنات حية نختصه بالدراسة ويفصله عن الوسط الخارجي حدود</a:t>
            </a:r>
          </a:p>
        </p:txBody>
      </p:sp>
      <p:sp>
        <p:nvSpPr>
          <p:cNvPr id="29" name="Rectangle 3"/>
          <p:cNvSpPr>
            <a:spLocks noChangeArrowheads="1"/>
          </p:cNvSpPr>
          <p:nvPr/>
        </p:nvSpPr>
        <p:spPr bwMode="auto">
          <a:xfrm>
            <a:off x="1558800" y="4807991"/>
            <a:ext cx="7143750" cy="571500"/>
          </a:xfrm>
          <a:prstGeom prst="rect">
            <a:avLst/>
          </a:prstGeom>
          <a:noFill/>
          <a:ln w="9525">
            <a:noFill/>
            <a:miter lim="800000"/>
            <a:headEnd/>
            <a:tailEnd/>
          </a:ln>
        </p:spPr>
        <p:txBody>
          <a:bodyPr/>
          <a:lstStyle/>
          <a:p>
            <a:pPr marL="342900" indent="-342900" algn="r" defTabSz="914400" rtl="1" fontAlgn="base">
              <a:spcBef>
                <a:spcPct val="20000"/>
              </a:spcBef>
              <a:spcAft>
                <a:spcPct val="0"/>
              </a:spcAft>
            </a:pPr>
            <a:r>
              <a:rPr lang="ar-AE" sz="2400" b="1" dirty="0">
                <a:solidFill>
                  <a:srgbClr val="FF0000"/>
                </a:solidFill>
                <a:latin typeface="Times New Roman" pitchFamily="18" charset="0"/>
                <a:cs typeface="Arial" pitchFamily="34" charset="0"/>
              </a:rPr>
              <a:t>هي الكائنات الحية المختلفة المتفاعلة معاً</a:t>
            </a:r>
          </a:p>
        </p:txBody>
      </p:sp>
      <p:sp>
        <p:nvSpPr>
          <p:cNvPr id="30" name="Rectangle 3"/>
          <p:cNvSpPr>
            <a:spLocks noChangeArrowheads="1"/>
          </p:cNvSpPr>
          <p:nvPr/>
        </p:nvSpPr>
        <p:spPr bwMode="auto">
          <a:xfrm>
            <a:off x="1558800" y="5593804"/>
            <a:ext cx="7143750" cy="571500"/>
          </a:xfrm>
          <a:prstGeom prst="rect">
            <a:avLst/>
          </a:prstGeom>
          <a:noFill/>
          <a:ln w="9525">
            <a:noFill/>
            <a:miter lim="800000"/>
            <a:headEnd/>
            <a:tailEnd/>
          </a:ln>
        </p:spPr>
        <p:txBody>
          <a:bodyPr/>
          <a:lstStyle/>
          <a:p>
            <a:pPr marL="342900" indent="-342900" algn="r" defTabSz="914400" rtl="1" fontAlgn="base">
              <a:spcBef>
                <a:spcPct val="20000"/>
              </a:spcBef>
              <a:spcAft>
                <a:spcPct val="0"/>
              </a:spcAft>
            </a:pPr>
            <a:r>
              <a:rPr lang="ar-AE" sz="2400" b="1" dirty="0">
                <a:solidFill>
                  <a:srgbClr val="FF0000"/>
                </a:solidFill>
                <a:latin typeface="Times New Roman" pitchFamily="18" charset="0"/>
                <a:cs typeface="Arial" pitchFamily="34" charset="0"/>
              </a:rPr>
              <a:t>هي نوع واحد من الكائنات الحية متواجدة معاً في مكان محدد في الوقت نفسه</a:t>
            </a:r>
          </a:p>
        </p:txBody>
      </p:sp>
      <p:sp>
        <p:nvSpPr>
          <p:cNvPr id="9" name="Rectangle 2"/>
          <p:cNvSpPr txBox="1">
            <a:spLocks noChangeArrowheads="1"/>
          </p:cNvSpPr>
          <p:nvPr/>
        </p:nvSpPr>
        <p:spPr bwMode="auto">
          <a:xfrm>
            <a:off x="8616280" y="67990"/>
            <a:ext cx="1907096" cy="912738"/>
          </a:xfrm>
          <a:prstGeom prst="rect">
            <a:avLst/>
          </a:prstGeom>
          <a:ln>
            <a:headEnd/>
            <a:tailEnd/>
          </a:ln>
        </p:spPr>
        <p:style>
          <a:lnRef idx="0">
            <a:schemeClr val="dk1"/>
          </a:lnRef>
          <a:fillRef idx="3">
            <a:schemeClr val="dk1"/>
          </a:fillRef>
          <a:effectRef idx="3">
            <a:schemeClr val="dk1"/>
          </a:effectRef>
          <a:fontRef idx="minor">
            <a:schemeClr val="lt1"/>
          </a:fontRef>
        </p:style>
        <p:txBody>
          <a:bodyPr anchor="ctr"/>
          <a:lstStyle/>
          <a:p>
            <a:pPr algn="ctr" defTabSz="914400" rtl="1" fontAlgn="base">
              <a:spcBef>
                <a:spcPct val="0"/>
              </a:spcBef>
              <a:spcAft>
                <a:spcPct val="0"/>
              </a:spcAft>
              <a:defRPr/>
            </a:pPr>
            <a:r>
              <a:rPr lang="ar-SA" sz="4400" kern="0" dirty="0">
                <a:solidFill>
                  <a:srgbClr val="FFFFFF"/>
                </a:solidFill>
                <a:latin typeface="Times New Roman"/>
                <a:cs typeface="PT Bold Heading" pitchFamily="2" charset="-78"/>
              </a:rPr>
              <a:t> </a:t>
            </a:r>
            <a:r>
              <a:rPr lang="ar-AE" sz="4400" kern="0" dirty="0">
                <a:solidFill>
                  <a:srgbClr val="FFFFFF"/>
                </a:solidFill>
                <a:latin typeface="Times New Roman"/>
                <a:cs typeface="PT Bold Heading" pitchFamily="2" charset="-78"/>
              </a:rPr>
              <a:t>تقويم  تكويني</a:t>
            </a:r>
            <a:endParaRPr lang="en-US" sz="4400" kern="0" dirty="0">
              <a:solidFill>
                <a:srgbClr val="FFFFFF"/>
              </a:solidFill>
              <a:latin typeface="Times New Roman"/>
              <a:cs typeface="PT Bold Heading" pitchFamily="2" charset="-78"/>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5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6"/>
          <p:cNvPicPr>
            <a:picLocks noChangeAspect="1" noChangeArrowheads="1"/>
          </p:cNvPicPr>
          <p:nvPr/>
        </p:nvPicPr>
        <p:blipFill>
          <a:blip r:embed="rId3" cstate="print"/>
          <a:srcRect/>
          <a:stretch>
            <a:fillRect/>
          </a:stretch>
        </p:blipFill>
        <p:spPr bwMode="auto">
          <a:xfrm>
            <a:off x="1524000" y="0"/>
            <a:ext cx="8559800" cy="6858000"/>
          </a:xfrm>
          <a:prstGeom prst="rect">
            <a:avLst/>
          </a:prstGeom>
          <a:noFill/>
          <a:ln w="9525">
            <a:noFill/>
            <a:miter lim="800000"/>
            <a:headEnd/>
            <a:tailEnd/>
          </a:ln>
        </p:spPr>
      </p:pic>
      <p:sp>
        <p:nvSpPr>
          <p:cNvPr id="10" name="Rectangle 3"/>
          <p:cNvSpPr>
            <a:spLocks noChangeArrowheads="1"/>
          </p:cNvSpPr>
          <p:nvPr/>
        </p:nvSpPr>
        <p:spPr bwMode="auto">
          <a:xfrm>
            <a:off x="4095751" y="928689"/>
            <a:ext cx="1909763" cy="357187"/>
          </a:xfrm>
          <a:prstGeom prst="rect">
            <a:avLst/>
          </a:prstGeom>
          <a:noFill/>
          <a:ln w="25400">
            <a:solidFill>
              <a:srgbClr val="FF0000"/>
            </a:solidFill>
            <a:miter lim="800000"/>
            <a:headEnd/>
            <a:tailEnd/>
          </a:ln>
        </p:spPr>
        <p:txBody>
          <a:bodyPr/>
          <a:lstStyle/>
          <a:p>
            <a:pPr marL="342900" indent="-342900" algn="r" defTabSz="914400" rtl="1" fontAlgn="base">
              <a:spcBef>
                <a:spcPct val="20000"/>
              </a:spcBef>
              <a:spcAft>
                <a:spcPct val="0"/>
              </a:spcAft>
            </a:pPr>
            <a:endParaRPr lang="ar-AE" sz="2800">
              <a:solidFill>
                <a:srgbClr val="000000"/>
              </a:solidFill>
              <a:latin typeface="Times New Roman" pitchFamily="18" charset="0"/>
              <a:cs typeface="Arial" pitchFamily="34" charset="0"/>
            </a:endParaRPr>
          </a:p>
        </p:txBody>
      </p:sp>
      <p:sp>
        <p:nvSpPr>
          <p:cNvPr id="13" name="Rectangle 3"/>
          <p:cNvSpPr>
            <a:spLocks noChangeArrowheads="1"/>
          </p:cNvSpPr>
          <p:nvPr/>
        </p:nvSpPr>
        <p:spPr bwMode="auto">
          <a:xfrm>
            <a:off x="3792539" y="2420939"/>
            <a:ext cx="2016125" cy="357187"/>
          </a:xfrm>
          <a:prstGeom prst="rect">
            <a:avLst/>
          </a:prstGeom>
          <a:noFill/>
          <a:ln w="25400">
            <a:solidFill>
              <a:srgbClr val="FF0000"/>
            </a:solidFill>
            <a:miter lim="800000"/>
            <a:headEnd/>
            <a:tailEnd/>
          </a:ln>
        </p:spPr>
        <p:txBody>
          <a:bodyPr/>
          <a:lstStyle/>
          <a:p>
            <a:pPr marL="342900" indent="-342900" algn="r" defTabSz="914400" rtl="1" fontAlgn="base">
              <a:spcBef>
                <a:spcPct val="20000"/>
              </a:spcBef>
              <a:spcAft>
                <a:spcPct val="0"/>
              </a:spcAft>
            </a:pPr>
            <a:endParaRPr lang="ar-AE" sz="2800">
              <a:solidFill>
                <a:srgbClr val="000000"/>
              </a:solidFill>
              <a:latin typeface="Times New Roman" pitchFamily="18" charset="0"/>
              <a:cs typeface="Arial" pitchFamily="34" charset="0"/>
            </a:endParaRPr>
          </a:p>
        </p:txBody>
      </p:sp>
      <p:sp>
        <p:nvSpPr>
          <p:cNvPr id="15" name="Rectangle 3"/>
          <p:cNvSpPr>
            <a:spLocks noChangeArrowheads="1"/>
          </p:cNvSpPr>
          <p:nvPr/>
        </p:nvSpPr>
        <p:spPr bwMode="auto">
          <a:xfrm>
            <a:off x="5448300" y="3141664"/>
            <a:ext cx="3563938" cy="357187"/>
          </a:xfrm>
          <a:prstGeom prst="rect">
            <a:avLst/>
          </a:prstGeom>
          <a:noFill/>
          <a:ln w="25400">
            <a:solidFill>
              <a:srgbClr val="FF0000"/>
            </a:solidFill>
            <a:miter lim="800000"/>
            <a:headEnd/>
            <a:tailEnd/>
          </a:ln>
        </p:spPr>
        <p:txBody>
          <a:bodyPr/>
          <a:lstStyle/>
          <a:p>
            <a:pPr marL="342900" indent="-342900" algn="r" defTabSz="914400" rtl="1" fontAlgn="base">
              <a:spcBef>
                <a:spcPct val="20000"/>
              </a:spcBef>
              <a:spcAft>
                <a:spcPct val="0"/>
              </a:spcAft>
            </a:pPr>
            <a:endParaRPr lang="ar-AE" sz="2800">
              <a:solidFill>
                <a:srgbClr val="000000"/>
              </a:solidFill>
              <a:latin typeface="Times New Roman" pitchFamily="18" charset="0"/>
              <a:cs typeface="Arial" pitchFamily="34" charset="0"/>
            </a:endParaRPr>
          </a:p>
        </p:txBody>
      </p:sp>
      <p:sp>
        <p:nvSpPr>
          <p:cNvPr id="19" name="Rectangle 3"/>
          <p:cNvSpPr>
            <a:spLocks noChangeArrowheads="1"/>
          </p:cNvSpPr>
          <p:nvPr/>
        </p:nvSpPr>
        <p:spPr bwMode="auto">
          <a:xfrm>
            <a:off x="4656139" y="5016500"/>
            <a:ext cx="1152525" cy="357188"/>
          </a:xfrm>
          <a:prstGeom prst="rect">
            <a:avLst/>
          </a:prstGeom>
          <a:noFill/>
          <a:ln w="25400">
            <a:solidFill>
              <a:srgbClr val="FF0000"/>
            </a:solidFill>
            <a:miter lim="800000"/>
            <a:headEnd/>
            <a:tailEnd/>
          </a:ln>
        </p:spPr>
        <p:txBody>
          <a:bodyPr/>
          <a:lstStyle/>
          <a:p>
            <a:pPr marL="342900" indent="-342900" algn="r" defTabSz="914400" rtl="1" fontAlgn="base">
              <a:spcBef>
                <a:spcPct val="20000"/>
              </a:spcBef>
              <a:spcAft>
                <a:spcPct val="0"/>
              </a:spcAft>
            </a:pPr>
            <a:endParaRPr lang="ar-AE" sz="2800">
              <a:solidFill>
                <a:srgbClr val="000000"/>
              </a:solidFill>
              <a:latin typeface="Times New Roman" pitchFamily="18"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9"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9"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0-#ppt_w/2"/>
                                          </p:val>
                                        </p:tav>
                                        <p:tav tm="100000">
                                          <p:val>
                                            <p:strVal val="#ppt_x"/>
                                          </p:val>
                                        </p:tav>
                                      </p:tavLst>
                                    </p:anim>
                                    <p:anim calcmode="lin" valueType="num">
                                      <p:cBhvr additive="base">
                                        <p:cTn id="14"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9"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0-#ppt_w/2"/>
                                          </p:val>
                                        </p:tav>
                                        <p:tav tm="100000">
                                          <p:val>
                                            <p:strVal val="#ppt_x"/>
                                          </p:val>
                                        </p:tav>
                                      </p:tavLst>
                                    </p:anim>
                                    <p:anim calcmode="lin" valueType="num">
                                      <p:cBhvr additive="base">
                                        <p:cTn id="20" dur="500" fill="hold"/>
                                        <p:tgtEl>
                                          <p:spTgt spid="15"/>
                                        </p:tgtEl>
                                        <p:attrNameLst>
                                          <p:attrName>ppt_y</p:attrName>
                                        </p:attrNameLst>
                                      </p:cBhvr>
                                      <p:tavLst>
                                        <p:tav tm="0">
                                          <p:val>
                                            <p:strVal val="0-#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9"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0-#ppt_w/2"/>
                                          </p:val>
                                        </p:tav>
                                        <p:tav tm="100000">
                                          <p:val>
                                            <p:strVal val="#ppt_x"/>
                                          </p:val>
                                        </p:tav>
                                      </p:tavLst>
                                    </p:anim>
                                    <p:anim calcmode="lin" valueType="num">
                                      <p:cBhvr additive="base">
                                        <p:cTn id="26" dur="500" fill="hold"/>
                                        <p:tgtEl>
                                          <p:spTgt spid="1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P spid="15" grpId="0" animBg="1"/>
      <p:bldP spid="1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9"/>
          <p:cNvPicPr>
            <a:picLocks noChangeAspect="1" noChangeArrowheads="1"/>
          </p:cNvPicPr>
          <p:nvPr/>
        </p:nvPicPr>
        <p:blipFill>
          <a:blip r:embed="rId3" cstate="print"/>
          <a:srcRect/>
          <a:stretch>
            <a:fillRect/>
          </a:stretch>
        </p:blipFill>
        <p:spPr bwMode="auto">
          <a:xfrm>
            <a:off x="1524001" y="0"/>
            <a:ext cx="8982075" cy="6858000"/>
          </a:xfrm>
          <a:prstGeom prst="rect">
            <a:avLst/>
          </a:prstGeom>
          <a:noFill/>
          <a:ln w="9525">
            <a:noFill/>
            <a:miter lim="800000"/>
            <a:headEnd/>
            <a:tailEnd/>
          </a:ln>
        </p:spPr>
      </p:pic>
      <p:sp>
        <p:nvSpPr>
          <p:cNvPr id="6" name="Rectangle 3"/>
          <p:cNvSpPr>
            <a:spLocks noChangeArrowheads="1"/>
          </p:cNvSpPr>
          <p:nvPr/>
        </p:nvSpPr>
        <p:spPr bwMode="auto">
          <a:xfrm>
            <a:off x="1847850" y="1916114"/>
            <a:ext cx="8351838" cy="446087"/>
          </a:xfrm>
          <a:prstGeom prst="rect">
            <a:avLst/>
          </a:prstGeom>
          <a:noFill/>
          <a:ln w="9525">
            <a:noFill/>
            <a:miter lim="800000"/>
            <a:headEnd/>
            <a:tailEnd/>
          </a:ln>
        </p:spPr>
        <p:txBody>
          <a:bodyPr/>
          <a:lstStyle/>
          <a:p>
            <a:pPr marL="342900" indent="-342900" algn="r" defTabSz="914400" rtl="1" fontAlgn="base">
              <a:spcBef>
                <a:spcPct val="20000"/>
              </a:spcBef>
              <a:spcAft>
                <a:spcPct val="0"/>
              </a:spcAft>
            </a:pPr>
            <a:r>
              <a:rPr lang="ar-AE" sz="2000" b="1">
                <a:solidFill>
                  <a:srgbClr val="FF0000"/>
                </a:solidFill>
                <a:latin typeface="Times New Roman" pitchFamily="18" charset="0"/>
                <a:cs typeface="Arial" pitchFamily="34" charset="0"/>
              </a:rPr>
              <a:t>ترحل الطيور لتبني أعشاشاً في أماكن أخرى وتزول الأعشاب بسبب غياب الظل وبالتالي يزول النظام البيئي نفسه</a:t>
            </a:r>
          </a:p>
        </p:txBody>
      </p:sp>
      <p:sp>
        <p:nvSpPr>
          <p:cNvPr id="14" name="Rectangle 3"/>
          <p:cNvSpPr>
            <a:spLocks noChangeArrowheads="1"/>
          </p:cNvSpPr>
          <p:nvPr/>
        </p:nvSpPr>
        <p:spPr bwMode="auto">
          <a:xfrm>
            <a:off x="1774826" y="3429000"/>
            <a:ext cx="8050213" cy="1231900"/>
          </a:xfrm>
          <a:prstGeom prst="rect">
            <a:avLst/>
          </a:prstGeom>
          <a:noFill/>
          <a:ln w="9525">
            <a:noFill/>
            <a:miter lim="800000"/>
            <a:headEnd/>
            <a:tailEnd/>
          </a:ln>
        </p:spPr>
        <p:txBody>
          <a:bodyPr/>
          <a:lstStyle/>
          <a:p>
            <a:pPr marL="342900" indent="-342900" algn="r" defTabSz="914400" rtl="1" fontAlgn="base">
              <a:spcBef>
                <a:spcPct val="20000"/>
              </a:spcBef>
              <a:spcAft>
                <a:spcPct val="0"/>
              </a:spcAft>
            </a:pPr>
            <a:r>
              <a:rPr lang="ar-AE" sz="2400" b="1">
                <a:solidFill>
                  <a:srgbClr val="FF0000"/>
                </a:solidFill>
                <a:latin typeface="Times New Roman" pitchFamily="18" charset="0"/>
                <a:cs typeface="Arial" pitchFamily="34" charset="0"/>
              </a:rPr>
              <a:t>الأسماك تخرج ثاني أكسيد الكربون الذي يستخدمه النبات في عملية البناء الضوئي لينتج الأكسجين الذي تحتاجه الأسماك في التنفس</a:t>
            </a:r>
          </a:p>
        </p:txBody>
      </p:sp>
      <p:sp>
        <p:nvSpPr>
          <p:cNvPr id="9" name="Rectangle 3"/>
          <p:cNvSpPr>
            <a:spLocks noChangeArrowheads="1"/>
          </p:cNvSpPr>
          <p:nvPr/>
        </p:nvSpPr>
        <p:spPr bwMode="auto">
          <a:xfrm>
            <a:off x="1847850" y="5076825"/>
            <a:ext cx="8351838" cy="1231900"/>
          </a:xfrm>
          <a:prstGeom prst="rect">
            <a:avLst/>
          </a:prstGeom>
          <a:noFill/>
          <a:ln w="9525">
            <a:noFill/>
            <a:miter lim="800000"/>
            <a:headEnd/>
            <a:tailEnd/>
          </a:ln>
        </p:spPr>
        <p:txBody>
          <a:bodyPr/>
          <a:lstStyle/>
          <a:p>
            <a:pPr marL="342900" indent="-342900" algn="r" defTabSz="914400" rtl="1" fontAlgn="base">
              <a:spcBef>
                <a:spcPct val="20000"/>
              </a:spcBef>
              <a:spcAft>
                <a:spcPct val="0"/>
              </a:spcAft>
            </a:pPr>
            <a:r>
              <a:rPr lang="ar-AE" sz="2400" b="1">
                <a:solidFill>
                  <a:srgbClr val="FF0000"/>
                </a:solidFill>
                <a:latin typeface="Times New Roman" pitchFamily="18" charset="0"/>
                <a:cs typeface="Arial" pitchFamily="34" charset="0"/>
              </a:rPr>
              <a:t>الإفراط في قطع أشجار الغابات يؤدي إلى ارتفاع معدل ثاني أكسيد الكربون في الجو مما يسهم في تغيير أنماط الطقس وفي مستويات مياه البحر على مستوى العالم</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1" presetClass="entr" presetSubtype="0" fill="hold" grpId="0" nodeType="clickEffect">
                                  <p:stCondLst>
                                    <p:cond delay="0"/>
                                  </p:stCondLst>
                                  <p:iterate type="wd">
                                    <p:tmPct val="2000"/>
                                  </p:iterate>
                                  <p:childTnLst>
                                    <p:set>
                                      <p:cBhvr>
                                        <p:cTn id="11" dur="1" fill="hold">
                                          <p:stCondLst>
                                            <p:cond delay="0"/>
                                          </p:stCondLst>
                                        </p:cTn>
                                        <p:tgtEl>
                                          <p:spTgt spid="14"/>
                                        </p:tgtEl>
                                        <p:attrNameLst>
                                          <p:attrName>style.visibility</p:attrName>
                                        </p:attrNameLst>
                                      </p:cBhvr>
                                      <p:to>
                                        <p:strVal val="visible"/>
                                      </p:to>
                                    </p:set>
                                    <p:anim calcmode="lin" valueType="num">
                                      <p:cBhvr>
                                        <p:cTn id="12" dur="500" fill="hold"/>
                                        <p:tgtEl>
                                          <p:spTgt spid="14"/>
                                        </p:tgtEl>
                                        <p:attrNameLst>
                                          <p:attrName>ppt_w</p:attrName>
                                        </p:attrNameLst>
                                      </p:cBhvr>
                                      <p:tavLst>
                                        <p:tav tm="0">
                                          <p:val>
                                            <p:fltVal val="0"/>
                                          </p:val>
                                        </p:tav>
                                        <p:tav tm="100000">
                                          <p:val>
                                            <p:strVal val="#ppt_w"/>
                                          </p:val>
                                        </p:tav>
                                      </p:tavLst>
                                    </p:anim>
                                    <p:anim calcmode="lin" valueType="num">
                                      <p:cBhvr>
                                        <p:cTn id="13" dur="500" fill="hold"/>
                                        <p:tgtEl>
                                          <p:spTgt spid="14"/>
                                        </p:tgtEl>
                                        <p:attrNameLst>
                                          <p:attrName>ppt_h</p:attrName>
                                        </p:attrNameLst>
                                      </p:cBhvr>
                                      <p:tavLst>
                                        <p:tav tm="0">
                                          <p:val>
                                            <p:fltVal val="0"/>
                                          </p:val>
                                        </p:tav>
                                        <p:tav tm="100000">
                                          <p:val>
                                            <p:strVal val="#ppt_h"/>
                                          </p:val>
                                        </p:tav>
                                      </p:tavLst>
                                    </p:anim>
                                    <p:anim calcmode="lin" valueType="num">
                                      <p:cBhvr>
                                        <p:cTn id="14" dur="500" fill="hold"/>
                                        <p:tgtEl>
                                          <p:spTgt spid="14"/>
                                        </p:tgtEl>
                                        <p:attrNameLst>
                                          <p:attrName>style.rotation</p:attrName>
                                        </p:attrNameLst>
                                      </p:cBhvr>
                                      <p:tavLst>
                                        <p:tav tm="0">
                                          <p:val>
                                            <p:fltVal val="90"/>
                                          </p:val>
                                        </p:tav>
                                        <p:tav tm="100000">
                                          <p:val>
                                            <p:fltVal val="0"/>
                                          </p:val>
                                        </p:tav>
                                      </p:tavLst>
                                    </p:anim>
                                    <p:animEffect transition="in" filter="fade">
                                      <p:cBhvr>
                                        <p:cTn id="15" dur="500"/>
                                        <p:tgtEl>
                                          <p:spTgt spid="1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1" presetClass="entr" presetSubtype="0" fill="hold" grpId="0" nodeType="clickEffect">
                                  <p:stCondLst>
                                    <p:cond delay="0"/>
                                  </p:stCondLst>
                                  <p:iterate type="wd">
                                    <p:tmPct val="5000"/>
                                  </p:iterate>
                                  <p:childTnLst>
                                    <p:set>
                                      <p:cBhvr>
                                        <p:cTn id="19" dur="1" fill="hold">
                                          <p:stCondLst>
                                            <p:cond delay="0"/>
                                          </p:stCondLst>
                                        </p:cTn>
                                        <p:tgtEl>
                                          <p:spTgt spid="9"/>
                                        </p:tgtEl>
                                        <p:attrNameLst>
                                          <p:attrName>style.visibility</p:attrName>
                                        </p:attrNameLst>
                                      </p:cBhvr>
                                      <p:to>
                                        <p:strVal val="visible"/>
                                      </p:to>
                                    </p:set>
                                    <p:anim calcmode="lin" valueType="num">
                                      <p:cBhvr>
                                        <p:cTn id="20" dur="500" fill="hold"/>
                                        <p:tgtEl>
                                          <p:spTgt spid="9"/>
                                        </p:tgtEl>
                                        <p:attrNameLst>
                                          <p:attrName>ppt_w</p:attrName>
                                        </p:attrNameLst>
                                      </p:cBhvr>
                                      <p:tavLst>
                                        <p:tav tm="0">
                                          <p:val>
                                            <p:fltVal val="0"/>
                                          </p:val>
                                        </p:tav>
                                        <p:tav tm="100000">
                                          <p:val>
                                            <p:strVal val="#ppt_w"/>
                                          </p:val>
                                        </p:tav>
                                      </p:tavLst>
                                    </p:anim>
                                    <p:anim calcmode="lin" valueType="num">
                                      <p:cBhvr>
                                        <p:cTn id="21" dur="500" fill="hold"/>
                                        <p:tgtEl>
                                          <p:spTgt spid="9"/>
                                        </p:tgtEl>
                                        <p:attrNameLst>
                                          <p:attrName>ppt_h</p:attrName>
                                        </p:attrNameLst>
                                      </p:cBhvr>
                                      <p:tavLst>
                                        <p:tav tm="0">
                                          <p:val>
                                            <p:fltVal val="0"/>
                                          </p:val>
                                        </p:tav>
                                        <p:tav tm="100000">
                                          <p:val>
                                            <p:strVal val="#ppt_h"/>
                                          </p:val>
                                        </p:tav>
                                      </p:tavLst>
                                    </p:anim>
                                    <p:anim calcmode="lin" valueType="num">
                                      <p:cBhvr>
                                        <p:cTn id="22" dur="500" fill="hold"/>
                                        <p:tgtEl>
                                          <p:spTgt spid="9"/>
                                        </p:tgtEl>
                                        <p:attrNameLst>
                                          <p:attrName>style.rotation</p:attrName>
                                        </p:attrNameLst>
                                      </p:cBhvr>
                                      <p:tavLst>
                                        <p:tav tm="0">
                                          <p:val>
                                            <p:fltVal val="90"/>
                                          </p:val>
                                        </p:tav>
                                        <p:tav tm="100000">
                                          <p:val>
                                            <p:fltVal val="0"/>
                                          </p:val>
                                        </p:tav>
                                      </p:tavLst>
                                    </p:anim>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4" grpId="0"/>
      <p:bldP spid="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8"/>
          <p:cNvPicPr>
            <a:picLocks noChangeAspect="1" noChangeArrowheads="1"/>
          </p:cNvPicPr>
          <p:nvPr/>
        </p:nvPicPr>
        <p:blipFill rotWithShape="1">
          <a:blip r:embed="rId3" cstate="print"/>
          <a:srcRect b="16182"/>
          <a:stretch/>
        </p:blipFill>
        <p:spPr bwMode="auto">
          <a:xfrm>
            <a:off x="1524000" y="260600"/>
            <a:ext cx="9144000" cy="6336753"/>
          </a:xfrm>
          <a:prstGeom prst="rect">
            <a:avLst/>
          </a:prstGeom>
          <a:noFill/>
          <a:ln w="9525">
            <a:noFill/>
            <a:miter lim="800000"/>
            <a:headEnd/>
            <a:tailEnd/>
          </a:ln>
        </p:spPr>
      </p:pic>
      <p:sp>
        <p:nvSpPr>
          <p:cNvPr id="6" name="Rectangle 3"/>
          <p:cNvSpPr>
            <a:spLocks noChangeArrowheads="1"/>
          </p:cNvSpPr>
          <p:nvPr/>
        </p:nvSpPr>
        <p:spPr bwMode="auto">
          <a:xfrm>
            <a:off x="8257530" y="3239865"/>
            <a:ext cx="1870918" cy="407987"/>
          </a:xfrm>
          <a:prstGeom prst="rect">
            <a:avLst/>
          </a:prstGeom>
          <a:noFill/>
          <a:ln w="9525">
            <a:noFill/>
            <a:miter lim="800000"/>
            <a:headEnd/>
            <a:tailEnd/>
          </a:ln>
        </p:spPr>
        <p:txBody>
          <a:bodyPr/>
          <a:lstStyle/>
          <a:p>
            <a:pPr marL="342900" indent="-342900" algn="r" defTabSz="914400" rtl="1" fontAlgn="base">
              <a:spcBef>
                <a:spcPct val="20000"/>
              </a:spcBef>
              <a:spcAft>
                <a:spcPct val="0"/>
              </a:spcAft>
            </a:pPr>
            <a:r>
              <a:rPr lang="ar-AE" sz="2800" b="1" dirty="0">
                <a:solidFill>
                  <a:srgbClr val="FF0000"/>
                </a:solidFill>
                <a:latin typeface="Times New Roman" pitchFamily="18" charset="0"/>
                <a:cs typeface="Arial" pitchFamily="34" charset="0"/>
              </a:rPr>
              <a:t>مجتمع أحيائي</a:t>
            </a:r>
          </a:p>
        </p:txBody>
      </p:sp>
      <p:sp>
        <p:nvSpPr>
          <p:cNvPr id="14" name="Rectangle 3"/>
          <p:cNvSpPr>
            <a:spLocks noChangeArrowheads="1"/>
          </p:cNvSpPr>
          <p:nvPr/>
        </p:nvSpPr>
        <p:spPr bwMode="auto">
          <a:xfrm>
            <a:off x="2207568" y="3216052"/>
            <a:ext cx="2104782" cy="466725"/>
          </a:xfrm>
          <a:prstGeom prst="rect">
            <a:avLst/>
          </a:prstGeom>
          <a:noFill/>
          <a:ln w="9525">
            <a:noFill/>
            <a:miter lim="800000"/>
            <a:headEnd/>
            <a:tailEnd/>
          </a:ln>
        </p:spPr>
        <p:txBody>
          <a:bodyPr/>
          <a:lstStyle/>
          <a:p>
            <a:pPr marL="342900" indent="-342900" algn="r" defTabSz="914400" rtl="1" fontAlgn="base">
              <a:spcBef>
                <a:spcPct val="20000"/>
              </a:spcBef>
              <a:spcAft>
                <a:spcPct val="0"/>
              </a:spcAft>
            </a:pPr>
            <a:r>
              <a:rPr lang="ar-AE" sz="2800" b="1">
                <a:solidFill>
                  <a:srgbClr val="FF0000"/>
                </a:solidFill>
                <a:latin typeface="Times New Roman" pitchFamily="18" charset="0"/>
                <a:cs typeface="Arial" pitchFamily="34" charset="0"/>
              </a:rPr>
              <a:t>الغلاف الأحيائي</a:t>
            </a:r>
          </a:p>
        </p:txBody>
      </p:sp>
      <p:sp>
        <p:nvSpPr>
          <p:cNvPr id="16" name="Rectangle 3"/>
          <p:cNvSpPr>
            <a:spLocks noChangeArrowheads="1"/>
          </p:cNvSpPr>
          <p:nvPr/>
        </p:nvSpPr>
        <p:spPr bwMode="auto">
          <a:xfrm>
            <a:off x="6396980" y="5808688"/>
            <a:ext cx="1921759" cy="428625"/>
          </a:xfrm>
          <a:prstGeom prst="rect">
            <a:avLst/>
          </a:prstGeom>
          <a:noFill/>
          <a:ln w="9525">
            <a:noFill/>
            <a:miter lim="800000"/>
            <a:headEnd/>
            <a:tailEnd/>
          </a:ln>
        </p:spPr>
        <p:txBody>
          <a:bodyPr/>
          <a:lstStyle/>
          <a:p>
            <a:pPr marL="342900" indent="-342900" algn="r" defTabSz="914400" rtl="1" fontAlgn="base">
              <a:spcBef>
                <a:spcPct val="20000"/>
              </a:spcBef>
              <a:spcAft>
                <a:spcPct val="0"/>
              </a:spcAft>
            </a:pPr>
            <a:r>
              <a:rPr lang="ar-AE" sz="2800" b="1" dirty="0">
                <a:solidFill>
                  <a:srgbClr val="FF0000"/>
                </a:solidFill>
                <a:latin typeface="Times New Roman" pitchFamily="18" charset="0"/>
                <a:cs typeface="Arial" pitchFamily="34" charset="0"/>
              </a:rPr>
              <a:t>جماعة أحيائية</a:t>
            </a:r>
          </a:p>
        </p:txBody>
      </p:sp>
      <p:sp>
        <p:nvSpPr>
          <p:cNvPr id="17" name="Rectangle 3"/>
          <p:cNvSpPr>
            <a:spLocks noChangeArrowheads="1"/>
          </p:cNvSpPr>
          <p:nvPr/>
        </p:nvSpPr>
        <p:spPr bwMode="auto">
          <a:xfrm>
            <a:off x="5263257" y="3212977"/>
            <a:ext cx="1435726" cy="415925"/>
          </a:xfrm>
          <a:prstGeom prst="rect">
            <a:avLst/>
          </a:prstGeom>
          <a:noFill/>
          <a:ln w="9525">
            <a:noFill/>
            <a:miter lim="800000"/>
            <a:headEnd/>
            <a:tailEnd/>
          </a:ln>
        </p:spPr>
        <p:txBody>
          <a:bodyPr/>
          <a:lstStyle/>
          <a:p>
            <a:pPr marL="342900" indent="-342900" algn="r" defTabSz="914400" rtl="1" fontAlgn="base">
              <a:spcBef>
                <a:spcPct val="20000"/>
              </a:spcBef>
              <a:spcAft>
                <a:spcPct val="0"/>
              </a:spcAft>
            </a:pPr>
            <a:r>
              <a:rPr lang="ar-AE" sz="3200" b="1" dirty="0">
                <a:solidFill>
                  <a:srgbClr val="FF0000"/>
                </a:solidFill>
                <a:latin typeface="Times New Roman" pitchFamily="18" charset="0"/>
                <a:cs typeface="Arial" pitchFamily="34" charset="0"/>
              </a:rPr>
              <a:t>كائن حي</a:t>
            </a:r>
          </a:p>
        </p:txBody>
      </p:sp>
      <p:sp>
        <p:nvSpPr>
          <p:cNvPr id="18" name="Rectangle 3"/>
          <p:cNvSpPr>
            <a:spLocks noChangeArrowheads="1"/>
          </p:cNvSpPr>
          <p:nvPr/>
        </p:nvSpPr>
        <p:spPr bwMode="auto">
          <a:xfrm>
            <a:off x="3503712" y="5733257"/>
            <a:ext cx="1921758" cy="357187"/>
          </a:xfrm>
          <a:prstGeom prst="rect">
            <a:avLst/>
          </a:prstGeom>
          <a:noFill/>
          <a:ln w="9525">
            <a:noFill/>
            <a:miter lim="800000"/>
            <a:headEnd/>
            <a:tailEnd/>
          </a:ln>
        </p:spPr>
        <p:txBody>
          <a:bodyPr/>
          <a:lstStyle/>
          <a:p>
            <a:pPr marL="342900" indent="-342900" algn="r" defTabSz="914400" rtl="1" fontAlgn="base">
              <a:spcBef>
                <a:spcPct val="20000"/>
              </a:spcBef>
              <a:spcAft>
                <a:spcPct val="0"/>
              </a:spcAft>
            </a:pPr>
            <a:r>
              <a:rPr lang="ar-AE" sz="3200" b="1" dirty="0">
                <a:solidFill>
                  <a:srgbClr val="FF0000"/>
                </a:solidFill>
                <a:latin typeface="Times New Roman" pitchFamily="18" charset="0"/>
                <a:cs typeface="Arial" pitchFamily="34" charset="0"/>
              </a:rPr>
              <a:t>نظام بيئي</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1" presetClass="entr" presetSubtype="0" fill="hold" grpId="0" nodeType="clickEffect">
                                  <p:stCondLst>
                                    <p:cond delay="0"/>
                                  </p:stCondLst>
                                  <p:iterate type="lt">
                                    <p:tmPct val="5000"/>
                                  </p:iterate>
                                  <p:childTnLst>
                                    <p:set>
                                      <p:cBhvr>
                                        <p:cTn id="11" dur="1" fill="hold">
                                          <p:stCondLst>
                                            <p:cond delay="0"/>
                                          </p:stCondLst>
                                        </p:cTn>
                                        <p:tgtEl>
                                          <p:spTgt spid="17"/>
                                        </p:tgtEl>
                                        <p:attrNameLst>
                                          <p:attrName>style.visibility</p:attrName>
                                        </p:attrNameLst>
                                      </p:cBhvr>
                                      <p:to>
                                        <p:strVal val="visible"/>
                                      </p:to>
                                    </p:set>
                                    <p:anim calcmode="lin" valueType="num">
                                      <p:cBhvr>
                                        <p:cTn id="12" dur="1000" fill="hold"/>
                                        <p:tgtEl>
                                          <p:spTgt spid="17"/>
                                        </p:tgtEl>
                                        <p:attrNameLst>
                                          <p:attrName>ppt_w</p:attrName>
                                        </p:attrNameLst>
                                      </p:cBhvr>
                                      <p:tavLst>
                                        <p:tav tm="0">
                                          <p:val>
                                            <p:fltVal val="0"/>
                                          </p:val>
                                        </p:tav>
                                        <p:tav tm="100000">
                                          <p:val>
                                            <p:strVal val="#ppt_w"/>
                                          </p:val>
                                        </p:tav>
                                      </p:tavLst>
                                    </p:anim>
                                    <p:anim calcmode="lin" valueType="num">
                                      <p:cBhvr>
                                        <p:cTn id="13" dur="1000" fill="hold"/>
                                        <p:tgtEl>
                                          <p:spTgt spid="17"/>
                                        </p:tgtEl>
                                        <p:attrNameLst>
                                          <p:attrName>ppt_h</p:attrName>
                                        </p:attrNameLst>
                                      </p:cBhvr>
                                      <p:tavLst>
                                        <p:tav tm="0">
                                          <p:val>
                                            <p:fltVal val="0"/>
                                          </p:val>
                                        </p:tav>
                                        <p:tav tm="100000">
                                          <p:val>
                                            <p:strVal val="#ppt_h"/>
                                          </p:val>
                                        </p:tav>
                                      </p:tavLst>
                                    </p:anim>
                                    <p:anim calcmode="lin" valueType="num">
                                      <p:cBhvr>
                                        <p:cTn id="14" dur="1000" fill="hold"/>
                                        <p:tgtEl>
                                          <p:spTgt spid="17"/>
                                        </p:tgtEl>
                                        <p:attrNameLst>
                                          <p:attrName>style.rotation</p:attrName>
                                        </p:attrNameLst>
                                      </p:cBhvr>
                                      <p:tavLst>
                                        <p:tav tm="0">
                                          <p:val>
                                            <p:fltVal val="90"/>
                                          </p:val>
                                        </p:tav>
                                        <p:tav tm="100000">
                                          <p:val>
                                            <p:fltVal val="0"/>
                                          </p:val>
                                        </p:tav>
                                      </p:tavLst>
                                    </p:anim>
                                    <p:animEffect transition="in" filter="fade">
                                      <p:cBhvr>
                                        <p:cTn id="15" dur="1000"/>
                                        <p:tgtEl>
                                          <p:spTgt spid="1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1" presetClass="entr" presetSubtype="0" fill="hold" grpId="0" nodeType="clickEffect">
                                  <p:stCondLst>
                                    <p:cond delay="0"/>
                                  </p:stCondLst>
                                  <p:iterate type="lt">
                                    <p:tmPct val="5000"/>
                                  </p:iterate>
                                  <p:childTnLst>
                                    <p:set>
                                      <p:cBhvr>
                                        <p:cTn id="19" dur="1" fill="hold">
                                          <p:stCondLst>
                                            <p:cond delay="0"/>
                                          </p:stCondLst>
                                        </p:cTn>
                                        <p:tgtEl>
                                          <p:spTgt spid="14"/>
                                        </p:tgtEl>
                                        <p:attrNameLst>
                                          <p:attrName>style.visibility</p:attrName>
                                        </p:attrNameLst>
                                      </p:cBhvr>
                                      <p:to>
                                        <p:strVal val="visible"/>
                                      </p:to>
                                    </p:set>
                                    <p:anim calcmode="lin" valueType="num">
                                      <p:cBhvr>
                                        <p:cTn id="20" dur="1000" fill="hold"/>
                                        <p:tgtEl>
                                          <p:spTgt spid="14"/>
                                        </p:tgtEl>
                                        <p:attrNameLst>
                                          <p:attrName>ppt_w</p:attrName>
                                        </p:attrNameLst>
                                      </p:cBhvr>
                                      <p:tavLst>
                                        <p:tav tm="0">
                                          <p:val>
                                            <p:fltVal val="0"/>
                                          </p:val>
                                        </p:tav>
                                        <p:tav tm="100000">
                                          <p:val>
                                            <p:strVal val="#ppt_w"/>
                                          </p:val>
                                        </p:tav>
                                      </p:tavLst>
                                    </p:anim>
                                    <p:anim calcmode="lin" valueType="num">
                                      <p:cBhvr>
                                        <p:cTn id="21" dur="1000" fill="hold"/>
                                        <p:tgtEl>
                                          <p:spTgt spid="14"/>
                                        </p:tgtEl>
                                        <p:attrNameLst>
                                          <p:attrName>ppt_h</p:attrName>
                                        </p:attrNameLst>
                                      </p:cBhvr>
                                      <p:tavLst>
                                        <p:tav tm="0">
                                          <p:val>
                                            <p:fltVal val="0"/>
                                          </p:val>
                                        </p:tav>
                                        <p:tav tm="100000">
                                          <p:val>
                                            <p:strVal val="#ppt_h"/>
                                          </p:val>
                                        </p:tav>
                                      </p:tavLst>
                                    </p:anim>
                                    <p:anim calcmode="lin" valueType="num">
                                      <p:cBhvr>
                                        <p:cTn id="22" dur="1000" fill="hold"/>
                                        <p:tgtEl>
                                          <p:spTgt spid="14"/>
                                        </p:tgtEl>
                                        <p:attrNameLst>
                                          <p:attrName>style.rotation</p:attrName>
                                        </p:attrNameLst>
                                      </p:cBhvr>
                                      <p:tavLst>
                                        <p:tav tm="0">
                                          <p:val>
                                            <p:fltVal val="90"/>
                                          </p:val>
                                        </p:tav>
                                        <p:tav tm="100000">
                                          <p:val>
                                            <p:fltVal val="0"/>
                                          </p:val>
                                        </p:tav>
                                      </p:tavLst>
                                    </p:anim>
                                    <p:animEffect transition="in" filter="fade">
                                      <p:cBhvr>
                                        <p:cTn id="23" dur="1000"/>
                                        <p:tgtEl>
                                          <p:spTgt spid="1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1" presetClass="entr" presetSubtype="0" fill="hold" grpId="0" nodeType="clickEffect">
                                  <p:stCondLst>
                                    <p:cond delay="0"/>
                                  </p:stCondLst>
                                  <p:iterate type="lt">
                                    <p:tmPct val="5000"/>
                                  </p:iterate>
                                  <p:childTnLst>
                                    <p:set>
                                      <p:cBhvr>
                                        <p:cTn id="27" dur="1" fill="hold">
                                          <p:stCondLst>
                                            <p:cond delay="0"/>
                                          </p:stCondLst>
                                        </p:cTn>
                                        <p:tgtEl>
                                          <p:spTgt spid="16"/>
                                        </p:tgtEl>
                                        <p:attrNameLst>
                                          <p:attrName>style.visibility</p:attrName>
                                        </p:attrNameLst>
                                      </p:cBhvr>
                                      <p:to>
                                        <p:strVal val="visible"/>
                                      </p:to>
                                    </p:set>
                                    <p:anim calcmode="lin" valueType="num">
                                      <p:cBhvr>
                                        <p:cTn id="28" dur="1000" fill="hold"/>
                                        <p:tgtEl>
                                          <p:spTgt spid="16"/>
                                        </p:tgtEl>
                                        <p:attrNameLst>
                                          <p:attrName>ppt_w</p:attrName>
                                        </p:attrNameLst>
                                      </p:cBhvr>
                                      <p:tavLst>
                                        <p:tav tm="0">
                                          <p:val>
                                            <p:fltVal val="0"/>
                                          </p:val>
                                        </p:tav>
                                        <p:tav tm="100000">
                                          <p:val>
                                            <p:strVal val="#ppt_w"/>
                                          </p:val>
                                        </p:tav>
                                      </p:tavLst>
                                    </p:anim>
                                    <p:anim calcmode="lin" valueType="num">
                                      <p:cBhvr>
                                        <p:cTn id="29" dur="1000" fill="hold"/>
                                        <p:tgtEl>
                                          <p:spTgt spid="16"/>
                                        </p:tgtEl>
                                        <p:attrNameLst>
                                          <p:attrName>ppt_h</p:attrName>
                                        </p:attrNameLst>
                                      </p:cBhvr>
                                      <p:tavLst>
                                        <p:tav tm="0">
                                          <p:val>
                                            <p:fltVal val="0"/>
                                          </p:val>
                                        </p:tav>
                                        <p:tav tm="100000">
                                          <p:val>
                                            <p:strVal val="#ppt_h"/>
                                          </p:val>
                                        </p:tav>
                                      </p:tavLst>
                                    </p:anim>
                                    <p:anim calcmode="lin" valueType="num">
                                      <p:cBhvr>
                                        <p:cTn id="30" dur="1000" fill="hold"/>
                                        <p:tgtEl>
                                          <p:spTgt spid="16"/>
                                        </p:tgtEl>
                                        <p:attrNameLst>
                                          <p:attrName>style.rotation</p:attrName>
                                        </p:attrNameLst>
                                      </p:cBhvr>
                                      <p:tavLst>
                                        <p:tav tm="0">
                                          <p:val>
                                            <p:fltVal val="90"/>
                                          </p:val>
                                        </p:tav>
                                        <p:tav tm="100000">
                                          <p:val>
                                            <p:fltVal val="0"/>
                                          </p:val>
                                        </p:tav>
                                      </p:tavLst>
                                    </p:anim>
                                    <p:animEffect transition="in" filter="fade">
                                      <p:cBhvr>
                                        <p:cTn id="31" dur="1000"/>
                                        <p:tgtEl>
                                          <p:spTgt spid="1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1" presetClass="entr" presetSubtype="0" fill="hold" grpId="0" nodeType="clickEffect">
                                  <p:stCondLst>
                                    <p:cond delay="0"/>
                                  </p:stCondLst>
                                  <p:iterate type="lt">
                                    <p:tmPct val="5000"/>
                                  </p:iterate>
                                  <p:childTnLst>
                                    <p:set>
                                      <p:cBhvr>
                                        <p:cTn id="35" dur="1" fill="hold">
                                          <p:stCondLst>
                                            <p:cond delay="0"/>
                                          </p:stCondLst>
                                        </p:cTn>
                                        <p:tgtEl>
                                          <p:spTgt spid="18"/>
                                        </p:tgtEl>
                                        <p:attrNameLst>
                                          <p:attrName>style.visibility</p:attrName>
                                        </p:attrNameLst>
                                      </p:cBhvr>
                                      <p:to>
                                        <p:strVal val="visible"/>
                                      </p:to>
                                    </p:set>
                                    <p:anim calcmode="lin" valueType="num">
                                      <p:cBhvr>
                                        <p:cTn id="36" dur="1000" fill="hold"/>
                                        <p:tgtEl>
                                          <p:spTgt spid="18"/>
                                        </p:tgtEl>
                                        <p:attrNameLst>
                                          <p:attrName>ppt_w</p:attrName>
                                        </p:attrNameLst>
                                      </p:cBhvr>
                                      <p:tavLst>
                                        <p:tav tm="0">
                                          <p:val>
                                            <p:fltVal val="0"/>
                                          </p:val>
                                        </p:tav>
                                        <p:tav tm="100000">
                                          <p:val>
                                            <p:strVal val="#ppt_w"/>
                                          </p:val>
                                        </p:tav>
                                      </p:tavLst>
                                    </p:anim>
                                    <p:anim calcmode="lin" valueType="num">
                                      <p:cBhvr>
                                        <p:cTn id="37" dur="1000" fill="hold"/>
                                        <p:tgtEl>
                                          <p:spTgt spid="18"/>
                                        </p:tgtEl>
                                        <p:attrNameLst>
                                          <p:attrName>ppt_h</p:attrName>
                                        </p:attrNameLst>
                                      </p:cBhvr>
                                      <p:tavLst>
                                        <p:tav tm="0">
                                          <p:val>
                                            <p:fltVal val="0"/>
                                          </p:val>
                                        </p:tav>
                                        <p:tav tm="100000">
                                          <p:val>
                                            <p:strVal val="#ppt_h"/>
                                          </p:val>
                                        </p:tav>
                                      </p:tavLst>
                                    </p:anim>
                                    <p:anim calcmode="lin" valueType="num">
                                      <p:cBhvr>
                                        <p:cTn id="38" dur="1000" fill="hold"/>
                                        <p:tgtEl>
                                          <p:spTgt spid="18"/>
                                        </p:tgtEl>
                                        <p:attrNameLst>
                                          <p:attrName>style.rotation</p:attrName>
                                        </p:attrNameLst>
                                      </p:cBhvr>
                                      <p:tavLst>
                                        <p:tav tm="0">
                                          <p:val>
                                            <p:fltVal val="90"/>
                                          </p:val>
                                        </p:tav>
                                        <p:tav tm="100000">
                                          <p:val>
                                            <p:fltVal val="0"/>
                                          </p:val>
                                        </p:tav>
                                      </p:tavLst>
                                    </p:anim>
                                    <p:animEffect transition="in" filter="fade">
                                      <p:cBhvr>
                                        <p:cTn id="39"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4" grpId="0"/>
      <p:bldP spid="16" grpId="0"/>
      <p:bldP spid="17" grpId="0"/>
      <p:bldP spid="1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تصميم افتراضي">
  <a:themeElements>
    <a:clrScheme name="تصميم افتراضي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تصميم افتراضي">
      <a:majorFont>
        <a:latin typeface="Times New Roman"/>
        <a:ea typeface=""/>
        <a:cs typeface="Arial"/>
      </a:majorFont>
      <a:minorFont>
        <a:latin typeface="Times New 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تصميم افتراضي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تصميم افتراضي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تصميم افتراضي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تصميم افتراضي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تصميم افتراضي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تصميم افتراضي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تصميم افتراضي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2597</Words>
  <Application>Microsoft Office PowerPoint</Application>
  <PresentationFormat>Widescreen</PresentationFormat>
  <Paragraphs>246</Paragraphs>
  <Slides>45</Slides>
  <Notes>21</Notes>
  <HiddenSlides>0</HiddenSlides>
  <MMClips>4</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45</vt:i4>
      </vt:variant>
    </vt:vector>
  </HeadingPairs>
  <TitlesOfParts>
    <vt:vector size="50" baseType="lpstr">
      <vt:lpstr>Arial</vt:lpstr>
      <vt:lpstr>Calibri</vt:lpstr>
      <vt:lpstr>Times New Roman</vt:lpstr>
      <vt:lpstr>Office Theme</vt:lpstr>
      <vt:lpstr>تصميم افتراضي</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Ahmed Mustafa</cp:lastModifiedBy>
  <cp:revision>7</cp:revision>
  <dcterms:created xsi:type="dcterms:W3CDTF">2013-01-27T09:14:16Z</dcterms:created>
  <dcterms:modified xsi:type="dcterms:W3CDTF">2026-09-06T10:00:42Z</dcterms:modified>
  <cp:category/>
</cp:coreProperties>
</file>