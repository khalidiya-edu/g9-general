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43" r:id="rId14"/>
    <p:sldId id="268" r:id="rId15"/>
    <p:sldId id="269" r:id="rId16"/>
    <p:sldId id="270" r:id="rId17"/>
    <p:sldId id="271" r:id="rId18"/>
    <p:sldId id="272" r:id="rId19"/>
    <p:sldId id="273" r:id="rId20"/>
    <p:sldId id="351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6B2B1-CFE3-495B-83F6-CD7B0EA8B9D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A02A0-4D80-4B8B-A746-819CDEC41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9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تُعرض الشريحة دقيقة واحدة فقط.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 الطلاب بتوزيع الأدوار داخل الثنائي قبل بدء أول نشاط.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اترك الطلاب يخمّنون ٣٠ ثانية دون تصحيح.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بما تعلّموه أمس: البقرة والإنسان كلاهما غير ذاتي التغذية.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مدة المقطع ٤٣ ثانية.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همسة ثنائية ١٥ ثانية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اقرأ الهدف بصوت واضح واطلب من أحد الطلاب إعادة صياغته بلغته.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الهدف بما سبق دراسته في القسم الأول.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النواتج الثلاثة ثم ثبّتها في السبورة طوال الحصة.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بعد كل ناتج سيُجرى تقييم قصير يقيس تحقّقه.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طالب أن يشرح مصطلحين لزميله، ثم يتبادلان.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علّق المصطلحات على جدار الصف (حائط المفردات).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هل كل آكل لحوم مفترِس؟ ناقش الفرق بين المفترِس والكانس.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وضّح أن بعض متنوّعات التغذية قد تكون مفترِسة أحيانًا.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بقصة: لو لم تتحلّل أوراق الشجر لتراكمت فوقنا أمتارًا كل عام.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فرّق بوضوح بين تدوير المادة (ممكن) وتدوير الطاقة (غير ممكن).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من منكم شاهد هذا الكائن في رحلة أو في منطقته؟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الحديث بجهود الدولة في حماية البيئة والتنوّع الحيوي.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وجّه بطاقات الدعم للطلاب الذين لاحظت تعثّرهم أثناء المرور بين الثنائيات.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لأصحاب الهمم: اجلسهم في الصف الأمامي، وامنحهم وقتًا إضافيًّا وبطاقات مصوّرة.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امنح الطلاب دقيقتين للتقييم الذاتي — هذا بند مستقل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اجمع الاستمارات لتحديد من يحتاج دعمًا في الحصة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بطاقة الخروج أداة قياس رئيسة — صحّحها قبل الحصة القادمة.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من يجيب عن سؤالين فأكثر إجابة صحيحة يكون قد حقّق نواتج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اشكر الثنائيات المتميّزة بالاسم — التحفيز بند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ذكّرهم بموعد تسليم الواجب.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EDFF2C-304E-487F-81F6-6503120FB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303983C-951D-4D55-8590-797371B89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4F2533D-644C-4B09-8DAD-79925332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6E01427-E552-4488-8BE9-D8E23476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00AEF01-9072-4BE2-8E13-77C9F55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246914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E3FF17-B5AB-481C-ACAF-12E403EC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EA45058-1F23-4989-863D-24D216C2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A04DDF4-C53D-402D-BB33-09C99B97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06CF2D-3DD9-4D4B-8CCC-0A92FADF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D66FDC3-59B9-4E02-8CAA-1A786B94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16066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877253B-4390-4FBD-8667-7ABD4D5F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E6F9FF-B28B-4C49-A1C2-3F67BA9C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99025E9-E2D8-43CA-A23A-0BC6094B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184A0C-12E4-417F-81E7-95F28D7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FEBCD4-4C9A-4CB1-9B85-BBC24706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151745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AF49F4-9102-4585-822D-F2ECAB54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EF0ED8B-284F-42C6-9371-B088A47A2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A0B0486-CC55-4CB5-A5B2-005B81AE6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C8E57E0-C1D1-4AA8-9CC2-F5AA43F7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C8E913-52C7-4F17-8389-78F88A7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6E169CB-44A9-4C5B-845B-13CB4B1F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731060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EB88F2-11C8-46BC-A9F9-53375A43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2EF40F-90F6-4778-B456-FD43F81B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A43E5CF-361D-43FA-A7EE-0E2843E9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D60006A-220B-4728-B8BF-45127DEB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950A8807-70E8-4DF8-A7E7-5CF477498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6660CDE-60E5-4121-B90C-A05FD9DD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EAE9D7F-FC6F-449E-BFB1-65B2F62C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D2F4C6B0-80AB-4336-9D82-67BA5E83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406204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9344D27-4F8C-4F75-9A0A-07464B76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17A858F-A2B7-4431-897E-8CC86A60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92B2E00-B428-45B4-B6BE-1353800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2740583-6361-49F6-BF48-159ECFE2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2046767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B4F6025-8AAD-404F-9711-350F3614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3395B8B-58EF-49BC-BEFD-35AD596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383AD81-8D27-48AF-8681-44BC9B0B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925801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651EFA-4610-42CF-8368-7A1AD0D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08F04-4D10-448A-BE36-80E513F7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E7FF1B9-5379-4F06-9AD2-7033BEF1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758CAE4-5C96-4DC7-BA6F-31CD14A9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56E4F24-DC8C-4ABC-96EA-2B9A1755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D95B873-8955-476A-9AD3-9A6F038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535457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50BA8D-5D71-4317-B054-9092B45D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D341872-ADC0-4E6A-B400-8A7B23859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B845F6E-C117-443C-90B1-381DC3F5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A4ACCF-7807-46B6-B385-A239B68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64AD1C2-8310-4E91-A2A2-8E1E334B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B70FFE1-DECC-414F-86FB-8D2B99C6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972843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FA8A70-A6FC-4863-816F-ACC153E9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DE0D321-9A98-4FE6-98B7-505870537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CD00BC4-3033-44EF-8130-C83242EB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D047D01-3DCB-4CE5-9AF5-3F6945AB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64E4B1-F3BD-4FC4-ACA1-1D1BECBB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709930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5066759-4B35-4045-8DBA-C0A3E02FF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C4070FA-09E4-4E9B-A224-3EE347C4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B36E2E5-4047-4C46-9736-C23675D8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30893E4-DA68-4CDE-B8E9-C35BC77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6097DE-8866-4B82-84D8-69EFDE68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87047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7B08401-0FB6-4B19-9205-DD87BD70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3657A82-7BEA-4D77-B28A-E9D1433A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7BB527C-764D-4977-8744-FD1677D73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A47C5-F12D-4C69-9756-BCF883783F13}" type="datetimeFigureOut">
              <a:rPr lang="ar-AE" smtClean="0"/>
              <a:t>03/04/1448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7D04DED-DC42-4E86-A37B-1D09DFBF4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A7E708-5E1B-4186-8A23-00EAFDB37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4571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jp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fif"/><Relationship Id="rId5" Type="http://schemas.openxmlformats.org/officeDocument/2006/relationships/image" Target="../media/image13.jfif"/><Relationship Id="rId4" Type="http://schemas.openxmlformats.org/officeDocument/2006/relationships/image" Target="../media/image12.jf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73351"/>
            <a:ext cx="8723376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800"/>
              </a:spcAft>
            </a:pPr>
            <a:r>
              <a:rPr lang="ar-AE" altLang="en-US" sz="1900" b="1" i="0">
                <a:solidFill>
                  <a:srgbClr val="E05B0B"/>
                </a:solidFill>
                <a:latin typeface="Arial"/>
                <a:cs typeface="Arial"/>
              </a:rPr>
              <a:t>الحصة الثانية  •  القسم الثاني  •  الصف التاسع (عام)</a:t>
            </a:r>
          </a:p>
          <a:p>
            <a:pPr algn="ctr" rtl="1">
              <a:spcAft>
                <a:spcPts val="800"/>
              </a:spcAft>
            </a:pPr>
            <a:r>
              <a:rPr lang="ar-AE" altLang="en-US" sz="3700" b="1" i="0">
                <a:solidFill>
                  <a:srgbClr val="143664"/>
                </a:solidFill>
                <a:latin typeface="Arial"/>
                <a:cs typeface="Arial"/>
              </a:rPr>
              <a:t>أنواع المستهلكات والمحللات</a:t>
            </a:r>
          </a:p>
          <a:p>
            <a:pPr algn="ctr" rtl="1"/>
            <a:r>
              <a:rPr lang="ar-AE" altLang="en-US" sz="1800" b="0" i="0">
                <a:solidFill>
                  <a:srgbClr val="55667A"/>
                </a:solidFill>
                <a:latin typeface="Arial"/>
                <a:cs typeface="Arial"/>
              </a:rPr>
              <a:t>مَن يأكل ماذا؟ ومَن ينظّف النظام البيئي؟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1" name="Picture 10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181" y="4059935"/>
            <a:ext cx="1511473" cy="9966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آكل نباتات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778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017" y="4059935"/>
            <a:ext cx="1330640" cy="99669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5264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آكل لحوم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7" name="Picture 16" descr="image1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813" y="4059935"/>
            <a:ext cx="1405889" cy="99669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37006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متنوّع التغذية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262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0" name="Picture 19" descr="image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484" y="4103598"/>
            <a:ext cx="1961388" cy="90937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58748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محلّلات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2e31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●  قواعد العمل الثنائي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نتّفق عليها قبل أن نبدأ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06355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97795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نجلس معًا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6083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كل طالبَين معًا على طاولة واحدة.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نبدأ العمل فور سماع الإشارة.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3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15783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صوت هادئ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نتحدّث بصوت يسمعه زميلي فقط.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ننصت لبعضنا دون مقاطعة.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2331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33771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الجميع يشارك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059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لكلّ منّا دور واضح.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لا نترك زميلنا يعمل وحده.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19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51759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4.  نلتزم بالوقت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7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ننتهي قبل انتهاء المؤقّت.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نرفع أيدينا عند الانتهاء.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828032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6243A"/>
                </a:solidFill>
                <a:latin typeface="Arial"/>
                <a:cs typeface="Arial"/>
              </a:rPr>
              <a:t>★   الثنائي الملتزم يحصل على نجمة تقدير في نهاية الحصة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التهيئة الحافزة — سؤال اليوم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4778" y="2029968"/>
            <a:ext cx="4868997" cy="3438144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19370" y="2157984"/>
            <a:ext cx="4539813" cy="31821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1400"/>
              </a:spcAft>
            </a:pPr>
            <a:r>
              <a:rPr lang="ar-AE" altLang="en-US" sz="2200" b="1" i="0">
                <a:solidFill>
                  <a:srgbClr val="143664"/>
                </a:solidFill>
                <a:latin typeface="Arial"/>
                <a:cs typeface="Arial"/>
              </a:rPr>
              <a:t>لماذا يستطيع الإنسان أن يأكل السلطة والدجاج معًا،
بينما لا تستطيع البقرة ذلك؟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كل كائن غير ذاتي التغذية له نوع غذاء يناسب جسمه وأسنانه وجهازه الهضمي.</a:t>
            </a:r>
          </a:p>
          <a:p>
            <a:pPr algn="r" rtl="1"/>
            <a:r>
              <a:rPr lang="ar-AE" altLang="en-US" sz="1800" b="1" i="0">
                <a:solidFill>
                  <a:srgbClr val="E05B0B"/>
                </a:solidFill>
                <a:latin typeface="Arial"/>
                <a:cs typeface="Arial"/>
              </a:rPr>
              <a:t>وفي درس اليوم سنتعرّف على أنواع المستهلكات، وعلى كائنات لا تأكل الأحياء بل الأموات!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029968"/>
            <a:ext cx="4293290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381394"/>
            <a:ext cx="4110410" cy="273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▶  شاهِد وفكّر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أثناء المشاهدة: كم نوعًا من المستهلكات ورد في المقطع؟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7272" y="2331720"/>
            <a:ext cx="4289551" cy="2468879"/>
          </a:xfrm>
          <a:prstGeom prst="roundRect">
            <a:avLst>
              <a:gd name="adj" fmla="val 5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3" name="c2_consumer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432304" y="2232660"/>
            <a:ext cx="9555480" cy="33634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528316" y="617220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◆   همسة ثنائية سريعة: سمِّ لزميلك نوعين من المستهلكات سمعتَهما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◎  هدف الدرس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2350008"/>
            <a:ext cx="8357616" cy="16916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381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2500" b="1" i="0">
                <a:solidFill>
                  <a:srgbClr val="143664"/>
                </a:solidFill>
                <a:latin typeface="Arial"/>
                <a:cs typeface="Arial"/>
              </a:rPr>
              <a:t>أن أصنّف المستهلكات وفق نوع غذائها، وأوضّح دور الكائنات الكانسة والمحللات في النظام البيئي.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315968"/>
            <a:ext cx="936345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E05B0B"/>
                </a:solidFill>
                <a:latin typeface="Arial"/>
                <a:cs typeface="Arial"/>
              </a:rPr>
              <a:t>✓   في نهاية الحصة سأكون قادرًا على تحقيق هذا الهدف بنفسي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نواتج التعلم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ثلاثة نواتج فقط — نقيس كلّ ناتج فور الانتهاء منه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أصنّف المستهلكات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آكل نباتات، آكل لحوم، متنوّع التغذية.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أعطي مثالًا لكل نوع.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أوضّح دور المحللات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الكائنات الكانسة والمحللات.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كيف تُعاد المواد المغذّية للتربة.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أتنبّأ بالأثر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ماذا لو اختفت المحللات؟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أفسّر إجابتي علميًّا.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المفردات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نقرؤها معًا، ثم يشرحها كل طالب لزميله بلغته الخاصة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0160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3312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آكل النباتات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59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2E7D32"/>
                </a:solidFill>
                <a:latin typeface="Arial"/>
                <a:cs typeface="Arial"/>
              </a:rPr>
              <a:t>Herbivore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مستهلك يتغذّى على المنتِجات فقط.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023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0339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آكل اللحوم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167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1E6FC4"/>
                </a:solidFill>
                <a:latin typeface="Arial"/>
                <a:cs typeface="Arial"/>
              </a:rPr>
              <a:t>Carnivore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مستهلك يتغذّى على حيوانات أخرى.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3347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متنوّع التغذية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5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00766E"/>
                </a:solidFill>
                <a:latin typeface="Arial"/>
                <a:cs typeface="Arial"/>
              </a:rPr>
              <a:t>Omnivore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يتغذّى على النباتات والحيوانات معًا.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4050791"/>
            <a:ext cx="4608576" cy="150876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88351" y="4123944"/>
            <a:ext cx="4462272" cy="420624"/>
          </a:xfrm>
          <a:prstGeom prst="roundRect">
            <a:avLst>
              <a:gd name="adj" fmla="val 28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الكائنات الكانسة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62856"/>
            <a:ext cx="442569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6A1B9A"/>
                </a:solidFill>
                <a:latin typeface="Arial"/>
                <a:cs typeface="Arial"/>
              </a:rPr>
              <a:t>Detritivore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تتغذّى على بقايا الكائنات الميتة والفضلات.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19" y="4050791"/>
            <a:ext cx="4608576" cy="1508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633471" y="4123944"/>
            <a:ext cx="4462272" cy="420624"/>
          </a:xfrm>
          <a:prstGeom prst="roundRect">
            <a:avLst>
              <a:gd name="adj" fmla="val 28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المحللات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59" y="4562856"/>
            <a:ext cx="442569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E68A00"/>
                </a:solidFill>
                <a:latin typeface="Arial"/>
                <a:cs typeface="Arial"/>
              </a:rPr>
              <a:t>Decomposer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تُحلّل الأجسام الميتة وتعيد المواد المغذّية للتربة.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①  الناتج الأول: أنواع المستهلكات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2352" y="2048256"/>
            <a:ext cx="3011424" cy="27889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03792" y="213969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آكلات النباتات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2079" y="2688336"/>
            <a:ext cx="2791968" cy="8138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تتغذّى على المنتِجات فقط.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أمثلة: البقرة، الأرنب، الجراد.</a:t>
            </a:r>
          </a:p>
        </p:txBody>
      </p:sp>
      <p:pic>
        <p:nvPicPr>
          <p:cNvPr id="14" name="Picture 13" descr="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060" y="3630168"/>
            <a:ext cx="1664007" cy="1097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36335" y="2048256"/>
            <a:ext cx="3011424" cy="278892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13969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آكلات اللحوم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2688336"/>
            <a:ext cx="2791968" cy="8138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تتغذّى على حيوانات أخرى.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أمثلة: الأسد، الصقر، الأفعى.</a:t>
            </a:r>
          </a:p>
        </p:txBody>
      </p:sp>
      <p:pic>
        <p:nvPicPr>
          <p:cNvPr id="18" name="Picture 17" descr="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85" y="3630168"/>
            <a:ext cx="1464925" cy="10972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560319" y="2048256"/>
            <a:ext cx="3011424" cy="27889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651759" y="213969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متنوّعة التغذية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7" y="2688336"/>
            <a:ext cx="2791968" cy="8138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تتغذّى على النبات والحيوان معًا.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أمثلة: الإنسان، الدب، الطائر المحاكي.</a:t>
            </a:r>
          </a:p>
        </p:txBody>
      </p:sp>
      <p:pic>
        <p:nvPicPr>
          <p:cNvPr id="22" name="Picture 21" descr="image1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2147" y="3630168"/>
            <a:ext cx="1547768" cy="10972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560320" y="4937760"/>
            <a:ext cx="9363456" cy="56692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43664"/>
                </a:solidFill>
                <a:latin typeface="Arial"/>
                <a:cs typeface="Arial"/>
              </a:rPr>
              <a:t>◄   كل هذه الكائنات غير ذاتية التغذية — فهي تحصل على طاقتها من كائنات أخرى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الأول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ارسما ثلاثة أعمدة: آكل نباتات / آكل لحوم / متنوّع التغذية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تطبيق + تحليل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صنّفا الكائنات الستّة مع ذكر السبب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الجمل    •    النمر العربي    •    الغراب
الجراد    •    الإنسان    •    الصقر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بعد أن تنتهيا، تحقّقا من إجابة الثنائي المجاور لكما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44565-4A00-4640-89B7-887126A1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892" y="3858629"/>
            <a:ext cx="3160776" cy="16003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الأول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آكلات النباتات: الجمل — الجراد.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آكلات اللحوم: النمر العربي — الصقر.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متنوّعة التغذية: الغراب — الإنسان.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القاعدة: ننظر إلى مصدر الغذاء لا إلى حجم الكائن أو مكان عيشه.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987" y="131408"/>
          <a:ext cx="12058024" cy="6345591"/>
        </p:xfrm>
        <a:graphic>
          <a:graphicData uri="http://schemas.openxmlformats.org/drawingml/2006/table">
            <a:tbl>
              <a:tblPr rtl="1" firstRow="1" bandRow="1">
                <a:effectLst>
                  <a:outerShdw blurRad="50800" dist="50800" dir="5400000" algn="ctr" rotWithShape="0">
                    <a:schemeClr val="accent4"/>
                  </a:outerShdw>
                </a:effectLst>
                <a:tableStyleId>{5C22544A-7EE6-4342-B048-85BDC9FD1C3A}</a:tableStyleId>
              </a:tblPr>
              <a:tblGrid>
                <a:gridCol w="4431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2402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كائنات كانسه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المحللات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73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تتغذى على أجزاء من المواد الميتة في النظام البيئي المواد المغذية الى التربة والهواء والماء لتعيد كائنات حية أخرى استخدامها</a:t>
                      </a:r>
                      <a:endParaRPr lang="ar-AE" sz="28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تحلل الكائنات الميته عن طريق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إفراز إنزيمات هاضمة، وهي الوسيلة والاداة الأساسية المستخدمة لتحليل المركبات العضوية وتوفير المواد المغذية إلى المنتجات لتستخدمها مرة أخرى.</a:t>
                      </a:r>
                      <a:endParaRPr lang="ar-AE" sz="28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9226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الديدان والعديد من الحشرات المائية التي تعيش في قاع الجداول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الفطريات والبكتيريا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9226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ومن دون وجود الكائنات </a:t>
                      </a:r>
                      <a:r>
                        <a:rPr lang="ar-AE" sz="2800" b="1" dirty="0" err="1">
                          <a:solidFill>
                            <a:srgbClr val="002060"/>
                          </a:solidFill>
                          <a:cs typeface="+mj-cs"/>
                        </a:rPr>
                        <a:t>الكانسه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 والمحللات لن تتحلل المواد العضوية ولن تتوافر المواد المغذية لكائنات حية اخرى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مستطيل 2">
            <a:extLst>
              <a:ext uri="{FF2B5EF4-FFF2-40B4-BE49-F238E27FC236}">
                <a16:creationId xmlns:a16="http://schemas.microsoft.com/office/drawing/2014/main" id="{7FE3B0ED-F130-4830-8D6F-397A6B280CB6}"/>
              </a:ext>
            </a:extLst>
          </p:cNvPr>
          <p:cNvSpPr/>
          <p:nvPr/>
        </p:nvSpPr>
        <p:spPr>
          <a:xfrm>
            <a:off x="66987" y="5127171"/>
            <a:ext cx="12058024" cy="13498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EAE498D9-40D2-44DE-A6B6-72B4F863F0BF}"/>
              </a:ext>
            </a:extLst>
          </p:cNvPr>
          <p:cNvSpPr/>
          <p:nvPr/>
        </p:nvSpPr>
        <p:spPr>
          <a:xfrm>
            <a:off x="66988" y="131408"/>
            <a:ext cx="7583996" cy="63455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78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الثاني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تذكّرا: الكانسة تأكل البقايا، والمحللات تُحلّلها كيميائيًّا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فهم + تحليل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يجيب أحدكما ويشرح الآخر السبب ثم تتبادلان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١)  ضعا كل كائن في مكانه:  دودة الأرض  —  فطر عيش الغراب  —  بكتيريا التربة
٢)  لماذا تُعدّ المحللات ضرورية للمنتِجات؟ اكتبا سطرًا واحدًا.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ارفعا أيديكما معًا عند الانتهاء — سأمرّ على الثنائيات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191FEA-8F9D-4958-B0D6-5C5F35BD37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252" t="12670" r="34001" b="16136"/>
          <a:stretch/>
        </p:blipFill>
        <p:spPr>
          <a:xfrm>
            <a:off x="9674352" y="4041648"/>
            <a:ext cx="2249424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كانسة: دودة الأرض.     محلّلات: فطر عيش الغراب — بكتيريا التربة.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لأن المحللات تُعيد المواد المغذّية المخزّنة في الأجسام الميتة إلى التربة، فتستعملها المنتِجات مرة أخرى لصنع غذائها.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لولا المحللات لتراكمت بقايا الكائنات ولنفدت المواد المغذّية من التربة.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③  الناتج الثالث: ماذا لو اختفت المحللات؟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3243" y="2167128"/>
            <a:ext cx="1970532" cy="169164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8107" y="2221992"/>
            <a:ext cx="1860804" cy="1581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500" b="1" i="0" dirty="0">
                <a:solidFill>
                  <a:srgbClr val="6A1B9A"/>
                </a:solidFill>
                <a:latin typeface="Arial"/>
                <a:cs typeface="Arial"/>
              </a:rPr>
              <a:t>تختفي المحللات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200" b="0" i="0" dirty="0">
                <a:solidFill>
                  <a:srgbClr val="16243A"/>
                </a:solidFill>
                <a:latin typeface="Arial"/>
                <a:cs typeface="Arial"/>
              </a:rPr>
              <a:t>لا تحليل للبقايا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9514332" y="2857500"/>
            <a:ext cx="384048" cy="310896"/>
          </a:xfrm>
          <a:prstGeom prst="leftArrow">
            <a:avLst/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88935" y="2167128"/>
            <a:ext cx="1970532" cy="16916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799" y="2221992"/>
            <a:ext cx="1860804" cy="1581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500" b="1" i="0" dirty="0">
                <a:solidFill>
                  <a:srgbClr val="E05B0B"/>
                </a:solidFill>
                <a:latin typeface="Arial"/>
                <a:cs typeface="Arial"/>
              </a:rPr>
              <a:t>تتراكم الأجسام الميتة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200" b="0" i="0" dirty="0">
                <a:solidFill>
                  <a:srgbClr val="16243A"/>
                </a:solidFill>
                <a:latin typeface="Arial"/>
                <a:cs typeface="Arial"/>
              </a:rPr>
              <a:t>فوق سطح التربة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7050023" y="2857500"/>
            <a:ext cx="384048" cy="310896"/>
          </a:xfrm>
          <a:prstGeom prst="leftArrow">
            <a:avLst/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4627" y="2167128"/>
            <a:ext cx="1970532" cy="1691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9491" y="2221992"/>
            <a:ext cx="1860804" cy="1581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500" b="1" i="0" dirty="0">
                <a:solidFill>
                  <a:srgbClr val="C02B2B"/>
                </a:solidFill>
                <a:latin typeface="Arial"/>
                <a:cs typeface="Arial"/>
              </a:rPr>
              <a:t>تنفد المواد المغذّية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200" b="0" i="0" dirty="0">
                <a:solidFill>
                  <a:srgbClr val="16243A"/>
                </a:solidFill>
                <a:latin typeface="Arial"/>
                <a:cs typeface="Arial"/>
              </a:rPr>
              <a:t>من التربة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585715" y="2857500"/>
            <a:ext cx="384048" cy="310896"/>
          </a:xfrm>
          <a:prstGeom prst="leftArrow">
            <a:avLst/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560319" y="2167128"/>
            <a:ext cx="1970532" cy="169164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15183" y="2221992"/>
            <a:ext cx="1860804" cy="1581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500" b="1" i="0" dirty="0">
                <a:solidFill>
                  <a:srgbClr val="143664"/>
                </a:solidFill>
                <a:latin typeface="Arial"/>
                <a:cs typeface="Arial"/>
              </a:rPr>
              <a:t>تضعف المنتِجات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200" b="0" i="0" dirty="0">
                <a:solidFill>
                  <a:srgbClr val="16243A"/>
                </a:solidFill>
                <a:latin typeface="Arial"/>
                <a:cs typeface="Arial"/>
              </a:rPr>
              <a:t>ويتأثّر النظام كلّه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4023360"/>
            <a:ext cx="9363456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◄   المواد المغذّية يُعاد تدويرها في النظام البيئي — أمّا الطاقة فتنتقل في اتجاه واحد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791456"/>
            <a:ext cx="9363456" cy="56692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43664"/>
                </a:solidFill>
                <a:latin typeface="Arial"/>
                <a:cs typeface="Arial"/>
              </a:rPr>
              <a:t>!   المحللات هي الأداة الأساسية لإعادة تدوير المادة في كل نظام بيئي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الثالث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اكتبا توقّعًا واحدًا + سببًا علميًّا واحدًا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تقويم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توقّعا معًا ثم اكتبا التفسير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في مزرعة نخيل بالإمارات رُشّ مبيد قوي قضى على الفطريات والبكتيريا في التربة.
ماذا تتوقّعان أن يحدث للنخيل بعد سنوات؟  ولماذا؟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استعملا كلمة (المواد المغذّية) في تفسيركما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الثالث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التوقّع: يضعف نمو النخيل وتقلّ محصوله تدريجيًّا.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السبب: بغياب المحللات لا تتحلّل البقايا العضوية، فلا تعود المواد المغذّية إلى التربة، فتفقد التربة خصوبتها.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الحل البيئي: تقليل المبيدات واستعمال السماد العضوي للحفاظ على أحياء التربة.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درسنا في بيئة الإمارات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نربط ما تعلّمناه بالبيئة المحلية من حولنا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الضبّ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زاحف يعيش في صحراء الإمارات.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يتغذّى على النباتات الصحراوية.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مثال على آكلات النباتات.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الثعلب الرملي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يعيش في الكثبان الرملية.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يصطاد القوارض والحشرات.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مثال على آكلات اللحوم.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ديدان الأرض والفطريات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تعيش في تربة الواحات والمزارع.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تُحلّل بقايا النخيل والأوراق.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تحافظ على خصوبة التربة.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50" b="1" i="0">
                <a:solidFill>
                  <a:srgbClr val="143664"/>
                </a:solidFill>
                <a:latin typeface="Arial"/>
                <a:cs typeface="Arial"/>
              </a:rPr>
              <a:t>✦   التنوّع الحيوي في الإمارات محميّ بقوانين الدولة — وكل كائن فيه دور لا يُستغنى عنه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A399AA-B18C-4A24-972A-B6C40CEA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20" y="3637788"/>
            <a:ext cx="1381722" cy="10073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0BCFA04-652D-4643-A7CE-E823B7D5C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335" y="3752850"/>
            <a:ext cx="1505714" cy="9654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2230D46-9B0E-4825-9C4E-36D074850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3978" y="3902964"/>
            <a:ext cx="1570852" cy="8610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CB524840-51AA-4C3F-B796-5AD5CB0F1884}"/>
              </a:ext>
            </a:extLst>
          </p:cNvPr>
          <p:cNvSpPr/>
          <p:nvPr/>
        </p:nvSpPr>
        <p:spPr>
          <a:xfrm>
            <a:off x="8582372" y="4963400"/>
            <a:ext cx="3350253" cy="4796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تغذية ذاتية ضوئية</a:t>
            </a:r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92023936-5FD8-4FDE-A950-616D1CCFBD06}"/>
              </a:ext>
            </a:extLst>
          </p:cNvPr>
          <p:cNvSpPr/>
          <p:nvPr/>
        </p:nvSpPr>
        <p:spPr>
          <a:xfrm>
            <a:off x="8582374" y="2717267"/>
            <a:ext cx="3350251" cy="471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تغذية ذاتية كيميائية</a:t>
            </a:r>
          </a:p>
        </p:txBody>
      </p:sp>
      <p:sp>
        <p:nvSpPr>
          <p:cNvPr id="6" name="مستطيل: زوايا مستديرة 5">
            <a:extLst>
              <a:ext uri="{FF2B5EF4-FFF2-40B4-BE49-F238E27FC236}">
                <a16:creationId xmlns:a16="http://schemas.microsoft.com/office/drawing/2014/main" id="{4E58387D-E36B-4D82-B276-7FEE342ED8EA}"/>
              </a:ext>
            </a:extLst>
          </p:cNvPr>
          <p:cNvSpPr/>
          <p:nvPr/>
        </p:nvSpPr>
        <p:spPr>
          <a:xfrm>
            <a:off x="8504289" y="6296860"/>
            <a:ext cx="3350252" cy="4579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آكلات النباتات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11DEA925-EF48-43DA-973F-67DD42A6DACA}"/>
              </a:ext>
            </a:extLst>
          </p:cNvPr>
          <p:cNvSpPr/>
          <p:nvPr/>
        </p:nvSpPr>
        <p:spPr>
          <a:xfrm>
            <a:off x="8582374" y="4243240"/>
            <a:ext cx="3350252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آكلات اللحوم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6973E754-B27D-4D8E-AC4D-A53EE412C805}"/>
              </a:ext>
            </a:extLst>
          </p:cNvPr>
          <p:cNvSpPr/>
          <p:nvPr/>
        </p:nvSpPr>
        <p:spPr>
          <a:xfrm>
            <a:off x="8660458" y="1870548"/>
            <a:ext cx="3272167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آكلات النباتات و اللحوم</a:t>
            </a:r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id="{713A4000-6DFC-4455-96F5-A312FB7E1927}"/>
              </a:ext>
            </a:extLst>
          </p:cNvPr>
          <p:cNvSpPr/>
          <p:nvPr/>
        </p:nvSpPr>
        <p:spPr>
          <a:xfrm>
            <a:off x="8504289" y="5620087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المحللات</a:t>
            </a:r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6B870193-1D26-4F1C-B917-8D26F1467020}"/>
              </a:ext>
            </a:extLst>
          </p:cNvPr>
          <p:cNvSpPr/>
          <p:nvPr/>
        </p:nvSpPr>
        <p:spPr>
          <a:xfrm>
            <a:off x="8582373" y="3446034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الكانسة</a:t>
            </a:r>
            <a:endParaRPr kumimoji="0" lang="ar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مستطيل: زوايا مستديرة 10">
            <a:hlinkClick r:id="" action="ppaction://noaction"/>
            <a:extLst>
              <a:ext uri="{FF2B5EF4-FFF2-40B4-BE49-F238E27FC236}">
                <a16:creationId xmlns:a16="http://schemas.microsoft.com/office/drawing/2014/main" id="{343F3734-362B-4914-BC22-865D9DEA83B3}"/>
              </a:ext>
            </a:extLst>
          </p:cNvPr>
          <p:cNvSpPr/>
          <p:nvPr/>
        </p:nvSpPr>
        <p:spPr>
          <a:xfrm>
            <a:off x="679344" y="4963400"/>
            <a:ext cx="3350253" cy="4796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الفطريات</a:t>
            </a:r>
          </a:p>
        </p:txBody>
      </p:sp>
      <p:sp>
        <p:nvSpPr>
          <p:cNvPr id="12" name="مستطيل: زوايا مستديرة 11">
            <a:hlinkClick r:id="" action="ppaction://noaction"/>
            <a:extLst>
              <a:ext uri="{FF2B5EF4-FFF2-40B4-BE49-F238E27FC236}">
                <a16:creationId xmlns:a16="http://schemas.microsoft.com/office/drawing/2014/main" id="{1A660429-5FD6-4467-88C6-BA0F486B3862}"/>
              </a:ext>
            </a:extLst>
          </p:cNvPr>
          <p:cNvSpPr/>
          <p:nvPr/>
        </p:nvSpPr>
        <p:spPr>
          <a:xfrm>
            <a:off x="679346" y="2717267"/>
            <a:ext cx="3350251" cy="471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أسد</a:t>
            </a:r>
          </a:p>
        </p:txBody>
      </p:sp>
      <p:sp>
        <p:nvSpPr>
          <p:cNvPr id="13" name="مستطيل: زوايا مستديرة 12">
            <a:hlinkClick r:id="" action="ppaction://noaction"/>
            <a:extLst>
              <a:ext uri="{FF2B5EF4-FFF2-40B4-BE49-F238E27FC236}">
                <a16:creationId xmlns:a16="http://schemas.microsoft.com/office/drawing/2014/main" id="{0D293557-A2D5-4700-8FF1-E40BDA377F23}"/>
              </a:ext>
            </a:extLst>
          </p:cNvPr>
          <p:cNvSpPr/>
          <p:nvPr/>
        </p:nvSpPr>
        <p:spPr>
          <a:xfrm>
            <a:off x="601261" y="6296860"/>
            <a:ext cx="3350252" cy="4579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البكتيريا القديمة</a:t>
            </a:r>
          </a:p>
        </p:txBody>
      </p:sp>
      <p:sp>
        <p:nvSpPr>
          <p:cNvPr id="14" name="مستطيل: زوايا مستديرة 13">
            <a:hlinkClick r:id="" action="ppaction://noaction"/>
            <a:extLst>
              <a:ext uri="{FF2B5EF4-FFF2-40B4-BE49-F238E27FC236}">
                <a16:creationId xmlns:a16="http://schemas.microsoft.com/office/drawing/2014/main" id="{0D510CAE-CB45-4DAC-A9FB-300D495AFC36}"/>
              </a:ext>
            </a:extLst>
          </p:cNvPr>
          <p:cNvSpPr/>
          <p:nvPr/>
        </p:nvSpPr>
        <p:spPr>
          <a:xfrm>
            <a:off x="640303" y="5668652"/>
            <a:ext cx="3350252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بقرة</a:t>
            </a:r>
          </a:p>
        </p:txBody>
      </p:sp>
      <p:sp>
        <p:nvSpPr>
          <p:cNvPr id="15" name="مستطيل: زوايا مستديرة 14">
            <a:hlinkClick r:id="" action="ppaction://noaction"/>
            <a:extLst>
              <a:ext uri="{FF2B5EF4-FFF2-40B4-BE49-F238E27FC236}">
                <a16:creationId xmlns:a16="http://schemas.microsoft.com/office/drawing/2014/main" id="{D2A1EC2F-B9B0-4E00-ADFE-FEFF764D012C}"/>
              </a:ext>
            </a:extLst>
          </p:cNvPr>
          <p:cNvSpPr/>
          <p:nvPr/>
        </p:nvSpPr>
        <p:spPr>
          <a:xfrm>
            <a:off x="799089" y="4199412"/>
            <a:ext cx="3272167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إنسان</a:t>
            </a:r>
          </a:p>
        </p:txBody>
      </p:sp>
      <p:sp>
        <p:nvSpPr>
          <p:cNvPr id="16" name="مستطيل: زوايا مستديرة 15">
            <a:hlinkClick r:id="" action="ppaction://noaction"/>
            <a:extLst>
              <a:ext uri="{FF2B5EF4-FFF2-40B4-BE49-F238E27FC236}">
                <a16:creationId xmlns:a16="http://schemas.microsoft.com/office/drawing/2014/main" id="{74E51D76-C35F-4BCD-B7B5-8A1EAEC70E2C}"/>
              </a:ext>
            </a:extLst>
          </p:cNvPr>
          <p:cNvSpPr/>
          <p:nvPr/>
        </p:nvSpPr>
        <p:spPr>
          <a:xfrm>
            <a:off x="727388" y="1922484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الديدان</a:t>
            </a:r>
          </a:p>
        </p:txBody>
      </p:sp>
      <p:sp>
        <p:nvSpPr>
          <p:cNvPr id="17" name="مستطيل: زوايا مستديرة 16">
            <a:hlinkClick r:id="" action="ppaction://noaction"/>
            <a:extLst>
              <a:ext uri="{FF2B5EF4-FFF2-40B4-BE49-F238E27FC236}">
                <a16:creationId xmlns:a16="http://schemas.microsoft.com/office/drawing/2014/main" id="{B0852776-F997-4DA2-8B5F-2615C430C700}"/>
              </a:ext>
            </a:extLst>
          </p:cNvPr>
          <p:cNvSpPr/>
          <p:nvPr/>
        </p:nvSpPr>
        <p:spPr>
          <a:xfrm>
            <a:off x="679345" y="3446034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طحالب</a:t>
            </a:r>
          </a:p>
        </p:txBody>
      </p:sp>
      <p:sp>
        <p:nvSpPr>
          <p:cNvPr id="18" name="مستطيل: زوايا مستديرة 17">
            <a:extLst>
              <a:ext uri="{FF2B5EF4-FFF2-40B4-BE49-F238E27FC236}">
                <a16:creationId xmlns:a16="http://schemas.microsoft.com/office/drawing/2014/main" id="{C529ECD2-DD45-4876-BBA3-C143021B0B39}"/>
              </a:ext>
            </a:extLst>
          </p:cNvPr>
          <p:cNvSpPr/>
          <p:nvPr/>
        </p:nvSpPr>
        <p:spPr>
          <a:xfrm>
            <a:off x="3407229" y="346548"/>
            <a:ext cx="5253229" cy="5107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صل بين اسم الكائن الحي و طريقة تغذيته</a:t>
            </a:r>
          </a:p>
        </p:txBody>
      </p:sp>
      <p:cxnSp>
        <p:nvCxnSpPr>
          <p:cNvPr id="20" name="رابط كسهم مستقيم 19">
            <a:extLst>
              <a:ext uri="{FF2B5EF4-FFF2-40B4-BE49-F238E27FC236}">
                <a16:creationId xmlns:a16="http://schemas.microsoft.com/office/drawing/2014/main" id="{6DC27A15-8653-4797-B106-66BC38B0EAF6}"/>
              </a:ext>
            </a:extLst>
          </p:cNvPr>
          <p:cNvCxnSpPr>
            <a:cxnSpLocks/>
            <a:stCxn id="8" idx="1"/>
            <a:endCxn id="15" idx="3"/>
          </p:cNvCxnSpPr>
          <p:nvPr/>
        </p:nvCxnSpPr>
        <p:spPr>
          <a:xfrm flipH="1">
            <a:off x="4071256" y="2125938"/>
            <a:ext cx="4589202" cy="23288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رابط كسهم مستقيم 20">
            <a:extLst>
              <a:ext uri="{FF2B5EF4-FFF2-40B4-BE49-F238E27FC236}">
                <a16:creationId xmlns:a16="http://schemas.microsoft.com/office/drawing/2014/main" id="{86CC747E-2D58-4FCA-8B37-40B7FB81C7DC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951513" y="2998543"/>
            <a:ext cx="4630862" cy="35272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رابط كسهم مستقيم 22">
            <a:extLst>
              <a:ext uri="{FF2B5EF4-FFF2-40B4-BE49-F238E27FC236}">
                <a16:creationId xmlns:a16="http://schemas.microsoft.com/office/drawing/2014/main" id="{5644329C-4A28-4211-97DF-325D094AEFC5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4077640" y="2170120"/>
            <a:ext cx="4540586" cy="15925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رابط كسهم مستقيم 26">
            <a:extLst>
              <a:ext uri="{FF2B5EF4-FFF2-40B4-BE49-F238E27FC236}">
                <a16:creationId xmlns:a16="http://schemas.microsoft.com/office/drawing/2014/main" id="{B564E8D5-1394-409A-BD20-2C0F7BA81432}"/>
              </a:ext>
            </a:extLst>
          </p:cNvPr>
          <p:cNvCxnSpPr>
            <a:cxnSpLocks/>
          </p:cNvCxnSpPr>
          <p:nvPr/>
        </p:nvCxnSpPr>
        <p:spPr>
          <a:xfrm flipH="1" flipV="1">
            <a:off x="4029597" y="3080737"/>
            <a:ext cx="4552778" cy="14692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رابط كسهم مستقيم 30">
            <a:extLst>
              <a:ext uri="{FF2B5EF4-FFF2-40B4-BE49-F238E27FC236}">
                <a16:creationId xmlns:a16="http://schemas.microsoft.com/office/drawing/2014/main" id="{5CC8AD0E-C0C7-4D71-8CF5-21A5142D2F0A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4029597" y="3693670"/>
            <a:ext cx="4533258" cy="15615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رابط كسهم مستقيم 32">
            <a:extLst>
              <a:ext uri="{FF2B5EF4-FFF2-40B4-BE49-F238E27FC236}">
                <a16:creationId xmlns:a16="http://schemas.microsoft.com/office/drawing/2014/main" id="{F04A90E9-DCCA-4BB4-BDA3-CF5E51D13520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4029597" y="5203242"/>
            <a:ext cx="4474694" cy="6781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رابط كسهم مستقيم 34">
            <a:extLst>
              <a:ext uri="{FF2B5EF4-FFF2-40B4-BE49-F238E27FC236}">
                <a16:creationId xmlns:a16="http://schemas.microsoft.com/office/drawing/2014/main" id="{4B1D4B9B-0A63-4A5A-948C-7F5AD7857759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3990555" y="5924042"/>
            <a:ext cx="4552778" cy="6439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الدعم والإثراء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لكل طالب ما يناسبه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1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59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دعم إضافي — لمن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7223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بطاقات مصوّرة للكائنات يصنّفها الطالب بالصور بدل الأسماء.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جدول تصنيف جاهز يُملأ بكلمة واحدة.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زميل مساند يقرأ أسماء الكائنات بصوت مسموع.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دقيقة إضافية في كل نشاط ثنائي.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70048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إثراء — لمن أنجز مبكرًا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ابحث: ما الفرق بين المفترِس والكائن الكانس؟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اكتب تقريرًا قصيرًا عن دور ديدان الأرض في تربة مزارع الإمارات.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صمّم مخططًا يوضّح رحلة ورقة شجر ميتة حتى تعود مادة مغذّية.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◉  قيّم نفسك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ضع علامة أمام المستوى الذي وصلت إليه في كل ناتج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2450592"/>
            <a:ext cx="3931920" cy="475488"/>
          </a:xfrm>
          <a:prstGeom prst="roundRect">
            <a:avLst>
              <a:gd name="adj" fmla="val 22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ناتج التعلم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أتقنته تمامًا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تدريبًا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مساعدة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2999232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أصنّف المستهلكات حسب نوع غذائها.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342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054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91855" y="3712464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أوضّح دور الكائنات الكانسة والمحللات.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342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054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91855" y="4425696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أتنبّأ بأثر اختفاء المحللات وأفسّره.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342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5054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▣  بطاقة الخروج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أجب في ورقتك ثم سلّمها لي عند الباب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85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الأول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0368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ما نوع تغذية الجمل؟ ولماذا؟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نوع واحد + سبب قصير.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857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4351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اذكر الفرق الأساسي بين الكائنات الكانسة والمحللات.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فرق واحد فقط.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85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الثالث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5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لماذا تُعدّ المحللات مهمّة للمنتِجات؟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سطر واحد.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الثلاثاء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أصنّف المستهلكات حسب غذائها.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دور الكانسة والمحللات.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أتنبّأ بأثر اختفاء المحللات.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الواجب المنزلي وختام الحصة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1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52359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الواجب المنزلي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3" y="2743200"/>
            <a:ext cx="4251959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حلّ سؤال (٣) من مراجعة القسم الثاني في الكتاب.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اكتب أسماء ثلاثة كائنات من بيئتك وصنّف كلًّا منها.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70048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في الحصة القادمة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779776"/>
            <a:ext cx="4251959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ar-AE" altLang="en-US" sz="1700" b="1" i="0">
                <a:solidFill>
                  <a:srgbClr val="143664"/>
                </a:solidFill>
                <a:latin typeface="Arial"/>
                <a:cs typeface="Arial"/>
              </a:rPr>
              <a:t>السلاسل والشبكات الغذائية:
كيف نرسم انتقال الطاقة؟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379976"/>
            <a:ext cx="9363456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★   أحسنتم اليوم — إلى لقاء قادم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2500</Words>
  <Application>Microsoft Office PowerPoint</Application>
  <PresentationFormat>Widescreen</PresentationFormat>
  <Paragraphs>394</Paragraphs>
  <Slides>23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Mustafa</cp:lastModifiedBy>
  <cp:revision>16</cp:revision>
  <dcterms:created xsi:type="dcterms:W3CDTF">2013-01-27T09:14:16Z</dcterms:created>
  <dcterms:modified xsi:type="dcterms:W3CDTF">2026-09-15T10:16:15Z</dcterms:modified>
  <cp:category/>
</cp:coreProperties>
</file>