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7"/>
  </p:notesMasterIdLst>
  <p:sldIdLst>
    <p:sldId id="256" r:id="rId3"/>
    <p:sldId id="257" r:id="rId4"/>
    <p:sldId id="258" r:id="rId5"/>
    <p:sldId id="259" r:id="rId6"/>
    <p:sldId id="260" r:id="rId7"/>
    <p:sldId id="281" r:id="rId8"/>
    <p:sldId id="285" r:id="rId9"/>
    <p:sldId id="261" r:id="rId10"/>
    <p:sldId id="262" r:id="rId11"/>
    <p:sldId id="278" r:id="rId12"/>
    <p:sldId id="279" r:id="rId13"/>
    <p:sldId id="263" r:id="rId14"/>
    <p:sldId id="264" r:id="rId15"/>
    <p:sldId id="265" r:id="rId16"/>
    <p:sldId id="266" r:id="rId17"/>
    <p:sldId id="319" r:id="rId18"/>
    <p:sldId id="321" r:id="rId19"/>
    <p:sldId id="320" r:id="rId20"/>
    <p:sldId id="293" r:id="rId21"/>
    <p:sldId id="322" r:id="rId22"/>
    <p:sldId id="267" r:id="rId23"/>
    <p:sldId id="323" r:id="rId24"/>
    <p:sldId id="268" r:id="rId25"/>
    <p:sldId id="305" r:id="rId26"/>
    <p:sldId id="304" r:id="rId27"/>
    <p:sldId id="328" r:id="rId28"/>
    <p:sldId id="329" r:id="rId29"/>
    <p:sldId id="288" r:id="rId30"/>
    <p:sldId id="289" r:id="rId31"/>
    <p:sldId id="330" r:id="rId32"/>
    <p:sldId id="331" r:id="rId33"/>
    <p:sldId id="292" r:id="rId34"/>
    <p:sldId id="269" r:id="rId35"/>
    <p:sldId id="27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99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18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افتتاح الحصة: الترحيب بالطلاب، أخذ الحضور والغياب، تهيئة نفسية إيجابية (ابتسامة + كلمة ترحيبية). 1 دقيقة.</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الميثاق الوطني للتعليم: يقرأ المعلم مع الطلاب الغاية العليا للميثاق (توجه وطني موحد، تحصين الهوية الوطنية، بناء مجتمع معرفي) كطقس افتتاحي يومي، ويربطها بأهمية العلم في بناء مجتمع معرفي. دقيقتان.</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شغّل المقطع (57 ثانية) ثم اطرح السؤال شفهياً وخذ 2-3 إجابات من الطلاب دون تصحيح، فقط لتنشيط التفكير وربط الدرس بحياتهم اليومية (تكامل مع مادة التربية الإسلامية/الدراسات الاجتماعية: الترابط والتكافل في المجتمع الإنساني كما في الطبيعة). 4 دقائق.</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اعرض النواتج الثلاثة واقرأها بصوت مرتفع، واطلب من طالب إعادة صياغتها بلغته ليتأكد الجميع من الوعي بها (معيار: عرض نواتج التعلم ووعي الطلاب بها). صنّف المفردات حسب المستوى مع الترجمة الإنجليزية لدعم لغة العلوم. دقيقتان.</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اربط المفهوم بصورة الأرض من الفضاء (الغلاف الحيوي) واستخدم تشبيه: الغلاف الحيوي كقشرة تفاحة رقيقة تحيط بالأرض – كل الحياة موجودة في هذه القشرة الرقيقة (استراتيجية استخدام التشبيهات). 3 دقائق.</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عنصر نائب لصورة الشريحة 1"/>
          <p:cNvSpPr>
            <a:spLocks noGrp="1" noRot="1" noChangeAspect="1" noTextEdit="1"/>
          </p:cNvSpPr>
          <p:nvPr>
            <p:ph type="sldImg"/>
          </p:nvPr>
        </p:nvSpPr>
        <p:spPr>
          <a:ln/>
        </p:spPr>
      </p:sp>
      <p:sp>
        <p:nvSpPr>
          <p:cNvPr id="20483" name="عنصر نائب للملاحظات 2"/>
          <p:cNvSpPr>
            <a:spLocks noGrp="1"/>
          </p:cNvSpPr>
          <p:nvPr>
            <p:ph type="body" idx="1"/>
          </p:nvPr>
        </p:nvSpPr>
        <p:spPr>
          <a:noFill/>
          <a:ln/>
        </p:spPr>
        <p:txBody>
          <a:bodyPr/>
          <a:lstStyle/>
          <a:p>
            <a:pPr eaLnBrk="1" hangingPunct="1"/>
            <a:endParaRPr lang="ar-AE"/>
          </a:p>
        </p:txBody>
      </p:sp>
      <p:sp>
        <p:nvSpPr>
          <p:cNvPr id="20484" name="عنصر نائب لرقم الشريحة 3"/>
          <p:cNvSpPr>
            <a:spLocks noGrp="1"/>
          </p:cNvSpPr>
          <p:nvPr>
            <p:ph type="sldNum" sz="quarter" idx="5"/>
          </p:nvPr>
        </p:nvSpPr>
        <p:spPr>
          <a:noFill/>
        </p:spPr>
        <p:txBody>
          <a:bodyPr/>
          <a:lstStyle/>
          <a:p>
            <a:fld id="{34FF7ED5-2356-481C-BC6F-949289CCB7B0}" type="slidenum">
              <a:rPr lang="ar-SA" smtClean="0"/>
              <a:pPr/>
              <a:t>7</a:t>
            </a:fld>
            <a:endParaRPr lang="en-US"/>
          </a:p>
        </p:txBody>
      </p:sp>
    </p:spTree>
    <p:extLst>
      <p:ext uri="{BB962C8B-B14F-4D97-AF65-F5344CB8AC3E}">
        <p14:creationId xmlns:p14="http://schemas.microsoft.com/office/powerpoint/2010/main" val="2100828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استخدم إستراتيجية 'ارفع بطاقتك' (بطاقات ملونة: أخضر=فهمت، أصفر=بحاجة لمراجعة) لقياس فهم كل الصف خلال ثوانٍ، وقدّم تغذية راجعة فورية موجزة لمن يحتاجها. تقييم تكويني مستمر رقم 1. دقيقتان.</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التمايز: للطلاب دون المستوى قدّم بطاقات مصنّفة جزئياً مسبقاً كدعم؛ للطلاب فوق المستوى اطلب إضافة مثال بيئي إماراتي (كالواحة أو الشعاب المرجانية) لكل عامل؛ لأصحاب الهمم استخدم بطاقات مكبّرة بالصور. جوّل بين المجموعات لتقديم دعم فاعل وتعزيز إيجابي أثناء العمل. 5 دقائق.</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اربط بالبيئة المحلية: في صحراء الإمارات العامل غير الحيوي البارز هو الحرارة والرمال، بينما في السواحل والشعاب المرجانية تتنوع العوامل الحيوية بشدة. اسأل: أي عامل غير حيوي هو الأكثر تأثيراً في بيئتنا المحلية؟ (تفكير تحليلي). 3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وزّع السؤال على السبورة أو شفهياً، اطلب إجابات فردية سريعة (تقييم تكويني فردي بعد النشاط الجماعي). صحّح فورياً وقدّم تغذية راجعة موجّهة. دقيقتان.</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المقطع (43 ثانية) يعرض هرم مستويات التنظيم البيئي بصرياً. أوقف الفيديو عند ظهور الهرم كاملاً واطرح سؤال: أيهما أشمل، الكائن الحي أم النظام البيئي؟ (استراتيجية الثقافة المرئية). 3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اشرح كل مستوى صعوداً بدءاً من الكائن الحي، مستخدماً مثالاً واحداً مستمراً (مثال: نخلة واحدة ← نخيل الواحة ← كل كائنات الواحة ← الواحة بعواملها غير الحية ← إقليم الصحراء ← الغلاف الحيوي) لضمان التسلسل المنطقي والترابط بين المفاهيم. 4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عنصر نائب لصورة الشريحة 1"/>
          <p:cNvSpPr>
            <a:spLocks noGrp="1" noRot="1" noChangeAspect="1" noTextEdit="1"/>
          </p:cNvSpPr>
          <p:nvPr>
            <p:ph type="sldImg"/>
          </p:nvPr>
        </p:nvSpPr>
        <p:spPr>
          <a:ln/>
        </p:spPr>
      </p:sp>
      <p:sp>
        <p:nvSpPr>
          <p:cNvPr id="19459" name="عنصر نائب للملاحظات 2"/>
          <p:cNvSpPr>
            <a:spLocks noGrp="1"/>
          </p:cNvSpPr>
          <p:nvPr>
            <p:ph type="body" idx="1"/>
          </p:nvPr>
        </p:nvSpPr>
        <p:spPr>
          <a:noFill/>
          <a:ln/>
        </p:spPr>
        <p:txBody>
          <a:bodyPr/>
          <a:lstStyle/>
          <a:p>
            <a:pPr eaLnBrk="1" hangingPunct="1"/>
            <a:endParaRPr lang="ar-AE"/>
          </a:p>
        </p:txBody>
      </p:sp>
      <p:sp>
        <p:nvSpPr>
          <p:cNvPr id="19460" name="عنصر نائب لرقم الشريحة 3"/>
          <p:cNvSpPr>
            <a:spLocks noGrp="1"/>
          </p:cNvSpPr>
          <p:nvPr>
            <p:ph type="sldNum" sz="quarter" idx="5"/>
          </p:nvPr>
        </p:nvSpPr>
        <p:spPr>
          <a:noFill/>
        </p:spPr>
        <p:txBody>
          <a:bodyPr/>
          <a:lstStyle/>
          <a:p>
            <a:fld id="{4AE0C6E2-6F41-4AA2-827C-9A6CFEAE3235}" type="slidenum">
              <a:rPr lang="ar-SA" smtClean="0"/>
              <a:pPr/>
              <a:t>16</a:t>
            </a:fld>
            <a:endParaRPr lang="en-US"/>
          </a:p>
        </p:txBody>
      </p:sp>
    </p:spTree>
    <p:extLst>
      <p:ext uri="{BB962C8B-B14F-4D97-AF65-F5344CB8AC3E}">
        <p14:creationId xmlns:p14="http://schemas.microsoft.com/office/powerpoint/2010/main" val="1870144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عنصر نائب لصورة الشريحة 1"/>
          <p:cNvSpPr>
            <a:spLocks noGrp="1" noRot="1" noChangeAspect="1" noTextEdit="1"/>
          </p:cNvSpPr>
          <p:nvPr>
            <p:ph type="sldImg"/>
          </p:nvPr>
        </p:nvSpPr>
        <p:spPr>
          <a:ln/>
        </p:spPr>
      </p:sp>
      <p:sp>
        <p:nvSpPr>
          <p:cNvPr id="22531" name="عنصر نائب للملاحظات 2"/>
          <p:cNvSpPr>
            <a:spLocks noGrp="1"/>
          </p:cNvSpPr>
          <p:nvPr>
            <p:ph type="body" idx="1"/>
          </p:nvPr>
        </p:nvSpPr>
        <p:spPr>
          <a:noFill/>
          <a:ln/>
        </p:spPr>
        <p:txBody>
          <a:bodyPr/>
          <a:lstStyle/>
          <a:p>
            <a:pPr eaLnBrk="1" hangingPunct="1"/>
            <a:endParaRPr lang="ar-AE"/>
          </a:p>
        </p:txBody>
      </p:sp>
      <p:sp>
        <p:nvSpPr>
          <p:cNvPr id="22532" name="عنصر نائب لرقم الشريحة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52293AA6-D1FC-40BC-8503-42ADA2CBDA11}" type="slidenum">
              <a:rPr kumimoji="0" lang="ar-SA" sz="1200" b="0" i="0" u="none" strike="noStrike" kern="1200" cap="none" spc="0" normalizeH="0" baseline="0" noProof="0" smtClean="0">
                <a:ln>
                  <a:noFill/>
                </a:ln>
                <a:solidFill>
                  <a:srgbClr val="000000"/>
                </a:solidFill>
                <a:effectLst/>
                <a:uLnTx/>
                <a:uFillTx/>
                <a:latin typeface="Times New Roman" pitchFamily="18"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Arial" pitchFamily="34" charset="0"/>
            </a:endParaRPr>
          </a:p>
        </p:txBody>
      </p:sp>
    </p:spTree>
    <p:extLst>
      <p:ext uri="{BB962C8B-B14F-4D97-AF65-F5344CB8AC3E}">
        <p14:creationId xmlns:p14="http://schemas.microsoft.com/office/powerpoint/2010/main" val="2528267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عنصر نائب لصورة الشريحة 1"/>
          <p:cNvSpPr>
            <a:spLocks noGrp="1" noRot="1" noChangeAspect="1" noTextEdit="1"/>
          </p:cNvSpPr>
          <p:nvPr>
            <p:ph type="sldImg"/>
          </p:nvPr>
        </p:nvSpPr>
        <p:spPr>
          <a:ln/>
        </p:spPr>
      </p:sp>
      <p:sp>
        <p:nvSpPr>
          <p:cNvPr id="21507" name="عنصر نائب للملاحظات 2"/>
          <p:cNvSpPr>
            <a:spLocks noGrp="1"/>
          </p:cNvSpPr>
          <p:nvPr>
            <p:ph type="body" idx="1"/>
          </p:nvPr>
        </p:nvSpPr>
        <p:spPr>
          <a:noFill/>
          <a:ln/>
        </p:spPr>
        <p:txBody>
          <a:bodyPr/>
          <a:lstStyle/>
          <a:p>
            <a:pPr eaLnBrk="1" hangingPunct="1"/>
            <a:endParaRPr lang="ar-AE"/>
          </a:p>
        </p:txBody>
      </p:sp>
      <p:sp>
        <p:nvSpPr>
          <p:cNvPr id="21508" name="عنصر نائب لرقم الشريحة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1108BEAB-94EF-4B97-9146-33C77D6A561E}" type="slidenum">
              <a:rPr kumimoji="0" lang="ar-SA" sz="1200" b="0" i="0" u="none" strike="noStrike" kern="1200" cap="none" spc="0" normalizeH="0" baseline="0" noProof="0" smtClean="0">
                <a:ln>
                  <a:noFill/>
                </a:ln>
                <a:solidFill>
                  <a:srgbClr val="000000"/>
                </a:solidFill>
                <a:effectLst/>
                <a:uLnTx/>
                <a:uFillTx/>
                <a:latin typeface="Times New Roman" pitchFamily="18"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Arial" pitchFamily="34" charset="0"/>
            </a:endParaRPr>
          </a:p>
        </p:txBody>
      </p:sp>
    </p:spTree>
    <p:extLst>
      <p:ext uri="{BB962C8B-B14F-4D97-AF65-F5344CB8AC3E}">
        <p14:creationId xmlns:p14="http://schemas.microsoft.com/office/powerpoint/2010/main" val="16049421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اربط بالواقع المحلي: الإمارات تقع ضمن الإقليم الصحراوي، لكنها تضم أيضاً نظماً بيئية ساحلية وبحرية غنية (تكامل مع الدراسات الاجتماعية/الجغرافيا). 2 دقيقة.</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هذا النشاط تطبيق عملي مباشر لناتج التعلم الثالث ويحقق معيار (استيعاب كافٍ لنواتج التعلم). امنح فرصة لعرض إجابة مجموعة واحدة أمام الصف لتعزيز التواصل والتفاعل الصفي. 4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p:spPr>
        <p:txBody>
          <a:bodyPr/>
          <a:lstStyle/>
          <a:p>
            <a:pPr eaLnBrk="1" hangingPunct="1">
              <a:spcBef>
                <a:spcPct val="0"/>
              </a:spcBef>
            </a:pPr>
            <a:endParaRPr lang="ar-AE"/>
          </a:p>
        </p:txBody>
      </p:sp>
      <p:sp>
        <p:nvSpPr>
          <p:cNvPr id="23556" name="Slide Number Placeholder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2BBA5CF7-5731-4051-A147-4CF859E7635F}" type="slidenum">
              <a:rPr kumimoji="0" lang="en-US" sz="1200" b="0" i="0" u="none" strike="noStrike" kern="1200" cap="none" spc="0" normalizeH="0" baseline="0" noProof="0" smtClean="0">
                <a:ln>
                  <a:noFill/>
                </a:ln>
                <a:solidFill>
                  <a:srgbClr val="000000"/>
                </a:solidFill>
                <a:effectLst/>
                <a:uLnTx/>
                <a:uFillTx/>
                <a:latin typeface="Arial" pitchFamily="34"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246454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p:spPr>
        <p:txBody>
          <a:bodyPr/>
          <a:lstStyle/>
          <a:p>
            <a:pPr eaLnBrk="1" hangingPunct="1">
              <a:spcBef>
                <a:spcPct val="0"/>
              </a:spcBef>
            </a:pPr>
            <a:endParaRPr lang="ar-AE"/>
          </a:p>
        </p:txBody>
      </p:sp>
      <p:sp>
        <p:nvSpPr>
          <p:cNvPr id="24580" name="Slide Number Placeholder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5CAD79F0-47F6-46CA-A5DB-1276A557A06D}" type="slidenum">
              <a:rPr kumimoji="0" lang="en-US" sz="1200" b="0" i="0" u="none" strike="noStrike" kern="1200" cap="none" spc="0" normalizeH="0" baseline="0" noProof="0" smtClean="0">
                <a:ln>
                  <a:noFill/>
                </a:ln>
                <a:solidFill>
                  <a:srgbClr val="000000"/>
                </a:solidFill>
                <a:effectLst/>
                <a:uLnTx/>
                <a:uFillTx/>
                <a:latin typeface="Arial" pitchFamily="34"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972233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اطلب من كل طالب أن يرفع إشارة (بالإصبع أو بطاقة وجه تعبيري) لتقييم فهمه ذاتياً، وسجّل ملاحظة سريعة عمّن يحتاج متابعة فردية في الحصة القادمة. 3 دقائق.</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لخّص مع الطلاب شفهياً، وزّع التعزيز الإيجابي (نجوم/كلمات تشجيعية)، اذكر الواجب بوضوح، واربط بموضوع الحصة القادمة لخلق تشويق. 3 دقائق.</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914400" y="2130426"/>
            <a:ext cx="10363200" cy="1470025"/>
          </a:xfrm>
        </p:spPr>
        <p:txBody>
          <a:bodyPr/>
          <a:lstStyle/>
          <a:p>
            <a:r>
              <a:rPr lang="ar-SA"/>
              <a:t>انقر لتحرير نمط العنوان الرئيسي</a:t>
            </a:r>
            <a:endParaRPr lang="ar-AE"/>
          </a:p>
        </p:txBody>
      </p:sp>
      <p:sp>
        <p:nvSpPr>
          <p:cNvPr id="3" name="عنوان فرعي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ar-SA"/>
              <a:t>انقر لتحرير نمط العنوان الثانوي الرئيسي</a:t>
            </a:r>
            <a:endParaRPr lang="ar-A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25AF74C-8398-478F-AEF3-24A059E0EBFC}" type="slidenum">
              <a:rPr lang="ar-SA"/>
              <a:pPr>
                <a:defRPr/>
              </a:pPr>
              <a:t>‹#›</a:t>
            </a:fld>
            <a:endParaRPr lang="en-US"/>
          </a:p>
        </p:txBody>
      </p:sp>
    </p:spTree>
    <p:extLst>
      <p:ext uri="{BB962C8B-B14F-4D97-AF65-F5344CB8AC3E}">
        <p14:creationId xmlns:p14="http://schemas.microsoft.com/office/powerpoint/2010/main" val="4222482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AE"/>
          </a:p>
        </p:txBody>
      </p:sp>
      <p:sp>
        <p:nvSpPr>
          <p:cNvPr id="3" name="عنصر نائب للمحتوى 2"/>
          <p:cNvSpPr>
            <a:spLocks noGrp="1"/>
          </p:cNvSpPr>
          <p:nvPr>
            <p:ph idx="1"/>
          </p:nvPr>
        </p:nvSpPr>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AD427C3-7855-4A3D-AE2C-AB419E267F15}" type="slidenum">
              <a:rPr lang="ar-SA"/>
              <a:pPr>
                <a:defRPr/>
              </a:pPr>
              <a:t>‹#›</a:t>
            </a:fld>
            <a:endParaRPr lang="en-US"/>
          </a:p>
        </p:txBody>
      </p:sp>
    </p:spTree>
    <p:extLst>
      <p:ext uri="{BB962C8B-B14F-4D97-AF65-F5344CB8AC3E}">
        <p14:creationId xmlns:p14="http://schemas.microsoft.com/office/powerpoint/2010/main" val="15223211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963084" y="4406901"/>
            <a:ext cx="10363200" cy="1362075"/>
          </a:xfrm>
        </p:spPr>
        <p:txBody>
          <a:bodyPr anchor="t"/>
          <a:lstStyle>
            <a:lvl1pPr algn="r">
              <a:defRPr sz="4000" b="1" cap="all"/>
            </a:lvl1pPr>
          </a:lstStyle>
          <a:p>
            <a:r>
              <a:rPr lang="ar-SA"/>
              <a:t>انقر لتحرير نمط العنوان الرئيسي</a:t>
            </a:r>
            <a:endParaRPr lang="ar-AE"/>
          </a:p>
        </p:txBody>
      </p:sp>
      <p:sp>
        <p:nvSpPr>
          <p:cNvPr id="3" name="عنصر نائب للنص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a:t>انقر لتحرير أنماط النص الرئيسي</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8AA13A3-406F-4A9C-8C23-54E79C699CC0}" type="slidenum">
              <a:rPr lang="ar-SA"/>
              <a:pPr>
                <a:defRPr/>
              </a:pPr>
              <a:t>‹#›</a:t>
            </a:fld>
            <a:endParaRPr lang="en-US"/>
          </a:p>
        </p:txBody>
      </p:sp>
    </p:spTree>
    <p:extLst>
      <p:ext uri="{BB962C8B-B14F-4D97-AF65-F5344CB8AC3E}">
        <p14:creationId xmlns:p14="http://schemas.microsoft.com/office/powerpoint/2010/main" val="34703691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AE"/>
          </a:p>
        </p:txBody>
      </p:sp>
      <p:sp>
        <p:nvSpPr>
          <p:cNvPr id="3" name="عنصر نائب للمحتوى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عنصر نائب للمحتوى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8E3F24-F6F5-4DBA-8994-BEEFCEF7D18B}" type="slidenum">
              <a:rPr lang="ar-SA"/>
              <a:pPr>
                <a:defRPr/>
              </a:pPr>
              <a:t>‹#›</a:t>
            </a:fld>
            <a:endParaRPr lang="en-US"/>
          </a:p>
        </p:txBody>
      </p:sp>
    </p:spTree>
    <p:extLst>
      <p:ext uri="{BB962C8B-B14F-4D97-AF65-F5344CB8AC3E}">
        <p14:creationId xmlns:p14="http://schemas.microsoft.com/office/powerpoint/2010/main" val="291020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a:xfrm>
            <a:off x="609600" y="274638"/>
            <a:ext cx="10972800" cy="1143000"/>
          </a:xfrm>
        </p:spPr>
        <p:txBody>
          <a:bodyPr/>
          <a:lstStyle>
            <a:lvl1pPr>
              <a:defRPr/>
            </a:lvl1pPr>
          </a:lstStyle>
          <a:p>
            <a:r>
              <a:rPr lang="ar-SA"/>
              <a:t>انقر لتحرير نمط العنوان الرئيسي</a:t>
            </a:r>
            <a:endParaRPr lang="ar-AE"/>
          </a:p>
        </p:txBody>
      </p:sp>
      <p:sp>
        <p:nvSpPr>
          <p:cNvPr id="3" name="عنصر نائب للنص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4" name="عنصر نائب للمحتوى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5" name="عنصر نائب للنص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6" name="عنصر نائب للمحتوى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4F7089D2-8F26-4FE1-84EB-F946AF81C365}" type="slidenum">
              <a:rPr lang="ar-SA"/>
              <a:pPr>
                <a:defRPr/>
              </a:pPr>
              <a:t>‹#›</a:t>
            </a:fld>
            <a:endParaRPr lang="en-US"/>
          </a:p>
        </p:txBody>
      </p:sp>
    </p:spTree>
    <p:extLst>
      <p:ext uri="{BB962C8B-B14F-4D97-AF65-F5344CB8AC3E}">
        <p14:creationId xmlns:p14="http://schemas.microsoft.com/office/powerpoint/2010/main" val="30887780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AE"/>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F626150-312F-4E6E-BCBF-E4554C680EBF}" type="slidenum">
              <a:rPr lang="ar-SA"/>
              <a:pPr>
                <a:defRPr/>
              </a:pPr>
              <a:t>‹#›</a:t>
            </a:fld>
            <a:endParaRPr lang="en-US"/>
          </a:p>
        </p:txBody>
      </p:sp>
    </p:spTree>
    <p:extLst>
      <p:ext uri="{BB962C8B-B14F-4D97-AF65-F5344CB8AC3E}">
        <p14:creationId xmlns:p14="http://schemas.microsoft.com/office/powerpoint/2010/main" val="24383150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5E0C5D8-B9FD-422D-B96C-14928DF3C2B5}" type="slidenum">
              <a:rPr lang="ar-SA"/>
              <a:pPr>
                <a:defRPr/>
              </a:pPr>
              <a:t>‹#›</a:t>
            </a:fld>
            <a:endParaRPr lang="en-US"/>
          </a:p>
        </p:txBody>
      </p:sp>
    </p:spTree>
    <p:extLst>
      <p:ext uri="{BB962C8B-B14F-4D97-AF65-F5344CB8AC3E}">
        <p14:creationId xmlns:p14="http://schemas.microsoft.com/office/powerpoint/2010/main" val="22107841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609601" y="273050"/>
            <a:ext cx="4011084" cy="1162050"/>
          </a:xfrm>
        </p:spPr>
        <p:txBody>
          <a:bodyPr anchor="b"/>
          <a:lstStyle>
            <a:lvl1pPr algn="r">
              <a:defRPr sz="2000" b="1"/>
            </a:lvl1pPr>
          </a:lstStyle>
          <a:p>
            <a:r>
              <a:rPr lang="ar-SA"/>
              <a:t>انقر لتحرير نمط العنوان الرئيسي</a:t>
            </a:r>
            <a:endParaRPr lang="ar-AE"/>
          </a:p>
        </p:txBody>
      </p:sp>
      <p:sp>
        <p:nvSpPr>
          <p:cNvPr id="3" name="عنصر نائب للمحتوى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عنصر نائب للنص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76897F7-4045-441C-B198-A5EB788B3DC6}" type="slidenum">
              <a:rPr lang="ar-SA"/>
              <a:pPr>
                <a:defRPr/>
              </a:pPr>
              <a:t>‹#›</a:t>
            </a:fld>
            <a:endParaRPr lang="en-US"/>
          </a:p>
        </p:txBody>
      </p:sp>
    </p:spTree>
    <p:extLst>
      <p:ext uri="{BB962C8B-B14F-4D97-AF65-F5344CB8AC3E}">
        <p14:creationId xmlns:p14="http://schemas.microsoft.com/office/powerpoint/2010/main" val="998754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2389717" y="4800600"/>
            <a:ext cx="7315200" cy="566738"/>
          </a:xfrm>
        </p:spPr>
        <p:txBody>
          <a:bodyPr anchor="b"/>
          <a:lstStyle>
            <a:lvl1pPr algn="r">
              <a:defRPr sz="2000" b="1"/>
            </a:lvl1pPr>
          </a:lstStyle>
          <a:p>
            <a:r>
              <a:rPr lang="ar-SA"/>
              <a:t>انقر لتحرير نمط العنوان الرئيسي</a:t>
            </a:r>
            <a:endParaRPr lang="ar-AE"/>
          </a:p>
        </p:txBody>
      </p:sp>
      <p:sp>
        <p:nvSpPr>
          <p:cNvPr id="3" name="عنصر نائب للصورة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AE" noProof="0"/>
          </a:p>
        </p:txBody>
      </p:sp>
      <p:sp>
        <p:nvSpPr>
          <p:cNvPr id="4" name="عنصر نائب للنص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F24D1E1-E963-40AE-BD81-A738621D4386}" type="slidenum">
              <a:rPr lang="ar-SA"/>
              <a:pPr>
                <a:defRPr/>
              </a:pPr>
              <a:t>‹#›</a:t>
            </a:fld>
            <a:endParaRPr lang="en-US"/>
          </a:p>
        </p:txBody>
      </p:sp>
    </p:spTree>
    <p:extLst>
      <p:ext uri="{BB962C8B-B14F-4D97-AF65-F5344CB8AC3E}">
        <p14:creationId xmlns:p14="http://schemas.microsoft.com/office/powerpoint/2010/main" val="21002476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AE"/>
          </a:p>
        </p:txBody>
      </p:sp>
      <p:sp>
        <p:nvSpPr>
          <p:cNvPr id="3" name="عنصر نائب للعنوان العمودي 2"/>
          <p:cNvSpPr>
            <a:spLocks noGrp="1"/>
          </p:cNvSpPr>
          <p:nvPr>
            <p:ph type="body" orient="vert" idx="1"/>
          </p:nvPr>
        </p:nvSpPr>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66DEE6F-850C-4982-B074-62197088907C}" type="slidenum">
              <a:rPr lang="ar-SA"/>
              <a:pPr>
                <a:defRPr/>
              </a:pPr>
              <a:t>‹#›</a:t>
            </a:fld>
            <a:endParaRPr lang="en-US"/>
          </a:p>
        </p:txBody>
      </p:sp>
    </p:spTree>
    <p:extLst>
      <p:ext uri="{BB962C8B-B14F-4D97-AF65-F5344CB8AC3E}">
        <p14:creationId xmlns:p14="http://schemas.microsoft.com/office/powerpoint/2010/main" val="16525306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8686800" y="609600"/>
            <a:ext cx="2590800" cy="5486400"/>
          </a:xfrm>
        </p:spPr>
        <p:txBody>
          <a:bodyPr vert="eaVert"/>
          <a:lstStyle/>
          <a:p>
            <a:r>
              <a:rPr lang="ar-SA"/>
              <a:t>انقر لتحرير نمط العنوان الرئيسي</a:t>
            </a:r>
            <a:endParaRPr lang="ar-AE"/>
          </a:p>
        </p:txBody>
      </p:sp>
      <p:sp>
        <p:nvSpPr>
          <p:cNvPr id="3" name="عنصر نائب للعنوان العمودي 2"/>
          <p:cNvSpPr>
            <a:spLocks noGrp="1"/>
          </p:cNvSpPr>
          <p:nvPr>
            <p:ph type="body" orient="vert" idx="1"/>
          </p:nvPr>
        </p:nvSpPr>
        <p:spPr>
          <a:xfrm>
            <a:off x="914400" y="609600"/>
            <a:ext cx="7569200" cy="5486400"/>
          </a:xfrm>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C80B702-2F26-4C27-A368-FE54847AC5FA}" type="slidenum">
              <a:rPr lang="ar-SA"/>
              <a:pPr>
                <a:defRPr/>
              </a:pPr>
              <a:t>‹#›</a:t>
            </a:fld>
            <a:endParaRPr lang="en-US"/>
          </a:p>
        </p:txBody>
      </p:sp>
    </p:spTree>
    <p:extLst>
      <p:ext uri="{BB962C8B-B14F-4D97-AF65-F5344CB8AC3E}">
        <p14:creationId xmlns:p14="http://schemas.microsoft.com/office/powerpoint/2010/main" val="23187813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mediaAndTx" preserve="1">
  <p:cSld name="عنوان، وقصاصة وسائط، ونص">
    <p:spTree>
      <p:nvGrpSpPr>
        <p:cNvPr id="1" name=""/>
        <p:cNvGrpSpPr/>
        <p:nvPr/>
      </p:nvGrpSpPr>
      <p:grpSpPr>
        <a:xfrm>
          <a:off x="0" y="0"/>
          <a:ext cx="0" cy="0"/>
          <a:chOff x="0" y="0"/>
          <a:chExt cx="0" cy="0"/>
        </a:xfrm>
      </p:grpSpPr>
      <p:sp>
        <p:nvSpPr>
          <p:cNvPr id="2" name="عنوان 1"/>
          <p:cNvSpPr>
            <a:spLocks noGrp="1"/>
          </p:cNvSpPr>
          <p:nvPr>
            <p:ph type="title"/>
          </p:nvPr>
        </p:nvSpPr>
        <p:spPr>
          <a:xfrm>
            <a:off x="914400" y="609600"/>
            <a:ext cx="10363200" cy="1143000"/>
          </a:xfrm>
        </p:spPr>
        <p:txBody>
          <a:bodyPr/>
          <a:lstStyle/>
          <a:p>
            <a:r>
              <a:rPr lang="ar-SA"/>
              <a:t>انقر لتحرير نمط العنوان الرئيسي</a:t>
            </a:r>
            <a:endParaRPr lang="ar-AE"/>
          </a:p>
        </p:txBody>
      </p:sp>
      <p:sp>
        <p:nvSpPr>
          <p:cNvPr id="3" name="عنصر نائب للوسائط 2"/>
          <p:cNvSpPr>
            <a:spLocks noGrp="1"/>
          </p:cNvSpPr>
          <p:nvPr>
            <p:ph type="media" sz="half" idx="1"/>
          </p:nvPr>
        </p:nvSpPr>
        <p:spPr>
          <a:xfrm>
            <a:off x="914400" y="1981200"/>
            <a:ext cx="5080000" cy="4114800"/>
          </a:xfrm>
        </p:spPr>
        <p:txBody>
          <a:bodyPr/>
          <a:lstStyle/>
          <a:p>
            <a:pPr lvl="0"/>
            <a:endParaRPr lang="ar-AE" noProof="0"/>
          </a:p>
        </p:txBody>
      </p:sp>
      <p:sp>
        <p:nvSpPr>
          <p:cNvPr id="4" name="عنصر نائب للنص 3"/>
          <p:cNvSpPr>
            <a:spLocks noGrp="1"/>
          </p:cNvSpPr>
          <p:nvPr>
            <p:ph type="body" sz="half" idx="2"/>
          </p:nvPr>
        </p:nvSpPr>
        <p:spPr>
          <a:xfrm>
            <a:off x="6197600" y="1981200"/>
            <a:ext cx="5080000" cy="4114800"/>
          </a:xfrm>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31F04CE-F11D-4C19-BF7F-70C4B147C1A0}" type="slidenum">
              <a:rPr lang="ar-SA"/>
              <a:pPr>
                <a:defRPr/>
              </a:pPr>
              <a:t>‹#›</a:t>
            </a:fld>
            <a:endParaRPr lang="en-US"/>
          </a:p>
        </p:txBody>
      </p:sp>
    </p:spTree>
    <p:extLst>
      <p:ext uri="{BB962C8B-B14F-4D97-AF65-F5344CB8AC3E}">
        <p14:creationId xmlns:p14="http://schemas.microsoft.com/office/powerpoint/2010/main" val="887186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ar-SA"/>
              <a:t>انقر لتحرير نمط العنوان الرئيسي</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a:defRPr sz="1400">
                <a:cs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a:defRPr sz="1400">
                <a:cs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rtl="0">
              <a:defRPr sz="1400">
                <a:cs typeface="Arial" pitchFamily="34" charset="0"/>
              </a:defRPr>
            </a:lvl1pPr>
          </a:lstStyle>
          <a:p>
            <a:pPr>
              <a:defRPr/>
            </a:pPr>
            <a:fld id="{F14AD8A9-8492-4575-9CBC-CF9CEFC3D134}" type="slidenum">
              <a:rPr lang="ar-SA"/>
              <a:pPr>
                <a:defRPr/>
              </a:pPr>
              <a:t>‹#›</a:t>
            </a:fld>
            <a:endParaRPr lang="en-US"/>
          </a:p>
        </p:txBody>
      </p:sp>
    </p:spTree>
    <p:extLst>
      <p:ext uri="{BB962C8B-B14F-4D97-AF65-F5344CB8AC3E}">
        <p14:creationId xmlns:p14="http://schemas.microsoft.com/office/powerpoint/2010/main" val="3773627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1" eaLnBrk="0" fontAlgn="base" hangingPunct="0">
        <a:spcBef>
          <a:spcPct val="0"/>
        </a:spcBef>
        <a:spcAft>
          <a:spcPct val="0"/>
        </a:spcAft>
        <a:defRPr sz="4400">
          <a:solidFill>
            <a:schemeClr val="tx2"/>
          </a:solidFill>
          <a:latin typeface="+mj-lt"/>
          <a:ea typeface="+mj-ea"/>
          <a:cs typeface="+mj-cs"/>
        </a:defRPr>
      </a:lvl1pPr>
      <a:lvl2pPr algn="ctr" rtl="1" eaLnBrk="0" fontAlgn="base" hangingPunct="0">
        <a:spcBef>
          <a:spcPct val="0"/>
        </a:spcBef>
        <a:spcAft>
          <a:spcPct val="0"/>
        </a:spcAft>
        <a:defRPr sz="4400">
          <a:solidFill>
            <a:schemeClr val="tx2"/>
          </a:solidFill>
          <a:latin typeface="Times New Roman" pitchFamily="18" charset="0"/>
          <a:cs typeface="Arial" pitchFamily="34" charset="0"/>
        </a:defRPr>
      </a:lvl2pPr>
      <a:lvl3pPr algn="ctr" rtl="1" eaLnBrk="0" fontAlgn="base" hangingPunct="0">
        <a:spcBef>
          <a:spcPct val="0"/>
        </a:spcBef>
        <a:spcAft>
          <a:spcPct val="0"/>
        </a:spcAft>
        <a:defRPr sz="4400">
          <a:solidFill>
            <a:schemeClr val="tx2"/>
          </a:solidFill>
          <a:latin typeface="Times New Roman" pitchFamily="18" charset="0"/>
          <a:cs typeface="Arial" pitchFamily="34" charset="0"/>
        </a:defRPr>
      </a:lvl3pPr>
      <a:lvl4pPr algn="ctr" rtl="1" eaLnBrk="0" fontAlgn="base" hangingPunct="0">
        <a:spcBef>
          <a:spcPct val="0"/>
        </a:spcBef>
        <a:spcAft>
          <a:spcPct val="0"/>
        </a:spcAft>
        <a:defRPr sz="4400">
          <a:solidFill>
            <a:schemeClr val="tx2"/>
          </a:solidFill>
          <a:latin typeface="Times New Roman" pitchFamily="18" charset="0"/>
          <a:cs typeface="Arial" pitchFamily="34" charset="0"/>
        </a:defRPr>
      </a:lvl4pPr>
      <a:lvl5pPr algn="ctr" rtl="1" eaLnBrk="0" fontAlgn="base" hangingPunct="0">
        <a:spcBef>
          <a:spcPct val="0"/>
        </a:spcBef>
        <a:spcAft>
          <a:spcPct val="0"/>
        </a:spcAft>
        <a:defRPr sz="4400">
          <a:solidFill>
            <a:schemeClr val="tx2"/>
          </a:solidFill>
          <a:latin typeface="Times New Roman" pitchFamily="18" charset="0"/>
          <a:cs typeface="Arial" pitchFamily="34" charset="0"/>
        </a:defRPr>
      </a:lvl5pPr>
      <a:lvl6pPr marL="457200" algn="ctr" rtl="1" fontAlgn="base">
        <a:spcBef>
          <a:spcPct val="0"/>
        </a:spcBef>
        <a:spcAft>
          <a:spcPct val="0"/>
        </a:spcAft>
        <a:defRPr sz="4400">
          <a:solidFill>
            <a:schemeClr val="tx2"/>
          </a:solidFill>
          <a:latin typeface="Times New Roman" pitchFamily="18" charset="0"/>
          <a:cs typeface="Arial" pitchFamily="34" charset="0"/>
        </a:defRPr>
      </a:lvl6pPr>
      <a:lvl7pPr marL="914400" algn="ctr" rtl="1" fontAlgn="base">
        <a:spcBef>
          <a:spcPct val="0"/>
        </a:spcBef>
        <a:spcAft>
          <a:spcPct val="0"/>
        </a:spcAft>
        <a:defRPr sz="4400">
          <a:solidFill>
            <a:schemeClr val="tx2"/>
          </a:solidFill>
          <a:latin typeface="Times New Roman" pitchFamily="18" charset="0"/>
          <a:cs typeface="Arial" pitchFamily="34" charset="0"/>
        </a:defRPr>
      </a:lvl7pPr>
      <a:lvl8pPr marL="1371600" algn="ctr" rtl="1" fontAlgn="base">
        <a:spcBef>
          <a:spcPct val="0"/>
        </a:spcBef>
        <a:spcAft>
          <a:spcPct val="0"/>
        </a:spcAft>
        <a:defRPr sz="4400">
          <a:solidFill>
            <a:schemeClr val="tx2"/>
          </a:solidFill>
          <a:latin typeface="Times New Roman" pitchFamily="18" charset="0"/>
          <a:cs typeface="Arial" pitchFamily="34" charset="0"/>
        </a:defRPr>
      </a:lvl8pPr>
      <a:lvl9pPr marL="1828800" algn="ctr" rtl="1" fontAlgn="base">
        <a:spcBef>
          <a:spcPct val="0"/>
        </a:spcBef>
        <a:spcAft>
          <a:spcPct val="0"/>
        </a:spcAft>
        <a:defRPr sz="4400">
          <a:solidFill>
            <a:schemeClr val="tx2"/>
          </a:solidFill>
          <a:latin typeface="Times New Roman" pitchFamily="18" charset="0"/>
          <a:cs typeface="Arial" pitchFamily="34" charset="0"/>
        </a:defRPr>
      </a:lvl9pPr>
    </p:titleStyle>
    <p:bodyStyle>
      <a:lvl1pPr marL="342900" indent="-342900" algn="r" rtl="1" eaLnBrk="0" fontAlgn="base" hangingPunct="0">
        <a:spcBef>
          <a:spcPct val="20000"/>
        </a:spcBef>
        <a:spcAft>
          <a:spcPct val="0"/>
        </a:spcAft>
        <a:buChar char="•"/>
        <a:defRPr sz="3200">
          <a:solidFill>
            <a:schemeClr val="tx1"/>
          </a:solidFill>
          <a:latin typeface="+mn-lt"/>
          <a:ea typeface="+mn-ea"/>
          <a:cs typeface="+mn-cs"/>
        </a:defRPr>
      </a:lvl1pPr>
      <a:lvl2pPr marL="742950" indent="-285750" algn="r" rtl="1" eaLnBrk="0" fontAlgn="base" hangingPunct="0">
        <a:spcBef>
          <a:spcPct val="20000"/>
        </a:spcBef>
        <a:spcAft>
          <a:spcPct val="0"/>
        </a:spcAft>
        <a:buChar char="–"/>
        <a:defRPr sz="2800">
          <a:solidFill>
            <a:schemeClr val="tx1"/>
          </a:solidFill>
          <a:latin typeface="+mn-lt"/>
          <a:cs typeface="+mn-cs"/>
        </a:defRPr>
      </a:lvl2pPr>
      <a:lvl3pPr marL="1143000" indent="-228600" algn="r" rtl="1" eaLnBrk="0" fontAlgn="base" hangingPunct="0">
        <a:spcBef>
          <a:spcPct val="20000"/>
        </a:spcBef>
        <a:spcAft>
          <a:spcPct val="0"/>
        </a:spcAft>
        <a:buChar char="•"/>
        <a:defRPr sz="2400">
          <a:solidFill>
            <a:schemeClr val="tx1"/>
          </a:solidFill>
          <a:latin typeface="+mn-lt"/>
          <a:cs typeface="+mn-cs"/>
        </a:defRPr>
      </a:lvl3pPr>
      <a:lvl4pPr marL="1600200" indent="-228600" algn="r" rtl="1" eaLnBrk="0" fontAlgn="base" hangingPunct="0">
        <a:spcBef>
          <a:spcPct val="20000"/>
        </a:spcBef>
        <a:spcAft>
          <a:spcPct val="0"/>
        </a:spcAft>
        <a:buChar char="–"/>
        <a:defRPr sz="2000">
          <a:solidFill>
            <a:schemeClr val="tx1"/>
          </a:solidFill>
          <a:latin typeface="+mn-lt"/>
          <a:cs typeface="+mn-cs"/>
        </a:defRPr>
      </a:lvl4pPr>
      <a:lvl5pPr marL="2057400" indent="-228600" algn="r" rtl="1" eaLnBrk="0" fontAlgn="base" hangingPunct="0">
        <a:spcBef>
          <a:spcPct val="20000"/>
        </a:spcBef>
        <a:spcAft>
          <a:spcPct val="0"/>
        </a:spcAft>
        <a:buChar char="»"/>
        <a:defRPr sz="2000">
          <a:solidFill>
            <a:schemeClr val="tx1"/>
          </a:solidFill>
          <a:latin typeface="+mn-lt"/>
          <a:cs typeface="+mn-cs"/>
        </a:defRPr>
      </a:lvl5pPr>
      <a:lvl6pPr marL="2514600" indent="-228600" algn="r" rtl="1" fontAlgn="base">
        <a:spcBef>
          <a:spcPct val="20000"/>
        </a:spcBef>
        <a:spcAft>
          <a:spcPct val="0"/>
        </a:spcAft>
        <a:buChar char="»"/>
        <a:defRPr sz="2000">
          <a:solidFill>
            <a:schemeClr val="tx1"/>
          </a:solidFill>
          <a:latin typeface="+mn-lt"/>
          <a:cs typeface="+mn-cs"/>
        </a:defRPr>
      </a:lvl6pPr>
      <a:lvl7pPr marL="2971800" indent="-228600" algn="r" rtl="1" fontAlgn="base">
        <a:spcBef>
          <a:spcPct val="20000"/>
        </a:spcBef>
        <a:spcAft>
          <a:spcPct val="0"/>
        </a:spcAft>
        <a:buChar char="»"/>
        <a:defRPr sz="2000">
          <a:solidFill>
            <a:schemeClr val="tx1"/>
          </a:solidFill>
          <a:latin typeface="+mn-lt"/>
          <a:cs typeface="+mn-cs"/>
        </a:defRPr>
      </a:lvl7pPr>
      <a:lvl8pPr marL="3429000" indent="-228600" algn="r" rtl="1" fontAlgn="base">
        <a:spcBef>
          <a:spcPct val="20000"/>
        </a:spcBef>
        <a:spcAft>
          <a:spcPct val="0"/>
        </a:spcAft>
        <a:buChar char="»"/>
        <a:defRPr sz="2000">
          <a:solidFill>
            <a:schemeClr val="tx1"/>
          </a:solidFill>
          <a:latin typeface="+mn-lt"/>
          <a:cs typeface="+mn-cs"/>
        </a:defRPr>
      </a:lvl8pPr>
      <a:lvl9pPr marL="3886200" indent="-228600" algn="r" rtl="1" fontAlgn="base">
        <a:spcBef>
          <a:spcPct val="20000"/>
        </a:spcBef>
        <a:spcAft>
          <a:spcPct val="0"/>
        </a:spcAft>
        <a:buChar char="»"/>
        <a:defRPr sz="2000">
          <a:solidFill>
            <a:schemeClr val="tx1"/>
          </a:solidFill>
          <a:latin typeface="+mn-lt"/>
          <a:cs typeface="+mn-cs"/>
        </a:defRPr>
      </a:lvl9pPr>
    </p:bodyStyle>
    <p:otherStyle>
      <a:defPPr>
        <a:defRPr lang="ar-AE"/>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jpg"/><Relationship Id="rId5" Type="http://schemas.openxmlformats.org/officeDocument/2006/relationships/image" Target="../media/image2.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4.bp.blogspot.com/_ZbINt8OSP2M/TD7NkKjTGBI/AAAAAAAAAAU/7zCvyP26sjc/s1600/goutte_eau_leg.jpg" TargetMode="Externa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5.jpg"/><Relationship Id="rId5" Type="http://schemas.openxmlformats.org/officeDocument/2006/relationships/image" Target="../media/image2.jpg"/><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gi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hyperlink" Target="http://www.zooborns.com/.a/6a010535647bf3970b0134863dd969970c-pi" TargetMode="Externa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2590800" y="1447800"/>
            <a:ext cx="9458325" cy="857250"/>
          </a:xfrm>
          <a:prstGeom prst="rect">
            <a:avLst/>
          </a:prstGeom>
          <a:noFill/>
        </p:spPr>
        <p:txBody>
          <a:bodyPr wrap="square" lIns="0" tIns="0" rIns="0" bIns="0" anchor="ctr">
            <a:noAutofit/>
          </a:bodyPr>
          <a:lstStyle/>
          <a:p>
            <a:pPr algn="ctr" rtl="1"/>
            <a:r>
              <a:rPr lang="ar-AE" sz="3400" b="1" i="0">
                <a:solidFill>
                  <a:srgbClr val="173754"/>
                </a:solidFill>
                <a:latin typeface="Arial"/>
                <a:ea typeface="Arial"/>
                <a:cs typeface="Arial"/>
              </a:rPr>
              <a:t>الكائنات الحية وعلاقاتها المتبادلة</a:t>
            </a:r>
          </a:p>
        </p:txBody>
      </p:sp>
      <p:sp>
        <p:nvSpPr>
          <p:cNvPr id="8" name="TextBox 7"/>
          <p:cNvSpPr txBox="1"/>
          <p:nvPr/>
        </p:nvSpPr>
        <p:spPr>
          <a:xfrm>
            <a:off x="2590800" y="2400300"/>
            <a:ext cx="9458325" cy="476250"/>
          </a:xfrm>
          <a:prstGeom prst="rect">
            <a:avLst/>
          </a:prstGeom>
          <a:noFill/>
        </p:spPr>
        <p:txBody>
          <a:bodyPr wrap="square" lIns="0" tIns="0" rIns="0" bIns="0" anchor="ctr">
            <a:noAutofit/>
          </a:bodyPr>
          <a:lstStyle/>
          <a:p>
            <a:pPr algn="ctr" rtl="1"/>
            <a:r>
              <a:rPr lang="ar-AE" sz="1800" b="1" i="0">
                <a:solidFill>
                  <a:srgbClr val="A87B2E"/>
                </a:solidFill>
                <a:latin typeface="Arial"/>
                <a:ea typeface="Arial"/>
                <a:cs typeface="Arial"/>
              </a:rPr>
              <a:t>الحصة الأولى: علم البيئة  •  العوامل الحيوية وغير الحيوية  •  مستويات التنظيم البيئي</a:t>
            </a:r>
          </a:p>
        </p:txBody>
      </p:sp>
      <p:sp>
        <p:nvSpPr>
          <p:cNvPr id="9" name="TextBox 8"/>
          <p:cNvSpPr txBox="1"/>
          <p:nvPr/>
        </p:nvSpPr>
        <p:spPr>
          <a:xfrm>
            <a:off x="2590800" y="3162300"/>
            <a:ext cx="9458325" cy="1714500"/>
          </a:xfrm>
          <a:prstGeom prst="rect">
            <a:avLst/>
          </a:prstGeom>
          <a:noFill/>
        </p:spPr>
        <p:txBody>
          <a:bodyPr wrap="square" lIns="0" tIns="0" rIns="0" bIns="0" anchor="ctr">
            <a:noAutofit/>
          </a:bodyPr>
          <a:lstStyle/>
          <a:p>
            <a:pPr algn="ctr" rtl="1"/>
            <a:r>
              <a:rPr lang="ar-AE" sz="1500" b="0" i="0">
                <a:solidFill>
                  <a:srgbClr val="10243B"/>
                </a:solidFill>
                <a:latin typeface="Arial"/>
                <a:ea typeface="Arial"/>
                <a:cs typeface="Arial"/>
              </a:rPr>
              <a:t>الصف: التاسع عام</a:t>
            </a:r>
          </a:p>
          <a:p>
            <a:pPr algn="ctr" rtl="1"/>
            <a:r>
              <a:rPr lang="ar-AE" sz="1500" b="0" i="0">
                <a:solidFill>
                  <a:srgbClr val="10243B"/>
                </a:solidFill>
                <a:latin typeface="Arial"/>
                <a:ea typeface="Arial"/>
                <a:cs typeface="Arial"/>
              </a:rPr>
              <a:t>إعداد المعلم: أحمد مصطفى</a:t>
            </a:r>
          </a:p>
          <a:p>
            <a:pPr algn="ctr" rtl="1"/>
            <a:r>
              <a:rPr lang="ar-AE" sz="1500" b="0" i="0">
                <a:solidFill>
                  <a:srgbClr val="10243B"/>
                </a:solidFill>
                <a:latin typeface="Arial"/>
                <a:ea typeface="Arial"/>
                <a:cs typeface="Arial"/>
              </a:rPr>
              <a:t>مدة الحصة: 45 دقيقة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1a9907-image.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أرتّب مستويات التنظيم البيئي من الكائن الحي إلى الغلاف الحيوي.</a:t>
            </a:r>
          </a:p>
        </p:txBody>
      </p:sp>
      <p:sp>
        <p:nvSpPr>
          <p:cNvPr id="10" name="TextBox 9"/>
          <p:cNvSpPr txBox="1"/>
          <p:nvPr/>
        </p:nvSpPr>
        <p:spPr>
          <a:xfrm>
            <a:off x="2590801"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تهيئة حافزة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4 د</a:t>
            </a:r>
          </a:p>
        </p:txBody>
      </p:sp>
      <p:sp>
        <p:nvSpPr>
          <p:cNvPr id="12" name="Rounded Rectangle 11"/>
          <p:cNvSpPr/>
          <p:nvPr/>
        </p:nvSpPr>
        <p:spPr>
          <a:xfrm>
            <a:off x="2590800" y="1619250"/>
            <a:ext cx="9458325" cy="438150"/>
          </a:xfrm>
          <a:prstGeom prst="roundRect">
            <a:avLst/>
          </a:prstGeom>
          <a:solidFill>
            <a:srgbClr val="F7F4EE"/>
          </a:solidFill>
          <a:ln w="12700">
            <a:solidFill>
              <a:srgbClr val="A87B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r>
              <a:rPr lang="ar-AE" sz="1450" b="1" i="0">
                <a:solidFill>
                  <a:srgbClr val="173754"/>
                </a:solidFill>
                <a:latin typeface="Arial"/>
                <a:ea typeface="Arial"/>
                <a:cs typeface="Arial"/>
              </a:rPr>
              <a:t>سؤال مثير: على مَن تعتمد للحصول على غذائك وهوائك ومسكنك؟ وهل يعيش أي كائن وحيداً دون أي علاقة بغيره؟</a:t>
            </a:r>
          </a:p>
        </p:txBody>
      </p:sp>
      <p:pic>
        <p:nvPicPr>
          <p:cNvPr id="13" name="clip1_hook_s1.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019550" y="2162175"/>
            <a:ext cx="6858000" cy="3143250"/>
          </a:xfrm>
          <a:prstGeom prst="rect">
            <a:avLst/>
          </a:prstGeom>
        </p:spPr>
      </p:pic>
      <p:sp>
        <p:nvSpPr>
          <p:cNvPr id="14" name="TextBox 13"/>
          <p:cNvSpPr txBox="1"/>
          <p:nvPr/>
        </p:nvSpPr>
        <p:spPr>
          <a:xfrm>
            <a:off x="2590800" y="2162175"/>
            <a:ext cx="1333500" cy="3143250"/>
          </a:xfrm>
          <a:prstGeom prst="rect">
            <a:avLst/>
          </a:prstGeom>
          <a:noFill/>
        </p:spPr>
        <p:txBody>
          <a:bodyPr wrap="square" lIns="0" tIns="0" rIns="0" bIns="0" anchor="ctr">
            <a:noAutofit/>
          </a:bodyPr>
          <a:lstStyle/>
          <a:p>
            <a:pPr algn="r" rtl="1"/>
            <a:r>
              <a:rPr lang="ar-AE" sz="1300" b="1" i="0">
                <a:solidFill>
                  <a:srgbClr val="A87B2E"/>
                </a:solidFill>
                <a:latin typeface="Arial"/>
                <a:ea typeface="Arial"/>
                <a:cs typeface="Arial"/>
              </a:rPr>
              <a:t>شاهد ثم أجب:</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أرتّب مستويات التنظيم البيئي من الكائن الحي إلى الغلاف الحيوي.</a:t>
            </a:r>
          </a:p>
        </p:txBody>
      </p:sp>
      <p:sp>
        <p:nvSpPr>
          <p:cNvPr id="10" name="TextBox 9"/>
          <p:cNvSpPr txBox="1"/>
          <p:nvPr/>
        </p:nvSpPr>
        <p:spPr>
          <a:xfrm>
            <a:off x="2590802" y="1162050"/>
            <a:ext cx="9458325" cy="438150"/>
          </a:xfrm>
          <a:prstGeom prst="rect">
            <a:avLst/>
          </a:prstGeom>
          <a:noFill/>
        </p:spPr>
        <p:txBody>
          <a:bodyPr wrap="square" lIns="0" tIns="0" rIns="0" bIns="0" anchor="ctr">
            <a:noAutofit/>
          </a:bodyPr>
          <a:lstStyle/>
          <a:p>
            <a:pPr algn="r" rtl="1"/>
            <a:r>
              <a:rPr lang="ar-AE" sz="2200" b="1" i="0">
                <a:solidFill>
                  <a:srgbClr val="173754"/>
                </a:solidFill>
                <a:latin typeface="Arial"/>
                <a:ea typeface="Arial"/>
                <a:cs typeface="Arial"/>
              </a:rPr>
              <a:t>نواتج التعلم والمفردات الجديدة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2 د</a:t>
            </a:r>
          </a:p>
        </p:txBody>
      </p:sp>
      <p:sp>
        <p:nvSpPr>
          <p:cNvPr id="12" name="TextBox 11"/>
          <p:cNvSpPr txBox="1"/>
          <p:nvPr/>
        </p:nvSpPr>
        <p:spPr>
          <a:xfrm>
            <a:off x="2590800" y="1619250"/>
            <a:ext cx="9458325" cy="1143000"/>
          </a:xfrm>
          <a:prstGeom prst="rect">
            <a:avLst/>
          </a:prstGeom>
          <a:noFill/>
        </p:spPr>
        <p:txBody>
          <a:bodyPr wrap="square" lIns="0" tIns="0" rIns="0" bIns="0" anchor="t">
            <a:noAutofit/>
          </a:bodyPr>
          <a:lstStyle/>
          <a:p>
            <a:pPr algn="r" rtl="1"/>
            <a:r>
              <a:rPr lang="ar-AE" sz="1500" b="1" i="0">
                <a:solidFill>
                  <a:srgbClr val="A87B2E"/>
                </a:solidFill>
                <a:latin typeface="Arial"/>
                <a:ea typeface="Arial"/>
                <a:cs typeface="Arial"/>
              </a:rPr>
              <a:t>بنهاية الحصة سأكون قادراً على:</a:t>
            </a:r>
          </a:p>
          <a:p>
            <a:pPr algn="r" rtl="1">
              <a:spcAft>
                <a:spcPts val="400"/>
              </a:spcAft>
            </a:pPr>
            <a:r>
              <a:rPr lang="ar-AE" sz="1500" b="0" i="0">
                <a:solidFill>
                  <a:srgbClr val="10243B"/>
                </a:solidFill>
                <a:latin typeface="Arial"/>
                <a:ea typeface="Arial"/>
                <a:cs typeface="Arial"/>
              </a:rPr>
              <a:t>1. أُعرّف علم البيئة والغلاف الحيوي.</a:t>
            </a:r>
          </a:p>
          <a:p>
            <a:pPr algn="r" rtl="1">
              <a:spcAft>
                <a:spcPts val="400"/>
              </a:spcAft>
            </a:pPr>
            <a:r>
              <a:rPr lang="ar-AE" sz="1500" b="0" i="0">
                <a:solidFill>
                  <a:srgbClr val="10243B"/>
                </a:solidFill>
                <a:latin typeface="Arial"/>
                <a:ea typeface="Arial"/>
                <a:cs typeface="Arial"/>
              </a:rPr>
              <a:t>2. أُميّز بين العوامل الحيوية وغير الحيوية بأمثلة من بيئتي.</a:t>
            </a:r>
          </a:p>
          <a:p>
            <a:pPr algn="r" rtl="1">
              <a:spcAft>
                <a:spcPts val="400"/>
              </a:spcAft>
            </a:pPr>
            <a:r>
              <a:rPr lang="ar-AE" sz="1500" b="0" i="0">
                <a:solidFill>
                  <a:srgbClr val="10243B"/>
                </a:solidFill>
                <a:latin typeface="Arial"/>
                <a:ea typeface="Arial"/>
                <a:cs typeface="Arial"/>
              </a:rPr>
              <a:t>3. أرتّب مستويات التنظيم البيئي من الكائن الحي إلى الغلاف الحيوي.</a:t>
            </a:r>
          </a:p>
        </p:txBody>
      </p:sp>
      <p:sp>
        <p:nvSpPr>
          <p:cNvPr id="13" name="Rounded Rectangle 12"/>
          <p:cNvSpPr/>
          <p:nvPr/>
        </p:nvSpPr>
        <p:spPr>
          <a:xfrm>
            <a:off x="2590800" y="3162300"/>
            <a:ext cx="9458325" cy="1428750"/>
          </a:xfrm>
          <a:prstGeom prst="roundRect">
            <a:avLst/>
          </a:prstGeom>
          <a:solidFill>
            <a:srgbClr val="F7F4EE"/>
          </a:solidFill>
          <a:ln w="12700">
            <a:solidFill>
              <a:srgbClr val="173754"/>
            </a:solidFill>
          </a:ln>
          <a:effectLst/>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r" rtl="1"/>
            <a:r>
              <a:rPr lang="ar-AE" sz="1350" b="1" i="0">
                <a:solidFill>
                  <a:srgbClr val="173754"/>
                </a:solidFill>
                <a:latin typeface="Arial"/>
                <a:ea typeface="Arial"/>
                <a:cs typeface="Arial"/>
              </a:rPr>
              <a:t>المفردات الجديدة الجديدة  New Vocabulary:</a:t>
            </a:r>
          </a:p>
          <a:p>
            <a:pPr algn="r" rtl="1">
              <a:spcBef>
                <a:spcPts val="600"/>
              </a:spcBef>
            </a:pPr>
            <a:r>
              <a:rPr lang="ar-AE" sz="1250" b="0" i="0">
                <a:solidFill>
                  <a:srgbClr val="10243B"/>
                </a:solidFill>
                <a:latin typeface="Arial"/>
                <a:ea typeface="Arial"/>
                <a:cs typeface="Arial"/>
              </a:rPr>
              <a:t>علم البيئة Ecology  •  الغلاف الحيوي Biosphere  •  العامل الحيوي Biotic factor  •  العامل غير الحيوي Abiotic factor  •  الجماعة الأحيائية Population  •  المجتمع الأحيائي Biological community  •  النظام البيئي Ecosystem  •  الإقليم الأحيائي Biome</a:t>
            </a:r>
          </a:p>
          <a:p>
            <a:pPr algn="r" rtl="1">
              <a:spcBef>
                <a:spcPts val="600"/>
              </a:spcBef>
            </a:pPr>
            <a:r>
              <a:rPr lang="ar-AE" sz="1200" b="0" i="1">
                <a:solidFill>
                  <a:srgbClr val="0E6E6E"/>
                </a:solidFill>
                <a:latin typeface="Arial"/>
                <a:ea typeface="Arial"/>
                <a:cs typeface="Arial"/>
              </a:rPr>
              <a:t>مراجعة: الأنواع Species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أرتّب مستويات التنظيم البيئي من الكائن الحي إلى الغلاف الحيوي.</a:t>
            </a:r>
          </a:p>
        </p:txBody>
      </p:sp>
      <p:sp>
        <p:nvSpPr>
          <p:cNvPr id="10" name="TextBox 9"/>
          <p:cNvSpPr txBox="1"/>
          <p:nvPr/>
        </p:nvSpPr>
        <p:spPr>
          <a:xfrm>
            <a:off x="2590803"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ما علم البيئة والغلاف الحيوي؟</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sp>
        <p:nvSpPr>
          <p:cNvPr id="12" name="TextBox 11"/>
          <p:cNvSpPr txBox="1"/>
          <p:nvPr/>
        </p:nvSpPr>
        <p:spPr>
          <a:xfrm>
            <a:off x="2590800" y="1619250"/>
            <a:ext cx="9458325" cy="3952875"/>
          </a:xfrm>
          <a:prstGeom prst="rect">
            <a:avLst/>
          </a:prstGeom>
          <a:noFill/>
        </p:spPr>
        <p:txBody>
          <a:bodyPr wrap="square" lIns="0" tIns="0" rIns="0" bIns="0" anchor="t">
            <a:noAutofit/>
          </a:bodyPr>
          <a:lstStyle/>
          <a:p>
            <a:pPr algn="r" rtl="1">
              <a:lnSpc>
                <a:spcPct val="115000"/>
              </a:lnSpc>
              <a:spcAft>
                <a:spcPts val="600"/>
              </a:spcAft>
            </a:pPr>
            <a:r>
              <a:rPr lang="ar-AE" sz="1550" b="0" i="0">
                <a:solidFill>
                  <a:srgbClr val="10243B"/>
                </a:solidFill>
                <a:latin typeface="Arial"/>
                <a:ea typeface="Arial"/>
                <a:cs typeface="Arial"/>
              </a:rPr>
              <a:t>◆ علم البيئة (Ecology): فرع من العلوم يدرس العلاقات المتبادلة بين الكائنات الحية وتفاعلاتها مع بيئتها.</a:t>
            </a:r>
          </a:p>
          <a:p>
            <a:pPr algn="r" rtl="1">
              <a:lnSpc>
                <a:spcPct val="115000"/>
              </a:lnSpc>
              <a:spcAft>
                <a:spcPts val="600"/>
              </a:spcAft>
            </a:pPr>
            <a:r>
              <a:rPr lang="ar-AE" sz="1550" b="0" i="0">
                <a:solidFill>
                  <a:srgbClr val="10243B"/>
                </a:solidFill>
                <a:latin typeface="Arial"/>
                <a:ea typeface="Arial"/>
                <a:cs typeface="Arial"/>
              </a:rPr>
              <a:t>◆ عالم البيئة: يجمع المعلومات عن الكائنات الحية وبيئاتها، ويبحث عن تفسير للعلاقات بينها.</a:t>
            </a:r>
          </a:p>
          <a:p>
            <a:pPr algn="r" rtl="1">
              <a:lnSpc>
                <a:spcPct val="115000"/>
              </a:lnSpc>
              <a:spcAft>
                <a:spcPts val="600"/>
              </a:spcAft>
            </a:pPr>
            <a:r>
              <a:rPr lang="ar-AE" sz="1550" b="0" i="0">
                <a:solidFill>
                  <a:srgbClr val="10243B"/>
                </a:solidFill>
                <a:latin typeface="Arial"/>
                <a:ea typeface="Arial"/>
                <a:cs typeface="Arial"/>
              </a:rPr>
              <a:t>◆ الغلاف الحيوي (Biosphere): الجزء من الكرة الأرضية الذي يدعم الحياة؛ سطح الأرض وجزء من غلافها الجوي والمائي الذي تتواجد فيه كائنات حية.</a:t>
            </a:r>
          </a:p>
          <a:p>
            <a:pPr algn="r" rtl="1">
              <a:lnSpc>
                <a:spcPct val="115000"/>
              </a:lnSpc>
              <a:spcAft>
                <a:spcPts val="600"/>
              </a:spcAft>
            </a:pPr>
            <a:r>
              <a:rPr lang="ar-AE" sz="1400" b="0" i="0">
                <a:solidFill>
                  <a:srgbClr val="10243B"/>
                </a:solidFill>
                <a:latin typeface="Arial"/>
                <a:ea typeface="Arial"/>
                <a:cs typeface="Arial"/>
              </a:rPr>
              <a:t>     – سُمك الغلاف الحيوي نحو 20 كم فقط، والكائنات الحية موزّعة فيه بعدم انتظام.</a:t>
            </a:r>
          </a:p>
        </p:txBody>
      </p:sp>
      <p:pic>
        <p:nvPicPr>
          <p:cNvPr id="13" name="Picture 12" descr="clip1_hook_s1_poster.jpg"/>
          <p:cNvPicPr>
            <a:picLocks noChangeAspect="1"/>
          </p:cNvPicPr>
          <p:nvPr/>
        </p:nvPicPr>
        <p:blipFill>
          <a:blip r:embed="rId4"/>
          <a:stretch>
            <a:fillRect/>
          </a:stretch>
        </p:blipFill>
        <p:spPr>
          <a:xfrm>
            <a:off x="8482203" y="3429000"/>
            <a:ext cx="3404997" cy="1915310"/>
          </a:xfrm>
          <a:prstGeom prst="rect">
            <a:avLst/>
          </a:prstGeom>
        </p:spPr>
      </p:pic>
      <p:pic>
        <p:nvPicPr>
          <p:cNvPr id="14" name="Picture 3">
            <a:extLst>
              <a:ext uri="{FF2B5EF4-FFF2-40B4-BE49-F238E27FC236}">
                <a16:creationId xmlns:a16="http://schemas.microsoft.com/office/drawing/2014/main" id="{5F0855D7-55E0-414A-AC9A-1B24963D1C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3" y="3503295"/>
            <a:ext cx="3261361" cy="2068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14">
            <a:extLst>
              <a:ext uri="{FF2B5EF4-FFF2-40B4-BE49-F238E27FC236}">
                <a16:creationId xmlns:a16="http://schemas.microsoft.com/office/drawing/2014/main" id="{0F46A7B3-EFC4-4601-837B-FD62FBF85F80}"/>
              </a:ext>
            </a:extLst>
          </p:cNvPr>
          <p:cNvSpPr/>
          <p:nvPr/>
        </p:nvSpPr>
        <p:spPr>
          <a:xfrm>
            <a:off x="3767059" y="3782675"/>
            <a:ext cx="6773008" cy="92333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ar-AE"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علم البيئة</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1026" name="Picture 2" descr="http://knol.google.com/k/-/-/1k0nbjjndb01k/wph67j/2.jpg"/>
          <p:cNvPicPr>
            <a:picLocks noChangeAspect="1" noChangeArrowheads="1"/>
          </p:cNvPicPr>
          <p:nvPr/>
        </p:nvPicPr>
        <p:blipFill>
          <a:blip r:embed="rId2" cstate="print"/>
          <a:srcRect/>
          <a:stretch>
            <a:fillRect/>
          </a:stretch>
        </p:blipFill>
        <p:spPr bwMode="auto">
          <a:xfrm>
            <a:off x="1524000" y="0"/>
            <a:ext cx="9144000" cy="6858000"/>
          </a:xfrm>
          <a:prstGeom prst="rect">
            <a:avLst/>
          </a:prstGeom>
          <a:noFill/>
        </p:spPr>
      </p:pic>
      <p:sp>
        <p:nvSpPr>
          <p:cNvPr id="6" name="Rectangle 5"/>
          <p:cNvSpPr/>
          <p:nvPr/>
        </p:nvSpPr>
        <p:spPr>
          <a:xfrm>
            <a:off x="1524001" y="3124201"/>
            <a:ext cx="8557151" cy="2215991"/>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ar-AE" sz="13800" b="1" dirty="0">
                <a:ln w="50800"/>
              </a:rPr>
              <a:t>ال</a:t>
            </a:r>
            <a:r>
              <a:rPr lang="ar-AE" sz="13800" b="1" dirty="0">
                <a:ln w="50800"/>
                <a:solidFill>
                  <a:schemeClr val="bg1"/>
                </a:solidFill>
              </a:rPr>
              <a:t>غلاف الح</a:t>
            </a:r>
            <a:r>
              <a:rPr lang="ar-AE" sz="13800" b="1" dirty="0">
                <a:ln w="50800"/>
              </a:rPr>
              <a:t>يوي</a:t>
            </a:r>
            <a:endParaRPr lang="en-US" sz="13800" b="1" dirty="0">
              <a:ln w="50800"/>
            </a:endParaRPr>
          </a:p>
        </p:txBody>
      </p:sp>
    </p:spTree>
    <p:extLst>
      <p:ext uri="{BB962C8B-B14F-4D97-AF65-F5344CB8AC3E}">
        <p14:creationId xmlns:p14="http://schemas.microsoft.com/office/powerpoint/2010/main" val="125203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7392145" y="26646"/>
            <a:ext cx="3137761" cy="882075"/>
          </a:xfrm>
        </p:spPr>
        <p:style>
          <a:lnRef idx="1">
            <a:schemeClr val="accent5"/>
          </a:lnRef>
          <a:fillRef idx="2">
            <a:schemeClr val="accent5"/>
          </a:fillRef>
          <a:effectRef idx="1">
            <a:schemeClr val="accent5"/>
          </a:effectRef>
          <a:fontRef idx="minor">
            <a:schemeClr val="dk1"/>
          </a:fontRef>
        </p:style>
        <p:txBody>
          <a:bodyPr/>
          <a:lstStyle/>
          <a:p>
            <a:pPr>
              <a:defRPr/>
            </a:pPr>
            <a:r>
              <a:rPr lang="ar-AE" sz="3600" dirty="0">
                <a:ln w="0"/>
                <a:solidFill>
                  <a:schemeClr val="tx1"/>
                </a:solidFill>
                <a:effectLst>
                  <a:outerShdw blurRad="38100" dist="19050" dir="2700000" algn="tl" rotWithShape="0">
                    <a:schemeClr val="dk1">
                      <a:alpha val="40000"/>
                    </a:schemeClr>
                  </a:outerShdw>
                </a:effectLst>
                <a:cs typeface="MCS Nask S_U normal." pitchFamily="2" charset="-78"/>
              </a:rPr>
              <a:t>الغلاف الحيوي</a:t>
            </a:r>
            <a:endParaRPr lang="en-US" sz="3600" dirty="0">
              <a:ln w="0"/>
              <a:solidFill>
                <a:schemeClr val="tx1"/>
              </a:solidFill>
              <a:effectLst>
                <a:outerShdw blurRad="38100" dist="19050" dir="2700000" algn="tl" rotWithShape="0">
                  <a:schemeClr val="dk1">
                    <a:alpha val="40000"/>
                  </a:schemeClr>
                </a:outerShdw>
              </a:effectLst>
              <a:cs typeface="MCS Nask S_U normal." pitchFamily="2" charset="-78"/>
            </a:endParaRPr>
          </a:p>
        </p:txBody>
      </p:sp>
      <p:sp>
        <p:nvSpPr>
          <p:cNvPr id="18440" name="Rectangle 1"/>
          <p:cNvSpPr>
            <a:spLocks noChangeArrowheads="1"/>
          </p:cNvSpPr>
          <p:nvPr/>
        </p:nvSpPr>
        <p:spPr bwMode="auto">
          <a:xfrm>
            <a:off x="5540591" y="4249887"/>
            <a:ext cx="4929187" cy="461962"/>
          </a:xfrm>
          <a:prstGeom prst="rect">
            <a:avLst/>
          </a:prstGeom>
          <a:solidFill>
            <a:schemeClr val="bg1"/>
          </a:solidFill>
          <a:ln w="9525">
            <a:noFill/>
            <a:miter lim="800000"/>
            <a:headEnd/>
            <a:tailEnd/>
          </a:ln>
        </p:spPr>
        <p:txBody>
          <a:bodyPr/>
          <a:lstStyle/>
          <a:p>
            <a:r>
              <a:rPr lang="ar-EG" sz="2400" b="1" dirty="0"/>
              <a:t>* الكائنات الحية موزعة فيه بعدم انتظام.</a:t>
            </a:r>
            <a:endParaRPr lang="en-US" sz="2400" b="1" dirty="0"/>
          </a:p>
        </p:txBody>
      </p:sp>
      <p:sp>
        <p:nvSpPr>
          <p:cNvPr id="12" name="عنوان فرعي 2"/>
          <p:cNvSpPr txBox="1">
            <a:spLocks/>
          </p:cNvSpPr>
          <p:nvPr/>
        </p:nvSpPr>
        <p:spPr bwMode="auto">
          <a:xfrm>
            <a:off x="4871864" y="5051177"/>
            <a:ext cx="5760640" cy="500062"/>
          </a:xfrm>
          <a:prstGeom prst="rect">
            <a:avLst/>
          </a:prstGeom>
          <a:solidFill>
            <a:schemeClr val="bg1"/>
          </a:solidFill>
          <a:ln w="9525">
            <a:noFill/>
            <a:miter lim="800000"/>
            <a:headEnd/>
            <a:tailEnd/>
          </a:ln>
        </p:spPr>
        <p:txBody>
          <a:bodyPr/>
          <a:lstStyle>
            <a:defPPr>
              <a:defRPr lang="ar-SA"/>
            </a:defPPr>
            <a:lvl1pPr>
              <a:defRPr sz="2400" b="1"/>
            </a:lvl1pPr>
          </a:lstStyle>
          <a:p>
            <a:r>
              <a:rPr lang="ar-EG" dirty="0"/>
              <a:t>* يتكون الغلاف الأحيائي من وحدات تسمى النظم</a:t>
            </a:r>
            <a:r>
              <a:rPr lang="ar-AE" dirty="0"/>
              <a:t> </a:t>
            </a:r>
            <a:r>
              <a:rPr lang="ar-EG" dirty="0"/>
              <a:t>البيئية.</a:t>
            </a:r>
            <a:endParaRPr lang="en-US" dirty="0"/>
          </a:p>
        </p:txBody>
      </p:sp>
      <p:sp>
        <p:nvSpPr>
          <p:cNvPr id="14" name="عنوان فرعي 2"/>
          <p:cNvSpPr txBox="1">
            <a:spLocks/>
          </p:cNvSpPr>
          <p:nvPr/>
        </p:nvSpPr>
        <p:spPr bwMode="auto">
          <a:xfrm>
            <a:off x="6115068" y="1484007"/>
            <a:ext cx="4414838" cy="85020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lstStyle/>
          <a:p>
            <a:r>
              <a:rPr lang="ar-EG" sz="2400" b="1" dirty="0"/>
              <a:t>* هو أكبر النظم البيئية (أوسع مستويات التنظيم وأكثرها شمولية)</a:t>
            </a:r>
            <a:r>
              <a:rPr lang="ar-AE" sz="2400" b="1" dirty="0"/>
              <a:t> وهو</a:t>
            </a:r>
            <a:endParaRPr lang="en-US" sz="2400" b="1" dirty="0"/>
          </a:p>
        </p:txBody>
      </p:sp>
      <p:sp>
        <p:nvSpPr>
          <p:cNvPr id="15" name="عنوان فرعي 2"/>
          <p:cNvSpPr txBox="1">
            <a:spLocks/>
          </p:cNvSpPr>
          <p:nvPr/>
        </p:nvSpPr>
        <p:spPr bwMode="auto">
          <a:xfrm>
            <a:off x="6454615" y="3503800"/>
            <a:ext cx="4015162" cy="461962"/>
          </a:xfrm>
          <a:prstGeom prst="rect">
            <a:avLst/>
          </a:prstGeom>
          <a:solidFill>
            <a:schemeClr val="bg1"/>
          </a:solidFill>
          <a:ln w="9525">
            <a:noFill/>
            <a:miter lim="800000"/>
            <a:headEnd/>
            <a:tailEnd/>
          </a:ln>
        </p:spPr>
        <p:txBody>
          <a:bodyPr/>
          <a:lstStyle/>
          <a:p>
            <a:r>
              <a:rPr lang="ar-EG" sz="2400" b="1" dirty="0"/>
              <a:t>* سمكه حوالي 20  كم</a:t>
            </a:r>
            <a:r>
              <a:rPr lang="ar-AE" sz="2400" b="1" dirty="0"/>
              <a:t>.</a:t>
            </a:r>
            <a:r>
              <a:rPr lang="ar-EG" sz="2400" b="1" dirty="0"/>
              <a:t> </a:t>
            </a:r>
            <a:endParaRPr lang="en-US" sz="2400" b="1" dirty="0"/>
          </a:p>
        </p:txBody>
      </p:sp>
      <p:sp>
        <p:nvSpPr>
          <p:cNvPr id="17" name="عنوان فرعي 2"/>
          <p:cNvSpPr txBox="1">
            <a:spLocks/>
          </p:cNvSpPr>
          <p:nvPr/>
        </p:nvSpPr>
        <p:spPr bwMode="auto">
          <a:xfrm>
            <a:off x="2999656" y="2317740"/>
            <a:ext cx="4105266" cy="895237"/>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lstStyle/>
          <a:p>
            <a:pPr algn="ctr"/>
            <a:r>
              <a:rPr lang="ar-EG" sz="2400" b="1">
                <a:solidFill>
                  <a:srgbClr val="FF0000"/>
                </a:solidFill>
              </a:rPr>
              <a:t>سطح الأرض و</a:t>
            </a:r>
            <a:r>
              <a:rPr lang="ar-AE" sz="2400" b="1">
                <a:solidFill>
                  <a:srgbClr val="FF0000"/>
                </a:solidFill>
              </a:rPr>
              <a:t>الجزء من </a:t>
            </a:r>
            <a:r>
              <a:rPr lang="ar-EG" sz="2400" b="1">
                <a:solidFill>
                  <a:srgbClr val="FF0000"/>
                </a:solidFill>
              </a:rPr>
              <a:t>غلافها الجوي الذي يتواجد به كائنات حية.</a:t>
            </a:r>
            <a:endParaRPr lang="en-US" sz="2400" b="1">
              <a:solidFill>
                <a:srgbClr val="FF0000"/>
              </a:solidFill>
            </a:endParaRPr>
          </a:p>
        </p:txBody>
      </p:sp>
      <p:sp>
        <p:nvSpPr>
          <p:cNvPr id="9" name="Rectangle 3"/>
          <p:cNvSpPr>
            <a:spLocks noChangeArrowheads="1"/>
          </p:cNvSpPr>
          <p:nvPr/>
        </p:nvSpPr>
        <p:spPr bwMode="auto">
          <a:xfrm>
            <a:off x="1991544" y="819153"/>
            <a:ext cx="6827716" cy="5715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lstStyle/>
          <a:p>
            <a:pPr algn="ctr"/>
            <a:r>
              <a:rPr lang="ar-AE" sz="2800" dirty="0">
                <a:ln w="0"/>
                <a:solidFill>
                  <a:schemeClr val="tx1"/>
                </a:solidFill>
                <a:effectLst>
                  <a:outerShdw blurRad="38100" dist="19050" dir="2700000" algn="tl" rotWithShape="0">
                    <a:schemeClr val="dk1">
                      <a:alpha val="40000"/>
                    </a:schemeClr>
                  </a:outerShdw>
                </a:effectLst>
                <a:cs typeface="MCS Nask S_U normal." pitchFamily="2" charset="-78"/>
              </a:rPr>
              <a:t>الجزء من الكرة الأرضية الذي يدعم الحياة</a:t>
            </a:r>
            <a:r>
              <a:rPr lang="ar-EG" sz="2800" dirty="0">
                <a:ln w="0"/>
                <a:solidFill>
                  <a:schemeClr val="tx1"/>
                </a:solidFill>
                <a:effectLst>
                  <a:outerShdw blurRad="38100" dist="19050" dir="2700000" algn="tl" rotWithShape="0">
                    <a:schemeClr val="dk1">
                      <a:alpha val="40000"/>
                    </a:schemeClr>
                  </a:outerShdw>
                </a:effectLst>
                <a:cs typeface="MCS Nask S_U normal." pitchFamily="2" charset="-78"/>
              </a:rPr>
              <a:t>.</a:t>
            </a:r>
            <a:endParaRPr lang="en-US" sz="2800" dirty="0">
              <a:ln w="0"/>
              <a:solidFill>
                <a:schemeClr val="tx1"/>
              </a:solidFill>
              <a:effectLst>
                <a:outerShdw blurRad="38100" dist="19050" dir="2700000" algn="tl" rotWithShape="0">
                  <a:schemeClr val="dk1">
                    <a:alpha val="40000"/>
                  </a:schemeClr>
                </a:outerShdw>
              </a:effectLst>
              <a:cs typeface="MCS Nask S_U normal." pitchFamily="2" charset="-78"/>
            </a:endParaRPr>
          </a:p>
        </p:txBody>
      </p:sp>
      <p:sp>
        <p:nvSpPr>
          <p:cNvPr id="10" name="عنوان 1"/>
          <p:cNvSpPr txBox="1">
            <a:spLocks/>
          </p:cNvSpPr>
          <p:nvPr/>
        </p:nvSpPr>
        <p:spPr bwMode="auto">
          <a:xfrm>
            <a:off x="2207568" y="4653136"/>
            <a:ext cx="2520280" cy="712208"/>
          </a:xfrm>
          <a:prstGeom prst="rect">
            <a:avLst/>
          </a:prstGeom>
          <a:ln w="9525" cap="flat" cmpd="sng" algn="ctr">
            <a:solidFill>
              <a:schemeClr val="accent5">
                <a:shade val="95000"/>
                <a:satMod val="105000"/>
              </a:schemeClr>
            </a:solidFill>
            <a:prstDash val="solid"/>
            <a:miter lim="800000"/>
            <a:headEnd/>
            <a:tailEn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ctr" rtl="1" eaLnBrk="0" fontAlgn="base" hangingPunct="0">
              <a:spcBef>
                <a:spcPct val="0"/>
              </a:spcBef>
              <a:spcAft>
                <a:spcPct val="0"/>
              </a:spcAft>
              <a:defRPr sz="4400">
                <a:solidFill>
                  <a:schemeClr val="dk1"/>
                </a:solidFill>
                <a:latin typeface="+mn-lt"/>
                <a:ea typeface="+mn-ea"/>
                <a:cs typeface="+mn-cs"/>
              </a:defRPr>
            </a:lvl1pPr>
            <a:lvl2pPr algn="ctr" rtl="1" eaLnBrk="0" fontAlgn="base" hangingPunct="0">
              <a:spcBef>
                <a:spcPct val="0"/>
              </a:spcBef>
              <a:spcAft>
                <a:spcPct val="0"/>
              </a:spcAft>
              <a:defRPr sz="4400">
                <a:solidFill>
                  <a:schemeClr val="dk1"/>
                </a:solidFill>
                <a:latin typeface="+mn-lt"/>
                <a:ea typeface="+mn-ea"/>
                <a:cs typeface="+mn-cs"/>
              </a:defRPr>
            </a:lvl2pPr>
            <a:lvl3pPr algn="ctr" rtl="1" eaLnBrk="0" fontAlgn="base" hangingPunct="0">
              <a:spcBef>
                <a:spcPct val="0"/>
              </a:spcBef>
              <a:spcAft>
                <a:spcPct val="0"/>
              </a:spcAft>
              <a:defRPr sz="4400">
                <a:solidFill>
                  <a:schemeClr val="dk1"/>
                </a:solidFill>
                <a:latin typeface="+mn-lt"/>
                <a:ea typeface="+mn-ea"/>
                <a:cs typeface="+mn-cs"/>
              </a:defRPr>
            </a:lvl3pPr>
            <a:lvl4pPr algn="ctr" rtl="1" eaLnBrk="0" fontAlgn="base" hangingPunct="0">
              <a:spcBef>
                <a:spcPct val="0"/>
              </a:spcBef>
              <a:spcAft>
                <a:spcPct val="0"/>
              </a:spcAft>
              <a:defRPr sz="4400">
                <a:solidFill>
                  <a:schemeClr val="dk1"/>
                </a:solidFill>
                <a:latin typeface="+mn-lt"/>
                <a:ea typeface="+mn-ea"/>
                <a:cs typeface="+mn-cs"/>
              </a:defRPr>
            </a:lvl4pPr>
            <a:lvl5pPr algn="ctr" rtl="1" eaLnBrk="0" fontAlgn="base" hangingPunct="0">
              <a:spcBef>
                <a:spcPct val="0"/>
              </a:spcBef>
              <a:spcAft>
                <a:spcPct val="0"/>
              </a:spcAft>
              <a:defRPr sz="4400">
                <a:solidFill>
                  <a:schemeClr val="dk1"/>
                </a:solidFill>
                <a:latin typeface="+mn-lt"/>
                <a:ea typeface="+mn-ea"/>
                <a:cs typeface="+mn-cs"/>
              </a:defRPr>
            </a:lvl5pPr>
            <a:lvl6pPr marL="457200" algn="ctr" rtl="1" fontAlgn="base">
              <a:spcBef>
                <a:spcPct val="0"/>
              </a:spcBef>
              <a:spcAft>
                <a:spcPct val="0"/>
              </a:spcAft>
              <a:defRPr sz="4400">
                <a:solidFill>
                  <a:schemeClr val="dk1"/>
                </a:solidFill>
                <a:latin typeface="+mn-lt"/>
                <a:ea typeface="+mn-ea"/>
                <a:cs typeface="+mn-cs"/>
              </a:defRPr>
            </a:lvl6pPr>
            <a:lvl7pPr marL="914400" algn="ctr" rtl="1" fontAlgn="base">
              <a:spcBef>
                <a:spcPct val="0"/>
              </a:spcBef>
              <a:spcAft>
                <a:spcPct val="0"/>
              </a:spcAft>
              <a:defRPr sz="4400">
                <a:solidFill>
                  <a:schemeClr val="dk1"/>
                </a:solidFill>
                <a:latin typeface="+mn-lt"/>
                <a:ea typeface="+mn-ea"/>
                <a:cs typeface="+mn-cs"/>
              </a:defRPr>
            </a:lvl7pPr>
            <a:lvl8pPr marL="1371600" algn="ctr" rtl="1" fontAlgn="base">
              <a:spcBef>
                <a:spcPct val="0"/>
              </a:spcBef>
              <a:spcAft>
                <a:spcPct val="0"/>
              </a:spcAft>
              <a:defRPr sz="4400">
                <a:solidFill>
                  <a:schemeClr val="dk1"/>
                </a:solidFill>
                <a:latin typeface="+mn-lt"/>
                <a:ea typeface="+mn-ea"/>
                <a:cs typeface="+mn-cs"/>
              </a:defRPr>
            </a:lvl8pPr>
            <a:lvl9pPr marL="1828800" algn="ctr" rtl="1" fontAlgn="base">
              <a:spcBef>
                <a:spcPct val="0"/>
              </a:spcBef>
              <a:spcAft>
                <a:spcPct val="0"/>
              </a:spcAft>
              <a:defRPr sz="4400">
                <a:solidFill>
                  <a:schemeClr val="dk1"/>
                </a:solidFill>
                <a:latin typeface="+mn-lt"/>
                <a:ea typeface="+mn-ea"/>
                <a:cs typeface="+mn-cs"/>
              </a:defRPr>
            </a:lvl9pPr>
          </a:lstStyle>
          <a:p>
            <a:pPr>
              <a:defRPr/>
            </a:pPr>
            <a:r>
              <a:rPr lang="ar-AE" sz="3600" kern="0" dirty="0">
                <a:ln w="0"/>
                <a:solidFill>
                  <a:schemeClr val="tx1"/>
                </a:solidFill>
                <a:effectLst>
                  <a:outerShdw blurRad="38100" dist="19050" dir="2700000" algn="tl" rotWithShape="0">
                    <a:schemeClr val="dk1">
                      <a:alpha val="40000"/>
                    </a:schemeClr>
                  </a:outerShdw>
                </a:effectLst>
                <a:cs typeface="MCS Nask S_U normal." pitchFamily="2" charset="-78"/>
              </a:rPr>
              <a:t>العوامل البيئية:</a:t>
            </a:r>
            <a:endParaRPr lang="en-US" sz="3600" kern="0" dirty="0">
              <a:ln w="0"/>
              <a:solidFill>
                <a:schemeClr val="tx1"/>
              </a:solidFill>
              <a:effectLst>
                <a:outerShdw blurRad="38100" dist="19050" dir="2700000" algn="tl" rotWithShape="0">
                  <a:schemeClr val="dk1">
                    <a:alpha val="40000"/>
                  </a:schemeClr>
                </a:outerShdw>
              </a:effectLst>
              <a:cs typeface="MCS Nask S_U normal." pitchFamily="2" charset="-78"/>
            </a:endParaRPr>
          </a:p>
        </p:txBody>
      </p:sp>
      <p:sp>
        <p:nvSpPr>
          <p:cNvPr id="3" name="Down Arrow 2"/>
          <p:cNvSpPr/>
          <p:nvPr/>
        </p:nvSpPr>
        <p:spPr>
          <a:xfrm>
            <a:off x="3143672" y="5301208"/>
            <a:ext cx="360040"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3"/>
          <p:cNvSpPr>
            <a:spLocks noChangeArrowheads="1"/>
          </p:cNvSpPr>
          <p:nvPr/>
        </p:nvSpPr>
        <p:spPr bwMode="auto">
          <a:xfrm>
            <a:off x="1703512" y="5748762"/>
            <a:ext cx="3699982" cy="1064615"/>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lstStyle/>
          <a:p>
            <a:pPr marL="514350" indent="-514350">
              <a:buFont typeface="+mj-lt"/>
              <a:buAutoNum type="arabicPeriod"/>
            </a:pPr>
            <a:r>
              <a:rPr lang="ar-AE" sz="2800" dirty="0">
                <a:ln w="0"/>
                <a:solidFill>
                  <a:schemeClr val="tx1"/>
                </a:solidFill>
                <a:effectLst>
                  <a:outerShdw blurRad="38100" dist="19050" dir="2700000" algn="tl" rotWithShape="0">
                    <a:schemeClr val="dk1">
                      <a:alpha val="40000"/>
                    </a:schemeClr>
                  </a:outerShdw>
                </a:effectLst>
                <a:cs typeface="MCS Nask S_U normal." pitchFamily="2" charset="-78"/>
              </a:rPr>
              <a:t>العوامل الحيوية</a:t>
            </a:r>
          </a:p>
          <a:p>
            <a:pPr marL="514350" indent="-514350">
              <a:buFont typeface="+mj-lt"/>
              <a:buAutoNum type="arabicPeriod"/>
            </a:pPr>
            <a:r>
              <a:rPr lang="ar-AE" sz="2800" dirty="0">
                <a:ln w="0"/>
                <a:solidFill>
                  <a:schemeClr val="tx1"/>
                </a:solidFill>
                <a:effectLst>
                  <a:outerShdw blurRad="38100" dist="19050" dir="2700000" algn="tl" rotWithShape="0">
                    <a:schemeClr val="dk1">
                      <a:alpha val="40000"/>
                    </a:schemeClr>
                  </a:outerShdw>
                </a:effectLst>
                <a:cs typeface="MCS Nask S_U normal." pitchFamily="2" charset="-78"/>
              </a:rPr>
              <a:t>العوامل غير الحيوية</a:t>
            </a:r>
          </a:p>
        </p:txBody>
      </p:sp>
      <p:pic>
        <p:nvPicPr>
          <p:cNvPr id="16" name="Picture 8"/>
          <p:cNvPicPr>
            <a:picLocks noChangeAspect="1" noChangeArrowheads="1"/>
          </p:cNvPicPr>
          <p:nvPr/>
        </p:nvPicPr>
        <p:blipFill>
          <a:blip r:embed="rId3" cstate="print"/>
          <a:srcRect/>
          <a:stretch>
            <a:fillRect/>
          </a:stretch>
        </p:blipFill>
        <p:spPr bwMode="auto">
          <a:xfrm>
            <a:off x="2611807" y="3356993"/>
            <a:ext cx="1813505" cy="1326591"/>
          </a:xfrm>
          <a:prstGeom prst="rect">
            <a:avLst/>
          </a:prstGeom>
          <a:noFill/>
          <a:ln w="9525">
            <a:noFill/>
            <a:miter lim="800000"/>
            <a:headEnd/>
            <a:tailEnd/>
          </a:ln>
        </p:spPr>
      </p:pic>
      <p:pic>
        <p:nvPicPr>
          <p:cNvPr id="18" name="Picture 6" descr="http://www.alwan2.com/wp-content/uploads/2010/06/18.jpg">
            <a:extLst>
              <a:ext uri="{FF2B5EF4-FFF2-40B4-BE49-F238E27FC236}">
                <a16:creationId xmlns:a16="http://schemas.microsoft.com/office/drawing/2014/main" id="{F86B625B-2AB5-4550-9FCE-AAB14D66FAB2}"/>
              </a:ext>
            </a:extLst>
          </p:cNvPr>
          <p:cNvPicPr>
            <a:picLocks noChangeAspect="1" noChangeArrowheads="1"/>
          </p:cNvPicPr>
          <p:nvPr/>
        </p:nvPicPr>
        <p:blipFill>
          <a:blip r:embed="rId4" cstate="print"/>
          <a:srcRect/>
          <a:stretch>
            <a:fillRect/>
          </a:stretch>
        </p:blipFill>
        <p:spPr bwMode="auto">
          <a:xfrm>
            <a:off x="18602" y="1696697"/>
            <a:ext cx="2520280" cy="254859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1"/>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down)">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bg/>
                                          </p:spTgt>
                                        </p:tgtEl>
                                        <p:attrNameLst>
                                          <p:attrName>style.visibility</p:attrName>
                                        </p:attrNameLst>
                                      </p:cBhvr>
                                      <p:to>
                                        <p:strVal val="visible"/>
                                      </p:to>
                                    </p:set>
                                    <p:anim calcmode="lin" valueType="num">
                                      <p:cBhvr additive="base">
                                        <p:cTn id="19" dur="500" fill="hold"/>
                                        <p:tgtEl>
                                          <p:spTgt spid="14">
                                            <p:bg/>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bg/>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 calcmode="lin" valueType="num">
                                      <p:cBhvr additive="base">
                                        <p:cTn id="25"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
                                            <p:bg/>
                                          </p:spTgt>
                                        </p:tgtEl>
                                        <p:attrNameLst>
                                          <p:attrName>style.visibility</p:attrName>
                                        </p:attrNameLst>
                                      </p:cBhvr>
                                      <p:to>
                                        <p:strVal val="visible"/>
                                      </p:to>
                                    </p:set>
                                    <p:anim calcmode="lin" valueType="num">
                                      <p:cBhvr additive="base">
                                        <p:cTn id="31" dur="500" fill="hold"/>
                                        <p:tgtEl>
                                          <p:spTgt spid="17">
                                            <p:bg/>
                                          </p:spTgt>
                                        </p:tgtEl>
                                        <p:attrNameLst>
                                          <p:attrName>ppt_x</p:attrName>
                                        </p:attrNameLst>
                                      </p:cBhvr>
                                      <p:tavLst>
                                        <p:tav tm="0">
                                          <p:val>
                                            <p:strVal val="#ppt_x"/>
                                          </p:val>
                                        </p:tav>
                                        <p:tav tm="100000">
                                          <p:val>
                                            <p:strVal val="#ppt_x"/>
                                          </p:val>
                                        </p:tav>
                                      </p:tavLst>
                                    </p:anim>
                                    <p:anim calcmode="lin" valueType="num">
                                      <p:cBhvr additive="base">
                                        <p:cTn id="32" dur="500" fill="hold"/>
                                        <p:tgtEl>
                                          <p:spTgt spid="17">
                                            <p:bg/>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 calcmode="lin" valueType="num">
                                      <p:cBhvr additive="base">
                                        <p:cTn id="3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
                                            <p:bg/>
                                          </p:spTgt>
                                        </p:tgtEl>
                                        <p:attrNameLst>
                                          <p:attrName>style.visibility</p:attrName>
                                        </p:attrNameLst>
                                      </p:cBhvr>
                                      <p:to>
                                        <p:strVal val="visible"/>
                                      </p:to>
                                    </p:set>
                                    <p:anim calcmode="lin" valueType="num">
                                      <p:cBhvr additive="base">
                                        <p:cTn id="43" dur="500" fill="hold"/>
                                        <p:tgtEl>
                                          <p:spTgt spid="15">
                                            <p:bg/>
                                          </p:spTgt>
                                        </p:tgtEl>
                                        <p:attrNameLst>
                                          <p:attrName>ppt_x</p:attrName>
                                        </p:attrNameLst>
                                      </p:cBhvr>
                                      <p:tavLst>
                                        <p:tav tm="0">
                                          <p:val>
                                            <p:strVal val="#ppt_x"/>
                                          </p:val>
                                        </p:tav>
                                        <p:tav tm="100000">
                                          <p:val>
                                            <p:strVal val="#ppt_x"/>
                                          </p:val>
                                        </p:tav>
                                      </p:tavLst>
                                    </p:anim>
                                    <p:anim calcmode="lin" valueType="num">
                                      <p:cBhvr additive="base">
                                        <p:cTn id="44" dur="500" fill="hold"/>
                                        <p:tgtEl>
                                          <p:spTgt spid="15">
                                            <p:bg/>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
                                            <p:txEl>
                                              <p:pRg st="0" end="0"/>
                                            </p:txEl>
                                          </p:spTgt>
                                        </p:tgtEl>
                                        <p:attrNameLst>
                                          <p:attrName>style.visibility</p:attrName>
                                        </p:attrNameLst>
                                      </p:cBhvr>
                                      <p:to>
                                        <p:strVal val="visible"/>
                                      </p:to>
                                    </p:set>
                                    <p:anim calcmode="lin" valueType="num">
                                      <p:cBhvr additive="base">
                                        <p:cTn id="49"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9" fill="hold" grpId="0" nodeType="clickEffect">
                                  <p:stCondLst>
                                    <p:cond delay="0"/>
                                  </p:stCondLst>
                                  <p:childTnLst>
                                    <p:set>
                                      <p:cBhvr>
                                        <p:cTn id="54" dur="1" fill="hold">
                                          <p:stCondLst>
                                            <p:cond delay="0"/>
                                          </p:stCondLst>
                                        </p:cTn>
                                        <p:tgtEl>
                                          <p:spTgt spid="18440"/>
                                        </p:tgtEl>
                                        <p:attrNameLst>
                                          <p:attrName>style.visibility</p:attrName>
                                        </p:attrNameLst>
                                      </p:cBhvr>
                                      <p:to>
                                        <p:strVal val="visible"/>
                                      </p:to>
                                    </p:set>
                                    <p:anim calcmode="lin" valueType="num">
                                      <p:cBhvr additive="base">
                                        <p:cTn id="55" dur="500" fill="hold"/>
                                        <p:tgtEl>
                                          <p:spTgt spid="18440"/>
                                        </p:tgtEl>
                                        <p:attrNameLst>
                                          <p:attrName>ppt_x</p:attrName>
                                        </p:attrNameLst>
                                      </p:cBhvr>
                                      <p:tavLst>
                                        <p:tav tm="0">
                                          <p:val>
                                            <p:strVal val="0-#ppt_w/2"/>
                                          </p:val>
                                        </p:tav>
                                        <p:tav tm="100000">
                                          <p:val>
                                            <p:strVal val="#ppt_x"/>
                                          </p:val>
                                        </p:tav>
                                      </p:tavLst>
                                    </p:anim>
                                    <p:anim calcmode="lin" valueType="num">
                                      <p:cBhvr additive="base">
                                        <p:cTn id="56" dur="500" fill="hold"/>
                                        <p:tgtEl>
                                          <p:spTgt spid="18440"/>
                                        </p:tgtEl>
                                        <p:attrNameLst>
                                          <p:attrName>ppt_y</p:attrName>
                                        </p:attrNameLst>
                                      </p:cBhvr>
                                      <p:tavLst>
                                        <p:tav tm="0">
                                          <p:val>
                                            <p:strVal val="0-#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2">
                                            <p:txEl>
                                              <p:pRg st="0" end="0"/>
                                            </p:txEl>
                                          </p:spTgt>
                                        </p:tgtEl>
                                        <p:attrNameLst>
                                          <p:attrName>style.visibility</p:attrName>
                                        </p:attrNameLst>
                                      </p:cBhvr>
                                      <p:to>
                                        <p:strVal val="visible"/>
                                      </p:to>
                                    </p:set>
                                    <p:anim calcmode="lin" valueType="num">
                                      <p:cBhvr additive="base">
                                        <p:cTn id="61"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0" presetClass="entr" presetSubtype="0" fill="hold" grpId="0" nodeType="clickEffect">
                                  <p:stCondLst>
                                    <p:cond delay="0"/>
                                  </p:stCondLst>
                                  <p:iterate type="lt">
                                    <p:tmPct val="10000"/>
                                  </p:iterate>
                                  <p:childTnLst>
                                    <p:set>
                                      <p:cBhvr>
                                        <p:cTn id="66" dur="1" fill="hold">
                                          <p:stCondLst>
                                            <p:cond delay="0"/>
                                          </p:stCondLst>
                                        </p:cTn>
                                        <p:tgtEl>
                                          <p:spTgt spid="10"/>
                                        </p:tgtEl>
                                        <p:attrNameLst>
                                          <p:attrName>style.visibility</p:attrName>
                                        </p:attrNameLst>
                                      </p:cBhvr>
                                      <p:to>
                                        <p:strVal val="visible"/>
                                      </p:to>
                                    </p:set>
                                    <p:animEffect transition="in" filter="fade">
                                      <p:cBhvr>
                                        <p:cTn id="67" dur="1000"/>
                                        <p:tgtEl>
                                          <p:spTgt spid="10"/>
                                        </p:tgtEl>
                                      </p:cBhvr>
                                    </p:animEffect>
                                    <p:anim calcmode="lin" valueType="num">
                                      <p:cBhvr>
                                        <p:cTn id="68" dur="1000" fill="hold"/>
                                        <p:tgtEl>
                                          <p:spTgt spid="10"/>
                                        </p:tgtEl>
                                        <p:attrNameLst>
                                          <p:attrName>ppt_x</p:attrName>
                                        </p:attrNameLst>
                                      </p:cBhvr>
                                      <p:tavLst>
                                        <p:tav tm="0">
                                          <p:val>
                                            <p:strVal val="#ppt_x-.1"/>
                                          </p:val>
                                        </p:tav>
                                        <p:tav tm="100000">
                                          <p:val>
                                            <p:strVal val="#ppt_x"/>
                                          </p:val>
                                        </p:tav>
                                      </p:tavLst>
                                    </p:anim>
                                    <p:anim calcmode="lin" valueType="num">
                                      <p:cBhvr>
                                        <p:cTn id="69" dur="10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fade">
                                      <p:cBhvr>
                                        <p:cTn id="74" dur="1000"/>
                                        <p:tgtEl>
                                          <p:spTgt spid="3"/>
                                        </p:tgtEl>
                                      </p:cBhvr>
                                    </p:animEffect>
                                    <p:anim calcmode="lin" valueType="num">
                                      <p:cBhvr>
                                        <p:cTn id="75" dur="1000" fill="hold"/>
                                        <p:tgtEl>
                                          <p:spTgt spid="3"/>
                                        </p:tgtEl>
                                        <p:attrNameLst>
                                          <p:attrName>ppt_x</p:attrName>
                                        </p:attrNameLst>
                                      </p:cBhvr>
                                      <p:tavLst>
                                        <p:tav tm="0">
                                          <p:val>
                                            <p:strVal val="#ppt_x"/>
                                          </p:val>
                                        </p:tav>
                                        <p:tav tm="100000">
                                          <p:val>
                                            <p:strVal val="#ppt_x"/>
                                          </p:val>
                                        </p:tav>
                                      </p:tavLst>
                                    </p:anim>
                                    <p:anim calcmode="lin" valueType="num">
                                      <p:cBhvr>
                                        <p:cTn id="7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wipe(down)">
                                      <p:cBhvr>
                                        <p:cTn id="81" dur="500"/>
                                        <p:tgtEl>
                                          <p:spTgt spid="13"/>
                                        </p:tgtEl>
                                      </p:cBhvr>
                                    </p:animEffect>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16"/>
                                        </p:tgtEl>
                                        <p:attrNameLst>
                                          <p:attrName>style.visibility</p:attrName>
                                        </p:attrNameLst>
                                      </p:cBhvr>
                                      <p:to>
                                        <p:strVal val="visible"/>
                                      </p:to>
                                    </p:set>
                                    <p:animEffect transition="in" filter="fade">
                                      <p:cBhvr>
                                        <p:cTn id="86" dur="1000"/>
                                        <p:tgtEl>
                                          <p:spTgt spid="16"/>
                                        </p:tgtEl>
                                      </p:cBhvr>
                                    </p:animEffect>
                                    <p:anim calcmode="lin" valueType="num">
                                      <p:cBhvr>
                                        <p:cTn id="87" dur="1000" fill="hold"/>
                                        <p:tgtEl>
                                          <p:spTgt spid="16"/>
                                        </p:tgtEl>
                                        <p:attrNameLst>
                                          <p:attrName>ppt_x</p:attrName>
                                        </p:attrNameLst>
                                      </p:cBhvr>
                                      <p:tavLst>
                                        <p:tav tm="0">
                                          <p:val>
                                            <p:strVal val="#ppt_x"/>
                                          </p:val>
                                        </p:tav>
                                        <p:tav tm="100000">
                                          <p:val>
                                            <p:strVal val="#ppt_x"/>
                                          </p:val>
                                        </p:tav>
                                      </p:tavLst>
                                    </p:anim>
                                    <p:anim calcmode="lin" valueType="num">
                                      <p:cBhvr>
                                        <p:cTn id="8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440" grpId="0" animBg="1"/>
      <p:bldP spid="12" grpId="0" build="p"/>
      <p:bldP spid="14" grpId="0" build="p" animBg="1"/>
      <p:bldP spid="15" grpId="0" build="p" animBg="1"/>
      <p:bldP spid="17" grpId="0" build="p" animBg="1"/>
      <p:bldP spid="9" grpId="0" animBg="1"/>
      <p:bldP spid="10" grpId="0" animBg="1"/>
      <p:bldP spid="3"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أرتّب مستويات التنظيم البيئي من الكائن الحي إلى الغلاف الحيوي.</a:t>
            </a:r>
          </a:p>
        </p:txBody>
      </p:sp>
      <p:sp>
        <p:nvSpPr>
          <p:cNvPr id="10" name="TextBox 9"/>
          <p:cNvSpPr txBox="1"/>
          <p:nvPr/>
        </p:nvSpPr>
        <p:spPr>
          <a:xfrm>
            <a:off x="2590804"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تقييم تكويني ١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2 د</a:t>
            </a:r>
          </a:p>
        </p:txBody>
      </p:sp>
      <p:sp>
        <p:nvSpPr>
          <p:cNvPr id="12" name="Rounded Rectangle 11"/>
          <p:cNvSpPr/>
          <p:nvPr/>
        </p:nvSpPr>
        <p:spPr>
          <a:xfrm>
            <a:off x="2590800" y="4524376"/>
            <a:ext cx="9458325" cy="1047749"/>
          </a:xfrm>
          <a:prstGeom prst="roundRect">
            <a:avLst/>
          </a:prstGeom>
          <a:solidFill>
            <a:srgbClr val="EAF3EC"/>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r" rtl="1"/>
            <a:r>
              <a:rPr lang="ar-AE" sz="1200" b="1" i="0">
                <a:solidFill>
                  <a:srgbClr val="2E7D32"/>
                </a:solidFill>
                <a:latin typeface="Arial"/>
                <a:ea typeface="Arial"/>
                <a:cs typeface="Arial"/>
              </a:rPr>
              <a:t>تقييم تكويني ✓</a:t>
            </a:r>
          </a:p>
          <a:p>
            <a:pPr algn="r" rtl="1"/>
            <a:r>
              <a:rPr lang="ar-AE" sz="1450" b="0" i="0">
                <a:solidFill>
                  <a:srgbClr val="10243B"/>
                </a:solidFill>
                <a:latin typeface="Arial"/>
                <a:ea typeface="Arial"/>
                <a:cs typeface="Arial"/>
              </a:rPr>
              <a:t>بيّن بأسلوبك: ما علم البيئة؟ وما الجزء من الأرض الذي يمثّل «الغلاف الحيوي»؟</a:t>
            </a:r>
          </a:p>
        </p:txBody>
      </p:sp>
      <p:sp>
        <p:nvSpPr>
          <p:cNvPr id="13" name="TextBox 12"/>
          <p:cNvSpPr txBox="1"/>
          <p:nvPr/>
        </p:nvSpPr>
        <p:spPr>
          <a:xfrm>
            <a:off x="2590800" y="1733550"/>
            <a:ext cx="9458325" cy="1524000"/>
          </a:xfrm>
          <a:prstGeom prst="rect">
            <a:avLst/>
          </a:prstGeom>
          <a:noFill/>
        </p:spPr>
        <p:txBody>
          <a:bodyPr wrap="square" lIns="0" tIns="0" rIns="0" bIns="0" anchor="t">
            <a:noAutofit/>
          </a:bodyPr>
          <a:lstStyle/>
          <a:p>
            <a:pPr algn="r" rtl="1"/>
            <a:r>
              <a:rPr lang="ar-AE" sz="1400" b="0" i="0">
                <a:solidFill>
                  <a:srgbClr val="10243B"/>
                </a:solidFill>
                <a:latin typeface="Arial"/>
                <a:ea typeface="Arial"/>
                <a:cs typeface="Arial"/>
              </a:rPr>
              <a:t>أداة التقييم: سؤال شفهي سريع (بطاقة إجابة مرفوعة) لجميع الطلاب في آنٍ واحد لقياس فهم الصف ككل.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أرتّب مستويات التنظيم البيئي من الكائن الحي إلى الغلاف الحيوي.</a:t>
            </a:r>
          </a:p>
        </p:txBody>
      </p:sp>
      <p:sp>
        <p:nvSpPr>
          <p:cNvPr id="10" name="TextBox 9"/>
          <p:cNvSpPr txBox="1"/>
          <p:nvPr/>
        </p:nvSpPr>
        <p:spPr>
          <a:xfrm>
            <a:off x="2590805" y="1162050"/>
            <a:ext cx="9458325" cy="438150"/>
          </a:xfrm>
          <a:prstGeom prst="rect">
            <a:avLst/>
          </a:prstGeom>
          <a:noFill/>
        </p:spPr>
        <p:txBody>
          <a:bodyPr wrap="square" lIns="0" tIns="0" rIns="0" bIns="0" anchor="ctr">
            <a:noAutofit/>
          </a:bodyPr>
          <a:lstStyle/>
          <a:p>
            <a:pPr algn="r" rtl="1"/>
            <a:r>
              <a:rPr lang="ar-AE" sz="2200" b="1" i="0">
                <a:solidFill>
                  <a:srgbClr val="173754"/>
                </a:solidFill>
                <a:latin typeface="Arial"/>
                <a:ea typeface="Arial"/>
                <a:cs typeface="Arial"/>
              </a:rPr>
              <a:t>ما العوامل الحيوية وغير الحيوية؟</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5 د – نشاط تعاوني</a:t>
            </a:r>
          </a:p>
        </p:txBody>
      </p:sp>
      <p:sp>
        <p:nvSpPr>
          <p:cNvPr id="12" name="Rounded Rectangle 11"/>
          <p:cNvSpPr/>
          <p:nvPr/>
        </p:nvSpPr>
        <p:spPr>
          <a:xfrm>
            <a:off x="2590800" y="1600200"/>
            <a:ext cx="9458325" cy="381000"/>
          </a:xfrm>
          <a:prstGeom prst="roundRect">
            <a:avLst/>
          </a:prstGeom>
          <a:solidFill>
            <a:srgbClr val="F7F4EE"/>
          </a:solidFill>
          <a:ln w="12700">
            <a:solidFill>
              <a:srgbClr val="A87B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r>
              <a:rPr lang="ar-AE" sz="1400" b="1" i="0">
                <a:solidFill>
                  <a:srgbClr val="173754"/>
                </a:solidFill>
                <a:latin typeface="Arial"/>
                <a:ea typeface="Arial"/>
                <a:cs typeface="Arial"/>
              </a:rPr>
              <a:t>تعتمد الكائنات الحية في بيئتها على عدة عوامل... فما هي؟</a:t>
            </a:r>
          </a:p>
        </p:txBody>
      </p:sp>
      <p:sp>
        <p:nvSpPr>
          <p:cNvPr id="13" name="Rounded Rectangle 12"/>
          <p:cNvSpPr/>
          <p:nvPr/>
        </p:nvSpPr>
        <p:spPr>
          <a:xfrm>
            <a:off x="2590800" y="2114550"/>
            <a:ext cx="9458325" cy="2762250"/>
          </a:xfrm>
          <a:prstGeom prst="roundRect">
            <a:avLst/>
          </a:prstGeom>
          <a:solidFill>
            <a:srgbClr val="EFF3F8"/>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r" rtl="1"/>
            <a:r>
              <a:rPr lang="ar-AE" sz="1500" b="1" i="0">
                <a:solidFill>
                  <a:srgbClr val="0E6E6E"/>
                </a:solidFill>
                <a:latin typeface="Arial"/>
                <a:ea typeface="Arial"/>
                <a:cs typeface="Arial"/>
              </a:rPr>
              <a:t>🤝 نشاط تعاوني: صنّف العامل</a:t>
            </a:r>
          </a:p>
          <a:p>
            <a:pPr algn="r" rtl="1">
              <a:spcBef>
                <a:spcPts val="500"/>
              </a:spcBef>
            </a:pPr>
            <a:r>
              <a:rPr lang="ar-AE" sz="1300" b="0" i="0">
                <a:solidFill>
                  <a:srgbClr val="10243B"/>
                </a:solidFill>
                <a:latin typeface="Arial"/>
                <a:ea typeface="Arial"/>
                <a:cs typeface="Arial"/>
              </a:rPr>
              <a:t>•  اعمل ضمن مجموعتك (4 طلاب) خلال 3 دقائق.</a:t>
            </a:r>
          </a:p>
          <a:p>
            <a:pPr algn="r" rtl="1">
              <a:spcBef>
                <a:spcPts val="500"/>
              </a:spcBef>
            </a:pPr>
            <a:r>
              <a:rPr lang="ar-AE" sz="1300" b="0" i="0">
                <a:solidFill>
                  <a:srgbClr val="10243B"/>
                </a:solidFill>
                <a:latin typeface="Arial"/>
                <a:ea typeface="Arial"/>
                <a:cs typeface="Arial"/>
              </a:rPr>
              <a:t>•  أمام كل مجموعة بطاقات صور/كلمات: إنسان، نبات، حيوان، هواء، ماء، تربة وصخور، ثلوج، ضوء الشمس.</a:t>
            </a:r>
          </a:p>
          <a:p>
            <a:pPr algn="r" rtl="1">
              <a:spcBef>
                <a:spcPts val="500"/>
              </a:spcBef>
            </a:pPr>
            <a:r>
              <a:rPr lang="ar-AE" sz="1300" b="0" i="0">
                <a:solidFill>
                  <a:srgbClr val="10243B"/>
                </a:solidFill>
                <a:latin typeface="Arial"/>
                <a:ea typeface="Arial"/>
                <a:cs typeface="Arial"/>
              </a:rPr>
              <a:t>•  رتّب البطاقات في عمودين على ورقة العمل: «عوامل حيوية» و«عوامل غير حيوية».</a:t>
            </a:r>
          </a:p>
          <a:p>
            <a:pPr algn="r" rtl="1">
              <a:spcBef>
                <a:spcPts val="500"/>
              </a:spcBef>
            </a:pPr>
            <a:r>
              <a:rPr lang="ar-AE" sz="1300" b="0" i="0">
                <a:solidFill>
                  <a:srgbClr val="10243B"/>
                </a:solidFill>
                <a:latin typeface="Arial"/>
                <a:ea typeface="Arial"/>
                <a:cs typeface="Arial"/>
              </a:rPr>
              <a:t>•  قواعد العمل الجماعي: توزيع الأدوار، الاستماع للزميل، الالتزام بالوقت.</a:t>
            </a:r>
          </a:p>
          <a:p>
            <a:pPr algn="r" rtl="1">
              <a:spcBef>
                <a:spcPts val="500"/>
              </a:spcBef>
            </a:pPr>
            <a:r>
              <a:rPr lang="ar-AE" sz="1300" b="0" i="0">
                <a:solidFill>
                  <a:srgbClr val="10243B"/>
                </a:solidFill>
                <a:latin typeface="Arial"/>
                <a:ea typeface="Arial"/>
                <a:cs typeface="Arial"/>
              </a:rPr>
              <a:t>•  🏆 أسرع مجموعة تُنهي التصنيف بدقة تحصل على نجمة تميّز.</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38601" y="207818"/>
            <a:ext cx="4575291" cy="1569660"/>
          </a:xfrm>
          <a:prstGeom prst="rect">
            <a:avLst/>
          </a:prstGeom>
          <a:solidFill>
            <a:schemeClr val="accent6">
              <a:lumMod val="60000"/>
              <a:lumOff val="40000"/>
            </a:schemeClr>
          </a:solid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ar-AE" sz="9600" b="1" dirty="0">
                <a:ln w="11430"/>
                <a:solidFill>
                  <a:schemeClr val="accent1">
                    <a:lumMod val="75000"/>
                  </a:schemeClr>
                </a:solidFill>
                <a:effectLst>
                  <a:outerShdw blurRad="50800" dist="39000" dir="5460000" algn="tl">
                    <a:srgbClr val="000000">
                      <a:alpha val="38000"/>
                    </a:srgbClr>
                  </a:outerShdw>
                </a:effectLst>
              </a:rPr>
              <a:t>عوامل حية</a:t>
            </a:r>
            <a:endParaRPr lang="en-US" sz="9600" b="1" dirty="0">
              <a:ln w="11430"/>
              <a:solidFill>
                <a:schemeClr val="accent1">
                  <a:lumMod val="75000"/>
                </a:schemeClr>
              </a:solidFill>
              <a:effectLst>
                <a:outerShdw blurRad="50800" dist="39000" dir="5460000" algn="tl">
                  <a:srgbClr val="000000">
                    <a:alpha val="38000"/>
                  </a:srgbClr>
                </a:outerShdw>
              </a:effectLst>
            </a:endParaRPr>
          </a:p>
        </p:txBody>
      </p:sp>
      <p:pic>
        <p:nvPicPr>
          <p:cNvPr id="5" name="Picture 2" descr="http://www.mawhopon.net/upload/image/basic_photo/animals-ii-print-c10069671.jpg"/>
          <p:cNvPicPr>
            <a:picLocks noChangeAspect="1" noChangeArrowheads="1"/>
          </p:cNvPicPr>
          <p:nvPr/>
        </p:nvPicPr>
        <p:blipFill>
          <a:blip r:embed="rId2" cstate="print"/>
          <a:srcRect/>
          <a:stretch>
            <a:fillRect/>
          </a:stretch>
        </p:blipFill>
        <p:spPr bwMode="auto">
          <a:xfrm>
            <a:off x="1503218" y="1791333"/>
            <a:ext cx="4668982" cy="5080522"/>
          </a:xfrm>
          <a:prstGeom prst="rect">
            <a:avLst/>
          </a:prstGeom>
          <a:noFill/>
        </p:spPr>
      </p:pic>
      <p:pic>
        <p:nvPicPr>
          <p:cNvPr id="6" name="Picture 4" descr="http://2.bp.blogspot.com/_ZbINt8OSP2M/TD7SHNvlKrI/AAAAAAAAAA8/LP8pnTua6w0/s1600/ecosysteme.jpg"/>
          <p:cNvPicPr>
            <a:picLocks noChangeAspect="1" noChangeArrowheads="1"/>
          </p:cNvPicPr>
          <p:nvPr/>
        </p:nvPicPr>
        <p:blipFill>
          <a:blip r:embed="rId3" cstate="print"/>
          <a:srcRect/>
          <a:stretch>
            <a:fillRect/>
          </a:stretch>
        </p:blipFill>
        <p:spPr bwMode="auto">
          <a:xfrm>
            <a:off x="6172200" y="1777478"/>
            <a:ext cx="4495800" cy="5094377"/>
          </a:xfrm>
          <a:prstGeom prst="rect">
            <a:avLst/>
          </a:prstGeom>
          <a:noFill/>
        </p:spPr>
      </p:pic>
    </p:spTree>
    <p:extLst>
      <p:ext uri="{BB962C8B-B14F-4D97-AF65-F5344CB8AC3E}">
        <p14:creationId xmlns:p14="http://schemas.microsoft.com/office/powerpoint/2010/main" val="34654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http://4.bp.blogspot.com/_ZbINt8OSP2M/TD7NkKjTGBI/AAAAAAAAAAU/7zCvyP26sjc/s320/goutte_eau_leg.jpg">
            <a:hlinkClick r:id="rId2"/>
          </p:cNvPr>
          <p:cNvPicPr>
            <a:picLocks noChangeAspect="1" noChangeArrowheads="1"/>
          </p:cNvPicPr>
          <p:nvPr/>
        </p:nvPicPr>
        <p:blipFill>
          <a:blip r:embed="rId3" cstate="print"/>
          <a:srcRect/>
          <a:stretch>
            <a:fillRect/>
          </a:stretch>
        </p:blipFill>
        <p:spPr bwMode="auto">
          <a:xfrm>
            <a:off x="1544782" y="-1"/>
            <a:ext cx="4191000" cy="3308289"/>
          </a:xfrm>
          <a:prstGeom prst="rect">
            <a:avLst/>
          </a:prstGeom>
          <a:noFill/>
        </p:spPr>
      </p:pic>
      <p:pic>
        <p:nvPicPr>
          <p:cNvPr id="37896" name="Picture 8" descr="http://www.mekshat.com/pix/upload/images9/mk863_dysah6.jpg"/>
          <p:cNvPicPr>
            <a:picLocks noChangeAspect="1" noChangeArrowheads="1"/>
          </p:cNvPicPr>
          <p:nvPr/>
        </p:nvPicPr>
        <p:blipFill>
          <a:blip r:embed="rId4" cstate="print"/>
          <a:srcRect/>
          <a:stretch>
            <a:fillRect/>
          </a:stretch>
        </p:blipFill>
        <p:spPr bwMode="auto">
          <a:xfrm>
            <a:off x="1524000" y="3308290"/>
            <a:ext cx="4239068" cy="3854511"/>
          </a:xfrm>
          <a:prstGeom prst="rect">
            <a:avLst/>
          </a:prstGeom>
          <a:noFill/>
        </p:spPr>
      </p:pic>
      <p:pic>
        <p:nvPicPr>
          <p:cNvPr id="37898" name="Picture 10" descr="http://2.bp.blogspot.com/_lpyrVdCaUwk/TF2qg2RjS6I/AAAAAAAAAQQ/eHQiIpxwzzs/s1600/air_elemental.jpg"/>
          <p:cNvPicPr>
            <a:picLocks noChangeAspect="1" noChangeArrowheads="1"/>
          </p:cNvPicPr>
          <p:nvPr/>
        </p:nvPicPr>
        <p:blipFill>
          <a:blip r:embed="rId5" cstate="print"/>
          <a:srcRect/>
          <a:stretch>
            <a:fillRect/>
          </a:stretch>
        </p:blipFill>
        <p:spPr bwMode="auto">
          <a:xfrm>
            <a:off x="6747044" y="3301362"/>
            <a:ext cx="3964773" cy="3709039"/>
          </a:xfrm>
          <a:prstGeom prst="rect">
            <a:avLst/>
          </a:prstGeom>
          <a:noFill/>
        </p:spPr>
      </p:pic>
      <p:pic>
        <p:nvPicPr>
          <p:cNvPr id="6" name="Picture 6" descr="http://n4hr.com/up/uploads/a7122ba03d.jpg"/>
          <p:cNvPicPr>
            <a:picLocks noChangeAspect="1" noChangeArrowheads="1"/>
          </p:cNvPicPr>
          <p:nvPr/>
        </p:nvPicPr>
        <p:blipFill>
          <a:blip r:embed="rId6" cstate="print"/>
          <a:srcRect/>
          <a:stretch>
            <a:fillRect/>
          </a:stretch>
        </p:blipFill>
        <p:spPr bwMode="auto">
          <a:xfrm>
            <a:off x="6747043" y="1"/>
            <a:ext cx="3920958" cy="3308289"/>
          </a:xfrm>
          <a:prstGeom prst="rect">
            <a:avLst/>
          </a:prstGeom>
          <a:noFill/>
        </p:spPr>
      </p:pic>
      <p:sp>
        <p:nvSpPr>
          <p:cNvPr id="7" name="Rectangle 6"/>
          <p:cNvSpPr/>
          <p:nvPr/>
        </p:nvSpPr>
        <p:spPr>
          <a:xfrm>
            <a:off x="7182309" y="5657672"/>
            <a:ext cx="3235158" cy="1200329"/>
          </a:xfrm>
          <a:prstGeom prst="rect">
            <a:avLst/>
          </a:prstGeom>
          <a:noFill/>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ar-AE" sz="7200" b="1" dirty="0">
                <a:ln w="50800"/>
              </a:rPr>
              <a:t>الهواء</a:t>
            </a:r>
            <a:endParaRPr lang="en-US" sz="7200" b="1" dirty="0">
              <a:ln w="50800"/>
            </a:endParaRPr>
          </a:p>
        </p:txBody>
      </p:sp>
      <p:sp>
        <p:nvSpPr>
          <p:cNvPr id="8" name="Rectangle 7"/>
          <p:cNvSpPr/>
          <p:nvPr/>
        </p:nvSpPr>
        <p:spPr>
          <a:xfrm>
            <a:off x="3124200" y="235647"/>
            <a:ext cx="3235158" cy="1200329"/>
          </a:xfrm>
          <a:prstGeom prst="rect">
            <a:avLst/>
          </a:prstGeom>
          <a:noFill/>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ar-AE" sz="7200" b="1" dirty="0">
                <a:ln w="50800"/>
              </a:rPr>
              <a:t>الماء</a:t>
            </a:r>
            <a:endParaRPr lang="en-US" sz="7200" b="1" dirty="0">
              <a:ln w="50800"/>
            </a:endParaRPr>
          </a:p>
        </p:txBody>
      </p:sp>
      <p:sp>
        <p:nvSpPr>
          <p:cNvPr id="9" name="Rectangle 8"/>
          <p:cNvSpPr/>
          <p:nvPr/>
        </p:nvSpPr>
        <p:spPr>
          <a:xfrm>
            <a:off x="1219201" y="4876800"/>
            <a:ext cx="4882089" cy="1938992"/>
          </a:xfrm>
          <a:prstGeom prst="rect">
            <a:avLst/>
          </a:prstGeom>
          <a:noFill/>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ar-AE" sz="6000" b="1" dirty="0">
                <a:ln w="50800"/>
              </a:rPr>
              <a:t>الجبال والصخور والتربة</a:t>
            </a:r>
            <a:endParaRPr lang="en-US" sz="6000" b="1" dirty="0">
              <a:ln w="50800"/>
            </a:endParaRPr>
          </a:p>
        </p:txBody>
      </p:sp>
      <p:sp>
        <p:nvSpPr>
          <p:cNvPr id="10" name="Rectangle 9"/>
          <p:cNvSpPr/>
          <p:nvPr/>
        </p:nvSpPr>
        <p:spPr>
          <a:xfrm>
            <a:off x="7089943" y="1654145"/>
            <a:ext cx="3235158" cy="1200329"/>
          </a:xfrm>
          <a:prstGeom prst="rect">
            <a:avLst/>
          </a:prstGeom>
          <a:noFill/>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ar-AE" sz="7200" b="1" dirty="0">
                <a:ln w="50800"/>
                <a:solidFill>
                  <a:schemeClr val="bg1"/>
                </a:solidFill>
              </a:rPr>
              <a:t>الثلوج</a:t>
            </a:r>
            <a:endParaRPr lang="en-US" sz="7200" b="1" dirty="0">
              <a:ln w="50800"/>
              <a:solidFill>
                <a:schemeClr val="bg1"/>
              </a:solidFill>
            </a:endParaRPr>
          </a:p>
        </p:txBody>
      </p:sp>
      <p:sp>
        <p:nvSpPr>
          <p:cNvPr id="11" name="Rectangle 10"/>
          <p:cNvSpPr/>
          <p:nvPr/>
        </p:nvSpPr>
        <p:spPr>
          <a:xfrm>
            <a:off x="3394242" y="2883032"/>
            <a:ext cx="5405646" cy="1323439"/>
          </a:xfrm>
          <a:prstGeom prst="rect">
            <a:avLst/>
          </a:prstGeom>
          <a:solidFill>
            <a:schemeClr val="accent6">
              <a:lumMod val="60000"/>
              <a:lumOff val="40000"/>
            </a:schemeClr>
          </a:solid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ar-AE" sz="8000" b="1" dirty="0">
                <a:ln w="11430"/>
                <a:effectLst>
                  <a:outerShdw blurRad="50800" dist="39000" dir="5460000" algn="tl">
                    <a:srgbClr val="000000">
                      <a:alpha val="38000"/>
                    </a:srgbClr>
                  </a:outerShdw>
                </a:effectLst>
              </a:rPr>
              <a:t>عوامل غير حية</a:t>
            </a:r>
            <a:endParaRPr lang="en-US" sz="8000" b="1" dirty="0">
              <a:ln w="11430"/>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974463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أرتّب مستويات التنظيم البيئي من الكائن الحي إلى الغلاف الحيوي.</a:t>
            </a:r>
          </a:p>
        </p:txBody>
      </p:sp>
      <p:sp>
        <p:nvSpPr>
          <p:cNvPr id="10" name="TextBox 9"/>
          <p:cNvSpPr txBox="1"/>
          <p:nvPr/>
        </p:nvSpPr>
        <p:spPr>
          <a:xfrm>
            <a:off x="2590806"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عوامل حيوية وعوامل غير حيوية</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sp>
        <p:nvSpPr>
          <p:cNvPr id="12" name="Rounded Rectangle 11"/>
          <p:cNvSpPr/>
          <p:nvPr/>
        </p:nvSpPr>
        <p:spPr>
          <a:xfrm>
            <a:off x="2590800" y="1600200"/>
            <a:ext cx="4633912" cy="2857500"/>
          </a:xfrm>
          <a:prstGeom prst="roundRect">
            <a:avLst/>
          </a:prstGeom>
          <a:solidFill>
            <a:srgbClr val="EEF6EE"/>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09728" tIns="73152" rtlCol="0" anchor="ctr"/>
          <a:lstStyle/>
          <a:p>
            <a:pPr algn="r" rtl="1"/>
            <a:r>
              <a:rPr lang="ar-AE" sz="1500" b="1" i="0">
                <a:solidFill>
                  <a:srgbClr val="2E7D32"/>
                </a:solidFill>
                <a:latin typeface="Arial"/>
                <a:ea typeface="Arial"/>
                <a:cs typeface="Arial"/>
              </a:rPr>
              <a:t>🌿 عوامل حيوية (Biotic)</a:t>
            </a:r>
          </a:p>
          <a:p>
            <a:pPr algn="r" rtl="1">
              <a:spcBef>
                <a:spcPts val="600"/>
              </a:spcBef>
            </a:pPr>
            <a:r>
              <a:rPr lang="ar-AE" sz="1350" b="0" i="0">
                <a:solidFill>
                  <a:srgbClr val="10243B"/>
                </a:solidFill>
                <a:latin typeface="Arial"/>
                <a:ea typeface="Arial"/>
                <a:cs typeface="Arial"/>
              </a:rPr>
              <a:t>كل ما هو كائن حي في البيئة.</a:t>
            </a:r>
          </a:p>
          <a:p>
            <a:pPr algn="r" rtl="1">
              <a:spcBef>
                <a:spcPts val="600"/>
              </a:spcBef>
            </a:pPr>
            <a:r>
              <a:rPr lang="ar-AE" sz="1350" b="0" i="0">
                <a:solidFill>
                  <a:srgbClr val="10243B"/>
                </a:solidFill>
                <a:latin typeface="Arial"/>
                <a:ea typeface="Arial"/>
                <a:cs typeface="Arial"/>
              </a:rPr>
              <a:t>أمثلة: الإنسان – الحيوان – النبات – البكتيريا – الفطريات.</a:t>
            </a:r>
          </a:p>
        </p:txBody>
      </p:sp>
      <p:sp>
        <p:nvSpPr>
          <p:cNvPr id="13" name="Rounded Rectangle 12"/>
          <p:cNvSpPr/>
          <p:nvPr/>
        </p:nvSpPr>
        <p:spPr>
          <a:xfrm>
            <a:off x="7415212" y="1600200"/>
            <a:ext cx="4633912" cy="2857500"/>
          </a:xfrm>
          <a:prstGeom prst="roundRect">
            <a:avLst/>
          </a:prstGeom>
          <a:solidFill>
            <a:srgbClr val="F3EEE3"/>
          </a:solidFill>
          <a:ln w="12700">
            <a:solidFill>
              <a:srgbClr val="C16A0E"/>
            </a:solidFill>
          </a:ln>
          <a:effectLst/>
        </p:spPr>
        <p:style>
          <a:lnRef idx="1">
            <a:schemeClr val="accent1"/>
          </a:lnRef>
          <a:fillRef idx="3">
            <a:schemeClr val="accent1"/>
          </a:fillRef>
          <a:effectRef idx="2">
            <a:schemeClr val="accent1"/>
          </a:effectRef>
          <a:fontRef idx="minor">
            <a:schemeClr val="lt1"/>
          </a:fontRef>
        </p:style>
        <p:txBody>
          <a:bodyPr wrap="square" lIns="109728" tIns="73152" rtlCol="0" anchor="ctr"/>
          <a:lstStyle/>
          <a:p>
            <a:pPr algn="r" rtl="1"/>
            <a:r>
              <a:rPr lang="ar-AE" sz="1500" b="1" i="0">
                <a:solidFill>
                  <a:srgbClr val="C16A0E"/>
                </a:solidFill>
                <a:latin typeface="Arial"/>
                <a:ea typeface="Arial"/>
                <a:cs typeface="Arial"/>
              </a:rPr>
              <a:t>🪨 عوامل غير حيوية (Abiotic)</a:t>
            </a:r>
          </a:p>
          <a:p>
            <a:pPr algn="r" rtl="1">
              <a:spcBef>
                <a:spcPts val="600"/>
              </a:spcBef>
            </a:pPr>
            <a:r>
              <a:rPr lang="ar-AE" sz="1350" b="0" i="0">
                <a:solidFill>
                  <a:srgbClr val="10243B"/>
                </a:solidFill>
                <a:latin typeface="Arial"/>
                <a:ea typeface="Arial"/>
                <a:cs typeface="Arial"/>
              </a:rPr>
              <a:t>كل ما هو غير حي من مكونات البيئة.</a:t>
            </a:r>
          </a:p>
          <a:p>
            <a:pPr algn="r" rtl="1">
              <a:spcBef>
                <a:spcPts val="600"/>
              </a:spcBef>
            </a:pPr>
            <a:r>
              <a:rPr lang="ar-AE" sz="1350" b="0" i="0">
                <a:solidFill>
                  <a:srgbClr val="10243B"/>
                </a:solidFill>
                <a:latin typeface="Arial"/>
                <a:ea typeface="Arial"/>
                <a:cs typeface="Arial"/>
              </a:rPr>
              <a:t>أمثلة: الهواء – الماء – الجبال والصخور والتربة – الثلوج – ضوء الشمس وحرارتها.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أرتّب مستويات التنظيم البيئي من الكائن الحي إلى الغلاف الحيوي.</a:t>
            </a:r>
          </a:p>
        </p:txBody>
      </p:sp>
      <p:sp>
        <p:nvSpPr>
          <p:cNvPr id="10" name="TextBox 9"/>
          <p:cNvSpPr txBox="1"/>
          <p:nvPr/>
        </p:nvSpPr>
        <p:spPr>
          <a:xfrm>
            <a:off x="2590800"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تقييم تكويني ٢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2 د</a:t>
            </a:r>
          </a:p>
        </p:txBody>
      </p:sp>
      <p:sp>
        <p:nvSpPr>
          <p:cNvPr id="12" name="Rounded Rectangle 11"/>
          <p:cNvSpPr/>
          <p:nvPr/>
        </p:nvSpPr>
        <p:spPr>
          <a:xfrm>
            <a:off x="2590800" y="4143375"/>
            <a:ext cx="9458325" cy="1428750"/>
          </a:xfrm>
          <a:prstGeom prst="roundRect">
            <a:avLst/>
          </a:prstGeom>
          <a:solidFill>
            <a:srgbClr val="EAF3EC"/>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r" rtl="1"/>
            <a:r>
              <a:rPr lang="ar-AE" sz="1200" b="1" i="0">
                <a:solidFill>
                  <a:srgbClr val="2E7D32"/>
                </a:solidFill>
                <a:latin typeface="Arial"/>
                <a:ea typeface="Arial"/>
                <a:cs typeface="Arial"/>
              </a:rPr>
              <a:t>تقييم تكويني ✓</a:t>
            </a:r>
          </a:p>
          <a:p>
            <a:pPr algn="r" rtl="1"/>
            <a:r>
              <a:rPr lang="ar-AE" sz="1450" b="0" i="0">
                <a:solidFill>
                  <a:srgbClr val="10243B"/>
                </a:solidFill>
                <a:latin typeface="Arial"/>
                <a:ea typeface="Arial"/>
                <a:cs typeface="Arial"/>
              </a:rPr>
              <a:t>صنّف كلاً مما يأتي إلى (حيوي / غير حيوي): سمكة – رمل الصحراء – نخلة – ضوء الشمس – قرش.</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3. أرتّب مستويات التنظيم البيئي من الكائن الحي إلى الغلاف الحيوي.</a:t>
            </a:r>
          </a:p>
        </p:txBody>
      </p:sp>
      <p:sp>
        <p:nvSpPr>
          <p:cNvPr id="10" name="TextBox 9"/>
          <p:cNvSpPr txBox="1"/>
          <p:nvPr/>
        </p:nvSpPr>
        <p:spPr>
          <a:xfrm>
            <a:off x="2590801"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مستويات التنظيم البيئي – مقدمة</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pic>
        <p:nvPicPr>
          <p:cNvPr id="12" name="clip2_levels_s1.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114800" y="1685924"/>
            <a:ext cx="6667500" cy="3143250"/>
          </a:xfrm>
          <a:prstGeom prst="rect">
            <a:avLst/>
          </a:prstGeom>
        </p:spPr>
      </p:pic>
      <p:sp>
        <p:nvSpPr>
          <p:cNvPr id="13" name="TextBox 12"/>
          <p:cNvSpPr txBox="1"/>
          <p:nvPr/>
        </p:nvSpPr>
        <p:spPr>
          <a:xfrm>
            <a:off x="2590800" y="1685924"/>
            <a:ext cx="1428750" cy="3143250"/>
          </a:xfrm>
          <a:prstGeom prst="rect">
            <a:avLst/>
          </a:prstGeom>
          <a:noFill/>
        </p:spPr>
        <p:txBody>
          <a:bodyPr wrap="square" lIns="0" tIns="0" rIns="0" bIns="0" anchor="ctr">
            <a:noAutofit/>
          </a:bodyPr>
          <a:lstStyle/>
          <a:p>
            <a:pPr algn="r" rtl="1"/>
            <a:r>
              <a:rPr lang="ar-AE" sz="1300" b="1" i="0">
                <a:solidFill>
                  <a:srgbClr val="A87B2E"/>
                </a:solidFill>
                <a:latin typeface="Arial"/>
                <a:ea typeface="Arial"/>
                <a:cs typeface="Arial"/>
              </a:rPr>
              <a:t>شاهد الهرم التنظيمي:</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3. أرتّب مستويات التنظيم البيئي من الكائن الحي إلى الغلاف الحيوي.</a:t>
            </a:r>
          </a:p>
        </p:txBody>
      </p:sp>
      <p:sp>
        <p:nvSpPr>
          <p:cNvPr id="10" name="TextBox 9"/>
          <p:cNvSpPr txBox="1"/>
          <p:nvPr/>
        </p:nvSpPr>
        <p:spPr>
          <a:xfrm>
            <a:off x="2590802"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مستويات التنظيم البيئي</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4 د</a:t>
            </a:r>
          </a:p>
        </p:txBody>
      </p:sp>
      <p:sp>
        <p:nvSpPr>
          <p:cNvPr id="12" name="Oval 11"/>
          <p:cNvSpPr/>
          <p:nvPr/>
        </p:nvSpPr>
        <p:spPr>
          <a:xfrm>
            <a:off x="11763375" y="1619250"/>
            <a:ext cx="285750" cy="285750"/>
          </a:xfrm>
          <a:prstGeom prst="ellipse">
            <a:avLst/>
          </a:prstGeom>
          <a:solidFill>
            <a:srgbClr val="3B6EB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ar-AE" sz="1300" b="1" i="0">
                <a:solidFill>
                  <a:srgbClr val="FFFFFF"/>
                </a:solidFill>
                <a:latin typeface="Arial"/>
                <a:ea typeface="Arial"/>
                <a:cs typeface="Arial"/>
              </a:rPr>
              <a:t>1</a:t>
            </a:r>
          </a:p>
        </p:txBody>
      </p:sp>
      <p:sp>
        <p:nvSpPr>
          <p:cNvPr id="13" name="Rounded Rectangle 12"/>
          <p:cNvSpPr/>
          <p:nvPr/>
        </p:nvSpPr>
        <p:spPr>
          <a:xfrm>
            <a:off x="2590800" y="1619250"/>
            <a:ext cx="9096375" cy="390525"/>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r" rtl="1"/>
            <a:r>
              <a:rPr lang="ar-AE" sz="1350" b="1" i="0">
                <a:solidFill>
                  <a:srgbClr val="3B6EB5"/>
                </a:solidFill>
                <a:latin typeface="Arial"/>
                <a:ea typeface="Arial"/>
                <a:cs typeface="Arial"/>
              </a:rPr>
              <a:t>الكائن الحي   </a:t>
            </a:r>
            <a:r>
              <a:rPr lang="ar-AE" sz="1150" b="0" i="0">
                <a:solidFill>
                  <a:srgbClr val="10243B"/>
                </a:solidFill>
                <a:latin typeface="Arial"/>
                <a:ea typeface="Arial"/>
                <a:cs typeface="Arial"/>
              </a:rPr>
              <a:t>المستوى التنظيمي الأبسط في البيئة.</a:t>
            </a:r>
          </a:p>
        </p:txBody>
      </p:sp>
      <p:sp>
        <p:nvSpPr>
          <p:cNvPr id="14" name="Oval 13"/>
          <p:cNvSpPr/>
          <p:nvPr/>
        </p:nvSpPr>
        <p:spPr>
          <a:xfrm>
            <a:off x="11763375" y="2066925"/>
            <a:ext cx="285750" cy="285750"/>
          </a:xfrm>
          <a:prstGeom prst="ellipse">
            <a:avLst/>
          </a:prstGeom>
          <a:solidFill>
            <a:srgbClr val="4F8F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ar-AE" sz="1300" b="1" i="0">
                <a:solidFill>
                  <a:srgbClr val="FFFFFF"/>
                </a:solidFill>
                <a:latin typeface="Arial"/>
                <a:ea typeface="Arial"/>
                <a:cs typeface="Arial"/>
              </a:rPr>
              <a:t>2</a:t>
            </a:r>
          </a:p>
        </p:txBody>
      </p:sp>
      <p:sp>
        <p:nvSpPr>
          <p:cNvPr id="15" name="Rounded Rectangle 14"/>
          <p:cNvSpPr/>
          <p:nvPr/>
        </p:nvSpPr>
        <p:spPr>
          <a:xfrm>
            <a:off x="2590800" y="2066925"/>
            <a:ext cx="9096375" cy="390525"/>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r" rtl="1"/>
            <a:r>
              <a:rPr lang="ar-AE" sz="1350" b="1" i="0">
                <a:solidFill>
                  <a:srgbClr val="4F8F6B"/>
                </a:solidFill>
                <a:latin typeface="Arial"/>
                <a:ea typeface="Arial"/>
                <a:cs typeface="Arial"/>
              </a:rPr>
              <a:t>الجماعة الأحيائية   </a:t>
            </a:r>
            <a:r>
              <a:rPr lang="ar-AE" sz="1150" b="0" i="0">
                <a:solidFill>
                  <a:srgbClr val="10243B"/>
                </a:solidFill>
                <a:latin typeface="Arial"/>
                <a:ea typeface="Arial"/>
                <a:cs typeface="Arial"/>
              </a:rPr>
              <a:t>أفراد النوع الواحد التي تعيش في مكان وزمان محددين.</a:t>
            </a:r>
          </a:p>
        </p:txBody>
      </p:sp>
      <p:sp>
        <p:nvSpPr>
          <p:cNvPr id="16" name="Oval 15"/>
          <p:cNvSpPr/>
          <p:nvPr/>
        </p:nvSpPr>
        <p:spPr>
          <a:xfrm>
            <a:off x="11763375" y="2514600"/>
            <a:ext cx="285750" cy="285750"/>
          </a:xfrm>
          <a:prstGeom prst="ellipse">
            <a:avLst/>
          </a:prstGeom>
          <a:solidFill>
            <a:srgbClr val="9A8A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ar-AE" sz="1300" b="1" i="0">
                <a:solidFill>
                  <a:srgbClr val="FFFFFF"/>
                </a:solidFill>
                <a:latin typeface="Arial"/>
                <a:ea typeface="Arial"/>
                <a:cs typeface="Arial"/>
              </a:rPr>
              <a:t>3</a:t>
            </a:r>
          </a:p>
        </p:txBody>
      </p:sp>
      <p:sp>
        <p:nvSpPr>
          <p:cNvPr id="17" name="Rounded Rectangle 16"/>
          <p:cNvSpPr/>
          <p:nvPr/>
        </p:nvSpPr>
        <p:spPr>
          <a:xfrm>
            <a:off x="2590800" y="2514600"/>
            <a:ext cx="9096375" cy="390525"/>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r" rtl="1"/>
            <a:r>
              <a:rPr lang="ar-AE" sz="1350" b="1" i="0">
                <a:solidFill>
                  <a:srgbClr val="9A8A2E"/>
                </a:solidFill>
                <a:latin typeface="Arial"/>
                <a:ea typeface="Arial"/>
                <a:cs typeface="Arial"/>
              </a:rPr>
              <a:t>المجتمع الأحيائي   </a:t>
            </a:r>
            <a:r>
              <a:rPr lang="ar-AE" sz="1150" b="0" i="0">
                <a:solidFill>
                  <a:srgbClr val="10243B"/>
                </a:solidFill>
                <a:latin typeface="Arial"/>
                <a:ea typeface="Arial"/>
                <a:cs typeface="Arial"/>
              </a:rPr>
              <a:t>مجموع الكائنات الحية المختلفة المتفاعلة معاً في منطقة محددة.</a:t>
            </a:r>
          </a:p>
        </p:txBody>
      </p:sp>
      <p:sp>
        <p:nvSpPr>
          <p:cNvPr id="18" name="Oval 17"/>
          <p:cNvSpPr/>
          <p:nvPr/>
        </p:nvSpPr>
        <p:spPr>
          <a:xfrm>
            <a:off x="11763375" y="2962275"/>
            <a:ext cx="285750" cy="285750"/>
          </a:xfrm>
          <a:prstGeom prst="ellipse">
            <a:avLst/>
          </a:prstGeom>
          <a:solidFill>
            <a:srgbClr val="C18A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ar-AE" sz="1300" b="1" i="0">
                <a:solidFill>
                  <a:srgbClr val="FFFFFF"/>
                </a:solidFill>
                <a:latin typeface="Arial"/>
                <a:ea typeface="Arial"/>
                <a:cs typeface="Arial"/>
              </a:rPr>
              <a:t>4</a:t>
            </a:r>
          </a:p>
        </p:txBody>
      </p:sp>
      <p:sp>
        <p:nvSpPr>
          <p:cNvPr id="19" name="Rounded Rectangle 18"/>
          <p:cNvSpPr/>
          <p:nvPr/>
        </p:nvSpPr>
        <p:spPr>
          <a:xfrm>
            <a:off x="2590800" y="2962275"/>
            <a:ext cx="9096375" cy="390525"/>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r" rtl="1"/>
            <a:r>
              <a:rPr lang="ar-AE" sz="1350" b="1" i="0">
                <a:solidFill>
                  <a:srgbClr val="C18A2E"/>
                </a:solidFill>
                <a:latin typeface="Arial"/>
                <a:ea typeface="Arial"/>
                <a:cs typeface="Arial"/>
              </a:rPr>
              <a:t>النظام البيئي   </a:t>
            </a:r>
            <a:r>
              <a:rPr lang="ar-AE" sz="1150" b="0" i="0">
                <a:solidFill>
                  <a:srgbClr val="10243B"/>
                </a:solidFill>
                <a:latin typeface="Arial"/>
                <a:ea typeface="Arial"/>
                <a:cs typeface="Arial"/>
              </a:rPr>
              <a:t>المجتمع الأحيائي + العوامل غير الحيوية معاً في مكان وزمان محددين.</a:t>
            </a:r>
          </a:p>
        </p:txBody>
      </p:sp>
      <p:sp>
        <p:nvSpPr>
          <p:cNvPr id="20" name="Oval 19"/>
          <p:cNvSpPr/>
          <p:nvPr/>
        </p:nvSpPr>
        <p:spPr>
          <a:xfrm>
            <a:off x="11763375" y="3409950"/>
            <a:ext cx="285750" cy="285750"/>
          </a:xfrm>
          <a:prstGeom prst="ellipse">
            <a:avLst/>
          </a:prstGeom>
          <a:solidFill>
            <a:srgbClr val="C15A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ar-AE" sz="1300" b="1" i="0">
                <a:solidFill>
                  <a:srgbClr val="FFFFFF"/>
                </a:solidFill>
                <a:latin typeface="Arial"/>
                <a:ea typeface="Arial"/>
                <a:cs typeface="Arial"/>
              </a:rPr>
              <a:t>5</a:t>
            </a:r>
          </a:p>
        </p:txBody>
      </p:sp>
      <p:sp>
        <p:nvSpPr>
          <p:cNvPr id="21" name="Rounded Rectangle 20"/>
          <p:cNvSpPr/>
          <p:nvPr/>
        </p:nvSpPr>
        <p:spPr>
          <a:xfrm>
            <a:off x="2590800" y="3409950"/>
            <a:ext cx="9096375" cy="390525"/>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r" rtl="1"/>
            <a:r>
              <a:rPr lang="ar-AE" sz="1350" b="1" i="0">
                <a:solidFill>
                  <a:srgbClr val="C15A2E"/>
                </a:solidFill>
                <a:latin typeface="Arial"/>
                <a:ea typeface="Arial"/>
                <a:cs typeface="Arial"/>
              </a:rPr>
              <a:t>الإقليم الأحيائي   </a:t>
            </a:r>
            <a:r>
              <a:rPr lang="ar-AE" sz="1150" b="0" i="0">
                <a:solidFill>
                  <a:srgbClr val="10243B"/>
                </a:solidFill>
                <a:latin typeface="Arial"/>
                <a:ea typeface="Arial"/>
                <a:cs typeface="Arial"/>
              </a:rPr>
              <a:t>مجموعة نظم بيئية كبرى تشترك في مناخها وكائناتها (كالغابات والصحاري).</a:t>
            </a:r>
          </a:p>
        </p:txBody>
      </p:sp>
      <p:sp>
        <p:nvSpPr>
          <p:cNvPr id="22" name="Oval 21"/>
          <p:cNvSpPr/>
          <p:nvPr/>
        </p:nvSpPr>
        <p:spPr>
          <a:xfrm>
            <a:off x="11763375" y="3857625"/>
            <a:ext cx="285750" cy="285750"/>
          </a:xfrm>
          <a:prstGeom prst="ellipse">
            <a:avLst/>
          </a:prstGeom>
          <a:solidFill>
            <a:srgbClr val="A62E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ar-AE" sz="1300" b="1" i="0">
                <a:solidFill>
                  <a:srgbClr val="FFFFFF"/>
                </a:solidFill>
                <a:latin typeface="Arial"/>
                <a:ea typeface="Arial"/>
                <a:cs typeface="Arial"/>
              </a:rPr>
              <a:t>6</a:t>
            </a:r>
          </a:p>
        </p:txBody>
      </p:sp>
      <p:sp>
        <p:nvSpPr>
          <p:cNvPr id="23" name="Rounded Rectangle 22"/>
          <p:cNvSpPr/>
          <p:nvPr/>
        </p:nvSpPr>
        <p:spPr>
          <a:xfrm>
            <a:off x="2590800" y="3857625"/>
            <a:ext cx="9096375" cy="390525"/>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r" rtl="1"/>
            <a:r>
              <a:rPr lang="ar-AE" sz="1350" b="1" i="0">
                <a:solidFill>
                  <a:srgbClr val="A62E2E"/>
                </a:solidFill>
                <a:latin typeface="Arial"/>
                <a:ea typeface="Arial"/>
                <a:cs typeface="Arial"/>
              </a:rPr>
              <a:t>الغلاف الحيوي   </a:t>
            </a:r>
            <a:r>
              <a:rPr lang="ar-AE" sz="1150" b="0" i="0">
                <a:solidFill>
                  <a:srgbClr val="10243B"/>
                </a:solidFill>
                <a:latin typeface="Arial"/>
                <a:ea typeface="Arial"/>
                <a:cs typeface="Arial"/>
              </a:rPr>
              <a:t>أوسع مستويات التنظيم وأكثرها شمولاً؛ يضم كل الأقاليم الأحيائية.</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ChangeArrowheads="1"/>
          </p:cNvSpPr>
          <p:nvPr/>
        </p:nvSpPr>
        <p:spPr bwMode="auto">
          <a:xfrm>
            <a:off x="3952529" y="87570"/>
            <a:ext cx="4176464" cy="769441"/>
          </a:xfrm>
          <a:prstGeom prst="rect">
            <a:avLst/>
          </a:prstGeom>
          <a:solidFill>
            <a:srgbClr val="92D050"/>
          </a:solidFill>
          <a:ln w="9525">
            <a:noFill/>
            <a:miter lim="800000"/>
            <a:headEnd/>
            <a:tailEnd/>
          </a:ln>
        </p:spPr>
        <p:txBody>
          <a:bodyPr wrap="square" anchor="ctr">
            <a:spAutoFit/>
          </a:bodyPr>
          <a:lstStyle/>
          <a:p>
            <a:pPr algn="ctr"/>
            <a:r>
              <a:rPr lang="ar-EG" sz="4400" dirty="0">
                <a:cs typeface="PT Simple Bold Ruled" pitchFamily="2" charset="-78"/>
              </a:rPr>
              <a:t>مستويات التنظيم</a:t>
            </a:r>
            <a:endParaRPr lang="en-US" sz="4400" dirty="0">
              <a:cs typeface="PT Simple Bold Ruled" pitchFamily="2" charset="-78"/>
            </a:endParaRPr>
          </a:p>
        </p:txBody>
      </p:sp>
      <p:sp>
        <p:nvSpPr>
          <p:cNvPr id="11" name="Rectangle 2"/>
          <p:cNvSpPr>
            <a:spLocks noChangeArrowheads="1"/>
          </p:cNvSpPr>
          <p:nvPr/>
        </p:nvSpPr>
        <p:spPr bwMode="auto">
          <a:xfrm>
            <a:off x="2793545" y="914587"/>
            <a:ext cx="6987628" cy="707886"/>
          </a:xfrm>
          <a:prstGeom prst="rect">
            <a:avLst/>
          </a:prstGeom>
          <a:solidFill>
            <a:srgbClr val="FFFF00"/>
          </a:solidFill>
          <a:ln w="9525">
            <a:noFill/>
            <a:miter lim="800000"/>
            <a:headEnd/>
            <a:tailEnd/>
          </a:ln>
        </p:spPr>
        <p:txBody>
          <a:bodyPr wrap="square" anchor="ctr">
            <a:spAutoFit/>
          </a:bodyPr>
          <a:lstStyle/>
          <a:p>
            <a:pPr marL="457200" indent="-457200">
              <a:buFont typeface="Arial" panose="020B0604020202020204" pitchFamily="34" charset="0"/>
              <a:buChar char="•"/>
            </a:pPr>
            <a:r>
              <a:rPr lang="ar-AE" sz="4000" dirty="0">
                <a:cs typeface="MCS Erwah S_U normal." pitchFamily="2" charset="-78"/>
              </a:rPr>
              <a:t>مرتبة </a:t>
            </a:r>
            <a:r>
              <a:rPr lang="ar-EG" sz="4000" dirty="0">
                <a:cs typeface="MCS Erwah S_U normal." pitchFamily="2" charset="-78"/>
              </a:rPr>
              <a:t>من الأكبر إلى الأصغر تنازلياً:</a:t>
            </a:r>
            <a:endParaRPr lang="en-US" sz="4000" dirty="0">
              <a:cs typeface="MCS Erwah S_U normal." pitchFamily="2" charset="-78"/>
            </a:endParaRPr>
          </a:p>
        </p:txBody>
      </p:sp>
      <p:sp>
        <p:nvSpPr>
          <p:cNvPr id="13" name="Rectangle 2"/>
          <p:cNvSpPr>
            <a:spLocks noChangeArrowheads="1"/>
          </p:cNvSpPr>
          <p:nvPr/>
        </p:nvSpPr>
        <p:spPr bwMode="auto">
          <a:xfrm>
            <a:off x="6888088" y="3397353"/>
            <a:ext cx="2489894" cy="523220"/>
          </a:xfrm>
          <a:prstGeom prst="rect">
            <a:avLst/>
          </a:prstGeom>
          <a:solidFill>
            <a:schemeClr val="bg1"/>
          </a:solidFill>
          <a:ln w="9525">
            <a:noFill/>
            <a:miter lim="800000"/>
            <a:headEnd/>
            <a:tailEnd/>
          </a:ln>
        </p:spPr>
        <p:txBody>
          <a:bodyPr wrap="square" anchor="ctr">
            <a:spAutoFit/>
          </a:bodyPr>
          <a:lstStyle/>
          <a:p>
            <a:r>
              <a:rPr lang="ar-AE" sz="2800" b="1" dirty="0">
                <a:cs typeface="MCS Nask S_U normal." pitchFamily="2" charset="-78"/>
              </a:rPr>
              <a:t>الإقليم</a:t>
            </a:r>
            <a:r>
              <a:rPr lang="ar-EG" sz="2800" b="1" dirty="0">
                <a:cs typeface="MCS Nask S_U normal." pitchFamily="2" charset="-78"/>
              </a:rPr>
              <a:t> الأحيائي</a:t>
            </a:r>
            <a:endParaRPr lang="en-US" sz="2800" b="1" dirty="0">
              <a:cs typeface="MCS Nask S_U normal." pitchFamily="2" charset="-78"/>
            </a:endParaRPr>
          </a:p>
        </p:txBody>
      </p:sp>
      <p:sp>
        <p:nvSpPr>
          <p:cNvPr id="15" name="Rectangle 2"/>
          <p:cNvSpPr>
            <a:spLocks noChangeArrowheads="1"/>
          </p:cNvSpPr>
          <p:nvPr/>
        </p:nvSpPr>
        <p:spPr bwMode="auto">
          <a:xfrm>
            <a:off x="5735961" y="4099140"/>
            <a:ext cx="1916113" cy="584775"/>
          </a:xfrm>
          <a:prstGeom prst="rect">
            <a:avLst/>
          </a:prstGeom>
          <a:solidFill>
            <a:schemeClr val="bg1"/>
          </a:solidFill>
          <a:ln w="9525">
            <a:noFill/>
            <a:miter lim="800000"/>
            <a:headEnd/>
            <a:tailEnd/>
          </a:ln>
        </p:spPr>
        <p:txBody>
          <a:bodyPr anchor="ctr">
            <a:spAutoFit/>
          </a:bodyPr>
          <a:lstStyle/>
          <a:p>
            <a:r>
              <a:rPr lang="ar-AE" sz="3200" b="1" dirty="0">
                <a:solidFill>
                  <a:srgbClr val="FF0000"/>
                </a:solidFill>
                <a:cs typeface="MCS Nask S_U normal." pitchFamily="2" charset="-78"/>
              </a:rPr>
              <a:t>النظم البيئية</a:t>
            </a:r>
            <a:endParaRPr lang="en-US" sz="3200" b="1" dirty="0">
              <a:solidFill>
                <a:srgbClr val="FF0000"/>
              </a:solidFill>
              <a:cs typeface="MCS Nask S_U normal." pitchFamily="2" charset="-78"/>
            </a:endParaRPr>
          </a:p>
        </p:txBody>
      </p:sp>
      <p:sp>
        <p:nvSpPr>
          <p:cNvPr id="16" name="Rectangle 2"/>
          <p:cNvSpPr>
            <a:spLocks noChangeArrowheads="1"/>
          </p:cNvSpPr>
          <p:nvPr/>
        </p:nvSpPr>
        <p:spPr bwMode="auto">
          <a:xfrm>
            <a:off x="4079776" y="4849996"/>
            <a:ext cx="2549152" cy="523220"/>
          </a:xfrm>
          <a:prstGeom prst="rect">
            <a:avLst/>
          </a:prstGeom>
          <a:solidFill>
            <a:schemeClr val="bg1"/>
          </a:solidFill>
          <a:ln w="9525">
            <a:noFill/>
            <a:miter lim="800000"/>
            <a:headEnd/>
            <a:tailEnd/>
          </a:ln>
        </p:spPr>
        <p:txBody>
          <a:bodyPr wrap="square" anchor="ctr">
            <a:spAutoFit/>
          </a:bodyPr>
          <a:lstStyle/>
          <a:p>
            <a:r>
              <a:rPr lang="ar-AE" sz="2800" b="1" dirty="0">
                <a:cs typeface="MCS Nask S_U normal." pitchFamily="2" charset="-78"/>
              </a:rPr>
              <a:t>المجتمع الأحيائي</a:t>
            </a:r>
            <a:endParaRPr lang="en-US" sz="2800" b="1" dirty="0">
              <a:cs typeface="MCS Nask S_U normal." pitchFamily="2" charset="-78"/>
            </a:endParaRPr>
          </a:p>
        </p:txBody>
      </p:sp>
      <p:sp>
        <p:nvSpPr>
          <p:cNvPr id="17" name="Rectangle 2"/>
          <p:cNvSpPr>
            <a:spLocks noChangeArrowheads="1"/>
          </p:cNvSpPr>
          <p:nvPr/>
        </p:nvSpPr>
        <p:spPr bwMode="auto">
          <a:xfrm>
            <a:off x="2711624" y="5569422"/>
            <a:ext cx="2357438" cy="523875"/>
          </a:xfrm>
          <a:prstGeom prst="rect">
            <a:avLst/>
          </a:prstGeom>
          <a:solidFill>
            <a:schemeClr val="bg1"/>
          </a:solidFill>
          <a:ln w="9525">
            <a:noFill/>
            <a:miter lim="800000"/>
            <a:headEnd/>
            <a:tailEnd/>
          </a:ln>
        </p:spPr>
        <p:txBody>
          <a:bodyPr anchor="ctr">
            <a:spAutoFit/>
          </a:bodyPr>
          <a:lstStyle/>
          <a:p>
            <a:r>
              <a:rPr lang="ar-AE" sz="2800" b="1" dirty="0">
                <a:solidFill>
                  <a:srgbClr val="FF0000"/>
                </a:solidFill>
                <a:cs typeface="MCS Nask S_U normal." pitchFamily="2" charset="-78"/>
              </a:rPr>
              <a:t>الجماعة الأحيائية</a:t>
            </a:r>
            <a:endParaRPr lang="en-US" sz="2800" b="1" dirty="0">
              <a:solidFill>
                <a:srgbClr val="FF0000"/>
              </a:solidFill>
              <a:cs typeface="MCS Nask S_U normal." pitchFamily="2" charset="-78"/>
            </a:endParaRPr>
          </a:p>
        </p:txBody>
      </p:sp>
      <p:sp>
        <p:nvSpPr>
          <p:cNvPr id="18" name="Rectangle 2"/>
          <p:cNvSpPr>
            <a:spLocks noChangeArrowheads="1"/>
          </p:cNvSpPr>
          <p:nvPr/>
        </p:nvSpPr>
        <p:spPr bwMode="auto">
          <a:xfrm>
            <a:off x="1454832" y="6150873"/>
            <a:ext cx="2192897" cy="523220"/>
          </a:xfrm>
          <a:prstGeom prst="rect">
            <a:avLst/>
          </a:prstGeom>
          <a:solidFill>
            <a:schemeClr val="bg1"/>
          </a:solidFill>
          <a:ln w="9525">
            <a:noFill/>
            <a:miter lim="800000"/>
            <a:headEnd/>
            <a:tailEnd/>
          </a:ln>
        </p:spPr>
        <p:txBody>
          <a:bodyPr wrap="square" anchor="ctr">
            <a:spAutoFit/>
          </a:bodyPr>
          <a:lstStyle/>
          <a:p>
            <a:r>
              <a:rPr lang="ar-AE" sz="2800" b="1" dirty="0">
                <a:cs typeface="MCS Nask S_U normal." pitchFamily="2" charset="-78"/>
              </a:rPr>
              <a:t>الكائن الحي</a:t>
            </a:r>
            <a:endParaRPr lang="en-US" sz="2800" b="1" dirty="0">
              <a:cs typeface="MCS Nask S_U normal." pitchFamily="2" charset="-78"/>
            </a:endParaRPr>
          </a:p>
        </p:txBody>
      </p:sp>
      <p:sp>
        <p:nvSpPr>
          <p:cNvPr id="19" name="Rectangle 2"/>
          <p:cNvSpPr>
            <a:spLocks noChangeArrowheads="1"/>
          </p:cNvSpPr>
          <p:nvPr/>
        </p:nvSpPr>
        <p:spPr bwMode="auto">
          <a:xfrm>
            <a:off x="8184232" y="2636912"/>
            <a:ext cx="2489894" cy="523220"/>
          </a:xfrm>
          <a:prstGeom prst="rect">
            <a:avLst/>
          </a:prstGeom>
          <a:solidFill>
            <a:schemeClr val="bg1"/>
          </a:solidFill>
          <a:ln w="9525">
            <a:noFill/>
            <a:miter lim="800000"/>
            <a:headEnd/>
            <a:tailEnd/>
          </a:ln>
        </p:spPr>
        <p:txBody>
          <a:bodyPr wrap="square" anchor="ctr">
            <a:spAutoFit/>
          </a:bodyPr>
          <a:lstStyle/>
          <a:p>
            <a:r>
              <a:rPr lang="ar-EG" sz="2800" b="1" dirty="0">
                <a:solidFill>
                  <a:srgbClr val="FF0000"/>
                </a:solidFill>
                <a:cs typeface="MCS Nask S_U normal." pitchFamily="2" charset="-78"/>
              </a:rPr>
              <a:t>الغلاف </a:t>
            </a:r>
            <a:r>
              <a:rPr lang="ar-AE" sz="2800" b="1" dirty="0">
                <a:solidFill>
                  <a:srgbClr val="FF0000"/>
                </a:solidFill>
                <a:cs typeface="MCS Nask S_U normal." pitchFamily="2" charset="-78"/>
              </a:rPr>
              <a:t>الحيوي</a:t>
            </a:r>
            <a:endParaRPr lang="en-US" sz="2800" b="1" dirty="0">
              <a:solidFill>
                <a:srgbClr val="FF0000"/>
              </a:solidFill>
              <a:cs typeface="MCS Nask S_U normal." pitchFamily="2" charset="-78"/>
            </a:endParaRPr>
          </a:p>
        </p:txBody>
      </p:sp>
      <p:pic>
        <p:nvPicPr>
          <p:cNvPr id="10" name="Picture 15" descr="36B61806">
            <a:extLst>
              <a:ext uri="{FF2B5EF4-FFF2-40B4-BE49-F238E27FC236}">
                <a16:creationId xmlns:a16="http://schemas.microsoft.com/office/drawing/2014/main" id="{472506EA-5BDF-4D9F-BDA0-CA73403D6E80}"/>
              </a:ext>
            </a:extLst>
          </p:cNvPr>
          <p:cNvPicPr>
            <a:picLocks noChangeAspect="1" noChangeArrowheads="1"/>
          </p:cNvPicPr>
          <p:nvPr/>
        </p:nvPicPr>
        <p:blipFill>
          <a:blip r:embed="rId3" cstate="print"/>
          <a:srcRect/>
          <a:stretch>
            <a:fillRect/>
          </a:stretch>
        </p:blipFill>
        <p:spPr bwMode="auto">
          <a:xfrm>
            <a:off x="1517874" y="1788553"/>
            <a:ext cx="8875805" cy="4885539"/>
          </a:xfrm>
          <a:prstGeom prst="rect">
            <a:avLst/>
          </a:prstGeom>
          <a:noFill/>
          <a:ln w="9525">
            <a:noFill/>
            <a:miter lim="800000"/>
            <a:headEnd/>
            <a:tailEnd/>
          </a:ln>
        </p:spPr>
      </p:pic>
    </p:spTree>
    <p:extLst>
      <p:ext uri="{BB962C8B-B14F-4D97-AF65-F5344CB8AC3E}">
        <p14:creationId xmlns:p14="http://schemas.microsoft.com/office/powerpoint/2010/main" val="36222016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9" presetClass="entr" presetSubtype="1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p:cTn id="55" dur="5000" fill="hold"/>
                                        <p:tgtEl>
                                          <p:spTgt spid="10"/>
                                        </p:tgtEl>
                                        <p:attrNameLst>
                                          <p:attrName>ppt_w</p:attrName>
                                        </p:attrNameLst>
                                      </p:cBhvr>
                                      <p:tavLst>
                                        <p:tav tm="0" fmla="#ppt_w*sin(2.5*pi*$)">
                                          <p:val>
                                            <p:fltVal val="0"/>
                                          </p:val>
                                        </p:tav>
                                        <p:tav tm="100000">
                                          <p:val>
                                            <p:fltVal val="1"/>
                                          </p:val>
                                        </p:tav>
                                      </p:tavLst>
                                    </p:anim>
                                    <p:anim calcmode="lin" valueType="num">
                                      <p:cBhvr>
                                        <p:cTn id="56" dur="50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5" grpId="0" animBg="1"/>
      <p:bldP spid="16" grpId="0" animBg="1"/>
      <p:bldP spid="17"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4" name="Picture 10"/>
          <p:cNvPicPr>
            <a:picLocks noChangeAspect="1" noChangeArrowheads="1"/>
          </p:cNvPicPr>
          <p:nvPr/>
        </p:nvPicPr>
        <p:blipFill>
          <a:blip r:embed="rId3" cstate="print"/>
          <a:srcRect/>
          <a:stretch>
            <a:fillRect/>
          </a:stretch>
        </p:blipFill>
        <p:spPr bwMode="auto">
          <a:xfrm>
            <a:off x="1524001" y="4697588"/>
            <a:ext cx="3154363" cy="2060575"/>
          </a:xfrm>
          <a:prstGeom prst="rect">
            <a:avLst/>
          </a:prstGeom>
          <a:noFill/>
          <a:ln w="9525">
            <a:noFill/>
            <a:miter lim="800000"/>
            <a:headEnd/>
            <a:tailEnd/>
          </a:ln>
        </p:spPr>
      </p:pic>
      <p:pic>
        <p:nvPicPr>
          <p:cNvPr id="6153" name="Picture 9"/>
          <p:cNvPicPr>
            <a:picLocks noChangeAspect="1" noChangeArrowheads="1"/>
          </p:cNvPicPr>
          <p:nvPr/>
        </p:nvPicPr>
        <p:blipFill>
          <a:blip r:embed="rId4" cstate="print"/>
          <a:srcRect/>
          <a:stretch>
            <a:fillRect/>
          </a:stretch>
        </p:blipFill>
        <p:spPr bwMode="auto">
          <a:xfrm>
            <a:off x="1511300" y="2548112"/>
            <a:ext cx="3289300" cy="2076450"/>
          </a:xfrm>
          <a:prstGeom prst="rect">
            <a:avLst/>
          </a:prstGeom>
          <a:noFill/>
          <a:ln w="9525">
            <a:noFill/>
            <a:miter lim="800000"/>
            <a:headEnd/>
            <a:tailEnd/>
          </a:ln>
        </p:spPr>
      </p:pic>
      <p:pic>
        <p:nvPicPr>
          <p:cNvPr id="6152" name="Picture 8"/>
          <p:cNvPicPr>
            <a:picLocks noChangeAspect="1" noChangeArrowheads="1"/>
          </p:cNvPicPr>
          <p:nvPr/>
        </p:nvPicPr>
        <p:blipFill>
          <a:blip r:embed="rId5" cstate="print"/>
          <a:srcRect/>
          <a:stretch>
            <a:fillRect/>
          </a:stretch>
        </p:blipFill>
        <p:spPr bwMode="auto">
          <a:xfrm>
            <a:off x="1524000" y="44624"/>
            <a:ext cx="3276600" cy="2193152"/>
          </a:xfrm>
          <a:prstGeom prst="rect">
            <a:avLst/>
          </a:prstGeom>
          <a:noFill/>
          <a:ln w="9525">
            <a:noFill/>
            <a:miter lim="800000"/>
            <a:headEnd/>
            <a:tailEnd/>
          </a:ln>
        </p:spPr>
      </p:pic>
      <p:sp>
        <p:nvSpPr>
          <p:cNvPr id="2" name="عنوان 1"/>
          <p:cNvSpPr>
            <a:spLocks noGrp="1"/>
          </p:cNvSpPr>
          <p:nvPr>
            <p:ph type="ctrTitle"/>
          </p:nvPr>
        </p:nvSpPr>
        <p:spPr>
          <a:xfrm>
            <a:off x="4800601" y="1332781"/>
            <a:ext cx="2519535" cy="885463"/>
          </a:xfrm>
          <a:solidFill>
            <a:srgbClr val="FFFF00"/>
          </a:solidFill>
          <a:ln w="28575">
            <a:solidFill>
              <a:srgbClr val="FF0000"/>
            </a:solidFill>
          </a:ln>
        </p:spPr>
        <p:txBody>
          <a:bodyPr/>
          <a:lstStyle/>
          <a:p>
            <a:r>
              <a:rPr lang="ar-AE" sz="2800" b="1" dirty="0">
                <a:cs typeface="PT Bold Heading" panose="02010400000000000000" pitchFamily="2" charset="-78"/>
              </a:rPr>
              <a:t>المجتمع الأحيائي</a:t>
            </a:r>
            <a:endParaRPr lang="en-US" sz="2800" b="1" dirty="0">
              <a:solidFill>
                <a:srgbClr val="FF0000"/>
              </a:solidFill>
              <a:cs typeface="PT Bold Heading" panose="02010400000000000000" pitchFamily="2" charset="-78"/>
            </a:endParaRPr>
          </a:p>
        </p:txBody>
      </p:sp>
      <p:sp>
        <p:nvSpPr>
          <p:cNvPr id="5" name="عنوان 1"/>
          <p:cNvSpPr txBox="1">
            <a:spLocks/>
          </p:cNvSpPr>
          <p:nvPr/>
        </p:nvSpPr>
        <p:spPr bwMode="auto">
          <a:xfrm>
            <a:off x="4804861" y="4023230"/>
            <a:ext cx="2515275" cy="674356"/>
          </a:xfrm>
          <a:prstGeom prst="rect">
            <a:avLst/>
          </a:prstGeom>
          <a:solidFill>
            <a:srgbClr val="FFFF00"/>
          </a:solidFill>
          <a:ln w="28575">
            <a:solidFill>
              <a:srgbClr val="FF0000"/>
            </a:solidFill>
            <a:miter lim="800000"/>
            <a:headEnd/>
            <a:tailEnd/>
          </a:ln>
        </p:spPr>
        <p:txBody>
          <a:bodyPr anchor="ctr"/>
          <a:lstStyle/>
          <a:p>
            <a:pPr algn="ctr" defTabSz="914400" rtl="1" eaLnBrk="0" fontAlgn="base" hangingPunct="0">
              <a:spcBef>
                <a:spcPct val="0"/>
              </a:spcBef>
              <a:spcAft>
                <a:spcPct val="0"/>
              </a:spcAft>
              <a:defRPr/>
            </a:pPr>
            <a:r>
              <a:rPr lang="ar-AE" sz="2800" kern="0" dirty="0">
                <a:solidFill>
                  <a:srgbClr val="000000"/>
                </a:solidFill>
                <a:latin typeface="Times New Roman"/>
                <a:cs typeface="PT Bold Heading" panose="02010400000000000000" pitchFamily="2" charset="-78"/>
              </a:rPr>
              <a:t>الجماعة </a:t>
            </a:r>
            <a:r>
              <a:rPr lang="ar-AE" sz="2800" kern="0" dirty="0" err="1">
                <a:solidFill>
                  <a:srgbClr val="000000"/>
                </a:solidFill>
                <a:latin typeface="Times New Roman"/>
                <a:cs typeface="PT Bold Heading" panose="02010400000000000000" pitchFamily="2" charset="-78"/>
              </a:rPr>
              <a:t>الأحيائية</a:t>
            </a:r>
            <a:endParaRPr lang="en-US" sz="2800" kern="0" dirty="0">
              <a:solidFill>
                <a:srgbClr val="FF0000"/>
              </a:solidFill>
              <a:latin typeface="Times New Roman"/>
              <a:cs typeface="PT Bold Heading" panose="02010400000000000000" pitchFamily="2" charset="-78"/>
            </a:endParaRPr>
          </a:p>
        </p:txBody>
      </p:sp>
      <p:sp>
        <p:nvSpPr>
          <p:cNvPr id="6" name="عنوان فرعي 2"/>
          <p:cNvSpPr txBox="1">
            <a:spLocks/>
          </p:cNvSpPr>
          <p:nvPr/>
        </p:nvSpPr>
        <p:spPr bwMode="auto">
          <a:xfrm>
            <a:off x="5519936" y="332656"/>
            <a:ext cx="4892080" cy="500062"/>
          </a:xfrm>
          <a:prstGeom prst="rect">
            <a:avLst/>
          </a:prstGeom>
          <a:solidFill>
            <a:schemeClr val="bg1"/>
          </a:solidFill>
          <a:ln w="9525">
            <a:noFill/>
            <a:miter lim="800000"/>
            <a:headEnd/>
            <a:tailEnd/>
          </a:ln>
        </p:spPr>
        <p:txBody>
          <a:bodyPr/>
          <a:lstStyle/>
          <a:p>
            <a:pPr algn="r" defTabSz="914400" rtl="1" fontAlgn="base">
              <a:spcBef>
                <a:spcPct val="0"/>
              </a:spcBef>
              <a:spcAft>
                <a:spcPct val="0"/>
              </a:spcAft>
            </a:pPr>
            <a:r>
              <a:rPr lang="ar-EG" sz="2400" b="1" dirty="0">
                <a:solidFill>
                  <a:srgbClr val="000000"/>
                </a:solidFill>
                <a:latin typeface="Times New Roman" pitchFamily="18" charset="0"/>
                <a:cs typeface="Arial" pitchFamily="34" charset="0"/>
              </a:rPr>
              <a:t>هو مجموع الكائنات الحية المتفاعلة مع بعضها في منطقة محددة.</a:t>
            </a:r>
            <a:endParaRPr lang="en-US" sz="2400" b="1" dirty="0">
              <a:solidFill>
                <a:srgbClr val="000000"/>
              </a:solidFill>
              <a:latin typeface="Times New Roman" pitchFamily="18" charset="0"/>
              <a:cs typeface="Arial" pitchFamily="34" charset="0"/>
            </a:endParaRPr>
          </a:p>
        </p:txBody>
      </p:sp>
      <p:sp>
        <p:nvSpPr>
          <p:cNvPr id="7" name="عنوان فرعي 2"/>
          <p:cNvSpPr txBox="1">
            <a:spLocks/>
          </p:cNvSpPr>
          <p:nvPr/>
        </p:nvSpPr>
        <p:spPr bwMode="auto">
          <a:xfrm>
            <a:off x="5544489" y="3167238"/>
            <a:ext cx="4860032" cy="500062"/>
          </a:xfrm>
          <a:prstGeom prst="rect">
            <a:avLst/>
          </a:prstGeom>
          <a:solidFill>
            <a:schemeClr val="bg1"/>
          </a:solidFill>
          <a:ln w="9525">
            <a:noFill/>
            <a:miter lim="800000"/>
            <a:headEnd/>
            <a:tailEnd/>
          </a:ln>
        </p:spPr>
        <p:txBody>
          <a:bodyPr/>
          <a:lstStyle/>
          <a:p>
            <a:pPr algn="r" defTabSz="914400" rtl="1" fontAlgn="base">
              <a:spcBef>
                <a:spcPct val="0"/>
              </a:spcBef>
              <a:spcAft>
                <a:spcPct val="0"/>
              </a:spcAft>
            </a:pPr>
            <a:r>
              <a:rPr lang="ar-EG" sz="2400" b="1" dirty="0">
                <a:solidFill>
                  <a:srgbClr val="000000"/>
                </a:solidFill>
                <a:latin typeface="Times New Roman" pitchFamily="18" charset="0"/>
                <a:cs typeface="Arial" pitchFamily="34" charset="0"/>
              </a:rPr>
              <a:t>هي أفراد النوع الواحد من التي تعيش في مكان محدد في وقت محدد.</a:t>
            </a:r>
            <a:endParaRPr lang="en-US" sz="2400" b="1" dirty="0">
              <a:solidFill>
                <a:srgbClr val="000000"/>
              </a:solidFill>
              <a:latin typeface="Times New Roman" pitchFamily="18" charset="0"/>
              <a:cs typeface="Arial" pitchFamily="34" charset="0"/>
            </a:endParaRPr>
          </a:p>
        </p:txBody>
      </p:sp>
      <p:sp>
        <p:nvSpPr>
          <p:cNvPr id="8" name="عنوان 1"/>
          <p:cNvSpPr txBox="1">
            <a:spLocks/>
          </p:cNvSpPr>
          <p:nvPr/>
        </p:nvSpPr>
        <p:spPr bwMode="auto">
          <a:xfrm>
            <a:off x="4655841" y="6027564"/>
            <a:ext cx="1921693" cy="785813"/>
          </a:xfrm>
          <a:prstGeom prst="rect">
            <a:avLst/>
          </a:prstGeom>
          <a:solidFill>
            <a:srgbClr val="FFFF00"/>
          </a:solidFill>
          <a:ln w="28575">
            <a:solidFill>
              <a:srgbClr val="FF0000"/>
            </a:solidFill>
            <a:miter lim="800000"/>
            <a:headEnd/>
            <a:tailEnd/>
          </a:ln>
        </p:spPr>
        <p:txBody>
          <a:bodyPr anchor="ctr"/>
          <a:lstStyle/>
          <a:p>
            <a:pPr algn="ctr" defTabSz="914400" rtl="1" eaLnBrk="0" fontAlgn="base" hangingPunct="0">
              <a:spcBef>
                <a:spcPct val="0"/>
              </a:spcBef>
              <a:spcAft>
                <a:spcPct val="0"/>
              </a:spcAft>
              <a:defRPr/>
            </a:pPr>
            <a:r>
              <a:rPr lang="ar-AE" sz="2800" b="1" kern="0" dirty="0">
                <a:solidFill>
                  <a:srgbClr val="000000"/>
                </a:solidFill>
                <a:latin typeface="Times New Roman"/>
                <a:cs typeface="PT Bold Heading" panose="02010400000000000000" pitchFamily="2" charset="-78"/>
              </a:rPr>
              <a:t>الكائن الحي</a:t>
            </a:r>
            <a:endParaRPr lang="en-US" sz="2800" b="1" kern="0" dirty="0">
              <a:solidFill>
                <a:srgbClr val="FF0000"/>
              </a:solidFill>
              <a:latin typeface="Times New Roman"/>
              <a:cs typeface="PT Bold Heading" panose="02010400000000000000" pitchFamily="2" charset="-78"/>
            </a:endParaRPr>
          </a:p>
        </p:txBody>
      </p:sp>
      <p:sp>
        <p:nvSpPr>
          <p:cNvPr id="9" name="عنوان فرعي 2"/>
          <p:cNvSpPr txBox="1">
            <a:spLocks/>
          </p:cNvSpPr>
          <p:nvPr/>
        </p:nvSpPr>
        <p:spPr bwMode="auto">
          <a:xfrm>
            <a:off x="5807968" y="5472287"/>
            <a:ext cx="4657626" cy="500063"/>
          </a:xfrm>
          <a:prstGeom prst="rect">
            <a:avLst/>
          </a:prstGeom>
          <a:solidFill>
            <a:schemeClr val="bg1"/>
          </a:solidFill>
          <a:ln w="9525">
            <a:noFill/>
            <a:miter lim="800000"/>
            <a:headEnd/>
            <a:tailEnd/>
          </a:ln>
        </p:spPr>
        <p:txBody>
          <a:bodyPr/>
          <a:lstStyle/>
          <a:p>
            <a:pPr algn="r" defTabSz="914400" rtl="1" fontAlgn="base">
              <a:spcBef>
                <a:spcPct val="0"/>
              </a:spcBef>
              <a:spcAft>
                <a:spcPct val="0"/>
              </a:spcAft>
            </a:pPr>
            <a:r>
              <a:rPr lang="ar-EG" sz="2400" b="1" dirty="0">
                <a:solidFill>
                  <a:srgbClr val="000000"/>
                </a:solidFill>
                <a:latin typeface="Times New Roman" pitchFamily="18" charset="0"/>
                <a:cs typeface="Arial" pitchFamily="34" charset="0"/>
              </a:rPr>
              <a:t>هو المستوى التنظيمي الأبسط في البيئة .</a:t>
            </a:r>
            <a:endParaRPr lang="en-US" sz="2400" b="1" dirty="0">
              <a:solidFill>
                <a:srgbClr val="000000"/>
              </a:solidFill>
              <a:latin typeface="Times New Roman" pitchFamily="18"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54"/>
                                        </p:tgtEl>
                                        <p:attrNameLst>
                                          <p:attrName>style.visibility</p:attrName>
                                        </p:attrNameLst>
                                      </p:cBhvr>
                                      <p:to>
                                        <p:strVal val="visible"/>
                                      </p:to>
                                    </p:set>
                                    <p:animEffect transition="in" filter="fade">
                                      <p:cBhvr>
                                        <p:cTn id="7" dur="1000"/>
                                        <p:tgtEl>
                                          <p:spTgt spid="6154"/>
                                        </p:tgtEl>
                                      </p:cBhvr>
                                    </p:animEffect>
                                    <p:anim calcmode="lin" valueType="num">
                                      <p:cBhvr>
                                        <p:cTn id="8" dur="1000" fill="hold"/>
                                        <p:tgtEl>
                                          <p:spTgt spid="6154"/>
                                        </p:tgtEl>
                                        <p:attrNameLst>
                                          <p:attrName>ppt_x</p:attrName>
                                        </p:attrNameLst>
                                      </p:cBhvr>
                                      <p:tavLst>
                                        <p:tav tm="0">
                                          <p:val>
                                            <p:strVal val="#ppt_x"/>
                                          </p:val>
                                        </p:tav>
                                        <p:tav tm="100000">
                                          <p:val>
                                            <p:strVal val="#ppt_x"/>
                                          </p:val>
                                        </p:tav>
                                      </p:tavLst>
                                    </p:anim>
                                    <p:anim calcmode="lin" valueType="num">
                                      <p:cBhvr>
                                        <p:cTn id="9" dur="1000" fill="hold"/>
                                        <p:tgtEl>
                                          <p:spTgt spid="615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153"/>
                                        </p:tgtEl>
                                        <p:attrNameLst>
                                          <p:attrName>style.visibility</p:attrName>
                                        </p:attrNameLst>
                                      </p:cBhvr>
                                      <p:to>
                                        <p:strVal val="visible"/>
                                      </p:to>
                                    </p:set>
                                    <p:animEffect transition="in" filter="fade">
                                      <p:cBhvr>
                                        <p:cTn id="28" dur="500"/>
                                        <p:tgtEl>
                                          <p:spTgt spid="615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6152"/>
                                        </p:tgtEl>
                                        <p:attrNameLst>
                                          <p:attrName>style.visibility</p:attrName>
                                        </p:attrNameLst>
                                      </p:cBhvr>
                                      <p:to>
                                        <p:strVal val="visible"/>
                                      </p:to>
                                    </p:set>
                                    <p:animEffect transition="in" filter="circle(in)">
                                      <p:cBhvr>
                                        <p:cTn id="43" dur="2000"/>
                                        <p:tgtEl>
                                          <p:spTgt spid="6152"/>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circle(in)">
                                      <p:cBhvr>
                                        <p:cTn id="48" dur="2000"/>
                                        <p:tgtEl>
                                          <p:spTgt spid="2"/>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circle(in)">
                                      <p:cBhvr>
                                        <p:cTn id="5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7320136" y="44625"/>
            <a:ext cx="3087190" cy="648023"/>
          </a:xfrm>
          <a:solidFill>
            <a:srgbClr val="FFFF00"/>
          </a:solidFill>
          <a:ln>
            <a:solidFill>
              <a:srgbClr val="FF0000"/>
            </a:solidFill>
          </a:ln>
        </p:spPr>
        <p:txBody>
          <a:bodyPr/>
          <a:lstStyle/>
          <a:p>
            <a:pPr>
              <a:defRPr/>
            </a:pPr>
            <a:r>
              <a:rPr lang="ar-AE" sz="3600" dirty="0">
                <a:solidFill>
                  <a:schemeClr val="tx1"/>
                </a:solidFill>
                <a:cs typeface="PT Bold Heading" panose="02010400000000000000" pitchFamily="2" charset="-78"/>
              </a:rPr>
              <a:t>النظام البيئي</a:t>
            </a:r>
            <a:endParaRPr lang="en-US" sz="3600" dirty="0">
              <a:solidFill>
                <a:schemeClr val="tx1"/>
              </a:solidFill>
              <a:cs typeface="PT Bold Heading" panose="02010400000000000000" pitchFamily="2" charset="-78"/>
            </a:endParaRPr>
          </a:p>
        </p:txBody>
      </p:sp>
      <p:sp>
        <p:nvSpPr>
          <p:cNvPr id="7" name="عنوان فرعي 2"/>
          <p:cNvSpPr txBox="1">
            <a:spLocks/>
          </p:cNvSpPr>
          <p:nvPr/>
        </p:nvSpPr>
        <p:spPr bwMode="auto">
          <a:xfrm>
            <a:off x="1662882" y="611982"/>
            <a:ext cx="6017295" cy="1245394"/>
          </a:xfrm>
          <a:prstGeom prst="rect">
            <a:avLst/>
          </a:prstGeom>
          <a:solidFill>
            <a:schemeClr val="bg1"/>
          </a:solidFill>
          <a:ln w="9525">
            <a:noFill/>
            <a:miter lim="800000"/>
            <a:headEnd/>
            <a:tailEnd/>
          </a:ln>
        </p:spPr>
        <p:txBody>
          <a:bodyPr/>
          <a:lstStyle/>
          <a:p>
            <a:pPr algn="ctr" defTabSz="914400" rtl="1" fontAlgn="base">
              <a:spcBef>
                <a:spcPct val="0"/>
              </a:spcBef>
              <a:spcAft>
                <a:spcPct val="0"/>
              </a:spcAft>
            </a:pPr>
            <a:r>
              <a:rPr lang="ar-EG" sz="2800" b="1" dirty="0">
                <a:solidFill>
                  <a:srgbClr val="000000"/>
                </a:solidFill>
                <a:latin typeface="Times New Roman" pitchFamily="18" charset="0"/>
                <a:cs typeface="Arial" pitchFamily="34" charset="0"/>
              </a:rPr>
              <a:t>يحتوي على </a:t>
            </a:r>
            <a:r>
              <a:rPr lang="ar-EG" sz="2800" b="1" dirty="0">
                <a:solidFill>
                  <a:srgbClr val="00B050"/>
                </a:solidFill>
                <a:latin typeface="Times New Roman" pitchFamily="18" charset="0"/>
                <a:cs typeface="Arial" pitchFamily="34" charset="0"/>
              </a:rPr>
              <a:t>الكائنات الحية </a:t>
            </a:r>
            <a:r>
              <a:rPr lang="ar-EG" sz="2800" b="1" dirty="0">
                <a:solidFill>
                  <a:srgbClr val="000000"/>
                </a:solidFill>
                <a:latin typeface="Times New Roman" pitchFamily="18" charset="0"/>
                <a:cs typeface="Arial" pitchFamily="34" charset="0"/>
              </a:rPr>
              <a:t>و</a:t>
            </a:r>
            <a:r>
              <a:rPr lang="ar-EG" sz="2800" b="1" dirty="0">
                <a:solidFill>
                  <a:srgbClr val="00B050"/>
                </a:solidFill>
                <a:latin typeface="Times New Roman" pitchFamily="18" charset="0"/>
                <a:cs typeface="Arial" pitchFamily="34" charset="0"/>
              </a:rPr>
              <a:t>المكونات غير الحية </a:t>
            </a:r>
            <a:r>
              <a:rPr lang="ar-EG" sz="2800" b="1" dirty="0">
                <a:solidFill>
                  <a:srgbClr val="000000"/>
                </a:solidFill>
                <a:latin typeface="Times New Roman" pitchFamily="18" charset="0"/>
                <a:cs typeface="Arial" pitchFamily="34" charset="0"/>
              </a:rPr>
              <a:t>الموجودة معاً في مكان محدد في الوقت نفسه.</a:t>
            </a:r>
            <a:endParaRPr lang="en-US" sz="2800" b="1" dirty="0">
              <a:solidFill>
                <a:srgbClr val="000000"/>
              </a:solidFill>
              <a:latin typeface="Times New Roman" pitchFamily="18" charset="0"/>
              <a:cs typeface="Arial" pitchFamily="34" charset="0"/>
            </a:endParaRPr>
          </a:p>
        </p:txBody>
      </p:sp>
      <p:sp>
        <p:nvSpPr>
          <p:cNvPr id="12" name="عنوان فرعي 2"/>
          <p:cNvSpPr txBox="1">
            <a:spLocks/>
          </p:cNvSpPr>
          <p:nvPr/>
        </p:nvSpPr>
        <p:spPr bwMode="auto">
          <a:xfrm>
            <a:off x="1487488" y="1916833"/>
            <a:ext cx="8991846" cy="535781"/>
          </a:xfrm>
          <a:prstGeom prst="rect">
            <a:avLst/>
          </a:prstGeom>
          <a:solidFill>
            <a:schemeClr val="bg1"/>
          </a:solidFill>
          <a:ln w="9525">
            <a:noFill/>
            <a:miter lim="800000"/>
            <a:headEnd/>
            <a:tailEnd/>
          </a:ln>
        </p:spPr>
        <p:txBody>
          <a:bodyPr/>
          <a:lstStyle/>
          <a:p>
            <a:pPr marL="457200" indent="-457200" algn="ctr" defTabSz="914400" rtl="1" fontAlgn="base">
              <a:spcBef>
                <a:spcPct val="0"/>
              </a:spcBef>
              <a:spcAft>
                <a:spcPct val="0"/>
              </a:spcAft>
              <a:buFont typeface="Arial" panose="020B0604020202020204" pitchFamily="34" charset="0"/>
              <a:buChar char="•"/>
            </a:pPr>
            <a:r>
              <a:rPr lang="ar-EG" sz="2800" b="1" dirty="0">
                <a:solidFill>
                  <a:srgbClr val="0070C0"/>
                </a:solidFill>
                <a:latin typeface="Times New Roman" pitchFamily="18" charset="0"/>
                <a:cs typeface="Arial" pitchFamily="34" charset="0"/>
              </a:rPr>
              <a:t>أمثلة : بركة الماء بها أنواع مختلفة من </a:t>
            </a:r>
            <a:r>
              <a:rPr lang="ar-EG" sz="2800" b="1" dirty="0">
                <a:solidFill>
                  <a:srgbClr val="00B050"/>
                </a:solidFill>
                <a:latin typeface="Times New Roman" pitchFamily="18" charset="0"/>
                <a:cs typeface="Arial" pitchFamily="34" charset="0"/>
              </a:rPr>
              <a:t>الكائنات الحية </a:t>
            </a:r>
            <a:r>
              <a:rPr lang="ar-EG" sz="2800" b="1" dirty="0">
                <a:solidFill>
                  <a:srgbClr val="0070C0"/>
                </a:solidFill>
                <a:latin typeface="Times New Roman" pitchFamily="18" charset="0"/>
                <a:cs typeface="Arial" pitchFamily="34" charset="0"/>
              </a:rPr>
              <a:t>مثل</a:t>
            </a:r>
            <a:r>
              <a:rPr lang="en-US" sz="2800" b="1" dirty="0">
                <a:solidFill>
                  <a:srgbClr val="0070C0"/>
                </a:solidFill>
                <a:latin typeface="Times New Roman" pitchFamily="18" charset="0"/>
                <a:cs typeface="Arial" pitchFamily="34" charset="0"/>
              </a:rPr>
              <a:t> </a:t>
            </a:r>
            <a:r>
              <a:rPr lang="ar-EG" sz="2800" b="1" dirty="0">
                <a:solidFill>
                  <a:srgbClr val="0070C0"/>
                </a:solidFill>
                <a:latin typeface="Times New Roman" pitchFamily="18" charset="0"/>
                <a:cs typeface="Arial" pitchFamily="34" charset="0"/>
              </a:rPr>
              <a:t>..........</a:t>
            </a:r>
            <a:endParaRPr lang="en-US" sz="2800" b="1" dirty="0">
              <a:solidFill>
                <a:srgbClr val="0070C0"/>
              </a:solidFill>
              <a:latin typeface="Times New Roman" pitchFamily="18" charset="0"/>
              <a:cs typeface="Arial" pitchFamily="34" charset="0"/>
            </a:endParaRPr>
          </a:p>
        </p:txBody>
      </p:sp>
      <p:sp>
        <p:nvSpPr>
          <p:cNvPr id="8" name="عنوان فرعي 2"/>
          <p:cNvSpPr txBox="1">
            <a:spLocks/>
          </p:cNvSpPr>
          <p:nvPr/>
        </p:nvSpPr>
        <p:spPr bwMode="auto">
          <a:xfrm>
            <a:off x="5159896" y="3789040"/>
            <a:ext cx="4998402" cy="571500"/>
          </a:xfrm>
          <a:prstGeom prst="rect">
            <a:avLst/>
          </a:prstGeom>
          <a:solidFill>
            <a:schemeClr val="bg1"/>
          </a:solidFill>
          <a:ln w="9525">
            <a:noFill/>
            <a:miter lim="800000"/>
            <a:headEnd/>
            <a:tailEnd/>
          </a:ln>
        </p:spPr>
        <p:txBody>
          <a:bodyPr/>
          <a:lstStyle/>
          <a:p>
            <a:pPr marL="457200" indent="-457200" algn="r" defTabSz="914400" rtl="1" fontAlgn="base">
              <a:spcBef>
                <a:spcPct val="0"/>
              </a:spcBef>
              <a:spcAft>
                <a:spcPct val="0"/>
              </a:spcAft>
              <a:buFont typeface="Arial" panose="020B0604020202020204" pitchFamily="34" charset="0"/>
              <a:buChar char="•"/>
            </a:pPr>
            <a:r>
              <a:rPr lang="ar-EG" sz="2800" b="1" dirty="0">
                <a:solidFill>
                  <a:srgbClr val="0070C0"/>
                </a:solidFill>
                <a:latin typeface="Times New Roman" pitchFamily="18" charset="0"/>
                <a:cs typeface="Arial" pitchFamily="34" charset="0"/>
              </a:rPr>
              <a:t>كذلك تشمل </a:t>
            </a:r>
            <a:r>
              <a:rPr lang="ar-EG" sz="2800" b="1" dirty="0">
                <a:solidFill>
                  <a:srgbClr val="00B050"/>
                </a:solidFill>
                <a:latin typeface="Times New Roman" pitchFamily="18" charset="0"/>
                <a:cs typeface="Arial" pitchFamily="34" charset="0"/>
              </a:rPr>
              <a:t>مكونات</a:t>
            </a:r>
            <a:r>
              <a:rPr lang="ar-AE" sz="2800" b="1" dirty="0">
                <a:solidFill>
                  <a:srgbClr val="00B050"/>
                </a:solidFill>
                <a:latin typeface="Times New Roman" pitchFamily="18" charset="0"/>
                <a:cs typeface="Arial" pitchFamily="34" charset="0"/>
              </a:rPr>
              <a:t> غير حية:</a:t>
            </a:r>
            <a:endParaRPr lang="en-US" sz="2800" b="1" dirty="0">
              <a:solidFill>
                <a:srgbClr val="00B050"/>
              </a:solidFill>
              <a:latin typeface="Times New Roman" pitchFamily="18" charset="0"/>
              <a:cs typeface="Arial" pitchFamily="34" charset="0"/>
            </a:endParaRPr>
          </a:p>
        </p:txBody>
      </p:sp>
      <p:sp>
        <p:nvSpPr>
          <p:cNvPr id="11" name="عنوان فرعي 2"/>
          <p:cNvSpPr txBox="1">
            <a:spLocks/>
          </p:cNvSpPr>
          <p:nvPr/>
        </p:nvSpPr>
        <p:spPr bwMode="auto">
          <a:xfrm>
            <a:off x="7681914" y="4857750"/>
            <a:ext cx="2986087" cy="857250"/>
          </a:xfrm>
          <a:prstGeom prst="rect">
            <a:avLst/>
          </a:prstGeom>
          <a:solidFill>
            <a:schemeClr val="bg1"/>
          </a:solidFill>
          <a:ln w="9525">
            <a:noFill/>
            <a:miter lim="800000"/>
            <a:headEnd/>
            <a:tailEnd/>
          </a:ln>
        </p:spPr>
        <p:txBody>
          <a:bodyPr/>
          <a:lstStyle/>
          <a:p>
            <a:pPr algn="ctr" defTabSz="914400" rtl="1" fontAlgn="base">
              <a:spcBef>
                <a:spcPct val="0"/>
              </a:spcBef>
              <a:spcAft>
                <a:spcPct val="0"/>
              </a:spcAft>
            </a:pPr>
            <a:r>
              <a:rPr lang="ar-EG" sz="2800" b="1" dirty="0">
                <a:solidFill>
                  <a:srgbClr val="000000"/>
                </a:solidFill>
                <a:latin typeface="Times New Roman" pitchFamily="18" charset="0"/>
                <a:cs typeface="Arial" pitchFamily="34" charset="0"/>
              </a:rPr>
              <a:t>فيزيائية مثل</a:t>
            </a:r>
            <a:r>
              <a:rPr lang="ar-AE" sz="2800" b="1" dirty="0">
                <a:solidFill>
                  <a:srgbClr val="000000"/>
                </a:solidFill>
                <a:latin typeface="Times New Roman" pitchFamily="18" charset="0"/>
                <a:cs typeface="Arial" pitchFamily="34" charset="0"/>
              </a:rPr>
              <a:t>:</a:t>
            </a:r>
            <a:r>
              <a:rPr lang="ar-EG" sz="2800" b="1" dirty="0">
                <a:solidFill>
                  <a:srgbClr val="000000"/>
                </a:solidFill>
                <a:latin typeface="Times New Roman" pitchFamily="18" charset="0"/>
                <a:cs typeface="Arial" pitchFamily="34" charset="0"/>
              </a:rPr>
              <a:t> </a:t>
            </a:r>
            <a:endParaRPr lang="en-US" sz="2800" b="1" dirty="0">
              <a:solidFill>
                <a:srgbClr val="000000"/>
              </a:solidFill>
              <a:latin typeface="Times New Roman" pitchFamily="18" charset="0"/>
              <a:cs typeface="Arial" pitchFamily="34" charset="0"/>
            </a:endParaRPr>
          </a:p>
        </p:txBody>
      </p:sp>
      <p:sp>
        <p:nvSpPr>
          <p:cNvPr id="13" name="عنوان فرعي 2"/>
          <p:cNvSpPr txBox="1">
            <a:spLocks/>
          </p:cNvSpPr>
          <p:nvPr/>
        </p:nvSpPr>
        <p:spPr bwMode="auto">
          <a:xfrm>
            <a:off x="4511824" y="4805710"/>
            <a:ext cx="3076066" cy="1071562"/>
          </a:xfrm>
          <a:prstGeom prst="rect">
            <a:avLst/>
          </a:prstGeom>
          <a:solidFill>
            <a:schemeClr val="bg1"/>
          </a:solidFill>
          <a:ln w="9525">
            <a:noFill/>
            <a:miter lim="800000"/>
            <a:headEnd/>
            <a:tailEnd/>
          </a:ln>
        </p:spPr>
        <p:txBody>
          <a:bodyPr/>
          <a:lstStyle/>
          <a:p>
            <a:pPr algn="ctr" defTabSz="914400" rtl="1" fontAlgn="base">
              <a:spcBef>
                <a:spcPct val="0"/>
              </a:spcBef>
              <a:spcAft>
                <a:spcPct val="0"/>
              </a:spcAft>
            </a:pPr>
            <a:r>
              <a:rPr lang="ar-EG" sz="2800" b="1" dirty="0">
                <a:solidFill>
                  <a:srgbClr val="000000"/>
                </a:solidFill>
                <a:latin typeface="Times New Roman" pitchFamily="18" charset="0"/>
                <a:cs typeface="Arial" pitchFamily="34" charset="0"/>
              </a:rPr>
              <a:t>كيميائية مثل</a:t>
            </a:r>
            <a:r>
              <a:rPr lang="ar-AE" sz="2800" b="1" dirty="0">
                <a:solidFill>
                  <a:srgbClr val="000000"/>
                </a:solidFill>
                <a:latin typeface="Times New Roman" pitchFamily="18" charset="0"/>
                <a:cs typeface="Arial" pitchFamily="34" charset="0"/>
              </a:rPr>
              <a:t>: </a:t>
            </a:r>
            <a:endParaRPr lang="en-US" sz="2800" b="1" dirty="0">
              <a:solidFill>
                <a:srgbClr val="000000"/>
              </a:solidFill>
              <a:latin typeface="Times New Roman" pitchFamily="18" charset="0"/>
              <a:cs typeface="Arial" pitchFamily="34" charset="0"/>
            </a:endParaRPr>
          </a:p>
        </p:txBody>
      </p:sp>
      <p:pic>
        <p:nvPicPr>
          <p:cNvPr id="6152" name="Picture 9"/>
          <p:cNvPicPr>
            <a:picLocks noChangeAspect="1" noChangeArrowheads="1"/>
          </p:cNvPicPr>
          <p:nvPr/>
        </p:nvPicPr>
        <p:blipFill>
          <a:blip r:embed="rId3" cstate="print"/>
          <a:srcRect/>
          <a:stretch>
            <a:fillRect/>
          </a:stretch>
        </p:blipFill>
        <p:spPr bwMode="auto">
          <a:xfrm>
            <a:off x="1619558" y="3673750"/>
            <a:ext cx="3036282" cy="3184250"/>
          </a:xfrm>
          <a:prstGeom prst="rect">
            <a:avLst/>
          </a:prstGeom>
          <a:noFill/>
          <a:ln w="9525">
            <a:noFill/>
            <a:miter lim="800000"/>
            <a:headEnd/>
            <a:tailEnd/>
          </a:ln>
        </p:spPr>
      </p:pic>
      <p:sp>
        <p:nvSpPr>
          <p:cNvPr id="9" name="عنوان فرعي 2"/>
          <p:cNvSpPr txBox="1">
            <a:spLocks/>
          </p:cNvSpPr>
          <p:nvPr/>
        </p:nvSpPr>
        <p:spPr bwMode="auto">
          <a:xfrm>
            <a:off x="2348100" y="2569562"/>
            <a:ext cx="7204285" cy="1147471"/>
          </a:xfrm>
          <a:prstGeom prst="rect">
            <a:avLst/>
          </a:prstGeom>
          <a:solidFill>
            <a:schemeClr val="bg1"/>
          </a:solidFill>
          <a:ln w="9525">
            <a:noFill/>
            <a:miter lim="800000"/>
            <a:headEnd/>
            <a:tailEnd/>
          </a:ln>
        </p:spPr>
        <p:txBody>
          <a:bodyPr/>
          <a:lstStyle/>
          <a:p>
            <a:pPr algn="ctr" defTabSz="914400" rtl="1" fontAlgn="base">
              <a:spcBef>
                <a:spcPct val="0"/>
              </a:spcBef>
              <a:spcAft>
                <a:spcPct val="0"/>
              </a:spcAft>
            </a:pPr>
            <a:r>
              <a:rPr lang="ar-AE" sz="2800" b="1" dirty="0">
                <a:solidFill>
                  <a:srgbClr val="FF0000"/>
                </a:solidFill>
                <a:latin typeface="Times New Roman" pitchFamily="18" charset="0"/>
                <a:cs typeface="Arial" pitchFamily="34" charset="0"/>
              </a:rPr>
              <a:t>الأعشاب – أشجار – أسماك – حشرات - سلاحف – أرانب – بكتريا – فطريات – </a:t>
            </a:r>
            <a:r>
              <a:rPr lang="ar-EG" sz="2800" b="1" dirty="0">
                <a:solidFill>
                  <a:srgbClr val="FF0000"/>
                </a:solidFill>
                <a:latin typeface="Times New Roman" pitchFamily="18" charset="0"/>
                <a:cs typeface="Arial" pitchFamily="34" charset="0"/>
              </a:rPr>
              <a:t> ....................</a:t>
            </a:r>
            <a:endParaRPr lang="en-US" sz="2800" b="1" dirty="0">
              <a:solidFill>
                <a:srgbClr val="FF0000"/>
              </a:solidFill>
              <a:latin typeface="Times New Roman" pitchFamily="18" charset="0"/>
              <a:cs typeface="Arial" pitchFamily="34" charset="0"/>
            </a:endParaRPr>
          </a:p>
        </p:txBody>
      </p:sp>
      <p:sp>
        <p:nvSpPr>
          <p:cNvPr id="10" name="عنوان فرعي 2"/>
          <p:cNvSpPr txBox="1">
            <a:spLocks/>
          </p:cNvSpPr>
          <p:nvPr/>
        </p:nvSpPr>
        <p:spPr bwMode="auto">
          <a:xfrm>
            <a:off x="7681914" y="5733256"/>
            <a:ext cx="2986087" cy="857250"/>
          </a:xfrm>
          <a:prstGeom prst="rect">
            <a:avLst/>
          </a:prstGeom>
          <a:solidFill>
            <a:schemeClr val="bg1"/>
          </a:solidFill>
          <a:ln w="9525">
            <a:noFill/>
            <a:miter lim="800000"/>
            <a:headEnd/>
            <a:tailEnd/>
          </a:ln>
        </p:spPr>
        <p:txBody>
          <a:bodyPr/>
          <a:lstStyle/>
          <a:p>
            <a:pPr algn="ctr" defTabSz="914400" rtl="1" fontAlgn="base">
              <a:spcBef>
                <a:spcPct val="0"/>
              </a:spcBef>
              <a:spcAft>
                <a:spcPct val="0"/>
              </a:spcAft>
            </a:pPr>
            <a:r>
              <a:rPr lang="ar-AE" sz="2000" b="1" dirty="0">
                <a:solidFill>
                  <a:srgbClr val="FF0000"/>
                </a:solidFill>
                <a:latin typeface="Times New Roman" pitchFamily="18" charset="0"/>
                <a:cs typeface="Arial" pitchFamily="34" charset="0"/>
              </a:rPr>
              <a:t>ضوء الشمس – حرارة الشمس – </a:t>
            </a:r>
            <a:endParaRPr lang="en-US" sz="2000" b="1" dirty="0">
              <a:solidFill>
                <a:srgbClr val="FF0000"/>
              </a:solidFill>
              <a:latin typeface="Times New Roman" pitchFamily="18" charset="0"/>
              <a:cs typeface="Arial" pitchFamily="34" charset="0"/>
            </a:endParaRPr>
          </a:p>
          <a:p>
            <a:pPr algn="ctr" defTabSz="914400" rtl="1" fontAlgn="base">
              <a:lnSpc>
                <a:spcPct val="150000"/>
              </a:lnSpc>
              <a:spcBef>
                <a:spcPct val="0"/>
              </a:spcBef>
              <a:spcAft>
                <a:spcPct val="0"/>
              </a:spcAft>
            </a:pPr>
            <a:r>
              <a:rPr lang="ar-AE" sz="2000" b="1" dirty="0">
                <a:solidFill>
                  <a:srgbClr val="FF0000"/>
                </a:solidFill>
                <a:latin typeface="Times New Roman" pitchFamily="18" charset="0"/>
                <a:cs typeface="Arial" pitchFamily="34" charset="0"/>
              </a:rPr>
              <a:t>الضغط الجوي - الجاذبية</a:t>
            </a:r>
            <a:endParaRPr lang="en-US" sz="2000" b="1" dirty="0">
              <a:solidFill>
                <a:srgbClr val="FF0000"/>
              </a:solidFill>
              <a:latin typeface="Times New Roman" pitchFamily="18" charset="0"/>
              <a:cs typeface="Arial" pitchFamily="34" charset="0"/>
            </a:endParaRPr>
          </a:p>
        </p:txBody>
      </p:sp>
      <p:sp>
        <p:nvSpPr>
          <p:cNvPr id="14" name="عنوان فرعي 2"/>
          <p:cNvSpPr txBox="1">
            <a:spLocks/>
          </p:cNvSpPr>
          <p:nvPr/>
        </p:nvSpPr>
        <p:spPr bwMode="auto">
          <a:xfrm>
            <a:off x="4629043" y="5240610"/>
            <a:ext cx="2986088" cy="1428750"/>
          </a:xfrm>
          <a:prstGeom prst="rect">
            <a:avLst/>
          </a:prstGeom>
          <a:solidFill>
            <a:schemeClr val="bg1"/>
          </a:solidFill>
          <a:ln w="9525">
            <a:noFill/>
            <a:miter lim="800000"/>
            <a:headEnd/>
            <a:tailEnd/>
          </a:ln>
        </p:spPr>
        <p:txBody>
          <a:bodyPr/>
          <a:lstStyle/>
          <a:p>
            <a:pPr algn="ctr" defTabSz="914400" rtl="1" fontAlgn="base">
              <a:lnSpc>
                <a:spcPct val="150000"/>
              </a:lnSpc>
              <a:spcBef>
                <a:spcPct val="0"/>
              </a:spcBef>
              <a:spcAft>
                <a:spcPct val="0"/>
              </a:spcAft>
            </a:pPr>
            <a:r>
              <a:rPr lang="ar-AE" sz="2000" b="1" dirty="0">
                <a:solidFill>
                  <a:srgbClr val="FF0000"/>
                </a:solidFill>
                <a:latin typeface="Times New Roman" pitchFamily="18" charset="0"/>
                <a:cs typeface="Arial" pitchFamily="34" charset="0"/>
              </a:rPr>
              <a:t>أكسجين الماء – الهواء ثاني اكسيد الكربون – النيتروجين – الماء  - الرقم الهيدروجيني</a:t>
            </a:r>
            <a:endParaRPr lang="en-US" sz="2000" b="1" dirty="0">
              <a:solidFill>
                <a:srgbClr val="FF0000"/>
              </a:solidFill>
              <a:latin typeface="Times New Roman" pitchFamily="18" charset="0"/>
              <a:cs typeface="Arial" pitchFamily="34" charset="0"/>
            </a:endParaRPr>
          </a:p>
        </p:txBody>
      </p:sp>
      <p:sp>
        <p:nvSpPr>
          <p:cNvPr id="15" name="Down Arrow 14"/>
          <p:cNvSpPr/>
          <p:nvPr/>
        </p:nvSpPr>
        <p:spPr>
          <a:xfrm rot="18923973">
            <a:off x="8437454" y="4222384"/>
            <a:ext cx="360040" cy="8114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
        <p:nvSpPr>
          <p:cNvPr id="16" name="Down Arrow 15"/>
          <p:cNvSpPr/>
          <p:nvPr/>
        </p:nvSpPr>
        <p:spPr>
          <a:xfrm rot="2263207">
            <a:off x="7266745" y="4250941"/>
            <a:ext cx="360040" cy="768315"/>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1"/>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bg/>
                                          </p:spTgt>
                                        </p:tgtEl>
                                        <p:attrNameLst>
                                          <p:attrName>style.visibility</p:attrName>
                                        </p:attrNameLst>
                                      </p:cBhvr>
                                      <p:to>
                                        <p:strVal val="visible"/>
                                      </p:to>
                                    </p:set>
                                    <p:anim calcmode="lin" valueType="num">
                                      <p:cBhvr additive="base">
                                        <p:cTn id="14" dur="500" fill="hold"/>
                                        <p:tgtEl>
                                          <p:spTgt spid="7">
                                            <p:bg/>
                                          </p:spTgt>
                                        </p:tgtEl>
                                        <p:attrNameLst>
                                          <p:attrName>ppt_x</p:attrName>
                                        </p:attrNameLst>
                                      </p:cBhvr>
                                      <p:tavLst>
                                        <p:tav tm="0">
                                          <p:val>
                                            <p:strVal val="#ppt_x"/>
                                          </p:val>
                                        </p:tav>
                                        <p:tav tm="100000">
                                          <p:val>
                                            <p:strVal val="#ppt_x"/>
                                          </p:val>
                                        </p:tav>
                                      </p:tavLst>
                                    </p:anim>
                                    <p:anim calcmode="lin" valueType="num">
                                      <p:cBhvr additive="base">
                                        <p:cTn id="15" dur="500" fill="hold"/>
                                        <p:tgtEl>
                                          <p:spTgt spid="7">
                                            <p:bg/>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 calcmode="lin" valueType="num">
                                      <p:cBhvr additive="base">
                                        <p:cTn id="20"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2">
                                            <p:bg/>
                                          </p:spTgt>
                                        </p:tgtEl>
                                        <p:attrNameLst>
                                          <p:attrName>style.visibility</p:attrName>
                                        </p:attrNameLst>
                                      </p:cBhvr>
                                      <p:to>
                                        <p:strVal val="visible"/>
                                      </p:to>
                                    </p:set>
                                    <p:anim calcmode="lin" valueType="num">
                                      <p:cBhvr additive="base">
                                        <p:cTn id="26" dur="500" fill="hold"/>
                                        <p:tgtEl>
                                          <p:spTgt spid="12">
                                            <p:bg/>
                                          </p:spTgt>
                                        </p:tgtEl>
                                        <p:attrNameLst>
                                          <p:attrName>ppt_x</p:attrName>
                                        </p:attrNameLst>
                                      </p:cBhvr>
                                      <p:tavLst>
                                        <p:tav tm="0">
                                          <p:val>
                                            <p:strVal val="#ppt_x"/>
                                          </p:val>
                                        </p:tav>
                                        <p:tav tm="100000">
                                          <p:val>
                                            <p:strVal val="#ppt_x"/>
                                          </p:val>
                                        </p:tav>
                                      </p:tavLst>
                                    </p:anim>
                                    <p:anim calcmode="lin" valueType="num">
                                      <p:cBhvr additive="base">
                                        <p:cTn id="27" dur="500" fill="hold"/>
                                        <p:tgtEl>
                                          <p:spTgt spid="12">
                                            <p:bg/>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anim calcmode="lin" valueType="num">
                                      <p:cBhvr additive="base">
                                        <p:cTn id="32"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9">
                                            <p:bg/>
                                          </p:spTgt>
                                        </p:tgtEl>
                                        <p:attrNameLst>
                                          <p:attrName>style.visibility</p:attrName>
                                        </p:attrNameLst>
                                      </p:cBhvr>
                                      <p:to>
                                        <p:strVal val="visible"/>
                                      </p:to>
                                    </p:set>
                                    <p:anim calcmode="lin" valueType="num">
                                      <p:cBhvr additive="base">
                                        <p:cTn id="38" dur="500" fill="hold"/>
                                        <p:tgtEl>
                                          <p:spTgt spid="9">
                                            <p:bg/>
                                          </p:spTgt>
                                        </p:tgtEl>
                                        <p:attrNameLst>
                                          <p:attrName>ppt_x</p:attrName>
                                        </p:attrNameLst>
                                      </p:cBhvr>
                                      <p:tavLst>
                                        <p:tav tm="0">
                                          <p:val>
                                            <p:strVal val="#ppt_x"/>
                                          </p:val>
                                        </p:tav>
                                        <p:tav tm="100000">
                                          <p:val>
                                            <p:strVal val="#ppt_x"/>
                                          </p:val>
                                        </p:tav>
                                      </p:tavLst>
                                    </p:anim>
                                    <p:anim calcmode="lin" valueType="num">
                                      <p:cBhvr additive="base">
                                        <p:cTn id="39" dur="500" fill="hold"/>
                                        <p:tgtEl>
                                          <p:spTgt spid="9">
                                            <p:bg/>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9">
                                            <p:txEl>
                                              <p:pRg st="0" end="0"/>
                                            </p:txEl>
                                          </p:spTgt>
                                        </p:tgtEl>
                                        <p:attrNameLst>
                                          <p:attrName>style.visibility</p:attrName>
                                        </p:attrNameLst>
                                      </p:cBhvr>
                                      <p:to>
                                        <p:strVal val="visible"/>
                                      </p:to>
                                    </p:set>
                                    <p:anim calcmode="lin" valueType="num">
                                      <p:cBhvr additive="base">
                                        <p:cTn id="44"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500" fill="hold"/>
                                        <p:tgtEl>
                                          <p:spTgt spid="11"/>
                                        </p:tgtEl>
                                        <p:attrNameLst>
                                          <p:attrName>ppt_x</p:attrName>
                                        </p:attrNameLst>
                                      </p:cBhvr>
                                      <p:tavLst>
                                        <p:tav tm="0">
                                          <p:val>
                                            <p:strVal val="#ppt_x"/>
                                          </p:val>
                                        </p:tav>
                                        <p:tav tm="100000">
                                          <p:val>
                                            <p:strVal val="#ppt_x"/>
                                          </p:val>
                                        </p:tav>
                                      </p:tavLst>
                                    </p:anim>
                                    <p:anim calcmode="lin" valueType="num">
                                      <p:cBhvr additive="base">
                                        <p:cTn id="66" dur="500" fill="hold"/>
                                        <p:tgtEl>
                                          <p:spTgt spid="1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 calcmode="lin" valueType="num">
                                      <p:cBhvr additive="base">
                                        <p:cTn id="69" dur="500" fill="hold"/>
                                        <p:tgtEl>
                                          <p:spTgt spid="13"/>
                                        </p:tgtEl>
                                        <p:attrNameLst>
                                          <p:attrName>ppt_x</p:attrName>
                                        </p:attrNameLst>
                                      </p:cBhvr>
                                      <p:tavLst>
                                        <p:tav tm="0">
                                          <p:val>
                                            <p:strVal val="#ppt_x"/>
                                          </p:val>
                                        </p:tav>
                                        <p:tav tm="100000">
                                          <p:val>
                                            <p:strVal val="#ppt_x"/>
                                          </p:val>
                                        </p:tav>
                                      </p:tavLst>
                                    </p:anim>
                                    <p:anim calcmode="lin" valueType="num">
                                      <p:cBhvr additive="base">
                                        <p:cTn id="7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fade">
                                      <p:cBhvr>
                                        <p:cTn id="75" dur="1000"/>
                                        <p:tgtEl>
                                          <p:spTgt spid="10"/>
                                        </p:tgtEl>
                                      </p:cBhvr>
                                    </p:animEffect>
                                    <p:anim calcmode="lin" valueType="num">
                                      <p:cBhvr>
                                        <p:cTn id="76" dur="1000" fill="hold"/>
                                        <p:tgtEl>
                                          <p:spTgt spid="10"/>
                                        </p:tgtEl>
                                        <p:attrNameLst>
                                          <p:attrName>ppt_x</p:attrName>
                                        </p:attrNameLst>
                                      </p:cBhvr>
                                      <p:tavLst>
                                        <p:tav tm="0">
                                          <p:val>
                                            <p:strVal val="#ppt_x"/>
                                          </p:val>
                                        </p:tav>
                                        <p:tav tm="100000">
                                          <p:val>
                                            <p:strVal val="#ppt_x"/>
                                          </p:val>
                                        </p:tav>
                                      </p:tavLst>
                                    </p:anim>
                                    <p:anim calcmode="lin" valueType="num">
                                      <p:cBhvr>
                                        <p:cTn id="7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1000"/>
                                        <p:tgtEl>
                                          <p:spTgt spid="14"/>
                                        </p:tgtEl>
                                      </p:cBhvr>
                                    </p:animEffect>
                                    <p:anim calcmode="lin" valueType="num">
                                      <p:cBhvr>
                                        <p:cTn id="83" dur="1000" fill="hold"/>
                                        <p:tgtEl>
                                          <p:spTgt spid="14"/>
                                        </p:tgtEl>
                                        <p:attrNameLst>
                                          <p:attrName>ppt_x</p:attrName>
                                        </p:attrNameLst>
                                      </p:cBhvr>
                                      <p:tavLst>
                                        <p:tav tm="0">
                                          <p:val>
                                            <p:strVal val="#ppt_x"/>
                                          </p:val>
                                        </p:tav>
                                        <p:tav tm="100000">
                                          <p:val>
                                            <p:strVal val="#ppt_x"/>
                                          </p:val>
                                        </p:tav>
                                      </p:tavLst>
                                    </p:anim>
                                    <p:anim calcmode="lin" valueType="num">
                                      <p:cBhvr>
                                        <p:cTn id="8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build="p" animBg="1"/>
      <p:bldP spid="12" grpId="0" build="p" animBg="1"/>
      <p:bldP spid="8" grpId="0" animBg="1"/>
      <p:bldP spid="11" grpId="0" animBg="1"/>
      <p:bldP spid="13" grpId="0" animBg="1"/>
      <p:bldP spid="9" grpId="0" build="p" animBg="1"/>
      <p:bldP spid="10" grpId="0" animBg="1"/>
      <p:bldP spid="14" grpId="0" animBg="1"/>
      <p:bldP spid="15"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DE69DD-EFD8-4E24-A074-95E07FA29C8B}"/>
              </a:ext>
            </a:extLst>
          </p:cNvPr>
          <p:cNvPicPr>
            <a:picLocks noChangeAspect="1"/>
          </p:cNvPicPr>
          <p:nvPr/>
        </p:nvPicPr>
        <p:blipFill>
          <a:blip r:embed="rId2"/>
          <a:stretch>
            <a:fillRect/>
          </a:stretch>
        </p:blipFill>
        <p:spPr>
          <a:xfrm>
            <a:off x="1600200" y="0"/>
            <a:ext cx="8915400" cy="6858000"/>
          </a:xfrm>
          <a:prstGeom prst="rect">
            <a:avLst/>
          </a:prstGeom>
        </p:spPr>
      </p:pic>
    </p:spTree>
    <p:extLst>
      <p:ext uri="{BB962C8B-B14F-4D97-AF65-F5344CB8AC3E}">
        <p14:creationId xmlns:p14="http://schemas.microsoft.com/office/powerpoint/2010/main" val="2569457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5600" y="1375656"/>
            <a:ext cx="7344816" cy="5293704"/>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49822" t="26713" r="8761" b="57705"/>
          <a:stretch/>
        </p:blipFill>
        <p:spPr>
          <a:xfrm>
            <a:off x="1775520" y="188641"/>
            <a:ext cx="2736304" cy="736697"/>
          </a:xfrm>
          <a:prstGeom prst="rect">
            <a:avLst/>
          </a:prstGeom>
        </p:spPr>
      </p:pic>
      <p:sp>
        <p:nvSpPr>
          <p:cNvPr id="8" name="عنوان 1"/>
          <p:cNvSpPr txBox="1">
            <a:spLocks/>
          </p:cNvSpPr>
          <p:nvPr/>
        </p:nvSpPr>
        <p:spPr bwMode="auto">
          <a:xfrm>
            <a:off x="6240016" y="116681"/>
            <a:ext cx="4167310" cy="928688"/>
          </a:xfrm>
          <a:prstGeom prst="rect">
            <a:avLst/>
          </a:prstGeom>
          <a:solidFill>
            <a:srgbClr val="FFFF00"/>
          </a:solidFill>
          <a:ln w="9525">
            <a:solidFill>
              <a:srgbClr val="FF0000"/>
            </a:solidFill>
            <a:miter lim="800000"/>
            <a:headEnd/>
            <a:tailEnd/>
          </a:ln>
        </p:spPr>
        <p:txBody>
          <a:bodyPr vert="horz" wrap="square" lIns="91440" tIns="45720" rIns="91440" bIns="45720" num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mj-lt"/>
                <a:ea typeface="+mj-ea"/>
                <a:cs typeface="+mj-cs"/>
              </a:defRPr>
            </a:lvl1pPr>
            <a:lvl2pPr algn="ctr" rtl="1" eaLnBrk="0" fontAlgn="base" hangingPunct="0">
              <a:spcBef>
                <a:spcPct val="0"/>
              </a:spcBef>
              <a:spcAft>
                <a:spcPct val="0"/>
              </a:spcAft>
              <a:defRPr sz="4400">
                <a:solidFill>
                  <a:schemeClr val="tx2"/>
                </a:solidFill>
                <a:latin typeface="Times New Roman" pitchFamily="18" charset="0"/>
                <a:cs typeface="Arial" pitchFamily="34" charset="0"/>
              </a:defRPr>
            </a:lvl2pPr>
            <a:lvl3pPr algn="ctr" rtl="1" eaLnBrk="0" fontAlgn="base" hangingPunct="0">
              <a:spcBef>
                <a:spcPct val="0"/>
              </a:spcBef>
              <a:spcAft>
                <a:spcPct val="0"/>
              </a:spcAft>
              <a:defRPr sz="4400">
                <a:solidFill>
                  <a:schemeClr val="tx2"/>
                </a:solidFill>
                <a:latin typeface="Times New Roman" pitchFamily="18" charset="0"/>
                <a:cs typeface="Arial" pitchFamily="34" charset="0"/>
              </a:defRPr>
            </a:lvl3pPr>
            <a:lvl4pPr algn="ctr" rtl="1" eaLnBrk="0" fontAlgn="base" hangingPunct="0">
              <a:spcBef>
                <a:spcPct val="0"/>
              </a:spcBef>
              <a:spcAft>
                <a:spcPct val="0"/>
              </a:spcAft>
              <a:defRPr sz="4400">
                <a:solidFill>
                  <a:schemeClr val="tx2"/>
                </a:solidFill>
                <a:latin typeface="Times New Roman" pitchFamily="18" charset="0"/>
                <a:cs typeface="Arial" pitchFamily="34" charset="0"/>
              </a:defRPr>
            </a:lvl4pPr>
            <a:lvl5pPr algn="ctr" rtl="1" eaLnBrk="0" fontAlgn="base" hangingPunct="0">
              <a:spcBef>
                <a:spcPct val="0"/>
              </a:spcBef>
              <a:spcAft>
                <a:spcPct val="0"/>
              </a:spcAft>
              <a:defRPr sz="4400">
                <a:solidFill>
                  <a:schemeClr val="tx2"/>
                </a:solidFill>
                <a:latin typeface="Times New Roman" pitchFamily="18" charset="0"/>
                <a:cs typeface="Arial" pitchFamily="34" charset="0"/>
              </a:defRPr>
            </a:lvl5pPr>
            <a:lvl6pPr marL="457200" algn="ctr" rtl="1" fontAlgn="base">
              <a:spcBef>
                <a:spcPct val="0"/>
              </a:spcBef>
              <a:spcAft>
                <a:spcPct val="0"/>
              </a:spcAft>
              <a:defRPr sz="4400">
                <a:solidFill>
                  <a:schemeClr val="tx2"/>
                </a:solidFill>
                <a:latin typeface="Times New Roman" pitchFamily="18" charset="0"/>
                <a:cs typeface="Arial" pitchFamily="34" charset="0"/>
              </a:defRPr>
            </a:lvl6pPr>
            <a:lvl7pPr marL="914400" algn="ctr" rtl="1" fontAlgn="base">
              <a:spcBef>
                <a:spcPct val="0"/>
              </a:spcBef>
              <a:spcAft>
                <a:spcPct val="0"/>
              </a:spcAft>
              <a:defRPr sz="4400">
                <a:solidFill>
                  <a:schemeClr val="tx2"/>
                </a:solidFill>
                <a:latin typeface="Times New Roman" pitchFamily="18" charset="0"/>
                <a:cs typeface="Arial" pitchFamily="34" charset="0"/>
              </a:defRPr>
            </a:lvl7pPr>
            <a:lvl8pPr marL="1371600" algn="ctr" rtl="1" fontAlgn="base">
              <a:spcBef>
                <a:spcPct val="0"/>
              </a:spcBef>
              <a:spcAft>
                <a:spcPct val="0"/>
              </a:spcAft>
              <a:defRPr sz="4400">
                <a:solidFill>
                  <a:schemeClr val="tx2"/>
                </a:solidFill>
                <a:latin typeface="Times New Roman" pitchFamily="18" charset="0"/>
                <a:cs typeface="Arial" pitchFamily="34" charset="0"/>
              </a:defRPr>
            </a:lvl8pPr>
            <a:lvl9pPr marL="1828800" algn="ctr" rtl="1" fontAlgn="base">
              <a:spcBef>
                <a:spcPct val="0"/>
              </a:spcBef>
              <a:spcAft>
                <a:spcPct val="0"/>
              </a:spcAft>
              <a:defRPr sz="4400">
                <a:solidFill>
                  <a:schemeClr val="tx2"/>
                </a:solidFill>
                <a:latin typeface="Times New Roman" pitchFamily="18" charset="0"/>
                <a:cs typeface="Arial" pitchFamily="34" charset="0"/>
              </a:defRPr>
            </a:lvl9pPr>
          </a:lstStyle>
          <a:p>
            <a:pPr>
              <a:defRPr/>
            </a:pPr>
            <a:r>
              <a:rPr lang="ar-AE" sz="4000" b="1" kern="0" dirty="0">
                <a:solidFill>
                  <a:schemeClr val="tx1"/>
                </a:solidFill>
                <a:cs typeface="PT Simple Bold Ruled" pitchFamily="2" charset="-78"/>
              </a:rPr>
              <a:t>الإقليم الأحيائي</a:t>
            </a:r>
            <a:endParaRPr lang="en-US" sz="4000" kern="0" dirty="0">
              <a:solidFill>
                <a:schemeClr val="tx1"/>
              </a:solidFill>
              <a:cs typeface="PT Simple Bold Ruled" pitchFamily="2" charset="-78"/>
            </a:endParaRPr>
          </a:p>
        </p:txBody>
      </p:sp>
    </p:spTree>
    <p:extLst>
      <p:ext uri="{BB962C8B-B14F-4D97-AF65-F5344CB8AC3E}">
        <p14:creationId xmlns:p14="http://schemas.microsoft.com/office/powerpoint/2010/main" val="1350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1"/>
                                          </p:val>
                                        </p:tav>
                                        <p:tav tm="100000">
                                          <p:val>
                                            <p:strVal val="#ppt_x"/>
                                          </p:val>
                                        </p:tav>
                                      </p:tavLst>
                                    </p:anim>
                                    <p:anim calcmode="lin" valueType="num">
                                      <p:cBhvr>
                                        <p:cTn id="9"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3. أرتّب مستويات التنظيم البيئي من الكائن الحي إلى الغلاف الحيوي.</a:t>
            </a:r>
          </a:p>
        </p:txBody>
      </p:sp>
      <p:sp>
        <p:nvSpPr>
          <p:cNvPr id="10" name="TextBox 9"/>
          <p:cNvSpPr txBox="1"/>
          <p:nvPr/>
        </p:nvSpPr>
        <p:spPr>
          <a:xfrm>
            <a:off x="2590803"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أمثلة على الأقاليم الأحيائية</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2 د</a:t>
            </a:r>
          </a:p>
        </p:txBody>
      </p:sp>
      <p:sp>
        <p:nvSpPr>
          <p:cNvPr id="12" name="Rounded Rectangle 11"/>
          <p:cNvSpPr/>
          <p:nvPr/>
        </p:nvSpPr>
        <p:spPr>
          <a:xfrm>
            <a:off x="2590800" y="1638300"/>
            <a:ext cx="3057525" cy="2476500"/>
          </a:xfrm>
          <a:prstGeom prst="roundRect">
            <a:avLst/>
          </a:prstGeom>
          <a:solidFill>
            <a:srgbClr val="F7F4EE"/>
          </a:solidFill>
          <a:ln w="12700">
            <a:solidFill>
              <a:srgbClr val="173754"/>
            </a:solidFill>
          </a:ln>
          <a:effectLst/>
        </p:spPr>
        <p:style>
          <a:lnRef idx="1">
            <a:schemeClr val="accent1"/>
          </a:lnRef>
          <a:fillRef idx="3">
            <a:schemeClr val="accent1"/>
          </a:fillRef>
          <a:effectRef idx="2">
            <a:schemeClr val="accent1"/>
          </a:effectRef>
          <a:fontRef idx="minor">
            <a:schemeClr val="lt1"/>
          </a:fontRef>
        </p:style>
        <p:txBody>
          <a:bodyPr wrap="square" tIns="73152" rtlCol="0" anchor="t"/>
          <a:lstStyle/>
          <a:p>
            <a:pPr algn="ctr" rtl="1"/>
            <a:r>
              <a:rPr lang="ar-AE" sz="1450" b="1" i="0">
                <a:solidFill>
                  <a:srgbClr val="173754"/>
                </a:solidFill>
                <a:latin typeface="Arial"/>
                <a:ea typeface="Arial"/>
                <a:cs typeface="Arial"/>
              </a:rPr>
              <a:t>إقليم الغابات</a:t>
            </a:r>
          </a:p>
          <a:p>
            <a:pPr algn="ctr" rtl="1">
              <a:spcBef>
                <a:spcPts val="800"/>
              </a:spcBef>
            </a:pPr>
            <a:r>
              <a:rPr lang="ar-AE" sz="1250" b="0" i="0">
                <a:solidFill>
                  <a:srgbClr val="10243B"/>
                </a:solidFill>
                <a:latin typeface="Arial"/>
                <a:ea typeface="Arial"/>
                <a:cs typeface="Arial"/>
              </a:rPr>
              <a:t>أمطار وفيرة وغطاء نباتي كثيف.</a:t>
            </a:r>
          </a:p>
        </p:txBody>
      </p:sp>
      <p:sp>
        <p:nvSpPr>
          <p:cNvPr id="13" name="Rounded Rectangle 12"/>
          <p:cNvSpPr/>
          <p:nvPr/>
        </p:nvSpPr>
        <p:spPr>
          <a:xfrm>
            <a:off x="5791200" y="1638300"/>
            <a:ext cx="3057525" cy="2476500"/>
          </a:xfrm>
          <a:prstGeom prst="roundRect">
            <a:avLst/>
          </a:prstGeom>
          <a:solidFill>
            <a:srgbClr val="F7F4EE"/>
          </a:solidFill>
          <a:ln w="12700">
            <a:solidFill>
              <a:srgbClr val="173754"/>
            </a:solidFill>
          </a:ln>
          <a:effectLst/>
        </p:spPr>
        <p:style>
          <a:lnRef idx="1">
            <a:schemeClr val="accent1"/>
          </a:lnRef>
          <a:fillRef idx="3">
            <a:schemeClr val="accent1"/>
          </a:fillRef>
          <a:effectRef idx="2">
            <a:schemeClr val="accent1"/>
          </a:effectRef>
          <a:fontRef idx="minor">
            <a:schemeClr val="lt1"/>
          </a:fontRef>
        </p:style>
        <p:txBody>
          <a:bodyPr wrap="square" tIns="73152" rtlCol="0" anchor="t"/>
          <a:lstStyle/>
          <a:p>
            <a:pPr algn="ctr" rtl="1"/>
            <a:r>
              <a:rPr lang="ar-AE" sz="1450" b="1" i="0">
                <a:solidFill>
                  <a:srgbClr val="173754"/>
                </a:solidFill>
                <a:latin typeface="Arial"/>
                <a:ea typeface="Arial"/>
                <a:cs typeface="Arial"/>
              </a:rPr>
              <a:t>إقليم صحراوي</a:t>
            </a:r>
          </a:p>
          <a:p>
            <a:pPr algn="ctr" rtl="1">
              <a:spcBef>
                <a:spcPts val="800"/>
              </a:spcBef>
            </a:pPr>
            <a:r>
              <a:rPr lang="ar-AE" sz="1250" b="0" i="0">
                <a:solidFill>
                  <a:srgbClr val="10243B"/>
                </a:solidFill>
                <a:latin typeface="Arial"/>
                <a:ea typeface="Arial"/>
                <a:cs typeface="Arial"/>
              </a:rPr>
              <a:t>أمطار قليلة جداً وحرارة مرتفعة نهاراً؛ كصحاري دولة الإمارات.</a:t>
            </a:r>
          </a:p>
        </p:txBody>
      </p:sp>
      <p:sp>
        <p:nvSpPr>
          <p:cNvPr id="14" name="Rounded Rectangle 13"/>
          <p:cNvSpPr/>
          <p:nvPr/>
        </p:nvSpPr>
        <p:spPr>
          <a:xfrm>
            <a:off x="8991600" y="1638300"/>
            <a:ext cx="3057525" cy="2476500"/>
          </a:xfrm>
          <a:prstGeom prst="roundRect">
            <a:avLst/>
          </a:prstGeom>
          <a:solidFill>
            <a:srgbClr val="F7F4EE"/>
          </a:solidFill>
          <a:ln w="12700">
            <a:solidFill>
              <a:srgbClr val="173754"/>
            </a:solidFill>
          </a:ln>
          <a:effectLst/>
        </p:spPr>
        <p:style>
          <a:lnRef idx="1">
            <a:schemeClr val="accent1"/>
          </a:lnRef>
          <a:fillRef idx="3">
            <a:schemeClr val="accent1"/>
          </a:fillRef>
          <a:effectRef idx="2">
            <a:schemeClr val="accent1"/>
          </a:effectRef>
          <a:fontRef idx="minor">
            <a:schemeClr val="lt1"/>
          </a:fontRef>
        </p:style>
        <p:txBody>
          <a:bodyPr wrap="square" tIns="73152" rtlCol="0" anchor="t"/>
          <a:lstStyle/>
          <a:p>
            <a:pPr algn="ctr" rtl="1"/>
            <a:r>
              <a:rPr lang="ar-AE" sz="1450" b="1" i="0">
                <a:solidFill>
                  <a:srgbClr val="173754"/>
                </a:solidFill>
                <a:latin typeface="Arial"/>
                <a:ea typeface="Arial"/>
                <a:cs typeface="Arial"/>
              </a:rPr>
              <a:t>الإقليم القطبي</a:t>
            </a:r>
          </a:p>
          <a:p>
            <a:pPr algn="ctr" rtl="1">
              <a:spcBef>
                <a:spcPts val="800"/>
              </a:spcBef>
            </a:pPr>
            <a:r>
              <a:rPr lang="ar-AE" sz="1250" b="0" i="0">
                <a:solidFill>
                  <a:srgbClr val="10243B"/>
                </a:solidFill>
                <a:latin typeface="Arial"/>
                <a:ea typeface="Arial"/>
                <a:cs typeface="Arial"/>
              </a:rPr>
              <a:t>برودة شديدة ودائمة وغطاء جليدي.</a:t>
            </a:r>
          </a:p>
        </p:txBody>
      </p:sp>
      <p:pic>
        <p:nvPicPr>
          <p:cNvPr id="15" name="Picture 14">
            <a:extLst>
              <a:ext uri="{FF2B5EF4-FFF2-40B4-BE49-F238E27FC236}">
                <a16:creationId xmlns:a16="http://schemas.microsoft.com/office/drawing/2014/main" id="{7C6D95B9-D93D-457A-842D-F6EF9A284130}"/>
              </a:ext>
            </a:extLst>
          </p:cNvPr>
          <p:cNvPicPr>
            <a:picLocks noChangeAspect="1"/>
          </p:cNvPicPr>
          <p:nvPr/>
        </p:nvPicPr>
        <p:blipFill>
          <a:blip r:embed="rId4"/>
          <a:stretch>
            <a:fillRect/>
          </a:stretch>
        </p:blipFill>
        <p:spPr>
          <a:xfrm>
            <a:off x="2560319" y="2762251"/>
            <a:ext cx="3057526" cy="2933699"/>
          </a:xfrm>
          <a:prstGeom prst="rect">
            <a:avLst/>
          </a:prstGeom>
        </p:spPr>
      </p:pic>
      <p:pic>
        <p:nvPicPr>
          <p:cNvPr id="16" name="Picture 15">
            <a:extLst>
              <a:ext uri="{FF2B5EF4-FFF2-40B4-BE49-F238E27FC236}">
                <a16:creationId xmlns:a16="http://schemas.microsoft.com/office/drawing/2014/main" id="{0C04B072-8AF6-4550-820C-35FC6A8702C0}"/>
              </a:ext>
            </a:extLst>
          </p:cNvPr>
          <p:cNvPicPr>
            <a:picLocks noChangeAspect="1"/>
          </p:cNvPicPr>
          <p:nvPr/>
        </p:nvPicPr>
        <p:blipFill>
          <a:blip r:embed="rId5"/>
          <a:stretch>
            <a:fillRect/>
          </a:stretch>
        </p:blipFill>
        <p:spPr>
          <a:xfrm>
            <a:off x="5775959" y="2762251"/>
            <a:ext cx="3057526" cy="2942793"/>
          </a:xfrm>
          <a:prstGeom prst="rect">
            <a:avLst/>
          </a:prstGeom>
        </p:spPr>
      </p:pic>
      <p:pic>
        <p:nvPicPr>
          <p:cNvPr id="17" name="Picture 16">
            <a:extLst>
              <a:ext uri="{FF2B5EF4-FFF2-40B4-BE49-F238E27FC236}">
                <a16:creationId xmlns:a16="http://schemas.microsoft.com/office/drawing/2014/main" id="{6096A7AC-AF56-49F8-B484-207E22170E14}"/>
              </a:ext>
            </a:extLst>
          </p:cNvPr>
          <p:cNvPicPr>
            <a:picLocks noChangeAspect="1"/>
          </p:cNvPicPr>
          <p:nvPr/>
        </p:nvPicPr>
        <p:blipFill>
          <a:blip r:embed="rId6"/>
          <a:stretch>
            <a:fillRect/>
          </a:stretch>
        </p:blipFill>
        <p:spPr>
          <a:xfrm>
            <a:off x="8991600" y="2762251"/>
            <a:ext cx="3057525" cy="283257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3700" y="332656"/>
            <a:ext cx="9040813" cy="6469573"/>
          </a:xfrm>
          <a:prstGeom prst="rect">
            <a:avLst/>
          </a:prstGeom>
        </p:spPr>
      </p:pic>
      <p:sp>
        <p:nvSpPr>
          <p:cNvPr id="6" name="Title 1"/>
          <p:cNvSpPr>
            <a:spLocks noGrp="1"/>
          </p:cNvSpPr>
          <p:nvPr>
            <p:ph type="title"/>
          </p:nvPr>
        </p:nvSpPr>
        <p:spPr>
          <a:xfrm rot="18890340">
            <a:off x="1942784" y="2137449"/>
            <a:ext cx="3551112" cy="1136139"/>
          </a:xfrm>
          <a:solidFill>
            <a:schemeClr val="bg1"/>
          </a:solidFill>
        </p:spPr>
        <p:txBody>
          <a:bodyPr/>
          <a:lstStyle/>
          <a:p>
            <a:endParaRPr lang="en-US" dirty="0">
              <a:solidFill>
                <a:schemeClr val="bg1"/>
              </a:solidFill>
            </a:endParaRPr>
          </a:p>
        </p:txBody>
      </p:sp>
      <p:sp>
        <p:nvSpPr>
          <p:cNvPr id="7" name="Title 1"/>
          <p:cNvSpPr txBox="1">
            <a:spLocks/>
          </p:cNvSpPr>
          <p:nvPr/>
        </p:nvSpPr>
        <p:spPr bwMode="auto">
          <a:xfrm>
            <a:off x="4727849" y="2348880"/>
            <a:ext cx="1364293" cy="432048"/>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mj-lt"/>
                <a:ea typeface="+mj-ea"/>
                <a:cs typeface="+mj-cs"/>
              </a:defRPr>
            </a:lvl1pPr>
            <a:lvl2pPr algn="ctr" rtl="1" eaLnBrk="0" fontAlgn="base" hangingPunct="0">
              <a:spcBef>
                <a:spcPct val="0"/>
              </a:spcBef>
              <a:spcAft>
                <a:spcPct val="0"/>
              </a:spcAft>
              <a:defRPr sz="4400">
                <a:solidFill>
                  <a:schemeClr val="tx2"/>
                </a:solidFill>
                <a:latin typeface="Times New Roman" pitchFamily="18" charset="0"/>
                <a:cs typeface="Arial" pitchFamily="34" charset="0"/>
              </a:defRPr>
            </a:lvl2pPr>
            <a:lvl3pPr algn="ctr" rtl="1" eaLnBrk="0" fontAlgn="base" hangingPunct="0">
              <a:spcBef>
                <a:spcPct val="0"/>
              </a:spcBef>
              <a:spcAft>
                <a:spcPct val="0"/>
              </a:spcAft>
              <a:defRPr sz="4400">
                <a:solidFill>
                  <a:schemeClr val="tx2"/>
                </a:solidFill>
                <a:latin typeface="Times New Roman" pitchFamily="18" charset="0"/>
                <a:cs typeface="Arial" pitchFamily="34" charset="0"/>
              </a:defRPr>
            </a:lvl3pPr>
            <a:lvl4pPr algn="ctr" rtl="1" eaLnBrk="0" fontAlgn="base" hangingPunct="0">
              <a:spcBef>
                <a:spcPct val="0"/>
              </a:spcBef>
              <a:spcAft>
                <a:spcPct val="0"/>
              </a:spcAft>
              <a:defRPr sz="4400">
                <a:solidFill>
                  <a:schemeClr val="tx2"/>
                </a:solidFill>
                <a:latin typeface="Times New Roman" pitchFamily="18" charset="0"/>
                <a:cs typeface="Arial" pitchFamily="34" charset="0"/>
              </a:defRPr>
            </a:lvl4pPr>
            <a:lvl5pPr algn="ctr" rtl="1" eaLnBrk="0" fontAlgn="base" hangingPunct="0">
              <a:spcBef>
                <a:spcPct val="0"/>
              </a:spcBef>
              <a:spcAft>
                <a:spcPct val="0"/>
              </a:spcAft>
              <a:defRPr sz="4400">
                <a:solidFill>
                  <a:schemeClr val="tx2"/>
                </a:solidFill>
                <a:latin typeface="Times New Roman" pitchFamily="18" charset="0"/>
                <a:cs typeface="Arial" pitchFamily="34" charset="0"/>
              </a:defRPr>
            </a:lvl5pPr>
            <a:lvl6pPr marL="457200" algn="ctr" rtl="1" fontAlgn="base">
              <a:spcBef>
                <a:spcPct val="0"/>
              </a:spcBef>
              <a:spcAft>
                <a:spcPct val="0"/>
              </a:spcAft>
              <a:defRPr sz="4400">
                <a:solidFill>
                  <a:schemeClr val="tx2"/>
                </a:solidFill>
                <a:latin typeface="Times New Roman" pitchFamily="18" charset="0"/>
                <a:cs typeface="Arial" pitchFamily="34" charset="0"/>
              </a:defRPr>
            </a:lvl6pPr>
            <a:lvl7pPr marL="914400" algn="ctr" rtl="1" fontAlgn="base">
              <a:spcBef>
                <a:spcPct val="0"/>
              </a:spcBef>
              <a:spcAft>
                <a:spcPct val="0"/>
              </a:spcAft>
              <a:defRPr sz="4400">
                <a:solidFill>
                  <a:schemeClr val="tx2"/>
                </a:solidFill>
                <a:latin typeface="Times New Roman" pitchFamily="18" charset="0"/>
                <a:cs typeface="Arial" pitchFamily="34" charset="0"/>
              </a:defRPr>
            </a:lvl7pPr>
            <a:lvl8pPr marL="1371600" algn="ctr" rtl="1" fontAlgn="base">
              <a:spcBef>
                <a:spcPct val="0"/>
              </a:spcBef>
              <a:spcAft>
                <a:spcPct val="0"/>
              </a:spcAft>
              <a:defRPr sz="4400">
                <a:solidFill>
                  <a:schemeClr val="tx2"/>
                </a:solidFill>
                <a:latin typeface="Times New Roman" pitchFamily="18" charset="0"/>
                <a:cs typeface="Arial" pitchFamily="34" charset="0"/>
              </a:defRPr>
            </a:lvl8pPr>
            <a:lvl9pPr marL="1828800" algn="ctr" rtl="1" fontAlgn="base">
              <a:spcBef>
                <a:spcPct val="0"/>
              </a:spcBef>
              <a:spcAft>
                <a:spcPct val="0"/>
              </a:spcAft>
              <a:defRPr sz="4400">
                <a:solidFill>
                  <a:schemeClr val="tx2"/>
                </a:solidFill>
                <a:latin typeface="Times New Roman" pitchFamily="18" charset="0"/>
                <a:cs typeface="Arial" pitchFamily="34" charset="0"/>
              </a:defRPr>
            </a:lvl9pPr>
          </a:lstStyle>
          <a:p>
            <a:r>
              <a:rPr lang="ar-AE" sz="2400" b="1" kern="0" dirty="0">
                <a:solidFill>
                  <a:schemeClr val="tx1"/>
                </a:solidFill>
                <a:latin typeface="+mn-lt"/>
                <a:cs typeface="+mn-cs"/>
              </a:rPr>
              <a:t>إقليم أحيائي</a:t>
            </a:r>
            <a:endParaRPr lang="en-US" sz="2400" b="1" kern="0" dirty="0">
              <a:latin typeface="+mn-lt"/>
              <a:cs typeface="+mn-cs"/>
            </a:endParaRPr>
          </a:p>
        </p:txBody>
      </p:sp>
    </p:spTree>
    <p:extLst>
      <p:ext uri="{BB962C8B-B14F-4D97-AF65-F5344CB8AC3E}">
        <p14:creationId xmlns:p14="http://schemas.microsoft.com/office/powerpoint/2010/main" val="1398559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3. أرتّب مستويات التنظيم البيئي من الكائن الحي إلى الغلاف الحيوي.</a:t>
            </a:r>
          </a:p>
        </p:txBody>
      </p:sp>
      <p:sp>
        <p:nvSpPr>
          <p:cNvPr id="10" name="TextBox 9"/>
          <p:cNvSpPr txBox="1"/>
          <p:nvPr/>
        </p:nvSpPr>
        <p:spPr>
          <a:xfrm>
            <a:off x="2590804" y="1162050"/>
            <a:ext cx="9458325" cy="438150"/>
          </a:xfrm>
          <a:prstGeom prst="rect">
            <a:avLst/>
          </a:prstGeom>
          <a:noFill/>
        </p:spPr>
        <p:txBody>
          <a:bodyPr wrap="square" lIns="0" tIns="0" rIns="0" bIns="0" anchor="ctr">
            <a:noAutofit/>
          </a:bodyPr>
          <a:lstStyle/>
          <a:p>
            <a:pPr algn="r" rtl="1"/>
            <a:r>
              <a:rPr lang="ar-AE" sz="2200" b="1" i="0">
                <a:solidFill>
                  <a:srgbClr val="173754"/>
                </a:solidFill>
                <a:latin typeface="Arial"/>
                <a:ea typeface="Arial"/>
                <a:cs typeface="Arial"/>
              </a:rPr>
              <a:t>نشاط تعاوني: سلّم التنظيم البيئي</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4 د – نشاط تعاوني</a:t>
            </a:r>
          </a:p>
        </p:txBody>
      </p:sp>
      <p:sp>
        <p:nvSpPr>
          <p:cNvPr id="12" name="Rounded Rectangle 11"/>
          <p:cNvSpPr/>
          <p:nvPr/>
        </p:nvSpPr>
        <p:spPr>
          <a:xfrm>
            <a:off x="2590800" y="1600200"/>
            <a:ext cx="9458325" cy="2857500"/>
          </a:xfrm>
          <a:prstGeom prst="roundRect">
            <a:avLst/>
          </a:prstGeom>
          <a:solidFill>
            <a:srgbClr val="EFF3F8"/>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r" rtl="1"/>
            <a:r>
              <a:rPr lang="ar-AE" sz="1500" b="1" i="0">
                <a:solidFill>
                  <a:srgbClr val="0E6E6E"/>
                </a:solidFill>
                <a:latin typeface="Arial"/>
                <a:ea typeface="Arial"/>
                <a:cs typeface="Arial"/>
              </a:rPr>
              <a:t>🤝 بنفس مجموعاتك:</a:t>
            </a:r>
          </a:p>
          <a:p>
            <a:pPr algn="r" rtl="1">
              <a:spcBef>
                <a:spcPts val="600"/>
              </a:spcBef>
            </a:pPr>
            <a:r>
              <a:rPr lang="ar-AE" sz="1350" b="0" i="0">
                <a:solidFill>
                  <a:srgbClr val="10243B"/>
                </a:solidFill>
                <a:latin typeface="Arial"/>
                <a:ea typeface="Arial"/>
                <a:cs typeface="Arial"/>
              </a:rPr>
              <a:t>•  استلم 6 بطاقات: (كائن حي، جماعة أحيائية، مجتمع أحيائي، نظام بيئي، إقليم أحيائي، غلاف حيوي).</a:t>
            </a:r>
          </a:p>
          <a:p>
            <a:pPr algn="r" rtl="1">
              <a:spcBef>
                <a:spcPts val="600"/>
              </a:spcBef>
            </a:pPr>
            <a:r>
              <a:rPr lang="ar-AE" sz="1350" b="0" i="0">
                <a:solidFill>
                  <a:srgbClr val="10243B"/>
                </a:solidFill>
                <a:latin typeface="Arial"/>
                <a:ea typeface="Arial"/>
                <a:cs typeface="Arial"/>
              </a:rPr>
              <a:t>•  رتّبها على طاولتك من الأصغر إلى الأكبر خلال دقيقتين.</a:t>
            </a:r>
          </a:p>
          <a:p>
            <a:pPr algn="r" rtl="1">
              <a:spcBef>
                <a:spcPts val="600"/>
              </a:spcBef>
            </a:pPr>
            <a:r>
              <a:rPr lang="ar-AE" sz="1350" b="0" i="0">
                <a:solidFill>
                  <a:srgbClr val="10243B"/>
                </a:solidFill>
                <a:latin typeface="Arial"/>
                <a:ea typeface="Arial"/>
                <a:cs typeface="Arial"/>
              </a:rPr>
              <a:t>•  اختر مثالاً واحداً من بيئتك (كالحديقة أو الصحراء) وطبّق عليه المستويات الستة.</a:t>
            </a:r>
          </a:p>
          <a:p>
            <a:pPr algn="r" rtl="1">
              <a:spcBef>
                <a:spcPts val="600"/>
              </a:spcBef>
            </a:pPr>
            <a:r>
              <a:rPr lang="ar-AE" sz="1350" b="0" i="0">
                <a:solidFill>
                  <a:srgbClr val="10243B"/>
                </a:solidFill>
                <a:latin typeface="Arial"/>
                <a:ea typeface="Arial"/>
                <a:cs typeface="Arial"/>
              </a:rPr>
              <a:t>•  🏆 المجموعة الأدق والأسرع تُسجَّل نجمة تميّز إضافية على لوحة الصف.</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648370" y="5835352"/>
            <a:ext cx="3685486" cy="762000"/>
          </a:xfrm>
          <a:solidFill>
            <a:srgbClr val="CCFFFF"/>
          </a:solidFill>
        </p:spPr>
        <p:txBody>
          <a:bodyPr/>
          <a:lstStyle/>
          <a:p>
            <a:pPr eaLnBrk="1" hangingPunct="1"/>
            <a:r>
              <a:rPr lang="ar-SA" sz="3200" dirty="0">
                <a:solidFill>
                  <a:schemeClr val="tx1"/>
                </a:solidFill>
                <a:cs typeface="MCS Gulf S_U normal." pitchFamily="2" charset="-78"/>
              </a:rPr>
              <a:t>الغلاف </a:t>
            </a:r>
            <a:r>
              <a:rPr lang="ar-AE" sz="3200" dirty="0">
                <a:solidFill>
                  <a:schemeClr val="tx1"/>
                </a:solidFill>
                <a:cs typeface="MCS Gulf S_U normal." pitchFamily="2" charset="-78"/>
              </a:rPr>
              <a:t>الحيوي</a:t>
            </a:r>
            <a:endParaRPr lang="en-US" sz="3200" dirty="0">
              <a:solidFill>
                <a:schemeClr val="tx1"/>
              </a:solidFill>
              <a:cs typeface="MCS Gulf S_U normal." pitchFamily="2" charset="-78"/>
            </a:endParaRPr>
          </a:p>
        </p:txBody>
      </p:sp>
      <p:sp>
        <p:nvSpPr>
          <p:cNvPr id="8197" name="Rectangle 5"/>
          <p:cNvSpPr>
            <a:spLocks noChangeArrowheads="1"/>
          </p:cNvSpPr>
          <p:nvPr/>
        </p:nvSpPr>
        <p:spPr bwMode="auto">
          <a:xfrm>
            <a:off x="6653132" y="3068961"/>
            <a:ext cx="3657600" cy="715963"/>
          </a:xfrm>
          <a:prstGeom prst="rect">
            <a:avLst/>
          </a:prstGeom>
          <a:solidFill>
            <a:srgbClr val="CCFFFF"/>
          </a:solidFill>
          <a:ln w="9525">
            <a:noFill/>
            <a:miter lim="800000"/>
            <a:headEnd/>
            <a:tailEnd/>
          </a:ln>
        </p:spPr>
        <p:txBody>
          <a:bodyPr anchor="ctr"/>
          <a:lstStyle/>
          <a:p>
            <a:pPr algn="ctr" defTabSz="914400" rtl="1" fontAlgn="base">
              <a:spcBef>
                <a:spcPct val="0"/>
              </a:spcBef>
              <a:spcAft>
                <a:spcPct val="0"/>
              </a:spcAft>
            </a:pPr>
            <a:r>
              <a:rPr lang="ar-SA" sz="3200">
                <a:solidFill>
                  <a:srgbClr val="000000"/>
                </a:solidFill>
                <a:latin typeface="Times New Roman" pitchFamily="18" charset="0"/>
                <a:cs typeface="MCS Gulf S_U normal." pitchFamily="2" charset="-78"/>
              </a:rPr>
              <a:t>المجتمع الأحيائي</a:t>
            </a:r>
            <a:endParaRPr lang="en-US" sz="3200">
              <a:solidFill>
                <a:srgbClr val="000000"/>
              </a:solidFill>
              <a:latin typeface="Times New Roman" pitchFamily="18" charset="0"/>
              <a:cs typeface="MCS Gulf S_U normal." pitchFamily="2" charset="-78"/>
            </a:endParaRPr>
          </a:p>
        </p:txBody>
      </p:sp>
      <p:sp>
        <p:nvSpPr>
          <p:cNvPr id="8198" name="Rectangle 6"/>
          <p:cNvSpPr>
            <a:spLocks noChangeArrowheads="1"/>
          </p:cNvSpPr>
          <p:nvPr/>
        </p:nvSpPr>
        <p:spPr bwMode="auto">
          <a:xfrm>
            <a:off x="6653132" y="2132857"/>
            <a:ext cx="3657600" cy="792163"/>
          </a:xfrm>
          <a:prstGeom prst="rect">
            <a:avLst/>
          </a:prstGeom>
          <a:solidFill>
            <a:srgbClr val="CCFFFF"/>
          </a:solidFill>
          <a:ln w="9525">
            <a:noFill/>
            <a:miter lim="800000"/>
            <a:headEnd/>
            <a:tailEnd/>
          </a:ln>
        </p:spPr>
        <p:txBody>
          <a:bodyPr anchor="ctr"/>
          <a:lstStyle/>
          <a:p>
            <a:pPr algn="ctr" defTabSz="914400" rtl="1" fontAlgn="base">
              <a:spcBef>
                <a:spcPct val="0"/>
              </a:spcBef>
              <a:spcAft>
                <a:spcPct val="0"/>
              </a:spcAft>
            </a:pPr>
            <a:r>
              <a:rPr lang="ar-SA" sz="3200">
                <a:solidFill>
                  <a:srgbClr val="000000"/>
                </a:solidFill>
                <a:latin typeface="Times New Roman" pitchFamily="18" charset="0"/>
                <a:cs typeface="MCS Gulf S_U normal." pitchFamily="2" charset="-78"/>
              </a:rPr>
              <a:t>الجماعة الأحيائية</a:t>
            </a:r>
            <a:endParaRPr lang="en-US" sz="3200">
              <a:solidFill>
                <a:srgbClr val="000000"/>
              </a:solidFill>
              <a:latin typeface="Times New Roman" pitchFamily="18" charset="0"/>
              <a:cs typeface="MCS Gulf S_U normal." pitchFamily="2" charset="-78"/>
            </a:endParaRPr>
          </a:p>
        </p:txBody>
      </p:sp>
      <p:sp>
        <p:nvSpPr>
          <p:cNvPr id="8199" name="Rectangle 7"/>
          <p:cNvSpPr>
            <a:spLocks noChangeArrowheads="1"/>
          </p:cNvSpPr>
          <p:nvPr/>
        </p:nvSpPr>
        <p:spPr bwMode="auto">
          <a:xfrm>
            <a:off x="6648370" y="1156963"/>
            <a:ext cx="3657600" cy="838200"/>
          </a:xfrm>
          <a:prstGeom prst="rect">
            <a:avLst/>
          </a:prstGeom>
          <a:solidFill>
            <a:srgbClr val="CCFFFF"/>
          </a:solidFill>
          <a:ln w="9525">
            <a:noFill/>
            <a:miter lim="800000"/>
            <a:headEnd/>
            <a:tailEnd/>
          </a:ln>
        </p:spPr>
        <p:txBody>
          <a:bodyPr anchor="ctr"/>
          <a:lstStyle/>
          <a:p>
            <a:pPr algn="ctr" defTabSz="914400" rtl="1" fontAlgn="base">
              <a:spcBef>
                <a:spcPct val="0"/>
              </a:spcBef>
              <a:spcAft>
                <a:spcPct val="0"/>
              </a:spcAft>
            </a:pPr>
            <a:r>
              <a:rPr lang="ar-SA" sz="3200">
                <a:solidFill>
                  <a:srgbClr val="000000"/>
                </a:solidFill>
                <a:latin typeface="Times New Roman" pitchFamily="18" charset="0"/>
                <a:cs typeface="MCS Gulf S_U normal." pitchFamily="2" charset="-78"/>
              </a:rPr>
              <a:t>النظام البيئي</a:t>
            </a:r>
            <a:endParaRPr lang="en-US" sz="3200">
              <a:solidFill>
                <a:srgbClr val="000000"/>
              </a:solidFill>
              <a:latin typeface="Times New Roman" pitchFamily="18" charset="0"/>
              <a:cs typeface="MCS Gulf S_U normal." pitchFamily="2" charset="-78"/>
            </a:endParaRPr>
          </a:p>
        </p:txBody>
      </p:sp>
      <p:sp>
        <p:nvSpPr>
          <p:cNvPr id="8200" name="Rectangle 8"/>
          <p:cNvSpPr>
            <a:spLocks noChangeArrowheads="1"/>
          </p:cNvSpPr>
          <p:nvPr/>
        </p:nvSpPr>
        <p:spPr bwMode="auto">
          <a:xfrm>
            <a:off x="6653132" y="3933057"/>
            <a:ext cx="3657600" cy="792163"/>
          </a:xfrm>
          <a:prstGeom prst="rect">
            <a:avLst/>
          </a:prstGeom>
          <a:solidFill>
            <a:srgbClr val="CCFFFF"/>
          </a:solidFill>
          <a:ln w="9525">
            <a:noFill/>
            <a:miter lim="800000"/>
            <a:headEnd/>
            <a:tailEnd/>
          </a:ln>
        </p:spPr>
        <p:txBody>
          <a:bodyPr anchor="ctr"/>
          <a:lstStyle/>
          <a:p>
            <a:pPr algn="ctr" defTabSz="914400" rtl="1" fontAlgn="base">
              <a:spcBef>
                <a:spcPct val="0"/>
              </a:spcBef>
              <a:spcAft>
                <a:spcPct val="0"/>
              </a:spcAft>
            </a:pPr>
            <a:r>
              <a:rPr lang="ar-SA" sz="3200">
                <a:solidFill>
                  <a:srgbClr val="000000"/>
                </a:solidFill>
                <a:latin typeface="Times New Roman" pitchFamily="18" charset="0"/>
                <a:cs typeface="MCS Gulf S_U normal." pitchFamily="2" charset="-78"/>
              </a:rPr>
              <a:t>الكائن الحي</a:t>
            </a:r>
            <a:endParaRPr lang="en-US" sz="3200">
              <a:solidFill>
                <a:srgbClr val="000000"/>
              </a:solidFill>
              <a:latin typeface="Times New Roman" pitchFamily="18" charset="0"/>
              <a:cs typeface="MCS Gulf S_U normal." pitchFamily="2" charset="-78"/>
            </a:endParaRPr>
          </a:p>
        </p:txBody>
      </p:sp>
      <p:sp>
        <p:nvSpPr>
          <p:cNvPr id="2" name="Rectangle 9"/>
          <p:cNvSpPr>
            <a:spLocks noChangeArrowheads="1"/>
          </p:cNvSpPr>
          <p:nvPr/>
        </p:nvSpPr>
        <p:spPr bwMode="auto">
          <a:xfrm>
            <a:off x="1524000" y="1"/>
            <a:ext cx="9144000" cy="981075"/>
          </a:xfrm>
          <a:prstGeom prst="rect">
            <a:avLst/>
          </a:prstGeom>
          <a:solidFill>
            <a:srgbClr val="FFFF99"/>
          </a:solidFill>
          <a:ln w="9525">
            <a:noFill/>
            <a:miter lim="800000"/>
            <a:headEnd/>
            <a:tailEnd/>
          </a:ln>
        </p:spPr>
        <p:txBody>
          <a:bodyPr anchor="ctr"/>
          <a:lstStyle/>
          <a:p>
            <a:pPr algn="ctr" defTabSz="914400" rtl="1" fontAlgn="base">
              <a:spcBef>
                <a:spcPct val="0"/>
              </a:spcBef>
              <a:spcAft>
                <a:spcPct val="0"/>
              </a:spcAft>
            </a:pPr>
            <a:r>
              <a:rPr lang="ar-SA" sz="4400" b="1">
                <a:solidFill>
                  <a:srgbClr val="FF0000"/>
                </a:solidFill>
                <a:latin typeface="Times New Roman" pitchFamily="18" charset="0"/>
                <a:cs typeface="Arial" pitchFamily="34" charset="0"/>
              </a:rPr>
              <a:t>رتب مستويات التنظيم البيئي بدءا بأكثرها شمولية </a:t>
            </a:r>
            <a:endParaRPr lang="en-US" sz="4400" b="1">
              <a:solidFill>
                <a:srgbClr val="FF0000"/>
              </a:solidFill>
              <a:latin typeface="Times New Roman" pitchFamily="18" charset="0"/>
              <a:cs typeface="Arial" pitchFamily="34" charset="0"/>
            </a:endParaRPr>
          </a:p>
        </p:txBody>
      </p:sp>
      <p:sp>
        <p:nvSpPr>
          <p:cNvPr id="15" name="Rectangle 2"/>
          <p:cNvSpPr txBox="1">
            <a:spLocks noChangeArrowheads="1"/>
          </p:cNvSpPr>
          <p:nvPr/>
        </p:nvSpPr>
        <p:spPr bwMode="auto">
          <a:xfrm>
            <a:off x="1847529" y="1124744"/>
            <a:ext cx="3385071" cy="762000"/>
          </a:xfrm>
          <a:prstGeom prst="rect">
            <a:avLst/>
          </a:prstGeom>
          <a:solidFill>
            <a:schemeClr val="accent6">
              <a:lumMod val="40000"/>
              <a:lumOff val="60000"/>
            </a:schemeClr>
          </a:solidFill>
          <a:ln w="9525">
            <a:noFill/>
            <a:miter lim="800000"/>
            <a:headEnd/>
            <a:tailEnd/>
          </a:ln>
        </p:spPr>
        <p:txBody>
          <a:bodyPr anchor="ctr"/>
          <a:lstStyle/>
          <a:p>
            <a:pPr algn="ctr" defTabSz="914400" rtl="1" fontAlgn="base">
              <a:spcBef>
                <a:spcPct val="0"/>
              </a:spcBef>
              <a:spcAft>
                <a:spcPct val="0"/>
              </a:spcAft>
              <a:defRPr/>
            </a:pPr>
            <a:r>
              <a:rPr lang="ar-SA" sz="3200" b="1" kern="0" dirty="0">
                <a:solidFill>
                  <a:srgbClr val="000000"/>
                </a:solidFill>
                <a:latin typeface="Times New Roman"/>
                <a:cs typeface="MCS Gulf S_U normal." pitchFamily="2" charset="-78"/>
              </a:rPr>
              <a:t>الغلاف </a:t>
            </a:r>
            <a:r>
              <a:rPr lang="ar-AE" sz="3200" b="1" kern="0" dirty="0">
                <a:solidFill>
                  <a:srgbClr val="000000"/>
                </a:solidFill>
                <a:latin typeface="Times New Roman"/>
                <a:cs typeface="MCS Gulf S_U normal." pitchFamily="2" charset="-78"/>
              </a:rPr>
              <a:t>الحيوي</a:t>
            </a:r>
            <a:endParaRPr lang="en-US" sz="3200" b="1" kern="0" dirty="0">
              <a:solidFill>
                <a:srgbClr val="000000"/>
              </a:solidFill>
              <a:latin typeface="Times New Roman"/>
              <a:cs typeface="MCS Gulf S_U normal." pitchFamily="2" charset="-78"/>
            </a:endParaRPr>
          </a:p>
        </p:txBody>
      </p:sp>
      <p:sp>
        <p:nvSpPr>
          <p:cNvPr id="16" name="Rectangle 7"/>
          <p:cNvSpPr>
            <a:spLocks noChangeArrowheads="1"/>
          </p:cNvSpPr>
          <p:nvPr/>
        </p:nvSpPr>
        <p:spPr bwMode="auto">
          <a:xfrm>
            <a:off x="1851025" y="2924944"/>
            <a:ext cx="3381574" cy="838200"/>
          </a:xfrm>
          <a:prstGeom prst="rect">
            <a:avLst/>
          </a:prstGeom>
          <a:solidFill>
            <a:schemeClr val="accent6">
              <a:lumMod val="40000"/>
              <a:lumOff val="60000"/>
            </a:schemeClr>
          </a:solidFill>
          <a:ln w="9525">
            <a:noFill/>
            <a:miter lim="800000"/>
            <a:headEnd/>
            <a:tailEnd/>
          </a:ln>
        </p:spPr>
        <p:txBody>
          <a:bodyPr anchor="ctr"/>
          <a:lstStyle/>
          <a:p>
            <a:pPr algn="ctr" defTabSz="914400" rtl="1" fontAlgn="base">
              <a:spcBef>
                <a:spcPct val="0"/>
              </a:spcBef>
              <a:spcAft>
                <a:spcPct val="0"/>
              </a:spcAft>
              <a:defRPr/>
            </a:pPr>
            <a:r>
              <a:rPr lang="ar-SA" sz="3200" b="1">
                <a:solidFill>
                  <a:srgbClr val="000000"/>
                </a:solidFill>
                <a:latin typeface="Times New Roman" pitchFamily="18" charset="0"/>
                <a:cs typeface="MCS Gulf S_U normal." pitchFamily="2" charset="-78"/>
              </a:rPr>
              <a:t>النظام البيئي</a:t>
            </a:r>
            <a:endParaRPr lang="en-US" sz="3200" b="1">
              <a:solidFill>
                <a:srgbClr val="000000"/>
              </a:solidFill>
              <a:latin typeface="Times New Roman" pitchFamily="18" charset="0"/>
              <a:cs typeface="MCS Gulf S_U normal." pitchFamily="2" charset="-78"/>
            </a:endParaRPr>
          </a:p>
        </p:txBody>
      </p:sp>
      <p:sp>
        <p:nvSpPr>
          <p:cNvPr id="17" name="Rectangle 5"/>
          <p:cNvSpPr>
            <a:spLocks noChangeArrowheads="1"/>
          </p:cNvSpPr>
          <p:nvPr/>
        </p:nvSpPr>
        <p:spPr bwMode="auto">
          <a:xfrm>
            <a:off x="1818927" y="3911278"/>
            <a:ext cx="3413672" cy="813867"/>
          </a:xfrm>
          <a:prstGeom prst="rect">
            <a:avLst/>
          </a:prstGeom>
          <a:solidFill>
            <a:schemeClr val="accent6">
              <a:lumMod val="40000"/>
              <a:lumOff val="60000"/>
            </a:schemeClr>
          </a:solidFill>
          <a:ln w="9525">
            <a:noFill/>
            <a:miter lim="800000"/>
            <a:headEnd/>
            <a:tailEnd/>
          </a:ln>
        </p:spPr>
        <p:txBody>
          <a:bodyPr anchor="ctr"/>
          <a:lstStyle/>
          <a:p>
            <a:pPr algn="ctr" defTabSz="914400" rtl="1" fontAlgn="base">
              <a:spcBef>
                <a:spcPct val="0"/>
              </a:spcBef>
              <a:spcAft>
                <a:spcPct val="0"/>
              </a:spcAft>
              <a:defRPr/>
            </a:pPr>
            <a:r>
              <a:rPr lang="ar-SA" sz="3200" b="1">
                <a:solidFill>
                  <a:srgbClr val="000000"/>
                </a:solidFill>
                <a:latin typeface="Times New Roman" pitchFamily="18" charset="0"/>
                <a:cs typeface="MCS Gulf S_U normal." pitchFamily="2" charset="-78"/>
              </a:rPr>
              <a:t>المجتمع الأحيائي</a:t>
            </a:r>
            <a:endParaRPr lang="en-US" sz="3200" b="1">
              <a:solidFill>
                <a:srgbClr val="000000"/>
              </a:solidFill>
              <a:latin typeface="Times New Roman" pitchFamily="18" charset="0"/>
              <a:cs typeface="MCS Gulf S_U normal." pitchFamily="2" charset="-78"/>
            </a:endParaRPr>
          </a:p>
        </p:txBody>
      </p:sp>
      <p:sp>
        <p:nvSpPr>
          <p:cNvPr id="18" name="Rectangle 6"/>
          <p:cNvSpPr>
            <a:spLocks noChangeArrowheads="1"/>
          </p:cNvSpPr>
          <p:nvPr/>
        </p:nvSpPr>
        <p:spPr bwMode="auto">
          <a:xfrm>
            <a:off x="1818927" y="4869161"/>
            <a:ext cx="3413672" cy="792163"/>
          </a:xfrm>
          <a:prstGeom prst="rect">
            <a:avLst/>
          </a:prstGeom>
          <a:solidFill>
            <a:schemeClr val="accent6">
              <a:lumMod val="40000"/>
              <a:lumOff val="60000"/>
            </a:schemeClr>
          </a:solidFill>
          <a:ln w="9525">
            <a:noFill/>
            <a:miter lim="800000"/>
            <a:headEnd/>
            <a:tailEnd/>
          </a:ln>
        </p:spPr>
        <p:txBody>
          <a:bodyPr anchor="ctr"/>
          <a:lstStyle/>
          <a:p>
            <a:pPr algn="ctr" defTabSz="914400" rtl="1" fontAlgn="base">
              <a:spcBef>
                <a:spcPct val="0"/>
              </a:spcBef>
              <a:spcAft>
                <a:spcPct val="0"/>
              </a:spcAft>
              <a:defRPr/>
            </a:pPr>
            <a:r>
              <a:rPr lang="ar-SA" sz="3200" b="1">
                <a:solidFill>
                  <a:srgbClr val="000000"/>
                </a:solidFill>
                <a:latin typeface="Times New Roman" pitchFamily="18" charset="0"/>
                <a:cs typeface="MCS Gulf S_U normal." pitchFamily="2" charset="-78"/>
              </a:rPr>
              <a:t>الجماعة الأحيائية</a:t>
            </a:r>
            <a:endParaRPr lang="en-US" sz="3200" b="1">
              <a:solidFill>
                <a:srgbClr val="000000"/>
              </a:solidFill>
              <a:latin typeface="Times New Roman" pitchFamily="18" charset="0"/>
              <a:cs typeface="MCS Gulf S_U normal." pitchFamily="2" charset="-78"/>
            </a:endParaRPr>
          </a:p>
        </p:txBody>
      </p:sp>
      <p:sp>
        <p:nvSpPr>
          <p:cNvPr id="19" name="Rectangle 8"/>
          <p:cNvSpPr>
            <a:spLocks noChangeArrowheads="1"/>
          </p:cNvSpPr>
          <p:nvPr/>
        </p:nvSpPr>
        <p:spPr bwMode="auto">
          <a:xfrm>
            <a:off x="1818927" y="5837982"/>
            <a:ext cx="3413672" cy="759371"/>
          </a:xfrm>
          <a:prstGeom prst="rect">
            <a:avLst/>
          </a:prstGeom>
          <a:solidFill>
            <a:schemeClr val="accent6">
              <a:lumMod val="40000"/>
              <a:lumOff val="60000"/>
            </a:schemeClr>
          </a:solidFill>
          <a:ln w="9525">
            <a:noFill/>
            <a:miter lim="800000"/>
            <a:headEnd/>
            <a:tailEnd/>
          </a:ln>
        </p:spPr>
        <p:txBody>
          <a:bodyPr anchor="ctr"/>
          <a:lstStyle/>
          <a:p>
            <a:pPr algn="ctr" defTabSz="914400" rtl="1" fontAlgn="base">
              <a:spcBef>
                <a:spcPct val="0"/>
              </a:spcBef>
              <a:spcAft>
                <a:spcPct val="0"/>
              </a:spcAft>
              <a:defRPr/>
            </a:pPr>
            <a:r>
              <a:rPr lang="ar-SA" sz="3200" b="1">
                <a:solidFill>
                  <a:srgbClr val="000000"/>
                </a:solidFill>
                <a:latin typeface="Times New Roman" pitchFamily="18" charset="0"/>
                <a:cs typeface="MCS Gulf S_U normal." pitchFamily="2" charset="-78"/>
              </a:rPr>
              <a:t>الكائن الحي</a:t>
            </a:r>
            <a:endParaRPr lang="en-US" sz="3200" b="1">
              <a:solidFill>
                <a:srgbClr val="000000"/>
              </a:solidFill>
              <a:latin typeface="Times New Roman" pitchFamily="18" charset="0"/>
              <a:cs typeface="MCS Gulf S_U normal." pitchFamily="2" charset="-78"/>
            </a:endParaRPr>
          </a:p>
        </p:txBody>
      </p:sp>
      <p:sp>
        <p:nvSpPr>
          <p:cNvPr id="20" name="Rectangle 8"/>
          <p:cNvSpPr>
            <a:spLocks noChangeArrowheads="1"/>
          </p:cNvSpPr>
          <p:nvPr/>
        </p:nvSpPr>
        <p:spPr bwMode="auto">
          <a:xfrm>
            <a:off x="6648370" y="4869086"/>
            <a:ext cx="3657600" cy="792163"/>
          </a:xfrm>
          <a:prstGeom prst="rect">
            <a:avLst/>
          </a:prstGeom>
          <a:solidFill>
            <a:srgbClr val="CCFFFF"/>
          </a:solidFill>
          <a:ln w="9525">
            <a:noFill/>
            <a:miter lim="800000"/>
            <a:headEnd/>
            <a:tailEnd/>
          </a:ln>
        </p:spPr>
        <p:txBody>
          <a:bodyPr anchor="ctr"/>
          <a:lstStyle/>
          <a:p>
            <a:pPr algn="ctr" defTabSz="914400" rtl="1" fontAlgn="base">
              <a:spcBef>
                <a:spcPct val="0"/>
              </a:spcBef>
              <a:spcAft>
                <a:spcPct val="0"/>
              </a:spcAft>
            </a:pPr>
            <a:r>
              <a:rPr lang="ar-AE" sz="3200" dirty="0">
                <a:solidFill>
                  <a:srgbClr val="000000"/>
                </a:solidFill>
                <a:latin typeface="Times New Roman" pitchFamily="18" charset="0"/>
                <a:cs typeface="MCS Gulf S_U normal." pitchFamily="2" charset="-78"/>
              </a:rPr>
              <a:t>الإقليم </a:t>
            </a:r>
            <a:r>
              <a:rPr lang="ar-SA" sz="3200" dirty="0">
                <a:solidFill>
                  <a:srgbClr val="000000"/>
                </a:solidFill>
                <a:latin typeface="Times New Roman" pitchFamily="18" charset="0"/>
                <a:cs typeface="MCS Gulf S_U normal." pitchFamily="2" charset="-78"/>
              </a:rPr>
              <a:t>الأحيائي</a:t>
            </a:r>
            <a:endParaRPr lang="en-US" sz="3200" dirty="0">
              <a:solidFill>
                <a:srgbClr val="000000"/>
              </a:solidFill>
              <a:latin typeface="Times New Roman" pitchFamily="18" charset="0"/>
              <a:cs typeface="MCS Gulf S_U normal." pitchFamily="2" charset="-78"/>
            </a:endParaRPr>
          </a:p>
        </p:txBody>
      </p:sp>
      <p:sp>
        <p:nvSpPr>
          <p:cNvPr id="21" name="Rectangle 8"/>
          <p:cNvSpPr>
            <a:spLocks noChangeArrowheads="1"/>
          </p:cNvSpPr>
          <p:nvPr/>
        </p:nvSpPr>
        <p:spPr bwMode="auto">
          <a:xfrm>
            <a:off x="1818927" y="2021558"/>
            <a:ext cx="3413672" cy="759371"/>
          </a:xfrm>
          <a:prstGeom prst="rect">
            <a:avLst/>
          </a:prstGeom>
          <a:solidFill>
            <a:schemeClr val="accent6">
              <a:lumMod val="40000"/>
              <a:lumOff val="60000"/>
            </a:schemeClr>
          </a:solidFill>
          <a:ln w="9525">
            <a:noFill/>
            <a:miter lim="800000"/>
            <a:headEnd/>
            <a:tailEnd/>
          </a:ln>
        </p:spPr>
        <p:txBody>
          <a:bodyPr anchor="ctr"/>
          <a:lstStyle/>
          <a:p>
            <a:pPr algn="ctr" defTabSz="914400" rtl="1" fontAlgn="base">
              <a:spcBef>
                <a:spcPct val="0"/>
              </a:spcBef>
              <a:spcAft>
                <a:spcPct val="0"/>
              </a:spcAft>
              <a:defRPr/>
            </a:pPr>
            <a:r>
              <a:rPr lang="ar-SA" sz="3200" b="1" dirty="0">
                <a:solidFill>
                  <a:srgbClr val="000000"/>
                </a:solidFill>
                <a:latin typeface="Times New Roman" pitchFamily="18" charset="0"/>
                <a:cs typeface="MCS Gulf S_U normal." pitchFamily="2" charset="-78"/>
              </a:rPr>
              <a:t>ال</a:t>
            </a:r>
            <a:r>
              <a:rPr lang="ar-AE" sz="3200" b="1" dirty="0">
                <a:solidFill>
                  <a:srgbClr val="000000"/>
                </a:solidFill>
                <a:latin typeface="Times New Roman" pitchFamily="18" charset="0"/>
                <a:cs typeface="MCS Gulf S_U normal." pitchFamily="2" charset="-78"/>
              </a:rPr>
              <a:t>إقليم الأحيائي</a:t>
            </a:r>
            <a:endParaRPr lang="en-US" sz="3200" b="1" dirty="0">
              <a:solidFill>
                <a:srgbClr val="000000"/>
              </a:solidFill>
              <a:latin typeface="Times New Roman" pitchFamily="18" charset="0"/>
              <a:cs typeface="MCS Gulf S_U normal."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08214" y="2276475"/>
            <a:ext cx="2878137" cy="914400"/>
          </a:xfrm>
          <a:solidFill>
            <a:srgbClr val="CCFFFF"/>
          </a:solidFill>
        </p:spPr>
        <p:txBody>
          <a:bodyPr/>
          <a:lstStyle/>
          <a:p>
            <a:pPr eaLnBrk="1" hangingPunct="1"/>
            <a:r>
              <a:rPr lang="ar-SA" sz="3600" b="1">
                <a:solidFill>
                  <a:srgbClr val="FF0000"/>
                </a:solidFill>
              </a:rPr>
              <a:t>الغلاف الأحيائي</a:t>
            </a:r>
            <a:endParaRPr lang="en-US" sz="3600" b="1">
              <a:solidFill>
                <a:srgbClr val="FF0000"/>
              </a:solidFill>
            </a:endParaRPr>
          </a:p>
        </p:txBody>
      </p:sp>
      <p:pic>
        <p:nvPicPr>
          <p:cNvPr id="9219" name="Picture 3"/>
          <p:cNvPicPr>
            <a:picLocks noGrp="1" noChangeAspect="1" noChangeArrowheads="1"/>
          </p:cNvPicPr>
          <p:nvPr>
            <p:ph type="body" idx="1"/>
          </p:nvPr>
        </p:nvPicPr>
        <p:blipFill>
          <a:blip r:embed="rId3" cstate="print"/>
          <a:srcRect/>
          <a:stretch>
            <a:fillRect/>
          </a:stretch>
        </p:blipFill>
        <p:spPr>
          <a:xfrm>
            <a:off x="7362826" y="4221164"/>
            <a:ext cx="1541463" cy="1112837"/>
          </a:xfrm>
        </p:spPr>
      </p:pic>
      <p:pic>
        <p:nvPicPr>
          <p:cNvPr id="9220" name="Picture 4"/>
          <p:cNvPicPr>
            <a:picLocks noChangeAspect="1" noChangeArrowheads="1"/>
          </p:cNvPicPr>
          <p:nvPr/>
        </p:nvPicPr>
        <p:blipFill>
          <a:blip r:embed="rId4" cstate="print"/>
          <a:srcRect/>
          <a:stretch>
            <a:fillRect/>
          </a:stretch>
        </p:blipFill>
        <p:spPr bwMode="auto">
          <a:xfrm>
            <a:off x="6781801" y="5516564"/>
            <a:ext cx="2843213" cy="1368425"/>
          </a:xfrm>
          <a:prstGeom prst="rect">
            <a:avLst/>
          </a:prstGeom>
          <a:noFill/>
          <a:ln w="9525">
            <a:noFill/>
            <a:miter lim="800000"/>
            <a:headEnd/>
            <a:tailEnd/>
          </a:ln>
        </p:spPr>
      </p:pic>
      <p:sp>
        <p:nvSpPr>
          <p:cNvPr id="8197" name="Rectangle 5"/>
          <p:cNvSpPr>
            <a:spLocks noChangeArrowheads="1"/>
          </p:cNvSpPr>
          <p:nvPr/>
        </p:nvSpPr>
        <p:spPr bwMode="auto">
          <a:xfrm>
            <a:off x="2208214" y="5805488"/>
            <a:ext cx="2878137" cy="914400"/>
          </a:xfrm>
          <a:prstGeom prst="rect">
            <a:avLst/>
          </a:prstGeom>
          <a:solidFill>
            <a:srgbClr val="CCFFFF"/>
          </a:solidFill>
          <a:ln w="9525">
            <a:noFill/>
            <a:miter lim="800000"/>
            <a:headEnd/>
            <a:tailEnd/>
          </a:ln>
        </p:spPr>
        <p:txBody>
          <a:bodyPr anchor="ctr"/>
          <a:lstStyle/>
          <a:p>
            <a:pPr algn="ctr" defTabSz="914400" rtl="1" fontAlgn="base">
              <a:spcBef>
                <a:spcPct val="0"/>
              </a:spcBef>
              <a:spcAft>
                <a:spcPct val="0"/>
              </a:spcAft>
            </a:pPr>
            <a:r>
              <a:rPr lang="ar-SA" sz="3600" b="1">
                <a:solidFill>
                  <a:srgbClr val="FF0000"/>
                </a:solidFill>
                <a:latin typeface="Times New Roman" pitchFamily="18" charset="0"/>
                <a:cs typeface="Arial" pitchFamily="34" charset="0"/>
              </a:rPr>
              <a:t>المجتمع الأحيائي</a:t>
            </a:r>
            <a:endParaRPr lang="en-US" sz="3600" b="1">
              <a:solidFill>
                <a:srgbClr val="FF0000"/>
              </a:solidFill>
              <a:latin typeface="Times New Roman" pitchFamily="18" charset="0"/>
              <a:cs typeface="Arial" pitchFamily="34" charset="0"/>
            </a:endParaRPr>
          </a:p>
        </p:txBody>
      </p:sp>
      <p:sp>
        <p:nvSpPr>
          <p:cNvPr id="8198" name="Rectangle 6"/>
          <p:cNvSpPr>
            <a:spLocks noChangeArrowheads="1"/>
          </p:cNvSpPr>
          <p:nvPr/>
        </p:nvSpPr>
        <p:spPr bwMode="auto">
          <a:xfrm>
            <a:off x="2209800" y="3276600"/>
            <a:ext cx="2878138" cy="914400"/>
          </a:xfrm>
          <a:prstGeom prst="rect">
            <a:avLst/>
          </a:prstGeom>
          <a:solidFill>
            <a:srgbClr val="CCFFFF"/>
          </a:solidFill>
          <a:ln w="9525">
            <a:noFill/>
            <a:miter lim="800000"/>
            <a:headEnd/>
            <a:tailEnd/>
          </a:ln>
        </p:spPr>
        <p:txBody>
          <a:bodyPr anchor="ctr"/>
          <a:lstStyle/>
          <a:p>
            <a:pPr algn="ctr" defTabSz="914400" rtl="1" fontAlgn="base">
              <a:spcBef>
                <a:spcPct val="0"/>
              </a:spcBef>
              <a:spcAft>
                <a:spcPct val="0"/>
              </a:spcAft>
            </a:pPr>
            <a:r>
              <a:rPr lang="ar-SA" sz="3600" b="1">
                <a:solidFill>
                  <a:srgbClr val="FF0000"/>
                </a:solidFill>
                <a:latin typeface="Times New Roman" pitchFamily="18" charset="0"/>
                <a:cs typeface="Arial" pitchFamily="34" charset="0"/>
              </a:rPr>
              <a:t>الجماعة الأحيائية</a:t>
            </a:r>
            <a:endParaRPr lang="en-US" sz="3600" b="1">
              <a:solidFill>
                <a:srgbClr val="FF0000"/>
              </a:solidFill>
              <a:latin typeface="Times New Roman" pitchFamily="18" charset="0"/>
              <a:cs typeface="Arial" pitchFamily="34" charset="0"/>
            </a:endParaRPr>
          </a:p>
        </p:txBody>
      </p:sp>
      <p:sp>
        <p:nvSpPr>
          <p:cNvPr id="8200" name="Rectangle 8"/>
          <p:cNvSpPr>
            <a:spLocks noChangeArrowheads="1"/>
          </p:cNvSpPr>
          <p:nvPr/>
        </p:nvSpPr>
        <p:spPr bwMode="auto">
          <a:xfrm>
            <a:off x="2279650" y="1074738"/>
            <a:ext cx="2878138" cy="914400"/>
          </a:xfrm>
          <a:prstGeom prst="rect">
            <a:avLst/>
          </a:prstGeom>
          <a:solidFill>
            <a:srgbClr val="CCFFFF"/>
          </a:solidFill>
          <a:ln w="9525">
            <a:noFill/>
            <a:miter lim="800000"/>
            <a:headEnd/>
            <a:tailEnd/>
          </a:ln>
        </p:spPr>
        <p:txBody>
          <a:bodyPr anchor="ctr"/>
          <a:lstStyle/>
          <a:p>
            <a:pPr algn="ctr" defTabSz="914400" rtl="1" fontAlgn="base">
              <a:spcBef>
                <a:spcPct val="0"/>
              </a:spcBef>
              <a:spcAft>
                <a:spcPct val="0"/>
              </a:spcAft>
            </a:pPr>
            <a:r>
              <a:rPr lang="ar-SA" sz="3600" b="1">
                <a:solidFill>
                  <a:srgbClr val="FF0000"/>
                </a:solidFill>
                <a:latin typeface="Times New Roman" pitchFamily="18" charset="0"/>
                <a:cs typeface="Arial" pitchFamily="34" charset="0"/>
              </a:rPr>
              <a:t>الكائن الحي</a:t>
            </a:r>
            <a:endParaRPr lang="en-US" sz="3600" b="1">
              <a:solidFill>
                <a:srgbClr val="FF0000"/>
              </a:solidFill>
              <a:latin typeface="Times New Roman" pitchFamily="18" charset="0"/>
              <a:cs typeface="Arial" pitchFamily="34" charset="0"/>
            </a:endParaRPr>
          </a:p>
        </p:txBody>
      </p:sp>
      <p:pic>
        <p:nvPicPr>
          <p:cNvPr id="9224" name="Picture 14" descr="animals_04"/>
          <p:cNvPicPr>
            <a:picLocks noChangeAspect="1" noChangeArrowheads="1"/>
          </p:cNvPicPr>
          <p:nvPr/>
        </p:nvPicPr>
        <p:blipFill>
          <a:blip r:embed="rId5" cstate="print"/>
          <a:srcRect/>
          <a:stretch>
            <a:fillRect/>
          </a:stretch>
        </p:blipFill>
        <p:spPr bwMode="auto">
          <a:xfrm>
            <a:off x="6781800" y="2895600"/>
            <a:ext cx="3657600" cy="1417638"/>
          </a:xfrm>
          <a:prstGeom prst="rect">
            <a:avLst/>
          </a:prstGeom>
          <a:noFill/>
          <a:ln w="9525">
            <a:noFill/>
            <a:miter lim="800000"/>
            <a:headEnd/>
            <a:tailEnd/>
          </a:ln>
        </p:spPr>
      </p:pic>
      <p:pic>
        <p:nvPicPr>
          <p:cNvPr id="9225" name="Picture 15" descr="12"/>
          <p:cNvPicPr>
            <a:picLocks noChangeAspect="1" noChangeArrowheads="1"/>
          </p:cNvPicPr>
          <p:nvPr/>
        </p:nvPicPr>
        <p:blipFill>
          <a:blip r:embed="rId6" cstate="print"/>
          <a:srcRect/>
          <a:stretch>
            <a:fillRect/>
          </a:stretch>
        </p:blipFill>
        <p:spPr bwMode="auto">
          <a:xfrm>
            <a:off x="6781800" y="765175"/>
            <a:ext cx="2914650" cy="1295400"/>
          </a:xfrm>
          <a:prstGeom prst="rect">
            <a:avLst/>
          </a:prstGeom>
          <a:noFill/>
          <a:ln w="9525">
            <a:noFill/>
            <a:miter lim="800000"/>
            <a:headEnd/>
            <a:tailEnd/>
          </a:ln>
        </p:spPr>
      </p:pic>
      <p:pic>
        <p:nvPicPr>
          <p:cNvPr id="9226" name="Picture 16" descr="an44"/>
          <p:cNvPicPr>
            <a:picLocks noChangeAspect="1" noChangeArrowheads="1"/>
          </p:cNvPicPr>
          <p:nvPr/>
        </p:nvPicPr>
        <p:blipFill>
          <a:blip r:embed="rId7" cstate="print"/>
          <a:srcRect/>
          <a:stretch>
            <a:fillRect/>
          </a:stretch>
        </p:blipFill>
        <p:spPr bwMode="auto">
          <a:xfrm>
            <a:off x="7656514" y="2060576"/>
            <a:ext cx="1247775" cy="792163"/>
          </a:xfrm>
          <a:prstGeom prst="rect">
            <a:avLst/>
          </a:prstGeom>
          <a:solidFill>
            <a:srgbClr val="FFC000"/>
          </a:solidFill>
          <a:ln w="9525">
            <a:solidFill>
              <a:srgbClr val="FF0000"/>
            </a:solidFill>
            <a:miter lim="800000"/>
            <a:headEnd/>
            <a:tailEnd/>
          </a:ln>
        </p:spPr>
      </p:pic>
      <p:sp>
        <p:nvSpPr>
          <p:cNvPr id="12" name="Rectangle 2"/>
          <p:cNvSpPr txBox="1">
            <a:spLocks noChangeArrowheads="1"/>
          </p:cNvSpPr>
          <p:nvPr/>
        </p:nvSpPr>
        <p:spPr bwMode="auto">
          <a:xfrm>
            <a:off x="3071814" y="0"/>
            <a:ext cx="5591175" cy="692150"/>
          </a:xfrm>
          <a:prstGeom prst="rect">
            <a:avLst/>
          </a:prstGeom>
          <a:solidFill>
            <a:schemeClr val="accent2">
              <a:lumMod val="20000"/>
              <a:lumOff val="80000"/>
            </a:schemeClr>
          </a:solidFill>
          <a:ln w="9525">
            <a:solidFill>
              <a:srgbClr val="FF0000"/>
            </a:solidFill>
            <a:miter lim="800000"/>
            <a:headEnd/>
            <a:tailEnd/>
          </a:ln>
          <a:effectLst/>
        </p:spPr>
        <p:txBody>
          <a:bodyPr anchor="ctr"/>
          <a:lstStyle/>
          <a:p>
            <a:pPr algn="ctr" defTabSz="914400" rtl="1" fontAlgn="base">
              <a:spcBef>
                <a:spcPct val="0"/>
              </a:spcBef>
              <a:spcAft>
                <a:spcPct val="0"/>
              </a:spcAft>
              <a:defRPr/>
            </a:pPr>
            <a:r>
              <a:rPr lang="ar-SA" sz="3600" kern="0" dirty="0">
                <a:solidFill>
                  <a:srgbClr val="FF0000"/>
                </a:solidFill>
                <a:latin typeface="Times New Roman"/>
                <a:cs typeface="PT Bold Heading" pitchFamily="2" charset="-78"/>
              </a:rPr>
              <a:t> صل كل صورة بالكلمة المناسبة </a:t>
            </a:r>
            <a:endParaRPr lang="en-US" sz="3600" kern="0" dirty="0">
              <a:solidFill>
                <a:srgbClr val="FF0000"/>
              </a:solidFill>
              <a:latin typeface="Times New Roman"/>
              <a:cs typeface="PT Bold Heading" pitchFamily="2" charset="-78"/>
            </a:endParaRPr>
          </a:p>
        </p:txBody>
      </p:sp>
      <p:sp>
        <p:nvSpPr>
          <p:cNvPr id="21" name="Rectangle 6"/>
          <p:cNvSpPr>
            <a:spLocks noChangeArrowheads="1"/>
          </p:cNvSpPr>
          <p:nvPr/>
        </p:nvSpPr>
        <p:spPr bwMode="auto">
          <a:xfrm>
            <a:off x="2209800" y="4581525"/>
            <a:ext cx="2878138" cy="914400"/>
          </a:xfrm>
          <a:prstGeom prst="rect">
            <a:avLst/>
          </a:prstGeom>
          <a:solidFill>
            <a:srgbClr val="CCFFFF"/>
          </a:solidFill>
          <a:ln w="9525">
            <a:noFill/>
            <a:miter lim="800000"/>
            <a:headEnd/>
            <a:tailEnd/>
          </a:ln>
        </p:spPr>
        <p:txBody>
          <a:bodyPr anchor="ctr"/>
          <a:lstStyle/>
          <a:p>
            <a:pPr algn="ctr" defTabSz="914400" rtl="1" fontAlgn="base">
              <a:spcBef>
                <a:spcPct val="0"/>
              </a:spcBef>
              <a:spcAft>
                <a:spcPct val="0"/>
              </a:spcAft>
            </a:pPr>
            <a:r>
              <a:rPr lang="ar-SA" sz="3600" b="1">
                <a:solidFill>
                  <a:srgbClr val="FF0000"/>
                </a:solidFill>
                <a:latin typeface="Times New Roman" pitchFamily="18" charset="0"/>
                <a:cs typeface="Arial" pitchFamily="34" charset="0"/>
              </a:rPr>
              <a:t>ال</a:t>
            </a:r>
            <a:r>
              <a:rPr lang="ar-AE" sz="3600" b="1">
                <a:solidFill>
                  <a:srgbClr val="FF0000"/>
                </a:solidFill>
                <a:latin typeface="Times New Roman" pitchFamily="18" charset="0"/>
                <a:cs typeface="Arial" pitchFamily="34" charset="0"/>
              </a:rPr>
              <a:t>نظام البيئي</a:t>
            </a:r>
            <a:endParaRPr lang="en-US" sz="3600" b="1">
              <a:solidFill>
                <a:srgbClr val="FF0000"/>
              </a:solidFill>
              <a:latin typeface="Times New Roman" pitchFamily="18" charset="0"/>
              <a:cs typeface="Arial" pitchFamily="34" charset="0"/>
            </a:endParaRPr>
          </a:p>
        </p:txBody>
      </p:sp>
      <p:cxnSp>
        <p:nvCxnSpPr>
          <p:cNvPr id="20" name="رابط كسهم مستقيم 19"/>
          <p:cNvCxnSpPr>
            <a:stCxn id="8198" idx="3"/>
          </p:cNvCxnSpPr>
          <p:nvPr/>
        </p:nvCxnSpPr>
        <p:spPr>
          <a:xfrm flipV="1">
            <a:off x="5087938" y="1557338"/>
            <a:ext cx="1655762" cy="2176462"/>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3" name="رابط كسهم مستقيم 22"/>
          <p:cNvCxnSpPr>
            <a:stCxn id="8200" idx="3"/>
          </p:cNvCxnSpPr>
          <p:nvPr/>
        </p:nvCxnSpPr>
        <p:spPr>
          <a:xfrm>
            <a:off x="5157789" y="1531938"/>
            <a:ext cx="2498725" cy="925512"/>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6" name="رابط كسهم مستقيم 25"/>
          <p:cNvCxnSpPr>
            <a:stCxn id="8197" idx="3"/>
          </p:cNvCxnSpPr>
          <p:nvPr/>
        </p:nvCxnSpPr>
        <p:spPr>
          <a:xfrm flipV="1">
            <a:off x="5086351" y="3933826"/>
            <a:ext cx="1730375" cy="2328863"/>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9" name="رابط كسهم مستقيم 28"/>
          <p:cNvCxnSpPr/>
          <p:nvPr/>
        </p:nvCxnSpPr>
        <p:spPr>
          <a:xfrm>
            <a:off x="5087938" y="5110163"/>
            <a:ext cx="1693862" cy="1090612"/>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1" name="رابط كسهم مستقيم 30"/>
          <p:cNvCxnSpPr/>
          <p:nvPr/>
        </p:nvCxnSpPr>
        <p:spPr>
          <a:xfrm>
            <a:off x="5087939" y="2708275"/>
            <a:ext cx="2274887" cy="2070100"/>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00"/>
                                        </p:tgtEl>
                                        <p:attrNameLst>
                                          <p:attrName>style.visibility</p:attrName>
                                        </p:attrNameLst>
                                      </p:cBhvr>
                                      <p:to>
                                        <p:strVal val="visible"/>
                                      </p:to>
                                    </p:set>
                                    <p:anim calcmode="lin" valueType="num">
                                      <p:cBhvr additive="base">
                                        <p:cTn id="7" dur="500" fill="hold"/>
                                        <p:tgtEl>
                                          <p:spTgt spid="8200"/>
                                        </p:tgtEl>
                                        <p:attrNameLst>
                                          <p:attrName>ppt_x</p:attrName>
                                        </p:attrNameLst>
                                      </p:cBhvr>
                                      <p:tavLst>
                                        <p:tav tm="0">
                                          <p:val>
                                            <p:strVal val="#ppt_x"/>
                                          </p:val>
                                        </p:tav>
                                        <p:tav tm="100000">
                                          <p:val>
                                            <p:strVal val="#ppt_x"/>
                                          </p:val>
                                        </p:tav>
                                      </p:tavLst>
                                    </p:anim>
                                    <p:anim calcmode="lin" valueType="num">
                                      <p:cBhvr additive="base">
                                        <p:cTn id="8" dur="500" fill="hold"/>
                                        <p:tgtEl>
                                          <p:spTgt spid="820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194"/>
                                        </p:tgtEl>
                                        <p:attrNameLst>
                                          <p:attrName>style.visibility</p:attrName>
                                        </p:attrNameLst>
                                      </p:cBhvr>
                                      <p:to>
                                        <p:strVal val="visible"/>
                                      </p:to>
                                    </p:set>
                                    <p:anim calcmode="lin" valueType="num">
                                      <p:cBhvr additive="base">
                                        <p:cTn id="11" dur="500" fill="hold"/>
                                        <p:tgtEl>
                                          <p:spTgt spid="8194"/>
                                        </p:tgtEl>
                                        <p:attrNameLst>
                                          <p:attrName>ppt_x</p:attrName>
                                        </p:attrNameLst>
                                      </p:cBhvr>
                                      <p:tavLst>
                                        <p:tav tm="0">
                                          <p:val>
                                            <p:strVal val="#ppt_x"/>
                                          </p:val>
                                        </p:tav>
                                        <p:tav tm="100000">
                                          <p:val>
                                            <p:strVal val="#ppt_x"/>
                                          </p:val>
                                        </p:tav>
                                      </p:tavLst>
                                    </p:anim>
                                    <p:anim calcmode="lin" valueType="num">
                                      <p:cBhvr additive="base">
                                        <p:cTn id="12" dur="500" fill="hold"/>
                                        <p:tgtEl>
                                          <p:spTgt spid="819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198"/>
                                        </p:tgtEl>
                                        <p:attrNameLst>
                                          <p:attrName>style.visibility</p:attrName>
                                        </p:attrNameLst>
                                      </p:cBhvr>
                                      <p:to>
                                        <p:strVal val="visible"/>
                                      </p:to>
                                    </p:set>
                                    <p:anim calcmode="lin" valueType="num">
                                      <p:cBhvr additive="base">
                                        <p:cTn id="15" dur="500" fill="hold"/>
                                        <p:tgtEl>
                                          <p:spTgt spid="8198"/>
                                        </p:tgtEl>
                                        <p:attrNameLst>
                                          <p:attrName>ppt_x</p:attrName>
                                        </p:attrNameLst>
                                      </p:cBhvr>
                                      <p:tavLst>
                                        <p:tav tm="0">
                                          <p:val>
                                            <p:strVal val="#ppt_x"/>
                                          </p:val>
                                        </p:tav>
                                        <p:tav tm="100000">
                                          <p:val>
                                            <p:strVal val="#ppt_x"/>
                                          </p:val>
                                        </p:tav>
                                      </p:tavLst>
                                    </p:anim>
                                    <p:anim calcmode="lin" valueType="num">
                                      <p:cBhvr additive="base">
                                        <p:cTn id="16" dur="500" fill="hold"/>
                                        <p:tgtEl>
                                          <p:spTgt spid="819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8197"/>
                                        </p:tgtEl>
                                        <p:attrNameLst>
                                          <p:attrName>style.visibility</p:attrName>
                                        </p:attrNameLst>
                                      </p:cBhvr>
                                      <p:to>
                                        <p:strVal val="visible"/>
                                      </p:to>
                                    </p:set>
                                    <p:anim calcmode="lin" valueType="num">
                                      <p:cBhvr additive="base">
                                        <p:cTn id="23" dur="500" fill="hold"/>
                                        <p:tgtEl>
                                          <p:spTgt spid="8197"/>
                                        </p:tgtEl>
                                        <p:attrNameLst>
                                          <p:attrName>ppt_x</p:attrName>
                                        </p:attrNameLst>
                                      </p:cBhvr>
                                      <p:tavLst>
                                        <p:tav tm="0">
                                          <p:val>
                                            <p:strVal val="1+#ppt_w/2"/>
                                          </p:val>
                                        </p:tav>
                                        <p:tav tm="100000">
                                          <p:val>
                                            <p:strVal val="#ppt_x"/>
                                          </p:val>
                                        </p:tav>
                                      </p:tavLst>
                                    </p:anim>
                                    <p:anim calcmode="lin" valueType="num">
                                      <p:cBhvr additive="base">
                                        <p:cTn id="24" dur="500" fill="hold"/>
                                        <p:tgtEl>
                                          <p:spTgt spid="8197"/>
                                        </p:tgtEl>
                                        <p:attrNameLst>
                                          <p:attrName>ppt_y</p:attrName>
                                        </p:attrNameLst>
                                      </p:cBhvr>
                                      <p:tavLst>
                                        <p:tav tm="0">
                                          <p:val>
                                            <p:strVal val="0-#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blinds(horizontal)">
                                      <p:cBhvr>
                                        <p:cTn id="29" dur="500"/>
                                        <p:tgtEl>
                                          <p:spTgt spid="2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blinds(horizontal)">
                                      <p:cBhvr>
                                        <p:cTn id="34" dur="500"/>
                                        <p:tgtEl>
                                          <p:spTgt spid="2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blinds(horizontal)">
                                      <p:cBhvr>
                                        <p:cTn id="39" dur="500"/>
                                        <p:tgtEl>
                                          <p:spTgt spid="2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blinds(horizontal)">
                                      <p:cBhvr>
                                        <p:cTn id="44" dur="500"/>
                                        <p:tgtEl>
                                          <p:spTgt spid="3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blinds(horizontal)">
                                      <p:cBhvr>
                                        <p:cTn id="4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P spid="8197" grpId="0" animBg="1"/>
      <p:bldP spid="8198" grpId="0" animBg="1"/>
      <p:bldP spid="8200"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http://pictures.msharkat.com/u/image-43992.jpg"/>
          <p:cNvPicPr>
            <a:picLocks noChangeAspect="1" noChangeArrowheads="1"/>
          </p:cNvPicPr>
          <p:nvPr/>
        </p:nvPicPr>
        <p:blipFill>
          <a:blip r:embed="rId2" cstate="print"/>
          <a:srcRect/>
          <a:stretch>
            <a:fillRect/>
          </a:stretch>
        </p:blipFill>
        <p:spPr bwMode="auto">
          <a:xfrm>
            <a:off x="1524000" y="0"/>
            <a:ext cx="9144000" cy="6858000"/>
          </a:xfrm>
          <a:prstGeom prst="rect">
            <a:avLst/>
          </a:prstGeom>
          <a:noFill/>
        </p:spPr>
      </p:pic>
      <p:sp>
        <p:nvSpPr>
          <p:cNvPr id="5" name="Rectangle 4"/>
          <p:cNvSpPr/>
          <p:nvPr/>
        </p:nvSpPr>
        <p:spPr>
          <a:xfrm>
            <a:off x="1768345" y="1524000"/>
            <a:ext cx="8318304" cy="1862048"/>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11500" b="1" dirty="0">
                <a:ln w="50800"/>
                <a:solidFill>
                  <a:srgbClr val="000000"/>
                </a:solidFill>
                <a:latin typeface="Times New Roman" pitchFamily="18" charset="0"/>
                <a:cs typeface="Arial" pitchFamily="34" charset="0"/>
              </a:rPr>
              <a:t>المجتمع الاحيائية</a:t>
            </a:r>
            <a:endParaRPr lang="en-US" sz="11500" b="1" dirty="0">
              <a:ln w="50800"/>
              <a:solidFill>
                <a:srgbClr val="000000"/>
              </a:solidFill>
              <a:latin typeface="Times New Roman" pitchFamily="18" charset="0"/>
              <a:cs typeface="Arial" pitchFamily="34" charset="0"/>
            </a:endParaRPr>
          </a:p>
        </p:txBody>
      </p:sp>
    </p:spTree>
    <p:extLst>
      <p:ext uri="{BB962C8B-B14F-4D97-AF65-F5344CB8AC3E}">
        <p14:creationId xmlns:p14="http://schemas.microsoft.com/office/powerpoint/2010/main" val="424775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quran-m.com/userfiles/image/doma/633px-Zebra_Botswana_edit02.jpg"/>
          <p:cNvPicPr>
            <a:picLocks noChangeAspect="1" noChangeArrowheads="1"/>
          </p:cNvPicPr>
          <p:nvPr/>
        </p:nvPicPr>
        <p:blipFill>
          <a:blip r:embed="rId2" cstate="print"/>
          <a:srcRect/>
          <a:stretch>
            <a:fillRect/>
          </a:stretch>
        </p:blipFill>
        <p:spPr bwMode="auto">
          <a:xfrm>
            <a:off x="1524000" y="0"/>
            <a:ext cx="9144000" cy="6858000"/>
          </a:xfrm>
          <a:prstGeom prst="rect">
            <a:avLst/>
          </a:prstGeom>
          <a:noFill/>
        </p:spPr>
      </p:pic>
      <p:sp>
        <p:nvSpPr>
          <p:cNvPr id="3" name="Rectangle 2"/>
          <p:cNvSpPr/>
          <p:nvPr/>
        </p:nvSpPr>
        <p:spPr>
          <a:xfrm>
            <a:off x="2362200" y="5288340"/>
            <a:ext cx="7021474" cy="156966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9600" b="1" dirty="0">
                <a:ln w="50800"/>
                <a:solidFill>
                  <a:srgbClr val="000000"/>
                </a:solidFill>
                <a:latin typeface="Times New Roman" pitchFamily="18" charset="0"/>
                <a:cs typeface="Arial" pitchFamily="34" charset="0"/>
              </a:rPr>
              <a:t>الجماعة الاحيائية</a:t>
            </a:r>
            <a:endParaRPr lang="en-US" sz="9600" b="1" dirty="0">
              <a:ln w="50800"/>
              <a:solidFill>
                <a:srgbClr val="000000"/>
              </a:solidFill>
              <a:latin typeface="Times New Roman" pitchFamily="18" charset="0"/>
              <a:cs typeface="Arial" pitchFamily="34" charset="0"/>
            </a:endParaRPr>
          </a:p>
        </p:txBody>
      </p:sp>
    </p:spTree>
    <p:extLst>
      <p:ext uri="{BB962C8B-B14F-4D97-AF65-F5344CB8AC3E}">
        <p14:creationId xmlns:p14="http://schemas.microsoft.com/office/powerpoint/2010/main" val="339540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KCZoo Zebra Foal Aug 2010">
            <a:hlinkClick r:id="rId2"/>
          </p:cNvPr>
          <p:cNvPicPr>
            <a:picLocks noChangeAspect="1" noChangeArrowheads="1"/>
          </p:cNvPicPr>
          <p:nvPr/>
        </p:nvPicPr>
        <p:blipFill>
          <a:blip r:embed="rId3" cstate="print"/>
          <a:srcRect/>
          <a:stretch>
            <a:fillRect/>
          </a:stretch>
        </p:blipFill>
        <p:spPr bwMode="auto">
          <a:xfrm>
            <a:off x="3429000" y="304801"/>
            <a:ext cx="4857750" cy="6057901"/>
          </a:xfrm>
          <a:prstGeom prst="rect">
            <a:avLst/>
          </a:prstGeom>
          <a:noFill/>
        </p:spPr>
      </p:pic>
      <p:sp>
        <p:nvSpPr>
          <p:cNvPr id="3" name="Rectangle 2"/>
          <p:cNvSpPr/>
          <p:nvPr/>
        </p:nvSpPr>
        <p:spPr>
          <a:xfrm>
            <a:off x="4065392" y="5288340"/>
            <a:ext cx="3615092" cy="156966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9600" b="1" dirty="0">
                <a:ln w="50800"/>
                <a:solidFill>
                  <a:srgbClr val="000000"/>
                </a:solidFill>
                <a:latin typeface="Times New Roman" pitchFamily="18" charset="0"/>
                <a:cs typeface="Arial" pitchFamily="34" charset="0"/>
              </a:rPr>
              <a:t>كائن حي</a:t>
            </a:r>
            <a:endParaRPr lang="en-US" sz="9600" b="1" dirty="0">
              <a:ln w="50800"/>
              <a:solidFill>
                <a:srgbClr val="000000"/>
              </a:solidFill>
              <a:latin typeface="Times New Roman" pitchFamily="18" charset="0"/>
              <a:cs typeface="Arial" pitchFamily="34" charset="0"/>
            </a:endParaRPr>
          </a:p>
        </p:txBody>
      </p:sp>
    </p:spTree>
    <p:extLst>
      <p:ext uri="{BB962C8B-B14F-4D97-AF65-F5344CB8AC3E}">
        <p14:creationId xmlns:p14="http://schemas.microsoft.com/office/powerpoint/2010/main" val="3736954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rowd,Group Of Animals,Large Group Of Animals,Abundance,Animal,Animal Themes,Fish Tank,Fish,goldenfish,Gold,Cute,Pets,Water,Ideas,Concepts,Full,Large,Friendship,Goldfish"/>
          <p:cNvPicPr>
            <a:picLocks noChangeAspect="1" noChangeArrowheads="1"/>
          </p:cNvPicPr>
          <p:nvPr/>
        </p:nvPicPr>
        <p:blipFill>
          <a:blip r:embed="rId2" cstate="print"/>
          <a:srcRect/>
          <a:stretch>
            <a:fillRect/>
          </a:stretch>
        </p:blipFill>
        <p:spPr bwMode="auto">
          <a:xfrm>
            <a:off x="1524000" y="0"/>
            <a:ext cx="9144000" cy="6858000"/>
          </a:xfrm>
          <a:prstGeom prst="rect">
            <a:avLst/>
          </a:prstGeom>
          <a:noFill/>
        </p:spPr>
      </p:pic>
      <p:sp>
        <p:nvSpPr>
          <p:cNvPr id="3" name="Rectangle 2"/>
          <p:cNvSpPr/>
          <p:nvPr/>
        </p:nvSpPr>
        <p:spPr>
          <a:xfrm>
            <a:off x="5638800" y="1828801"/>
            <a:ext cx="816250" cy="2215991"/>
          </a:xfrm>
          <a:prstGeom prst="rect">
            <a:avLst/>
          </a:prstGeom>
          <a:noFill/>
        </p:spPr>
        <p:txBody>
          <a:bodyPr wrap="none" lIns="91440" tIns="45720" rIns="91440" bIns="45720">
            <a:spAutoFit/>
          </a:bodyPr>
          <a:lstStyle/>
          <a:p>
            <a:pPr algn="ctr" defTabSz="914400" rtl="1" fontAlgn="base">
              <a:spcBef>
                <a:spcPct val="0"/>
              </a:spcBef>
              <a:spcAft>
                <a:spcPct val="0"/>
              </a:spcAft>
            </a:pPr>
            <a:r>
              <a:rPr lang="ar-AE" sz="13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Arial" pitchFamily="34" charset="0"/>
              </a:rPr>
              <a:t>؟</a:t>
            </a:r>
            <a:endParaRPr lang="en-US" sz="13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Arial" pitchFamily="34" charset="0"/>
            </a:endParaRPr>
          </a:p>
        </p:txBody>
      </p:sp>
      <p:sp>
        <p:nvSpPr>
          <p:cNvPr id="4" name="Rectangle 3"/>
          <p:cNvSpPr/>
          <p:nvPr/>
        </p:nvSpPr>
        <p:spPr>
          <a:xfrm>
            <a:off x="2362200" y="5288340"/>
            <a:ext cx="7021474" cy="156966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9600" b="1" dirty="0">
                <a:ln w="50800"/>
                <a:solidFill>
                  <a:srgbClr val="000000"/>
                </a:solidFill>
                <a:latin typeface="Times New Roman" pitchFamily="18" charset="0"/>
                <a:cs typeface="Arial" pitchFamily="34" charset="0"/>
              </a:rPr>
              <a:t>الجماعة الاحيائية</a:t>
            </a:r>
            <a:endParaRPr lang="en-US" sz="9600" b="1" dirty="0">
              <a:ln w="50800"/>
              <a:solidFill>
                <a:srgbClr val="000000"/>
              </a:solidFill>
              <a:latin typeface="Times New Roman" pitchFamily="18" charset="0"/>
              <a:cs typeface="Arial" pitchFamily="34" charset="0"/>
            </a:endParaRPr>
          </a:p>
        </p:txBody>
      </p:sp>
    </p:spTree>
    <p:extLst>
      <p:ext uri="{BB962C8B-B14F-4D97-AF65-F5344CB8AC3E}">
        <p14:creationId xmlns:p14="http://schemas.microsoft.com/office/powerpoint/2010/main" val="100993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a:stretch>
            <a:fillRect/>
          </a:stretch>
        </p:blipFill>
        <p:spPr bwMode="auto">
          <a:xfrm>
            <a:off x="3505200" y="1752600"/>
            <a:ext cx="5653378" cy="2743200"/>
          </a:xfrm>
          <a:prstGeom prst="rect">
            <a:avLst/>
          </a:prstGeom>
          <a:noFill/>
          <a:ln w="9525">
            <a:noFill/>
            <a:miter lim="800000"/>
            <a:headEnd/>
            <a:tailEnd/>
          </a:ln>
          <a:effectLst/>
        </p:spPr>
      </p:pic>
      <p:sp>
        <p:nvSpPr>
          <p:cNvPr id="3" name="Rectangle 2"/>
          <p:cNvSpPr/>
          <p:nvPr/>
        </p:nvSpPr>
        <p:spPr>
          <a:xfrm>
            <a:off x="6248400" y="2438401"/>
            <a:ext cx="816250" cy="2215991"/>
          </a:xfrm>
          <a:prstGeom prst="rect">
            <a:avLst/>
          </a:prstGeom>
          <a:noFill/>
        </p:spPr>
        <p:txBody>
          <a:bodyPr wrap="none" lIns="91440" tIns="45720" rIns="91440" bIns="45720">
            <a:spAutoFit/>
          </a:bodyPr>
          <a:lstStyle/>
          <a:p>
            <a:pPr algn="ctr" defTabSz="914400" rtl="1" fontAlgn="base">
              <a:spcBef>
                <a:spcPct val="0"/>
              </a:spcBef>
              <a:spcAft>
                <a:spcPct val="0"/>
              </a:spcAft>
            </a:pPr>
            <a:r>
              <a:rPr lang="ar-AE" sz="13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Arial" pitchFamily="34" charset="0"/>
              </a:rPr>
              <a:t>؟</a:t>
            </a:r>
            <a:endParaRPr lang="en-US" sz="13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Arial" pitchFamily="34" charset="0"/>
            </a:endParaRPr>
          </a:p>
        </p:txBody>
      </p:sp>
      <p:sp>
        <p:nvSpPr>
          <p:cNvPr id="4" name="Rectangle 3"/>
          <p:cNvSpPr/>
          <p:nvPr/>
        </p:nvSpPr>
        <p:spPr>
          <a:xfrm>
            <a:off x="4800600" y="4572000"/>
            <a:ext cx="3615092" cy="156966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9600" b="1" dirty="0">
                <a:ln w="50800"/>
                <a:solidFill>
                  <a:srgbClr val="000000"/>
                </a:solidFill>
                <a:latin typeface="Times New Roman" pitchFamily="18" charset="0"/>
                <a:cs typeface="Arial" pitchFamily="34" charset="0"/>
              </a:rPr>
              <a:t>كائن حي</a:t>
            </a:r>
            <a:endParaRPr lang="en-US" sz="9600" b="1" dirty="0">
              <a:ln w="50800"/>
              <a:solidFill>
                <a:srgbClr val="000000"/>
              </a:solidFill>
              <a:latin typeface="Times New Roman" pitchFamily="18" charset="0"/>
              <a:cs typeface="Arial" pitchFamily="34" charset="0"/>
            </a:endParaRPr>
          </a:p>
        </p:txBody>
      </p:sp>
    </p:spTree>
    <p:extLst>
      <p:ext uri="{BB962C8B-B14F-4D97-AF65-F5344CB8AC3E}">
        <p14:creationId xmlns:p14="http://schemas.microsoft.com/office/powerpoint/2010/main" val="173449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http://www.alrai.com/img/298000/297897.jpg"/>
          <p:cNvPicPr>
            <a:picLocks noChangeAspect="1" noChangeArrowheads="1"/>
          </p:cNvPicPr>
          <p:nvPr/>
        </p:nvPicPr>
        <p:blipFill>
          <a:blip r:embed="rId2" cstate="print"/>
          <a:srcRect/>
          <a:stretch>
            <a:fillRect/>
          </a:stretch>
        </p:blipFill>
        <p:spPr bwMode="auto">
          <a:xfrm>
            <a:off x="2514601" y="1828800"/>
            <a:ext cx="7218947" cy="5029200"/>
          </a:xfrm>
          <a:prstGeom prst="rect">
            <a:avLst/>
          </a:prstGeom>
          <a:noFill/>
        </p:spPr>
      </p:pic>
      <p:sp>
        <p:nvSpPr>
          <p:cNvPr id="3" name="Rectangle 2"/>
          <p:cNvSpPr/>
          <p:nvPr/>
        </p:nvSpPr>
        <p:spPr>
          <a:xfrm>
            <a:off x="8763000" y="1"/>
            <a:ext cx="816250" cy="2215991"/>
          </a:xfrm>
          <a:prstGeom prst="rect">
            <a:avLst/>
          </a:prstGeom>
          <a:noFill/>
        </p:spPr>
        <p:txBody>
          <a:bodyPr wrap="none" lIns="91440" tIns="45720" rIns="91440" bIns="45720">
            <a:spAutoFit/>
          </a:bodyPr>
          <a:lstStyle/>
          <a:p>
            <a:pPr algn="ctr" defTabSz="914400" rtl="1" fontAlgn="base">
              <a:spcBef>
                <a:spcPct val="0"/>
              </a:spcBef>
              <a:spcAft>
                <a:spcPct val="0"/>
              </a:spcAft>
            </a:pPr>
            <a:r>
              <a:rPr lang="ar-AE" sz="13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Arial" pitchFamily="34" charset="0"/>
              </a:rPr>
              <a:t>؟</a:t>
            </a:r>
            <a:endParaRPr lang="en-US" sz="13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Arial" pitchFamily="34" charset="0"/>
            </a:endParaRPr>
          </a:p>
        </p:txBody>
      </p:sp>
      <p:sp>
        <p:nvSpPr>
          <p:cNvPr id="4" name="Rectangle 3"/>
          <p:cNvSpPr/>
          <p:nvPr/>
        </p:nvSpPr>
        <p:spPr>
          <a:xfrm>
            <a:off x="2438400" y="304800"/>
            <a:ext cx="5686172" cy="156966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9600" b="1" dirty="0">
                <a:ln w="50800"/>
                <a:solidFill>
                  <a:srgbClr val="000000"/>
                </a:solidFill>
                <a:latin typeface="Times New Roman" pitchFamily="18" charset="0"/>
                <a:cs typeface="Arial" pitchFamily="34" charset="0"/>
              </a:rPr>
              <a:t>مجتمع احيائي</a:t>
            </a:r>
            <a:endParaRPr lang="en-US" sz="9600" b="1" dirty="0">
              <a:ln w="50800"/>
              <a:solidFill>
                <a:srgbClr val="000000"/>
              </a:solidFill>
              <a:latin typeface="Times New Roman" pitchFamily="18" charset="0"/>
              <a:cs typeface="Arial" pitchFamily="34" charset="0"/>
            </a:endParaRPr>
          </a:p>
        </p:txBody>
      </p:sp>
    </p:spTree>
    <p:extLst>
      <p:ext uri="{BB962C8B-B14F-4D97-AF65-F5344CB8AC3E}">
        <p14:creationId xmlns:p14="http://schemas.microsoft.com/office/powerpoint/2010/main" val="16321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cstate="print"/>
          <a:srcRect/>
          <a:stretch>
            <a:fillRect/>
          </a:stretch>
        </p:blipFill>
        <p:spPr bwMode="auto">
          <a:xfrm>
            <a:off x="5819776" y="0"/>
            <a:ext cx="4848225" cy="6858000"/>
          </a:xfrm>
          <a:prstGeom prst="rect">
            <a:avLst/>
          </a:prstGeom>
          <a:noFill/>
          <a:ln w="9525">
            <a:noFill/>
            <a:miter lim="800000"/>
            <a:headEnd/>
            <a:tailEnd/>
          </a:ln>
          <a:effectLst/>
        </p:spPr>
      </p:pic>
      <p:sp>
        <p:nvSpPr>
          <p:cNvPr id="3" name="Rectangle 2"/>
          <p:cNvSpPr/>
          <p:nvPr/>
        </p:nvSpPr>
        <p:spPr>
          <a:xfrm>
            <a:off x="2895601" y="0"/>
            <a:ext cx="4389343" cy="1107996"/>
          </a:xfrm>
          <a:prstGeom prst="rect">
            <a:avLst/>
          </a:prstGeom>
          <a:solidFill>
            <a:schemeClr val="accent2">
              <a:lumMod val="40000"/>
              <a:lumOff val="60000"/>
            </a:schemeClr>
          </a:solid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6600" b="1" dirty="0">
                <a:ln w="50800"/>
                <a:solidFill>
                  <a:srgbClr val="000000"/>
                </a:solidFill>
                <a:latin typeface="Times New Roman" pitchFamily="18" charset="0"/>
                <a:cs typeface="Arial" pitchFamily="34" charset="0"/>
              </a:rPr>
              <a:t>الغلاف الاحيائي</a:t>
            </a:r>
            <a:endParaRPr lang="en-US" sz="6600" b="1" dirty="0">
              <a:ln w="50800"/>
              <a:solidFill>
                <a:srgbClr val="000000"/>
              </a:solidFill>
              <a:latin typeface="Times New Roman" pitchFamily="18" charset="0"/>
              <a:cs typeface="Arial" pitchFamily="34" charset="0"/>
            </a:endParaRPr>
          </a:p>
        </p:txBody>
      </p:sp>
      <p:sp>
        <p:nvSpPr>
          <p:cNvPr id="4" name="Rectangle 3"/>
          <p:cNvSpPr/>
          <p:nvPr/>
        </p:nvSpPr>
        <p:spPr>
          <a:xfrm>
            <a:off x="2637007" y="1254204"/>
            <a:ext cx="3534943" cy="1107996"/>
          </a:xfrm>
          <a:prstGeom prst="rect">
            <a:avLst/>
          </a:prstGeom>
          <a:solidFill>
            <a:schemeClr val="accent2">
              <a:lumMod val="40000"/>
              <a:lumOff val="60000"/>
            </a:schemeClr>
          </a:solid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6600" b="1">
                <a:ln w="50800"/>
                <a:solidFill>
                  <a:srgbClr val="000000"/>
                </a:solidFill>
                <a:latin typeface="Times New Roman" pitchFamily="18" charset="0"/>
                <a:cs typeface="Arial" pitchFamily="34" charset="0"/>
              </a:rPr>
              <a:t>النظام البيئي</a:t>
            </a:r>
            <a:endParaRPr lang="en-US" sz="6600" b="1" dirty="0">
              <a:ln w="50800"/>
              <a:solidFill>
                <a:srgbClr val="000000"/>
              </a:solidFill>
              <a:latin typeface="Times New Roman" pitchFamily="18" charset="0"/>
              <a:cs typeface="Arial" pitchFamily="34" charset="0"/>
            </a:endParaRPr>
          </a:p>
        </p:txBody>
      </p:sp>
      <p:sp>
        <p:nvSpPr>
          <p:cNvPr id="5" name="Rectangle 4"/>
          <p:cNvSpPr/>
          <p:nvPr/>
        </p:nvSpPr>
        <p:spPr>
          <a:xfrm>
            <a:off x="2132972" y="2438400"/>
            <a:ext cx="4847802" cy="1107996"/>
          </a:xfrm>
          <a:prstGeom prst="rect">
            <a:avLst/>
          </a:prstGeom>
          <a:solidFill>
            <a:schemeClr val="accent2">
              <a:lumMod val="40000"/>
              <a:lumOff val="60000"/>
            </a:schemeClr>
          </a:solid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6600" b="1" dirty="0">
                <a:ln w="50800"/>
                <a:solidFill>
                  <a:srgbClr val="000000"/>
                </a:solidFill>
                <a:latin typeface="Times New Roman" pitchFamily="18" charset="0"/>
                <a:cs typeface="Arial" pitchFamily="34" charset="0"/>
              </a:rPr>
              <a:t>المجتمع الاحيائي</a:t>
            </a:r>
            <a:endParaRPr lang="en-US" sz="6600" b="1" dirty="0">
              <a:ln w="50800"/>
              <a:solidFill>
                <a:srgbClr val="000000"/>
              </a:solidFill>
              <a:latin typeface="Times New Roman" pitchFamily="18" charset="0"/>
              <a:cs typeface="Arial" pitchFamily="34" charset="0"/>
            </a:endParaRPr>
          </a:p>
        </p:txBody>
      </p:sp>
      <p:sp>
        <p:nvSpPr>
          <p:cNvPr id="6" name="Rectangle 5"/>
          <p:cNvSpPr/>
          <p:nvPr/>
        </p:nvSpPr>
        <p:spPr>
          <a:xfrm>
            <a:off x="2955944" y="3657600"/>
            <a:ext cx="4878259" cy="1107996"/>
          </a:xfrm>
          <a:prstGeom prst="rect">
            <a:avLst/>
          </a:prstGeom>
          <a:solidFill>
            <a:schemeClr val="accent2">
              <a:lumMod val="40000"/>
              <a:lumOff val="60000"/>
            </a:schemeClr>
          </a:solid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6600" b="1">
                <a:ln w="50800"/>
                <a:solidFill>
                  <a:srgbClr val="000000"/>
                </a:solidFill>
                <a:latin typeface="Times New Roman" pitchFamily="18" charset="0"/>
                <a:cs typeface="Arial" pitchFamily="34" charset="0"/>
              </a:rPr>
              <a:t>الجماعة الاحيائية</a:t>
            </a:r>
            <a:endParaRPr lang="en-US" sz="6600" b="1" dirty="0">
              <a:ln w="50800"/>
              <a:solidFill>
                <a:srgbClr val="000000"/>
              </a:solidFill>
              <a:latin typeface="Times New Roman" pitchFamily="18" charset="0"/>
              <a:cs typeface="Arial" pitchFamily="34" charset="0"/>
            </a:endParaRPr>
          </a:p>
        </p:txBody>
      </p:sp>
      <p:sp>
        <p:nvSpPr>
          <p:cNvPr id="7" name="Rectangle 6"/>
          <p:cNvSpPr/>
          <p:nvPr/>
        </p:nvSpPr>
        <p:spPr>
          <a:xfrm>
            <a:off x="2514601" y="5257800"/>
            <a:ext cx="3305713" cy="1107996"/>
          </a:xfrm>
          <a:prstGeom prst="rect">
            <a:avLst/>
          </a:prstGeom>
          <a:solidFill>
            <a:schemeClr val="accent2">
              <a:lumMod val="40000"/>
              <a:lumOff val="60000"/>
            </a:schemeClr>
          </a:solid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defTabSz="914400" rtl="1" fontAlgn="base">
              <a:spcBef>
                <a:spcPct val="0"/>
              </a:spcBef>
              <a:spcAft>
                <a:spcPct val="0"/>
              </a:spcAft>
            </a:pPr>
            <a:r>
              <a:rPr lang="ar-AE" sz="6600" b="1" dirty="0">
                <a:ln w="50800"/>
                <a:solidFill>
                  <a:srgbClr val="000000"/>
                </a:solidFill>
                <a:latin typeface="Times New Roman" pitchFamily="18" charset="0"/>
                <a:cs typeface="Arial" pitchFamily="34" charset="0"/>
              </a:rPr>
              <a:t>الكائن الحي</a:t>
            </a:r>
            <a:endParaRPr lang="en-US" sz="6600" b="1" dirty="0">
              <a:ln w="50800"/>
              <a:solidFill>
                <a:srgbClr val="000000"/>
              </a:solidFill>
              <a:latin typeface="Times New Roman" pitchFamily="18" charset="0"/>
              <a:cs typeface="Arial" pitchFamily="34" charset="0"/>
            </a:endParaRPr>
          </a:p>
        </p:txBody>
      </p:sp>
    </p:spTree>
    <p:extLst>
      <p:ext uri="{BB962C8B-B14F-4D97-AF65-F5344CB8AC3E}">
        <p14:creationId xmlns:p14="http://schemas.microsoft.com/office/powerpoint/2010/main" val="231025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ox(in)">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3. أرتّب مستويات التنظيم البيئي من الكائن الحي إلى الغلاف الحيوي.</a:t>
            </a:r>
          </a:p>
        </p:txBody>
      </p:sp>
      <p:sp>
        <p:nvSpPr>
          <p:cNvPr id="10" name="TextBox 9"/>
          <p:cNvSpPr txBox="1"/>
          <p:nvPr/>
        </p:nvSpPr>
        <p:spPr>
          <a:xfrm>
            <a:off x="2590805"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تقييم تكويني ٣ + تقييم ذاتي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sp>
        <p:nvSpPr>
          <p:cNvPr id="12" name="Rounded Rectangle 11"/>
          <p:cNvSpPr/>
          <p:nvPr/>
        </p:nvSpPr>
        <p:spPr>
          <a:xfrm>
            <a:off x="2590800" y="4667250"/>
            <a:ext cx="9458325" cy="904875"/>
          </a:xfrm>
          <a:prstGeom prst="roundRect">
            <a:avLst/>
          </a:prstGeom>
          <a:solidFill>
            <a:srgbClr val="EAF3EC"/>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r" rtl="1"/>
            <a:r>
              <a:rPr lang="ar-AE" sz="1200" b="1" i="0">
                <a:solidFill>
                  <a:srgbClr val="2E7D32"/>
                </a:solidFill>
                <a:latin typeface="Arial"/>
                <a:ea typeface="Arial"/>
                <a:cs typeface="Arial"/>
              </a:rPr>
              <a:t>تقييم تكويني ✓</a:t>
            </a:r>
          </a:p>
          <a:p>
            <a:pPr algn="r" rtl="1"/>
            <a:r>
              <a:rPr lang="ar-AE" sz="1450" b="0" i="0">
                <a:solidFill>
                  <a:srgbClr val="10243B"/>
                </a:solidFill>
                <a:latin typeface="Arial"/>
                <a:ea typeface="Arial"/>
                <a:cs typeface="Arial"/>
              </a:rPr>
              <a:t>رتّب: (نظام بيئي – كائن حي – غلاف حيوي – مجتمع أحيائي) من الأصغر إلى الأكبر.</a:t>
            </a:r>
          </a:p>
        </p:txBody>
      </p:sp>
      <p:sp>
        <p:nvSpPr>
          <p:cNvPr id="13" name="Rounded Rectangle 12"/>
          <p:cNvSpPr/>
          <p:nvPr/>
        </p:nvSpPr>
        <p:spPr>
          <a:xfrm>
            <a:off x="2590800" y="2590800"/>
            <a:ext cx="9458325" cy="1428750"/>
          </a:xfrm>
          <a:prstGeom prst="roundRect">
            <a:avLst/>
          </a:prstGeom>
          <a:solidFill>
            <a:srgbClr val="FBF3E3"/>
          </a:solidFill>
          <a:ln w="12700">
            <a:solidFill>
              <a:srgbClr val="A87B2E"/>
            </a:solidFill>
          </a:ln>
          <a:effectLst/>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r" rtl="1"/>
            <a:r>
              <a:rPr lang="ar-AE" sz="1400" b="1" i="0">
                <a:solidFill>
                  <a:srgbClr val="A87B2E"/>
                </a:solidFill>
                <a:latin typeface="Arial"/>
                <a:ea typeface="Arial"/>
                <a:cs typeface="Arial"/>
              </a:rPr>
              <a:t>🌡️ قيّم فهمك لنفسك:</a:t>
            </a:r>
          </a:p>
          <a:p>
            <a:pPr algn="r" rtl="1">
              <a:spcBef>
                <a:spcPts val="600"/>
              </a:spcBef>
            </a:pPr>
            <a:r>
              <a:rPr lang="ar-AE" sz="1450" b="0" i="0">
                <a:solidFill>
                  <a:srgbClr val="10243B"/>
                </a:solidFill>
                <a:latin typeface="Arial"/>
                <a:ea typeface="Arial"/>
                <a:cs typeface="Arial"/>
              </a:rPr>
              <a:t>😀 فهمت جيداً      😐 بحاجة لمراجعة بسيطة      😕 أحتاج مساعدة إضافية</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(١)</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أُعرّف علم البيئة والغلاف الحيوي.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أُميّز بين العوامل الحيوية وغير الحيوية بأمثلة من بيئتي.</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أرتّب مستويات التنظيم البيئي من الكائن الحي إلى الغلاف الحيوي.</a:t>
            </a:r>
          </a:p>
        </p:txBody>
      </p:sp>
      <p:sp>
        <p:nvSpPr>
          <p:cNvPr id="10" name="TextBox 9"/>
          <p:cNvSpPr txBox="1"/>
          <p:nvPr/>
        </p:nvSpPr>
        <p:spPr>
          <a:xfrm>
            <a:off x="2590806"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الخاتمة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sp>
        <p:nvSpPr>
          <p:cNvPr id="12" name="TextBox 11"/>
          <p:cNvSpPr txBox="1"/>
          <p:nvPr/>
        </p:nvSpPr>
        <p:spPr>
          <a:xfrm>
            <a:off x="2590800" y="1619250"/>
            <a:ext cx="9458325" cy="2857500"/>
          </a:xfrm>
          <a:prstGeom prst="rect">
            <a:avLst/>
          </a:prstGeom>
          <a:noFill/>
        </p:spPr>
        <p:txBody>
          <a:bodyPr wrap="square" lIns="0" tIns="0" rIns="0" bIns="0" anchor="t">
            <a:noAutofit/>
          </a:bodyPr>
          <a:lstStyle/>
          <a:p>
            <a:pPr algn="r" rtl="1"/>
            <a:r>
              <a:rPr lang="ar-AE" sz="1500" b="1" i="0">
                <a:solidFill>
                  <a:srgbClr val="A87B2E"/>
                </a:solidFill>
                <a:latin typeface="Arial"/>
                <a:ea typeface="Arial"/>
                <a:cs typeface="Arial"/>
              </a:rPr>
              <a:t>📌 ملخص الحصة:</a:t>
            </a:r>
          </a:p>
          <a:p>
            <a:pPr algn="r" rtl="1">
              <a:spcBef>
                <a:spcPts val="400"/>
              </a:spcBef>
            </a:pPr>
            <a:r>
              <a:rPr lang="ar-AE" sz="1350" b="0" i="0">
                <a:solidFill>
                  <a:srgbClr val="10243B"/>
                </a:solidFill>
                <a:latin typeface="Arial"/>
                <a:ea typeface="Arial"/>
                <a:cs typeface="Arial"/>
              </a:rPr>
              <a:t>✔ علم البيئة يدرس علاقات الكائنات الحية ببيئتها ضمن الغلاف الحيوي.</a:t>
            </a:r>
          </a:p>
          <a:p>
            <a:pPr algn="r" rtl="1">
              <a:spcBef>
                <a:spcPts val="400"/>
              </a:spcBef>
            </a:pPr>
            <a:r>
              <a:rPr lang="ar-AE" sz="1350" b="0" i="0">
                <a:solidFill>
                  <a:srgbClr val="10243B"/>
                </a:solidFill>
                <a:latin typeface="Arial"/>
                <a:ea typeface="Arial"/>
                <a:cs typeface="Arial"/>
              </a:rPr>
              <a:t>✔ تتكوّن البيئة من عوامل حيوية وأخرى غير حيوية تتفاعل معاً.</a:t>
            </a:r>
          </a:p>
          <a:p>
            <a:pPr algn="r" rtl="1">
              <a:spcBef>
                <a:spcPts val="400"/>
              </a:spcBef>
            </a:pPr>
            <a:r>
              <a:rPr lang="ar-AE" sz="1350" b="0" i="0">
                <a:solidFill>
                  <a:srgbClr val="10243B"/>
                </a:solidFill>
                <a:latin typeface="Arial"/>
                <a:ea typeface="Arial"/>
                <a:cs typeface="Arial"/>
              </a:rPr>
              <a:t>✔ تتدرّج مستويات التنظيم البيئي من الكائن الحي إلى الغلاف الحيوي.</a:t>
            </a:r>
          </a:p>
          <a:p>
            <a:pPr algn="r" rtl="1">
              <a:spcBef>
                <a:spcPts val="1000"/>
              </a:spcBef>
            </a:pPr>
            <a:r>
              <a:rPr lang="ar-AE" sz="1400" b="1" i="0">
                <a:solidFill>
                  <a:srgbClr val="2E7D32"/>
                </a:solidFill>
                <a:latin typeface="Arial"/>
                <a:ea typeface="Arial"/>
                <a:cs typeface="Arial"/>
              </a:rPr>
              <a:t>🏆 تكريم المجموعة الأكثر تميّزاً بنجمة الصف.</a:t>
            </a:r>
          </a:p>
          <a:p>
            <a:pPr algn="r" rtl="1">
              <a:spcBef>
                <a:spcPts val="600"/>
              </a:spcBef>
            </a:pPr>
            <a:r>
              <a:rPr lang="ar-AE" sz="1350" b="0" i="0">
                <a:solidFill>
                  <a:srgbClr val="10243B"/>
                </a:solidFill>
                <a:latin typeface="Arial"/>
                <a:ea typeface="Arial"/>
                <a:cs typeface="Arial"/>
              </a:rPr>
              <a:t>📝 الواجب: اكتب مثالاً واحداً لكل مستوى تنظيمي من حديقة منزلك أو حيّك.</a:t>
            </a:r>
          </a:p>
          <a:p>
            <a:pPr algn="r" rtl="1">
              <a:spcBef>
                <a:spcPts val="600"/>
              </a:spcBef>
            </a:pPr>
            <a:r>
              <a:rPr lang="ar-AE" sz="1350" b="1" i="0">
                <a:solidFill>
                  <a:srgbClr val="0E6E6E"/>
                </a:solidFill>
                <a:latin typeface="Arial"/>
                <a:ea typeface="Arial"/>
                <a:cs typeface="Arial"/>
              </a:rPr>
              <a:t>🔜 في الحصة القادمة: كيف تتفاعل الكائنات الحية مع بعضها؟ (تنافس، افتراس، تكافل).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تصميم افتراضي">
  <a:themeElements>
    <a:clrScheme name="تصميم افتراضي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تصميم افتراضي">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تصميم افتراضي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تصميم افتراضي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تصميم افتراضي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تصميم افتراضي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تصميم افتراضي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تصميم افتراضي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تصميم افتراضي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2381</Words>
  <Application>Microsoft Office PowerPoint</Application>
  <PresentationFormat>Widescreen</PresentationFormat>
  <Paragraphs>262</Paragraphs>
  <Slides>34</Slides>
  <Notes>21</Notes>
  <HiddenSlides>0</HiddenSlides>
  <MMClips>2</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34</vt:i4>
      </vt:variant>
    </vt:vector>
  </HeadingPairs>
  <TitlesOfParts>
    <vt:vector size="39" baseType="lpstr">
      <vt:lpstr>Arial</vt:lpstr>
      <vt:lpstr>Calibri</vt:lpstr>
      <vt:lpstr>Times New Roman</vt:lpstr>
      <vt:lpstr>Office Theme</vt:lpstr>
      <vt:lpstr>تصميم افتراضي</vt:lpstr>
      <vt:lpstr>PowerPoint Presentation</vt:lpstr>
      <vt:lpstr>PowerPoint Presentation</vt:lpstr>
      <vt:lpstr>PowerPoint Presentation</vt:lpstr>
      <vt:lpstr>PowerPoint Presentation</vt:lpstr>
      <vt:lpstr>PowerPoint Presentation</vt:lpstr>
      <vt:lpstr>PowerPoint Presentation</vt:lpstr>
      <vt:lpstr>الغلاف الحيوي</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المجتمع الأحيائي</vt:lpstr>
      <vt:lpstr>النظام البيئي</vt:lpstr>
      <vt:lpstr>PowerPoint Presentation</vt:lpstr>
      <vt:lpstr>PowerPoint Presentation</vt:lpstr>
      <vt:lpstr>PowerPoint Presentation</vt:lpstr>
      <vt:lpstr>PowerPoint Presentation</vt:lpstr>
      <vt:lpstr>PowerPoint Presentation</vt:lpstr>
      <vt:lpstr>الغلاف الحيوي</vt:lpstr>
      <vt:lpstr>الغلاف الأحيائي</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Ahmed Mustafa</cp:lastModifiedBy>
  <cp:revision>13</cp:revision>
  <dcterms:created xsi:type="dcterms:W3CDTF">2013-01-27T09:14:16Z</dcterms:created>
  <dcterms:modified xsi:type="dcterms:W3CDTF">2026-09-06T09:25:59Z</dcterms:modified>
  <cp:category/>
</cp:coreProperties>
</file>