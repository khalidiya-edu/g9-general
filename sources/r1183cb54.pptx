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3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78" r:id="rId12"/>
    <p:sldId id="350" r:id="rId13"/>
    <p:sldId id="353" r:id="rId14"/>
    <p:sldId id="342" r:id="rId15"/>
    <p:sldId id="265" r:id="rId16"/>
    <p:sldId id="266" r:id="rId17"/>
    <p:sldId id="267" r:id="rId18"/>
    <p:sldId id="351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352" r:id="rId29"/>
    <p:sldId id="277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99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DB249B-05CC-4437-A022-4F4AF53E8B8A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467FD3-0E8F-4EC0-9130-E5D5933620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026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تُعرض الشريحة دقيقة واحدة فقط.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 الطلاب بتوزيع الأدوار داخل الثنائي قبل بدء أول نشاط.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السؤال ٣٠ ثانية دون إجابة، واترك الطلاب يخمّنون.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لا تصحّح الإجابات الآن — سنعود إليها في نهاية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مدة المقطع ٣١ ثانية. شغّله مرة واحدة.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همسة ثنائية ١٥ ثانية فقط قبل الانتقال.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اقرأ الهدف بصوت واضح واطلب من أحد الطلاب إعادة صياغته بلغته.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الهدف بما سبق دراسته في القسم الأول.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النواتج الثلاثة ثم ثبّتها في السبورة طوال الحصة.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بعد كل ناتج سيُجرى تقييم قصير يقيس تحقّقه.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طالب أن يشرح مصطلحين لزميله، ثم يتبادلان.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علّق المصطلحات على جدار الصف (حائط المفردات).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أشر إلى اتجاه الأسهم: الطاقة تسير من اليمين إلى اليسار في اتجاه واحد.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 سؤالًا سريعًا: أين موقع الإنسان في هذا المسار؟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اكتب المعادلة على السبورة ودع الطلاب يقرؤونها معًا.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شدّد على أن الفطريات ليست ذاتية التغذية رغم أنها تنمو في التربة.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صحّح الفهم الخاطئ الشائع: كل ما ينمو في التربة ليس بالضرورة منتِجًا.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بما شاهدوه في المقطع.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مرّ بين الثنائيات وسجّل ملاحظاتك في سلّم التقدير.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اختر ثنائيًّا أو اثنين لعرض إجابتهما أمام الصف.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اعرض الإجابة بعد أن يكون معظم الثنائيات قد انتهى.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اطلب من كل ثنائي تصحيح إجابته بنفسه — تقييم ذاتي فوري.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اسأل: من منكم شاهد هذا الكائن في رحلة أو في منطقته؟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اربط الحديث بجهود الدولة في حماية البيئة والتنوّع الحيوي.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وجّه بطاقات الدعم للطلاب الذين لاحظت تعثّرهم أثناء المرور بين الثنائيات.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لأصحاب الهمم: اجلسهم في الصف الأمامي، وامنحهم وقتًا إضافيًّا وبطاقات مصوّرة.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امنح الطلاب دقيقتين للتقييم الذاتي — هذا بند مستقل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اجمع الاستمارات لتحديد من يحتاج دعمًا في الحصة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بطاقة الخروج أداة قياس رئيسة — صحّحها قبل الحصة القادمة.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من يجيب عن سؤالين فأكثر إجابة صحيحة يكون قد حقّق نواتج الحصة.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اشكر الثنائيات المتميّزة بالاسم — التحفيز بند في استمارة الزيارة.</a:t>
            </a:r>
          </a:p>
          <a:p>
            <a:pPr algn="r" rtl="1">
              <a:spcAft>
                <a:spcPts val="400"/>
              </a:spcAft>
            </a:pPr>
            <a:r>
              <a:rPr lang="ar-AE" altLang="en-US" sz="1200" b="0" i="0">
                <a:solidFill>
                  <a:srgbClr val="16243A"/>
                </a:solidFill>
                <a:latin typeface="Arial"/>
                <a:cs typeface="Arial"/>
              </a:rPr>
              <a:t>ذكّرهم بموعد تسليم الواجب.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8EDFF2C-304E-487F-81F6-6503120FBB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F303983C-951D-4D55-8590-797371B892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4F2533D-644C-4B09-8DAD-799253325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E6E01427-E552-4488-8BE9-D8E23476C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900AEF01-9072-4BE2-8E13-77C9F5539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3898091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6AE3FF17-B5AB-481C-ACAF-12E403EC4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AEA45058-1F23-4989-863D-24D216C2A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EA04DDF4-C53D-402D-BB33-09C99B976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0106CF2D-3DD9-4D4B-8CCC-0A92FADF55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FD66FDC3-59B9-4E02-8CAA-1A786B945B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528242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877253B-4390-4FBD-8667-7ABD4D5F4F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0E6F9FF-B28B-4C49-A1C2-3F67BA9C03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99025E9-E2D8-43CA-A23A-0BC6094BA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91184A0C-12E4-417F-81E7-95F28D72D6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0EFEBCD4-4C9A-4CB1-9B85-BBC247060F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5707330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FAF49F4-9102-4585-822D-F2ECAB54F1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EF0ED8B-284F-42C6-9371-B088A47A27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7A0B0486-CC55-4CB5-A5B2-005B81AE6D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5C8E57E0-C1D1-4AA8-9CC2-F5AA43F7E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CAC8E913-52C7-4F17-8389-78F88A741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A6E169CB-44A9-4C5B-845B-13CB4B1F9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235836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47EB88F2-11C8-46BC-A9F9-53375A43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AE2EF40F-90F6-4778-B456-FD43F81B5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عنصر نائب للمحتوى 3">
            <a:extLst>
              <a:ext uri="{FF2B5EF4-FFF2-40B4-BE49-F238E27FC236}">
                <a16:creationId xmlns:a16="http://schemas.microsoft.com/office/drawing/2014/main" id="{FA43E5CF-361D-43FA-A7EE-0E2843E9E4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5" name="عنصر نائب للنص 4">
            <a:extLst>
              <a:ext uri="{FF2B5EF4-FFF2-40B4-BE49-F238E27FC236}">
                <a16:creationId xmlns:a16="http://schemas.microsoft.com/office/drawing/2014/main" id="{AD60006A-220B-4728-B8BF-45127DEB5B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عنصر نائب للمحتوى 5">
            <a:extLst>
              <a:ext uri="{FF2B5EF4-FFF2-40B4-BE49-F238E27FC236}">
                <a16:creationId xmlns:a16="http://schemas.microsoft.com/office/drawing/2014/main" id="{950A8807-70E8-4DF8-A7E7-5CF477498D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7" name="عنصر نائب للتاريخ 6">
            <a:extLst>
              <a:ext uri="{FF2B5EF4-FFF2-40B4-BE49-F238E27FC236}">
                <a16:creationId xmlns:a16="http://schemas.microsoft.com/office/drawing/2014/main" id="{F6660CDE-60E5-4121-B90C-A05FD9DD9F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8" name="عنصر نائب للتذييل 7">
            <a:extLst>
              <a:ext uri="{FF2B5EF4-FFF2-40B4-BE49-F238E27FC236}">
                <a16:creationId xmlns:a16="http://schemas.microsoft.com/office/drawing/2014/main" id="{9EAE9D7F-FC6F-449E-BFB1-65B2F62CC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9" name="عنصر نائب لرقم الشريحة 8">
            <a:extLst>
              <a:ext uri="{FF2B5EF4-FFF2-40B4-BE49-F238E27FC236}">
                <a16:creationId xmlns:a16="http://schemas.microsoft.com/office/drawing/2014/main" id="{D2F4C6B0-80AB-4336-9D82-67BA5E833A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845067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F9344D27-4F8C-4F75-9A0A-07464B76C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تاريخ 2">
            <a:extLst>
              <a:ext uri="{FF2B5EF4-FFF2-40B4-BE49-F238E27FC236}">
                <a16:creationId xmlns:a16="http://schemas.microsoft.com/office/drawing/2014/main" id="{B17A858F-A2B7-4431-897E-8CC86A600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4" name="عنصر نائب للتذييل 3">
            <a:extLst>
              <a:ext uri="{FF2B5EF4-FFF2-40B4-BE49-F238E27FC236}">
                <a16:creationId xmlns:a16="http://schemas.microsoft.com/office/drawing/2014/main" id="{092B2E00-B428-45B4-B6BE-1353800B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5" name="عنصر نائب لرقم الشريحة 4">
            <a:extLst>
              <a:ext uri="{FF2B5EF4-FFF2-40B4-BE49-F238E27FC236}">
                <a16:creationId xmlns:a16="http://schemas.microsoft.com/office/drawing/2014/main" id="{92740583-6361-49F6-BF48-159ECFE28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5294129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تاريخ 1">
            <a:extLst>
              <a:ext uri="{FF2B5EF4-FFF2-40B4-BE49-F238E27FC236}">
                <a16:creationId xmlns:a16="http://schemas.microsoft.com/office/drawing/2014/main" id="{DB4F6025-8AAD-404F-9711-350F3614C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3" name="عنصر نائب للتذييل 2">
            <a:extLst>
              <a:ext uri="{FF2B5EF4-FFF2-40B4-BE49-F238E27FC236}">
                <a16:creationId xmlns:a16="http://schemas.microsoft.com/office/drawing/2014/main" id="{23395B8B-58EF-49BC-BEFD-35AD5965A2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4" name="عنصر نائب لرقم الشريحة 3">
            <a:extLst>
              <a:ext uri="{FF2B5EF4-FFF2-40B4-BE49-F238E27FC236}">
                <a16:creationId xmlns:a16="http://schemas.microsoft.com/office/drawing/2014/main" id="{A383AD81-8D27-48AF-8681-44BC9B0BC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1814254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10651EFA-4610-42CF-8368-7A1AD0DC9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محتوى 2">
            <a:extLst>
              <a:ext uri="{FF2B5EF4-FFF2-40B4-BE49-F238E27FC236}">
                <a16:creationId xmlns:a16="http://schemas.microsoft.com/office/drawing/2014/main" id="{14E08F04-4D10-448A-BE36-80E513F7B0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AE7FF1B9-5379-4F06-9AD2-7033BEF1C0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D758CAE4-5C96-4DC7-BA6F-31CD14A96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356E4F24-DC8C-4ABC-96EA-2B9A1755F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D95B873-8955-476A-9AD3-9A6F038A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3105721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9450BA8D-5D71-4317-B054-9092B45D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صورة 2">
            <a:extLst>
              <a:ext uri="{FF2B5EF4-FFF2-40B4-BE49-F238E27FC236}">
                <a16:creationId xmlns:a16="http://schemas.microsoft.com/office/drawing/2014/main" id="{8D341872-ADC0-4E6A-B400-8A7B238592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ar-AE"/>
          </a:p>
        </p:txBody>
      </p:sp>
      <p:sp>
        <p:nvSpPr>
          <p:cNvPr id="4" name="عنصر نائب للنص 3">
            <a:extLst>
              <a:ext uri="{FF2B5EF4-FFF2-40B4-BE49-F238E27FC236}">
                <a16:creationId xmlns:a16="http://schemas.microsoft.com/office/drawing/2014/main" id="{2B845F6E-C117-443C-90B1-381DC3F57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5" name="عنصر نائب للتاريخ 4">
            <a:extLst>
              <a:ext uri="{FF2B5EF4-FFF2-40B4-BE49-F238E27FC236}">
                <a16:creationId xmlns:a16="http://schemas.microsoft.com/office/drawing/2014/main" id="{A0A4ACCF-7807-46B6-B385-A239B68A8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6" name="عنصر نائب للتذييل 5">
            <a:extLst>
              <a:ext uri="{FF2B5EF4-FFF2-40B4-BE49-F238E27FC236}">
                <a16:creationId xmlns:a16="http://schemas.microsoft.com/office/drawing/2014/main" id="{B64AD1C2-8310-4E91-A2A2-8E1E334B6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7" name="عنصر نائب لرقم الشريحة 6">
            <a:extLst>
              <a:ext uri="{FF2B5EF4-FFF2-40B4-BE49-F238E27FC236}">
                <a16:creationId xmlns:a16="http://schemas.microsoft.com/office/drawing/2014/main" id="{8B70FFE1-DECC-414F-86FB-8D2B99C69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285924885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2BFA8A70-A6FC-4863-816F-ACC153E9D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EDE0D321-9A98-4FE6-98B7-505870537A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9CD00BC4-3033-44EF-8130-C83242EB0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FD047D01-3DCB-4CE5-9AF5-3F6945AB3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DA64E4B1-F3BD-4FC4-ACA1-1D1BECBB5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42284383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عمودي 1">
            <a:extLst>
              <a:ext uri="{FF2B5EF4-FFF2-40B4-BE49-F238E27FC236}">
                <a16:creationId xmlns:a16="http://schemas.microsoft.com/office/drawing/2014/main" id="{95066759-4B35-4045-8DBA-C0A3E02FFB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عنوان العمودي 2">
            <a:extLst>
              <a:ext uri="{FF2B5EF4-FFF2-40B4-BE49-F238E27FC236}">
                <a16:creationId xmlns:a16="http://schemas.microsoft.com/office/drawing/2014/main" id="{CC4070FA-09E4-4E9B-A224-3EE347C499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1B36E2E5-4047-4C46-9736-C23675D89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230893E4-DA68-4CDE-B8E9-C35BC774F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486097DE-8866-4B82-84D8-69EFDE687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53592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لعنوان 1">
            <a:extLst>
              <a:ext uri="{FF2B5EF4-FFF2-40B4-BE49-F238E27FC236}">
                <a16:creationId xmlns:a16="http://schemas.microsoft.com/office/drawing/2014/main" id="{57B08401-0FB6-4B19-9205-DD87BD7045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ar-AE"/>
          </a:p>
        </p:txBody>
      </p:sp>
      <p:sp>
        <p:nvSpPr>
          <p:cNvPr id="3" name="عنصر نائب للنص 2">
            <a:extLst>
              <a:ext uri="{FF2B5EF4-FFF2-40B4-BE49-F238E27FC236}">
                <a16:creationId xmlns:a16="http://schemas.microsoft.com/office/drawing/2014/main" id="{13657A82-7BEA-4D77-B28A-E9D1433AD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ar-AE"/>
          </a:p>
        </p:txBody>
      </p:sp>
      <p:sp>
        <p:nvSpPr>
          <p:cNvPr id="4" name="عنصر نائب للتاريخ 3">
            <a:extLst>
              <a:ext uri="{FF2B5EF4-FFF2-40B4-BE49-F238E27FC236}">
                <a16:creationId xmlns:a16="http://schemas.microsoft.com/office/drawing/2014/main" id="{87BB527C-764D-4977-8744-FD1677D733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5A47C5-F12D-4C69-9756-BCF883783F13}" type="datetimeFigureOut">
              <a:rPr lang="ar-AE" smtClean="0"/>
              <a:t>02/04/1448</a:t>
            </a:fld>
            <a:endParaRPr lang="ar-AE"/>
          </a:p>
        </p:txBody>
      </p:sp>
      <p:sp>
        <p:nvSpPr>
          <p:cNvPr id="5" name="عنصر نائب للتذييل 4">
            <a:extLst>
              <a:ext uri="{FF2B5EF4-FFF2-40B4-BE49-F238E27FC236}">
                <a16:creationId xmlns:a16="http://schemas.microsoft.com/office/drawing/2014/main" id="{67D04DED-DC42-4E86-A37B-1D09DFBF40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ar-AE"/>
          </a:p>
        </p:txBody>
      </p:sp>
      <p:sp>
        <p:nvSpPr>
          <p:cNvPr id="6" name="عنصر نائب لرقم الشريحة 5">
            <a:extLst>
              <a:ext uri="{FF2B5EF4-FFF2-40B4-BE49-F238E27FC236}">
                <a16:creationId xmlns:a16="http://schemas.microsoft.com/office/drawing/2014/main" id="{79A7E708-5E1B-4186-8A23-00EAFDB371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2CD3AA-82EF-4F27-927F-7B6F02EA7E2D}" type="slidenum">
              <a:rPr lang="ar-AE" smtClean="0"/>
              <a:t>‹#›</a:t>
            </a:fld>
            <a:endParaRPr lang="ar-AE"/>
          </a:p>
        </p:txBody>
      </p:sp>
    </p:spTree>
    <p:extLst>
      <p:ext uri="{BB962C8B-B14F-4D97-AF65-F5344CB8AC3E}">
        <p14:creationId xmlns:p14="http://schemas.microsoft.com/office/powerpoint/2010/main" val="584029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ar-AE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g"/><Relationship Id="rId5" Type="http://schemas.openxmlformats.org/officeDocument/2006/relationships/image" Target="../media/image2.jpg"/><Relationship Id="rId4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7" Type="http://schemas.openxmlformats.org/officeDocument/2006/relationships/image" Target="../media/image19.jfi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fif"/><Relationship Id="rId5" Type="http://schemas.openxmlformats.org/officeDocument/2006/relationships/image" Target="../media/image17.jfif"/><Relationship Id="rId4" Type="http://schemas.openxmlformats.org/officeDocument/2006/relationships/image" Target="../media/image16.jfi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673351"/>
            <a:ext cx="8723376" cy="2103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spcAft>
                <a:spcPts val="800"/>
              </a:spcAft>
            </a:pPr>
            <a:r>
              <a:rPr lang="ar-AE" altLang="en-US" sz="1900" b="1" i="0">
                <a:solidFill>
                  <a:srgbClr val="2E7D32"/>
                </a:solidFill>
                <a:latin typeface="Arial"/>
                <a:cs typeface="Arial"/>
              </a:rPr>
              <a:t>الحصة الأولى  •  القسم الثاني  •  الصف التاسع (عام)</a:t>
            </a:r>
          </a:p>
          <a:p>
            <a:pPr algn="ctr" rtl="1">
              <a:spcAft>
                <a:spcPts val="800"/>
              </a:spcAft>
            </a:pPr>
            <a:r>
              <a:rPr lang="ar-AE" altLang="en-US" sz="370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</a:t>
            </a:r>
          </a:p>
          <a:p>
            <a:pPr algn="ctr" rtl="1"/>
            <a:r>
              <a:rPr lang="ar-AE" altLang="en-US" sz="1800" b="0" i="0">
                <a:solidFill>
                  <a:srgbClr val="55667A"/>
                </a:solidFill>
                <a:latin typeface="Arial"/>
                <a:cs typeface="Arial"/>
              </a:rPr>
              <a:t>من أين تبدأ الطاقة؟ — الشمس والمنتِجات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8036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5120" y="4059935"/>
            <a:ext cx="981594" cy="996695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293522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الشمس مصدر الطاقة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9778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610" y="4059935"/>
            <a:ext cx="1477455" cy="996695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15264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النبات يصنع غذاءه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7" name="Picture 16" descr="image3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0064" y="4092003"/>
            <a:ext cx="1961388" cy="932561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737006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الطحالب في الماء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2620" y="4005072"/>
            <a:ext cx="2071116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imag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82226" y="4059935"/>
            <a:ext cx="1771903" cy="996695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587484" y="5056631"/>
            <a:ext cx="1961388" cy="329184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ثمار نتغذّى عليها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782e31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●  قواعد العمل الثنائي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نتّفق عليها قبل أن نبدأ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706355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797795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نجلس معًا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16083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كل طالبَين معًا على طاولة واحدة.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نبدأ العمل فور سماع الإشارة.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24343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7415783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صوت هادئ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34071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نتحدّث بصوت يسمعه زميلي فقط.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ننصت لبعضنا دون مقاطعة.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42331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33771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الجميع يشارك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52059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لكلّ منّا دور واضح.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لا نترك زميلنا يعمل وحده.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19" y="2487168"/>
            <a:ext cx="2217420" cy="23317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2651759" y="2578608"/>
            <a:ext cx="2034539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4.  نلتزم بالوقت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70047" y="3127248"/>
            <a:ext cx="1997963" cy="1600199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ننتهي قبل انتهاء المؤقّت.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نرفع أيدينا عند الانتهاء.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560320" y="4828032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16243A"/>
                </a:solidFill>
                <a:latin typeface="Arial"/>
                <a:cs typeface="Arial"/>
              </a:rPr>
              <a:t>★   الثنائي الملتزم يحصل على نجمة تقدير في نهاية الحصة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التهيئة الحافزة — سؤال اليوم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42047" y="2029968"/>
            <a:ext cx="4681728" cy="343814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406640" y="2157984"/>
            <a:ext cx="4352544" cy="3182111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20000"/>
              </a:lnSpc>
              <a:spcAft>
                <a:spcPts val="1400"/>
              </a:spcAft>
            </a:pPr>
            <a:r>
              <a:rPr lang="ar-AE" altLang="en-US" sz="2400" b="1" i="0">
                <a:solidFill>
                  <a:srgbClr val="143664"/>
                </a:solidFill>
                <a:latin typeface="Arial"/>
                <a:cs typeface="Arial"/>
              </a:rPr>
              <a:t>من أين جاءت الطاقة الموجودة في هذه البرتقالة؟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عندما تأكل برتقالة فإنك تزوّد جسمك بالطاقة.</a:t>
            </a:r>
          </a:p>
          <a:p>
            <a:pPr algn="r" rtl="1"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وقد تندهش حين تعلم أن المصدر الأساسي لهذه الطاقة هو الشمس!</a:t>
            </a:r>
          </a:p>
          <a:p>
            <a:pPr algn="r" rtl="1"/>
            <a:r>
              <a:rPr lang="ar-AE" altLang="en-US" sz="1900" b="1" i="0">
                <a:solidFill>
                  <a:srgbClr val="2E7D32"/>
                </a:solidFill>
                <a:latin typeface="Arial"/>
                <a:cs typeface="Arial"/>
              </a:rPr>
              <a:t>فكيف دخلت الطاقة الشمسية إلى ثمرة البرتقال؟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029968"/>
            <a:ext cx="4480560" cy="34381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4" name="Picture 13" descr="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1760" y="2540317"/>
            <a:ext cx="4297680" cy="241744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▶  شاهِد وفكّر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ركّزا أثناء المشاهدة: من أين تحصل النباتات على طاقتها؟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97272" y="2331720"/>
            <a:ext cx="4289551" cy="2468879"/>
          </a:xfrm>
          <a:prstGeom prst="roundRect">
            <a:avLst>
              <a:gd name="adj" fmla="val 5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3" name="c1_energy.mp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5161280" y="2395728"/>
            <a:ext cx="4161535" cy="2340863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◆   بعد المشاهدة: همسة سريعة مع زميلك — ماذا سمعت عن المنتِجات؟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◎  هدف الدرس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39" y="2350008"/>
            <a:ext cx="8357616" cy="169164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381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2500" b="1" i="0">
                <a:solidFill>
                  <a:srgbClr val="143664"/>
                </a:solidFill>
                <a:latin typeface="Arial"/>
                <a:cs typeface="Arial"/>
              </a:rPr>
              <a:t>أن أتتبّع مسار الطاقة في النظام البيئي، وأميّز بين الكائنات ذاتية التغذية وغيريّة التغذية.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315968"/>
            <a:ext cx="9363456" cy="6035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800" b="1" i="0">
                <a:solidFill>
                  <a:srgbClr val="2E7D32"/>
                </a:solidFill>
                <a:latin typeface="Arial"/>
                <a:cs typeface="Arial"/>
              </a:rPr>
              <a:t>✓   في نهاية الحصة سأكون قادرًا على تحقيق هذا الهدف بنفسي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نواتج التعلم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ثلاثة نواتج فقط — نقيس كلّ ناتج فور الانتهاء منه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1.  أتتبّع مسار الطاقة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أحدّد مصدر الطاقة الأول.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أرسم اتجاه انتقالها في النظام البيئي.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2.  أوضّح صناعة الغذاء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البناء الضوئي.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التخليق الكيميائي.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41448"/>
            <a:ext cx="3011424" cy="251460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32888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3.  أميّز وأصنّف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81528"/>
            <a:ext cx="2791968" cy="178308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ذاتي التغذية / غير ذاتي التغذية.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أعطي مثالًا لكلٍّ منهما.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◆  المفردات الجديدة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نقرؤها معًا، ثم يشرحها كل طالب لزميله بلغته الخاصة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0160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973312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الطاقة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9159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2E7D32"/>
                </a:solidFill>
                <a:latin typeface="Arial"/>
                <a:cs typeface="Arial"/>
              </a:rPr>
              <a:t>Energy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القدرة على إحداث تغيير؛ لا تفنى ولا تُستحدث.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023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0339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ذاتي التغذية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167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1E6FC4"/>
                </a:solidFill>
                <a:latin typeface="Arial"/>
                <a:cs typeface="Arial"/>
              </a:rPr>
              <a:t>Autotroph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كائن يصنع غذاءه بنفسه، ويُسمّى المنتِج.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395728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33471" y="2468880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غير ذاتي التغذية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1759" y="2907792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00766E"/>
                </a:solidFill>
                <a:latin typeface="Arial"/>
                <a:cs typeface="Arial"/>
              </a:rPr>
              <a:t>Heterotroph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كائن يتغذّى على كائنات أخرى، ويُسمّى المستهلِك.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00160" y="4050791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973312" y="4123944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البناء الضوئي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91599" y="4562856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6A1B9A"/>
                </a:solidFill>
                <a:latin typeface="Arial"/>
                <a:cs typeface="Arial"/>
              </a:rPr>
              <a:t>Photosynthesis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صنع الغذاء باستعمال طاقة الضوء.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30239" y="4050791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5803391" y="4123944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التخليق الكيميائي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21679" y="4562856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E68A00"/>
                </a:solidFill>
                <a:latin typeface="Arial"/>
                <a:cs typeface="Arial"/>
              </a:rPr>
              <a:t>Chemosynthesis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صنع الغذاء باستعمال طاقة تفاعلات كيميائية.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19" y="4050791"/>
            <a:ext cx="3023616" cy="1508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2633471" y="4123944"/>
            <a:ext cx="2877312" cy="420624"/>
          </a:xfrm>
          <a:prstGeom prst="roundRect">
            <a:avLst>
              <a:gd name="adj" fmla="val 28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500" b="1" i="0">
                <a:solidFill>
                  <a:srgbClr val="FFFFFF"/>
                </a:solidFill>
                <a:latin typeface="Arial"/>
                <a:cs typeface="Arial"/>
              </a:rPr>
              <a:t>المنتِجات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59" y="4562856"/>
            <a:ext cx="2840736" cy="923543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spcAft>
                <a:spcPts val="400"/>
              </a:spcAft>
            </a:pPr>
            <a:r>
              <a:rPr lang="ar-AE" altLang="en-US" sz="1150" b="1" i="0">
                <a:solidFill>
                  <a:srgbClr val="E05B0B"/>
                </a:solidFill>
                <a:latin typeface="Arial"/>
                <a:cs typeface="Arial"/>
              </a:rPr>
              <a:t>Producers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16243A"/>
                </a:solidFill>
                <a:latin typeface="Arial"/>
                <a:cs typeface="Arial"/>
              </a:rPr>
              <a:t>الكائنات ذاتية التغذية؛ قاعدة كل نظام بيئي.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①  الناتج الأول: مسار الطاقة في النظام البيئي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953243" y="2075688"/>
            <a:ext cx="1970532" cy="20116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2" name="Picture 11" descr="imag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0696" y="2148840"/>
            <a:ext cx="1035627" cy="1051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008107" y="3182112"/>
            <a:ext cx="1860804" cy="8503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E68A00"/>
                </a:solidFill>
                <a:latin typeface="Arial"/>
                <a:cs typeface="Arial"/>
              </a:rPr>
              <a:t>الشمس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المصدر الأول للطاقة</a:t>
            </a:r>
          </a:p>
        </p:txBody>
      </p:sp>
      <p:sp>
        <p:nvSpPr>
          <p:cNvPr id="14" name="Left Arrow 13"/>
          <p:cNvSpPr/>
          <p:nvPr/>
        </p:nvSpPr>
        <p:spPr>
          <a:xfrm>
            <a:off x="9514332" y="2926080"/>
            <a:ext cx="384048" cy="310896"/>
          </a:xfrm>
          <a:prstGeom prst="lef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7488935" y="2075688"/>
            <a:ext cx="1970532" cy="201168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16" name="Picture 15" descr="image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4810" y="2148840"/>
            <a:ext cx="1558783" cy="1051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543799" y="3182112"/>
            <a:ext cx="1860804" cy="8503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المنتِجات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نباتات وطحالب</a:t>
            </a:r>
          </a:p>
        </p:txBody>
      </p:sp>
      <p:sp>
        <p:nvSpPr>
          <p:cNvPr id="18" name="Left Arrow 17"/>
          <p:cNvSpPr/>
          <p:nvPr/>
        </p:nvSpPr>
        <p:spPr>
          <a:xfrm>
            <a:off x="7050023" y="2926080"/>
            <a:ext cx="384048" cy="310896"/>
          </a:xfrm>
          <a:prstGeom prst="lef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4627" y="2075688"/>
            <a:ext cx="1970532" cy="20116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0" name="Picture 19" descr="image1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12557" y="2148840"/>
            <a:ext cx="1594673" cy="105156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079491" y="3182112"/>
            <a:ext cx="1860804" cy="8503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1E6FC4"/>
                </a:solidFill>
                <a:latin typeface="Arial"/>
                <a:cs typeface="Arial"/>
              </a:rPr>
              <a:t>المستهلكات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حيوانات وإنسان</a:t>
            </a:r>
          </a:p>
        </p:txBody>
      </p:sp>
      <p:sp>
        <p:nvSpPr>
          <p:cNvPr id="22" name="Left Arrow 21"/>
          <p:cNvSpPr/>
          <p:nvPr/>
        </p:nvSpPr>
        <p:spPr>
          <a:xfrm>
            <a:off x="4585715" y="2926080"/>
            <a:ext cx="384048" cy="310896"/>
          </a:xfrm>
          <a:prstGeom prst="lef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60319" y="2075688"/>
            <a:ext cx="1970532" cy="2011680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pic>
        <p:nvPicPr>
          <p:cNvPr id="24" name="Picture 23" descr="image3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51759" y="2260209"/>
            <a:ext cx="1787652" cy="82882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2615183" y="3182112"/>
            <a:ext cx="1860804" cy="850392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>
              <a:spcAft>
                <a:spcPts val="200"/>
              </a:spcAft>
            </a:pPr>
            <a:r>
              <a:rPr lang="ar-AE" altLang="en-US" sz="1600" b="1" i="0">
                <a:solidFill>
                  <a:srgbClr val="6A1B9A"/>
                </a:solidFill>
                <a:latin typeface="Arial"/>
                <a:cs typeface="Arial"/>
              </a:rPr>
              <a:t>المحللات</a:t>
            </a:r>
          </a:p>
          <a:p>
            <a:pPr algn="ctr" rtl="1">
              <a:spcAft>
                <a:spcPts val="200"/>
              </a:spcAft>
            </a:pPr>
            <a:r>
              <a:rPr lang="ar-AE" altLang="en-US" sz="1300" b="0" i="0">
                <a:solidFill>
                  <a:srgbClr val="16243A"/>
                </a:solidFill>
                <a:latin typeface="Arial"/>
                <a:cs typeface="Arial"/>
              </a:rPr>
              <a:t>فطريات وبكتيريا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560320" y="4224528"/>
            <a:ext cx="9363456" cy="6766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50" b="1" i="0">
                <a:solidFill>
                  <a:srgbClr val="2E7D32"/>
                </a:solidFill>
                <a:latin typeface="Arial"/>
                <a:cs typeface="Arial"/>
              </a:rPr>
              <a:t>◄   الطاقة تنتقل في اتجاه واحد ولا يُعاد تدويرها — أمّا المواد المغذّية فيُعاد استعمالها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560320" y="4974336"/>
            <a:ext cx="9363456" cy="56692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43664"/>
                </a:solidFill>
                <a:latin typeface="Arial"/>
                <a:cs typeface="Arial"/>
              </a:rPr>
              <a:t>!   كل نظام بيئي يحتاج إلى مصدر طاقة مستمرّ وإلّا توقّف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"/>
            <a:ext cx="2457450" cy="24952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7642" y="1622240"/>
            <a:ext cx="2032827" cy="174603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8809" y="3040406"/>
            <a:ext cx="2594919" cy="2490787"/>
          </a:xfrm>
          <a:prstGeom prst="rect">
            <a:avLst/>
          </a:prstGeom>
        </p:spPr>
      </p:pic>
      <p:sp>
        <p:nvSpPr>
          <p:cNvPr id="12" name="Curved Left Arrow 11"/>
          <p:cNvSpPr/>
          <p:nvPr/>
        </p:nvSpPr>
        <p:spPr>
          <a:xfrm rot="17520190">
            <a:off x="3711364" y="383562"/>
            <a:ext cx="966755" cy="1960156"/>
          </a:xfrm>
          <a:prstGeom prst="curvedLeftArrow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Curved Left Arrow 12"/>
          <p:cNvSpPr/>
          <p:nvPr/>
        </p:nvSpPr>
        <p:spPr>
          <a:xfrm rot="17520190">
            <a:off x="5710366" y="1851216"/>
            <a:ext cx="966755" cy="1960156"/>
          </a:xfrm>
          <a:prstGeom prst="curvedLeftArrow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4949" y="5495839"/>
            <a:ext cx="2084694" cy="135346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1814" y="2098887"/>
            <a:ext cx="1854326" cy="2778017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0174" y="4375858"/>
            <a:ext cx="1355641" cy="171759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Right Arrow 16"/>
          <p:cNvSpPr/>
          <p:nvPr/>
        </p:nvSpPr>
        <p:spPr>
          <a:xfrm rot="1813308">
            <a:off x="6705586" y="4573539"/>
            <a:ext cx="2002701" cy="328843"/>
          </a:xfrm>
          <a:prstGeom prst="rightArrow">
            <a:avLst/>
          </a:prstGeom>
          <a:solidFill>
            <a:srgbClr val="C66AB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ight Arrow 17"/>
          <p:cNvSpPr/>
          <p:nvPr/>
        </p:nvSpPr>
        <p:spPr>
          <a:xfrm rot="3365039">
            <a:off x="5829876" y="5056252"/>
            <a:ext cx="1496331" cy="328843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ight Arrow 18"/>
          <p:cNvSpPr/>
          <p:nvPr/>
        </p:nvSpPr>
        <p:spPr>
          <a:xfrm rot="20904559">
            <a:off x="6662464" y="3494295"/>
            <a:ext cx="1598823" cy="328843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9530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7" grpId="0" animBg="1"/>
      <p:bldP spid="18" grpId="0" animBg="1"/>
      <p:bldP spid="1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مستطيل: زوايا مستديرة 1">
            <a:extLst>
              <a:ext uri="{FF2B5EF4-FFF2-40B4-BE49-F238E27FC236}">
                <a16:creationId xmlns:a16="http://schemas.microsoft.com/office/drawing/2014/main" id="{429E2EE0-4522-4C5B-8E78-F43345C201C4}"/>
              </a:ext>
            </a:extLst>
          </p:cNvPr>
          <p:cNvSpPr/>
          <p:nvPr/>
        </p:nvSpPr>
        <p:spPr>
          <a:xfrm>
            <a:off x="5247303" y="0"/>
            <a:ext cx="2170545" cy="852907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أنواع التغذية</a:t>
            </a:r>
          </a:p>
        </p:txBody>
      </p:sp>
      <p:sp>
        <p:nvSpPr>
          <p:cNvPr id="4" name="مستطيل: زوايا مستديرة 3">
            <a:extLst>
              <a:ext uri="{FF2B5EF4-FFF2-40B4-BE49-F238E27FC236}">
                <a16:creationId xmlns:a16="http://schemas.microsoft.com/office/drawing/2014/main" id="{CC3E1046-C7D7-4089-9DC2-2DA3CEF240F8}"/>
              </a:ext>
            </a:extLst>
          </p:cNvPr>
          <p:cNvSpPr/>
          <p:nvPr/>
        </p:nvSpPr>
        <p:spPr>
          <a:xfrm>
            <a:off x="8923898" y="1116645"/>
            <a:ext cx="2170545" cy="78509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تغذية ذاتية</a:t>
            </a:r>
          </a:p>
        </p:txBody>
      </p:sp>
      <p:sp>
        <p:nvSpPr>
          <p:cNvPr id="5" name="مستطيل: زوايا مستديرة 4">
            <a:extLst>
              <a:ext uri="{FF2B5EF4-FFF2-40B4-BE49-F238E27FC236}">
                <a16:creationId xmlns:a16="http://schemas.microsoft.com/office/drawing/2014/main" id="{2901BD49-47CD-41A6-B29F-982484671622}"/>
              </a:ext>
            </a:extLst>
          </p:cNvPr>
          <p:cNvSpPr/>
          <p:nvPr/>
        </p:nvSpPr>
        <p:spPr>
          <a:xfrm>
            <a:off x="1680111" y="1059556"/>
            <a:ext cx="2170545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تغذية غير ذاتية</a:t>
            </a:r>
          </a:p>
        </p:txBody>
      </p:sp>
      <p:sp>
        <p:nvSpPr>
          <p:cNvPr id="7" name="مستطيل: زوايا مستديرة 6">
            <a:extLst>
              <a:ext uri="{FF2B5EF4-FFF2-40B4-BE49-F238E27FC236}">
                <a16:creationId xmlns:a16="http://schemas.microsoft.com/office/drawing/2014/main" id="{C7EDBA10-447F-4075-BAE9-19B7CECF7285}"/>
              </a:ext>
            </a:extLst>
          </p:cNvPr>
          <p:cNvSpPr/>
          <p:nvPr/>
        </p:nvSpPr>
        <p:spPr>
          <a:xfrm>
            <a:off x="8351890" y="2775145"/>
            <a:ext cx="3506421" cy="96778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ضوئية</a:t>
            </a:r>
          </a:p>
        </p:txBody>
      </p:sp>
      <p:sp>
        <p:nvSpPr>
          <p:cNvPr id="8" name="مستطيل: زوايا مستديرة 7">
            <a:extLst>
              <a:ext uri="{FF2B5EF4-FFF2-40B4-BE49-F238E27FC236}">
                <a16:creationId xmlns:a16="http://schemas.microsoft.com/office/drawing/2014/main" id="{14F096E8-FCC1-4F09-9885-A4BC9B16237D}"/>
              </a:ext>
            </a:extLst>
          </p:cNvPr>
          <p:cNvSpPr/>
          <p:nvPr/>
        </p:nvSpPr>
        <p:spPr>
          <a:xfrm>
            <a:off x="8351890" y="4061769"/>
            <a:ext cx="3506421" cy="967781"/>
          </a:xfrm>
          <a:prstGeom prst="roundRect">
            <a:avLst/>
          </a:prstGeom>
          <a:solidFill>
            <a:schemeClr val="accent5">
              <a:alpha val="71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كيميائية</a:t>
            </a:r>
          </a:p>
        </p:txBody>
      </p:sp>
      <p:sp>
        <p:nvSpPr>
          <p:cNvPr id="9" name="مستطيل: زوايا مستديرة 8">
            <a:extLst>
              <a:ext uri="{FF2B5EF4-FFF2-40B4-BE49-F238E27FC236}">
                <a16:creationId xmlns:a16="http://schemas.microsoft.com/office/drawing/2014/main" id="{B39D280C-E9D7-4D4F-922C-E295C05A420C}"/>
              </a:ext>
            </a:extLst>
          </p:cNvPr>
          <p:cNvSpPr/>
          <p:nvPr/>
        </p:nvSpPr>
        <p:spPr>
          <a:xfrm>
            <a:off x="489858" y="216664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النباتات</a:t>
            </a:r>
          </a:p>
        </p:txBody>
      </p:sp>
      <p:sp>
        <p:nvSpPr>
          <p:cNvPr id="10" name="مستطيل: زوايا مستديرة 9">
            <a:extLst>
              <a:ext uri="{FF2B5EF4-FFF2-40B4-BE49-F238E27FC236}">
                <a16:creationId xmlns:a16="http://schemas.microsoft.com/office/drawing/2014/main" id="{137468A5-6800-44C1-864A-5408754DD8FD}"/>
              </a:ext>
            </a:extLst>
          </p:cNvPr>
          <p:cNvSpPr/>
          <p:nvPr/>
        </p:nvSpPr>
        <p:spPr>
          <a:xfrm>
            <a:off x="489858" y="309093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اللحوم</a:t>
            </a:r>
          </a:p>
        </p:txBody>
      </p:sp>
      <p:sp>
        <p:nvSpPr>
          <p:cNvPr id="11" name="مستطيل: زوايا مستديرة 10">
            <a:extLst>
              <a:ext uri="{FF2B5EF4-FFF2-40B4-BE49-F238E27FC236}">
                <a16:creationId xmlns:a16="http://schemas.microsoft.com/office/drawing/2014/main" id="{1B76C945-AB4C-4DFE-ADAD-BCE8E15BC697}"/>
              </a:ext>
            </a:extLst>
          </p:cNvPr>
          <p:cNvSpPr/>
          <p:nvPr/>
        </p:nvSpPr>
        <p:spPr>
          <a:xfrm>
            <a:off x="500405" y="4052117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آكلات النباتات و اللحوم</a:t>
            </a:r>
          </a:p>
        </p:txBody>
      </p:sp>
      <p:sp>
        <p:nvSpPr>
          <p:cNvPr id="12" name="مستطيل: زوايا مستديرة 11">
            <a:extLst>
              <a:ext uri="{FF2B5EF4-FFF2-40B4-BE49-F238E27FC236}">
                <a16:creationId xmlns:a16="http://schemas.microsoft.com/office/drawing/2014/main" id="{2593DA8F-C3B0-4A02-90B7-F93E6D833357}"/>
              </a:ext>
            </a:extLst>
          </p:cNvPr>
          <p:cNvSpPr/>
          <p:nvPr/>
        </p:nvSpPr>
        <p:spPr>
          <a:xfrm>
            <a:off x="489859" y="5910984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المحللات</a:t>
            </a:r>
          </a:p>
        </p:txBody>
      </p:sp>
      <p:sp>
        <p:nvSpPr>
          <p:cNvPr id="13" name="مستطيل: زوايا مستديرة 12">
            <a:extLst>
              <a:ext uri="{FF2B5EF4-FFF2-40B4-BE49-F238E27FC236}">
                <a16:creationId xmlns:a16="http://schemas.microsoft.com/office/drawing/2014/main" id="{C2C23C37-2229-452F-859D-299C6D27B4B3}"/>
              </a:ext>
            </a:extLst>
          </p:cNvPr>
          <p:cNvSpPr/>
          <p:nvPr/>
        </p:nvSpPr>
        <p:spPr>
          <a:xfrm>
            <a:off x="461985" y="5002146"/>
            <a:ext cx="3350252" cy="785091"/>
          </a:xfrm>
          <a:prstGeom prst="roundRect">
            <a:avLst/>
          </a:prstGeom>
          <a:solidFill>
            <a:srgbClr val="FF5050">
              <a:alpha val="7100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panose="020B0604020202020204" pitchFamily="34" charset="0"/>
              </a:rPr>
              <a:t>الكانسة</a:t>
            </a:r>
            <a:endParaRPr kumimoji="0" lang="ar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قوس كبير أيسر 2">
            <a:extLst>
              <a:ext uri="{FF2B5EF4-FFF2-40B4-BE49-F238E27FC236}">
                <a16:creationId xmlns:a16="http://schemas.microsoft.com/office/drawing/2014/main" id="{F40E0681-6864-40C7-925A-2A2E348773FD}"/>
              </a:ext>
            </a:extLst>
          </p:cNvPr>
          <p:cNvSpPr/>
          <p:nvPr/>
        </p:nvSpPr>
        <p:spPr>
          <a:xfrm rot="5400000">
            <a:off x="6122862" y="-2675219"/>
            <a:ext cx="141333" cy="7391399"/>
          </a:xfrm>
          <a:prstGeom prst="leftBrace">
            <a:avLst>
              <a:gd name="adj1" fmla="val 8333"/>
              <a:gd name="adj2" fmla="val 47349"/>
            </a:avLst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4" name="سهم: لأسفل 13">
            <a:extLst>
              <a:ext uri="{FF2B5EF4-FFF2-40B4-BE49-F238E27FC236}">
                <a16:creationId xmlns:a16="http://schemas.microsoft.com/office/drawing/2014/main" id="{7BAA6A33-5A93-4DAA-A199-C400A8282BB2}"/>
              </a:ext>
            </a:extLst>
          </p:cNvPr>
          <p:cNvSpPr/>
          <p:nvPr/>
        </p:nvSpPr>
        <p:spPr>
          <a:xfrm>
            <a:off x="9889228" y="1954389"/>
            <a:ext cx="648143" cy="785091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سهم: لأسفل 14">
            <a:extLst>
              <a:ext uri="{FF2B5EF4-FFF2-40B4-BE49-F238E27FC236}">
                <a16:creationId xmlns:a16="http://schemas.microsoft.com/office/drawing/2014/main" id="{37C3463F-1B4B-465B-9740-12D8638C9633}"/>
              </a:ext>
            </a:extLst>
          </p:cNvPr>
          <p:cNvSpPr/>
          <p:nvPr/>
        </p:nvSpPr>
        <p:spPr>
          <a:xfrm>
            <a:off x="2497829" y="1764905"/>
            <a:ext cx="648143" cy="452364"/>
          </a:xfrm>
          <a:prstGeom prst="downArrow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90919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3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1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6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3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144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0387" y="71119"/>
          <a:ext cx="11746524" cy="6311335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401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5646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920487">
                <a:tc gridSpan="3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400" b="1" u="sng" dirty="0">
                          <a:solidFill>
                            <a:srgbClr val="FF0000"/>
                          </a:solidFill>
                          <a:cs typeface="+mj-cs"/>
                        </a:rPr>
                        <a:t>غير ذاتي التغذية </a:t>
                      </a:r>
                      <a:r>
                        <a:rPr lang="ar-AE" sz="2400" b="1" dirty="0">
                          <a:solidFill>
                            <a:srgbClr val="002060"/>
                          </a:solidFill>
                          <a:cs typeface="+mj-cs"/>
                        </a:rPr>
                        <a:t>هو الذي يحصل على احتياجاته من الطاقة بالتهام كائنات حية أخرى، وتسمى المستهلكات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rtl="1"/>
                      <a:endParaRPr lang="ar-AE" sz="1400" dirty="0"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51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آكلات النباتات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آكلات اللحوم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كائنات متنوعة التغذية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21893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تتغذى على النباتات فقط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تفترس كائنات أخرى غير ذاتية التغذية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تتغذى على النباتات</a:t>
                      </a:r>
                      <a:r>
                        <a:rPr lang="ar-AE" sz="32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والحيوانات</a:t>
                      </a:r>
                      <a:endParaRPr lang="ar-AE" sz="32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33625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البقرة والارنب والجراد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الذئاب والأسود والوشق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الدب والانسان والطائر المحاكي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endParaRPr lang="ar-AE" sz="2400" b="1" dirty="0">
                        <a:solidFill>
                          <a:srgbClr val="002060"/>
                        </a:solidFill>
                        <a:cs typeface="+mj-cs"/>
                      </a:endParaRPr>
                    </a:p>
                  </a:txBody>
                  <a:tcPr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مستطيل 1">
            <a:extLst>
              <a:ext uri="{FF2B5EF4-FFF2-40B4-BE49-F238E27FC236}">
                <a16:creationId xmlns:a16="http://schemas.microsoft.com/office/drawing/2014/main" id="{9F1584AB-8DE9-4E90-850C-1C7A8BCE00EC}"/>
              </a:ext>
            </a:extLst>
          </p:cNvPr>
          <p:cNvSpPr/>
          <p:nvPr/>
        </p:nvSpPr>
        <p:spPr>
          <a:xfrm>
            <a:off x="4991518" y="1066799"/>
            <a:ext cx="4397829" cy="514894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مستطيل 4">
            <a:extLst>
              <a:ext uri="{FF2B5EF4-FFF2-40B4-BE49-F238E27FC236}">
                <a16:creationId xmlns:a16="http://schemas.microsoft.com/office/drawing/2014/main" id="{523D0D25-FB90-4E4B-B4D5-032274336F91}"/>
              </a:ext>
            </a:extLst>
          </p:cNvPr>
          <p:cNvSpPr/>
          <p:nvPr/>
        </p:nvSpPr>
        <p:spPr>
          <a:xfrm>
            <a:off x="365089" y="1066800"/>
            <a:ext cx="4397829" cy="514894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marL="0" marR="0" lvl="0" indent="0" algn="ct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ar-A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87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الأول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يكتب أحدكما الترتيب، ويكتب الآخر التفسير، ثم تتبادلان القراءة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تطبيق + 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رتّبا ثم فسّرا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54533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 dirty="0">
                <a:solidFill>
                  <a:srgbClr val="16243A"/>
                </a:solidFill>
                <a:latin typeface="Arial"/>
                <a:cs typeface="Arial"/>
              </a:rPr>
              <a:t>١)  رتّبا حسب اتجاه انتقال الطاقة:
طائر    —    عشب    —    الشمس    —    جراد
٢)  ماذا يحدث لهذا النظام البيئي لو حُجب ضوء الشمس شهرًا كاملًا؟ ولماذا؟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54223" y="516636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الأول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الترتيب الصحيح:  الشمس  ←  عشب  ←  جراد  ←  طائر.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تتوقّف المنتِجات عن صنع الغذاء، فتقلّ الطاقة الداخلة إلى النظام البيئي، وتتناقص أعداد المستهلكات تدريجيًّا حتى ينهار النظام.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الفكرة الكبرى: لا يستمرّ أي نظام بيئي دون مصدر طاقة مستمرّ.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②  الناتج الثاني: كيف تصنع الكائنات ذاتية التغذية غذاءها؟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٥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4343" y="2048256"/>
            <a:ext cx="4599432" cy="256032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15783" y="2139696"/>
            <a:ext cx="4416552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البناء الضوئي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2688336"/>
            <a:ext cx="4379976" cy="7223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تستعمل النباتات والطحالب طاقة الضوء.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وتنتج غذاءً (جلوكوز) وأكسجين.</a:t>
            </a:r>
          </a:p>
        </p:txBody>
      </p:sp>
      <p:pic>
        <p:nvPicPr>
          <p:cNvPr id="14" name="Picture 13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2441" y="3538728"/>
            <a:ext cx="1423236" cy="960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60319" y="2048256"/>
            <a:ext cx="4599432" cy="2560320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51759" y="2139696"/>
            <a:ext cx="4416552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التخليق الكيميائي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7" y="2688336"/>
            <a:ext cx="4379976" cy="72237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تستعمل بكتيريا طاقة تفاعلات كيميائية.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وتصنع غذاءها دون ضوء الشمس.</a:t>
            </a:r>
          </a:p>
        </p:txBody>
      </p:sp>
      <p:pic>
        <p:nvPicPr>
          <p:cNvPr id="18" name="Picture 17" descr="image3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884" y="3538728"/>
            <a:ext cx="1068302" cy="960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560320" y="4681728"/>
            <a:ext cx="9363456" cy="841248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0">
              <a:spcAft>
                <a:spcPts val="400"/>
              </a:spcAft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6CO₂  +  6H₂O  +  Light Energy   →   C₆H₁₂O₆  +  6O₂</a:t>
            </a:r>
          </a:p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ثاني أكسيد الكربون  +  الماء  +  طاقة الضوء   ←   جلوكوز  +  أكسجين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18472"/>
          <a:ext cx="11042301" cy="5152078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104230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5399">
                <a:tc>
                  <a:txBody>
                    <a:bodyPr/>
                    <a:lstStyle/>
                    <a:p>
                      <a:pPr algn="ctr" rtl="1"/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ما المنتجات والمستهلكات في نظام بيئي ما؟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4792">
                <a:tc>
                  <a:txBody>
                    <a:bodyPr/>
                    <a:lstStyle/>
                    <a:p>
                      <a:pPr marL="0" marR="0" indent="0" algn="ctr" defTabSz="914400" rtl="1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ar-AE" sz="3200" b="1" u="sng" dirty="0">
                          <a:solidFill>
                            <a:srgbClr val="FF0000"/>
                          </a:solidFill>
                          <a:cs typeface="+mj-cs"/>
                        </a:rPr>
                        <a:t>ذاتية التغذية </a:t>
                      </a: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هي التي تنتج غذاءها بنفسها، وتسمى </a:t>
                      </a:r>
                      <a:r>
                        <a:rPr lang="ar-AE" sz="3200" b="1" u="sng" dirty="0">
                          <a:solidFill>
                            <a:srgbClr val="002060"/>
                          </a:solidFill>
                          <a:cs typeface="+mj-cs"/>
                        </a:rPr>
                        <a:t>المنتجات</a:t>
                      </a:r>
                      <a:r>
                        <a:rPr lang="ar-AE" sz="3200" b="1" dirty="0">
                          <a:solidFill>
                            <a:srgbClr val="002060"/>
                          </a:solidFill>
                          <a:cs typeface="+mj-cs"/>
                        </a:rPr>
                        <a:t> الأولية</a:t>
                      </a:r>
                      <a:r>
                        <a:rPr lang="ar-AE" sz="3200" b="1" kern="1200" baseline="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، وهي أساس </a:t>
                      </a:r>
                      <a:r>
                        <a:rPr lang="ar-AE" sz="3200" b="1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j-cs"/>
                        </a:rPr>
                        <a:t>لكل الأنظمة البيئية لأنها توفر الطاقة لجميع الكائنات الحية الأخرى في النظام البيئي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6108">
                <a:tc>
                  <a:txBody>
                    <a:bodyPr/>
                    <a:lstStyle/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u="sng" dirty="0">
                          <a:solidFill>
                            <a:srgbClr val="002060"/>
                          </a:solidFill>
                          <a:cs typeface="+mj-cs"/>
                        </a:rPr>
                        <a:t>(بناء ضوئي)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تمتص النباتات و الطحالب الطاقة أثناء عملية </a:t>
                      </a:r>
                      <a:r>
                        <a:rPr lang="ar-AE" sz="2800" b="1" u="sng" dirty="0">
                          <a:solidFill>
                            <a:srgbClr val="FF5050"/>
                          </a:solidFill>
                          <a:cs typeface="+mj-cs"/>
                        </a:rPr>
                        <a:t>البناء الضوئي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وتستخدمها في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تحويل المواد غير العضوية المتمثلة في ثاني أكسيد الكربون والمياه إلى جزيئات عضوية.</a:t>
                      </a:r>
                    </a:p>
                    <a:p>
                      <a:pPr algn="ctr" rtl="1">
                        <a:lnSpc>
                          <a:spcPct val="150000"/>
                        </a:lnSpc>
                      </a:pPr>
                      <a:r>
                        <a:rPr lang="ar-AE" sz="2800" b="1" u="sng" kern="1200" dirty="0">
                          <a:solidFill>
                            <a:srgbClr val="002060"/>
                          </a:solidFill>
                          <a:latin typeface="+mn-lt"/>
                          <a:ea typeface="+mn-ea"/>
                          <a:cs typeface="+mn-cs"/>
                        </a:rPr>
                        <a:t>(بناء كيمائي) </a:t>
                      </a:r>
                      <a:r>
                        <a:rPr lang="ar-AE" sz="2800" b="1" dirty="0">
                          <a:solidFill>
                            <a:srgbClr val="002060"/>
                          </a:solidFill>
                          <a:cs typeface="+mj-cs"/>
                        </a:rPr>
                        <a:t>في الأماكن حيث لا يتوفر ضوء الشمس، تستخدم بعض أنواع البكتيريا كبريتيد الهيدروجين وثاني</a:t>
                      </a:r>
                      <a:r>
                        <a:rPr lang="ar-AE" sz="2800" b="1" baseline="0" dirty="0">
                          <a:solidFill>
                            <a:srgbClr val="002060"/>
                          </a:solidFill>
                          <a:cs typeface="+mj-cs"/>
                        </a:rPr>
                        <a:t> أكسيد الكربون لبناء جزيئات عضوية تستخدمها كغذاء.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5" name="صورة 4">
            <a:extLst>
              <a:ext uri="{FF2B5EF4-FFF2-40B4-BE49-F238E27FC236}">
                <a16:creationId xmlns:a16="http://schemas.microsoft.com/office/drawing/2014/main" id="{CFA8CAC7-F152-4B2F-86F6-3D26499BE5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2165234"/>
            <a:ext cx="11042301" cy="4574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73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الثاني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الحل بصوت مسموع لزميلك، والزميل يصحّح ويشجّع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فهم + تطبيق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يُكمل أحدكما ويتحقّق الآخر ثم تتبادلان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١)  يحتاج البناء الضوئي إلى:  .............  و  .............  و  .............
     وينتج:  .............  و  .............
٢)  اذكرا فرقًا واحدًا بين البناء الضوئي والتخليق الكيميائي.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ارفعا أيديكما معًا عند الانتهاء — سأمرّ على الثنائيات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الثاني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١) يحتاج إلى: ثاني أكسيد الكربون + الماء + طاقة الضوء.   وينتج: الجلوكوز (الغذاء) + الأكسجين.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٢) الفرق: البناء الضوئي يستعمل طاقة الضوء، أمّا التخليق الكيميائي فيستعمل طاقة تفاعلات كيميائية ويحدث في غياب الضوء تمامًا.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كلاهما ينتمي إلى الكائنات ذاتية التغذية؛ لأن كليهما يصنع غذاءه بنفسه.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③  الناتج الثالث: ذاتي التغذية أم غير ذاتي التغذية؟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24343" y="2048256"/>
            <a:ext cx="4599432" cy="2651760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15783" y="2139696"/>
            <a:ext cx="4416552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ذاتية التغذية — المنتِجات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34071" y="2688336"/>
            <a:ext cx="4379976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تصنع غذاءها بنفسها؛ وهي قاعدة كل نظام بيئي.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أمثلة: النباتات، الطحالب، البكتيريا الزرقاء.</a:t>
            </a:r>
          </a:p>
        </p:txBody>
      </p:sp>
      <p:pic>
        <p:nvPicPr>
          <p:cNvPr id="14" name="Picture 13" descr="image3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4385" y="3630168"/>
            <a:ext cx="2019349" cy="9601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2560319" y="2048256"/>
            <a:ext cx="4599432" cy="265176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05B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51759" y="2139696"/>
            <a:ext cx="4416552" cy="475488"/>
          </a:xfrm>
          <a:prstGeom prst="roundRect">
            <a:avLst>
              <a:gd name="adj" fmla="val 26000"/>
            </a:avLst>
          </a:prstGeom>
          <a:solidFill>
            <a:srgbClr val="E05B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غيريّة التغذية — المستهلكات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7" y="2688336"/>
            <a:ext cx="4379976" cy="813815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لا تصنع غذاءها؛ بل تعتمد على كائنات أخرى.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أمثلة: الإنسان، البقرة، الأسد، الفطريات.</a:t>
            </a:r>
          </a:p>
        </p:txBody>
      </p:sp>
      <p:pic>
        <p:nvPicPr>
          <p:cNvPr id="18" name="Picture 17" descr="image1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2032" y="3630168"/>
            <a:ext cx="1456006" cy="960120"/>
          </a:xfrm>
          <a:prstGeom prst="rect">
            <a:avLst/>
          </a:prstGeom>
        </p:spPr>
      </p:pic>
      <p:sp>
        <p:nvSpPr>
          <p:cNvPr id="19" name="Rounded Rectangle 18"/>
          <p:cNvSpPr/>
          <p:nvPr/>
        </p:nvSpPr>
        <p:spPr>
          <a:xfrm>
            <a:off x="2560320" y="4791456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DECEC"/>
          </a:solidFill>
          <a:ln w="2540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C02B2B"/>
                </a:solidFill>
                <a:latin typeface="Arial"/>
                <a:cs typeface="Arial"/>
              </a:rPr>
              <a:t>!   تذكّر: الفطر ليس نباتًا ولا يقوم بالبناء الضوئي — فهو غير ذاتي التغذية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✎  تقييم الناتج الثالث — نشاط ثنائي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٤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ارسما جدولًا من عمودين: ذاتي التغذية / غير ذاتي التغذية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77655" y="2322576"/>
            <a:ext cx="3246120" cy="365760"/>
          </a:xfrm>
          <a:prstGeom prst="roundRect">
            <a:avLst>
              <a:gd name="adj" fmla="val 30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العمل في ثنائيات — طالبان معًا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322576"/>
            <a:ext cx="1417320" cy="365760"/>
          </a:xfrm>
          <a:prstGeom prst="roundRect">
            <a:avLst>
              <a:gd name="adj" fmla="val 30000"/>
            </a:avLst>
          </a:prstGeom>
          <a:solidFill>
            <a:srgbClr val="B88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250" b="1" i="0">
                <a:solidFill>
                  <a:srgbClr val="FFFFFF"/>
                </a:solidFill>
                <a:latin typeface="Arial"/>
                <a:cs typeface="Arial"/>
              </a:rPr>
              <a:t>بلوم: تحليل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779776"/>
            <a:ext cx="9363456" cy="731520"/>
          </a:xfrm>
          <a:prstGeom prst="roundRect">
            <a:avLst>
              <a:gd name="adj" fmla="val 14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05000"/>
              </a:lnSpc>
            </a:pPr>
            <a:r>
              <a:rPr lang="ar-AE" altLang="en-US" sz="1800" b="1" i="0">
                <a:solidFill>
                  <a:srgbClr val="FFFFFF"/>
                </a:solidFill>
                <a:latin typeface="Arial"/>
                <a:cs typeface="Arial"/>
              </a:rPr>
              <a:t>المهمّة الثنائية: صنّفا الكائنات الستّة مع ذكر السبب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3621024"/>
            <a:ext cx="9363456" cy="115214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>
              <a:lnSpc>
                <a:spcPct val="125000"/>
              </a:lnSpc>
            </a:pPr>
            <a:r>
              <a:rPr lang="ar-AE" altLang="en-US" sz="1900" b="1" i="0">
                <a:solidFill>
                  <a:srgbClr val="16243A"/>
                </a:solidFill>
                <a:latin typeface="Arial"/>
                <a:cs typeface="Arial"/>
              </a:rPr>
              <a:t>طحالب    •    أسد    •    شجرة الغاف
فطر عيش الغراب    •    بكتيريا زرقاء    •    جمل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560320" y="4846320"/>
            <a:ext cx="9363456" cy="64008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16243A"/>
                </a:solidFill>
                <a:latin typeface="Arial"/>
                <a:cs typeface="Arial"/>
              </a:rPr>
              <a:t>⏱   اتفقا على سبب واحد لتصنيف كل كائن قبل أن ترفعا أيديكما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✔  الإجابة النموذجية والتغذية الراجعة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نصحّح معًا إجابة الناتج الثالث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2414016"/>
            <a:ext cx="9363456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34639" y="2560320"/>
            <a:ext cx="8814816" cy="2029967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ذاتية التغذية: الطحالب — شجرة الغاف — البكتيريا الزرقاء؛ لأنها تصنع غذاءها بنفسها.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غيريّة التغذية: الأسد — فطر عيش الغراب — الجمل؛ لأنها تحصل على غذائها من كائنات أخرى.</a:t>
            </a:r>
          </a:p>
          <a:p>
            <a:pPr algn="r" rtl="1">
              <a:lnSpc>
                <a:spcPct val="112000"/>
              </a:lnSpc>
              <a:spcAft>
                <a:spcPts val="1000"/>
              </a:spcAft>
            </a:pPr>
            <a:r>
              <a:rPr lang="ar-AE" altLang="en-US" sz="1700" b="0" i="0">
                <a:solidFill>
                  <a:srgbClr val="16243A"/>
                </a:solidFill>
                <a:latin typeface="Arial"/>
                <a:cs typeface="Arial"/>
              </a:rPr>
              <a:t>انتبه: عيش الغراب فطر يُحلّل المواد الميتة، فهو غير ذاتي التغذية وليس منتِجًا.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00" b="1" i="0">
                <a:solidFill>
                  <a:srgbClr val="2E7D32"/>
                </a:solidFill>
                <a:latin typeface="Arial"/>
                <a:cs typeface="Arial"/>
              </a:rPr>
              <a:t>★   أحسنتم! صحّحا معًا إجابتكما بالقلم الأخضر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درسنا في بيئة الإمارات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نربط ما تعلّمناه بالبيئة المحلية من حولنا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شجرة الغاف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22079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الشجرة الوطنية لدولة الإمارات.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منتِج رئيس في البيئة الصحراوية.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توفّر الغذاء والظل للكائنات الحيّة.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E0F3F1"/>
          </a:solidFill>
          <a:ln w="25400">
            <a:solidFill>
              <a:srgbClr val="0076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00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أشجار القرم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6063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تنمو على سواحل أبوظبي وأم القيوين.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منتِجات تحتضن صغار الأسماك.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تُعدّ من أهم الأنظمة البيئية الساحلية.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2322576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05456"/>
            <a:ext cx="2828544" cy="475488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الطحالب البحرية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70047" y="3054096"/>
            <a:ext cx="2791968" cy="15910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تنتشر في مياه الخليج العربي.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قاعدة الغذاء في البيئة البحرية.</a:t>
            </a:r>
          </a:p>
          <a:p>
            <a:pPr algn="r" rtl="1">
              <a:lnSpc>
                <a:spcPct val="105000"/>
              </a:lnSpc>
              <a:spcAft>
                <a:spcPts val="700"/>
              </a:spcAft>
            </a:pPr>
            <a:r>
              <a:rPr lang="ar-AE" altLang="en-US" sz="1400" b="0" i="0">
                <a:solidFill>
                  <a:srgbClr val="16243A"/>
                </a:solidFill>
                <a:latin typeface="Arial"/>
                <a:cs typeface="Arial"/>
              </a:rPr>
              <a:t>غذاء بقرة البحر (الأطوم).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560320" y="4809744"/>
            <a:ext cx="9363456" cy="658368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650" b="1" i="0">
                <a:solidFill>
                  <a:srgbClr val="143664"/>
                </a:solidFill>
                <a:latin typeface="Arial"/>
                <a:cs typeface="Arial"/>
              </a:rPr>
              <a:t>✦   كل هذه الكائنات ذاتية التغذية — فهي بداية مسار الطاقة في بيئة الإمارات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9C7D32A-4FD7-4972-9D00-967A0BDDA6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8507" y="3959351"/>
            <a:ext cx="1179577" cy="1179577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9861FEF-64D4-44CE-B6F5-A771881F1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2734" y="3885055"/>
            <a:ext cx="1532186" cy="1016129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400D722F-1C14-4498-93C1-D74BDE713A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25087" y="3959351"/>
            <a:ext cx="1754778" cy="96545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BF461AA9-77F1-473A-8E60-CB0A9CBAEA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79626" y="4994338"/>
            <a:ext cx="2022853" cy="186366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◈  الدعم والإثراء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لكل طالب ما يناسبه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42631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7452359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دعم إضافي — لمن يحتاج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07223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بطاقات مصوّرة لترتيب مسار الطاقة بالصور بدل الكلمات.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قائمة المصطلحات مع صورة أمام كل مصطلح.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زميل مساند يقرأ السؤال بصوت مسموع.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دقيقة إضافية في كل نشاط ثنائي.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60320" y="2414016"/>
            <a:ext cx="4581144" cy="2871216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5400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2670048" y="2523744"/>
            <a:ext cx="4361688" cy="475488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إثراء — لمن أنجز مبكرًا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24912" y="3090672"/>
            <a:ext cx="4251959" cy="202082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ابحث: كيف تعيش بكتيريا الفتحات الحرارية دون ضوء الشمس؟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ارسم مسار الطاقة في نظام بيئي بحري في الخليج العربي.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450" b="0" i="0">
                <a:solidFill>
                  <a:srgbClr val="16243A"/>
                </a:solidFill>
                <a:latin typeface="Arial"/>
                <a:cs typeface="Arial"/>
              </a:rPr>
              <a:t>• فسّر: لماذا لا تُعدّ الفطريات منتِجات رغم نموّها في التربة؟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◉  قيّم نفسك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٢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ضع علامة أمام المستوى الذي وصلت إليه في كل ناتج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91855" y="2450592"/>
            <a:ext cx="3931920" cy="475488"/>
          </a:xfrm>
          <a:prstGeom prst="roundRect">
            <a:avLst>
              <a:gd name="adj" fmla="val 22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ناتج التعلم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أتقنته تمامًا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تدريبًا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505455" y="2450592"/>
            <a:ext cx="1783080" cy="475488"/>
          </a:xfrm>
          <a:prstGeom prst="roundRect">
            <a:avLst>
              <a:gd name="adj" fmla="val 22000"/>
            </a:avLst>
          </a:prstGeom>
          <a:solidFill>
            <a:srgbClr val="C02B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أحتاج مساعدة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5" y="2999232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أتتبّع مسار الطاقة بدءًا من الشمس.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630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342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505455" y="2999232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991855" y="3712464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أوضّح كيف تصنع المنتِجات غذاءها.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630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43342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2505455" y="3712464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991855" y="4425696"/>
            <a:ext cx="3931920" cy="64008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15875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r" rtl="1">
              <a:lnSpc>
                <a:spcPct val="100000"/>
              </a:lnSpc>
            </a:pPr>
            <a:r>
              <a:rPr lang="ar-AE" altLang="en-US" sz="1350" b="0" i="0">
                <a:solidFill>
                  <a:srgbClr val="16243A"/>
                </a:solidFill>
                <a:latin typeface="Arial"/>
                <a:cs typeface="Arial"/>
              </a:rPr>
              <a:t>أميّز بين ذاتي التغذية وغيريّه.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3342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505455" y="4425696"/>
            <a:ext cx="1783080" cy="640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C02B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▣  بطاقة الخروج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٣ 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38528"/>
            <a:ext cx="9363456" cy="31089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/>
            <a:r>
              <a:rPr lang="ar-AE" altLang="en-US" sz="1500" b="0" i="0">
                <a:solidFill>
                  <a:srgbClr val="55667A"/>
                </a:solidFill>
                <a:latin typeface="Arial"/>
                <a:cs typeface="Arial"/>
              </a:rPr>
              <a:t>أجب في ورقتك ثم سلّمها لي عند الباب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12352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7F5E8"/>
          </a:solidFill>
          <a:ln w="285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9003792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الأول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0368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ما المصدر الأساسي للطاقة في معظم الأنظمة البيئية؟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كلمة واحدة.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36335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8575">
            <a:solidFill>
              <a:srgbClr val="1E6F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827775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1E6F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الثاني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64351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اذكر مثالًا لكائن ذاتي التغذية، ومثالًا لكائن غير ذاتي التغذية.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مثال واحد لكلٍّ منهما.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60319" y="2414016"/>
            <a:ext cx="3011424" cy="3072384"/>
          </a:xfrm>
          <a:prstGeom prst="roundRect">
            <a:avLst>
              <a:gd name="adj" fmla="val 12000"/>
            </a:avLst>
          </a:prstGeom>
          <a:solidFill>
            <a:srgbClr val="F3E9F9"/>
          </a:solidFill>
          <a:ln w="28575">
            <a:solidFill>
              <a:srgbClr val="6A1B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2651759" y="2523744"/>
            <a:ext cx="2828544" cy="457200"/>
          </a:xfrm>
          <a:prstGeom prst="roundRect">
            <a:avLst>
              <a:gd name="adj" fmla="val 26000"/>
            </a:avLst>
          </a:prstGeom>
          <a:solidFill>
            <a:srgbClr val="6A1B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450" b="1" i="0">
                <a:solidFill>
                  <a:srgbClr val="FFFFFF"/>
                </a:solidFill>
                <a:latin typeface="Arial"/>
                <a:cs typeface="Arial"/>
              </a:rPr>
              <a:t>السؤال الثالث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88335" y="3090672"/>
            <a:ext cx="2755392" cy="2157984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10000"/>
              </a:lnSpc>
              <a:spcAft>
                <a:spcPts val="800"/>
              </a:spcAft>
            </a:pPr>
            <a:r>
              <a:rPr lang="ar-AE" altLang="en-US" sz="1550" b="1" i="0">
                <a:solidFill>
                  <a:srgbClr val="16243A"/>
                </a:solidFill>
                <a:latin typeface="Arial"/>
                <a:cs typeface="Arial"/>
              </a:rPr>
              <a:t>لماذا تُعدّ المنتِجات ضرورية لبقاء المستهلكات؟</a:t>
            </a:r>
          </a:p>
          <a:p>
            <a:pPr algn="r" rtl="1">
              <a:lnSpc>
                <a:spcPct val="105000"/>
              </a:lnSpc>
            </a:pPr>
            <a:r>
              <a:rPr lang="ar-AE" altLang="en-US" sz="1250" b="0" i="0">
                <a:solidFill>
                  <a:srgbClr val="55667A"/>
                </a:solidFill>
                <a:latin typeface="Arial"/>
                <a:cs typeface="Arial"/>
              </a:rPr>
              <a:t>سطر واحد فقط.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انتقال الطاقة في النظام البيئي">
            <a:hlinkClick r:id="" action="ppaction://media"/>
            <a:extLst>
              <a:ext uri="{FF2B5EF4-FFF2-40B4-BE49-F238E27FC236}">
                <a16:creationId xmlns:a16="http://schemas.microsoft.com/office/drawing/2014/main" id="{FA6D401A-39FE-4127-80E7-93F65684F0B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50371" y="109247"/>
            <a:ext cx="11853801" cy="6667763"/>
          </a:xfrm>
          <a:prstGeom prst="rect">
            <a:avLst/>
          </a:prstGeom>
        </p:spPr>
      </p:pic>
      <p:sp>
        <p:nvSpPr>
          <p:cNvPr id="2" name="مستطيل 1">
            <a:extLst>
              <a:ext uri="{FF2B5EF4-FFF2-40B4-BE49-F238E27FC236}">
                <a16:creationId xmlns:a16="http://schemas.microsoft.com/office/drawing/2014/main" id="{C9CF470C-48F8-4D8C-A10D-53A9E4BA05B6}"/>
              </a:ext>
            </a:extLst>
          </p:cNvPr>
          <p:cNvSpPr/>
          <p:nvPr/>
        </p:nvSpPr>
        <p:spPr>
          <a:xfrm>
            <a:off x="152399" y="109248"/>
            <a:ext cx="3788229" cy="52322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ar-AE" sz="2800" b="1" i="0" u="none" strike="noStrike" kern="1200" cap="none" spc="0" normalizeH="0" baseline="0" noProof="0" dirty="0">
                <a:ln>
                  <a:noFill/>
                </a:ln>
                <a:solidFill>
                  <a:srgbClr val="3E3E3E"/>
                </a:solidFill>
                <a:effectLst/>
                <a:uLnTx/>
                <a:uFillTx/>
                <a:latin typeface="Roboto"/>
                <a:ea typeface="+mn-ea"/>
                <a:cs typeface="Arial" panose="020B0604020202020204" pitchFamily="34" charset="0"/>
              </a:rPr>
              <a:t>انتقال الطاقة في النظام البيئي</a:t>
            </a:r>
            <a:endParaRPr kumimoji="0" lang="ar-AE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6935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9312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a00dbdf-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829800" y="800100"/>
            <a:ext cx="2157984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الاثنين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61504" y="800100"/>
            <a:ext cx="2212848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....... / ....... / ٢٠٢٦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0" y="800100"/>
            <a:ext cx="3831336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انتقال الطاقة في النظام البيئي (١)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800100"/>
            <a:ext cx="2176272" cy="329184"/>
          </a:xfrm>
          <a:prstGeom prst="rect">
            <a:avLst/>
          </a:prstGeom>
          <a:noFill/>
        </p:spPr>
        <p:txBody>
          <a:bodyPr wrap="square" lIns="45720" tIns="18288" rIns="45720" bIns="18288" anchor="ctr">
            <a:spAutoFit/>
          </a:bodyPr>
          <a:lstStyle/>
          <a:p>
            <a:pPr algn="ctr" rtl="1"/>
            <a:r>
              <a:rPr lang="ar-AE" altLang="en-US" sz="1250" b="1" i="0">
                <a:solidFill>
                  <a:srgbClr val="143664"/>
                </a:solidFill>
                <a:latin typeface="Arial"/>
                <a:cs typeface="Arial"/>
              </a:rPr>
              <a:t>الأولى — مبادئ علم البيئة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" y="1554480"/>
            <a:ext cx="2075688" cy="107899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82880" y="1554480"/>
            <a:ext cx="2194560" cy="1133856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١. أتتبّع مسار الطاقة من الشمس.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٢. أوضّح كيف تصنع المنتِجات غذاءها.</a:t>
            </a:r>
          </a:p>
          <a:p>
            <a:pPr algn="r" rtl="1">
              <a:lnSpc>
                <a:spcPct val="100000"/>
              </a:lnSpc>
              <a:spcAft>
                <a:spcPts val="500"/>
              </a:spcAft>
            </a:pPr>
            <a:r>
              <a:rPr lang="ar-AE" altLang="en-US" sz="1000" b="0" i="0">
                <a:solidFill>
                  <a:srgbClr val="16243A"/>
                </a:solidFill>
                <a:latin typeface="Arial"/>
                <a:cs typeface="Arial"/>
              </a:rPr>
              <a:t>٣. أميّز ذاتي التغذية من غيريّه.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39" y="1261872"/>
            <a:ext cx="8403336" cy="566928"/>
          </a:xfrm>
          <a:prstGeom prst="roundRect">
            <a:avLst>
              <a:gd name="adj" fmla="val 22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✦  الواجب المنزلي وختام الحصة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1261872"/>
            <a:ext cx="868680" cy="56692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2222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2E7D32"/>
                </a:solidFill>
                <a:latin typeface="Arial"/>
                <a:cs typeface="Arial"/>
              </a:rPr>
              <a:t>١ 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42631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FFF5DF"/>
          </a:solidFill>
          <a:ln w="25400">
            <a:solidFill>
              <a:srgbClr val="E6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452359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E6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الواجب المنزلي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07223" y="2743200"/>
            <a:ext cx="4251959" cy="141732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حلّ سؤالَي المراجعة (١) و(٣) من القسم الثاني في الكتاب.</a:t>
            </a:r>
          </a:p>
          <a:p>
            <a:pPr algn="r" rtl="1">
              <a:lnSpc>
                <a:spcPct val="108000"/>
              </a:lnSpc>
              <a:spcAft>
                <a:spcPts val="900"/>
              </a:spcAft>
            </a:pPr>
            <a:r>
              <a:rPr lang="ar-AE" altLang="en-US" sz="1500" b="0" i="0">
                <a:solidFill>
                  <a:srgbClr val="16243A"/>
                </a:solidFill>
                <a:latin typeface="Arial"/>
                <a:cs typeface="Arial"/>
              </a:rPr>
              <a:t>• أحضر صورة لكائن ذاتي التغذية من بيئة الإمارات.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075688"/>
            <a:ext cx="4581144" cy="2148840"/>
          </a:xfrm>
          <a:prstGeom prst="roundRect">
            <a:avLst>
              <a:gd name="adj" fmla="val 12000"/>
            </a:avLst>
          </a:prstGeom>
          <a:solidFill>
            <a:srgbClr val="E8F2FC"/>
          </a:solidFill>
          <a:ln w="25400">
            <a:solidFill>
              <a:srgbClr val="14366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670048" y="2185416"/>
            <a:ext cx="4361688" cy="457200"/>
          </a:xfrm>
          <a:prstGeom prst="roundRect">
            <a:avLst>
              <a:gd name="adj" fmla="val 26000"/>
            </a:avLst>
          </a:prstGeom>
          <a:solidFill>
            <a:srgbClr val="1436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1700" b="1" i="0">
                <a:solidFill>
                  <a:srgbClr val="FFFFFF"/>
                </a:solidFill>
                <a:latin typeface="Arial"/>
                <a:cs typeface="Arial"/>
              </a:rPr>
              <a:t>في الحصة القادمة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24912" y="2779776"/>
            <a:ext cx="4251959" cy="1371600"/>
          </a:xfrm>
          <a:prstGeom prst="rect">
            <a:avLst/>
          </a:prstGeom>
          <a:noFill/>
        </p:spPr>
        <p:txBody>
          <a:bodyPr wrap="square" lIns="45720" tIns="18288" rIns="45720" bIns="18288" anchor="t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lang="ar-AE" altLang="en-US" sz="1700" b="1" i="0">
                <a:solidFill>
                  <a:srgbClr val="143664"/>
                </a:solidFill>
                <a:latin typeface="Arial"/>
                <a:cs typeface="Arial"/>
              </a:rPr>
              <a:t>أنواع المستهلكات:
مَن يأكل ماذا؟ ودور المحللات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560320" y="4379976"/>
            <a:ext cx="9363456" cy="731520"/>
          </a:xfrm>
          <a:prstGeom prst="roundRect">
            <a:avLst>
              <a:gd name="adj" fmla="val 12000"/>
            </a:avLst>
          </a:prstGeom>
          <a:solidFill>
            <a:srgbClr val="2E7D32"/>
          </a:solidFill>
          <a:ln w="254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tIns="36576" rIns="73152" bIns="36576" rtlCol="0" anchor="ctr"/>
          <a:lstStyle/>
          <a:p>
            <a:pPr algn="ctr" rtl="1"/>
            <a:r>
              <a:rPr lang="ar-AE" altLang="en-US" sz="2300" b="1" i="0">
                <a:solidFill>
                  <a:srgbClr val="FFFFFF"/>
                </a:solidFill>
                <a:latin typeface="Arial"/>
                <a:cs typeface="Arial"/>
              </a:rPr>
              <a:t>★   أحسنتم اليوم — إلى لقاء قادم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2831</Words>
  <Application>Microsoft Office PowerPoint</Application>
  <PresentationFormat>Widescreen</PresentationFormat>
  <Paragraphs>416</Paragraphs>
  <Slides>28</Slides>
  <Notes>20</Notes>
  <HiddenSlides>0</HiddenSlides>
  <MMClips>2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Arial</vt:lpstr>
      <vt:lpstr>Calibri</vt:lpstr>
      <vt:lpstr>Calibri Light</vt:lpstr>
      <vt:lpstr>Roboto</vt:lpstr>
      <vt:lpstr>Office Theme</vt:lpstr>
      <vt:lpstr>نسق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Ahmed Mustafa</cp:lastModifiedBy>
  <cp:revision>8</cp:revision>
  <dcterms:created xsi:type="dcterms:W3CDTF">2013-01-27T09:14:16Z</dcterms:created>
  <dcterms:modified xsi:type="dcterms:W3CDTF">2026-09-14T09:07:12Z</dcterms:modified>
  <cp:category/>
</cp:coreProperties>
</file>